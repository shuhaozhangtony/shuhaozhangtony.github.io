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5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-82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52888-C257-487F-8843-BE963B0DC5E3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60AB1-F027-4126-9E81-1D94B8DC3F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7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Prefix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Notic</a:t>
            </a:r>
            <a:r>
              <a:rPr lang="en-US" baseline="0" dirty="0" smtClean="0"/>
              <a:t>e the difference between MST and </a:t>
            </a:r>
            <a:r>
              <a:rPr lang="en-US" baseline="0" dirty="0" err="1" smtClean="0"/>
              <a:t>pre&amp;sufffix</a:t>
            </a:r>
            <a:r>
              <a:rPr lang="en-US" baseline="0" dirty="0" smtClean="0"/>
              <a:t> sharing.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Notic</a:t>
            </a:r>
            <a:r>
              <a:rPr lang="en-US" baseline="0" dirty="0" smtClean="0"/>
              <a:t>e the difference between MST and </a:t>
            </a:r>
            <a:r>
              <a:rPr lang="en-US" baseline="0" dirty="0" err="1" smtClean="0"/>
              <a:t>pre&amp;sufffix</a:t>
            </a:r>
            <a:r>
              <a:rPr lang="en-US" baseline="0" dirty="0" smtClean="0"/>
              <a:t> sharing. They are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Notic</a:t>
            </a:r>
            <a:r>
              <a:rPr lang="en-US" baseline="0" dirty="0" smtClean="0"/>
              <a:t>e the difference between MST and </a:t>
            </a:r>
            <a:r>
              <a:rPr lang="en-US" baseline="0" dirty="0" err="1" smtClean="0"/>
              <a:t>pre&amp;sufffix</a:t>
            </a:r>
            <a:r>
              <a:rPr lang="en-US" baseline="0" dirty="0" smtClean="0"/>
              <a:t> sharing. They are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Notic</a:t>
            </a:r>
            <a:r>
              <a:rPr lang="en-US" baseline="0" dirty="0" smtClean="0"/>
              <a:t>e the difference between MST and </a:t>
            </a:r>
            <a:r>
              <a:rPr lang="en-US" baseline="0" dirty="0" err="1" smtClean="0"/>
              <a:t>pre&amp;sufffix</a:t>
            </a:r>
            <a:r>
              <a:rPr lang="en-US" baseline="0" dirty="0" smtClean="0"/>
              <a:t> sharing. They are different.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C24E7A-31C1-734D-82A2-272EB20A13CC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564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7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35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4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4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8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10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7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693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65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7D7773-0C27-44DA-8AB0-5696387FA88D}" type="datetimeFigureOut">
              <a:rPr lang="en-US" smtClean="0"/>
              <a:t>3/17/2015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10367-0D55-4B8B-B312-9F364E80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69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Multi-query optimization techniques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Notation based on Finite state machines</a:t>
            </a:r>
            <a:r>
              <a:rPr lang="en-US" dirty="0" smtClean="0"/>
              <a:t> and </a:t>
            </a:r>
            <a:r>
              <a:rPr lang="en-US" dirty="0" smtClean="0"/>
              <a:t>Data Flow Programming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52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744"/>
            <a:ext cx="2305183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PATTERN(A,B,D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PATTERN(A,B,E)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/>
              <a:t> = </a:t>
            </a:r>
            <a:r>
              <a:rPr lang="en-US" sz="2000" dirty="0" smtClean="0"/>
              <a:t>PATTERN(A,B</a:t>
            </a:r>
            <a:r>
              <a:rPr lang="en-US" sz="2000" dirty="0"/>
              <a:t>)</a:t>
            </a:r>
            <a:endParaRPr lang="en-SG" sz="20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2" name="Straight Arrow Connector 11"/>
          <p:cNvCxnSpPr>
            <a:stCxn id="5" idx="6"/>
            <a:endCxn id="35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6" name="Oval 15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5" name="Oval 34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5" idx="6"/>
            <a:endCxn id="15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7" name="Curved Connector 16"/>
          <p:cNvCxnSpPr>
            <a:stCxn id="35" idx="1"/>
            <a:endCxn id="35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70918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1" name="Straight Arrow Connector 50"/>
          <p:cNvCxnSpPr>
            <a:stCxn id="50" idx="6"/>
            <a:endCxn id="56" idx="2"/>
          </p:cNvCxnSpPr>
          <p:nvPr/>
        </p:nvCxnSpPr>
        <p:spPr>
          <a:xfrm>
            <a:off x="1285319" y="331978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402640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5" name="Oval 54"/>
          <p:cNvSpPr/>
          <p:nvPr/>
        </p:nvSpPr>
        <p:spPr>
          <a:xfrm>
            <a:off x="3529017" y="296920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6" name="Oval 55"/>
          <p:cNvSpPr/>
          <p:nvPr/>
        </p:nvSpPr>
        <p:spPr>
          <a:xfrm>
            <a:off x="1841211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57" name="TextBox 56"/>
          <p:cNvSpPr txBox="1"/>
          <p:nvPr/>
        </p:nvSpPr>
        <p:spPr>
          <a:xfrm>
            <a:off x="1404406" y="3003630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61" name="Straight Arrow Connector 60"/>
          <p:cNvCxnSpPr>
            <a:endCxn id="52" idx="2"/>
          </p:cNvCxnSpPr>
          <p:nvPr/>
        </p:nvCxnSpPr>
        <p:spPr>
          <a:xfrm flipV="1">
            <a:off x="2755612" y="3319783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56" idx="1"/>
            <a:endCxn id="56" idx="7"/>
          </p:cNvCxnSpPr>
          <p:nvPr/>
        </p:nvCxnSpPr>
        <p:spPr>
          <a:xfrm rot="5400000" flipH="1" flipV="1">
            <a:off x="2298238" y="2664363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20267" y="3019929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3402640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7" name="Oval 36"/>
          <p:cNvSpPr/>
          <p:nvPr/>
        </p:nvSpPr>
        <p:spPr>
          <a:xfrm>
            <a:off x="3529017" y="4509803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cxnSp>
        <p:nvCxnSpPr>
          <p:cNvPr id="40" name="Straight Arrow Connector 39"/>
          <p:cNvCxnSpPr>
            <a:stCxn id="56" idx="5"/>
            <a:endCxn id="34" idx="2"/>
          </p:cNvCxnSpPr>
          <p:nvPr/>
        </p:nvCxnSpPr>
        <p:spPr>
          <a:xfrm>
            <a:off x="2621700" y="3651913"/>
            <a:ext cx="780940" cy="12084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30688" y="4394022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829008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0" y="3130068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22" y="448057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5807244" y="1949667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65033" y="1541585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925112" y="1604320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6553200" y="1541584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39264" y="1639294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6553200" y="2850079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5519464" y="2224425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872974" y="2969207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17460" y="4294548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73" name="Elbow Connector 72"/>
          <p:cNvCxnSpPr>
            <a:stCxn id="19" idx="2"/>
            <a:endCxn id="72" idx="1"/>
          </p:cNvCxnSpPr>
          <p:nvPr/>
        </p:nvCxnSpPr>
        <p:spPr>
          <a:xfrm rot="16200000" flipH="1">
            <a:off x="4829358" y="2914530"/>
            <a:ext cx="2344881" cy="123132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37234" y="4413676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80" name="Elbow Connector 79"/>
          <p:cNvCxnSpPr>
            <a:stCxn id="25" idx="3"/>
            <a:endCxn id="67" idx="3"/>
          </p:cNvCxnSpPr>
          <p:nvPr/>
        </p:nvCxnSpPr>
        <p:spPr>
          <a:xfrm>
            <a:off x="7339264" y="1949667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>
            <a:off x="7339264" y="1949667"/>
            <a:ext cx="64260" cy="2752965"/>
          </a:xfrm>
          <a:prstGeom prst="bentConnector3">
            <a:avLst>
              <a:gd name="adj1" fmla="val 4557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Prefix sharing technique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148066" y="5578761"/>
            <a:ext cx="2326090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Finite state machines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318066" y="5578761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51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744"/>
            <a:ext cx="2305183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PATTERN(A,B,D</a:t>
            </a:r>
            <a:r>
              <a:rPr lang="en-US" sz="2000" dirty="0" smtClean="0"/>
              <a:t>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PATTERN(A,B,E)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/>
              <a:t> = </a:t>
            </a:r>
            <a:r>
              <a:rPr lang="en-US" sz="2000" dirty="0" smtClean="0"/>
              <a:t>PATTERN(A,B</a:t>
            </a:r>
            <a:r>
              <a:rPr lang="en-US" sz="2000" dirty="0"/>
              <a:t>)</a:t>
            </a:r>
            <a:endParaRPr lang="en-SG" sz="20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2" name="Straight Arrow Connector 11"/>
          <p:cNvCxnSpPr>
            <a:stCxn id="5" idx="6"/>
            <a:endCxn id="35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6" name="Oval 15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5" name="Oval 34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5" idx="6"/>
            <a:endCxn id="15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7" name="Curved Connector 16"/>
          <p:cNvCxnSpPr>
            <a:stCxn id="35" idx="1"/>
            <a:endCxn id="35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70918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1" name="Straight Arrow Connector 50"/>
          <p:cNvCxnSpPr>
            <a:stCxn id="50" idx="6"/>
            <a:endCxn id="56" idx="2"/>
          </p:cNvCxnSpPr>
          <p:nvPr/>
        </p:nvCxnSpPr>
        <p:spPr>
          <a:xfrm>
            <a:off x="1285319" y="331978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402640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5" name="Oval 54"/>
          <p:cNvSpPr/>
          <p:nvPr/>
        </p:nvSpPr>
        <p:spPr>
          <a:xfrm>
            <a:off x="3529017" y="296920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6" name="Oval 55"/>
          <p:cNvSpPr/>
          <p:nvPr/>
        </p:nvSpPr>
        <p:spPr>
          <a:xfrm>
            <a:off x="1841211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57" name="TextBox 56"/>
          <p:cNvSpPr txBox="1"/>
          <p:nvPr/>
        </p:nvSpPr>
        <p:spPr>
          <a:xfrm>
            <a:off x="1404406" y="3003630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61" name="Straight Arrow Connector 60"/>
          <p:cNvCxnSpPr>
            <a:endCxn id="52" idx="2"/>
          </p:cNvCxnSpPr>
          <p:nvPr/>
        </p:nvCxnSpPr>
        <p:spPr>
          <a:xfrm flipV="1">
            <a:off x="2755612" y="3319783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56" idx="1"/>
            <a:endCxn id="56" idx="7"/>
          </p:cNvCxnSpPr>
          <p:nvPr/>
        </p:nvCxnSpPr>
        <p:spPr>
          <a:xfrm rot="5400000" flipH="1" flipV="1">
            <a:off x="2298238" y="2664363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20267" y="3019929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370918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33" name="Straight Arrow Connector 32"/>
          <p:cNvCxnSpPr>
            <a:stCxn id="32" idx="6"/>
            <a:endCxn id="38" idx="2"/>
          </p:cNvCxnSpPr>
          <p:nvPr/>
        </p:nvCxnSpPr>
        <p:spPr>
          <a:xfrm>
            <a:off x="1285319" y="4860378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402640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7" name="Oval 36"/>
          <p:cNvSpPr/>
          <p:nvPr/>
        </p:nvSpPr>
        <p:spPr>
          <a:xfrm>
            <a:off x="3529017" y="4509803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8" name="Oval 37"/>
          <p:cNvSpPr/>
          <p:nvPr/>
        </p:nvSpPr>
        <p:spPr>
          <a:xfrm>
            <a:off x="1847561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04406" y="4544225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cxnSp>
        <p:nvCxnSpPr>
          <p:cNvPr id="40" name="Straight Arrow Connector 39"/>
          <p:cNvCxnSpPr>
            <a:endCxn id="34" idx="2"/>
          </p:cNvCxnSpPr>
          <p:nvPr/>
        </p:nvCxnSpPr>
        <p:spPr>
          <a:xfrm flipV="1">
            <a:off x="2755612" y="4860378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8" idx="1"/>
            <a:endCxn id="38" idx="7"/>
          </p:cNvCxnSpPr>
          <p:nvPr/>
        </p:nvCxnSpPr>
        <p:spPr>
          <a:xfrm rot="5400000" flipH="1" flipV="1">
            <a:off x="2304588" y="4204958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0267" y="4560524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829008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0" y="3130068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22" y="448057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5807244" y="1949667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65033" y="1541585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925112" y="1604320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6553200" y="1541584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39264" y="1639294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6553200" y="2850079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5519464" y="2224425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872974" y="2969207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17460" y="4294548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73" name="Elbow Connector 72"/>
          <p:cNvCxnSpPr>
            <a:stCxn id="19" idx="2"/>
            <a:endCxn id="72" idx="1"/>
          </p:cNvCxnSpPr>
          <p:nvPr/>
        </p:nvCxnSpPr>
        <p:spPr>
          <a:xfrm rot="16200000" flipH="1">
            <a:off x="4829358" y="2914530"/>
            <a:ext cx="2344881" cy="123132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37234" y="4413676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80" name="Elbow Connector 79"/>
          <p:cNvCxnSpPr>
            <a:stCxn id="25" idx="3"/>
            <a:endCxn id="67" idx="3"/>
          </p:cNvCxnSpPr>
          <p:nvPr/>
        </p:nvCxnSpPr>
        <p:spPr>
          <a:xfrm>
            <a:off x="7339264" y="1949667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>
            <a:off x="7339264" y="1949667"/>
            <a:ext cx="64260" cy="2752965"/>
          </a:xfrm>
          <a:prstGeom prst="bentConnector3">
            <a:avLst>
              <a:gd name="adj1" fmla="val 4557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Prefix sharing technique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148066" y="5578761"/>
            <a:ext cx="2326090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Finite state machines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318066" y="5578761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7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504404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PATTERN(A,B,C,D)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PATTERN(D,B,C,A)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/>
              <a:t> = </a:t>
            </a:r>
            <a:r>
              <a:rPr lang="en-US" sz="2000" dirty="0" smtClean="0"/>
              <a:t>PATTERN(B,C)</a:t>
            </a:r>
            <a:endParaRPr lang="en-SG" sz="20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2" name="Straight Arrow Connector 11"/>
          <p:cNvCxnSpPr>
            <a:stCxn id="5" idx="6"/>
            <a:endCxn id="35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6" name="Oval 15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5" name="Oval 34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5" idx="6"/>
            <a:endCxn id="15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17" name="Curved Connector 16"/>
          <p:cNvCxnSpPr>
            <a:stCxn id="35" idx="1"/>
            <a:endCxn id="35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77268" y="291336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1" name="Straight Arrow Connector 50"/>
          <p:cNvCxnSpPr>
            <a:stCxn id="50" idx="6"/>
            <a:endCxn id="56" idx="2"/>
          </p:cNvCxnSpPr>
          <p:nvPr/>
        </p:nvCxnSpPr>
        <p:spPr>
          <a:xfrm>
            <a:off x="1291669" y="338306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847561" y="291336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57" name="TextBox 56"/>
          <p:cNvSpPr txBox="1"/>
          <p:nvPr/>
        </p:nvSpPr>
        <p:spPr>
          <a:xfrm>
            <a:off x="1410756" y="306691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61" name="Straight Arrow Connector 60"/>
          <p:cNvCxnSpPr/>
          <p:nvPr/>
        </p:nvCxnSpPr>
        <p:spPr>
          <a:xfrm flipV="1">
            <a:off x="2761961" y="3383063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56" idx="1"/>
            <a:endCxn id="56" idx="7"/>
          </p:cNvCxnSpPr>
          <p:nvPr/>
        </p:nvCxnSpPr>
        <p:spPr>
          <a:xfrm rot="5400000" flipH="1" flipV="1">
            <a:off x="2304588" y="272764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26617" y="3083210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829008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6350" y="319334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7042520" y="1969168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200308" y="1561086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7160387" y="1623821"/>
            <a:ext cx="4876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B,C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788476" y="1561085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574540" y="1658795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788476" y="2869580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6754740" y="2243926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108250" y="2988708"/>
            <a:ext cx="51975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A,D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>
            <a:off x="7852736" y="4314050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73" name="Elbow Connector 72"/>
          <p:cNvCxnSpPr>
            <a:stCxn id="19" idx="2"/>
            <a:endCxn id="72" idx="1"/>
          </p:cNvCxnSpPr>
          <p:nvPr/>
        </p:nvCxnSpPr>
        <p:spPr>
          <a:xfrm rot="16200000" flipH="1">
            <a:off x="6064635" y="2934031"/>
            <a:ext cx="2344881" cy="123132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172510" y="4433177"/>
            <a:ext cx="51975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A,D</a:t>
            </a:r>
            <a:endParaRPr lang="en-US" dirty="0"/>
          </a:p>
        </p:txBody>
      </p:sp>
      <p:cxnSp>
        <p:nvCxnSpPr>
          <p:cNvPr id="80" name="Elbow Connector 79"/>
          <p:cNvCxnSpPr>
            <a:stCxn id="25" idx="3"/>
            <a:endCxn id="67" idx="3"/>
          </p:cNvCxnSpPr>
          <p:nvPr/>
        </p:nvCxnSpPr>
        <p:spPr>
          <a:xfrm>
            <a:off x="8574540" y="1969168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>
            <a:off x="8574540" y="1969168"/>
            <a:ext cx="64260" cy="2752965"/>
          </a:xfrm>
          <a:prstGeom prst="bentConnector3">
            <a:avLst>
              <a:gd name="adj1" fmla="val 4557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infix sharing technique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148066" y="5578761"/>
            <a:ext cx="2326090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Finite state machines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318066" y="5578761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4867215" y="291336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3" name="Oval 52"/>
          <p:cNvSpPr/>
          <p:nvPr/>
        </p:nvSpPr>
        <p:spPr>
          <a:xfrm>
            <a:off x="4993592" y="303248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4" name="Oval 53"/>
          <p:cNvSpPr/>
          <p:nvPr/>
        </p:nvSpPr>
        <p:spPr>
          <a:xfrm>
            <a:off x="3384010" y="291336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58" name="Curved Connector 57"/>
          <p:cNvCxnSpPr>
            <a:stCxn id="54" idx="1"/>
            <a:endCxn id="54" idx="7"/>
          </p:cNvCxnSpPr>
          <p:nvPr/>
        </p:nvCxnSpPr>
        <p:spPr>
          <a:xfrm rot="5400000" flipH="1" flipV="1">
            <a:off x="3841037" y="272764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stCxn id="54" idx="6"/>
            <a:endCxn id="49" idx="2"/>
          </p:cNvCxnSpPr>
          <p:nvPr/>
        </p:nvCxnSpPr>
        <p:spPr>
          <a:xfrm>
            <a:off x="4298411" y="3383063"/>
            <a:ext cx="5688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430366" y="3083210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63" name="Oval 62"/>
          <p:cNvSpPr/>
          <p:nvPr/>
        </p:nvSpPr>
        <p:spPr>
          <a:xfrm>
            <a:off x="385042" y="443318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65" name="Straight Arrow Connector 64"/>
          <p:cNvCxnSpPr>
            <a:stCxn id="63" idx="6"/>
            <a:endCxn id="66" idx="2"/>
          </p:cNvCxnSpPr>
          <p:nvPr/>
        </p:nvCxnSpPr>
        <p:spPr>
          <a:xfrm>
            <a:off x="1299443" y="490288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855335" y="443318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70" name="TextBox 69"/>
          <p:cNvSpPr txBox="1"/>
          <p:nvPr/>
        </p:nvSpPr>
        <p:spPr>
          <a:xfrm>
            <a:off x="1418530" y="4586731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2769736" y="4902883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Curved Connector 74"/>
          <p:cNvCxnSpPr>
            <a:stCxn id="66" idx="1"/>
            <a:endCxn id="66" idx="7"/>
          </p:cNvCxnSpPr>
          <p:nvPr/>
        </p:nvCxnSpPr>
        <p:spPr>
          <a:xfrm rot="5400000" flipH="1" flipV="1">
            <a:off x="2312362" y="424746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934391" y="4603030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14124" y="471316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78" name="Oval 77"/>
          <p:cNvSpPr/>
          <p:nvPr/>
        </p:nvSpPr>
        <p:spPr>
          <a:xfrm>
            <a:off x="4874989" y="443318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9" name="Oval 78"/>
          <p:cNvSpPr/>
          <p:nvPr/>
        </p:nvSpPr>
        <p:spPr>
          <a:xfrm>
            <a:off x="5001366" y="455230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81" name="Oval 80"/>
          <p:cNvSpPr/>
          <p:nvPr/>
        </p:nvSpPr>
        <p:spPr>
          <a:xfrm>
            <a:off x="3391784" y="443318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86" name="Curved Connector 85"/>
          <p:cNvCxnSpPr>
            <a:stCxn id="81" idx="1"/>
            <a:endCxn id="81" idx="7"/>
          </p:cNvCxnSpPr>
          <p:nvPr/>
        </p:nvCxnSpPr>
        <p:spPr>
          <a:xfrm rot="5400000" flipH="1" flipV="1">
            <a:off x="3848811" y="424746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/>
          <p:cNvCxnSpPr>
            <a:stCxn id="81" idx="6"/>
            <a:endCxn id="78" idx="2"/>
          </p:cNvCxnSpPr>
          <p:nvPr/>
        </p:nvCxnSpPr>
        <p:spPr>
          <a:xfrm>
            <a:off x="4306185" y="4902883"/>
            <a:ext cx="56880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4438140" y="4603030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07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364558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PATTERN(D,A,B)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PATTERN(E,A,B)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/>
              <a:t> = </a:t>
            </a:r>
            <a:r>
              <a:rPr lang="en-US" sz="2000" dirty="0" smtClean="0"/>
              <a:t>PATTERN(A,B</a:t>
            </a:r>
            <a:r>
              <a:rPr lang="en-US" sz="2000" dirty="0"/>
              <a:t>)</a:t>
            </a:r>
            <a:endParaRPr lang="en-SG" sz="20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2" name="Straight Arrow Connector 11"/>
          <p:cNvCxnSpPr>
            <a:stCxn id="5" idx="6"/>
            <a:endCxn id="35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6" name="Oval 15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5" name="Oval 34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5" idx="6"/>
            <a:endCxn id="15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7" name="Curved Connector 16"/>
          <p:cNvCxnSpPr>
            <a:stCxn id="35" idx="1"/>
            <a:endCxn id="35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70918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1" name="Straight Arrow Connector 50"/>
          <p:cNvCxnSpPr>
            <a:stCxn id="50" idx="6"/>
            <a:endCxn id="56" idx="2"/>
          </p:cNvCxnSpPr>
          <p:nvPr/>
        </p:nvCxnSpPr>
        <p:spPr>
          <a:xfrm>
            <a:off x="1285319" y="331978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402640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5" name="Oval 54"/>
          <p:cNvSpPr/>
          <p:nvPr/>
        </p:nvSpPr>
        <p:spPr>
          <a:xfrm>
            <a:off x="3529017" y="296920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6" name="Oval 55"/>
          <p:cNvSpPr/>
          <p:nvPr/>
        </p:nvSpPr>
        <p:spPr>
          <a:xfrm>
            <a:off x="1841211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57" name="TextBox 56"/>
          <p:cNvSpPr txBox="1"/>
          <p:nvPr/>
        </p:nvSpPr>
        <p:spPr>
          <a:xfrm>
            <a:off x="1404406" y="3003630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61" name="Straight Arrow Connector 60"/>
          <p:cNvCxnSpPr>
            <a:endCxn id="52" idx="2"/>
          </p:cNvCxnSpPr>
          <p:nvPr/>
        </p:nvCxnSpPr>
        <p:spPr>
          <a:xfrm flipV="1">
            <a:off x="2755612" y="3319783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56" idx="1"/>
            <a:endCxn id="56" idx="7"/>
          </p:cNvCxnSpPr>
          <p:nvPr/>
        </p:nvCxnSpPr>
        <p:spPr>
          <a:xfrm rot="5400000" flipH="1" flipV="1">
            <a:off x="2298238" y="2664363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920267" y="3019929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370918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33" name="Straight Arrow Connector 32"/>
          <p:cNvCxnSpPr>
            <a:stCxn id="32" idx="6"/>
            <a:endCxn id="38" idx="2"/>
          </p:cNvCxnSpPr>
          <p:nvPr/>
        </p:nvCxnSpPr>
        <p:spPr>
          <a:xfrm>
            <a:off x="1285319" y="4860378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402640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7" name="Oval 36"/>
          <p:cNvSpPr/>
          <p:nvPr/>
        </p:nvSpPr>
        <p:spPr>
          <a:xfrm>
            <a:off x="3529017" y="4509803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8" name="Oval 37"/>
          <p:cNvSpPr/>
          <p:nvPr/>
        </p:nvSpPr>
        <p:spPr>
          <a:xfrm>
            <a:off x="1847561" y="439067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04406" y="4544225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40" name="Straight Arrow Connector 39"/>
          <p:cNvCxnSpPr>
            <a:endCxn id="34" idx="2"/>
          </p:cNvCxnSpPr>
          <p:nvPr/>
        </p:nvCxnSpPr>
        <p:spPr>
          <a:xfrm flipV="1">
            <a:off x="2755612" y="4860378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8" idx="1"/>
            <a:endCxn id="38" idx="7"/>
          </p:cNvCxnSpPr>
          <p:nvPr/>
        </p:nvCxnSpPr>
        <p:spPr>
          <a:xfrm rot="5400000" flipH="1" flipV="1">
            <a:off x="2304588" y="4204958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0267" y="4560524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829008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0" y="3130068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22" y="448057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5807244" y="1949667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965033" y="1541585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5925112" y="1604320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6553200" y="1541584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39264" y="1639294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6553200" y="2850079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5519464" y="2224425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872974" y="2969207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617460" y="4294548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73" name="Elbow Connector 72"/>
          <p:cNvCxnSpPr>
            <a:stCxn id="19" idx="2"/>
            <a:endCxn id="72" idx="1"/>
          </p:cNvCxnSpPr>
          <p:nvPr/>
        </p:nvCxnSpPr>
        <p:spPr>
          <a:xfrm rot="16200000" flipH="1">
            <a:off x="4829358" y="2914530"/>
            <a:ext cx="2344881" cy="123132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37234" y="4413676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80" name="Elbow Connector 79"/>
          <p:cNvCxnSpPr>
            <a:stCxn id="25" idx="3"/>
            <a:endCxn id="67" idx="3"/>
          </p:cNvCxnSpPr>
          <p:nvPr/>
        </p:nvCxnSpPr>
        <p:spPr>
          <a:xfrm>
            <a:off x="7339264" y="1949667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>
            <a:off x="7339264" y="1949667"/>
            <a:ext cx="64260" cy="2752965"/>
          </a:xfrm>
          <a:prstGeom prst="bentConnector3">
            <a:avLst>
              <a:gd name="adj1" fmla="val 4557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Suffix sharing technique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148066" y="5578761"/>
            <a:ext cx="2326090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Finite state machines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318066" y="5578761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73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364558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PATTERN(D,A,B)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PATTERN(E,A,B)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/>
              <a:t> = </a:t>
            </a:r>
            <a:r>
              <a:rPr lang="en-US" sz="2000" dirty="0" smtClean="0"/>
              <a:t>PATTERN(A,B</a:t>
            </a:r>
            <a:r>
              <a:rPr lang="en-US" sz="2000" dirty="0"/>
              <a:t>)</a:t>
            </a:r>
            <a:endParaRPr lang="en-SG" sz="2000" baseline="-25000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934325" y="179403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2114" y="1385953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065948" y="1385953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1568073" y="1044184"/>
            <a:ext cx="5771191" cy="131801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45614" y="1385952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1568073" y="2480677"/>
            <a:ext cx="5771191" cy="140552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549986" y="2165352"/>
            <a:ext cx="981320" cy="1054853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153343" y="2812815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552844" y="4038600"/>
            <a:ext cx="5850680" cy="1295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3" name="Elbow Connector 72"/>
          <p:cNvCxnSpPr>
            <a:stCxn id="19" idx="2"/>
            <a:endCxn id="72" idx="1"/>
          </p:cNvCxnSpPr>
          <p:nvPr/>
        </p:nvCxnSpPr>
        <p:spPr>
          <a:xfrm rot="16200000" flipH="1">
            <a:off x="-209058" y="2924397"/>
            <a:ext cx="2484181" cy="1039624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Elbow Connector 79"/>
          <p:cNvCxnSpPr>
            <a:stCxn id="25" idx="3"/>
            <a:endCxn id="67" idx="3"/>
          </p:cNvCxnSpPr>
          <p:nvPr/>
        </p:nvCxnSpPr>
        <p:spPr>
          <a:xfrm>
            <a:off x="7339264" y="1703192"/>
            <a:ext cx="12700" cy="1480247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>
            <a:off x="7339264" y="1703192"/>
            <a:ext cx="64260" cy="2983108"/>
          </a:xfrm>
          <a:prstGeom prst="bentConnector3">
            <a:avLst>
              <a:gd name="adj1" fmla="val 455742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Suffix sharing technique</a:t>
            </a:r>
            <a:endParaRPr lang="en-US" dirty="0"/>
          </a:p>
        </p:txBody>
      </p:sp>
      <p:sp>
        <p:nvSpPr>
          <p:cNvPr id="84" name="TextBox 83"/>
          <p:cNvSpPr txBox="1"/>
          <p:nvPr/>
        </p:nvSpPr>
        <p:spPr>
          <a:xfrm>
            <a:off x="1692545" y="5570322"/>
            <a:ext cx="6776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Finite state machines &amp; </a:t>
            </a:r>
            <a:r>
              <a:rPr lang="en-US" dirty="0" smtClean="0"/>
              <a:t>Data Flow Programming graph</a:t>
            </a:r>
          </a:p>
          <a:p>
            <a:endParaRPr lang="en-US" dirty="0"/>
          </a:p>
        </p:txBody>
      </p:sp>
      <p:sp>
        <p:nvSpPr>
          <p:cNvPr id="90" name="Oval 89"/>
          <p:cNvSpPr/>
          <p:nvPr/>
        </p:nvSpPr>
        <p:spPr>
          <a:xfrm>
            <a:off x="2689869" y="132433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91" name="Straight Arrow Connector 90"/>
          <p:cNvCxnSpPr>
            <a:stCxn id="90" idx="6"/>
            <a:endCxn id="94" idx="2"/>
          </p:cNvCxnSpPr>
          <p:nvPr/>
        </p:nvCxnSpPr>
        <p:spPr>
          <a:xfrm>
            <a:off x="3604270" y="1794035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5721591" y="1318556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93" name="Oval 92"/>
          <p:cNvSpPr/>
          <p:nvPr/>
        </p:nvSpPr>
        <p:spPr>
          <a:xfrm>
            <a:off x="5847968" y="1443460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94" name="Oval 93"/>
          <p:cNvSpPr/>
          <p:nvPr/>
        </p:nvSpPr>
        <p:spPr>
          <a:xfrm>
            <a:off x="4160162" y="132433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95" name="TextBox 94"/>
          <p:cNvSpPr txBox="1"/>
          <p:nvPr/>
        </p:nvSpPr>
        <p:spPr>
          <a:xfrm>
            <a:off x="3723357" y="1477883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96" name="Straight Arrow Connector 95"/>
          <p:cNvCxnSpPr>
            <a:stCxn id="94" idx="6"/>
            <a:endCxn id="92" idx="2"/>
          </p:cNvCxnSpPr>
          <p:nvPr/>
        </p:nvCxnSpPr>
        <p:spPr>
          <a:xfrm flipV="1">
            <a:off x="5074563" y="1788260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177273" y="1477886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98" name="Curved Connector 97"/>
          <p:cNvCxnSpPr>
            <a:stCxn id="94" idx="1"/>
            <a:endCxn id="94" idx="7"/>
          </p:cNvCxnSpPr>
          <p:nvPr/>
        </p:nvCxnSpPr>
        <p:spPr>
          <a:xfrm rot="5400000" flipH="1" flipV="1">
            <a:off x="4617189" y="1138616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2318951" y="1667600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101" name="Oval 100"/>
          <p:cNvSpPr/>
          <p:nvPr/>
        </p:nvSpPr>
        <p:spPr>
          <a:xfrm>
            <a:off x="2689869" y="2810008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02" name="Straight Arrow Connector 101"/>
          <p:cNvCxnSpPr>
            <a:stCxn id="101" idx="6"/>
            <a:endCxn id="105" idx="2"/>
          </p:cNvCxnSpPr>
          <p:nvPr/>
        </p:nvCxnSpPr>
        <p:spPr>
          <a:xfrm>
            <a:off x="3604270" y="3279712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Oval 102"/>
          <p:cNvSpPr/>
          <p:nvPr/>
        </p:nvSpPr>
        <p:spPr>
          <a:xfrm>
            <a:off x="5721591" y="2810008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04" name="Oval 103"/>
          <p:cNvSpPr/>
          <p:nvPr/>
        </p:nvSpPr>
        <p:spPr>
          <a:xfrm>
            <a:off x="5847968" y="2929137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05" name="Oval 104"/>
          <p:cNvSpPr/>
          <p:nvPr/>
        </p:nvSpPr>
        <p:spPr>
          <a:xfrm>
            <a:off x="4160162" y="2810008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106" name="TextBox 105"/>
          <p:cNvSpPr txBox="1"/>
          <p:nvPr/>
        </p:nvSpPr>
        <p:spPr>
          <a:xfrm>
            <a:off x="3723357" y="2963559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7" name="Straight Arrow Connector 106"/>
          <p:cNvCxnSpPr>
            <a:endCxn id="103" idx="2"/>
          </p:cNvCxnSpPr>
          <p:nvPr/>
        </p:nvCxnSpPr>
        <p:spPr>
          <a:xfrm flipV="1">
            <a:off x="5074563" y="3279712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Curved Connector 107"/>
          <p:cNvCxnSpPr>
            <a:stCxn id="105" idx="1"/>
            <a:endCxn id="105" idx="7"/>
          </p:cNvCxnSpPr>
          <p:nvPr/>
        </p:nvCxnSpPr>
        <p:spPr>
          <a:xfrm rot="5400000" flipH="1" flipV="1">
            <a:off x="4617189" y="2624292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5239218" y="2979858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10" name="TextBox 109"/>
          <p:cNvSpPr txBox="1"/>
          <p:nvPr/>
        </p:nvSpPr>
        <p:spPr>
          <a:xfrm>
            <a:off x="2318951" y="3089997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117" name="Oval 116"/>
          <p:cNvSpPr/>
          <p:nvPr/>
        </p:nvSpPr>
        <p:spPr>
          <a:xfrm>
            <a:off x="2689869" y="432450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18" name="Straight Arrow Connector 117"/>
          <p:cNvCxnSpPr>
            <a:stCxn id="117" idx="6"/>
            <a:endCxn id="121" idx="2"/>
          </p:cNvCxnSpPr>
          <p:nvPr/>
        </p:nvCxnSpPr>
        <p:spPr>
          <a:xfrm>
            <a:off x="3604270" y="4794208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Oval 118"/>
          <p:cNvSpPr/>
          <p:nvPr/>
        </p:nvSpPr>
        <p:spPr>
          <a:xfrm>
            <a:off x="5721591" y="432450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20" name="Oval 119"/>
          <p:cNvSpPr/>
          <p:nvPr/>
        </p:nvSpPr>
        <p:spPr>
          <a:xfrm>
            <a:off x="5847968" y="4443633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21" name="Oval 120"/>
          <p:cNvSpPr/>
          <p:nvPr/>
        </p:nvSpPr>
        <p:spPr>
          <a:xfrm>
            <a:off x="4166512" y="432450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122" name="TextBox 121"/>
          <p:cNvSpPr txBox="1"/>
          <p:nvPr/>
        </p:nvSpPr>
        <p:spPr>
          <a:xfrm>
            <a:off x="3723357" y="4478055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123" name="Straight Arrow Connector 122"/>
          <p:cNvCxnSpPr>
            <a:endCxn id="119" idx="2"/>
          </p:cNvCxnSpPr>
          <p:nvPr/>
        </p:nvCxnSpPr>
        <p:spPr>
          <a:xfrm flipV="1">
            <a:off x="5074563" y="4794208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Curved Connector 123"/>
          <p:cNvCxnSpPr>
            <a:stCxn id="121" idx="1"/>
            <a:endCxn id="121" idx="7"/>
          </p:cNvCxnSpPr>
          <p:nvPr/>
        </p:nvCxnSpPr>
        <p:spPr>
          <a:xfrm rot="5400000" flipH="1" flipV="1">
            <a:off x="4623539" y="4138788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5239218" y="4494354"/>
            <a:ext cx="30489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</a:t>
            </a:r>
            <a:endParaRPr lang="en-US" dirty="0"/>
          </a:p>
        </p:txBody>
      </p:sp>
      <p:sp>
        <p:nvSpPr>
          <p:cNvPr id="126" name="TextBox 125"/>
          <p:cNvSpPr txBox="1"/>
          <p:nvPr/>
        </p:nvSpPr>
        <p:spPr>
          <a:xfrm>
            <a:off x="2345701" y="4244559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sp>
        <p:nvSpPr>
          <p:cNvPr id="127" name="TextBox 126"/>
          <p:cNvSpPr txBox="1"/>
          <p:nvPr/>
        </p:nvSpPr>
        <p:spPr>
          <a:xfrm>
            <a:off x="1168572" y="4222542"/>
            <a:ext cx="29687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114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504404" cy="15704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PATTERN(A,B,D)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PATTERN(A,B,C,D)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x1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PATTERN(A,B)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q</a:t>
            </a:r>
            <a:r>
              <a:rPr lang="en-US" sz="2000" baseline="-25000" dirty="0" smtClean="0">
                <a:solidFill>
                  <a:srgbClr val="FF0000"/>
                </a:solidFill>
              </a:rPr>
              <a:t>x2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rgbClr val="FF0000"/>
                </a:solidFill>
              </a:rPr>
              <a:t>= </a:t>
            </a:r>
            <a:r>
              <a:rPr lang="en-US" sz="2000" dirty="0" smtClean="0">
                <a:solidFill>
                  <a:srgbClr val="FF0000"/>
                </a:solidFill>
              </a:rPr>
              <a:t>PATTERN(D)</a:t>
            </a:r>
          </a:p>
          <a:p>
            <a:endParaRPr lang="en-SG" sz="2000" baseline="-25000" dirty="0"/>
          </a:p>
        </p:txBody>
      </p:sp>
      <p:sp>
        <p:nvSpPr>
          <p:cNvPr id="5" name="Oval 4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2" name="Straight Arrow Connector 11"/>
          <p:cNvCxnSpPr>
            <a:stCxn id="5" idx="6"/>
            <a:endCxn id="35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6" name="Oval 15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5" name="Oval 34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" name="TextBox 7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5" idx="6"/>
            <a:endCxn id="15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7" name="Curved Connector 16"/>
          <p:cNvCxnSpPr>
            <a:stCxn id="35" idx="1"/>
            <a:endCxn id="35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370918" y="285007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sp>
        <p:nvSpPr>
          <p:cNvPr id="52" name="Oval 51"/>
          <p:cNvSpPr/>
          <p:nvPr/>
        </p:nvSpPr>
        <p:spPr>
          <a:xfrm>
            <a:off x="1932347" y="281931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5" name="Oval 54"/>
          <p:cNvSpPr/>
          <p:nvPr/>
        </p:nvSpPr>
        <p:spPr>
          <a:xfrm>
            <a:off x="2058724" y="2938440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cxnSp>
        <p:nvCxnSpPr>
          <p:cNvPr id="61" name="Straight Arrow Connector 60"/>
          <p:cNvCxnSpPr>
            <a:endCxn id="52" idx="2"/>
          </p:cNvCxnSpPr>
          <p:nvPr/>
        </p:nvCxnSpPr>
        <p:spPr>
          <a:xfrm flipV="1">
            <a:off x="1285319" y="3289015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449974" y="2989161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370918" y="425790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33" name="Straight Arrow Connector 32"/>
          <p:cNvCxnSpPr>
            <a:stCxn id="32" idx="6"/>
            <a:endCxn id="38" idx="2"/>
          </p:cNvCxnSpPr>
          <p:nvPr/>
        </p:nvCxnSpPr>
        <p:spPr>
          <a:xfrm>
            <a:off x="1285319" y="4727605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3402640" y="425790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7" name="Oval 36"/>
          <p:cNvSpPr/>
          <p:nvPr/>
        </p:nvSpPr>
        <p:spPr>
          <a:xfrm>
            <a:off x="3529017" y="4377030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38" name="Oval 37"/>
          <p:cNvSpPr/>
          <p:nvPr/>
        </p:nvSpPr>
        <p:spPr>
          <a:xfrm>
            <a:off x="1847561" y="425790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404406" y="4411453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40" name="Straight Arrow Connector 39"/>
          <p:cNvCxnSpPr>
            <a:endCxn id="34" idx="2"/>
          </p:cNvCxnSpPr>
          <p:nvPr/>
        </p:nvCxnSpPr>
        <p:spPr>
          <a:xfrm flipV="1">
            <a:off x="2755612" y="4727605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8" idx="1"/>
            <a:endCxn id="38" idx="7"/>
          </p:cNvCxnSpPr>
          <p:nvPr/>
        </p:nvCxnSpPr>
        <p:spPr>
          <a:xfrm rot="5400000" flipH="1" flipV="1">
            <a:off x="2304588" y="4072186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20267" y="4427752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829008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0" y="3130068"/>
            <a:ext cx="37542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q</a:t>
            </a:r>
            <a:r>
              <a:rPr lang="en-US" baseline="-25000" dirty="0" err="1"/>
              <a:t>y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11222" y="4347807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6567703" y="95229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5492" y="544212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5571" y="606948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313659" y="544211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x1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372439" y="622599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313659" y="1852707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x2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6279923" y="1227052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633433" y="1971835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>
            <a:off x="6919890" y="3319785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82" name="Elbow Connector 81"/>
          <p:cNvCxnSpPr>
            <a:stCxn id="25" idx="3"/>
            <a:endCxn id="72" idx="3"/>
          </p:cNvCxnSpPr>
          <p:nvPr/>
        </p:nvCxnSpPr>
        <p:spPr>
          <a:xfrm flipH="1">
            <a:off x="7705955" y="952295"/>
            <a:ext cx="393769" cy="2775574"/>
          </a:xfrm>
          <a:prstGeom prst="bentConnector3">
            <a:avLst>
              <a:gd name="adj1" fmla="val -58054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pre&amp;suffix</a:t>
            </a:r>
            <a:r>
              <a:rPr lang="en-US" dirty="0" smtClean="0"/>
              <a:t> sharing technique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919071" y="5331880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370918" y="562582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3" name="Straight Arrow Connector 52"/>
          <p:cNvCxnSpPr>
            <a:stCxn id="49" idx="6"/>
            <a:endCxn id="59" idx="2"/>
          </p:cNvCxnSpPr>
          <p:nvPr/>
        </p:nvCxnSpPr>
        <p:spPr>
          <a:xfrm>
            <a:off x="1285319" y="6095526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4811091" y="562793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8" name="Oval 57"/>
          <p:cNvSpPr/>
          <p:nvPr/>
        </p:nvSpPr>
        <p:spPr>
          <a:xfrm>
            <a:off x="4937468" y="5747065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9" name="Oval 58"/>
          <p:cNvSpPr/>
          <p:nvPr/>
        </p:nvSpPr>
        <p:spPr>
          <a:xfrm>
            <a:off x="1847561" y="562582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60" name="TextBox 59"/>
          <p:cNvSpPr txBox="1"/>
          <p:nvPr/>
        </p:nvSpPr>
        <p:spPr>
          <a:xfrm>
            <a:off x="1404406" y="5779373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63" name="Straight Arrow Connector 62"/>
          <p:cNvCxnSpPr>
            <a:stCxn id="71" idx="6"/>
            <a:endCxn id="54" idx="2"/>
          </p:cNvCxnSpPr>
          <p:nvPr/>
        </p:nvCxnSpPr>
        <p:spPr>
          <a:xfrm flipV="1">
            <a:off x="4317041" y="6097640"/>
            <a:ext cx="494051" cy="21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59" idx="1"/>
            <a:endCxn id="59" idx="7"/>
          </p:cNvCxnSpPr>
          <p:nvPr/>
        </p:nvCxnSpPr>
        <p:spPr>
          <a:xfrm rot="5400000" flipH="1" flipV="1">
            <a:off x="2304588" y="5440106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389181" y="5769919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70" name="TextBox 69"/>
          <p:cNvSpPr txBox="1"/>
          <p:nvPr/>
        </p:nvSpPr>
        <p:spPr>
          <a:xfrm>
            <a:off x="11222" y="5715727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sp>
        <p:nvSpPr>
          <p:cNvPr id="71" name="Oval 70"/>
          <p:cNvSpPr/>
          <p:nvPr/>
        </p:nvSpPr>
        <p:spPr>
          <a:xfrm>
            <a:off x="3402640" y="563005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75" name="Curved Connector 74"/>
          <p:cNvCxnSpPr>
            <a:stCxn id="71" idx="1"/>
            <a:endCxn id="71" idx="7"/>
          </p:cNvCxnSpPr>
          <p:nvPr/>
        </p:nvCxnSpPr>
        <p:spPr>
          <a:xfrm rot="5400000" flipH="1" flipV="1">
            <a:off x="3859667" y="5444335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59" idx="6"/>
            <a:endCxn id="71" idx="2"/>
          </p:cNvCxnSpPr>
          <p:nvPr/>
        </p:nvCxnSpPr>
        <p:spPr>
          <a:xfrm>
            <a:off x="2761962" y="6095525"/>
            <a:ext cx="640679" cy="422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35496" y="5776990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7260134" y="2677153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sp>
        <p:nvSpPr>
          <p:cNvPr id="79" name="Rounded Rectangle 78"/>
          <p:cNvSpPr/>
          <p:nvPr/>
        </p:nvSpPr>
        <p:spPr>
          <a:xfrm>
            <a:off x="7586375" y="4551768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81" name="Elbow Connector 80"/>
          <p:cNvCxnSpPr>
            <a:stCxn id="19" idx="2"/>
            <a:endCxn id="79" idx="1"/>
          </p:cNvCxnSpPr>
          <p:nvPr/>
        </p:nvCxnSpPr>
        <p:spPr>
          <a:xfrm rot="16200000" flipH="1">
            <a:off x="5066750" y="2440225"/>
            <a:ext cx="3599473" cy="1439778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652669" y="4680695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129" name="Elbow Connector 128"/>
          <p:cNvCxnSpPr>
            <a:stCxn id="25" idx="3"/>
            <a:endCxn id="79" idx="3"/>
          </p:cNvCxnSpPr>
          <p:nvPr/>
        </p:nvCxnSpPr>
        <p:spPr>
          <a:xfrm>
            <a:off x="8099723" y="952295"/>
            <a:ext cx="272716" cy="4007556"/>
          </a:xfrm>
          <a:prstGeom prst="bentConnector3">
            <a:avLst>
              <a:gd name="adj1" fmla="val 18382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Elbow Connector 132"/>
          <p:cNvCxnSpPr>
            <a:stCxn id="67" idx="2"/>
            <a:endCxn id="79" idx="0"/>
          </p:cNvCxnSpPr>
          <p:nvPr/>
        </p:nvCxnSpPr>
        <p:spPr>
          <a:xfrm rot="16200000" flipH="1">
            <a:off x="6901602" y="3473962"/>
            <a:ext cx="1882895" cy="272716"/>
          </a:xfrm>
          <a:prstGeom prst="bentConnector3">
            <a:avLst>
              <a:gd name="adj1" fmla="val 1632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Elbow Connector 137"/>
          <p:cNvCxnSpPr>
            <a:stCxn id="67" idx="2"/>
            <a:endCxn id="72" idx="0"/>
          </p:cNvCxnSpPr>
          <p:nvPr/>
        </p:nvCxnSpPr>
        <p:spPr>
          <a:xfrm rot="5400000">
            <a:off x="7184352" y="2797444"/>
            <a:ext cx="650912" cy="393769"/>
          </a:xfrm>
          <a:prstGeom prst="bentConnector3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683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504404" cy="938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PATTERN(A,B,D)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PATTERN(A,B,C,D)</a:t>
            </a:r>
          </a:p>
          <a:p>
            <a:endParaRPr lang="en-SG" sz="2000" baseline="-25000" dirty="0"/>
          </a:p>
        </p:txBody>
      </p:sp>
      <p:sp>
        <p:nvSpPr>
          <p:cNvPr id="32" name="Oval 31"/>
          <p:cNvSpPr/>
          <p:nvPr/>
        </p:nvSpPr>
        <p:spPr>
          <a:xfrm>
            <a:off x="359696" y="209742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33" name="Straight Arrow Connector 32"/>
          <p:cNvCxnSpPr>
            <a:stCxn id="32" idx="6"/>
            <a:endCxn id="38" idx="2"/>
          </p:cNvCxnSpPr>
          <p:nvPr/>
        </p:nvCxnSpPr>
        <p:spPr>
          <a:xfrm>
            <a:off x="1274097" y="2567124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836339" y="209742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93184" y="225097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2744390" y="2567124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8" idx="1"/>
            <a:endCxn id="38" idx="7"/>
          </p:cNvCxnSpPr>
          <p:nvPr/>
        </p:nvCxnSpPr>
        <p:spPr>
          <a:xfrm rot="5400000" flipH="1" flipV="1">
            <a:off x="2293366" y="191170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09045" y="2267270"/>
            <a:ext cx="30970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0" y="2187325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/>
              <a:t>1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6567703" y="95229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5492" y="544212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5571" y="606948"/>
            <a:ext cx="699359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A,B,D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313659" y="544211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372439" y="622599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313659" y="1852707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dirty="0" smtClean="0"/>
              <a:t>2’</a:t>
            </a:r>
            <a:endParaRPr lang="en-US" dirty="0"/>
          </a:p>
        </p:txBody>
      </p:sp>
      <p:cxnSp>
        <p:nvCxnSpPr>
          <p:cNvPr id="68" name="Elbow Connector 67"/>
          <p:cNvCxnSpPr>
            <a:stCxn id="19" idx="2"/>
            <a:endCxn id="67" idx="1"/>
          </p:cNvCxnSpPr>
          <p:nvPr/>
        </p:nvCxnSpPr>
        <p:spPr>
          <a:xfrm rot="16200000" flipH="1">
            <a:off x="6279923" y="1227052"/>
            <a:ext cx="900412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6633433" y="1971835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82" name="Elbow Connector 81"/>
          <p:cNvCxnSpPr>
            <a:stCxn id="25" idx="3"/>
            <a:endCxn id="67" idx="3"/>
          </p:cNvCxnSpPr>
          <p:nvPr/>
        </p:nvCxnSpPr>
        <p:spPr>
          <a:xfrm>
            <a:off x="8099723" y="952295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merge sharing technique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919071" y="5331880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sp>
        <p:nvSpPr>
          <p:cNvPr id="49" name="Oval 48"/>
          <p:cNvSpPr/>
          <p:nvPr/>
        </p:nvSpPr>
        <p:spPr>
          <a:xfrm>
            <a:off x="359696" y="346534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3" name="Straight Arrow Connector 52"/>
          <p:cNvCxnSpPr>
            <a:stCxn id="49" idx="6"/>
            <a:endCxn id="59" idx="2"/>
          </p:cNvCxnSpPr>
          <p:nvPr/>
        </p:nvCxnSpPr>
        <p:spPr>
          <a:xfrm>
            <a:off x="1274097" y="3935044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370370" y="3464973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8" name="Oval 57"/>
          <p:cNvSpPr/>
          <p:nvPr/>
        </p:nvSpPr>
        <p:spPr>
          <a:xfrm>
            <a:off x="3496747" y="3584102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9" name="Oval 58"/>
          <p:cNvSpPr/>
          <p:nvPr/>
        </p:nvSpPr>
        <p:spPr>
          <a:xfrm>
            <a:off x="1836339" y="346534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60" name="TextBox 59"/>
          <p:cNvSpPr txBox="1"/>
          <p:nvPr/>
        </p:nvSpPr>
        <p:spPr>
          <a:xfrm>
            <a:off x="1379163" y="3618892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r1</a:t>
            </a:r>
            <a:endParaRPr lang="en-US" dirty="0"/>
          </a:p>
        </p:txBody>
      </p:sp>
      <p:cxnSp>
        <p:nvCxnSpPr>
          <p:cNvPr id="65" name="Curved Connector 64"/>
          <p:cNvCxnSpPr>
            <a:stCxn id="59" idx="1"/>
            <a:endCxn id="59" idx="7"/>
          </p:cNvCxnSpPr>
          <p:nvPr/>
        </p:nvCxnSpPr>
        <p:spPr>
          <a:xfrm rot="5400000" flipH="1" flipV="1">
            <a:off x="2293366" y="3279625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0" y="3555246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76" name="Straight Arrow Connector 75"/>
          <p:cNvCxnSpPr>
            <a:stCxn id="59" idx="6"/>
            <a:endCxn id="54" idx="2"/>
          </p:cNvCxnSpPr>
          <p:nvPr/>
        </p:nvCxnSpPr>
        <p:spPr>
          <a:xfrm flipV="1">
            <a:off x="2750740" y="3934676"/>
            <a:ext cx="619631" cy="3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2924274" y="3616508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4811091" y="210338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3" name="Oval 72"/>
          <p:cNvSpPr/>
          <p:nvPr/>
        </p:nvSpPr>
        <p:spPr>
          <a:xfrm>
            <a:off x="4937468" y="2222510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4" name="Oval 73"/>
          <p:cNvSpPr/>
          <p:nvPr/>
        </p:nvSpPr>
        <p:spPr>
          <a:xfrm>
            <a:off x="3362836" y="209742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80" name="Straight Arrow Connector 79"/>
          <p:cNvCxnSpPr>
            <a:stCxn id="74" idx="6"/>
            <a:endCxn id="62" idx="2"/>
          </p:cNvCxnSpPr>
          <p:nvPr/>
        </p:nvCxnSpPr>
        <p:spPr>
          <a:xfrm>
            <a:off x="4277237" y="2567126"/>
            <a:ext cx="533855" cy="5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389176" y="2271593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87" name="Curved Connector 86"/>
          <p:cNvCxnSpPr/>
          <p:nvPr/>
        </p:nvCxnSpPr>
        <p:spPr>
          <a:xfrm rot="5400000" flipH="1" flipV="1">
            <a:off x="3813513" y="1905745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15741" y="5624845"/>
            <a:ext cx="4826833" cy="1233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r1: results of q1</a:t>
            </a:r>
          </a:p>
          <a:p>
            <a:r>
              <a:rPr lang="en-US" dirty="0" smtClean="0"/>
              <a:t>Pattern matching is done, but need a filter to answer q2 :: finite state machine is not enough to represent the techniques.</a:t>
            </a:r>
            <a:endParaRPr lang="en-US" dirty="0"/>
          </a:p>
        </p:txBody>
      </p:sp>
      <p:sp>
        <p:nvSpPr>
          <p:cNvPr id="26" name="Rectangle 25"/>
          <p:cNvSpPr/>
          <p:nvPr/>
        </p:nvSpPr>
        <p:spPr>
          <a:xfrm>
            <a:off x="3258957" y="4959851"/>
            <a:ext cx="1122159" cy="476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Filter</a:t>
            </a:r>
            <a:endParaRPr lang="en-US" dirty="0"/>
          </a:p>
        </p:txBody>
      </p:sp>
      <p:cxnSp>
        <p:nvCxnSpPr>
          <p:cNvPr id="29" name="Straight Arrow Connector 28"/>
          <p:cNvCxnSpPr>
            <a:stCxn id="54" idx="4"/>
            <a:endCxn id="26" idx="0"/>
          </p:cNvCxnSpPr>
          <p:nvPr/>
        </p:nvCxnSpPr>
        <p:spPr>
          <a:xfrm flipH="1">
            <a:off x="3820036" y="4404380"/>
            <a:ext cx="7534" cy="5554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67" idx="2"/>
          </p:cNvCxnSpPr>
          <p:nvPr/>
        </p:nvCxnSpPr>
        <p:spPr>
          <a:xfrm>
            <a:off x="7706691" y="2668872"/>
            <a:ext cx="0" cy="1076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7313660" y="3735097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505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744"/>
            <a:ext cx="2856679" cy="938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PATTERN(A,B,C)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PATTERN(A&amp;&amp;B&amp;&amp;C)</a:t>
            </a:r>
          </a:p>
          <a:p>
            <a:endParaRPr lang="en-SG" sz="2000" baseline="-25000" dirty="0"/>
          </a:p>
        </p:txBody>
      </p:sp>
      <p:sp>
        <p:nvSpPr>
          <p:cNvPr id="32" name="Oval 31"/>
          <p:cNvSpPr/>
          <p:nvPr/>
        </p:nvSpPr>
        <p:spPr>
          <a:xfrm>
            <a:off x="359696" y="209742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33" name="Straight Arrow Connector 32"/>
          <p:cNvCxnSpPr>
            <a:stCxn id="32" idx="6"/>
            <a:endCxn id="38" idx="2"/>
          </p:cNvCxnSpPr>
          <p:nvPr/>
        </p:nvCxnSpPr>
        <p:spPr>
          <a:xfrm>
            <a:off x="1274097" y="2567124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1836339" y="209742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39" name="TextBox 38"/>
          <p:cNvSpPr txBox="1"/>
          <p:nvPr/>
        </p:nvSpPr>
        <p:spPr>
          <a:xfrm>
            <a:off x="1393184" y="225097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2744390" y="2567124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38" idx="1"/>
            <a:endCxn id="38" idx="7"/>
          </p:cNvCxnSpPr>
          <p:nvPr/>
        </p:nvCxnSpPr>
        <p:spPr>
          <a:xfrm rot="5400000" flipH="1" flipV="1">
            <a:off x="2293366" y="191170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909045" y="2267270"/>
            <a:ext cx="30970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0" y="2187325"/>
            <a:ext cx="42351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q2</a:t>
            </a:r>
            <a:endParaRPr lang="en-US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6567703" y="95229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5492" y="544212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5571" y="606948"/>
            <a:ext cx="680123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A,B,C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313659" y="544211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/>
              <a:t>2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372439" y="622599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r2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313659" y="1852707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dirty="0"/>
              <a:t>1</a:t>
            </a:r>
            <a:r>
              <a:rPr lang="en-US" dirty="0" smtClean="0"/>
              <a:t>’</a:t>
            </a:r>
            <a:endParaRPr lang="en-US" dirty="0"/>
          </a:p>
        </p:txBody>
      </p:sp>
      <p:cxnSp>
        <p:nvCxnSpPr>
          <p:cNvPr id="82" name="Elbow Connector 81"/>
          <p:cNvCxnSpPr>
            <a:stCxn id="25" idx="3"/>
            <a:endCxn id="67" idx="3"/>
          </p:cNvCxnSpPr>
          <p:nvPr/>
        </p:nvCxnSpPr>
        <p:spPr>
          <a:xfrm>
            <a:off x="8099723" y="952295"/>
            <a:ext cx="12700" cy="1308496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Operator transformation technique 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919071" y="5331880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4811091" y="210338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3" name="Oval 72"/>
          <p:cNvSpPr/>
          <p:nvPr/>
        </p:nvSpPr>
        <p:spPr>
          <a:xfrm>
            <a:off x="4937468" y="2222510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4" name="Oval 73"/>
          <p:cNvSpPr/>
          <p:nvPr/>
        </p:nvSpPr>
        <p:spPr>
          <a:xfrm>
            <a:off x="3362836" y="2097422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80" name="Straight Arrow Connector 79"/>
          <p:cNvCxnSpPr>
            <a:stCxn id="74" idx="6"/>
            <a:endCxn id="62" idx="2"/>
          </p:cNvCxnSpPr>
          <p:nvPr/>
        </p:nvCxnSpPr>
        <p:spPr>
          <a:xfrm>
            <a:off x="4277237" y="2567126"/>
            <a:ext cx="533855" cy="5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389176" y="2271593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87" name="Curved Connector 86"/>
          <p:cNvCxnSpPr/>
          <p:nvPr/>
        </p:nvCxnSpPr>
        <p:spPr>
          <a:xfrm rot="5400000" flipH="1" flipV="1">
            <a:off x="3813513" y="1905745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15741" y="5624845"/>
            <a:ext cx="4826833" cy="1233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r2: results of q2</a:t>
            </a:r>
          </a:p>
          <a:p>
            <a:r>
              <a:rPr lang="en-US" dirty="0" smtClean="0"/>
              <a:t>Pattern matching is done, but need a filter to answer q1 :: finite state machine is not enough to represent the techniques.</a:t>
            </a:r>
            <a:endParaRPr lang="en-US" dirty="0"/>
          </a:p>
        </p:txBody>
      </p:sp>
      <p:cxnSp>
        <p:nvCxnSpPr>
          <p:cNvPr id="45" name="Straight Arrow Connector 44"/>
          <p:cNvCxnSpPr>
            <a:stCxn id="67" idx="2"/>
          </p:cNvCxnSpPr>
          <p:nvPr/>
        </p:nvCxnSpPr>
        <p:spPr>
          <a:xfrm>
            <a:off x="7706691" y="2668872"/>
            <a:ext cx="0" cy="1076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7313660" y="3735097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q1</a:t>
            </a:r>
            <a:endParaRPr lang="en-US" dirty="0"/>
          </a:p>
        </p:txBody>
      </p:sp>
      <p:sp>
        <p:nvSpPr>
          <p:cNvPr id="46" name="Oval 45"/>
          <p:cNvSpPr/>
          <p:nvPr/>
        </p:nvSpPr>
        <p:spPr>
          <a:xfrm>
            <a:off x="343954" y="344053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47" name="Straight Arrow Connector 46"/>
          <p:cNvCxnSpPr>
            <a:stCxn id="46" idx="6"/>
            <a:endCxn id="61" idx="2"/>
          </p:cNvCxnSpPr>
          <p:nvPr/>
        </p:nvCxnSpPr>
        <p:spPr>
          <a:xfrm>
            <a:off x="1258355" y="3910239"/>
            <a:ext cx="59186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77442" y="3594086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r2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-15742" y="3530440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/>
              <a:t>1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1850223" y="344053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63" name="Oval 62"/>
          <p:cNvSpPr/>
          <p:nvPr/>
        </p:nvSpPr>
        <p:spPr>
          <a:xfrm>
            <a:off x="1976600" y="3558214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5" name="Rectangle 74"/>
          <p:cNvSpPr/>
          <p:nvPr/>
        </p:nvSpPr>
        <p:spPr>
          <a:xfrm>
            <a:off x="1738809" y="4935413"/>
            <a:ext cx="1122159" cy="476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Filter</a:t>
            </a:r>
            <a:endParaRPr lang="en-US" dirty="0"/>
          </a:p>
        </p:txBody>
      </p:sp>
      <p:cxnSp>
        <p:nvCxnSpPr>
          <p:cNvPr id="78" name="Straight Arrow Connector 77"/>
          <p:cNvCxnSpPr>
            <a:endCxn id="75" idx="0"/>
          </p:cNvCxnSpPr>
          <p:nvPr/>
        </p:nvCxnSpPr>
        <p:spPr>
          <a:xfrm flipH="1">
            <a:off x="2299889" y="4379942"/>
            <a:ext cx="7534" cy="5554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08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744"/>
            <a:ext cx="2567819" cy="13596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PATTERN(A,B,D)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PATTERN(A&amp;&amp;B,C)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x1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PATTERN(A&amp;&amp;B)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</a:t>
            </a:r>
            <a:r>
              <a:rPr lang="en-US" sz="2000" dirty="0"/>
              <a:t>)</a:t>
            </a:r>
            <a:endParaRPr lang="en-SG" sz="2000" baseline="-25000" dirty="0"/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6567703" y="95229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5492" y="544212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5571" y="606948"/>
            <a:ext cx="502125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313659" y="544211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x1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372439" y="622599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313659" y="1623313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x2</a:t>
            </a:r>
            <a:endParaRPr lang="en-US" baseline="-25000" dirty="0"/>
          </a:p>
        </p:txBody>
      </p:sp>
      <p:cxnSp>
        <p:nvCxnSpPr>
          <p:cNvPr id="82" name="Elbow Connector 81"/>
          <p:cNvCxnSpPr>
            <a:stCxn id="25" idx="3"/>
            <a:endCxn id="67" idx="0"/>
          </p:cNvCxnSpPr>
          <p:nvPr/>
        </p:nvCxnSpPr>
        <p:spPr>
          <a:xfrm flipH="1">
            <a:off x="7706691" y="952294"/>
            <a:ext cx="393032" cy="671019"/>
          </a:xfrm>
          <a:prstGeom prst="bentConnector4">
            <a:avLst>
              <a:gd name="adj1" fmla="val -58163"/>
              <a:gd name="adj2" fmla="val 8040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Operator transformation technique &amp; Prefix sharing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919071" y="5331880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cxnSp>
        <p:nvCxnSpPr>
          <p:cNvPr id="45" name="Straight Arrow Connector 44"/>
          <p:cNvCxnSpPr>
            <a:stCxn id="67" idx="2"/>
            <a:endCxn id="88" idx="0"/>
          </p:cNvCxnSpPr>
          <p:nvPr/>
        </p:nvCxnSpPr>
        <p:spPr>
          <a:xfrm>
            <a:off x="7706691" y="2439479"/>
            <a:ext cx="6350" cy="1947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7320009" y="2634213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x2</a:t>
            </a:r>
            <a:endParaRPr lang="en-US" baseline="-25000" dirty="0"/>
          </a:p>
        </p:txBody>
      </p:sp>
      <p:sp>
        <p:nvSpPr>
          <p:cNvPr id="46" name="Oval 45"/>
          <p:cNvSpPr/>
          <p:nvPr/>
        </p:nvSpPr>
        <p:spPr>
          <a:xfrm>
            <a:off x="348826" y="2659033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47" name="Straight Arrow Connector 46"/>
          <p:cNvCxnSpPr>
            <a:stCxn id="46" idx="6"/>
            <a:endCxn id="61" idx="2"/>
          </p:cNvCxnSpPr>
          <p:nvPr/>
        </p:nvCxnSpPr>
        <p:spPr>
          <a:xfrm>
            <a:off x="1263227" y="3128737"/>
            <a:ext cx="59186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382314" y="2812585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-10870" y="2748938"/>
            <a:ext cx="45236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x2</a:t>
            </a:r>
            <a:endParaRPr lang="en-US" dirty="0"/>
          </a:p>
        </p:txBody>
      </p:sp>
      <p:sp>
        <p:nvSpPr>
          <p:cNvPr id="61" name="Oval 60"/>
          <p:cNvSpPr/>
          <p:nvPr/>
        </p:nvSpPr>
        <p:spPr>
          <a:xfrm>
            <a:off x="1855095" y="2659033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63" name="Oval 62"/>
          <p:cNvSpPr/>
          <p:nvPr/>
        </p:nvSpPr>
        <p:spPr>
          <a:xfrm>
            <a:off x="1981472" y="2776712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5" name="Rectangle 74"/>
          <p:cNvSpPr/>
          <p:nvPr/>
        </p:nvSpPr>
        <p:spPr>
          <a:xfrm>
            <a:off x="3298761" y="2890541"/>
            <a:ext cx="1122159" cy="476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Filter</a:t>
            </a:r>
            <a:endParaRPr lang="en-US" dirty="0"/>
          </a:p>
        </p:txBody>
      </p:sp>
      <p:cxnSp>
        <p:nvCxnSpPr>
          <p:cNvPr id="78" name="Straight Arrow Connector 77"/>
          <p:cNvCxnSpPr>
            <a:stCxn id="61" idx="6"/>
            <a:endCxn id="75" idx="1"/>
          </p:cNvCxnSpPr>
          <p:nvPr/>
        </p:nvCxnSpPr>
        <p:spPr>
          <a:xfrm>
            <a:off x="2769496" y="3128737"/>
            <a:ext cx="5292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370918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41" name="Straight Arrow Connector 40"/>
          <p:cNvCxnSpPr>
            <a:stCxn id="37" idx="6"/>
            <a:endCxn id="50" idx="2"/>
          </p:cNvCxnSpPr>
          <p:nvPr/>
        </p:nvCxnSpPr>
        <p:spPr>
          <a:xfrm>
            <a:off x="1285319" y="1955443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3402640" y="147996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49" name="Oval 48"/>
          <p:cNvSpPr/>
          <p:nvPr/>
        </p:nvSpPr>
        <p:spPr>
          <a:xfrm>
            <a:off x="3529017" y="16048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50" name="Oval 49"/>
          <p:cNvSpPr/>
          <p:nvPr/>
        </p:nvSpPr>
        <p:spPr>
          <a:xfrm>
            <a:off x="1841211" y="14857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52" name="TextBox 51"/>
          <p:cNvSpPr txBox="1"/>
          <p:nvPr/>
        </p:nvSpPr>
        <p:spPr>
          <a:xfrm>
            <a:off x="1404406" y="1639291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53" name="Straight Arrow Connector 52"/>
          <p:cNvCxnSpPr>
            <a:stCxn id="50" idx="6"/>
            <a:endCxn id="42" idx="2"/>
          </p:cNvCxnSpPr>
          <p:nvPr/>
        </p:nvCxnSpPr>
        <p:spPr>
          <a:xfrm flipV="1">
            <a:off x="2755612" y="194966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858322" y="1639294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55" name="Curved Connector 54"/>
          <p:cNvCxnSpPr>
            <a:stCxn id="50" idx="1"/>
            <a:endCxn id="50" idx="7"/>
          </p:cNvCxnSpPr>
          <p:nvPr/>
        </p:nvCxnSpPr>
        <p:spPr>
          <a:xfrm rot="5400000" flipH="1" flipV="1">
            <a:off x="2298238" y="1300024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0" y="1829008"/>
            <a:ext cx="45236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x1</a:t>
            </a:r>
            <a:endParaRPr lang="en-US" dirty="0"/>
          </a:p>
        </p:txBody>
      </p:sp>
      <p:sp>
        <p:nvSpPr>
          <p:cNvPr id="58" name="Oval 57"/>
          <p:cNvSpPr/>
          <p:nvPr/>
        </p:nvSpPr>
        <p:spPr>
          <a:xfrm>
            <a:off x="377268" y="391382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59" name="Straight Arrow Connector 58"/>
          <p:cNvCxnSpPr>
            <a:stCxn id="58" idx="6"/>
            <a:endCxn id="65" idx="2"/>
          </p:cNvCxnSpPr>
          <p:nvPr/>
        </p:nvCxnSpPr>
        <p:spPr>
          <a:xfrm>
            <a:off x="1291669" y="4383529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3408990" y="390805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64" name="Oval 63"/>
          <p:cNvSpPr/>
          <p:nvPr/>
        </p:nvSpPr>
        <p:spPr>
          <a:xfrm>
            <a:off x="3535367" y="4032954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65" name="Oval 64"/>
          <p:cNvSpPr/>
          <p:nvPr/>
        </p:nvSpPr>
        <p:spPr>
          <a:xfrm>
            <a:off x="1847561" y="391382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66" name="TextBox 65"/>
          <p:cNvSpPr txBox="1"/>
          <p:nvPr/>
        </p:nvSpPr>
        <p:spPr>
          <a:xfrm>
            <a:off x="1410756" y="4067377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X2</a:t>
            </a:r>
            <a:endParaRPr lang="en-US" dirty="0"/>
          </a:p>
        </p:txBody>
      </p:sp>
      <p:cxnSp>
        <p:nvCxnSpPr>
          <p:cNvPr id="68" name="Straight Arrow Connector 67"/>
          <p:cNvCxnSpPr>
            <a:stCxn id="65" idx="6"/>
            <a:endCxn id="60" idx="2"/>
          </p:cNvCxnSpPr>
          <p:nvPr/>
        </p:nvCxnSpPr>
        <p:spPr>
          <a:xfrm flipV="1">
            <a:off x="2761961" y="4377753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2864672" y="4067380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70" name="Curved Connector 69"/>
          <p:cNvCxnSpPr>
            <a:stCxn id="65" idx="1"/>
            <a:endCxn id="65" idx="7"/>
          </p:cNvCxnSpPr>
          <p:nvPr/>
        </p:nvCxnSpPr>
        <p:spPr>
          <a:xfrm rot="5400000" flipH="1" flipV="1">
            <a:off x="2304588" y="3728109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350" y="4193812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72" name="Oval 71"/>
          <p:cNvSpPr/>
          <p:nvPr/>
        </p:nvSpPr>
        <p:spPr>
          <a:xfrm>
            <a:off x="351890" y="517449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76" name="Straight Arrow Connector 75"/>
          <p:cNvCxnSpPr>
            <a:stCxn id="72" idx="6"/>
            <a:endCxn id="81" idx="2"/>
          </p:cNvCxnSpPr>
          <p:nvPr/>
        </p:nvCxnSpPr>
        <p:spPr>
          <a:xfrm>
            <a:off x="1266291" y="5644194"/>
            <a:ext cx="55589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3383612" y="5168715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79" name="Oval 78"/>
          <p:cNvSpPr/>
          <p:nvPr/>
        </p:nvSpPr>
        <p:spPr>
          <a:xfrm>
            <a:off x="3509989" y="5293619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81" name="Oval 80"/>
          <p:cNvSpPr/>
          <p:nvPr/>
        </p:nvSpPr>
        <p:spPr>
          <a:xfrm>
            <a:off x="1822183" y="517449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6" name="TextBox 85"/>
          <p:cNvSpPr txBox="1"/>
          <p:nvPr/>
        </p:nvSpPr>
        <p:spPr>
          <a:xfrm>
            <a:off x="1385378" y="5328042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89" name="Straight Arrow Connector 88"/>
          <p:cNvCxnSpPr>
            <a:stCxn id="81" idx="6"/>
            <a:endCxn id="77" idx="2"/>
          </p:cNvCxnSpPr>
          <p:nvPr/>
        </p:nvCxnSpPr>
        <p:spPr>
          <a:xfrm flipV="1">
            <a:off x="2736584" y="5638418"/>
            <a:ext cx="647029" cy="57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2839294" y="5328045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cxnSp>
        <p:nvCxnSpPr>
          <p:cNvPr id="91" name="Curved Connector 90"/>
          <p:cNvCxnSpPr>
            <a:stCxn id="81" idx="1"/>
            <a:endCxn id="81" idx="7"/>
          </p:cNvCxnSpPr>
          <p:nvPr/>
        </p:nvCxnSpPr>
        <p:spPr>
          <a:xfrm rot="5400000" flipH="1" flipV="1">
            <a:off x="2279210" y="4988775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-19028" y="5454478"/>
            <a:ext cx="42351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q2</a:t>
            </a:r>
            <a:endParaRPr lang="en-US" dirty="0"/>
          </a:p>
        </p:txBody>
      </p:sp>
      <p:sp>
        <p:nvSpPr>
          <p:cNvPr id="93" name="Rounded Rectangle 92"/>
          <p:cNvSpPr/>
          <p:nvPr/>
        </p:nvSpPr>
        <p:spPr>
          <a:xfrm>
            <a:off x="7313659" y="3624870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cxnSp>
        <p:nvCxnSpPr>
          <p:cNvPr id="94" name="Elbow Connector 93"/>
          <p:cNvCxnSpPr>
            <a:stCxn id="67" idx="3"/>
            <a:endCxn id="93" idx="3"/>
          </p:cNvCxnSpPr>
          <p:nvPr/>
        </p:nvCxnSpPr>
        <p:spPr>
          <a:xfrm>
            <a:off x="8099723" y="2031397"/>
            <a:ext cx="12700" cy="2001557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9" idx="2"/>
            <a:endCxn id="93" idx="1"/>
          </p:cNvCxnSpPr>
          <p:nvPr/>
        </p:nvCxnSpPr>
        <p:spPr>
          <a:xfrm rot="16200000" flipH="1">
            <a:off x="5393841" y="2113134"/>
            <a:ext cx="2672576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756967" y="3665441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sp>
        <p:nvSpPr>
          <p:cNvPr id="96" name="Rounded Rectangle 95"/>
          <p:cNvSpPr/>
          <p:nvPr/>
        </p:nvSpPr>
        <p:spPr>
          <a:xfrm>
            <a:off x="7313659" y="4580143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/>
              <a:t>2</a:t>
            </a:r>
            <a:endParaRPr lang="en-US" baseline="-25000" dirty="0"/>
          </a:p>
        </p:txBody>
      </p:sp>
      <p:cxnSp>
        <p:nvCxnSpPr>
          <p:cNvPr id="97" name="Elbow Connector 96"/>
          <p:cNvCxnSpPr>
            <a:stCxn id="25" idx="3"/>
            <a:endCxn id="96" idx="3"/>
          </p:cNvCxnSpPr>
          <p:nvPr/>
        </p:nvCxnSpPr>
        <p:spPr>
          <a:xfrm>
            <a:off x="8099723" y="952294"/>
            <a:ext cx="12700" cy="4035932"/>
          </a:xfrm>
          <a:prstGeom prst="bentConnector3">
            <a:avLst>
              <a:gd name="adj1" fmla="val 5990165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19" idx="2"/>
            <a:endCxn id="96" idx="1"/>
          </p:cNvCxnSpPr>
          <p:nvPr/>
        </p:nvCxnSpPr>
        <p:spPr>
          <a:xfrm rot="16200000" flipH="1">
            <a:off x="4916204" y="2590771"/>
            <a:ext cx="3627848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786631" y="4608793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5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744"/>
            <a:ext cx="2877519" cy="1043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q</a:t>
            </a:r>
            <a:r>
              <a:rPr lang="en-US" sz="2000" baseline="-25000" dirty="0" smtClean="0"/>
              <a:t>1</a:t>
            </a:r>
            <a:r>
              <a:rPr lang="en-US" sz="2000" dirty="0" smtClean="0"/>
              <a:t> </a:t>
            </a:r>
            <a:r>
              <a:rPr lang="en-US" sz="2000" dirty="0" smtClean="0"/>
              <a:t>= </a:t>
            </a:r>
            <a:r>
              <a:rPr lang="en-US" sz="2000" dirty="0" smtClean="0"/>
              <a:t>PATTERN(A&amp;&amp;B&amp;&amp;D)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2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PATTERN(A,B,C,D)</a:t>
            </a:r>
          </a:p>
          <a:p>
            <a:r>
              <a:rPr lang="en-US" sz="2000" dirty="0" smtClean="0"/>
              <a:t>q</a:t>
            </a:r>
            <a:r>
              <a:rPr lang="en-US" sz="2000" baseline="-25000" dirty="0" smtClean="0"/>
              <a:t>x</a:t>
            </a:r>
            <a:r>
              <a:rPr lang="en-US" sz="2000" dirty="0" smtClean="0"/>
              <a:t> </a:t>
            </a:r>
            <a:r>
              <a:rPr lang="en-US" sz="2000" dirty="0"/>
              <a:t>= </a:t>
            </a:r>
            <a:r>
              <a:rPr lang="en-US" sz="2000" dirty="0" smtClean="0"/>
              <a:t>PATTERN(A,B,D)</a:t>
            </a:r>
          </a:p>
        </p:txBody>
      </p:sp>
      <p:cxnSp>
        <p:nvCxnSpPr>
          <p:cNvPr id="18" name="Straight Arrow Connector 17"/>
          <p:cNvCxnSpPr>
            <a:stCxn id="19" idx="3"/>
          </p:cNvCxnSpPr>
          <p:nvPr/>
        </p:nvCxnSpPr>
        <p:spPr>
          <a:xfrm flipV="1">
            <a:off x="6567703" y="952295"/>
            <a:ext cx="745957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725492" y="544212"/>
            <a:ext cx="842211" cy="81616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 source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685571" y="606948"/>
            <a:ext cx="699359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A,B,D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7313659" y="544211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372439" y="622599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7" name="Rounded Rectangle 66"/>
          <p:cNvSpPr/>
          <p:nvPr/>
        </p:nvSpPr>
        <p:spPr>
          <a:xfrm>
            <a:off x="7326359" y="1787230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</a:t>
            </a:r>
            <a:r>
              <a:rPr lang="en-US" baseline="-25000" dirty="0" smtClean="0"/>
              <a:t>x’</a:t>
            </a:r>
            <a:endParaRPr lang="en-US" baseline="-25000" dirty="0"/>
          </a:p>
        </p:txBody>
      </p:sp>
      <p:cxnSp>
        <p:nvCxnSpPr>
          <p:cNvPr id="82" name="Elbow Connector 81"/>
          <p:cNvCxnSpPr>
            <a:stCxn id="25" idx="3"/>
            <a:endCxn id="67" idx="0"/>
          </p:cNvCxnSpPr>
          <p:nvPr/>
        </p:nvCxnSpPr>
        <p:spPr>
          <a:xfrm flipH="1">
            <a:off x="7719391" y="952295"/>
            <a:ext cx="380332" cy="834935"/>
          </a:xfrm>
          <a:prstGeom prst="bentConnector4">
            <a:avLst>
              <a:gd name="adj1" fmla="val -60105"/>
              <a:gd name="adj2" fmla="val 74438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6376738" y="6254476"/>
            <a:ext cx="2767263" cy="6035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Operator transformation technique &amp; Merge sharing</a:t>
            </a:r>
            <a:endParaRPr 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5919071" y="5331880"/>
            <a:ext cx="3104039" cy="379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Data Flow Programming graph</a:t>
            </a:r>
            <a:endParaRPr lang="en-US" dirty="0"/>
          </a:p>
        </p:txBody>
      </p:sp>
      <p:cxnSp>
        <p:nvCxnSpPr>
          <p:cNvPr id="45" name="Straight Arrow Connector 44"/>
          <p:cNvCxnSpPr>
            <a:stCxn id="67" idx="2"/>
            <a:endCxn id="88" idx="0"/>
          </p:cNvCxnSpPr>
          <p:nvPr/>
        </p:nvCxnSpPr>
        <p:spPr>
          <a:xfrm flipH="1">
            <a:off x="7706691" y="2603395"/>
            <a:ext cx="12700" cy="7220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7313659" y="3325416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 smtClean="0"/>
              <a:t>x</a:t>
            </a:r>
            <a:endParaRPr lang="en-US" baseline="-25000" dirty="0"/>
          </a:p>
        </p:txBody>
      </p:sp>
      <p:sp>
        <p:nvSpPr>
          <p:cNvPr id="71" name="TextBox 70"/>
          <p:cNvSpPr txBox="1"/>
          <p:nvPr/>
        </p:nvSpPr>
        <p:spPr>
          <a:xfrm>
            <a:off x="0" y="2936740"/>
            <a:ext cx="37382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/>
              <a:t>x</a:t>
            </a:r>
            <a:endParaRPr lang="en-US" dirty="0"/>
          </a:p>
        </p:txBody>
      </p:sp>
      <p:sp>
        <p:nvSpPr>
          <p:cNvPr id="96" name="Rounded Rectangle 95"/>
          <p:cNvSpPr/>
          <p:nvPr/>
        </p:nvSpPr>
        <p:spPr>
          <a:xfrm>
            <a:off x="7313659" y="4580143"/>
            <a:ext cx="786064" cy="81616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r>
              <a:rPr lang="en-US" baseline="-25000" dirty="0"/>
              <a:t>2</a:t>
            </a:r>
            <a:endParaRPr lang="en-US" baseline="-25000" dirty="0"/>
          </a:p>
        </p:txBody>
      </p:sp>
      <p:cxnSp>
        <p:nvCxnSpPr>
          <p:cNvPr id="97" name="Elbow Connector 96"/>
          <p:cNvCxnSpPr>
            <a:stCxn id="88" idx="3"/>
            <a:endCxn id="96" idx="3"/>
          </p:cNvCxnSpPr>
          <p:nvPr/>
        </p:nvCxnSpPr>
        <p:spPr>
          <a:xfrm>
            <a:off x="8099723" y="3733499"/>
            <a:ext cx="12700" cy="1254727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Elbow Connector 101"/>
          <p:cNvCxnSpPr>
            <a:stCxn id="19" idx="2"/>
            <a:endCxn id="96" idx="1"/>
          </p:cNvCxnSpPr>
          <p:nvPr/>
        </p:nvCxnSpPr>
        <p:spPr>
          <a:xfrm rot="16200000" flipH="1">
            <a:off x="4916204" y="2590771"/>
            <a:ext cx="3627848" cy="1167062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6786631" y="4608793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62" name="Oval 61"/>
          <p:cNvSpPr/>
          <p:nvPr/>
        </p:nvSpPr>
        <p:spPr>
          <a:xfrm>
            <a:off x="359696" y="1633678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73" name="Straight Arrow Connector 72"/>
          <p:cNvCxnSpPr>
            <a:stCxn id="62" idx="6"/>
            <a:endCxn id="74" idx="2"/>
          </p:cNvCxnSpPr>
          <p:nvPr/>
        </p:nvCxnSpPr>
        <p:spPr>
          <a:xfrm>
            <a:off x="1274097" y="2103382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836339" y="1633678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80" name="TextBox 79"/>
          <p:cNvSpPr txBox="1"/>
          <p:nvPr/>
        </p:nvSpPr>
        <p:spPr>
          <a:xfrm>
            <a:off x="1393184" y="1787229"/>
            <a:ext cx="31771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endParaRPr lang="en-US" dirty="0"/>
          </a:p>
        </p:txBody>
      </p:sp>
      <p:cxnSp>
        <p:nvCxnSpPr>
          <p:cNvPr id="84" name="Straight Arrow Connector 83"/>
          <p:cNvCxnSpPr/>
          <p:nvPr/>
        </p:nvCxnSpPr>
        <p:spPr>
          <a:xfrm flipV="1">
            <a:off x="2744390" y="2103382"/>
            <a:ext cx="647029" cy="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Curved Connector 86"/>
          <p:cNvCxnSpPr>
            <a:stCxn id="74" idx="1"/>
            <a:endCxn id="74" idx="7"/>
          </p:cNvCxnSpPr>
          <p:nvPr/>
        </p:nvCxnSpPr>
        <p:spPr>
          <a:xfrm rot="5400000" flipH="1" flipV="1">
            <a:off x="2293366" y="1447962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2909045" y="1803528"/>
            <a:ext cx="30970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</a:t>
            </a:r>
            <a:endParaRPr lang="en-US" dirty="0"/>
          </a:p>
        </p:txBody>
      </p:sp>
      <p:sp>
        <p:nvSpPr>
          <p:cNvPr id="99" name="TextBox 98"/>
          <p:cNvSpPr txBox="1"/>
          <p:nvPr/>
        </p:nvSpPr>
        <p:spPr>
          <a:xfrm>
            <a:off x="0" y="1723583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1</a:t>
            </a:r>
            <a:endParaRPr lang="en-US" baseline="-25000" dirty="0"/>
          </a:p>
        </p:txBody>
      </p:sp>
      <p:sp>
        <p:nvSpPr>
          <p:cNvPr id="100" name="Oval 99"/>
          <p:cNvSpPr/>
          <p:nvPr/>
        </p:nvSpPr>
        <p:spPr>
          <a:xfrm>
            <a:off x="4811091" y="163964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01" name="Oval 100"/>
          <p:cNvSpPr/>
          <p:nvPr/>
        </p:nvSpPr>
        <p:spPr>
          <a:xfrm>
            <a:off x="4937468" y="1758768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03" name="Oval 102"/>
          <p:cNvSpPr/>
          <p:nvPr/>
        </p:nvSpPr>
        <p:spPr>
          <a:xfrm>
            <a:off x="3362836" y="1633680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2</a:t>
            </a:r>
            <a:endParaRPr lang="en-SG" dirty="0"/>
          </a:p>
        </p:txBody>
      </p:sp>
      <p:cxnSp>
        <p:nvCxnSpPr>
          <p:cNvPr id="104" name="Straight Arrow Connector 103"/>
          <p:cNvCxnSpPr>
            <a:stCxn id="103" idx="6"/>
            <a:endCxn id="100" idx="2"/>
          </p:cNvCxnSpPr>
          <p:nvPr/>
        </p:nvCxnSpPr>
        <p:spPr>
          <a:xfrm>
            <a:off x="4277237" y="2103384"/>
            <a:ext cx="533855" cy="59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4389176" y="1807851"/>
            <a:ext cx="327334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</a:t>
            </a:r>
            <a:endParaRPr lang="en-US" dirty="0"/>
          </a:p>
        </p:txBody>
      </p:sp>
      <p:cxnSp>
        <p:nvCxnSpPr>
          <p:cNvPr id="107" name="Curved Connector 106"/>
          <p:cNvCxnSpPr/>
          <p:nvPr/>
        </p:nvCxnSpPr>
        <p:spPr>
          <a:xfrm rot="5400000" flipH="1" flipV="1">
            <a:off x="3813513" y="1442003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404418" y="283451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09" name="Straight Arrow Connector 108"/>
          <p:cNvCxnSpPr>
            <a:stCxn id="108" idx="6"/>
            <a:endCxn id="112" idx="2"/>
          </p:cNvCxnSpPr>
          <p:nvPr/>
        </p:nvCxnSpPr>
        <p:spPr>
          <a:xfrm>
            <a:off x="1318819" y="3304217"/>
            <a:ext cx="591869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1437906" y="2988065"/>
            <a:ext cx="381836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r1</a:t>
            </a:r>
            <a:endParaRPr lang="en-US" dirty="0"/>
          </a:p>
        </p:txBody>
      </p:sp>
      <p:sp>
        <p:nvSpPr>
          <p:cNvPr id="112" name="Oval 111"/>
          <p:cNvSpPr/>
          <p:nvPr/>
        </p:nvSpPr>
        <p:spPr>
          <a:xfrm>
            <a:off x="1910687" y="2834514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13" name="Oval 112"/>
          <p:cNvSpPr/>
          <p:nvPr/>
        </p:nvSpPr>
        <p:spPr>
          <a:xfrm>
            <a:off x="2037064" y="2952193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14" name="Rectangle 113"/>
          <p:cNvSpPr/>
          <p:nvPr/>
        </p:nvSpPr>
        <p:spPr>
          <a:xfrm>
            <a:off x="3354353" y="3066021"/>
            <a:ext cx="1122159" cy="476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Filter</a:t>
            </a:r>
            <a:endParaRPr lang="en-US" dirty="0"/>
          </a:p>
        </p:txBody>
      </p:sp>
      <p:cxnSp>
        <p:nvCxnSpPr>
          <p:cNvPr id="115" name="Straight Arrow Connector 114"/>
          <p:cNvCxnSpPr>
            <a:stCxn id="112" idx="6"/>
            <a:endCxn id="114" idx="1"/>
          </p:cNvCxnSpPr>
          <p:nvPr/>
        </p:nvCxnSpPr>
        <p:spPr>
          <a:xfrm>
            <a:off x="2825087" y="3304217"/>
            <a:ext cx="52926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59696" y="411043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SG" dirty="0"/>
          </a:p>
        </p:txBody>
      </p:sp>
      <p:cxnSp>
        <p:nvCxnSpPr>
          <p:cNvPr id="117" name="Straight Arrow Connector 116"/>
          <p:cNvCxnSpPr>
            <a:stCxn id="116" idx="6"/>
            <a:endCxn id="120" idx="2"/>
          </p:cNvCxnSpPr>
          <p:nvPr/>
        </p:nvCxnSpPr>
        <p:spPr>
          <a:xfrm>
            <a:off x="1274097" y="4580143"/>
            <a:ext cx="56224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3370370" y="4110071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19" name="Oval 118"/>
          <p:cNvSpPr/>
          <p:nvPr/>
        </p:nvSpPr>
        <p:spPr>
          <a:xfrm>
            <a:off x="3496747" y="4229201"/>
            <a:ext cx="661646" cy="70115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2000" dirty="0"/>
          </a:p>
        </p:txBody>
      </p:sp>
      <p:sp>
        <p:nvSpPr>
          <p:cNvPr id="120" name="Oval 119"/>
          <p:cNvSpPr/>
          <p:nvPr/>
        </p:nvSpPr>
        <p:spPr>
          <a:xfrm>
            <a:off x="1836339" y="4110439"/>
            <a:ext cx="914400" cy="93940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SG" dirty="0"/>
          </a:p>
        </p:txBody>
      </p:sp>
      <p:sp>
        <p:nvSpPr>
          <p:cNvPr id="121" name="TextBox 120"/>
          <p:cNvSpPr txBox="1"/>
          <p:nvPr/>
        </p:nvSpPr>
        <p:spPr>
          <a:xfrm>
            <a:off x="1379163" y="4263991"/>
            <a:ext cx="421910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  <p:cxnSp>
        <p:nvCxnSpPr>
          <p:cNvPr id="122" name="Curved Connector 121"/>
          <p:cNvCxnSpPr>
            <a:stCxn id="120" idx="1"/>
            <a:endCxn id="120" idx="7"/>
          </p:cNvCxnSpPr>
          <p:nvPr/>
        </p:nvCxnSpPr>
        <p:spPr>
          <a:xfrm rot="5400000" flipH="1" flipV="1">
            <a:off x="2293366" y="3924723"/>
            <a:ext cx="13047" cy="646578"/>
          </a:xfrm>
          <a:prstGeom prst="curvedConnector3">
            <a:avLst>
              <a:gd name="adj1" fmla="val 2854417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0" y="4200344"/>
            <a:ext cx="38504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</a:t>
            </a:r>
            <a:r>
              <a:rPr lang="en-US" baseline="-25000" dirty="0" smtClean="0"/>
              <a:t>2</a:t>
            </a:r>
            <a:endParaRPr lang="en-US" dirty="0"/>
          </a:p>
        </p:txBody>
      </p:sp>
      <p:cxnSp>
        <p:nvCxnSpPr>
          <p:cNvPr id="124" name="Straight Arrow Connector 123"/>
          <p:cNvCxnSpPr>
            <a:stCxn id="120" idx="6"/>
            <a:endCxn id="118" idx="2"/>
          </p:cNvCxnSpPr>
          <p:nvPr/>
        </p:nvCxnSpPr>
        <p:spPr>
          <a:xfrm flipV="1">
            <a:off x="2750740" y="4579775"/>
            <a:ext cx="619631" cy="36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2924274" y="4261607"/>
            <a:ext cx="308098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26" name="Rectangle 125"/>
          <p:cNvSpPr/>
          <p:nvPr/>
        </p:nvSpPr>
        <p:spPr>
          <a:xfrm>
            <a:off x="3258957" y="5604949"/>
            <a:ext cx="1122159" cy="4763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Filter</a:t>
            </a:r>
            <a:endParaRPr lang="en-US" dirty="0"/>
          </a:p>
        </p:txBody>
      </p:sp>
      <p:cxnSp>
        <p:nvCxnSpPr>
          <p:cNvPr id="127" name="Straight Arrow Connector 126"/>
          <p:cNvCxnSpPr>
            <a:stCxn id="118" idx="4"/>
            <a:endCxn id="126" idx="0"/>
          </p:cNvCxnSpPr>
          <p:nvPr/>
        </p:nvCxnSpPr>
        <p:spPr>
          <a:xfrm flipH="1">
            <a:off x="3820036" y="5049479"/>
            <a:ext cx="7534" cy="55547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8353203" y="3352697"/>
            <a:ext cx="401072" cy="379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x1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71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607</Words>
  <Application>Microsoft Office PowerPoint</Application>
  <PresentationFormat>On-screen Show (4:3)</PresentationFormat>
  <Paragraphs>315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Multi-query optimization techniques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SAP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Multi-query optimization techniques</dc:title>
  <dc:creator>Zhang, Shuhao</dc:creator>
  <cp:lastModifiedBy>Zhang, Shuhao</cp:lastModifiedBy>
  <cp:revision>9</cp:revision>
  <dcterms:created xsi:type="dcterms:W3CDTF">2015-03-17T14:19:50Z</dcterms:created>
  <dcterms:modified xsi:type="dcterms:W3CDTF">2015-03-18T02:37:53Z</dcterms:modified>
</cp:coreProperties>
</file>