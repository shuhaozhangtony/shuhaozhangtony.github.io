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0" r:id="rId4"/>
    <p:sldId id="259" r:id="rId5"/>
    <p:sldId id="265" r:id="rId6"/>
    <p:sldId id="262" r:id="rId7"/>
    <p:sldId id="263" r:id="rId8"/>
    <p:sldId id="264" r:id="rId9"/>
    <p:sldId id="266" r:id="rId10"/>
    <p:sldId id="267" r:id="rId11"/>
    <p:sldId id="271" r:id="rId12"/>
    <p:sldId id="268" r:id="rId13"/>
    <p:sldId id="27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2"/>
    <p:restoredTop sz="94647"/>
  </p:normalViewPr>
  <p:slideViewPr>
    <p:cSldViewPr snapToGrid="0">
      <p:cViewPr varScale="1">
        <p:scale>
          <a:sx n="143" d="100"/>
          <a:sy n="143" d="100"/>
        </p:scale>
        <p:origin x="208"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5C350C73-C1F7-41E1-8100-ADEEA37AC3BB}" type="datetimeFigureOut">
              <a:rPr lang="en-SG" smtClean="0"/>
              <a:t>18/9/19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3430708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5C350C73-C1F7-41E1-8100-ADEEA37AC3BB}" type="datetimeFigureOut">
              <a:rPr lang="en-SG" smtClean="0"/>
              <a:t>18/9/19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3563767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350C73-C1F7-41E1-8100-ADEEA37AC3BB}" type="datetimeFigureOut">
              <a:rPr lang="en-SG" smtClean="0"/>
              <a:t>18/9/19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2084684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5C350C73-C1F7-41E1-8100-ADEEA37AC3BB}" type="datetimeFigureOut">
              <a:rPr lang="en-SG" smtClean="0"/>
              <a:t>18/9/19</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4194564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5C350C73-C1F7-41E1-8100-ADEEA37AC3BB}" type="datetimeFigureOut">
              <a:rPr lang="en-SG" smtClean="0"/>
              <a:t>18/9/19</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1926566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5C350C73-C1F7-41E1-8100-ADEEA37AC3BB}" type="datetimeFigureOut">
              <a:rPr lang="en-SG" smtClean="0"/>
              <a:t>18/9/19</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3080858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350C73-C1F7-41E1-8100-ADEEA37AC3BB}" type="datetimeFigureOut">
              <a:rPr lang="en-SG" smtClean="0"/>
              <a:t>18/9/19</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4118434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C350C73-C1F7-41E1-8100-ADEEA37AC3BB}" type="datetimeFigureOut">
              <a:rPr lang="en-SG" smtClean="0"/>
              <a:t>18/9/19</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95483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C350C73-C1F7-41E1-8100-ADEEA37AC3BB}" type="datetimeFigureOut">
              <a:rPr lang="en-SG" smtClean="0"/>
              <a:t>18/9/19</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3237493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5C350C73-C1F7-41E1-8100-ADEEA37AC3BB}" type="datetimeFigureOut">
              <a:rPr lang="en-SG" smtClean="0"/>
              <a:t>18/9/19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3608340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5C350C73-C1F7-41E1-8100-ADEEA37AC3BB}" type="datetimeFigureOut">
              <a:rPr lang="en-SG" smtClean="0"/>
              <a:t>18/9/19</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DD70B8-9DCA-4078-9794-0C42C6690173}" type="slidenum">
              <a:rPr lang="en-SG" smtClean="0"/>
              <a:t>‹#›</a:t>
            </a:fld>
            <a:endParaRPr lang="en-SG"/>
          </a:p>
        </p:txBody>
      </p:sp>
    </p:spTree>
    <p:extLst>
      <p:ext uri="{BB962C8B-B14F-4D97-AF65-F5344CB8AC3E}">
        <p14:creationId xmlns:p14="http://schemas.microsoft.com/office/powerpoint/2010/main" val="38794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350C73-C1F7-41E1-8100-ADEEA37AC3BB}" type="datetimeFigureOut">
              <a:rPr lang="en-SG" smtClean="0"/>
              <a:t>18/9/19</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DD70B8-9DCA-4078-9794-0C42C6690173}" type="slidenum">
              <a:rPr lang="en-SG" smtClean="0"/>
              <a:t>‹#›</a:t>
            </a:fld>
            <a:endParaRPr lang="en-SG"/>
          </a:p>
        </p:txBody>
      </p:sp>
    </p:spTree>
    <p:extLst>
      <p:ext uri="{BB962C8B-B14F-4D97-AF65-F5344CB8AC3E}">
        <p14:creationId xmlns:p14="http://schemas.microsoft.com/office/powerpoint/2010/main" val="3534799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monash.edu/__data/assets/pdf_file/0010/399475/Editing-and-proofreading-part-2-checklist.pdf" TargetMode="External"/><Relationship Id="rId2" Type="http://schemas.openxmlformats.org/officeDocument/2006/relationships/hyperlink" Target="https://www.dummies.com/education/language-arts/grammar-checklist-for-your-research-pap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www.comp.nus.edu.sg/~hebs/pub/Medusa_TPDS13.pdf" TargetMode="External"/><Relationship Id="rId2" Type="http://schemas.openxmlformats.org/officeDocument/2006/relationships/hyperlink" Target="http://www.vldb.org/pvldb/vol8/p329-he.pd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SG" dirty="0"/>
              <a:t>Suggestions on Writing and Presentation for “QE and Thesis”</a:t>
            </a:r>
          </a:p>
        </p:txBody>
      </p:sp>
      <p:sp>
        <p:nvSpPr>
          <p:cNvPr id="3" name="Subtitle 2"/>
          <p:cNvSpPr>
            <a:spLocks noGrp="1"/>
          </p:cNvSpPr>
          <p:nvPr>
            <p:ph type="subTitle" idx="1"/>
          </p:nvPr>
        </p:nvSpPr>
        <p:spPr/>
        <p:txBody>
          <a:bodyPr/>
          <a:lstStyle/>
          <a:p>
            <a:r>
              <a:rPr lang="en-SG" dirty="0"/>
              <a:t>Bingsheng He</a:t>
            </a:r>
          </a:p>
          <a:p>
            <a:r>
              <a:rPr lang="en-SG" dirty="0"/>
              <a:t>NUS</a:t>
            </a:r>
          </a:p>
        </p:txBody>
      </p:sp>
    </p:spTree>
    <p:extLst>
      <p:ext uri="{BB962C8B-B14F-4D97-AF65-F5344CB8AC3E}">
        <p14:creationId xmlns:p14="http://schemas.microsoft.com/office/powerpoint/2010/main" val="154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Common Suggestions </a:t>
            </a:r>
          </a:p>
          <a:p>
            <a:r>
              <a:rPr lang="en-US" dirty="0"/>
              <a:t>Specific Suggestions on QE</a:t>
            </a:r>
          </a:p>
          <a:p>
            <a:r>
              <a:rPr lang="en-US" dirty="0"/>
              <a:t>Specific Suggestions on Thesis</a:t>
            </a:r>
          </a:p>
          <a:p>
            <a:r>
              <a:rPr lang="en-US" dirty="0"/>
              <a:t>Presentations for Ph.D. Defense</a:t>
            </a:r>
          </a:p>
        </p:txBody>
      </p:sp>
    </p:spTree>
    <p:extLst>
      <p:ext uri="{BB962C8B-B14F-4D97-AF65-F5344CB8AC3E}">
        <p14:creationId xmlns:p14="http://schemas.microsoft.com/office/powerpoint/2010/main" val="3666818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 Your Grammar Error Check List</a:t>
            </a:r>
          </a:p>
        </p:txBody>
      </p:sp>
      <p:sp>
        <p:nvSpPr>
          <p:cNvPr id="3" name="Content Placeholder 2"/>
          <p:cNvSpPr>
            <a:spLocks noGrp="1"/>
          </p:cNvSpPr>
          <p:nvPr>
            <p:ph idx="1"/>
          </p:nvPr>
        </p:nvSpPr>
        <p:spPr/>
        <p:txBody>
          <a:bodyPr>
            <a:normAutofit lnSpcReduction="10000"/>
          </a:bodyPr>
          <a:lstStyle/>
          <a:p>
            <a:pPr>
              <a:lnSpc>
                <a:spcPct val="100000"/>
              </a:lnSpc>
            </a:pPr>
            <a:r>
              <a:rPr lang="en-US" altLang="en-US" dirty="0">
                <a:solidFill>
                  <a:srgbClr val="222222"/>
                </a:solidFill>
                <a:latin typeface="Arial" panose="020B0604020202020204" pitchFamily="34" charset="0"/>
                <a:cs typeface="Arial" panose="020B0604020202020204" pitchFamily="34" charset="0"/>
              </a:rPr>
              <a:t>A good practice is to write more and learn from the mistakes.</a:t>
            </a:r>
          </a:p>
          <a:p>
            <a:pPr>
              <a:lnSpc>
                <a:spcPct val="100000"/>
              </a:lnSpc>
            </a:pPr>
            <a:r>
              <a:rPr lang="en-US" altLang="en-US" dirty="0">
                <a:solidFill>
                  <a:srgbClr val="222222"/>
                </a:solidFill>
                <a:latin typeface="Arial" panose="020B0604020202020204" pitchFamily="34" charset="0"/>
                <a:cs typeface="Arial" panose="020B0604020202020204" pitchFamily="34" charset="0"/>
              </a:rPr>
              <a:t>Maintain a check list of grammar mistakes that you have made, and then check against your paper carefully. </a:t>
            </a:r>
          </a:p>
          <a:p>
            <a:pPr>
              <a:lnSpc>
                <a:spcPct val="100000"/>
              </a:lnSpc>
            </a:pPr>
            <a:r>
              <a:rPr lang="en-US" altLang="en-US" dirty="0">
                <a:solidFill>
                  <a:srgbClr val="222222"/>
                </a:solidFill>
                <a:latin typeface="Arial" panose="020B0604020202020204" pitchFamily="34" charset="0"/>
                <a:cs typeface="Arial" panose="020B0604020202020204" pitchFamily="34" charset="0"/>
              </a:rPr>
              <a:t>please pay attention to grammars. </a:t>
            </a:r>
            <a:endParaRPr lang="en-US" altLang="en-US" dirty="0"/>
          </a:p>
          <a:p>
            <a:pPr marL="0" lvl="0" indent="0" eaLnBrk="0" fontAlgn="base" hangingPunct="0">
              <a:lnSpc>
                <a:spcPct val="100000"/>
              </a:lnSpc>
              <a:spcBef>
                <a:spcPct val="0"/>
              </a:spcBef>
              <a:spcAft>
                <a:spcPct val="0"/>
              </a:spcAft>
              <a:buNone/>
            </a:pPr>
            <a:r>
              <a:rPr lang="en-US" altLang="en-US" dirty="0">
                <a:solidFill>
                  <a:srgbClr val="222222"/>
                </a:solidFill>
                <a:latin typeface="Arial" panose="020B0604020202020204" pitchFamily="34" charset="0"/>
                <a:cs typeface="Arial" panose="020B0604020202020204" pitchFamily="34" charset="0"/>
              </a:rPr>
              <a:t>here are some examples:</a:t>
            </a:r>
            <a:endParaRPr lang="en-US" altLang="en-US" dirty="0"/>
          </a:p>
          <a:p>
            <a:pPr marL="0" lvl="0" indent="0" eaLnBrk="0" fontAlgn="base" hangingPunct="0">
              <a:lnSpc>
                <a:spcPct val="100000"/>
              </a:lnSpc>
              <a:spcBef>
                <a:spcPct val="0"/>
              </a:spcBef>
              <a:spcAft>
                <a:spcPct val="0"/>
              </a:spcAft>
              <a:buNone/>
            </a:pPr>
            <a:r>
              <a:rPr lang="en-US" altLang="en-US" dirty="0">
                <a:solidFill>
                  <a:srgbClr val="1155CC"/>
                </a:solidFill>
                <a:latin typeface="Arial" panose="020B0604020202020204" pitchFamily="34" charset="0"/>
                <a:cs typeface="Arial" panose="020B0604020202020204" pitchFamily="34" charset="0"/>
                <a:hlinkClick r:id="rId2"/>
              </a:rPr>
              <a:t>https://www.dummies.com/education/language-arts/grammar-checklist-for-your-research-paper/</a:t>
            </a:r>
            <a:br>
              <a:rPr lang="en-US" altLang="en-US" dirty="0">
                <a:solidFill>
                  <a:srgbClr val="222222"/>
                </a:solidFill>
                <a:latin typeface="Arial" panose="020B0604020202020204" pitchFamily="34" charset="0"/>
                <a:cs typeface="Arial" panose="020B0604020202020204" pitchFamily="34" charset="0"/>
              </a:rPr>
            </a:br>
            <a:r>
              <a:rPr lang="en-US" altLang="en-US" dirty="0">
                <a:solidFill>
                  <a:srgbClr val="1155CC"/>
                </a:solidFill>
                <a:latin typeface="Arial" panose="020B0604020202020204" pitchFamily="34" charset="0"/>
                <a:cs typeface="Arial" panose="020B0604020202020204" pitchFamily="34" charset="0"/>
                <a:hlinkClick r:id="rId3"/>
              </a:rPr>
              <a:t>https://www.monash.edu/__data/assets/pdf_file/0010/399475/Editing-and-proofreading-part-2-checklist.pdf</a:t>
            </a:r>
            <a:br>
              <a:rPr lang="en-US" altLang="en-US" dirty="0">
                <a:solidFill>
                  <a:srgbClr val="222222"/>
                </a:solidFill>
                <a:latin typeface="Arial" panose="020B0604020202020204" pitchFamily="34" charset="0"/>
                <a:cs typeface="Arial" panose="020B0604020202020204" pitchFamily="34" charset="0"/>
              </a:rPr>
            </a:br>
            <a:r>
              <a:rPr lang="en-US" altLang="en-US" dirty="0">
                <a:solidFill>
                  <a:srgbClr val="222222"/>
                </a:solidFill>
                <a:latin typeface="Arial" panose="020B0604020202020204" pitchFamily="34" charset="0"/>
                <a:cs typeface="Arial" panose="020B0604020202020204" pitchFamily="34" charset="0"/>
              </a:rPr>
              <a:t>definitely you can find more....</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endParaRPr lang="en-US" dirty="0"/>
          </a:p>
        </p:txBody>
      </p:sp>
    </p:spTree>
    <p:extLst>
      <p:ext uri="{BB962C8B-B14F-4D97-AF65-F5344CB8AC3E}">
        <p14:creationId xmlns:p14="http://schemas.microsoft.com/office/powerpoint/2010/main" val="222775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Never, Never “Copy and Paste”</a:t>
            </a:r>
          </a:p>
        </p:txBody>
      </p:sp>
      <p:sp>
        <p:nvSpPr>
          <p:cNvPr id="3" name="Content Placeholder 2"/>
          <p:cNvSpPr>
            <a:spLocks noGrp="1"/>
          </p:cNvSpPr>
          <p:nvPr>
            <p:ph idx="1"/>
          </p:nvPr>
        </p:nvSpPr>
        <p:spPr/>
        <p:txBody>
          <a:bodyPr/>
          <a:lstStyle/>
          <a:p>
            <a:r>
              <a:rPr lang="en-SG" dirty="0"/>
              <a:t>I just reviewed two applications for our Ph.D. programs, and got two personal statement like this:</a:t>
            </a:r>
          </a:p>
          <a:p>
            <a:r>
              <a:rPr lang="en-SG" dirty="0"/>
              <a:t>Student A:</a:t>
            </a:r>
          </a:p>
          <a:p>
            <a:pPr marL="0" indent="0">
              <a:buNone/>
            </a:pPr>
            <a:endParaRPr lang="en-SG" dirty="0"/>
          </a:p>
          <a:p>
            <a:pPr marL="0" indent="0">
              <a:buNone/>
            </a:pPr>
            <a:endParaRPr lang="en-SG" dirty="0"/>
          </a:p>
          <a:p>
            <a:pPr marL="0" indent="0">
              <a:buNone/>
            </a:pPr>
            <a:endParaRPr lang="en-SG" dirty="0"/>
          </a:p>
          <a:p>
            <a:r>
              <a:rPr lang="en-SG" dirty="0"/>
              <a:t>Student B: </a:t>
            </a:r>
          </a:p>
        </p:txBody>
      </p:sp>
      <p:pic>
        <p:nvPicPr>
          <p:cNvPr id="4" name="Picture 3"/>
          <p:cNvPicPr>
            <a:picLocks noChangeAspect="1"/>
          </p:cNvPicPr>
          <p:nvPr/>
        </p:nvPicPr>
        <p:blipFill>
          <a:blip r:embed="rId2"/>
          <a:stretch>
            <a:fillRect/>
          </a:stretch>
        </p:blipFill>
        <p:spPr>
          <a:xfrm>
            <a:off x="1014336" y="3256984"/>
            <a:ext cx="10632720" cy="600492"/>
          </a:xfrm>
          <a:prstGeom prst="rect">
            <a:avLst/>
          </a:prstGeom>
        </p:spPr>
      </p:pic>
      <p:pic>
        <p:nvPicPr>
          <p:cNvPr id="5" name="Picture 4"/>
          <p:cNvPicPr>
            <a:picLocks noChangeAspect="1"/>
          </p:cNvPicPr>
          <p:nvPr/>
        </p:nvPicPr>
        <p:blipFill>
          <a:blip r:embed="rId3"/>
          <a:stretch>
            <a:fillRect/>
          </a:stretch>
        </p:blipFill>
        <p:spPr>
          <a:xfrm>
            <a:off x="1094252" y="5120934"/>
            <a:ext cx="7141373" cy="605676"/>
          </a:xfrm>
          <a:prstGeom prst="rect">
            <a:avLst/>
          </a:prstGeom>
        </p:spPr>
      </p:pic>
      <p:pic>
        <p:nvPicPr>
          <p:cNvPr id="6" name="Picture 5"/>
          <p:cNvPicPr>
            <a:picLocks noChangeAspect="1"/>
          </p:cNvPicPr>
          <p:nvPr/>
        </p:nvPicPr>
        <p:blipFill>
          <a:blip r:embed="rId4"/>
          <a:stretch>
            <a:fillRect/>
          </a:stretch>
        </p:blipFill>
        <p:spPr>
          <a:xfrm>
            <a:off x="1098583" y="5922490"/>
            <a:ext cx="7666726" cy="778820"/>
          </a:xfrm>
          <a:prstGeom prst="rect">
            <a:avLst/>
          </a:prstGeom>
        </p:spPr>
      </p:pic>
      <p:pic>
        <p:nvPicPr>
          <p:cNvPr id="7" name="Picture 6"/>
          <p:cNvPicPr>
            <a:picLocks noChangeAspect="1"/>
          </p:cNvPicPr>
          <p:nvPr/>
        </p:nvPicPr>
        <p:blipFill>
          <a:blip r:embed="rId5"/>
          <a:stretch>
            <a:fillRect/>
          </a:stretch>
        </p:blipFill>
        <p:spPr>
          <a:xfrm>
            <a:off x="1014336" y="4053356"/>
            <a:ext cx="9726760" cy="543231"/>
          </a:xfrm>
          <a:prstGeom prst="rect">
            <a:avLst/>
          </a:prstGeom>
        </p:spPr>
      </p:pic>
      <p:sp>
        <p:nvSpPr>
          <p:cNvPr id="9" name="Explosion 2 8"/>
          <p:cNvSpPr/>
          <p:nvPr/>
        </p:nvSpPr>
        <p:spPr>
          <a:xfrm>
            <a:off x="8765309" y="4596587"/>
            <a:ext cx="3158836" cy="1942758"/>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rgbClr val="FF0000"/>
                </a:solidFill>
              </a:rPr>
              <a:t>Definitely rejected!</a:t>
            </a:r>
          </a:p>
        </p:txBody>
      </p:sp>
    </p:spTree>
    <p:extLst>
      <p:ext uri="{BB962C8B-B14F-4D97-AF65-F5344CB8AC3E}">
        <p14:creationId xmlns:p14="http://schemas.microsoft.com/office/powerpoint/2010/main" val="314332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Follow Our Paper Flow and Style</a:t>
            </a:r>
          </a:p>
        </p:txBody>
      </p:sp>
      <p:sp>
        <p:nvSpPr>
          <p:cNvPr id="3" name="Content Placeholder 2"/>
          <p:cNvSpPr>
            <a:spLocks noGrp="1"/>
          </p:cNvSpPr>
          <p:nvPr>
            <p:ph idx="1"/>
          </p:nvPr>
        </p:nvSpPr>
        <p:spPr/>
        <p:txBody>
          <a:bodyPr/>
          <a:lstStyle/>
          <a:p>
            <a:r>
              <a:rPr lang="en-US" dirty="0"/>
              <a:t>Read more of our own papers, and get used to the style..</a:t>
            </a:r>
          </a:p>
          <a:p>
            <a:r>
              <a:rPr lang="en-US" dirty="0"/>
              <a:t>But… our past paper may still have mistakes…</a:t>
            </a:r>
          </a:p>
          <a:p>
            <a:r>
              <a:rPr lang="en-US" dirty="0"/>
              <a:t>Some examples:</a:t>
            </a:r>
          </a:p>
          <a:p>
            <a:pPr lvl="1"/>
            <a:r>
              <a:rPr lang="en-US" dirty="0">
                <a:hlinkClick r:id="rId2"/>
              </a:rPr>
              <a:t>http://www.vldb.org/pvldb/vol8/p329-he.pdf</a:t>
            </a:r>
            <a:endParaRPr lang="en-US" dirty="0"/>
          </a:p>
          <a:p>
            <a:pPr lvl="1"/>
            <a:r>
              <a:rPr lang="en-US" dirty="0">
                <a:hlinkClick r:id="rId3"/>
              </a:rPr>
              <a:t>https://www.comp.nus.edu.sg/~hebs/pub/Medusa_TPDS13.pdf</a:t>
            </a:r>
            <a:endParaRPr lang="en-US" dirty="0"/>
          </a:p>
        </p:txBody>
      </p:sp>
    </p:spTree>
    <p:extLst>
      <p:ext uri="{BB962C8B-B14F-4D97-AF65-F5344CB8AC3E}">
        <p14:creationId xmlns:p14="http://schemas.microsoft.com/office/powerpoint/2010/main" val="928372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Suggestions on QE</a:t>
            </a:r>
          </a:p>
        </p:txBody>
      </p:sp>
      <p:sp>
        <p:nvSpPr>
          <p:cNvPr id="3" name="Content Placeholder 2"/>
          <p:cNvSpPr>
            <a:spLocks noGrp="1"/>
          </p:cNvSpPr>
          <p:nvPr>
            <p:ph idx="1"/>
          </p:nvPr>
        </p:nvSpPr>
        <p:spPr/>
        <p:txBody>
          <a:bodyPr/>
          <a:lstStyle/>
          <a:p>
            <a:r>
              <a:rPr lang="en-US" dirty="0"/>
              <a:t>The main purpose of QE is to evaluate whether you have “entered” the door of research.</a:t>
            </a:r>
          </a:p>
          <a:p>
            <a:r>
              <a:rPr lang="en-US" dirty="0"/>
              <a:t>It is like a mini-thesis with the major part to finish (future work).</a:t>
            </a:r>
          </a:p>
          <a:p>
            <a:r>
              <a:rPr lang="en-US" dirty="0"/>
              <a:t>The suggested format (in numbers of single-space single-column format)</a:t>
            </a:r>
          </a:p>
          <a:p>
            <a:pPr lvl="1"/>
            <a:r>
              <a:rPr lang="en-US" dirty="0"/>
              <a:t>Introduction (5-10 pages)</a:t>
            </a:r>
          </a:p>
          <a:p>
            <a:pPr lvl="1"/>
            <a:r>
              <a:rPr lang="en-US" dirty="0"/>
              <a:t>Background and Related Work (5-10 pages)</a:t>
            </a:r>
          </a:p>
          <a:p>
            <a:pPr lvl="1"/>
            <a:r>
              <a:rPr lang="en-US" dirty="0"/>
              <a:t>Your work (20-40 pages)</a:t>
            </a:r>
          </a:p>
          <a:p>
            <a:pPr lvl="1"/>
            <a:r>
              <a:rPr lang="en-US" dirty="0"/>
              <a:t>Conclusion and Future Work (~5 pages)</a:t>
            </a:r>
          </a:p>
        </p:txBody>
      </p:sp>
    </p:spTree>
    <p:extLst>
      <p:ext uri="{BB962C8B-B14F-4D97-AF65-F5344CB8AC3E}">
        <p14:creationId xmlns:p14="http://schemas.microsoft.com/office/powerpoint/2010/main" val="153429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85000" lnSpcReduction="20000"/>
          </a:bodyPr>
          <a:lstStyle/>
          <a:p>
            <a:r>
              <a:rPr lang="en-US" dirty="0"/>
              <a:t>Trend of the topic</a:t>
            </a:r>
          </a:p>
          <a:p>
            <a:pPr lvl="1"/>
            <a:r>
              <a:rPr lang="en-US" dirty="0"/>
              <a:t>You should cite some related survey or papers.</a:t>
            </a:r>
          </a:p>
          <a:p>
            <a:pPr lvl="1"/>
            <a:r>
              <a:rPr lang="en-US" dirty="0"/>
              <a:t>It will be good if you can give some future trend (for example, future development of multi-core processors)</a:t>
            </a:r>
          </a:p>
          <a:p>
            <a:r>
              <a:rPr lang="en-US" dirty="0"/>
              <a:t>Use 1-2 sentences to present your research problem.</a:t>
            </a:r>
          </a:p>
          <a:p>
            <a:r>
              <a:rPr lang="en-US" dirty="0"/>
              <a:t>A brief review on existing studies and why they are not sufficient.</a:t>
            </a:r>
          </a:p>
          <a:p>
            <a:r>
              <a:rPr lang="en-US" dirty="0"/>
              <a:t>Technical Challenges  (each for 1 paragraphs)</a:t>
            </a:r>
          </a:p>
          <a:p>
            <a:r>
              <a:rPr lang="en-US" dirty="0"/>
              <a:t>Talk about your solution </a:t>
            </a:r>
            <a:r>
              <a:rPr lang="en-US" b="1" dirty="0"/>
              <a:t>at high level</a:t>
            </a:r>
            <a:r>
              <a:rPr lang="en-US" dirty="0"/>
              <a:t>.</a:t>
            </a:r>
          </a:p>
          <a:p>
            <a:pPr lvl="1"/>
            <a:r>
              <a:rPr lang="en-US" dirty="0"/>
              <a:t>A figure on your roadmap to include all the components to research </a:t>
            </a:r>
          </a:p>
          <a:p>
            <a:r>
              <a:rPr lang="en-US" b="1" dirty="0"/>
              <a:t>Details</a:t>
            </a:r>
            <a:r>
              <a:rPr lang="en-US" dirty="0"/>
              <a:t> of your research landscape (even though some component is missing).</a:t>
            </a:r>
          </a:p>
          <a:p>
            <a:r>
              <a:rPr lang="en-US" dirty="0"/>
              <a:t>Summary of your contributions.</a:t>
            </a:r>
          </a:p>
          <a:p>
            <a:r>
              <a:rPr lang="en-US" dirty="0"/>
              <a:t>Organization of the report</a:t>
            </a:r>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4220418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a:t>
            </a:r>
          </a:p>
        </p:txBody>
      </p:sp>
      <p:sp>
        <p:nvSpPr>
          <p:cNvPr id="3" name="Content Placeholder 2"/>
          <p:cNvSpPr>
            <a:spLocks noGrp="1"/>
          </p:cNvSpPr>
          <p:nvPr>
            <p:ph idx="1"/>
          </p:nvPr>
        </p:nvSpPr>
        <p:spPr/>
        <p:txBody>
          <a:bodyPr/>
          <a:lstStyle/>
          <a:p>
            <a:r>
              <a:rPr lang="en-US" dirty="0"/>
              <a:t>Background</a:t>
            </a:r>
          </a:p>
          <a:p>
            <a:pPr lvl="1"/>
            <a:r>
              <a:rPr lang="en-US" dirty="0"/>
              <a:t>Breadth (include tables or figures to illustrate the background)</a:t>
            </a:r>
          </a:p>
          <a:p>
            <a:pPr lvl="1"/>
            <a:r>
              <a:rPr lang="en-US" dirty="0"/>
              <a:t>You must highlight the concept related to your later part of the report.</a:t>
            </a:r>
          </a:p>
          <a:p>
            <a:r>
              <a:rPr lang="en-US" dirty="0"/>
              <a:t>Related work</a:t>
            </a:r>
          </a:p>
          <a:p>
            <a:pPr lvl="1"/>
            <a:r>
              <a:rPr lang="en-US" dirty="0"/>
              <a:t>Please be comprehensive (the report to have ~100 references)</a:t>
            </a:r>
          </a:p>
          <a:p>
            <a:pPr lvl="1"/>
            <a:r>
              <a:rPr lang="en-US" b="1" dirty="0"/>
              <a:t>Categorize</a:t>
            </a:r>
            <a:r>
              <a:rPr lang="en-US" dirty="0"/>
              <a:t> the related work</a:t>
            </a:r>
          </a:p>
          <a:p>
            <a:pPr lvl="1"/>
            <a:r>
              <a:rPr lang="en-US" b="1" dirty="0"/>
              <a:t>Use table(s) </a:t>
            </a:r>
            <a:r>
              <a:rPr lang="en-US" dirty="0"/>
              <a:t>to compare different related work</a:t>
            </a:r>
          </a:p>
          <a:p>
            <a:pPr lvl="1"/>
            <a:r>
              <a:rPr lang="en-US" dirty="0"/>
              <a:t>Highlight your difference of your work to </a:t>
            </a:r>
            <a:r>
              <a:rPr lang="en-US" b="1" dirty="0"/>
              <a:t>each of the important related work</a:t>
            </a:r>
          </a:p>
          <a:p>
            <a:r>
              <a:rPr lang="en-US" dirty="0"/>
              <a:t>Motivation</a:t>
            </a:r>
          </a:p>
          <a:p>
            <a:pPr lvl="1"/>
            <a:r>
              <a:rPr lang="en-US" b="1" dirty="0"/>
              <a:t>Itemize</a:t>
            </a:r>
            <a:r>
              <a:rPr lang="en-US" dirty="0"/>
              <a:t> the observations of existing studies: why they are not sufficient.</a:t>
            </a:r>
          </a:p>
          <a:p>
            <a:pPr lvl="1"/>
            <a:endParaRPr lang="en-US" dirty="0"/>
          </a:p>
        </p:txBody>
      </p:sp>
    </p:spTree>
    <p:extLst>
      <p:ext uri="{BB962C8B-B14F-4D97-AF65-F5344CB8AC3E}">
        <p14:creationId xmlns:p14="http://schemas.microsoft.com/office/powerpoint/2010/main" val="749487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work…</a:t>
            </a:r>
          </a:p>
        </p:txBody>
      </p:sp>
      <p:sp>
        <p:nvSpPr>
          <p:cNvPr id="3" name="Content Placeholder 2"/>
          <p:cNvSpPr>
            <a:spLocks noGrp="1"/>
          </p:cNvSpPr>
          <p:nvPr>
            <p:ph idx="1"/>
          </p:nvPr>
        </p:nvSpPr>
        <p:spPr/>
        <p:txBody>
          <a:bodyPr/>
          <a:lstStyle/>
          <a:p>
            <a:r>
              <a:rPr lang="en-US" dirty="0"/>
              <a:t>In QE, we assume that you have submitted a paper. Thus, I think you can go ahead and “copy and paste” here.</a:t>
            </a:r>
          </a:p>
          <a:p>
            <a:r>
              <a:rPr lang="en-US" dirty="0"/>
              <a:t>Pay attention to the context: this is QE…</a:t>
            </a:r>
          </a:p>
          <a:p>
            <a:pPr lvl="1"/>
            <a:r>
              <a:rPr lang="en-US" dirty="0"/>
              <a:t>“in this paper”-&gt; “in this report”…</a:t>
            </a:r>
          </a:p>
          <a:p>
            <a:pPr lvl="1"/>
            <a:r>
              <a:rPr lang="en-US" dirty="0"/>
              <a:t>“in this section” -&gt; “in this chapter”…</a:t>
            </a:r>
          </a:p>
          <a:p>
            <a:pPr lvl="1"/>
            <a:r>
              <a:rPr lang="en-US" dirty="0"/>
              <a:t>“Conclusion” -&gt; “Summary”</a:t>
            </a:r>
          </a:p>
          <a:p>
            <a:pPr lvl="1"/>
            <a:r>
              <a:rPr lang="en-US" b="1" dirty="0"/>
              <a:t>Adjust Figures/tables size</a:t>
            </a:r>
            <a:r>
              <a:rPr lang="en-US" dirty="0"/>
              <a:t>: since the format can be different…</a:t>
            </a:r>
          </a:p>
          <a:p>
            <a:pPr lvl="1"/>
            <a:r>
              <a:rPr lang="en-US" dirty="0"/>
              <a:t>…</a:t>
            </a:r>
          </a:p>
        </p:txBody>
      </p:sp>
    </p:spTree>
    <p:extLst>
      <p:ext uri="{BB962C8B-B14F-4D97-AF65-F5344CB8AC3E}">
        <p14:creationId xmlns:p14="http://schemas.microsoft.com/office/powerpoint/2010/main" val="3799300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and Future Work</a:t>
            </a:r>
          </a:p>
        </p:txBody>
      </p:sp>
      <p:sp>
        <p:nvSpPr>
          <p:cNvPr id="3" name="Content Placeholder 2"/>
          <p:cNvSpPr>
            <a:spLocks noGrp="1"/>
          </p:cNvSpPr>
          <p:nvPr>
            <p:ph idx="1"/>
          </p:nvPr>
        </p:nvSpPr>
        <p:spPr/>
        <p:txBody>
          <a:bodyPr>
            <a:normAutofit fontScale="92500" lnSpcReduction="20000"/>
          </a:bodyPr>
          <a:lstStyle/>
          <a:p>
            <a:r>
              <a:rPr lang="en-US" dirty="0"/>
              <a:t>Conclusion</a:t>
            </a:r>
          </a:p>
          <a:p>
            <a:pPr lvl="1"/>
            <a:r>
              <a:rPr lang="en-US" dirty="0"/>
              <a:t>The topic is </a:t>
            </a:r>
            <a:r>
              <a:rPr lang="en-US" b="1" dirty="0"/>
              <a:t>important for the future</a:t>
            </a:r>
            <a:r>
              <a:rPr lang="en-US" dirty="0"/>
              <a:t> and </a:t>
            </a:r>
            <a:r>
              <a:rPr lang="en-US" b="1" dirty="0"/>
              <a:t>challenging.</a:t>
            </a:r>
            <a:r>
              <a:rPr lang="en-US" dirty="0"/>
              <a:t>  (1-2 sentences)</a:t>
            </a:r>
          </a:p>
          <a:p>
            <a:pPr lvl="1"/>
            <a:r>
              <a:rPr lang="en-US" dirty="0"/>
              <a:t>Your work (~3/4 sentences)</a:t>
            </a:r>
          </a:p>
          <a:p>
            <a:pPr lvl="1"/>
            <a:r>
              <a:rPr lang="en-US" dirty="0"/>
              <a:t>Results (~2 sentences)</a:t>
            </a:r>
          </a:p>
          <a:p>
            <a:pPr lvl="1"/>
            <a:r>
              <a:rPr lang="en-US" dirty="0"/>
              <a:t>Impact of your work (~ 3/4 sentences)</a:t>
            </a:r>
          </a:p>
          <a:p>
            <a:r>
              <a:rPr lang="en-US" dirty="0"/>
              <a:t>Future Work</a:t>
            </a:r>
          </a:p>
          <a:p>
            <a:pPr lvl="1"/>
            <a:r>
              <a:rPr lang="en-US" dirty="0"/>
              <a:t>List </a:t>
            </a:r>
            <a:r>
              <a:rPr lang="en-US" b="1" dirty="0"/>
              <a:t>at least three directions</a:t>
            </a:r>
            <a:r>
              <a:rPr lang="en-US" dirty="0"/>
              <a:t>.</a:t>
            </a:r>
          </a:p>
          <a:p>
            <a:pPr lvl="1"/>
            <a:r>
              <a:rPr lang="en-US" dirty="0"/>
              <a:t>Write a few paragraphs for each direction.</a:t>
            </a:r>
          </a:p>
          <a:p>
            <a:pPr lvl="2"/>
            <a:r>
              <a:rPr lang="en-US" dirty="0"/>
              <a:t>Why this direction is important (please with citations, one paragraph).</a:t>
            </a:r>
          </a:p>
          <a:p>
            <a:pPr lvl="2"/>
            <a:r>
              <a:rPr lang="en-US" dirty="0"/>
              <a:t>Existing work is not sufficient (one paragraph)</a:t>
            </a:r>
          </a:p>
          <a:p>
            <a:pPr lvl="2"/>
            <a:r>
              <a:rPr lang="en-US" dirty="0"/>
              <a:t>Your planned work and Expected outcome (one paragraph)</a:t>
            </a:r>
          </a:p>
          <a:p>
            <a:pPr lvl="1"/>
            <a:r>
              <a:rPr lang="en-US" dirty="0"/>
              <a:t>Timeline of your research landscape</a:t>
            </a:r>
          </a:p>
          <a:p>
            <a:pPr lvl="2"/>
            <a:r>
              <a:rPr lang="en-US" dirty="0"/>
              <a:t>Use a figure/table to show the schedule.</a:t>
            </a:r>
          </a:p>
          <a:p>
            <a:pPr lvl="2"/>
            <a:endParaRPr lang="en-US" dirty="0"/>
          </a:p>
          <a:p>
            <a:pPr lvl="1"/>
            <a:endParaRPr lang="en-US" dirty="0"/>
          </a:p>
        </p:txBody>
      </p:sp>
    </p:spTree>
    <p:extLst>
      <p:ext uri="{BB962C8B-B14F-4D97-AF65-F5344CB8AC3E}">
        <p14:creationId xmlns:p14="http://schemas.microsoft.com/office/powerpoint/2010/main" val="4241108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4120-394F-494F-9035-18A6F2152A13}"/>
              </a:ext>
            </a:extLst>
          </p:cNvPr>
          <p:cNvSpPr>
            <a:spLocks noGrp="1"/>
          </p:cNvSpPr>
          <p:nvPr>
            <p:ph type="title"/>
          </p:nvPr>
        </p:nvSpPr>
        <p:spPr/>
        <p:txBody>
          <a:bodyPr/>
          <a:lstStyle/>
          <a:p>
            <a:r>
              <a:rPr lang="en-US" dirty="0"/>
              <a:t>Specific Suggestions on Thesis</a:t>
            </a:r>
          </a:p>
        </p:txBody>
      </p:sp>
      <p:sp>
        <p:nvSpPr>
          <p:cNvPr id="3" name="Content Placeholder 2">
            <a:extLst>
              <a:ext uri="{FF2B5EF4-FFF2-40B4-BE49-F238E27FC236}">
                <a16:creationId xmlns:a16="http://schemas.microsoft.com/office/drawing/2014/main" id="{068DC345-03F4-C84D-91B0-330B83930E78}"/>
              </a:ext>
            </a:extLst>
          </p:cNvPr>
          <p:cNvSpPr>
            <a:spLocks noGrp="1"/>
          </p:cNvSpPr>
          <p:nvPr>
            <p:ph idx="1"/>
          </p:nvPr>
        </p:nvSpPr>
        <p:spPr/>
        <p:txBody>
          <a:bodyPr/>
          <a:lstStyle/>
          <a:p>
            <a:r>
              <a:rPr lang="en-US" dirty="0"/>
              <a:t>By the time of writing thesis, you should have already done/published some works, so the question now is how to sell them (again) to thesis committee.</a:t>
            </a:r>
          </a:p>
          <a:p>
            <a:pPr lvl="1"/>
            <a:r>
              <a:rPr lang="en-US" dirty="0"/>
              <a:t>Literature review is probably the most important chapter.</a:t>
            </a:r>
          </a:p>
          <a:p>
            <a:pPr lvl="1"/>
            <a:r>
              <a:rPr lang="en-US" dirty="0"/>
              <a:t>Compose your previous (three) works into one contiguous report is not simply ``copy-and-paste”.</a:t>
            </a:r>
          </a:p>
          <a:p>
            <a:endParaRPr lang="en-US" dirty="0"/>
          </a:p>
        </p:txBody>
      </p:sp>
    </p:spTree>
    <p:extLst>
      <p:ext uri="{BB962C8B-B14F-4D97-AF65-F5344CB8AC3E}">
        <p14:creationId xmlns:p14="http://schemas.microsoft.com/office/powerpoint/2010/main" val="406536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Suggestions on Thesis</a:t>
            </a:r>
          </a:p>
        </p:txBody>
      </p:sp>
      <p:sp>
        <p:nvSpPr>
          <p:cNvPr id="3" name="Content Placeholder 2"/>
          <p:cNvSpPr>
            <a:spLocks noGrp="1"/>
          </p:cNvSpPr>
          <p:nvPr>
            <p:ph idx="1"/>
          </p:nvPr>
        </p:nvSpPr>
        <p:spPr/>
        <p:txBody>
          <a:bodyPr/>
          <a:lstStyle/>
          <a:p>
            <a:pPr marL="0" indent="0">
              <a:buNone/>
            </a:pPr>
            <a:r>
              <a:rPr lang="en-US" dirty="0"/>
              <a:t>Suggestion 1: </a:t>
            </a:r>
            <a:r>
              <a:rPr lang="en-US" b="1" dirty="0"/>
              <a:t>write a survey of your field</a:t>
            </a:r>
            <a:r>
              <a:rPr lang="en-US" dirty="0"/>
              <a:t>, as early as possible and make it as strong as possible!</a:t>
            </a:r>
          </a:p>
          <a:p>
            <a:pPr lvl="1"/>
            <a:r>
              <a:rPr lang="en-US" dirty="0"/>
              <a:t>At most, you will be credit a top journal paper (e.g., TKDE, ACM CS).</a:t>
            </a:r>
          </a:p>
          <a:p>
            <a:pPr lvl="1"/>
            <a:r>
              <a:rPr lang="en-US" dirty="0"/>
              <a:t>At least, you will see how it is useful when preparing the thesis.</a:t>
            </a:r>
          </a:p>
        </p:txBody>
      </p:sp>
      <p:pic>
        <p:nvPicPr>
          <p:cNvPr id="4" name="Picture 3">
            <a:extLst>
              <a:ext uri="{FF2B5EF4-FFF2-40B4-BE49-F238E27FC236}">
                <a16:creationId xmlns:a16="http://schemas.microsoft.com/office/drawing/2014/main" id="{F6B3AD5D-4306-044B-B502-DC3AD4277162}"/>
              </a:ext>
            </a:extLst>
          </p:cNvPr>
          <p:cNvPicPr>
            <a:picLocks noChangeAspect="1"/>
          </p:cNvPicPr>
          <p:nvPr/>
        </p:nvPicPr>
        <p:blipFill>
          <a:blip r:embed="rId2"/>
          <a:stretch>
            <a:fillRect/>
          </a:stretch>
        </p:blipFill>
        <p:spPr>
          <a:xfrm>
            <a:off x="838200" y="5356824"/>
            <a:ext cx="9009100" cy="8201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5045C0B7-62DA-DF41-8FCF-526332388323}"/>
              </a:ext>
            </a:extLst>
          </p:cNvPr>
          <p:cNvSpPr txBox="1"/>
          <p:nvPr/>
        </p:nvSpPr>
        <p:spPr>
          <a:xfrm>
            <a:off x="9847300" y="5582227"/>
            <a:ext cx="1768305" cy="369332"/>
          </a:xfrm>
          <a:prstGeom prst="rect">
            <a:avLst/>
          </a:prstGeom>
          <a:noFill/>
        </p:spPr>
        <p:txBody>
          <a:bodyPr wrap="none" rtlCol="0">
            <a:spAutoFit/>
          </a:bodyPr>
          <a:lstStyle/>
          <a:p>
            <a:r>
              <a:rPr lang="en-US" dirty="0"/>
              <a:t>From examiner 3</a:t>
            </a:r>
          </a:p>
        </p:txBody>
      </p:sp>
      <p:pic>
        <p:nvPicPr>
          <p:cNvPr id="6" name="Picture 5">
            <a:extLst>
              <a:ext uri="{FF2B5EF4-FFF2-40B4-BE49-F238E27FC236}">
                <a16:creationId xmlns:a16="http://schemas.microsoft.com/office/drawing/2014/main" id="{BE4BF374-C1F0-6840-BAE6-871594E1E11F}"/>
              </a:ext>
            </a:extLst>
          </p:cNvPr>
          <p:cNvPicPr>
            <a:picLocks noChangeAspect="1"/>
          </p:cNvPicPr>
          <p:nvPr/>
        </p:nvPicPr>
        <p:blipFill>
          <a:blip r:embed="rId3"/>
          <a:stretch>
            <a:fillRect/>
          </a:stretch>
        </p:blipFill>
        <p:spPr>
          <a:xfrm>
            <a:off x="838201" y="3790199"/>
            <a:ext cx="8516471" cy="14918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C8633D6B-CC62-494D-A452-EDA99F35546F}"/>
              </a:ext>
            </a:extLst>
          </p:cNvPr>
          <p:cNvSpPr txBox="1"/>
          <p:nvPr/>
        </p:nvSpPr>
        <p:spPr>
          <a:xfrm>
            <a:off x="9847300" y="4351477"/>
            <a:ext cx="1768305" cy="369332"/>
          </a:xfrm>
          <a:prstGeom prst="rect">
            <a:avLst/>
          </a:prstGeom>
          <a:noFill/>
        </p:spPr>
        <p:txBody>
          <a:bodyPr wrap="none" rtlCol="0">
            <a:spAutoFit/>
          </a:bodyPr>
          <a:lstStyle/>
          <a:p>
            <a:r>
              <a:rPr lang="en-US" dirty="0"/>
              <a:t>From examiner 2</a:t>
            </a:r>
          </a:p>
        </p:txBody>
      </p:sp>
      <p:cxnSp>
        <p:nvCxnSpPr>
          <p:cNvPr id="9" name="Straight Connector 8">
            <a:extLst>
              <a:ext uri="{FF2B5EF4-FFF2-40B4-BE49-F238E27FC236}">
                <a16:creationId xmlns:a16="http://schemas.microsoft.com/office/drawing/2014/main" id="{DDF95553-8FE9-FE45-A998-EA6096387907}"/>
              </a:ext>
            </a:extLst>
          </p:cNvPr>
          <p:cNvCxnSpPr/>
          <p:nvPr/>
        </p:nvCxnSpPr>
        <p:spPr>
          <a:xfrm>
            <a:off x="1918447" y="4061013"/>
            <a:ext cx="70014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266E52E-615C-734D-B0E6-B9CADF016D1B}"/>
              </a:ext>
            </a:extLst>
          </p:cNvPr>
          <p:cNvCxnSpPr>
            <a:cxnSpLocks/>
          </p:cNvCxnSpPr>
          <p:nvPr/>
        </p:nvCxnSpPr>
        <p:spPr>
          <a:xfrm>
            <a:off x="838200" y="5710518"/>
            <a:ext cx="880782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42A3F65-926C-144B-A9F6-F1FD6127A49F}"/>
              </a:ext>
            </a:extLst>
          </p:cNvPr>
          <p:cNvSpPr txBox="1"/>
          <p:nvPr/>
        </p:nvSpPr>
        <p:spPr>
          <a:xfrm>
            <a:off x="7200867" y="2289997"/>
            <a:ext cx="4890313" cy="369332"/>
          </a:xfrm>
          <a:prstGeom prst="rect">
            <a:avLst/>
          </a:prstGeom>
          <a:noFill/>
        </p:spPr>
        <p:txBody>
          <a:bodyPr wrap="none" rtlCol="0">
            <a:spAutoFit/>
          </a:bodyPr>
          <a:lstStyle/>
          <a:p>
            <a:r>
              <a:rPr lang="en-US" dirty="0">
                <a:solidFill>
                  <a:srgbClr val="FF0000"/>
                </a:solidFill>
              </a:rPr>
              <a:t>I started too late, so it was only a </a:t>
            </a:r>
            <a:r>
              <a:rPr lang="en-US" i="1" dirty="0">
                <a:solidFill>
                  <a:srgbClr val="FF0000"/>
                </a:solidFill>
              </a:rPr>
              <a:t>SIGMOD Record</a:t>
            </a:r>
            <a:r>
              <a:rPr lang="en-US" dirty="0">
                <a:solidFill>
                  <a:srgbClr val="FF0000"/>
                </a:solidFill>
              </a:rPr>
              <a:t>.</a:t>
            </a:r>
          </a:p>
        </p:txBody>
      </p:sp>
    </p:spTree>
    <p:extLst>
      <p:ext uri="{BB962C8B-B14F-4D97-AF65-F5344CB8AC3E}">
        <p14:creationId xmlns:p14="http://schemas.microsoft.com/office/powerpoint/2010/main" val="94065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4EE72-C14C-8D40-BA90-195F7CCE83C2}"/>
              </a:ext>
            </a:extLst>
          </p:cNvPr>
          <p:cNvSpPr>
            <a:spLocks noGrp="1"/>
          </p:cNvSpPr>
          <p:nvPr>
            <p:ph type="title"/>
          </p:nvPr>
        </p:nvSpPr>
        <p:spPr/>
        <p:txBody>
          <a:bodyPr/>
          <a:lstStyle/>
          <a:p>
            <a:r>
              <a:rPr lang="en-US" dirty="0"/>
              <a:t>Specific Suggestions on Thesis</a:t>
            </a:r>
          </a:p>
        </p:txBody>
      </p:sp>
      <p:sp>
        <p:nvSpPr>
          <p:cNvPr id="3" name="Content Placeholder 2">
            <a:extLst>
              <a:ext uri="{FF2B5EF4-FFF2-40B4-BE49-F238E27FC236}">
                <a16:creationId xmlns:a16="http://schemas.microsoft.com/office/drawing/2014/main" id="{890A984D-3F99-224F-9161-A039F197B618}"/>
              </a:ext>
            </a:extLst>
          </p:cNvPr>
          <p:cNvSpPr>
            <a:spLocks noGrp="1"/>
          </p:cNvSpPr>
          <p:nvPr>
            <p:ph idx="1"/>
          </p:nvPr>
        </p:nvSpPr>
        <p:spPr/>
        <p:txBody>
          <a:bodyPr/>
          <a:lstStyle/>
          <a:p>
            <a:r>
              <a:rPr lang="en-US" dirty="0"/>
              <a:t>Suggestion 2: </a:t>
            </a:r>
            <a:r>
              <a:rPr lang="en-US" b="1" dirty="0"/>
              <a:t>avoid repeat as much as possible</a:t>
            </a:r>
            <a:r>
              <a:rPr lang="en-US" dirty="0"/>
              <a:t>.</a:t>
            </a:r>
          </a:p>
          <a:p>
            <a:pPr lvl="1"/>
            <a:r>
              <a:rPr lang="en-US" dirty="0"/>
              <a:t>Put background of each paper together as one chapter. This serves as the preliminary knowledge of the thesis.</a:t>
            </a:r>
          </a:p>
          <a:p>
            <a:pPr lvl="1"/>
            <a:r>
              <a:rPr lang="en-US" dirty="0"/>
              <a:t>Put related work of each paper together as one chapter. If you have followed suggestion 1, you will have no difficulty on writing this ``literature review” chapter.</a:t>
            </a:r>
          </a:p>
          <a:p>
            <a:pPr lvl="1"/>
            <a:r>
              <a:rPr lang="en-US" dirty="0"/>
              <a:t>Put conclusion of each paper together as one chapter. At the end of the day, reviewers would like to see your works are really contiguous. Try to add some links between the original (separated) conclusions.</a:t>
            </a:r>
          </a:p>
        </p:txBody>
      </p:sp>
      <p:sp>
        <p:nvSpPr>
          <p:cNvPr id="4" name="TextBox 3">
            <a:extLst>
              <a:ext uri="{FF2B5EF4-FFF2-40B4-BE49-F238E27FC236}">
                <a16:creationId xmlns:a16="http://schemas.microsoft.com/office/drawing/2014/main" id="{E1387FC5-9A88-AF49-B894-0B57C4C74F28}"/>
              </a:ext>
            </a:extLst>
          </p:cNvPr>
          <p:cNvSpPr txBox="1"/>
          <p:nvPr/>
        </p:nvSpPr>
        <p:spPr>
          <a:xfrm>
            <a:off x="638737" y="5788680"/>
            <a:ext cx="10914526" cy="523220"/>
          </a:xfrm>
          <a:prstGeom prst="rect">
            <a:avLst/>
          </a:prstGeom>
          <a:noFill/>
        </p:spPr>
        <p:txBody>
          <a:bodyPr wrap="none" rtlCol="0">
            <a:spAutoFit/>
          </a:bodyPr>
          <a:lstStyle/>
          <a:p>
            <a:r>
              <a:rPr lang="en-US" sz="2800" dirty="0">
                <a:solidFill>
                  <a:srgbClr val="FF0000"/>
                </a:solidFill>
              </a:rPr>
              <a:t>In each chapter, follow </a:t>
            </a:r>
            <a:r>
              <a:rPr lang="en-US" sz="2800" dirty="0" err="1">
                <a:solidFill>
                  <a:srgbClr val="FF0000"/>
                </a:solidFill>
              </a:rPr>
              <a:t>Prof.He’s</a:t>
            </a:r>
            <a:r>
              <a:rPr lang="en-US" sz="2800" dirty="0">
                <a:solidFill>
                  <a:srgbClr val="FF0000"/>
                </a:solidFill>
              </a:rPr>
              <a:t> suggestion: grammar, flow, structure etc.</a:t>
            </a:r>
          </a:p>
        </p:txBody>
      </p:sp>
    </p:spTree>
    <p:extLst>
      <p:ext uri="{BB962C8B-B14F-4D97-AF65-F5344CB8AC3E}">
        <p14:creationId xmlns:p14="http://schemas.microsoft.com/office/powerpoint/2010/main" val="139997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Presentations for Ph.D. Defense</a:t>
            </a:r>
            <a:endParaRPr lang="en-SG" dirty="0"/>
          </a:p>
        </p:txBody>
      </p:sp>
      <p:sp>
        <p:nvSpPr>
          <p:cNvPr id="3" name="Content Placeholder 2"/>
          <p:cNvSpPr>
            <a:spLocks noGrp="1"/>
          </p:cNvSpPr>
          <p:nvPr>
            <p:ph idx="1"/>
          </p:nvPr>
        </p:nvSpPr>
        <p:spPr/>
        <p:txBody>
          <a:bodyPr>
            <a:normAutofit lnSpcReduction="10000"/>
          </a:bodyPr>
          <a:lstStyle/>
          <a:p>
            <a:pPr marL="0" indent="0">
              <a:buNone/>
            </a:pPr>
            <a:r>
              <a:rPr lang="en-SG" dirty="0"/>
              <a:t>Suggestion 1: as you have only 40 mins, you can’t go over three papers in detail. So, present only the most important things: </a:t>
            </a:r>
            <a:r>
              <a:rPr lang="en-SG" u="sng" dirty="0"/>
              <a:t>the most valuable findings and ignore all the rest</a:t>
            </a:r>
            <a:r>
              <a:rPr lang="en-SG" dirty="0"/>
              <a:t>.</a:t>
            </a:r>
          </a:p>
          <a:p>
            <a:pPr marL="0" indent="0">
              <a:buNone/>
            </a:pPr>
            <a:endParaRPr lang="en-SG" dirty="0"/>
          </a:p>
          <a:p>
            <a:pPr marL="0" indent="0">
              <a:buNone/>
            </a:pPr>
            <a:r>
              <a:rPr lang="en-SG" dirty="0"/>
              <a:t>Suggestion 2: reserve some time for future works. By saying future works, it really means something that are worth to explore in future, so when you present, you have enough confidence.</a:t>
            </a:r>
          </a:p>
          <a:p>
            <a:pPr marL="0" indent="0">
              <a:buNone/>
            </a:pPr>
            <a:endParaRPr lang="en-SG" dirty="0"/>
          </a:p>
          <a:p>
            <a:pPr marL="0" indent="0">
              <a:buNone/>
            </a:pPr>
            <a:r>
              <a:rPr lang="en-SG" dirty="0"/>
              <a:t>Suggestion 3: practice as much as possible but do not try to memorize. Otherwise, you will feel boring at your own research...</a:t>
            </a:r>
          </a:p>
        </p:txBody>
      </p:sp>
    </p:spTree>
    <p:extLst>
      <p:ext uri="{BB962C8B-B14F-4D97-AF65-F5344CB8AC3E}">
        <p14:creationId xmlns:p14="http://schemas.microsoft.com/office/powerpoint/2010/main" val="3249725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1838</TotalTime>
  <Words>1012</Words>
  <Application>Microsoft Macintosh PowerPoint</Application>
  <PresentationFormat>Widescreen</PresentationFormat>
  <Paragraphs>106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Suggestions on Writing and Presentation for “QE and Thesis”</vt:lpstr>
      <vt:lpstr>Outline</vt:lpstr>
      <vt:lpstr>Maintain Your Grammar Error Check List</vt:lpstr>
      <vt:lpstr>Never, Never “Copy and Paste”</vt:lpstr>
      <vt:lpstr>Follow Our Paper Flow and Style</vt:lpstr>
      <vt:lpstr>Specific Suggestions on QE</vt:lpstr>
      <vt:lpstr>Introduction</vt:lpstr>
      <vt:lpstr>Background and Related Work</vt:lpstr>
      <vt:lpstr>Your work…</vt:lpstr>
      <vt:lpstr>Conclusion and Future Work</vt:lpstr>
      <vt:lpstr>Specific Suggestions on Thesis</vt:lpstr>
      <vt:lpstr>Specific Suggestions on Thesis</vt:lpstr>
      <vt:lpstr>Specific Suggestions on Thesis</vt:lpstr>
      <vt:lpstr>Presentations for Ph.D. Defense</vt:lpstr>
    </vt:vector>
  </TitlesOfParts>
  <Manager/>
  <Company>National University of Singapore</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
  <cp:lastModifiedBy>Zhang Shuhao</cp:lastModifiedBy>
  <cp:revision>24</cp:revision>
  <dcterms:created xsi:type="dcterms:W3CDTF">2017-10-10T13:04:24Z</dcterms:created>
  <dcterms:modified xsi:type="dcterms:W3CDTF">2019-09-18T11:47:15Z</dcterms:modified>
  <cp:category/>
</cp:coreProperties>
</file>