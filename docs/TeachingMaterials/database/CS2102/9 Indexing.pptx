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</p:sldMasterIdLst>
  <p:notesMasterIdLst>
    <p:notesMasterId r:id="rId106"/>
  </p:notesMasterIdLst>
  <p:handoutMasterIdLst>
    <p:handoutMasterId r:id="rId107"/>
  </p:handoutMasterIdLst>
  <p:sldIdLst>
    <p:sldId id="256" r:id="rId2"/>
    <p:sldId id="888" r:id="rId3"/>
    <p:sldId id="889" r:id="rId4"/>
    <p:sldId id="890" r:id="rId5"/>
    <p:sldId id="891" r:id="rId6"/>
    <p:sldId id="892" r:id="rId7"/>
    <p:sldId id="893" r:id="rId8"/>
    <p:sldId id="894" r:id="rId9"/>
    <p:sldId id="895" r:id="rId10"/>
    <p:sldId id="896" r:id="rId11"/>
    <p:sldId id="897" r:id="rId12"/>
    <p:sldId id="898" r:id="rId13"/>
    <p:sldId id="899" r:id="rId14"/>
    <p:sldId id="900" r:id="rId15"/>
    <p:sldId id="901" r:id="rId16"/>
    <p:sldId id="902" r:id="rId17"/>
    <p:sldId id="903" r:id="rId18"/>
    <p:sldId id="904" r:id="rId19"/>
    <p:sldId id="905" r:id="rId20"/>
    <p:sldId id="906" r:id="rId21"/>
    <p:sldId id="907" r:id="rId22"/>
    <p:sldId id="908" r:id="rId23"/>
    <p:sldId id="909" r:id="rId24"/>
    <p:sldId id="910" r:id="rId25"/>
    <p:sldId id="911" r:id="rId26"/>
    <p:sldId id="912" r:id="rId27"/>
    <p:sldId id="913" r:id="rId28"/>
    <p:sldId id="914" r:id="rId29"/>
    <p:sldId id="915" r:id="rId30"/>
    <p:sldId id="916" r:id="rId31"/>
    <p:sldId id="917" r:id="rId32"/>
    <p:sldId id="918" r:id="rId33"/>
    <p:sldId id="919" r:id="rId34"/>
    <p:sldId id="920" r:id="rId35"/>
    <p:sldId id="921" r:id="rId36"/>
    <p:sldId id="922" r:id="rId37"/>
    <p:sldId id="923" r:id="rId38"/>
    <p:sldId id="924" r:id="rId39"/>
    <p:sldId id="925" r:id="rId40"/>
    <p:sldId id="926" r:id="rId41"/>
    <p:sldId id="927" r:id="rId42"/>
    <p:sldId id="928" r:id="rId43"/>
    <p:sldId id="929" r:id="rId44"/>
    <p:sldId id="930" r:id="rId45"/>
    <p:sldId id="931" r:id="rId46"/>
    <p:sldId id="932" r:id="rId47"/>
    <p:sldId id="933" r:id="rId48"/>
    <p:sldId id="934" r:id="rId49"/>
    <p:sldId id="935" r:id="rId50"/>
    <p:sldId id="936" r:id="rId51"/>
    <p:sldId id="937" r:id="rId52"/>
    <p:sldId id="938" r:id="rId53"/>
    <p:sldId id="939" r:id="rId54"/>
    <p:sldId id="940" r:id="rId55"/>
    <p:sldId id="941" r:id="rId56"/>
    <p:sldId id="942" r:id="rId57"/>
    <p:sldId id="943" r:id="rId58"/>
    <p:sldId id="944" r:id="rId59"/>
    <p:sldId id="945" r:id="rId60"/>
    <p:sldId id="946" r:id="rId61"/>
    <p:sldId id="947" r:id="rId62"/>
    <p:sldId id="948" r:id="rId63"/>
    <p:sldId id="949" r:id="rId64"/>
    <p:sldId id="950" r:id="rId65"/>
    <p:sldId id="951" r:id="rId66"/>
    <p:sldId id="952" r:id="rId67"/>
    <p:sldId id="953" r:id="rId68"/>
    <p:sldId id="954" r:id="rId69"/>
    <p:sldId id="955" r:id="rId70"/>
    <p:sldId id="956" r:id="rId71"/>
    <p:sldId id="957" r:id="rId72"/>
    <p:sldId id="958" r:id="rId73"/>
    <p:sldId id="959" r:id="rId74"/>
    <p:sldId id="960" r:id="rId75"/>
    <p:sldId id="961" r:id="rId76"/>
    <p:sldId id="962" r:id="rId77"/>
    <p:sldId id="963" r:id="rId78"/>
    <p:sldId id="964" r:id="rId79"/>
    <p:sldId id="965" r:id="rId80"/>
    <p:sldId id="966" r:id="rId81"/>
    <p:sldId id="967" r:id="rId82"/>
    <p:sldId id="968" r:id="rId83"/>
    <p:sldId id="969" r:id="rId84"/>
    <p:sldId id="970" r:id="rId85"/>
    <p:sldId id="971" r:id="rId86"/>
    <p:sldId id="972" r:id="rId87"/>
    <p:sldId id="973" r:id="rId88"/>
    <p:sldId id="974" r:id="rId89"/>
    <p:sldId id="975" r:id="rId90"/>
    <p:sldId id="976" r:id="rId91"/>
    <p:sldId id="977" r:id="rId92"/>
    <p:sldId id="978" r:id="rId93"/>
    <p:sldId id="979" r:id="rId94"/>
    <p:sldId id="980" r:id="rId95"/>
    <p:sldId id="981" r:id="rId96"/>
    <p:sldId id="982" r:id="rId97"/>
    <p:sldId id="983" r:id="rId98"/>
    <p:sldId id="984" r:id="rId99"/>
    <p:sldId id="985" r:id="rId100"/>
    <p:sldId id="986" r:id="rId101"/>
    <p:sldId id="987" r:id="rId102"/>
    <p:sldId id="988" r:id="rId103"/>
    <p:sldId id="989" r:id="rId104"/>
    <p:sldId id="990" r:id="rId105"/>
  </p:sldIdLst>
  <p:sldSz cx="9144000" cy="6858000" type="screen4x3"/>
  <p:notesSz cx="6669088" cy="9753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99"/>
    <a:srgbClr val="008000"/>
    <a:srgbClr val="FFFFCC"/>
    <a:srgbClr val="FF9900"/>
    <a:srgbClr val="33CC33"/>
    <a:srgbClr val="66FF33"/>
    <a:srgbClr val="CC00CC"/>
    <a:srgbClr val="00CC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25490" autoAdjust="0"/>
  </p:normalViewPr>
  <p:slideViewPr>
    <p:cSldViewPr>
      <p:cViewPr varScale="1">
        <p:scale>
          <a:sx n="135" d="100"/>
          <a:sy n="135" d="100"/>
        </p:scale>
        <p:origin x="341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handoutMaster" Target="handoutMasters/handout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994" y="2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1A395C66-BAC7-4947-A978-17979EC9EE5D}" type="datetimeFigureOut">
              <a:rPr lang="zh-CN" altLang="en-US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263663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994" y="9263663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239E3A9-FBC1-4C90-89C7-C86D175BA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708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994" y="2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C874FDD-B067-4E5B-9185-454DDEAB3F7B}" type="datetimeFigureOut">
              <a:rPr lang="zh-CN" altLang="en-US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30250"/>
            <a:ext cx="4875212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632961"/>
            <a:ext cx="5335270" cy="4389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263663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994" y="9263663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4026A9-F546-4A60-85FC-C280A3E99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6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00670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5546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 b="1"/>
            </a:lvl1pPr>
          </a:lstStyle>
          <a:p>
            <a:r>
              <a:rPr lang="en-US" altLang="zh-CN" dirty="0" smtClean="0"/>
              <a:t>Click to edit Master title style</a:t>
            </a:r>
            <a:endParaRPr lang="en-US" altLang="zh-CN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 dirty="0" smtClean="0"/>
              <a:t>Click to edit Master subtitle style</a:t>
            </a:r>
            <a:endParaRPr lang="en-US" altLang="zh-CN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CDC6D-4EE0-4163-813D-9CD3796578B8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893D8-0101-4D6A-B8CF-851210C370A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199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CC542-DA65-4D97-A79C-E6B794CDE341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68A76-9B69-47BF-9E4A-96902B10A1E7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D6CF1-B5B0-45CC-A494-C560F80EF87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93BC6-5129-4551-9A0C-D589C1FA99E0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94451-DE8C-4F17-A5F8-6E9471C791F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4FC51-53E4-4B4A-8408-0D7C776F0E9B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CD14B-0E03-45C4-9CB4-EC1BF9DBC28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9692D-24FD-4BF2-843F-111947BC32F2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499DB-596E-406E-A850-ADBBE4ACAF6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7657F-E8DF-42F6-A122-EC46F94251E9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21A6B-41C5-43CE-82EC-EE99A774C93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453A-18CE-4CCF-8E9D-7173DDA93971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BB9F9-E069-4585-84F6-CF7DDE5C2DA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6D232-B991-4B2D-9ABC-E8235D4C177C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185E5-D22F-4151-B7A0-3D1C0E84A9F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0466F-4628-4FD0-96E3-BD8917FD5FD0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B01DE-58FC-4595-BD9C-BE624D0330D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B8E33-68C8-450A-AAFD-1D2427969E67}" type="datetimeFigureOut">
              <a:rPr lang="zh-CN" altLang="en-US" smtClean="0"/>
              <a:pPr>
                <a:defRPr/>
              </a:pPr>
              <a:t>2019/6/18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ABE93-1989-44EE-8354-A9E88BBC465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2019/6/18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28" r:id="rId12"/>
    <p:sldLayoutId id="2147484029" r:id="rId13"/>
    <p:sldLayoutId id="2147484030" r:id="rId14"/>
    <p:sldLayoutId id="2147484031" r:id="rId15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Calibri" pitchFamily="34" charset="0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Calibri" pitchFamily="34" charset="0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Calibri" pitchFamily="34" charset="0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4400" dirty="0"/>
              <a:t>CS2102</a:t>
            </a:r>
            <a:br>
              <a:rPr lang="en-US" altLang="zh-CN" sz="4400" dirty="0"/>
            </a:br>
            <a:r>
              <a:rPr lang="en-US" altLang="zh-CN" sz="4400" dirty="0"/>
              <a:t>Database Systems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1981200" y="3962400"/>
            <a:ext cx="6553200" cy="2538434"/>
          </a:xfrm>
        </p:spPr>
        <p:txBody>
          <a:bodyPr>
            <a:normAutofit/>
          </a:bodyPr>
          <a:lstStyle/>
          <a:p>
            <a:pPr marL="26988" eaLnBrk="1" hangingPunct="1"/>
            <a:endParaRPr lang="en-US" altLang="zh-CN" sz="2600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We Are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we have learned</a:t>
            </a:r>
          </a:p>
          <a:p>
            <a:pPr lvl="1"/>
            <a:r>
              <a:rPr lang="en-US" dirty="0" smtClean="0"/>
              <a:t>How to use a DBMS (with SQL)</a:t>
            </a:r>
          </a:p>
          <a:p>
            <a:pPr lvl="1"/>
            <a:r>
              <a:rPr lang="en-US" dirty="0" smtClean="0"/>
              <a:t>How to create a database for an application (with ER diagrams, etc.)</a:t>
            </a:r>
          </a:p>
          <a:p>
            <a:r>
              <a:rPr lang="en-US" dirty="0" smtClean="0"/>
              <a:t>What we are going to talk about (a little bit)</a:t>
            </a:r>
          </a:p>
          <a:p>
            <a:pPr lvl="1"/>
            <a:r>
              <a:rPr lang="en-US" dirty="0" smtClean="0"/>
              <a:t>How to use a DBMS </a:t>
            </a:r>
            <a:r>
              <a:rPr lang="en-US" dirty="0" smtClean="0">
                <a:solidFill>
                  <a:srgbClr val="C00000"/>
                </a:solidFill>
              </a:rPr>
              <a:t>efficiently</a:t>
            </a:r>
          </a:p>
          <a:p>
            <a:r>
              <a:rPr lang="en-US" dirty="0" smtClean="0"/>
              <a:t>More details about this topic will be covered in </a:t>
            </a:r>
            <a:endParaRPr lang="en-US" dirty="0"/>
          </a:p>
          <a:p>
            <a:pPr lvl="1"/>
            <a:r>
              <a:rPr lang="en-SG" dirty="0"/>
              <a:t>CS3223 Database Systems Implementation</a:t>
            </a: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1818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Storage model</a:t>
            </a:r>
          </a:p>
          <a:p>
            <a:r>
              <a:rPr lang="en-US" dirty="0" smtClean="0"/>
              <a:t>Index structures</a:t>
            </a:r>
          </a:p>
          <a:p>
            <a:r>
              <a:rPr lang="en-US" dirty="0" smtClean="0"/>
              <a:t>B-trees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1461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model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435280" cy="187220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DBMS </a:t>
            </a:r>
            <a:r>
              <a:rPr lang="en-US" dirty="0" smtClean="0"/>
              <a:t>store tuples in </a:t>
            </a:r>
            <a:r>
              <a:rPr lang="en-US" dirty="0" smtClean="0">
                <a:solidFill>
                  <a:srgbClr val="C00000"/>
                </a:solidFill>
              </a:rPr>
              <a:t>blocks</a:t>
            </a:r>
            <a:r>
              <a:rPr lang="en-US" i="1" dirty="0" smtClean="0"/>
              <a:t>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fixed size</a:t>
            </a:r>
          </a:p>
          <a:p>
            <a:r>
              <a:rPr lang="en-US" dirty="0" smtClean="0"/>
              <a:t>Tuples are always read and written in the unit of blocks</a:t>
            </a:r>
          </a:p>
          <a:p>
            <a:r>
              <a:rPr lang="en-US" dirty="0" smtClean="0"/>
              <a:t>Running time of a query is (mostly) decided by the number of blocks that need to be read or written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4969595"/>
              </p:ext>
            </p:extLst>
          </p:nvPr>
        </p:nvGraphicFramePr>
        <p:xfrm>
          <a:off x="1259632" y="3807296"/>
          <a:ext cx="165618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en-US" sz="2400" u="none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SG" sz="2400" u="none" baseline="-25000" dirty="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baseline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r>
                        <a:rPr lang="en-US" sz="2400" u="none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SG" sz="2400" u="none" baseline="-25000" dirty="0" smtClean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en-SG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59632" y="3150716"/>
            <a:ext cx="1656184" cy="52322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Table T</a:t>
            </a:r>
            <a:endParaRPr lang="en-SG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5576" y="4228688"/>
            <a:ext cx="391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400" baseline="-25000" dirty="0" smtClean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SG" sz="2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5576" y="4695527"/>
            <a:ext cx="391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400" baseline="-25000" dirty="0" smtClean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SG" sz="2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5576" y="5127575"/>
            <a:ext cx="391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400" baseline="-25000" dirty="0" smtClean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en-SG" sz="2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 rot="5400000">
            <a:off x="859484" y="5631631"/>
            <a:ext cx="3978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en-SG" sz="2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Down Arrow 9"/>
          <p:cNvSpPr/>
          <p:nvPr/>
        </p:nvSpPr>
        <p:spPr bwMode="auto">
          <a:xfrm rot="16200000">
            <a:off x="3347866" y="4581128"/>
            <a:ext cx="432048" cy="720081"/>
          </a:xfrm>
          <a:prstGeom prst="downArrow">
            <a:avLst/>
          </a:pr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989937"/>
              </p:ext>
            </p:extLst>
          </p:nvPr>
        </p:nvGraphicFramePr>
        <p:xfrm>
          <a:off x="4211960" y="3645024"/>
          <a:ext cx="4392490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93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.A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SG" sz="2400" b="0" baseline="-25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.A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SG" sz="2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.A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SG" sz="2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.A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SG" sz="2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en-SG" sz="2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en-SG" sz="2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63010"/>
              </p:ext>
            </p:extLst>
          </p:nvPr>
        </p:nvGraphicFramePr>
        <p:xfrm>
          <a:off x="4211958" y="4797152"/>
          <a:ext cx="4392490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93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45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.A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SG" sz="2400" b="0" baseline="-25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.A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SG" sz="2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i+1</a:t>
                      </a:r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.A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SG" sz="2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i+1</a:t>
                      </a:r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.A</a:t>
                      </a:r>
                      <a:r>
                        <a:rPr lang="en-US" sz="2400" b="0" baseline="-2500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SG" sz="2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en-SG" sz="2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  <a:endParaRPr lang="en-SG" sz="2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183957" y="3140968"/>
            <a:ext cx="1077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Block 1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83957" y="4335487"/>
            <a:ext cx="1077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Block 2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 rot="5400000">
            <a:off x="4551448" y="529343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en-SG" sz="54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352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  <p:bldP spid="9" grpId="0"/>
      <p:bldP spid="10" grpId="0" animBg="1"/>
      <p:bldP spid="13" grpId="0"/>
      <p:bldP spid="1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Files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701008"/>
          </a:xfrm>
        </p:spPr>
        <p:txBody>
          <a:bodyPr>
            <a:normAutofit/>
          </a:bodyPr>
          <a:lstStyle/>
          <a:p>
            <a:r>
              <a:rPr lang="en-US" dirty="0" smtClean="0"/>
              <a:t>Blocks of tuples are organized into data files</a:t>
            </a:r>
          </a:p>
          <a:p>
            <a:r>
              <a:rPr lang="en-US" dirty="0" smtClean="0"/>
              <a:t>Blocks in the same file are either linked together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or placed in consecutive positions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581815"/>
              </p:ext>
            </p:extLst>
          </p:nvPr>
        </p:nvGraphicFramePr>
        <p:xfrm>
          <a:off x="1475656" y="2924944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550245" y="3429000"/>
            <a:ext cx="1077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</a:rPr>
              <a:t>Block 1</a:t>
            </a:r>
            <a:endParaRPr lang="en-SG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313118"/>
              </p:ext>
            </p:extLst>
          </p:nvPr>
        </p:nvGraphicFramePr>
        <p:xfrm>
          <a:off x="3679441" y="2924944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754030" y="3429000"/>
            <a:ext cx="1077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</a:rPr>
              <a:t>Block 2</a:t>
            </a:r>
            <a:endParaRPr lang="en-SG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756209"/>
              </p:ext>
            </p:extLst>
          </p:nvPr>
        </p:nvGraphicFramePr>
        <p:xfrm>
          <a:off x="5868144" y="2924944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942733" y="3429000"/>
            <a:ext cx="1077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</a:rPr>
              <a:t>Block 3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>
            <a:off x="2671329" y="3068960"/>
            <a:ext cx="980109" cy="216024"/>
          </a:xfrm>
          <a:prstGeom prst="rightArrow">
            <a:avLst>
              <a:gd name="adj1" fmla="val 42964"/>
              <a:gd name="adj2" fmla="val 50000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2" name="Right Arrow 21"/>
          <p:cNvSpPr/>
          <p:nvPr/>
        </p:nvSpPr>
        <p:spPr bwMode="auto">
          <a:xfrm>
            <a:off x="4875114" y="3068960"/>
            <a:ext cx="980109" cy="216024"/>
          </a:xfrm>
          <a:prstGeom prst="rightArrow">
            <a:avLst>
              <a:gd name="adj1" fmla="val 42964"/>
              <a:gd name="adj2" fmla="val 50000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4" name="Right Arrow 23"/>
          <p:cNvSpPr/>
          <p:nvPr/>
        </p:nvSpPr>
        <p:spPr bwMode="auto">
          <a:xfrm>
            <a:off x="7048275" y="3068960"/>
            <a:ext cx="980109" cy="216024"/>
          </a:xfrm>
          <a:prstGeom prst="rightArrow">
            <a:avLst>
              <a:gd name="adj1" fmla="val 42964"/>
              <a:gd name="adj2" fmla="val 50000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015100"/>
              </p:ext>
            </p:extLst>
          </p:nvPr>
        </p:nvGraphicFramePr>
        <p:xfrm>
          <a:off x="2442344" y="4797152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2298328" y="5301208"/>
            <a:ext cx="1077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</a:rPr>
              <a:t>Block 1</a:t>
            </a:r>
            <a:endParaRPr lang="en-SG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1742"/>
              </p:ext>
            </p:extLst>
          </p:nvPr>
        </p:nvGraphicFramePr>
        <p:xfrm>
          <a:off x="3710025" y="4797152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3754030" y="5301208"/>
            <a:ext cx="1077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</a:rPr>
              <a:t>Block 2</a:t>
            </a:r>
            <a:endParaRPr lang="en-SG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563735"/>
              </p:ext>
            </p:extLst>
          </p:nvPr>
        </p:nvGraphicFramePr>
        <p:xfrm>
          <a:off x="4983854" y="4797152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5178648" y="5301208"/>
            <a:ext cx="1077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</a:rPr>
              <a:t>Block 3</a:t>
            </a:r>
            <a:endParaRPr lang="en-SG" sz="24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34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21" grpId="0" animBg="1"/>
      <p:bldP spid="22" grpId="0" animBg="1"/>
      <p:bldP spid="24" grpId="0" animBg="1"/>
      <p:bldP spid="26" grpId="0"/>
      <p:bldP spid="28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 for Indices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Imagine that we have a table where each tuple stores the personal information of every Singaporean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want to retrieve the tuple corresponding to Cedric</a:t>
            </a:r>
          </a:p>
          <a:p>
            <a:r>
              <a:rPr lang="en-US" dirty="0" smtClean="0"/>
              <a:t>Naïve solution: scan the whole data file until the tuple of Cedric is found</a:t>
            </a:r>
          </a:p>
          <a:p>
            <a:r>
              <a:rPr lang="en-US" dirty="0" smtClean="0"/>
              <a:t>Problem: it is </a:t>
            </a:r>
            <a:r>
              <a:rPr lang="en-US" dirty="0" err="1" smtClean="0"/>
              <a:t>gonna</a:t>
            </a:r>
            <a:r>
              <a:rPr lang="en-US" dirty="0" smtClean="0"/>
              <a:t> take a while</a:t>
            </a:r>
          </a:p>
          <a:p>
            <a:r>
              <a:rPr lang="en-US" dirty="0" smtClean="0"/>
              <a:t>Idea: it would be better if we roughly know the position of Cedric’s tuple</a:t>
            </a:r>
            <a:endParaRPr lang="en-S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469983"/>
              </p:ext>
            </p:extLst>
          </p:nvPr>
        </p:nvGraphicFramePr>
        <p:xfrm>
          <a:off x="1187624" y="2420888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62213" y="2852936"/>
            <a:ext cx="1077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</a:rPr>
              <a:t>Block 1</a:t>
            </a:r>
            <a:endParaRPr lang="en-SG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308556"/>
              </p:ext>
            </p:extLst>
          </p:nvPr>
        </p:nvGraphicFramePr>
        <p:xfrm>
          <a:off x="3391409" y="2420888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465998" y="2852936"/>
            <a:ext cx="1077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</a:rPr>
              <a:t>Block 2</a:t>
            </a:r>
            <a:endParaRPr lang="en-SG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076479"/>
              </p:ext>
            </p:extLst>
          </p:nvPr>
        </p:nvGraphicFramePr>
        <p:xfrm>
          <a:off x="5580112" y="2420888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54701" y="2852936"/>
            <a:ext cx="1077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</a:rPr>
              <a:t>Block 3</a:t>
            </a:r>
            <a:endParaRPr lang="en-SG" sz="2400" dirty="0">
              <a:latin typeface="Calibri" panose="020F0502020204030204" pitchFamily="34" charset="0"/>
            </a:endParaRPr>
          </a:p>
        </p:txBody>
      </p:sp>
      <p:sp>
        <p:nvSpPr>
          <p:cNvPr id="10" name="Right Arrow 9"/>
          <p:cNvSpPr/>
          <p:nvPr/>
        </p:nvSpPr>
        <p:spPr bwMode="auto">
          <a:xfrm>
            <a:off x="2383297" y="2564904"/>
            <a:ext cx="980109" cy="216024"/>
          </a:xfrm>
          <a:prstGeom prst="rightArrow">
            <a:avLst>
              <a:gd name="adj1" fmla="val 42964"/>
              <a:gd name="adj2" fmla="val 50000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Right Arrow 10"/>
          <p:cNvSpPr/>
          <p:nvPr/>
        </p:nvSpPr>
        <p:spPr bwMode="auto">
          <a:xfrm>
            <a:off x="4587082" y="2564904"/>
            <a:ext cx="980109" cy="216024"/>
          </a:xfrm>
          <a:prstGeom prst="rightArrow">
            <a:avLst>
              <a:gd name="adj1" fmla="val 42964"/>
              <a:gd name="adj2" fmla="val 50000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Right Arrow 11"/>
          <p:cNvSpPr/>
          <p:nvPr/>
        </p:nvSpPr>
        <p:spPr bwMode="auto">
          <a:xfrm>
            <a:off x="6760243" y="2564904"/>
            <a:ext cx="980109" cy="216024"/>
          </a:xfrm>
          <a:prstGeom prst="rightArrow">
            <a:avLst>
              <a:gd name="adj1" fmla="val 42964"/>
              <a:gd name="adj2" fmla="val 50000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054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332857"/>
            <a:ext cx="1745426" cy="1575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Indices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269289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An index is a file that accelerates retrieval of records from a data file</a:t>
            </a:r>
          </a:p>
          <a:p>
            <a:r>
              <a:rPr lang="en-US" dirty="0" smtClean="0"/>
              <a:t>Analogy:</a:t>
            </a:r>
          </a:p>
          <a:p>
            <a:pPr lvl="1"/>
            <a:r>
              <a:rPr lang="en-US" dirty="0" smtClean="0"/>
              <a:t>A data file -- a (huge) dictionary</a:t>
            </a:r>
          </a:p>
          <a:p>
            <a:pPr lvl="1"/>
            <a:r>
              <a:rPr lang="en-US" dirty="0" smtClean="0"/>
              <a:t>An index -- the index pages of the dictionary</a:t>
            </a:r>
          </a:p>
          <a:p>
            <a:r>
              <a:rPr lang="en-US" dirty="0" smtClean="0"/>
              <a:t>Example:</a:t>
            </a:r>
            <a:endParaRPr lang="en-SG" dirty="0"/>
          </a:p>
        </p:txBody>
      </p:sp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189582"/>
              </p:ext>
            </p:extLst>
          </p:nvPr>
        </p:nvGraphicFramePr>
        <p:xfrm>
          <a:off x="1835696" y="3706919"/>
          <a:ext cx="914400" cy="2438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9346996"/>
              </p:ext>
            </p:extLst>
          </p:nvPr>
        </p:nvGraphicFramePr>
        <p:xfrm>
          <a:off x="4350296" y="3645024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810292"/>
              </p:ext>
            </p:extLst>
          </p:nvPr>
        </p:nvGraphicFramePr>
        <p:xfrm>
          <a:off x="4350296" y="42595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650982"/>
              </p:ext>
            </p:extLst>
          </p:nvPr>
        </p:nvGraphicFramePr>
        <p:xfrm>
          <a:off x="4350296" y="48691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400068"/>
              </p:ext>
            </p:extLst>
          </p:nvPr>
        </p:nvGraphicFramePr>
        <p:xfrm>
          <a:off x="4350296" y="5483696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Line 82"/>
          <p:cNvSpPr>
            <a:spLocks noChangeShapeType="1"/>
          </p:cNvSpPr>
          <p:nvPr/>
        </p:nvSpPr>
        <p:spPr bwMode="auto">
          <a:xfrm flipV="1">
            <a:off x="2521496" y="3769799"/>
            <a:ext cx="1828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2" name="Line 83"/>
          <p:cNvSpPr>
            <a:spLocks noChangeShapeType="1"/>
          </p:cNvSpPr>
          <p:nvPr/>
        </p:nvSpPr>
        <p:spPr bwMode="auto">
          <a:xfrm>
            <a:off x="2521496" y="40745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" name="Line 84"/>
          <p:cNvSpPr>
            <a:spLocks noChangeShapeType="1"/>
          </p:cNvSpPr>
          <p:nvPr/>
        </p:nvSpPr>
        <p:spPr bwMode="auto">
          <a:xfrm>
            <a:off x="2521496" y="44174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4" name="Line 85"/>
          <p:cNvSpPr>
            <a:spLocks noChangeShapeType="1"/>
          </p:cNvSpPr>
          <p:nvPr/>
        </p:nvSpPr>
        <p:spPr bwMode="auto">
          <a:xfrm flipV="1">
            <a:off x="2521496" y="4712799"/>
            <a:ext cx="1828800" cy="12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5" name="Line 86"/>
          <p:cNvSpPr>
            <a:spLocks noChangeShapeType="1"/>
          </p:cNvSpPr>
          <p:nvPr/>
        </p:nvSpPr>
        <p:spPr bwMode="auto">
          <a:xfrm>
            <a:off x="2521496" y="51032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" name="Line 87"/>
          <p:cNvSpPr>
            <a:spLocks noChangeShapeType="1"/>
          </p:cNvSpPr>
          <p:nvPr/>
        </p:nvSpPr>
        <p:spPr bwMode="auto">
          <a:xfrm>
            <a:off x="2521496" y="53699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7" name="Line 88"/>
          <p:cNvSpPr>
            <a:spLocks noChangeShapeType="1"/>
          </p:cNvSpPr>
          <p:nvPr/>
        </p:nvSpPr>
        <p:spPr bwMode="auto">
          <a:xfrm>
            <a:off x="2521496" y="5674799"/>
            <a:ext cx="1828800" cy="660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8" name="Line 89"/>
          <p:cNvSpPr>
            <a:spLocks noChangeShapeType="1"/>
          </p:cNvSpPr>
          <p:nvPr/>
        </p:nvSpPr>
        <p:spPr bwMode="auto">
          <a:xfrm>
            <a:off x="2521496" y="6037307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" name="Rectangle 3"/>
          <p:cNvSpPr/>
          <p:nvPr/>
        </p:nvSpPr>
        <p:spPr>
          <a:xfrm>
            <a:off x="827584" y="4479503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258489" y="4437112"/>
            <a:ext cx="14125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omic Sans MS" pitchFamily="66" charset="0"/>
              </a:rPr>
              <a:t>d</a:t>
            </a:r>
            <a:r>
              <a:rPr lang="en-US" sz="2400" dirty="0" smtClean="0">
                <a:latin typeface="Comic Sans MS" pitchFamily="66" charset="0"/>
              </a:rPr>
              <a:t>ata file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3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4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Indices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2692896"/>
          </a:xfrm>
        </p:spPr>
        <p:txBody>
          <a:bodyPr>
            <a:normAutofit/>
          </a:bodyPr>
          <a:lstStyle/>
          <a:p>
            <a:r>
              <a:rPr lang="en-US" dirty="0" smtClean="0"/>
              <a:t>Example:</a:t>
            </a:r>
            <a:endParaRPr lang="en-SG" dirty="0"/>
          </a:p>
        </p:txBody>
      </p:sp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914766"/>
              </p:ext>
            </p:extLst>
          </p:nvPr>
        </p:nvGraphicFramePr>
        <p:xfrm>
          <a:off x="1835696" y="1710680"/>
          <a:ext cx="914400" cy="2438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7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355413"/>
              </p:ext>
            </p:extLst>
          </p:nvPr>
        </p:nvGraphicFramePr>
        <p:xfrm>
          <a:off x="4350296" y="1648785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092952"/>
              </p:ext>
            </p:extLst>
          </p:nvPr>
        </p:nvGraphicFramePr>
        <p:xfrm>
          <a:off x="4350296" y="2263321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873978"/>
              </p:ext>
            </p:extLst>
          </p:nvPr>
        </p:nvGraphicFramePr>
        <p:xfrm>
          <a:off x="4350296" y="2872921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26894"/>
              </p:ext>
            </p:extLst>
          </p:nvPr>
        </p:nvGraphicFramePr>
        <p:xfrm>
          <a:off x="4350296" y="3487457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Line 82"/>
          <p:cNvSpPr>
            <a:spLocks noChangeShapeType="1"/>
          </p:cNvSpPr>
          <p:nvPr/>
        </p:nvSpPr>
        <p:spPr bwMode="auto">
          <a:xfrm flipV="1">
            <a:off x="2521496" y="1773560"/>
            <a:ext cx="1828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2" name="Line 83"/>
          <p:cNvSpPr>
            <a:spLocks noChangeShapeType="1"/>
          </p:cNvSpPr>
          <p:nvPr/>
        </p:nvSpPr>
        <p:spPr bwMode="auto">
          <a:xfrm>
            <a:off x="2521496" y="207836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" name="Line 84"/>
          <p:cNvSpPr>
            <a:spLocks noChangeShapeType="1"/>
          </p:cNvSpPr>
          <p:nvPr/>
        </p:nvSpPr>
        <p:spPr bwMode="auto">
          <a:xfrm>
            <a:off x="2521496" y="242126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4" name="Line 85"/>
          <p:cNvSpPr>
            <a:spLocks noChangeShapeType="1"/>
          </p:cNvSpPr>
          <p:nvPr/>
        </p:nvSpPr>
        <p:spPr bwMode="auto">
          <a:xfrm flipV="1">
            <a:off x="2521496" y="2716560"/>
            <a:ext cx="1828800" cy="12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5" name="Line 86"/>
          <p:cNvSpPr>
            <a:spLocks noChangeShapeType="1"/>
          </p:cNvSpPr>
          <p:nvPr/>
        </p:nvSpPr>
        <p:spPr bwMode="auto">
          <a:xfrm>
            <a:off x="2521496" y="310706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" name="Line 87"/>
          <p:cNvSpPr>
            <a:spLocks noChangeShapeType="1"/>
          </p:cNvSpPr>
          <p:nvPr/>
        </p:nvSpPr>
        <p:spPr bwMode="auto">
          <a:xfrm>
            <a:off x="2521496" y="337376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7" name="Line 88"/>
          <p:cNvSpPr>
            <a:spLocks noChangeShapeType="1"/>
          </p:cNvSpPr>
          <p:nvPr/>
        </p:nvSpPr>
        <p:spPr bwMode="auto">
          <a:xfrm>
            <a:off x="2521496" y="3678560"/>
            <a:ext cx="1828800" cy="660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8" name="Line 89"/>
          <p:cNvSpPr>
            <a:spLocks noChangeShapeType="1"/>
          </p:cNvSpPr>
          <p:nvPr/>
        </p:nvSpPr>
        <p:spPr bwMode="auto">
          <a:xfrm>
            <a:off x="2521496" y="4041068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" name="Rectangle 3"/>
          <p:cNvSpPr/>
          <p:nvPr/>
        </p:nvSpPr>
        <p:spPr>
          <a:xfrm>
            <a:off x="827584" y="2483264"/>
            <a:ext cx="861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258489" y="2440873"/>
            <a:ext cx="119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ata file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763688" y="3789040"/>
            <a:ext cx="576064" cy="432048"/>
          </a:xfrm>
          <a:prstGeom prst="ellips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9" name="Rounded Rectangular Callout 18"/>
          <p:cNvSpPr/>
          <p:nvPr/>
        </p:nvSpPr>
        <p:spPr bwMode="auto">
          <a:xfrm>
            <a:off x="395536" y="4725144"/>
            <a:ext cx="7632848" cy="1080120"/>
          </a:xfrm>
          <a:prstGeom prst="wedgeRoundRectCallout">
            <a:avLst>
              <a:gd name="adj1" fmla="val -27096"/>
              <a:gd name="adj2" fmla="val -97409"/>
              <a:gd name="adj3" fmla="val 16667"/>
            </a:avLst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Referred to as a “key”</a:t>
            </a:r>
            <a:r>
              <a:rPr kumimoji="0" lang="en-US" sz="28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 </a:t>
            </a:r>
            <a:br>
              <a:rPr kumimoji="0" lang="en-US" sz="28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</a:br>
            <a:r>
              <a:rPr kumimoji="0" lang="en-US" sz="280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  <a:cs typeface="Calibri" panose="020F0502020204030204" pitchFamily="34" charset="0"/>
              </a:rPr>
              <a:t>(not to be confused with the key of a table)</a:t>
            </a:r>
            <a:endParaRPr kumimoji="0" lang="en-SG" sz="2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itchFamily="2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49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Indices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2520281"/>
          </a:xfrm>
        </p:spPr>
        <p:txBody>
          <a:bodyPr>
            <a:normAutofit/>
          </a:bodyPr>
          <a:lstStyle/>
          <a:p>
            <a:r>
              <a:rPr lang="en-US" dirty="0" smtClean="0"/>
              <a:t>Clustered index: Tuples in the data file are sorted in the same order as the entries in the index</a:t>
            </a:r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838017"/>
              </p:ext>
            </p:extLst>
          </p:nvPr>
        </p:nvGraphicFramePr>
        <p:xfrm>
          <a:off x="1835696" y="3706919"/>
          <a:ext cx="914400" cy="2438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731458"/>
              </p:ext>
            </p:extLst>
          </p:nvPr>
        </p:nvGraphicFramePr>
        <p:xfrm>
          <a:off x="4350296" y="3645024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33258"/>
              </p:ext>
            </p:extLst>
          </p:nvPr>
        </p:nvGraphicFramePr>
        <p:xfrm>
          <a:off x="4350296" y="42595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670850"/>
              </p:ext>
            </p:extLst>
          </p:nvPr>
        </p:nvGraphicFramePr>
        <p:xfrm>
          <a:off x="4350296" y="48691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980713"/>
              </p:ext>
            </p:extLst>
          </p:nvPr>
        </p:nvGraphicFramePr>
        <p:xfrm>
          <a:off x="4350296" y="5483696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Line 82"/>
          <p:cNvSpPr>
            <a:spLocks noChangeShapeType="1"/>
          </p:cNvSpPr>
          <p:nvPr/>
        </p:nvSpPr>
        <p:spPr bwMode="auto">
          <a:xfrm flipV="1">
            <a:off x="2521496" y="3769799"/>
            <a:ext cx="1828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Line 83"/>
          <p:cNvSpPr>
            <a:spLocks noChangeShapeType="1"/>
          </p:cNvSpPr>
          <p:nvPr/>
        </p:nvSpPr>
        <p:spPr bwMode="auto">
          <a:xfrm>
            <a:off x="2521496" y="40745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Line 84"/>
          <p:cNvSpPr>
            <a:spLocks noChangeShapeType="1"/>
          </p:cNvSpPr>
          <p:nvPr/>
        </p:nvSpPr>
        <p:spPr bwMode="auto">
          <a:xfrm>
            <a:off x="2521496" y="44174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Line 85"/>
          <p:cNvSpPr>
            <a:spLocks noChangeShapeType="1"/>
          </p:cNvSpPr>
          <p:nvPr/>
        </p:nvSpPr>
        <p:spPr bwMode="auto">
          <a:xfrm flipV="1">
            <a:off x="2521496" y="4712799"/>
            <a:ext cx="1828800" cy="12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Line 86"/>
          <p:cNvSpPr>
            <a:spLocks noChangeShapeType="1"/>
          </p:cNvSpPr>
          <p:nvPr/>
        </p:nvSpPr>
        <p:spPr bwMode="auto">
          <a:xfrm>
            <a:off x="2521496" y="51032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Line 87"/>
          <p:cNvSpPr>
            <a:spLocks noChangeShapeType="1"/>
          </p:cNvSpPr>
          <p:nvPr/>
        </p:nvSpPr>
        <p:spPr bwMode="auto">
          <a:xfrm>
            <a:off x="2521496" y="53699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Line 88"/>
          <p:cNvSpPr>
            <a:spLocks noChangeShapeType="1"/>
          </p:cNvSpPr>
          <p:nvPr/>
        </p:nvSpPr>
        <p:spPr bwMode="auto">
          <a:xfrm>
            <a:off x="2521496" y="5674799"/>
            <a:ext cx="1828800" cy="660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" name="Line 89"/>
          <p:cNvSpPr>
            <a:spLocks noChangeShapeType="1"/>
          </p:cNvSpPr>
          <p:nvPr/>
        </p:nvSpPr>
        <p:spPr bwMode="auto">
          <a:xfrm>
            <a:off x="2521496" y="6037307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7" name="Rectangle 16"/>
          <p:cNvSpPr/>
          <p:nvPr/>
        </p:nvSpPr>
        <p:spPr>
          <a:xfrm>
            <a:off x="827584" y="4479503"/>
            <a:ext cx="861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258489" y="4437112"/>
            <a:ext cx="119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ata file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543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Indices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2520281"/>
          </a:xfrm>
        </p:spPr>
        <p:txBody>
          <a:bodyPr>
            <a:normAutofit/>
          </a:bodyPr>
          <a:lstStyle/>
          <a:p>
            <a:r>
              <a:rPr lang="en-US" dirty="0" smtClean="0"/>
              <a:t>Un-clustered index: </a:t>
            </a:r>
            <a:r>
              <a:rPr lang="en-US" dirty="0"/>
              <a:t>Tuples</a:t>
            </a:r>
            <a:r>
              <a:rPr lang="en-US" dirty="0" smtClean="0"/>
              <a:t> in the data file are not sorted in the same order as the entries in the index</a:t>
            </a:r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041873"/>
              </p:ext>
            </p:extLst>
          </p:nvPr>
        </p:nvGraphicFramePr>
        <p:xfrm>
          <a:off x="1835696" y="3706919"/>
          <a:ext cx="914400" cy="2438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428072"/>
              </p:ext>
            </p:extLst>
          </p:nvPr>
        </p:nvGraphicFramePr>
        <p:xfrm>
          <a:off x="4350296" y="3645024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226017"/>
              </p:ext>
            </p:extLst>
          </p:nvPr>
        </p:nvGraphicFramePr>
        <p:xfrm>
          <a:off x="4350296" y="42595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036033"/>
              </p:ext>
            </p:extLst>
          </p:nvPr>
        </p:nvGraphicFramePr>
        <p:xfrm>
          <a:off x="4350296" y="48691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38048"/>
              </p:ext>
            </p:extLst>
          </p:nvPr>
        </p:nvGraphicFramePr>
        <p:xfrm>
          <a:off x="4350296" y="5483696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Line 82"/>
          <p:cNvSpPr>
            <a:spLocks noChangeShapeType="1"/>
          </p:cNvSpPr>
          <p:nvPr/>
        </p:nvSpPr>
        <p:spPr bwMode="auto">
          <a:xfrm>
            <a:off x="2521496" y="3845998"/>
            <a:ext cx="1828800" cy="12573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" name="Line 83"/>
          <p:cNvSpPr>
            <a:spLocks noChangeShapeType="1"/>
          </p:cNvSpPr>
          <p:nvPr/>
        </p:nvSpPr>
        <p:spPr bwMode="auto">
          <a:xfrm>
            <a:off x="2521496" y="40745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Line 84"/>
          <p:cNvSpPr>
            <a:spLocks noChangeShapeType="1"/>
          </p:cNvSpPr>
          <p:nvPr/>
        </p:nvSpPr>
        <p:spPr bwMode="auto">
          <a:xfrm>
            <a:off x="2521496" y="44174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Line 85"/>
          <p:cNvSpPr>
            <a:spLocks noChangeShapeType="1"/>
          </p:cNvSpPr>
          <p:nvPr/>
        </p:nvSpPr>
        <p:spPr bwMode="auto">
          <a:xfrm>
            <a:off x="2521496" y="4836598"/>
            <a:ext cx="1828800" cy="11126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" name="Line 86"/>
          <p:cNvSpPr>
            <a:spLocks noChangeShapeType="1"/>
          </p:cNvSpPr>
          <p:nvPr/>
        </p:nvSpPr>
        <p:spPr bwMode="auto">
          <a:xfrm>
            <a:off x="2521496" y="5103299"/>
            <a:ext cx="1762472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4" name="Line 87"/>
          <p:cNvSpPr>
            <a:spLocks noChangeShapeType="1"/>
          </p:cNvSpPr>
          <p:nvPr/>
        </p:nvSpPr>
        <p:spPr bwMode="auto">
          <a:xfrm>
            <a:off x="2521496" y="53699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Line 88"/>
          <p:cNvSpPr>
            <a:spLocks noChangeShapeType="1"/>
          </p:cNvSpPr>
          <p:nvPr/>
        </p:nvSpPr>
        <p:spPr bwMode="auto">
          <a:xfrm flipV="1">
            <a:off x="2521496" y="4774699"/>
            <a:ext cx="1828800" cy="9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" name="Line 89"/>
          <p:cNvSpPr>
            <a:spLocks noChangeShapeType="1"/>
          </p:cNvSpPr>
          <p:nvPr/>
        </p:nvSpPr>
        <p:spPr bwMode="auto">
          <a:xfrm flipV="1">
            <a:off x="2521496" y="3845999"/>
            <a:ext cx="1828800" cy="21913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7" name="Rectangle 16"/>
          <p:cNvSpPr/>
          <p:nvPr/>
        </p:nvSpPr>
        <p:spPr>
          <a:xfrm>
            <a:off x="827584" y="4479503"/>
            <a:ext cx="861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258489" y="4437112"/>
            <a:ext cx="119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ata file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05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Clustered vs. Un-clustered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2232249"/>
          </a:xfrm>
        </p:spPr>
        <p:txBody>
          <a:bodyPr>
            <a:normAutofit/>
          </a:bodyPr>
          <a:lstStyle/>
          <a:p>
            <a:r>
              <a:rPr lang="en-US" dirty="0" smtClean="0"/>
              <a:t>Clustered indices are good for </a:t>
            </a:r>
            <a:r>
              <a:rPr lang="en-US" dirty="0" smtClean="0">
                <a:solidFill>
                  <a:srgbClr val="C00000"/>
                </a:solidFill>
              </a:rPr>
              <a:t>range queries</a:t>
            </a:r>
          </a:p>
          <a:p>
            <a:r>
              <a:rPr lang="en-US" dirty="0" smtClean="0"/>
              <a:t>Example: Find the tuples with key values in [20, 40]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609785"/>
              </p:ext>
            </p:extLst>
          </p:nvPr>
        </p:nvGraphicFramePr>
        <p:xfrm>
          <a:off x="1835696" y="3706919"/>
          <a:ext cx="914400" cy="2438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051342"/>
              </p:ext>
            </p:extLst>
          </p:nvPr>
        </p:nvGraphicFramePr>
        <p:xfrm>
          <a:off x="4350296" y="3645024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300880"/>
              </p:ext>
            </p:extLst>
          </p:nvPr>
        </p:nvGraphicFramePr>
        <p:xfrm>
          <a:off x="4350296" y="42595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075407"/>
              </p:ext>
            </p:extLst>
          </p:nvPr>
        </p:nvGraphicFramePr>
        <p:xfrm>
          <a:off x="4350296" y="48691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071371"/>
              </p:ext>
            </p:extLst>
          </p:nvPr>
        </p:nvGraphicFramePr>
        <p:xfrm>
          <a:off x="4350296" y="5483696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Line 82"/>
          <p:cNvSpPr>
            <a:spLocks noChangeShapeType="1"/>
          </p:cNvSpPr>
          <p:nvPr/>
        </p:nvSpPr>
        <p:spPr bwMode="auto">
          <a:xfrm flipV="1">
            <a:off x="2521496" y="3769799"/>
            <a:ext cx="1828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Line 83"/>
          <p:cNvSpPr>
            <a:spLocks noChangeShapeType="1"/>
          </p:cNvSpPr>
          <p:nvPr/>
        </p:nvSpPr>
        <p:spPr bwMode="auto">
          <a:xfrm>
            <a:off x="2521496" y="40745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Line 84"/>
          <p:cNvSpPr>
            <a:spLocks noChangeShapeType="1"/>
          </p:cNvSpPr>
          <p:nvPr/>
        </p:nvSpPr>
        <p:spPr bwMode="auto">
          <a:xfrm>
            <a:off x="2521496" y="44174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Line 85"/>
          <p:cNvSpPr>
            <a:spLocks noChangeShapeType="1"/>
          </p:cNvSpPr>
          <p:nvPr/>
        </p:nvSpPr>
        <p:spPr bwMode="auto">
          <a:xfrm flipV="1">
            <a:off x="2521496" y="4712799"/>
            <a:ext cx="1828800" cy="12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Line 86"/>
          <p:cNvSpPr>
            <a:spLocks noChangeShapeType="1"/>
          </p:cNvSpPr>
          <p:nvPr/>
        </p:nvSpPr>
        <p:spPr bwMode="auto">
          <a:xfrm>
            <a:off x="2521496" y="51032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Line 87"/>
          <p:cNvSpPr>
            <a:spLocks noChangeShapeType="1"/>
          </p:cNvSpPr>
          <p:nvPr/>
        </p:nvSpPr>
        <p:spPr bwMode="auto">
          <a:xfrm>
            <a:off x="2521496" y="53699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Line 88"/>
          <p:cNvSpPr>
            <a:spLocks noChangeShapeType="1"/>
          </p:cNvSpPr>
          <p:nvPr/>
        </p:nvSpPr>
        <p:spPr bwMode="auto">
          <a:xfrm>
            <a:off x="2521496" y="5674799"/>
            <a:ext cx="1828800" cy="660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" name="Line 89"/>
          <p:cNvSpPr>
            <a:spLocks noChangeShapeType="1"/>
          </p:cNvSpPr>
          <p:nvPr/>
        </p:nvSpPr>
        <p:spPr bwMode="auto">
          <a:xfrm>
            <a:off x="2521496" y="6037307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7" name="Rectangle 16"/>
          <p:cNvSpPr/>
          <p:nvPr/>
        </p:nvSpPr>
        <p:spPr>
          <a:xfrm>
            <a:off x="827584" y="4479503"/>
            <a:ext cx="861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258489" y="4437112"/>
            <a:ext cx="119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ata file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232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Clustered vs. Un-clustered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2232249"/>
          </a:xfrm>
        </p:spPr>
        <p:txBody>
          <a:bodyPr>
            <a:normAutofit/>
          </a:bodyPr>
          <a:lstStyle/>
          <a:p>
            <a:r>
              <a:rPr lang="en-US" dirty="0" smtClean="0"/>
              <a:t>Clustered indices are good for </a:t>
            </a:r>
            <a:r>
              <a:rPr lang="en-US" dirty="0" smtClean="0">
                <a:solidFill>
                  <a:srgbClr val="C00000"/>
                </a:solidFill>
              </a:rPr>
              <a:t>range queries</a:t>
            </a:r>
          </a:p>
          <a:p>
            <a:r>
              <a:rPr lang="en-US" dirty="0" smtClean="0"/>
              <a:t>Example: Find the tuples with key values in [20, 40]</a:t>
            </a:r>
          </a:p>
          <a:p>
            <a:r>
              <a:rPr lang="en-US" dirty="0" smtClean="0"/>
              <a:t>Number of blocks read: 3</a:t>
            </a:r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276143"/>
              </p:ext>
            </p:extLst>
          </p:nvPr>
        </p:nvGraphicFramePr>
        <p:xfrm>
          <a:off x="1835696" y="3706919"/>
          <a:ext cx="914400" cy="2438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735973"/>
              </p:ext>
            </p:extLst>
          </p:nvPr>
        </p:nvGraphicFramePr>
        <p:xfrm>
          <a:off x="4350296" y="3645024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465057"/>
              </p:ext>
            </p:extLst>
          </p:nvPr>
        </p:nvGraphicFramePr>
        <p:xfrm>
          <a:off x="4350296" y="48691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73575"/>
              </p:ext>
            </p:extLst>
          </p:nvPr>
        </p:nvGraphicFramePr>
        <p:xfrm>
          <a:off x="4350296" y="5483696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Line 82"/>
          <p:cNvSpPr>
            <a:spLocks noChangeShapeType="1"/>
          </p:cNvSpPr>
          <p:nvPr/>
        </p:nvSpPr>
        <p:spPr bwMode="auto">
          <a:xfrm flipV="1">
            <a:off x="2521496" y="3769799"/>
            <a:ext cx="1828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Line 83"/>
          <p:cNvSpPr>
            <a:spLocks noChangeShapeType="1"/>
          </p:cNvSpPr>
          <p:nvPr/>
        </p:nvSpPr>
        <p:spPr bwMode="auto">
          <a:xfrm>
            <a:off x="2521496" y="40745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Line 84"/>
          <p:cNvSpPr>
            <a:spLocks noChangeShapeType="1"/>
          </p:cNvSpPr>
          <p:nvPr/>
        </p:nvSpPr>
        <p:spPr bwMode="auto">
          <a:xfrm>
            <a:off x="2521496" y="44174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Line 85"/>
          <p:cNvSpPr>
            <a:spLocks noChangeShapeType="1"/>
          </p:cNvSpPr>
          <p:nvPr/>
        </p:nvSpPr>
        <p:spPr bwMode="auto">
          <a:xfrm flipV="1">
            <a:off x="2521496" y="4712799"/>
            <a:ext cx="1828800" cy="12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Line 86"/>
          <p:cNvSpPr>
            <a:spLocks noChangeShapeType="1"/>
          </p:cNvSpPr>
          <p:nvPr/>
        </p:nvSpPr>
        <p:spPr bwMode="auto">
          <a:xfrm>
            <a:off x="2521496" y="51032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Line 87"/>
          <p:cNvSpPr>
            <a:spLocks noChangeShapeType="1"/>
          </p:cNvSpPr>
          <p:nvPr/>
        </p:nvSpPr>
        <p:spPr bwMode="auto">
          <a:xfrm>
            <a:off x="2521496" y="53699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Line 88"/>
          <p:cNvSpPr>
            <a:spLocks noChangeShapeType="1"/>
          </p:cNvSpPr>
          <p:nvPr/>
        </p:nvSpPr>
        <p:spPr bwMode="auto">
          <a:xfrm>
            <a:off x="2521496" y="5674799"/>
            <a:ext cx="1828800" cy="660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" name="Line 89"/>
          <p:cNvSpPr>
            <a:spLocks noChangeShapeType="1"/>
          </p:cNvSpPr>
          <p:nvPr/>
        </p:nvSpPr>
        <p:spPr bwMode="auto">
          <a:xfrm>
            <a:off x="2521496" y="6037307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7" name="Rectangle 16"/>
          <p:cNvSpPr/>
          <p:nvPr/>
        </p:nvSpPr>
        <p:spPr>
          <a:xfrm>
            <a:off x="827584" y="4479503"/>
            <a:ext cx="861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258489" y="4437112"/>
            <a:ext cx="119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ata file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604301"/>
              </p:ext>
            </p:extLst>
          </p:nvPr>
        </p:nvGraphicFramePr>
        <p:xfrm>
          <a:off x="4350296" y="42595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912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Clustered vs. Un-clustered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2232249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Un-clustered indices are not as good for range queries</a:t>
            </a:r>
          </a:p>
          <a:p>
            <a:r>
              <a:rPr lang="en-US" dirty="0" smtClean="0"/>
              <a:t>Example: Find the tuples with key values in [20, 40]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</p:txBody>
      </p:sp>
      <p:graphicFrame>
        <p:nvGraphicFramePr>
          <p:cNvPr id="19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473039"/>
              </p:ext>
            </p:extLst>
          </p:nvPr>
        </p:nvGraphicFramePr>
        <p:xfrm>
          <a:off x="1835696" y="3706919"/>
          <a:ext cx="914400" cy="2438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160803"/>
              </p:ext>
            </p:extLst>
          </p:nvPr>
        </p:nvGraphicFramePr>
        <p:xfrm>
          <a:off x="4350296" y="3645024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535008"/>
              </p:ext>
            </p:extLst>
          </p:nvPr>
        </p:nvGraphicFramePr>
        <p:xfrm>
          <a:off x="4350296" y="42595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376127"/>
              </p:ext>
            </p:extLst>
          </p:nvPr>
        </p:nvGraphicFramePr>
        <p:xfrm>
          <a:off x="4350296" y="48691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304833"/>
              </p:ext>
            </p:extLst>
          </p:nvPr>
        </p:nvGraphicFramePr>
        <p:xfrm>
          <a:off x="4350296" y="5483696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Line 82"/>
          <p:cNvSpPr>
            <a:spLocks noChangeShapeType="1"/>
          </p:cNvSpPr>
          <p:nvPr/>
        </p:nvSpPr>
        <p:spPr bwMode="auto">
          <a:xfrm>
            <a:off x="2521496" y="3845998"/>
            <a:ext cx="1828800" cy="12573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5" name="Line 83"/>
          <p:cNvSpPr>
            <a:spLocks noChangeShapeType="1"/>
          </p:cNvSpPr>
          <p:nvPr/>
        </p:nvSpPr>
        <p:spPr bwMode="auto">
          <a:xfrm>
            <a:off x="2521496" y="40745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Line 84"/>
          <p:cNvSpPr>
            <a:spLocks noChangeShapeType="1"/>
          </p:cNvSpPr>
          <p:nvPr/>
        </p:nvSpPr>
        <p:spPr bwMode="auto">
          <a:xfrm>
            <a:off x="2521496" y="44174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Line 85"/>
          <p:cNvSpPr>
            <a:spLocks noChangeShapeType="1"/>
          </p:cNvSpPr>
          <p:nvPr/>
        </p:nvSpPr>
        <p:spPr bwMode="auto">
          <a:xfrm>
            <a:off x="2521496" y="4836598"/>
            <a:ext cx="1828800" cy="11126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8" name="Line 86"/>
          <p:cNvSpPr>
            <a:spLocks noChangeShapeType="1"/>
          </p:cNvSpPr>
          <p:nvPr/>
        </p:nvSpPr>
        <p:spPr bwMode="auto">
          <a:xfrm>
            <a:off x="2521496" y="5103299"/>
            <a:ext cx="1762472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9" name="Line 87"/>
          <p:cNvSpPr>
            <a:spLocks noChangeShapeType="1"/>
          </p:cNvSpPr>
          <p:nvPr/>
        </p:nvSpPr>
        <p:spPr bwMode="auto">
          <a:xfrm>
            <a:off x="2521496" y="53699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Line 88"/>
          <p:cNvSpPr>
            <a:spLocks noChangeShapeType="1"/>
          </p:cNvSpPr>
          <p:nvPr/>
        </p:nvSpPr>
        <p:spPr bwMode="auto">
          <a:xfrm flipV="1">
            <a:off x="2521496" y="4774699"/>
            <a:ext cx="1828800" cy="9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1" name="Line 89"/>
          <p:cNvSpPr>
            <a:spLocks noChangeShapeType="1"/>
          </p:cNvSpPr>
          <p:nvPr/>
        </p:nvSpPr>
        <p:spPr bwMode="auto">
          <a:xfrm flipV="1">
            <a:off x="2521496" y="3845999"/>
            <a:ext cx="1828800" cy="21913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" name="Rectangle 31"/>
          <p:cNvSpPr/>
          <p:nvPr/>
        </p:nvSpPr>
        <p:spPr>
          <a:xfrm>
            <a:off x="827584" y="4479503"/>
            <a:ext cx="861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258489" y="4437112"/>
            <a:ext cx="119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ata file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47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Clustered vs. Un-clustered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2232249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Un-clustered indices are not as good for range queries</a:t>
            </a:r>
          </a:p>
          <a:p>
            <a:r>
              <a:rPr lang="en-US" dirty="0"/>
              <a:t>Example: Find the tuples with key values in [20, 40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</p:txBody>
      </p:sp>
      <p:graphicFrame>
        <p:nvGraphicFramePr>
          <p:cNvPr id="19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923000"/>
              </p:ext>
            </p:extLst>
          </p:nvPr>
        </p:nvGraphicFramePr>
        <p:xfrm>
          <a:off x="1835696" y="3706919"/>
          <a:ext cx="914400" cy="2438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84649"/>
              </p:ext>
            </p:extLst>
          </p:nvPr>
        </p:nvGraphicFramePr>
        <p:xfrm>
          <a:off x="4350296" y="3645024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00676"/>
              </p:ext>
            </p:extLst>
          </p:nvPr>
        </p:nvGraphicFramePr>
        <p:xfrm>
          <a:off x="4350296" y="48691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9431984"/>
              </p:ext>
            </p:extLst>
          </p:nvPr>
        </p:nvGraphicFramePr>
        <p:xfrm>
          <a:off x="4350296" y="5483696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Line 82"/>
          <p:cNvSpPr>
            <a:spLocks noChangeShapeType="1"/>
          </p:cNvSpPr>
          <p:nvPr/>
        </p:nvSpPr>
        <p:spPr bwMode="auto">
          <a:xfrm>
            <a:off x="2521496" y="3845998"/>
            <a:ext cx="1828800" cy="12573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5" name="Line 83"/>
          <p:cNvSpPr>
            <a:spLocks noChangeShapeType="1"/>
          </p:cNvSpPr>
          <p:nvPr/>
        </p:nvSpPr>
        <p:spPr bwMode="auto">
          <a:xfrm>
            <a:off x="2521496" y="40745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Line 84"/>
          <p:cNvSpPr>
            <a:spLocks noChangeShapeType="1"/>
          </p:cNvSpPr>
          <p:nvPr/>
        </p:nvSpPr>
        <p:spPr bwMode="auto">
          <a:xfrm>
            <a:off x="2521496" y="44174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Line 85"/>
          <p:cNvSpPr>
            <a:spLocks noChangeShapeType="1"/>
          </p:cNvSpPr>
          <p:nvPr/>
        </p:nvSpPr>
        <p:spPr bwMode="auto">
          <a:xfrm>
            <a:off x="2521496" y="4836598"/>
            <a:ext cx="1828800" cy="11126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8" name="Line 86"/>
          <p:cNvSpPr>
            <a:spLocks noChangeShapeType="1"/>
          </p:cNvSpPr>
          <p:nvPr/>
        </p:nvSpPr>
        <p:spPr bwMode="auto">
          <a:xfrm>
            <a:off x="2521496" y="5103299"/>
            <a:ext cx="1762472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9" name="Line 87"/>
          <p:cNvSpPr>
            <a:spLocks noChangeShapeType="1"/>
          </p:cNvSpPr>
          <p:nvPr/>
        </p:nvSpPr>
        <p:spPr bwMode="auto">
          <a:xfrm>
            <a:off x="2521496" y="53699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0" name="Line 88"/>
          <p:cNvSpPr>
            <a:spLocks noChangeShapeType="1"/>
          </p:cNvSpPr>
          <p:nvPr/>
        </p:nvSpPr>
        <p:spPr bwMode="auto">
          <a:xfrm flipV="1">
            <a:off x="2521496" y="4774699"/>
            <a:ext cx="1828800" cy="9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1" name="Line 89"/>
          <p:cNvSpPr>
            <a:spLocks noChangeShapeType="1"/>
          </p:cNvSpPr>
          <p:nvPr/>
        </p:nvSpPr>
        <p:spPr bwMode="auto">
          <a:xfrm flipV="1">
            <a:off x="2521496" y="3845999"/>
            <a:ext cx="1828800" cy="21913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" name="Rectangle 31"/>
          <p:cNvSpPr/>
          <p:nvPr/>
        </p:nvSpPr>
        <p:spPr>
          <a:xfrm>
            <a:off x="827584" y="4479503"/>
            <a:ext cx="861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258489" y="4437112"/>
            <a:ext cx="119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ata file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1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205933"/>
              </p:ext>
            </p:extLst>
          </p:nvPr>
        </p:nvGraphicFramePr>
        <p:xfrm>
          <a:off x="4350296" y="42595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5520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Clustered vs. Un-clustered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2232249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Un-clustered indices are not as good for range queries</a:t>
            </a:r>
          </a:p>
          <a:p>
            <a:r>
              <a:rPr lang="en-US" dirty="0"/>
              <a:t>Example: Find the tuples with key values in [20, 40]</a:t>
            </a:r>
            <a:endParaRPr lang="en-US" dirty="0" smtClean="0"/>
          </a:p>
          <a:p>
            <a:r>
              <a:rPr lang="en-US" dirty="0" smtClean="0"/>
              <a:t>Number of blocks read: 4</a:t>
            </a:r>
          </a:p>
        </p:txBody>
      </p:sp>
      <p:graphicFrame>
        <p:nvGraphicFramePr>
          <p:cNvPr id="19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3681808"/>
              </p:ext>
            </p:extLst>
          </p:nvPr>
        </p:nvGraphicFramePr>
        <p:xfrm>
          <a:off x="1835696" y="3706919"/>
          <a:ext cx="914400" cy="2438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917947"/>
              </p:ext>
            </p:extLst>
          </p:nvPr>
        </p:nvGraphicFramePr>
        <p:xfrm>
          <a:off x="4350296" y="3645024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998120"/>
              </p:ext>
            </p:extLst>
          </p:nvPr>
        </p:nvGraphicFramePr>
        <p:xfrm>
          <a:off x="4350296" y="48691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786963"/>
              </p:ext>
            </p:extLst>
          </p:nvPr>
        </p:nvGraphicFramePr>
        <p:xfrm>
          <a:off x="4350296" y="5483696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Line 82"/>
          <p:cNvSpPr>
            <a:spLocks noChangeShapeType="1"/>
          </p:cNvSpPr>
          <p:nvPr/>
        </p:nvSpPr>
        <p:spPr bwMode="auto">
          <a:xfrm>
            <a:off x="2521496" y="3845998"/>
            <a:ext cx="1828800" cy="12573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5" name="Line 83"/>
          <p:cNvSpPr>
            <a:spLocks noChangeShapeType="1"/>
          </p:cNvSpPr>
          <p:nvPr/>
        </p:nvSpPr>
        <p:spPr bwMode="auto">
          <a:xfrm>
            <a:off x="2521496" y="40745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Line 84"/>
          <p:cNvSpPr>
            <a:spLocks noChangeShapeType="1"/>
          </p:cNvSpPr>
          <p:nvPr/>
        </p:nvSpPr>
        <p:spPr bwMode="auto">
          <a:xfrm>
            <a:off x="2521496" y="44174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Line 85"/>
          <p:cNvSpPr>
            <a:spLocks noChangeShapeType="1"/>
          </p:cNvSpPr>
          <p:nvPr/>
        </p:nvSpPr>
        <p:spPr bwMode="auto">
          <a:xfrm>
            <a:off x="2521496" y="4836598"/>
            <a:ext cx="1828800" cy="11126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8" name="Line 86"/>
          <p:cNvSpPr>
            <a:spLocks noChangeShapeType="1"/>
          </p:cNvSpPr>
          <p:nvPr/>
        </p:nvSpPr>
        <p:spPr bwMode="auto">
          <a:xfrm>
            <a:off x="2521496" y="5103299"/>
            <a:ext cx="1762472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9" name="Line 87"/>
          <p:cNvSpPr>
            <a:spLocks noChangeShapeType="1"/>
          </p:cNvSpPr>
          <p:nvPr/>
        </p:nvSpPr>
        <p:spPr bwMode="auto">
          <a:xfrm>
            <a:off x="2521496" y="536999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Line 88"/>
          <p:cNvSpPr>
            <a:spLocks noChangeShapeType="1"/>
          </p:cNvSpPr>
          <p:nvPr/>
        </p:nvSpPr>
        <p:spPr bwMode="auto">
          <a:xfrm flipV="1">
            <a:off x="2521496" y="4774699"/>
            <a:ext cx="1828800" cy="9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1" name="Line 89"/>
          <p:cNvSpPr>
            <a:spLocks noChangeShapeType="1"/>
          </p:cNvSpPr>
          <p:nvPr/>
        </p:nvSpPr>
        <p:spPr bwMode="auto">
          <a:xfrm flipV="1">
            <a:off x="2521496" y="3845999"/>
            <a:ext cx="1828800" cy="21913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" name="Rectangle 31"/>
          <p:cNvSpPr/>
          <p:nvPr/>
        </p:nvSpPr>
        <p:spPr>
          <a:xfrm>
            <a:off x="827584" y="4479503"/>
            <a:ext cx="861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258489" y="4437112"/>
            <a:ext cx="119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ata file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1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974035"/>
              </p:ext>
            </p:extLst>
          </p:nvPr>
        </p:nvGraphicFramePr>
        <p:xfrm>
          <a:off x="4350296" y="425956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9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Clustered vs. Un-clustered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Clustered indices </a:t>
            </a:r>
            <a:r>
              <a:rPr lang="en-US" dirty="0"/>
              <a:t>are </a:t>
            </a:r>
            <a:r>
              <a:rPr lang="en-US" dirty="0" smtClean="0"/>
              <a:t>not good </a:t>
            </a:r>
            <a:r>
              <a:rPr lang="en-US" dirty="0"/>
              <a:t>for </a:t>
            </a:r>
            <a:r>
              <a:rPr lang="en-US" dirty="0" smtClean="0"/>
              <a:t>updates</a:t>
            </a:r>
          </a:p>
          <a:p>
            <a:r>
              <a:rPr lang="en-US" dirty="0" smtClean="0"/>
              <a:t>Example: Insert a new tuple with key value 35</a:t>
            </a:r>
            <a:endParaRPr lang="en-US" dirty="0"/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44935"/>
              </p:ext>
            </p:extLst>
          </p:nvPr>
        </p:nvGraphicFramePr>
        <p:xfrm>
          <a:off x="1835696" y="3346879"/>
          <a:ext cx="914400" cy="2438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431719"/>
              </p:ext>
            </p:extLst>
          </p:nvPr>
        </p:nvGraphicFramePr>
        <p:xfrm>
          <a:off x="4350296" y="3284984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904216"/>
              </p:ext>
            </p:extLst>
          </p:nvPr>
        </p:nvGraphicFramePr>
        <p:xfrm>
          <a:off x="4350296" y="389952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669015"/>
              </p:ext>
            </p:extLst>
          </p:nvPr>
        </p:nvGraphicFramePr>
        <p:xfrm>
          <a:off x="4350296" y="450912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442622"/>
              </p:ext>
            </p:extLst>
          </p:nvPr>
        </p:nvGraphicFramePr>
        <p:xfrm>
          <a:off x="4350296" y="5123656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Line 82"/>
          <p:cNvSpPr>
            <a:spLocks noChangeShapeType="1"/>
          </p:cNvSpPr>
          <p:nvPr/>
        </p:nvSpPr>
        <p:spPr bwMode="auto">
          <a:xfrm flipV="1">
            <a:off x="2521496" y="3409759"/>
            <a:ext cx="18288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" name="Line 83"/>
          <p:cNvSpPr>
            <a:spLocks noChangeShapeType="1"/>
          </p:cNvSpPr>
          <p:nvPr/>
        </p:nvSpPr>
        <p:spPr bwMode="auto">
          <a:xfrm>
            <a:off x="2521496" y="371455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Line 84"/>
          <p:cNvSpPr>
            <a:spLocks noChangeShapeType="1"/>
          </p:cNvSpPr>
          <p:nvPr/>
        </p:nvSpPr>
        <p:spPr bwMode="auto">
          <a:xfrm>
            <a:off x="2521496" y="405745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Line 85"/>
          <p:cNvSpPr>
            <a:spLocks noChangeShapeType="1"/>
          </p:cNvSpPr>
          <p:nvPr/>
        </p:nvSpPr>
        <p:spPr bwMode="auto">
          <a:xfrm flipV="1">
            <a:off x="2521496" y="4352759"/>
            <a:ext cx="1828800" cy="123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Line 86"/>
          <p:cNvSpPr>
            <a:spLocks noChangeShapeType="1"/>
          </p:cNvSpPr>
          <p:nvPr/>
        </p:nvSpPr>
        <p:spPr bwMode="auto">
          <a:xfrm>
            <a:off x="2521496" y="474325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Line 87"/>
          <p:cNvSpPr>
            <a:spLocks noChangeShapeType="1"/>
          </p:cNvSpPr>
          <p:nvPr/>
        </p:nvSpPr>
        <p:spPr bwMode="auto">
          <a:xfrm>
            <a:off x="2521496" y="500995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Line 88"/>
          <p:cNvSpPr>
            <a:spLocks noChangeShapeType="1"/>
          </p:cNvSpPr>
          <p:nvPr/>
        </p:nvSpPr>
        <p:spPr bwMode="auto">
          <a:xfrm>
            <a:off x="2521496" y="5314759"/>
            <a:ext cx="1828800" cy="6609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6" name="Line 89"/>
          <p:cNvSpPr>
            <a:spLocks noChangeShapeType="1"/>
          </p:cNvSpPr>
          <p:nvPr/>
        </p:nvSpPr>
        <p:spPr bwMode="auto">
          <a:xfrm>
            <a:off x="2521496" y="5677267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7" name="Rectangle 16"/>
          <p:cNvSpPr/>
          <p:nvPr/>
        </p:nvSpPr>
        <p:spPr>
          <a:xfrm>
            <a:off x="827584" y="4119463"/>
            <a:ext cx="861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258489" y="4077072"/>
            <a:ext cx="119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ata file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94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Clustered vs. Un-clustered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30725"/>
          </a:xfrm>
        </p:spPr>
        <p:txBody>
          <a:bodyPr/>
          <a:lstStyle/>
          <a:p>
            <a:r>
              <a:rPr lang="en-US" dirty="0" smtClean="0"/>
              <a:t>Un-clustered indices </a:t>
            </a:r>
            <a:r>
              <a:rPr lang="en-US" dirty="0"/>
              <a:t>are </a:t>
            </a:r>
            <a:r>
              <a:rPr lang="en-US" dirty="0" smtClean="0"/>
              <a:t>better </a:t>
            </a:r>
            <a:r>
              <a:rPr lang="en-US" dirty="0"/>
              <a:t>for </a:t>
            </a:r>
            <a:r>
              <a:rPr lang="en-US" dirty="0" smtClean="0"/>
              <a:t>updates</a:t>
            </a:r>
          </a:p>
          <a:p>
            <a:r>
              <a:rPr lang="en-US" dirty="0" smtClean="0"/>
              <a:t>Example: Insert a new tuple with key value 35</a:t>
            </a:r>
            <a:endParaRPr lang="en-US" dirty="0"/>
          </a:p>
        </p:txBody>
      </p:sp>
      <p:graphicFrame>
        <p:nvGraphicFramePr>
          <p:cNvPr id="19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3632908"/>
              </p:ext>
            </p:extLst>
          </p:nvPr>
        </p:nvGraphicFramePr>
        <p:xfrm>
          <a:off x="1835696" y="3346879"/>
          <a:ext cx="914400" cy="2438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0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673385"/>
              </p:ext>
            </p:extLst>
          </p:nvPr>
        </p:nvGraphicFramePr>
        <p:xfrm>
          <a:off x="4350296" y="3284984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261841"/>
              </p:ext>
            </p:extLst>
          </p:nvPr>
        </p:nvGraphicFramePr>
        <p:xfrm>
          <a:off x="4350296" y="389952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70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003535"/>
              </p:ext>
            </p:extLst>
          </p:nvPr>
        </p:nvGraphicFramePr>
        <p:xfrm>
          <a:off x="4350296" y="4509120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60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458957"/>
              </p:ext>
            </p:extLst>
          </p:nvPr>
        </p:nvGraphicFramePr>
        <p:xfrm>
          <a:off x="4350296" y="5123656"/>
          <a:ext cx="2819400" cy="609600"/>
        </p:xfrm>
        <a:graphic>
          <a:graphicData uri="http://schemas.openxmlformats.org/drawingml/2006/table">
            <a:tbl>
              <a:tblPr/>
              <a:tblGrid>
                <a:gridCol w="437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Line 82"/>
          <p:cNvSpPr>
            <a:spLocks noChangeShapeType="1"/>
          </p:cNvSpPr>
          <p:nvPr/>
        </p:nvSpPr>
        <p:spPr bwMode="auto">
          <a:xfrm>
            <a:off x="2521496" y="3485958"/>
            <a:ext cx="1828800" cy="12573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5" name="Line 83"/>
          <p:cNvSpPr>
            <a:spLocks noChangeShapeType="1"/>
          </p:cNvSpPr>
          <p:nvPr/>
        </p:nvSpPr>
        <p:spPr bwMode="auto">
          <a:xfrm>
            <a:off x="2521496" y="371455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6" name="Line 84"/>
          <p:cNvSpPr>
            <a:spLocks noChangeShapeType="1"/>
          </p:cNvSpPr>
          <p:nvPr/>
        </p:nvSpPr>
        <p:spPr bwMode="auto">
          <a:xfrm>
            <a:off x="2521496" y="405745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Line 85"/>
          <p:cNvSpPr>
            <a:spLocks noChangeShapeType="1"/>
          </p:cNvSpPr>
          <p:nvPr/>
        </p:nvSpPr>
        <p:spPr bwMode="auto">
          <a:xfrm>
            <a:off x="2521496" y="4476558"/>
            <a:ext cx="1828800" cy="11126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8" name="Line 86"/>
          <p:cNvSpPr>
            <a:spLocks noChangeShapeType="1"/>
          </p:cNvSpPr>
          <p:nvPr/>
        </p:nvSpPr>
        <p:spPr bwMode="auto">
          <a:xfrm>
            <a:off x="2521496" y="4743259"/>
            <a:ext cx="1762472" cy="571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9" name="Line 87"/>
          <p:cNvSpPr>
            <a:spLocks noChangeShapeType="1"/>
          </p:cNvSpPr>
          <p:nvPr/>
        </p:nvSpPr>
        <p:spPr bwMode="auto">
          <a:xfrm>
            <a:off x="2521496" y="5009959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Line 88"/>
          <p:cNvSpPr>
            <a:spLocks noChangeShapeType="1"/>
          </p:cNvSpPr>
          <p:nvPr/>
        </p:nvSpPr>
        <p:spPr bwMode="auto">
          <a:xfrm flipV="1">
            <a:off x="2521496" y="4414659"/>
            <a:ext cx="1828800" cy="900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1" name="Line 89"/>
          <p:cNvSpPr>
            <a:spLocks noChangeShapeType="1"/>
          </p:cNvSpPr>
          <p:nvPr/>
        </p:nvSpPr>
        <p:spPr bwMode="auto">
          <a:xfrm flipV="1">
            <a:off x="2521496" y="3485959"/>
            <a:ext cx="1828800" cy="21913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" name="Rectangle 31"/>
          <p:cNvSpPr/>
          <p:nvPr/>
        </p:nvSpPr>
        <p:spPr>
          <a:xfrm>
            <a:off x="827584" y="4119463"/>
            <a:ext cx="861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7258489" y="4077072"/>
            <a:ext cx="119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ata file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398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Clustered vs. Un-clustered (cont.)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can be at most one clustered index on a data file (a table)</a:t>
            </a:r>
          </a:p>
          <a:p>
            <a:r>
              <a:rPr lang="en-US" dirty="0"/>
              <a:t>Clustered index: Tuples</a:t>
            </a:r>
            <a:r>
              <a:rPr lang="en-US" dirty="0" smtClean="0"/>
              <a:t> </a:t>
            </a:r>
            <a:r>
              <a:rPr lang="en-US" dirty="0"/>
              <a:t>in the data </a:t>
            </a:r>
            <a:r>
              <a:rPr lang="en-US" dirty="0" smtClean="0"/>
              <a:t>file </a:t>
            </a:r>
            <a:r>
              <a:rPr lang="en-US" dirty="0"/>
              <a:t>are sorted in the same order as the entries in the index</a:t>
            </a:r>
            <a:endParaRPr lang="en-US" dirty="0" smtClean="0"/>
          </a:p>
          <a:p>
            <a:r>
              <a:rPr lang="en-US" dirty="0" smtClean="0"/>
              <a:t>But there can be multiple un-clustered indices on a data file (a table)</a:t>
            </a:r>
          </a:p>
          <a:p>
            <a:r>
              <a:rPr lang="en-US" dirty="0"/>
              <a:t>Un-clustered index: Tuples in the data </a:t>
            </a:r>
            <a:r>
              <a:rPr lang="en-US" dirty="0" smtClean="0"/>
              <a:t>file </a:t>
            </a:r>
            <a:r>
              <a:rPr lang="en-US" dirty="0"/>
              <a:t>are not sorted in the same order as the entries in the index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0345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Most Commonly Used Indices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B-trees (more specifically, B</a:t>
            </a:r>
            <a:r>
              <a:rPr lang="en-US" dirty="0" smtClean="0">
                <a:solidFill>
                  <a:srgbClr val="C00000"/>
                </a:solidFill>
              </a:rPr>
              <a:t>+</a:t>
            </a:r>
            <a:r>
              <a:rPr lang="en-US" dirty="0" smtClean="0"/>
              <a:t>-trees)</a:t>
            </a:r>
          </a:p>
          <a:p>
            <a:r>
              <a:rPr lang="en-US" dirty="0" smtClean="0"/>
              <a:t>Hash tables</a:t>
            </a:r>
          </a:p>
          <a:p>
            <a:r>
              <a:rPr lang="en-US" dirty="0" smtClean="0"/>
              <a:t>Both can be implemented as clustered or un-clustered </a:t>
            </a:r>
            <a:r>
              <a:rPr lang="en-US" dirty="0" smtClean="0"/>
              <a:t>indices</a:t>
            </a:r>
          </a:p>
          <a:p>
            <a:r>
              <a:rPr lang="en-US" dirty="0" smtClean="0"/>
              <a:t>We will talk about B+-trees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96929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 for B-trees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38337"/>
            <a:ext cx="8229600" cy="241865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We have a data files that contains millions of tuples</a:t>
            </a:r>
          </a:p>
          <a:p>
            <a:r>
              <a:rPr lang="en-US" dirty="0" smtClean="0"/>
              <a:t>The index would contains millions of keys, i.e., scanning the index is still too slow</a:t>
            </a:r>
          </a:p>
          <a:p>
            <a:r>
              <a:rPr lang="en-US" dirty="0" smtClean="0"/>
              <a:t>Idea: build a secondary index over the index</a:t>
            </a:r>
          </a:p>
          <a:p>
            <a:r>
              <a:rPr lang="en-US" dirty="0" smtClean="0"/>
              <a:t>What if the secondary index is still too </a:t>
            </a:r>
            <a:r>
              <a:rPr lang="en-US" dirty="0" smtClean="0"/>
              <a:t>large?</a:t>
            </a:r>
            <a:endParaRPr lang="en-US" dirty="0" smtClean="0"/>
          </a:p>
          <a:p>
            <a:r>
              <a:rPr lang="en-US" dirty="0" smtClean="0"/>
              <a:t>Idea: build a third index over the secondary index,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B-tree: an unified version of multiple-layered indices</a:t>
            </a:r>
          </a:p>
          <a:p>
            <a:endParaRPr lang="en-SG" dirty="0"/>
          </a:p>
        </p:txBody>
      </p:sp>
      <p:graphicFrame>
        <p:nvGraphicFramePr>
          <p:cNvPr id="4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799394"/>
              </p:ext>
            </p:extLst>
          </p:nvPr>
        </p:nvGraphicFramePr>
        <p:xfrm>
          <a:off x="3873624" y="3721968"/>
          <a:ext cx="91440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72300"/>
              </p:ext>
            </p:extLst>
          </p:nvPr>
        </p:nvGraphicFramePr>
        <p:xfrm>
          <a:off x="6012159" y="3717032"/>
          <a:ext cx="1883017" cy="609600"/>
        </p:xfrm>
        <a:graphic>
          <a:graphicData uri="http://schemas.openxmlformats.org/drawingml/2006/table">
            <a:tbl>
              <a:tblPr/>
              <a:tblGrid>
                <a:gridCol w="936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9201928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2312084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Line 82"/>
          <p:cNvSpPr>
            <a:spLocks noChangeShapeType="1"/>
          </p:cNvSpPr>
          <p:nvPr/>
        </p:nvSpPr>
        <p:spPr bwMode="auto">
          <a:xfrm>
            <a:off x="4543400" y="3918006"/>
            <a:ext cx="1468760" cy="21032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" name="Line 83"/>
          <p:cNvSpPr>
            <a:spLocks noChangeShapeType="1"/>
          </p:cNvSpPr>
          <p:nvPr/>
        </p:nvSpPr>
        <p:spPr bwMode="auto">
          <a:xfrm>
            <a:off x="4543400" y="4146607"/>
            <a:ext cx="146876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1" name="Line 84"/>
          <p:cNvSpPr>
            <a:spLocks noChangeShapeType="1"/>
          </p:cNvSpPr>
          <p:nvPr/>
        </p:nvSpPr>
        <p:spPr bwMode="auto">
          <a:xfrm>
            <a:off x="4543400" y="4481659"/>
            <a:ext cx="1540768" cy="25359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7" name="Rectangle 16"/>
          <p:cNvSpPr/>
          <p:nvPr/>
        </p:nvSpPr>
        <p:spPr>
          <a:xfrm>
            <a:off x="3851920" y="3255367"/>
            <a:ext cx="861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index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28184" y="3255367"/>
            <a:ext cx="11959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ata file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9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7426598"/>
              </p:ext>
            </p:extLst>
          </p:nvPr>
        </p:nvGraphicFramePr>
        <p:xfrm>
          <a:off x="6012160" y="5555704"/>
          <a:ext cx="1883017" cy="609600"/>
        </p:xfrm>
        <a:graphic>
          <a:graphicData uri="http://schemas.openxmlformats.org/drawingml/2006/table">
            <a:tbl>
              <a:tblPr/>
              <a:tblGrid>
                <a:gridCol w="936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8209812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1234859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 rot="5400000">
            <a:off x="6423656" y="4429334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1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374900"/>
              </p:ext>
            </p:extLst>
          </p:nvPr>
        </p:nvGraphicFramePr>
        <p:xfrm>
          <a:off x="3873624" y="5250904"/>
          <a:ext cx="91440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 rot="5400000">
            <a:off x="4204182" y="4457664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3" name="Line 84"/>
          <p:cNvSpPr>
            <a:spLocks noChangeShapeType="1"/>
          </p:cNvSpPr>
          <p:nvPr/>
        </p:nvSpPr>
        <p:spPr bwMode="auto">
          <a:xfrm flipV="1">
            <a:off x="4543400" y="3879907"/>
            <a:ext cx="1468760" cy="21413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" name="Line 84"/>
          <p:cNvSpPr>
            <a:spLocks noChangeShapeType="1"/>
          </p:cNvSpPr>
          <p:nvPr/>
        </p:nvSpPr>
        <p:spPr bwMode="auto">
          <a:xfrm flipV="1">
            <a:off x="4543400" y="5733254"/>
            <a:ext cx="146876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5" name="Line 84"/>
          <p:cNvSpPr>
            <a:spLocks noChangeShapeType="1"/>
          </p:cNvSpPr>
          <p:nvPr/>
        </p:nvSpPr>
        <p:spPr bwMode="auto">
          <a:xfrm flipV="1">
            <a:off x="4543400" y="4890999"/>
            <a:ext cx="1540768" cy="48221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aphicFrame>
        <p:nvGraphicFramePr>
          <p:cNvPr id="26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414183"/>
              </p:ext>
            </p:extLst>
          </p:nvPr>
        </p:nvGraphicFramePr>
        <p:xfrm>
          <a:off x="1713384" y="3721968"/>
          <a:ext cx="91440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Line 82"/>
          <p:cNvSpPr>
            <a:spLocks noChangeShapeType="1"/>
          </p:cNvSpPr>
          <p:nvPr/>
        </p:nvSpPr>
        <p:spPr bwMode="auto">
          <a:xfrm flipV="1">
            <a:off x="2383160" y="3879907"/>
            <a:ext cx="1468760" cy="38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8" name="Line 83"/>
          <p:cNvSpPr>
            <a:spLocks noChangeShapeType="1"/>
          </p:cNvSpPr>
          <p:nvPr/>
        </p:nvSpPr>
        <p:spPr bwMode="auto">
          <a:xfrm>
            <a:off x="2383160" y="4146607"/>
            <a:ext cx="1697558" cy="7727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9" name="Line 84"/>
          <p:cNvSpPr>
            <a:spLocks noChangeShapeType="1"/>
          </p:cNvSpPr>
          <p:nvPr/>
        </p:nvSpPr>
        <p:spPr bwMode="auto">
          <a:xfrm>
            <a:off x="2383160" y="4481658"/>
            <a:ext cx="1468760" cy="15396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0" name="Rectangle 29"/>
          <p:cNvSpPr/>
          <p:nvPr/>
        </p:nvSpPr>
        <p:spPr>
          <a:xfrm>
            <a:off x="899592" y="4688496"/>
            <a:ext cx="22131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econdary index</a:t>
            </a:r>
            <a:endParaRPr lang="en-SG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3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7" grpId="0"/>
      <p:bldP spid="22" grpId="0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8867546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4385402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625675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6864080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2298443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6136397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2643858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1755274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107504" y="2054052"/>
            <a:ext cx="576064" cy="58286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753498"/>
              </p:ext>
            </p:extLst>
          </p:nvPr>
        </p:nvGraphicFramePr>
        <p:xfrm>
          <a:off x="683568" y="2611760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184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005147"/>
              </p:ext>
            </p:extLst>
          </p:nvPr>
        </p:nvGraphicFramePr>
        <p:xfrm>
          <a:off x="1951249" y="2611760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184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102254"/>
              </p:ext>
            </p:extLst>
          </p:nvPr>
        </p:nvGraphicFramePr>
        <p:xfrm>
          <a:off x="3225078" y="2611760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184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1" name="Straight Arrow Connector 50"/>
          <p:cNvCxnSpPr>
            <a:endCxn id="44" idx="0"/>
          </p:cNvCxnSpPr>
          <p:nvPr/>
        </p:nvCxnSpPr>
        <p:spPr>
          <a:xfrm>
            <a:off x="683568" y="2060848"/>
            <a:ext cx="648072" cy="5509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1619672" y="2132856"/>
            <a:ext cx="360040" cy="47890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2483768" y="2050876"/>
            <a:ext cx="1135731" cy="56088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Table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572127"/>
              </p:ext>
            </p:extLst>
          </p:nvPr>
        </p:nvGraphicFramePr>
        <p:xfrm>
          <a:off x="4499992" y="2611760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184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" name="Table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505853"/>
              </p:ext>
            </p:extLst>
          </p:nvPr>
        </p:nvGraphicFramePr>
        <p:xfrm>
          <a:off x="5767673" y="2611760"/>
          <a:ext cx="1296144" cy="457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16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3184">
                <a:tc>
                  <a:txBody>
                    <a:bodyPr/>
                    <a:lstStyle/>
                    <a:p>
                      <a:pPr algn="ctr"/>
                      <a:endParaRPr lang="en-SG" sz="2400" b="0" baseline="-2500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G" sz="2400" b="0" dirty="0">
                        <a:latin typeface="Comic Sans MS" pitchFamily="66" charset="0"/>
                      </a:endParaRPr>
                    </a:p>
                  </a:txBody>
                  <a:tcPr marL="0" marR="0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7200900" y="2609732"/>
            <a:ext cx="14125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omic Sans MS" pitchFamily="66" charset="0"/>
              </a:rPr>
              <a:t>d</a:t>
            </a:r>
            <a:r>
              <a:rPr lang="en-US" sz="2400" dirty="0" smtClean="0">
                <a:latin typeface="Comic Sans MS" pitchFamily="66" charset="0"/>
              </a:rPr>
              <a:t>ata file</a:t>
            </a:r>
            <a:endParaRPr lang="en-SG" sz="2400" dirty="0">
              <a:latin typeface="Comic Sans MS" pitchFamily="66" charset="0"/>
            </a:endParaRPr>
          </a:p>
        </p:txBody>
      </p:sp>
      <p:cxnSp>
        <p:nvCxnSpPr>
          <p:cNvPr id="67" name="Straight Arrow Connector 66"/>
          <p:cNvCxnSpPr/>
          <p:nvPr/>
        </p:nvCxnSpPr>
        <p:spPr>
          <a:xfrm flipH="1">
            <a:off x="2743198" y="2132856"/>
            <a:ext cx="1066803" cy="47890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4343400" y="2050876"/>
            <a:ext cx="588640" cy="56088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>
            <a:off x="5334000" y="2132856"/>
            <a:ext cx="304801" cy="47890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>
            <a:off x="6172201" y="2060848"/>
            <a:ext cx="127991" cy="5509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>
            <a:off x="6732240" y="2132856"/>
            <a:ext cx="720081" cy="47890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 bwMode="auto">
          <a:xfrm>
            <a:off x="107504" y="2420888"/>
            <a:ext cx="8856984" cy="0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rgbClr val="008000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>
          <a:xfrm>
            <a:off x="457200" y="4149080"/>
            <a:ext cx="8229600" cy="1981845"/>
          </a:xfrm>
        </p:spPr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996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579296" cy="388843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Each node is a block. The highest level has only one node.</a:t>
            </a:r>
          </a:p>
          <a:p>
            <a:r>
              <a:rPr lang="en-US" dirty="0" smtClean="0"/>
              <a:t>Each node has the space for </a:t>
            </a:r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keys and </a:t>
            </a:r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+ 1 pointers</a:t>
            </a:r>
          </a:p>
          <a:p>
            <a:r>
              <a:rPr lang="en-US" dirty="0" smtClean="0"/>
              <a:t>Example: d = 3</a:t>
            </a:r>
          </a:p>
          <a:p>
            <a:pPr lvl="1"/>
            <a:r>
              <a:rPr lang="en-US" dirty="0" smtClean="0"/>
              <a:t>Blue rectangles: space for keys</a:t>
            </a:r>
          </a:p>
          <a:p>
            <a:pPr lvl="1"/>
            <a:r>
              <a:rPr lang="en-US" dirty="0" smtClean="0"/>
              <a:t>White rectangles: space for pointers</a:t>
            </a:r>
            <a:endParaRPr lang="en-US" dirty="0"/>
          </a:p>
          <a:p>
            <a:r>
              <a:rPr lang="en-US" dirty="0" smtClean="0"/>
              <a:t>Pointers in any intermediate node </a:t>
            </a:r>
            <a:br>
              <a:rPr lang="en-US" dirty="0" smtClean="0"/>
            </a:br>
            <a:r>
              <a:rPr lang="en-US" dirty="0" smtClean="0"/>
              <a:t>(i.e., nodes NOT at the lowest level):</a:t>
            </a:r>
          </a:p>
          <a:p>
            <a:pPr lvl="1"/>
            <a:r>
              <a:rPr lang="en-US" dirty="0" smtClean="0"/>
              <a:t>Each points to a node in the next level</a:t>
            </a:r>
          </a:p>
          <a:p>
            <a:r>
              <a:rPr lang="en-US" dirty="0" smtClean="0"/>
              <a:t>Pointers in any leaf node </a:t>
            </a:r>
            <a:br>
              <a:rPr lang="en-US" dirty="0" smtClean="0"/>
            </a:br>
            <a:r>
              <a:rPr lang="en-US" dirty="0" smtClean="0"/>
              <a:t>(i.e., nodes at the lowest level):</a:t>
            </a:r>
          </a:p>
          <a:p>
            <a:pPr lvl="1"/>
            <a:r>
              <a:rPr lang="en-US" dirty="0" smtClean="0"/>
              <a:t>Each of the fist d pointers points to a tuple block</a:t>
            </a:r>
          </a:p>
          <a:p>
            <a:pPr lvl="1"/>
            <a:r>
              <a:rPr lang="en-US" dirty="0" smtClean="0"/>
              <a:t>The last one (i.e., the </a:t>
            </a:r>
            <a:r>
              <a:rPr lang="en-US" dirty="0" smtClean="0">
                <a:solidFill>
                  <a:srgbClr val="C00000"/>
                </a:solidFill>
              </a:rPr>
              <a:t>sibling pointer</a:t>
            </a:r>
            <a:r>
              <a:rPr lang="en-US" dirty="0" smtClean="0"/>
              <a:t>) points to the next leaf node</a:t>
            </a:r>
            <a:endParaRPr lang="en-SG" dirty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4655693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7007981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2302902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9607747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6928034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2320361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1276553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9615608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0144820"/>
              </p:ext>
            </p:extLst>
          </p:nvPr>
        </p:nvGraphicFramePr>
        <p:xfrm>
          <a:off x="5559899" y="3429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19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579296" cy="388843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Crucial property of a B-tree:</a:t>
            </a:r>
          </a:p>
          <a:p>
            <a:pPr lvl="1"/>
            <a:r>
              <a:rPr lang="en-US" dirty="0" smtClean="0"/>
              <a:t>keys at the lowest level are sorted</a:t>
            </a:r>
          </a:p>
          <a:p>
            <a:pPr lvl="1"/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be a key in an intermediate node, and </a:t>
            </a:r>
            <a:r>
              <a:rPr lang="en-US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be the pointer to the right of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always equal the smallest key value in the sub-tree pointed to by </a:t>
            </a:r>
            <a:r>
              <a:rPr lang="en-US" dirty="0" smtClean="0">
                <a:solidFill>
                  <a:srgbClr val="C00000"/>
                </a:solidFill>
              </a:rPr>
              <a:t>p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In the root node, we have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70; the pointer to the right of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points to a sub-tree in which the smallest key value is 70</a:t>
            </a:r>
            <a:endParaRPr lang="en-SG" dirty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6120068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0662027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8436936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1112838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607539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6978110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7129609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6921735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8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075240" cy="3816424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Search in a B-tree for key value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 smtClean="0"/>
              <a:t>(assuming that all keys are different)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Look at the root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Scan the keys in node from left to right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Stop when we see a key no </a:t>
            </a:r>
            <a:r>
              <a:rPr lang="en-US" dirty="0" smtClean="0"/>
              <a:t>less </a:t>
            </a:r>
            <a:r>
              <a:rPr lang="en-US" dirty="0"/>
              <a:t>than </a:t>
            </a:r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, follow the </a:t>
            </a:r>
            <a:r>
              <a:rPr lang="en-US" dirty="0" smtClean="0"/>
              <a:t>pointer to the left of the key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</a:t>
            </a:r>
            <a:r>
              <a:rPr lang="en-US" dirty="0"/>
              <a:t>such a key does not </a:t>
            </a:r>
            <a:r>
              <a:rPr lang="en-US" dirty="0" smtClean="0"/>
              <a:t>exist, follow </a:t>
            </a:r>
            <a:r>
              <a:rPr lang="en-US" dirty="0"/>
              <a:t>the last pointer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Repeat </a:t>
            </a:r>
            <a:r>
              <a:rPr lang="en-US" dirty="0"/>
              <a:t>steps </a:t>
            </a:r>
            <a:r>
              <a:rPr lang="en-US" dirty="0" smtClean="0"/>
              <a:t>2-4 until we get to</a:t>
            </a:r>
            <a:r>
              <a:rPr lang="en-US" dirty="0"/>
              <a:t> a </a:t>
            </a:r>
            <a:r>
              <a:rPr lang="en-US" dirty="0" smtClean="0"/>
              <a:t>leaf </a:t>
            </a:r>
            <a:r>
              <a:rPr lang="en-US" dirty="0"/>
              <a:t>node</a:t>
            </a:r>
          </a:p>
          <a:p>
            <a:r>
              <a:rPr lang="en-US" dirty="0" smtClean="0"/>
              <a:t>Example: search for a tuple with key 40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Root: </a:t>
            </a:r>
            <a:r>
              <a:rPr lang="en-US" dirty="0"/>
              <a:t>	</a:t>
            </a:r>
            <a:r>
              <a:rPr lang="en-US" dirty="0" smtClean="0"/>
              <a:t>Stop at 70, follow the left pointer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Level 1:	Stop at 50, follow the left pointer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Level 2:	Stop at 40, follow the left pointer, done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SG" dirty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8503902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3310324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0358794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1012864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8997685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4702893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5117984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4411821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80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19256" cy="388843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Search in a B-tree for key value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/>
              <a:t>(assuming that all keys are different)</a:t>
            </a:r>
            <a:endParaRPr lang="en-US" dirty="0" smtClean="0"/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Look at the root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Scan the keys in node from left to right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Stop when we see a key no </a:t>
            </a:r>
            <a:r>
              <a:rPr lang="en-US" dirty="0" smtClean="0"/>
              <a:t>less </a:t>
            </a:r>
            <a:r>
              <a:rPr lang="en-US" dirty="0"/>
              <a:t>than </a:t>
            </a:r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, follow the pointer to the left of the key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such a key does not exist, follow the last pointer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Repeat steps 2-4 until we get to a</a:t>
            </a:r>
            <a:r>
              <a:rPr lang="en-US" dirty="0" smtClean="0"/>
              <a:t> leaf node</a:t>
            </a:r>
            <a:endParaRPr lang="en-US" dirty="0"/>
          </a:p>
          <a:p>
            <a:r>
              <a:rPr lang="en-US" dirty="0" smtClean="0"/>
              <a:t>Example: search for a tuple with key 60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Root: </a:t>
            </a:r>
            <a:r>
              <a:rPr lang="en-US" dirty="0"/>
              <a:t>	</a:t>
            </a:r>
            <a:r>
              <a:rPr lang="en-US" dirty="0" smtClean="0"/>
              <a:t>Stop at 70, follow the left pointer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Level 1: 	Stop at 50, follow the last pointer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Level 2:	Stop at 60, follow the left pointer, done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SG" dirty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3207436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1819291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3791084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252057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7571931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5972487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3610144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522280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60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19256" cy="3888432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Search in a B-tree for key value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dirty="0"/>
              <a:t>(assuming that all keys are different)</a:t>
            </a:r>
            <a:endParaRPr lang="en-US" dirty="0" smtClean="0"/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Look at the root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Scan the keys in node from left to right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Stop when we see a key no less than </a:t>
            </a:r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, follow the pointer to the left of the key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such a key does not exist, follow the last pointer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Repeat steps 2-4 until we get to a</a:t>
            </a:r>
            <a:r>
              <a:rPr lang="en-US" dirty="0" smtClean="0"/>
              <a:t> leaf node</a:t>
            </a:r>
            <a:endParaRPr lang="en-US" dirty="0"/>
          </a:p>
          <a:p>
            <a:r>
              <a:rPr lang="en-US" dirty="0" smtClean="0"/>
              <a:t>Why does it work?</a:t>
            </a:r>
          </a:p>
          <a:p>
            <a:r>
              <a:rPr lang="en-US" dirty="0"/>
              <a:t>Crucial property of a B-tree:</a:t>
            </a:r>
          </a:p>
          <a:p>
            <a:pPr lvl="1"/>
            <a:r>
              <a:rPr lang="en-US" dirty="0"/>
              <a:t>Let </a:t>
            </a:r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 be a key in an intermediate node, and </a:t>
            </a:r>
            <a:r>
              <a:rPr lang="en-US" dirty="0">
                <a:solidFill>
                  <a:srgbClr val="C00000"/>
                </a:solidFill>
              </a:rPr>
              <a:t>p</a:t>
            </a:r>
            <a:r>
              <a:rPr lang="en-US" dirty="0"/>
              <a:t> be the pointer to the right of </a:t>
            </a:r>
            <a:r>
              <a:rPr lang="en-US" dirty="0">
                <a:solidFill>
                  <a:srgbClr val="C00000"/>
                </a:solidFill>
              </a:rPr>
              <a:t>v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 always equal the smallest key value in the sub-tree pointed to by </a:t>
            </a:r>
            <a:r>
              <a:rPr lang="en-US" dirty="0">
                <a:solidFill>
                  <a:srgbClr val="C00000"/>
                </a:solidFill>
              </a:rPr>
              <a:t>p</a:t>
            </a:r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6913574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5915599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4633116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9601984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4027384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1177576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9475688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0790581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57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19256" cy="3888432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Search in a B-tree for key value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: (when </a:t>
            </a:r>
            <a:r>
              <a:rPr lang="en-US" dirty="0"/>
              <a:t>keys </a:t>
            </a:r>
            <a:r>
              <a:rPr lang="en-US" dirty="0" smtClean="0"/>
              <a:t>can be the same)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Look at the root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Scan the keys in node from left to right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Stop when we see a key no less than </a:t>
            </a:r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, follow the pointer to the left of the key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such a key does not exist, follow the last pointer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Repeat steps 2-4 until we get to the </a:t>
            </a:r>
            <a:r>
              <a:rPr lang="en-US" dirty="0" smtClean="0"/>
              <a:t>leaf nodes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>
                <a:solidFill>
                  <a:srgbClr val="C00000"/>
                </a:solidFill>
              </a:rPr>
              <a:t>Start from the node, scan to </a:t>
            </a:r>
            <a:r>
              <a:rPr lang="en-US" dirty="0" smtClean="0">
                <a:solidFill>
                  <a:srgbClr val="C00000"/>
                </a:solidFill>
              </a:rPr>
              <a:t>the right </a:t>
            </a:r>
            <a:r>
              <a:rPr lang="en-US" dirty="0">
                <a:solidFill>
                  <a:srgbClr val="C00000"/>
                </a:solidFill>
              </a:rPr>
              <a:t>(following the sibling pointer), until we see a key value larger than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70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694684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4732230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0759849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3197446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6595206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7145701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6830674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2210097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30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744416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Search in a B-tree for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: Why is it fast?</a:t>
            </a:r>
          </a:p>
          <a:p>
            <a:r>
              <a:rPr lang="en-US" dirty="0" smtClean="0"/>
              <a:t>Number of nodes visited during a search </a:t>
            </a:r>
            <a:br>
              <a:rPr lang="en-US" dirty="0" smtClean="0"/>
            </a:br>
            <a:r>
              <a:rPr lang="en-US" dirty="0" smtClean="0"/>
              <a:t>≈ number of levels in the tree</a:t>
            </a:r>
          </a:p>
          <a:p>
            <a:r>
              <a:rPr lang="en-US" dirty="0" smtClean="0"/>
              <a:t>The number of levels in a tree is small in practice (usually &lt; 10)</a:t>
            </a:r>
          </a:p>
          <a:p>
            <a:r>
              <a:rPr lang="en-US" dirty="0" smtClean="0"/>
              <a:t>In contrast, the data file can contain thousands of blocks</a:t>
            </a:r>
          </a:p>
          <a:p>
            <a:r>
              <a:rPr lang="en-US" dirty="0" smtClean="0"/>
              <a:t>Hence, searching a tuple using a B-tree is usually much faster than scanning the data file</a:t>
            </a:r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509596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4725812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4256419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3717012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6428005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204937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4583405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831129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74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744416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Search in a B-tree for keys in a range [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]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Look at the root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Scan the keys in node from left to right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Stop when we see a key no less than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, </a:t>
            </a:r>
            <a:r>
              <a:rPr lang="en-US" dirty="0"/>
              <a:t>follow the pointer to the left of the key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If such a key does not exist, follow the last pointer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Repeat steps 2-4 until we get to </a:t>
            </a:r>
            <a:r>
              <a:rPr lang="en-US" dirty="0" smtClean="0"/>
              <a:t>a </a:t>
            </a:r>
            <a:r>
              <a:rPr lang="en-US" dirty="0"/>
              <a:t>leaf </a:t>
            </a:r>
            <a:r>
              <a:rPr lang="en-US" dirty="0" smtClean="0"/>
              <a:t>node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>
                <a:solidFill>
                  <a:srgbClr val="C00000"/>
                </a:solidFill>
              </a:rPr>
              <a:t>Start from the node, scan to the right </a:t>
            </a:r>
            <a:r>
              <a:rPr lang="en-US" dirty="0">
                <a:solidFill>
                  <a:srgbClr val="C00000"/>
                </a:solidFill>
              </a:rPr>
              <a:t>(following the sibling pointer), until we see a key value larger than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40,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= 70</a:t>
            </a:r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646365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9871521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9217843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0159455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1418884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314976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9953539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0339264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010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74441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Search in a B-tree for keys in a range [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]</a:t>
            </a:r>
            <a:endParaRPr lang="en-US" dirty="0"/>
          </a:p>
          <a:p>
            <a:r>
              <a:rPr lang="en-US" dirty="0" smtClean="0"/>
              <a:t>The number of nodes that need to visited depends on the range [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]</a:t>
            </a:r>
          </a:p>
          <a:p>
            <a:r>
              <a:rPr lang="en-US" dirty="0" smtClean="0"/>
              <a:t>If </a:t>
            </a:r>
            <a:r>
              <a:rPr lang="en-US" dirty="0"/>
              <a:t>[</a:t>
            </a:r>
            <a:r>
              <a:rPr lang="en-US" dirty="0">
                <a:solidFill>
                  <a:srgbClr val="C00000"/>
                </a:solidFill>
              </a:rPr>
              <a:t>x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y</a:t>
            </a:r>
            <a:r>
              <a:rPr lang="en-US" dirty="0" smtClean="0"/>
              <a:t>] includes most tuples, then using the B-tree is not much better than scanning the data file</a:t>
            </a:r>
          </a:p>
          <a:p>
            <a:r>
              <a:rPr lang="en-US" dirty="0" smtClean="0"/>
              <a:t>Conclusion: B-tree is good for range queries that are </a:t>
            </a:r>
            <a:r>
              <a:rPr lang="en-US" dirty="0" smtClean="0">
                <a:solidFill>
                  <a:srgbClr val="C00000"/>
                </a:solidFill>
              </a:rPr>
              <a:t>selective</a:t>
            </a:r>
            <a:r>
              <a:rPr lang="en-US" dirty="0" smtClean="0"/>
              <a:t> (i.e., queries whose results do not contain too many tuples)</a:t>
            </a:r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7733406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7810909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2163747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4910293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6568287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4036766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444455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9409416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96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19256" cy="403244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Inserting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</a:t>
            </a:r>
            <a:r>
              <a:rPr lang="en-US" dirty="0" smtClean="0"/>
              <a:t>into a </a:t>
            </a:r>
            <a:r>
              <a:rPr lang="en-US" dirty="0" smtClean="0"/>
              <a:t>B-tree: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Start from the root, “pretend” that we are searching for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, until we get to a leaf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node has an empty space for a key, insert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into the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Otherwise, split the node into two before inserting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(details coming shortly)</a:t>
            </a:r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65</a:t>
            </a:r>
          </a:p>
          <a:p>
            <a:pPr lvl="1"/>
            <a:r>
              <a:rPr lang="en-US" dirty="0" smtClean="0"/>
              <a:t>Pretend that we are searching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65</a:t>
            </a:r>
          </a:p>
          <a:p>
            <a:pPr lvl="1"/>
            <a:r>
              <a:rPr lang="en-US" dirty="0" smtClean="0"/>
              <a:t>This gets us to the leaf node that contains 50 and 60</a:t>
            </a:r>
          </a:p>
          <a:p>
            <a:pPr lvl="1"/>
            <a:r>
              <a:rPr lang="en-US" dirty="0" smtClean="0"/>
              <a:t>There is an empty key space in the node; set it to 65 and change the pointer accordingly; done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4460964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1850141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0305681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2169674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0019510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9855087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1439192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9774127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59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19256" cy="403244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Inserting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</a:t>
            </a:r>
            <a:r>
              <a:rPr lang="en-US" dirty="0"/>
              <a:t>into a </a:t>
            </a:r>
            <a:r>
              <a:rPr lang="en-US" dirty="0" smtClean="0"/>
              <a:t>B-tree: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Start from the root, “pretend” that we are searching for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, until we get to a leaf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node has an empty space for a key, insert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into the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Otherwise, split the node into two before inserting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(details coming shortly)</a:t>
            </a:r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65</a:t>
            </a:r>
          </a:p>
          <a:p>
            <a:pPr lvl="1"/>
            <a:r>
              <a:rPr lang="en-US" dirty="0" smtClean="0"/>
              <a:t>Pretend that we are searching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65</a:t>
            </a:r>
          </a:p>
          <a:p>
            <a:pPr lvl="1"/>
            <a:r>
              <a:rPr lang="en-US" dirty="0" smtClean="0"/>
              <a:t>This gets us to the leaf node that contains 50 and 60</a:t>
            </a:r>
          </a:p>
          <a:p>
            <a:pPr lvl="1"/>
            <a:r>
              <a:rPr lang="en-US" dirty="0" smtClean="0"/>
              <a:t>There is an empty key space in the node; set it to 65 and change the pointer accordingly; done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7219708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230625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5938431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432147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rgbClr val="FFFF00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rgbClr val="FFFF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0158647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1882410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5215793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79047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102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19256" cy="403244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Inserting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</a:t>
            </a:r>
            <a:r>
              <a:rPr lang="en-US" dirty="0"/>
              <a:t>into a </a:t>
            </a:r>
            <a:r>
              <a:rPr lang="en-US" dirty="0" smtClean="0"/>
              <a:t>B-tree: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Start from the root, “pretend” that we are searching for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, until we get to a leaf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node has an empty space for a key, insert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into the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Otherwise, split the node into two before inserting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(details coming shortly)</a:t>
            </a:r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85</a:t>
            </a:r>
          </a:p>
          <a:p>
            <a:pPr lvl="1"/>
            <a:r>
              <a:rPr lang="en-US" dirty="0" smtClean="0"/>
              <a:t>Pretend that we are searching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85</a:t>
            </a:r>
          </a:p>
          <a:p>
            <a:pPr lvl="1"/>
            <a:r>
              <a:rPr lang="en-US" dirty="0" smtClean="0"/>
              <a:t>This gets us to the leaf node that contains 70 and 80</a:t>
            </a:r>
          </a:p>
          <a:p>
            <a:pPr lvl="1"/>
            <a:r>
              <a:rPr lang="en-US" dirty="0" smtClean="0"/>
              <a:t>There is an empty key space in the node; set it to 85 and change the pointer accordingly; done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5800356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821939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8532435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659974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rgbClr val="FFFF00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rgbClr val="FFFF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936548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6353194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9198366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5289521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868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19256" cy="403244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Inserting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</a:t>
            </a:r>
            <a:r>
              <a:rPr lang="en-US" dirty="0"/>
              <a:t>into a </a:t>
            </a:r>
            <a:r>
              <a:rPr lang="en-US" dirty="0" smtClean="0"/>
              <a:t>B-tree: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Start from the root, “pretend” that we are searching for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, until we get to a leaf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node has an empty space for a key, insert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into the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Otherwise, split the node into two before inserting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(details coming shortly)</a:t>
            </a:r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85</a:t>
            </a:r>
          </a:p>
          <a:p>
            <a:pPr lvl="1"/>
            <a:r>
              <a:rPr lang="en-US" dirty="0" smtClean="0"/>
              <a:t>Pretend that we are searching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85</a:t>
            </a:r>
          </a:p>
          <a:p>
            <a:pPr lvl="1"/>
            <a:r>
              <a:rPr lang="en-US" dirty="0" smtClean="0"/>
              <a:t>This gets us to the leaf node that contains 70 and 80</a:t>
            </a:r>
          </a:p>
          <a:p>
            <a:pPr lvl="1"/>
            <a:r>
              <a:rPr lang="en-US" dirty="0" smtClean="0"/>
              <a:t>There is an empty key space in the node; set it to 85 and change the pointer accordingly; done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4782902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7023423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0175490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8713560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2523884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rgbClr val="FFFF00"/>
                          </a:solidFill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  <a:endParaRPr lang="zh-CN" altLang="en-US" sz="2000" b="1" dirty="0">
                        <a:solidFill>
                          <a:srgbClr val="FFFF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2670480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370332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379631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022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435280" cy="403244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Inserting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</a:t>
            </a:r>
            <a:r>
              <a:rPr lang="en-US" dirty="0"/>
              <a:t>into a </a:t>
            </a:r>
            <a:r>
              <a:rPr lang="en-US" dirty="0" smtClean="0"/>
              <a:t>B-tree: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Start from the root, “pretend” that we are searching for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, until we get to a leaf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node has an empty space for a key, insert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into the node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Otherwise, split the node into two before inserting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(details coming shortly)</a:t>
            </a:r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67</a:t>
            </a:r>
          </a:p>
          <a:p>
            <a:pPr lvl="1"/>
            <a:r>
              <a:rPr lang="en-US" dirty="0" smtClean="0"/>
              <a:t>Pretend that we are searching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67</a:t>
            </a:r>
          </a:p>
          <a:p>
            <a:pPr lvl="1"/>
            <a:r>
              <a:rPr lang="en-US" dirty="0" smtClean="0"/>
              <a:t>This gets us to the leaf node that contains 50, 60, and 65</a:t>
            </a:r>
          </a:p>
          <a:p>
            <a:pPr lvl="1"/>
            <a:r>
              <a:rPr lang="en-US" dirty="0" smtClean="0"/>
              <a:t>There is no empty space!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Solution: Split the node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3616934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2156158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8408778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511479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2021665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5959559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4979092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4628927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09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67</a:t>
            </a:r>
          </a:p>
          <a:p>
            <a:pPr lvl="1"/>
            <a:r>
              <a:rPr lang="en-US" dirty="0"/>
              <a:t>Pretend that we are searching for </a:t>
            </a:r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 = </a:t>
            </a:r>
            <a:r>
              <a:rPr lang="en-US" dirty="0" smtClean="0"/>
              <a:t>67</a:t>
            </a:r>
            <a:endParaRPr lang="en-US" dirty="0"/>
          </a:p>
          <a:p>
            <a:pPr lvl="1"/>
            <a:r>
              <a:rPr lang="en-US" dirty="0"/>
              <a:t>This gets us to the leaf node that contains 50, 60, and 65</a:t>
            </a:r>
          </a:p>
          <a:p>
            <a:pPr lvl="1"/>
            <a:r>
              <a:rPr lang="en-US" dirty="0"/>
              <a:t>There is no empty space!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Solution: Split the </a:t>
            </a:r>
            <a:r>
              <a:rPr lang="en-US" dirty="0" smtClean="0">
                <a:solidFill>
                  <a:srgbClr val="C00000"/>
                </a:solidFill>
              </a:rPr>
              <a:t>node</a:t>
            </a:r>
            <a:endParaRPr lang="en-US" dirty="0" smtClean="0"/>
          </a:p>
          <a:p>
            <a:r>
              <a:rPr lang="en-US" dirty="0" smtClean="0"/>
              <a:t>Splitting a node</a:t>
            </a:r>
          </a:p>
          <a:p>
            <a:pPr lvl="1"/>
            <a:r>
              <a:rPr lang="en-US" dirty="0" smtClean="0"/>
              <a:t>Get all the keys that need to be stored in the node</a:t>
            </a:r>
          </a:p>
          <a:p>
            <a:pPr lvl="1"/>
            <a:r>
              <a:rPr lang="en-US" dirty="0" smtClean="0"/>
              <a:t>Sort them in ascending order</a:t>
            </a:r>
          </a:p>
          <a:p>
            <a:pPr lvl="1"/>
            <a:r>
              <a:rPr lang="en-US" dirty="0" smtClean="0"/>
              <a:t>Move the second half of the keys to a new node</a:t>
            </a:r>
          </a:p>
          <a:p>
            <a:pPr lvl="1"/>
            <a:r>
              <a:rPr lang="en-US" dirty="0" smtClean="0"/>
              <a:t>Set the pointers of the new node accordingly</a:t>
            </a:r>
          </a:p>
          <a:p>
            <a:pPr lvl="1"/>
            <a:r>
              <a:rPr lang="en-US" dirty="0" smtClean="0"/>
              <a:t>Update the upper-level nodes accordingly</a:t>
            </a:r>
            <a:endParaRPr lang="en-US" dirty="0"/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5314079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4883378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3494113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9059579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1955545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986214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</p:spTree>
    <p:extLst>
      <p:ext uri="{BB962C8B-B14F-4D97-AF65-F5344CB8AC3E}">
        <p14:creationId xmlns:p14="http://schemas.microsoft.com/office/powerpoint/2010/main" val="134848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67</a:t>
            </a:r>
          </a:p>
          <a:p>
            <a:pPr lvl="1"/>
            <a:r>
              <a:rPr lang="en-US" dirty="0"/>
              <a:t>Pretend that we are searching for </a:t>
            </a:r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 = </a:t>
            </a:r>
            <a:r>
              <a:rPr lang="en-US" dirty="0" smtClean="0"/>
              <a:t>67</a:t>
            </a:r>
            <a:endParaRPr lang="en-US" dirty="0"/>
          </a:p>
          <a:p>
            <a:pPr lvl="1"/>
            <a:r>
              <a:rPr lang="en-US" dirty="0"/>
              <a:t>This gets us to the leaf node that contains 50, 60, and 65</a:t>
            </a:r>
          </a:p>
          <a:p>
            <a:pPr lvl="1"/>
            <a:r>
              <a:rPr lang="en-US" dirty="0"/>
              <a:t>There is no empty space!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Solution: Split the </a:t>
            </a:r>
            <a:r>
              <a:rPr lang="en-US" dirty="0" smtClean="0">
                <a:solidFill>
                  <a:srgbClr val="C00000"/>
                </a:solidFill>
              </a:rPr>
              <a:t>node</a:t>
            </a:r>
            <a:endParaRPr lang="en-US" dirty="0" smtClean="0"/>
          </a:p>
          <a:p>
            <a:r>
              <a:rPr lang="en-US" dirty="0" smtClean="0"/>
              <a:t>Splitting a node</a:t>
            </a:r>
          </a:p>
          <a:p>
            <a:pPr lvl="1"/>
            <a:r>
              <a:rPr lang="en-US" dirty="0"/>
              <a:t>Get all the keys that need to be stored in the node</a:t>
            </a:r>
          </a:p>
          <a:p>
            <a:pPr lvl="1"/>
            <a:r>
              <a:rPr lang="en-US" dirty="0"/>
              <a:t>Sort them in ascending order</a:t>
            </a:r>
          </a:p>
          <a:p>
            <a:pPr lvl="1"/>
            <a:r>
              <a:rPr lang="en-US" dirty="0"/>
              <a:t>Move the second half of the keys to a new node</a:t>
            </a:r>
          </a:p>
          <a:p>
            <a:pPr lvl="1"/>
            <a:r>
              <a:rPr lang="en-US" dirty="0"/>
              <a:t>Set the pointers of the new node accordingly</a:t>
            </a:r>
          </a:p>
          <a:p>
            <a:pPr lvl="1"/>
            <a:r>
              <a:rPr lang="en-US" dirty="0"/>
              <a:t>Update the upper-level nodes accordingly</a:t>
            </a:r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5215401"/>
              </p:ext>
            </p:extLst>
          </p:nvPr>
        </p:nvGraphicFramePr>
        <p:xfrm>
          <a:off x="11281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1040429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755576" y="1124744"/>
            <a:ext cx="1225624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4850129"/>
              </p:ext>
            </p:extLst>
          </p:nvPr>
        </p:nvGraphicFramePr>
        <p:xfrm>
          <a:off x="29569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56991" y="1196752"/>
            <a:ext cx="838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8778339"/>
              </p:ext>
            </p:extLst>
          </p:nvPr>
        </p:nvGraphicFramePr>
        <p:xfrm>
          <a:off x="6654075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925247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899592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2728392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57192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8266855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6034607" y="1340768"/>
            <a:ext cx="1457666" cy="48309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172200" y="1196752"/>
            <a:ext cx="250425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4058356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7301183"/>
              </p:ext>
            </p:extLst>
          </p:nvPr>
        </p:nvGraphicFramePr>
        <p:xfrm>
          <a:off x="4788024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67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6431634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1966389" y="1196752"/>
            <a:ext cx="517379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71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67</a:t>
            </a:r>
          </a:p>
          <a:p>
            <a:pPr lvl="1"/>
            <a:r>
              <a:rPr lang="en-US" dirty="0"/>
              <a:t>Pretend that we are searching for </a:t>
            </a:r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 = </a:t>
            </a:r>
            <a:r>
              <a:rPr lang="en-US" dirty="0" smtClean="0"/>
              <a:t>67</a:t>
            </a:r>
            <a:endParaRPr lang="en-US" dirty="0"/>
          </a:p>
          <a:p>
            <a:pPr lvl="1"/>
            <a:r>
              <a:rPr lang="en-US" dirty="0"/>
              <a:t>This gets us to the leaf node that contains 50, 60, and 65</a:t>
            </a:r>
          </a:p>
          <a:p>
            <a:pPr lvl="1"/>
            <a:r>
              <a:rPr lang="en-US" dirty="0"/>
              <a:t>There is no empty space!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Solution: Split the </a:t>
            </a:r>
            <a:r>
              <a:rPr lang="en-US" dirty="0" smtClean="0">
                <a:solidFill>
                  <a:srgbClr val="C00000"/>
                </a:solidFill>
              </a:rPr>
              <a:t>node</a:t>
            </a:r>
            <a:endParaRPr lang="en-US" dirty="0" smtClean="0"/>
          </a:p>
          <a:p>
            <a:r>
              <a:rPr lang="en-US" dirty="0" smtClean="0"/>
              <a:t>Splitting a node</a:t>
            </a:r>
          </a:p>
          <a:p>
            <a:pPr lvl="1"/>
            <a:r>
              <a:rPr lang="en-US" dirty="0"/>
              <a:t>Get all the keys that need to be stored in the node</a:t>
            </a:r>
          </a:p>
          <a:p>
            <a:pPr lvl="1"/>
            <a:r>
              <a:rPr lang="en-US" dirty="0"/>
              <a:t>Sort them in ascending order</a:t>
            </a:r>
          </a:p>
          <a:p>
            <a:pPr lvl="1"/>
            <a:r>
              <a:rPr lang="en-US" dirty="0"/>
              <a:t>Move the second half of the keys to a new node</a:t>
            </a:r>
          </a:p>
          <a:p>
            <a:pPr lvl="1"/>
            <a:r>
              <a:rPr lang="en-US" dirty="0"/>
              <a:t>Set the pointers of the new node accordingly</a:t>
            </a:r>
          </a:p>
          <a:p>
            <a:pPr lvl="1"/>
            <a:r>
              <a:rPr lang="en-US" dirty="0"/>
              <a:t>Update the upper-level nodes accordingly</a:t>
            </a:r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0068922"/>
              </p:ext>
            </p:extLst>
          </p:nvPr>
        </p:nvGraphicFramePr>
        <p:xfrm>
          <a:off x="11281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1128671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755576" y="1124744"/>
            <a:ext cx="1225624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1558900"/>
              </p:ext>
            </p:extLst>
          </p:nvPr>
        </p:nvGraphicFramePr>
        <p:xfrm>
          <a:off x="29569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56991" y="1196752"/>
            <a:ext cx="838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5964150"/>
              </p:ext>
            </p:extLst>
          </p:nvPr>
        </p:nvGraphicFramePr>
        <p:xfrm>
          <a:off x="6654075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0821411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899592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2728392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57192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8266855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6034607" y="1340768"/>
            <a:ext cx="1457666" cy="48309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172200" y="1196752"/>
            <a:ext cx="250425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8545717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300742"/>
              </p:ext>
            </p:extLst>
          </p:nvPr>
        </p:nvGraphicFramePr>
        <p:xfrm>
          <a:off x="4788024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67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6431634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505202" y="1196752"/>
            <a:ext cx="1866898" cy="60568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1966389" y="1196752"/>
            <a:ext cx="517379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26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67</a:t>
            </a:r>
          </a:p>
          <a:p>
            <a:pPr lvl="1"/>
            <a:r>
              <a:rPr lang="en-US" dirty="0"/>
              <a:t>Pretend that we are searching for </a:t>
            </a:r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 = </a:t>
            </a:r>
            <a:r>
              <a:rPr lang="en-US" dirty="0" smtClean="0"/>
              <a:t>67</a:t>
            </a:r>
            <a:endParaRPr lang="en-US" dirty="0"/>
          </a:p>
          <a:p>
            <a:pPr lvl="1"/>
            <a:r>
              <a:rPr lang="en-US" dirty="0"/>
              <a:t>This gets us to the leaf node that contains 50, 60, and 65</a:t>
            </a:r>
          </a:p>
          <a:p>
            <a:pPr lvl="1"/>
            <a:r>
              <a:rPr lang="en-US" dirty="0"/>
              <a:t>There is no empty space!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Solution: Split the </a:t>
            </a:r>
            <a:r>
              <a:rPr lang="en-US" dirty="0" smtClean="0">
                <a:solidFill>
                  <a:srgbClr val="C00000"/>
                </a:solidFill>
              </a:rPr>
              <a:t>node</a:t>
            </a:r>
            <a:endParaRPr lang="en-US" dirty="0" smtClean="0"/>
          </a:p>
          <a:p>
            <a:r>
              <a:rPr lang="en-US" dirty="0" smtClean="0"/>
              <a:t>Splitting a node</a:t>
            </a:r>
          </a:p>
          <a:p>
            <a:pPr lvl="1"/>
            <a:r>
              <a:rPr lang="en-US" dirty="0"/>
              <a:t>Get all the keys that need to be stored in the node</a:t>
            </a:r>
          </a:p>
          <a:p>
            <a:pPr lvl="1"/>
            <a:r>
              <a:rPr lang="en-US" dirty="0"/>
              <a:t>Sort them in ascending order</a:t>
            </a:r>
          </a:p>
          <a:p>
            <a:pPr lvl="1"/>
            <a:r>
              <a:rPr lang="en-US" dirty="0"/>
              <a:t>Move the second half of the keys to a new node</a:t>
            </a:r>
          </a:p>
          <a:p>
            <a:pPr lvl="1"/>
            <a:r>
              <a:rPr lang="en-US" dirty="0"/>
              <a:t>Set the pointers of the new node accordingly</a:t>
            </a:r>
          </a:p>
          <a:p>
            <a:pPr lvl="1"/>
            <a:r>
              <a:rPr lang="en-US" dirty="0"/>
              <a:t>Update the upper-level nodes accordingly</a:t>
            </a:r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5295966"/>
              </p:ext>
            </p:extLst>
          </p:nvPr>
        </p:nvGraphicFramePr>
        <p:xfrm>
          <a:off x="11281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432030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rgbClr val="FFFF00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rgbClr val="FFFF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755576" y="1124744"/>
            <a:ext cx="1225624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3839980"/>
              </p:ext>
            </p:extLst>
          </p:nvPr>
        </p:nvGraphicFramePr>
        <p:xfrm>
          <a:off x="29569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56991" y="1196752"/>
            <a:ext cx="838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214609"/>
              </p:ext>
            </p:extLst>
          </p:nvPr>
        </p:nvGraphicFramePr>
        <p:xfrm>
          <a:off x="6654075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6187104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899592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2728392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57192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8266855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6034607" y="1340768"/>
            <a:ext cx="1457666" cy="48309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172200" y="1196752"/>
            <a:ext cx="250425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833304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68804"/>
              </p:ext>
            </p:extLst>
          </p:nvPr>
        </p:nvGraphicFramePr>
        <p:xfrm>
          <a:off x="4788024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67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6431634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505202" y="1196752"/>
            <a:ext cx="1866898" cy="60568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1966389" y="1196752"/>
            <a:ext cx="517379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7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68</a:t>
            </a:r>
          </a:p>
          <a:p>
            <a:pPr lvl="1"/>
            <a:r>
              <a:rPr lang="en-US" dirty="0"/>
              <a:t>Pretend that we are searching for </a:t>
            </a:r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 = 68</a:t>
            </a:r>
          </a:p>
          <a:p>
            <a:pPr lvl="1"/>
            <a:r>
              <a:rPr lang="en-US" dirty="0"/>
              <a:t>This gets us to the leaf node that contains </a:t>
            </a:r>
            <a:r>
              <a:rPr lang="en-US" dirty="0" smtClean="0"/>
              <a:t>65 and 67</a:t>
            </a:r>
          </a:p>
          <a:p>
            <a:pPr lvl="1"/>
            <a:r>
              <a:rPr lang="en-US" dirty="0" smtClean="0"/>
              <a:t>Insert 68 into the node; set the pointer accordingly</a:t>
            </a:r>
            <a:endParaRPr lang="en-US" dirty="0"/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0146731"/>
              </p:ext>
            </p:extLst>
          </p:nvPr>
        </p:nvGraphicFramePr>
        <p:xfrm>
          <a:off x="11281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9245242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755576" y="1124744"/>
            <a:ext cx="1225624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2831559"/>
              </p:ext>
            </p:extLst>
          </p:nvPr>
        </p:nvGraphicFramePr>
        <p:xfrm>
          <a:off x="29569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56991" y="1196752"/>
            <a:ext cx="838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6900378"/>
              </p:ext>
            </p:extLst>
          </p:nvPr>
        </p:nvGraphicFramePr>
        <p:xfrm>
          <a:off x="6654075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9034347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899592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2728392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57192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8266855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6034607" y="1340768"/>
            <a:ext cx="1457666" cy="48309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172200" y="1196752"/>
            <a:ext cx="250425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5870233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9212607"/>
              </p:ext>
            </p:extLst>
          </p:nvPr>
        </p:nvGraphicFramePr>
        <p:xfrm>
          <a:off x="4788024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67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6431634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505202" y="1196752"/>
            <a:ext cx="1866898" cy="60568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1966389" y="1196752"/>
            <a:ext cx="517379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68</a:t>
            </a:r>
          </a:p>
          <a:p>
            <a:pPr lvl="1"/>
            <a:r>
              <a:rPr lang="en-US" dirty="0"/>
              <a:t>Pretend that we are searching for </a:t>
            </a:r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 = 68</a:t>
            </a:r>
          </a:p>
          <a:p>
            <a:pPr lvl="1"/>
            <a:r>
              <a:rPr lang="en-US" dirty="0"/>
              <a:t>This gets us to the leaf node that contains </a:t>
            </a:r>
            <a:r>
              <a:rPr lang="en-US" dirty="0" smtClean="0"/>
              <a:t>65 and 67</a:t>
            </a:r>
          </a:p>
          <a:p>
            <a:pPr lvl="1"/>
            <a:r>
              <a:rPr lang="en-US" dirty="0" smtClean="0"/>
              <a:t>Insert 68 into the node; set the pointer accordingly</a:t>
            </a:r>
            <a:endParaRPr lang="en-US" dirty="0"/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9744875"/>
              </p:ext>
            </p:extLst>
          </p:nvPr>
        </p:nvGraphicFramePr>
        <p:xfrm>
          <a:off x="11281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6394294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755576" y="1124744"/>
            <a:ext cx="1225624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286438"/>
              </p:ext>
            </p:extLst>
          </p:nvPr>
        </p:nvGraphicFramePr>
        <p:xfrm>
          <a:off x="29569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56991" y="1196752"/>
            <a:ext cx="838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6367724"/>
              </p:ext>
            </p:extLst>
          </p:nvPr>
        </p:nvGraphicFramePr>
        <p:xfrm>
          <a:off x="6654075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3231579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899592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2728392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57192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8266855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6034607" y="1340768"/>
            <a:ext cx="1457666" cy="48309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172200" y="1196752"/>
            <a:ext cx="250425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473638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4146836"/>
              </p:ext>
            </p:extLst>
          </p:nvPr>
        </p:nvGraphicFramePr>
        <p:xfrm>
          <a:off x="4788024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67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rgbClr val="FFFF00"/>
                          </a:solidFill>
                          <a:latin typeface="Arial" pitchFamily="34" charset="0"/>
                          <a:cs typeface="Arial" pitchFamily="34" charset="0"/>
                        </a:rPr>
                        <a:t>68</a:t>
                      </a:r>
                      <a:endParaRPr lang="zh-CN" altLang="en-US" sz="2000" b="1" dirty="0">
                        <a:solidFill>
                          <a:srgbClr val="FFFF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6431634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505202" y="1196752"/>
            <a:ext cx="1866898" cy="60568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1966389" y="1196752"/>
            <a:ext cx="517379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14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69</a:t>
            </a:r>
          </a:p>
          <a:p>
            <a:pPr lvl="1"/>
            <a:r>
              <a:rPr lang="en-US" dirty="0"/>
              <a:t>Pretend that we are searching for </a:t>
            </a:r>
            <a:r>
              <a:rPr lang="en-US" dirty="0">
                <a:solidFill>
                  <a:srgbClr val="C00000"/>
                </a:solidFill>
              </a:rPr>
              <a:t>v</a:t>
            </a:r>
            <a:r>
              <a:rPr lang="en-US" dirty="0"/>
              <a:t> = </a:t>
            </a:r>
            <a:r>
              <a:rPr lang="en-US" dirty="0" smtClean="0"/>
              <a:t>69</a:t>
            </a:r>
            <a:endParaRPr lang="en-US" dirty="0"/>
          </a:p>
          <a:p>
            <a:pPr lvl="1"/>
            <a:r>
              <a:rPr lang="en-US" dirty="0"/>
              <a:t>This gets us to the leaf node that contains </a:t>
            </a:r>
            <a:r>
              <a:rPr lang="en-US" dirty="0" smtClean="0"/>
              <a:t>65, 67, and 68</a:t>
            </a:r>
          </a:p>
          <a:p>
            <a:pPr lvl="1"/>
            <a:r>
              <a:rPr lang="en-US" dirty="0" smtClean="0"/>
              <a:t>No empty space</a:t>
            </a:r>
          </a:p>
          <a:p>
            <a:pPr lvl="1"/>
            <a:r>
              <a:rPr lang="en-US" dirty="0" smtClean="0"/>
              <a:t>Split the node</a:t>
            </a:r>
            <a:endParaRPr lang="en-US" dirty="0"/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9151050"/>
              </p:ext>
            </p:extLst>
          </p:nvPr>
        </p:nvGraphicFramePr>
        <p:xfrm>
          <a:off x="11281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69483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755576" y="1124744"/>
            <a:ext cx="1225624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 flipH="1">
            <a:off x="1966389" y="1196752"/>
            <a:ext cx="517379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0494909"/>
              </p:ext>
            </p:extLst>
          </p:nvPr>
        </p:nvGraphicFramePr>
        <p:xfrm>
          <a:off x="29569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56991" y="1196752"/>
            <a:ext cx="838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14467163"/>
              </p:ext>
            </p:extLst>
          </p:nvPr>
        </p:nvGraphicFramePr>
        <p:xfrm>
          <a:off x="6654075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4846400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899592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2728392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57192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8266855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6034607" y="1340768"/>
            <a:ext cx="1457666" cy="48309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6172200" y="1196752"/>
            <a:ext cx="250425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07887735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6972724"/>
              </p:ext>
            </p:extLst>
          </p:nvPr>
        </p:nvGraphicFramePr>
        <p:xfrm>
          <a:off x="4788024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67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68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6431634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505202" y="1196752"/>
            <a:ext cx="1866898" cy="60568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93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69</a:t>
            </a:r>
          </a:p>
          <a:p>
            <a:pPr lvl="1"/>
            <a:r>
              <a:rPr lang="en-US" dirty="0" smtClean="0"/>
              <a:t>Split the node</a:t>
            </a:r>
          </a:p>
          <a:p>
            <a:pPr lvl="1"/>
            <a:r>
              <a:rPr lang="en-US" dirty="0"/>
              <a:t>Get all the keys that need to be stored in the node</a:t>
            </a:r>
          </a:p>
          <a:p>
            <a:pPr lvl="1"/>
            <a:r>
              <a:rPr lang="en-US" dirty="0"/>
              <a:t>Sort them in ascending order</a:t>
            </a:r>
          </a:p>
          <a:p>
            <a:pPr lvl="1"/>
            <a:r>
              <a:rPr lang="en-US" dirty="0"/>
              <a:t>Move the second half of the keys to a new node</a:t>
            </a:r>
          </a:p>
          <a:p>
            <a:pPr lvl="1"/>
            <a:r>
              <a:rPr lang="en-US" dirty="0"/>
              <a:t>Set the pointers of the new node accordingly</a:t>
            </a:r>
          </a:p>
          <a:p>
            <a:pPr lvl="1"/>
            <a:r>
              <a:rPr lang="en-US" dirty="0"/>
              <a:t>Update the upper-level nodes </a:t>
            </a:r>
            <a:r>
              <a:rPr lang="en-US" dirty="0" smtClean="0"/>
              <a:t>accordingly</a:t>
            </a:r>
          </a:p>
          <a:p>
            <a:pPr marL="344487" lvl="1" indent="0">
              <a:buNone/>
            </a:pPr>
            <a:r>
              <a:rPr lang="en-US" dirty="0" smtClean="0"/>
              <a:t> </a:t>
            </a:r>
          </a:p>
          <a:p>
            <a:pPr marL="344487" lvl="1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18801"/>
              </p:ext>
            </p:extLst>
          </p:nvPr>
        </p:nvGraphicFramePr>
        <p:xfrm>
          <a:off x="11281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5071461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755576" y="1124744"/>
            <a:ext cx="1225624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 flipH="1">
            <a:off x="1966389" y="1196752"/>
            <a:ext cx="517379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4487079"/>
              </p:ext>
            </p:extLst>
          </p:nvPr>
        </p:nvGraphicFramePr>
        <p:xfrm>
          <a:off x="29569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56991" y="1196752"/>
            <a:ext cx="838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899592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2728392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57192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4299038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343400" y="476672"/>
            <a:ext cx="4261048" cy="132576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5176146"/>
              </p:ext>
            </p:extLst>
          </p:nvPr>
        </p:nvGraphicFramePr>
        <p:xfrm>
          <a:off x="4788024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67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68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6431634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505202" y="1196752"/>
            <a:ext cx="1866898" cy="60568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584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69</a:t>
            </a:r>
          </a:p>
          <a:p>
            <a:pPr lvl="1"/>
            <a:r>
              <a:rPr lang="en-US" dirty="0" smtClean="0"/>
              <a:t>Split the node</a:t>
            </a:r>
          </a:p>
          <a:p>
            <a:pPr lvl="1"/>
            <a:r>
              <a:rPr lang="en-US" dirty="0"/>
              <a:t>Get all the keys that need to be stored in the node</a:t>
            </a:r>
          </a:p>
          <a:p>
            <a:pPr lvl="1"/>
            <a:r>
              <a:rPr lang="en-US" dirty="0"/>
              <a:t>Sort them in ascending order</a:t>
            </a:r>
          </a:p>
          <a:p>
            <a:pPr lvl="1"/>
            <a:r>
              <a:rPr lang="en-US" dirty="0"/>
              <a:t>Move the second half of the keys to a new node</a:t>
            </a:r>
          </a:p>
          <a:p>
            <a:pPr lvl="1"/>
            <a:r>
              <a:rPr lang="en-US" dirty="0"/>
              <a:t>Set the pointers of the new node accordingly</a:t>
            </a:r>
          </a:p>
          <a:p>
            <a:pPr lvl="1"/>
            <a:r>
              <a:rPr lang="en-US" dirty="0"/>
              <a:t>Update the upper-level nodes </a:t>
            </a:r>
            <a:r>
              <a:rPr lang="en-US" dirty="0" smtClean="0"/>
              <a:t>accordingly</a:t>
            </a:r>
          </a:p>
          <a:p>
            <a:pPr lvl="1"/>
            <a:r>
              <a:rPr lang="en-US" dirty="0" err="1" smtClean="0"/>
              <a:t>Ooops</a:t>
            </a:r>
            <a:r>
              <a:rPr lang="en-US" dirty="0" smtClean="0"/>
              <a:t>, the upper-level is full, too! </a:t>
            </a:r>
          </a:p>
          <a:p>
            <a:pPr lvl="1"/>
            <a:r>
              <a:rPr lang="en-US" dirty="0" smtClean="0"/>
              <a:t>Solution: split it, too</a:t>
            </a:r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5958598"/>
              </p:ext>
            </p:extLst>
          </p:nvPr>
        </p:nvGraphicFramePr>
        <p:xfrm>
          <a:off x="11281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0200560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755576" y="1124744"/>
            <a:ext cx="1225624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 flipH="1">
            <a:off x="1966389" y="1196752"/>
            <a:ext cx="517379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3986963"/>
              </p:ext>
            </p:extLst>
          </p:nvPr>
        </p:nvGraphicFramePr>
        <p:xfrm>
          <a:off x="29569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56991" y="1196752"/>
            <a:ext cx="838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899592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2728392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57192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4193311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343400" y="476672"/>
            <a:ext cx="4261048" cy="132576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7011132"/>
              </p:ext>
            </p:extLst>
          </p:nvPr>
        </p:nvGraphicFramePr>
        <p:xfrm>
          <a:off x="4788024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67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6431634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3505202" y="1196752"/>
            <a:ext cx="1866898" cy="60568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7801337"/>
              </p:ext>
            </p:extLst>
          </p:nvPr>
        </p:nvGraphicFramePr>
        <p:xfrm>
          <a:off x="666023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68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69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8303842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44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69</a:t>
            </a:r>
          </a:p>
          <a:p>
            <a:pPr lvl="1"/>
            <a:r>
              <a:rPr lang="en-US" dirty="0" smtClean="0"/>
              <a:t>Split the node</a:t>
            </a:r>
          </a:p>
          <a:p>
            <a:pPr lvl="1"/>
            <a:r>
              <a:rPr lang="en-US" dirty="0"/>
              <a:t>Get all the keys that need to be stored in the node</a:t>
            </a:r>
          </a:p>
          <a:p>
            <a:pPr lvl="1"/>
            <a:r>
              <a:rPr lang="en-US" dirty="0"/>
              <a:t>Sort them in ascending order</a:t>
            </a:r>
          </a:p>
          <a:p>
            <a:pPr lvl="1"/>
            <a:r>
              <a:rPr lang="en-US" dirty="0"/>
              <a:t>Move the second half of the keys to a new node</a:t>
            </a:r>
          </a:p>
          <a:p>
            <a:pPr lvl="1"/>
            <a:r>
              <a:rPr lang="en-US" dirty="0"/>
              <a:t>Set the pointers of the new node accordingly</a:t>
            </a:r>
          </a:p>
          <a:p>
            <a:pPr lvl="1"/>
            <a:r>
              <a:rPr lang="en-US" dirty="0"/>
              <a:t>Update the upper-level nodes </a:t>
            </a:r>
            <a:r>
              <a:rPr lang="en-US" dirty="0" smtClean="0"/>
              <a:t>accordingly</a:t>
            </a:r>
          </a:p>
          <a:p>
            <a:pPr lvl="1"/>
            <a:r>
              <a:rPr lang="en-US" dirty="0" err="1" smtClean="0"/>
              <a:t>Ooops</a:t>
            </a:r>
            <a:r>
              <a:rPr lang="en-US" dirty="0" smtClean="0"/>
              <a:t>, the upper-level is full, too! </a:t>
            </a:r>
          </a:p>
          <a:p>
            <a:pPr lvl="1"/>
            <a:r>
              <a:rPr lang="en-US" dirty="0" smtClean="0"/>
              <a:t>Solution: split it, too</a:t>
            </a:r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8088117"/>
              </p:ext>
            </p:extLst>
          </p:nvPr>
        </p:nvGraphicFramePr>
        <p:xfrm>
          <a:off x="11281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9843622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755576" y="1124744"/>
            <a:ext cx="1225624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 flipH="1">
            <a:off x="1966389" y="1196752"/>
            <a:ext cx="517379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9541187"/>
              </p:ext>
            </p:extLst>
          </p:nvPr>
        </p:nvGraphicFramePr>
        <p:xfrm>
          <a:off x="29569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56991" y="1196752"/>
            <a:ext cx="838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899592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2728392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57192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749178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343400" y="476672"/>
            <a:ext cx="4261048" cy="132576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9610095"/>
              </p:ext>
            </p:extLst>
          </p:nvPr>
        </p:nvGraphicFramePr>
        <p:xfrm>
          <a:off x="4788024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67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6431634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6443149"/>
              </p:ext>
            </p:extLst>
          </p:nvPr>
        </p:nvGraphicFramePr>
        <p:xfrm>
          <a:off x="666023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68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69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8303842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3900281"/>
              </p:ext>
            </p:extLst>
          </p:nvPr>
        </p:nvGraphicFramePr>
        <p:xfrm>
          <a:off x="4263755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Straight Arrow Connector 25"/>
          <p:cNvCxnSpPr/>
          <p:nvPr/>
        </p:nvCxnSpPr>
        <p:spPr>
          <a:xfrm>
            <a:off x="4343400" y="1243236"/>
            <a:ext cx="1028700" cy="559197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839444" y="1268760"/>
            <a:ext cx="2252836" cy="533673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27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69</a:t>
            </a:r>
          </a:p>
          <a:p>
            <a:pPr lvl="1"/>
            <a:r>
              <a:rPr lang="en-US" dirty="0" smtClean="0"/>
              <a:t>Split the node</a:t>
            </a:r>
          </a:p>
          <a:p>
            <a:pPr lvl="1"/>
            <a:r>
              <a:rPr lang="en-US" dirty="0"/>
              <a:t>Get all the keys that need to be stored in the node</a:t>
            </a:r>
          </a:p>
          <a:p>
            <a:pPr lvl="1"/>
            <a:r>
              <a:rPr lang="en-US" dirty="0"/>
              <a:t>Sort them in ascending order</a:t>
            </a:r>
          </a:p>
          <a:p>
            <a:pPr lvl="1"/>
            <a:r>
              <a:rPr lang="en-US" dirty="0"/>
              <a:t>Move the second half of the keys to a new node</a:t>
            </a:r>
          </a:p>
          <a:p>
            <a:pPr lvl="1"/>
            <a:r>
              <a:rPr lang="en-US" dirty="0"/>
              <a:t>Set the pointers of the new node accordingly</a:t>
            </a:r>
          </a:p>
          <a:p>
            <a:pPr lvl="1"/>
            <a:r>
              <a:rPr lang="en-US" dirty="0"/>
              <a:t>Update the upper-level nodes </a:t>
            </a:r>
            <a:r>
              <a:rPr lang="en-US" dirty="0" smtClean="0"/>
              <a:t>accordingly</a:t>
            </a:r>
          </a:p>
          <a:p>
            <a:pPr lvl="1"/>
            <a:r>
              <a:rPr lang="en-US" dirty="0" err="1" smtClean="0"/>
              <a:t>Ooops</a:t>
            </a:r>
            <a:r>
              <a:rPr lang="en-US" dirty="0" smtClean="0"/>
              <a:t>, the upper-level is full, too! </a:t>
            </a:r>
          </a:p>
          <a:p>
            <a:pPr lvl="1"/>
            <a:r>
              <a:rPr lang="en-US" dirty="0" smtClean="0"/>
              <a:t>Solution: split it, too</a:t>
            </a:r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840845"/>
              </p:ext>
            </p:extLst>
          </p:nvPr>
        </p:nvGraphicFramePr>
        <p:xfrm>
          <a:off x="11281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4470071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755576" y="1124744"/>
            <a:ext cx="1225624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 flipH="1">
            <a:off x="1966389" y="1196752"/>
            <a:ext cx="517379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8654838"/>
              </p:ext>
            </p:extLst>
          </p:nvPr>
        </p:nvGraphicFramePr>
        <p:xfrm>
          <a:off x="29569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56991" y="1196752"/>
            <a:ext cx="838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899592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2728392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57192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9183131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343400" y="476672"/>
            <a:ext cx="4261048" cy="132576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5126263"/>
              </p:ext>
            </p:extLst>
          </p:nvPr>
        </p:nvGraphicFramePr>
        <p:xfrm>
          <a:off x="4788024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67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6431634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0999167"/>
              </p:ext>
            </p:extLst>
          </p:nvPr>
        </p:nvGraphicFramePr>
        <p:xfrm>
          <a:off x="666023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68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69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8303842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9785206"/>
              </p:ext>
            </p:extLst>
          </p:nvPr>
        </p:nvGraphicFramePr>
        <p:xfrm>
          <a:off x="4263755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rgbClr val="FFFF00"/>
                          </a:solidFill>
                          <a:latin typeface="Arial" pitchFamily="34" charset="0"/>
                          <a:cs typeface="Arial" pitchFamily="34" charset="0"/>
                        </a:rPr>
                        <a:t>68</a:t>
                      </a:r>
                      <a:endParaRPr lang="zh-CN" altLang="en-US" sz="2000" b="1" dirty="0">
                        <a:solidFill>
                          <a:srgbClr val="FFFF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Straight Arrow Connector 25"/>
          <p:cNvCxnSpPr/>
          <p:nvPr/>
        </p:nvCxnSpPr>
        <p:spPr>
          <a:xfrm>
            <a:off x="4343400" y="1243236"/>
            <a:ext cx="1028700" cy="559197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839444" y="1268760"/>
            <a:ext cx="2252836" cy="533673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56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69</a:t>
            </a:r>
          </a:p>
          <a:p>
            <a:pPr lvl="1"/>
            <a:r>
              <a:rPr lang="en-US" dirty="0" smtClean="0"/>
              <a:t>Split the node</a:t>
            </a:r>
          </a:p>
          <a:p>
            <a:pPr lvl="1"/>
            <a:r>
              <a:rPr lang="en-US" dirty="0"/>
              <a:t>Get all the keys that need to be stored in the node</a:t>
            </a:r>
          </a:p>
          <a:p>
            <a:pPr lvl="1"/>
            <a:r>
              <a:rPr lang="en-US" dirty="0"/>
              <a:t>Sort them in ascending order</a:t>
            </a:r>
          </a:p>
          <a:p>
            <a:pPr lvl="1"/>
            <a:r>
              <a:rPr lang="en-US" dirty="0"/>
              <a:t>Move the second half of the keys to a new node</a:t>
            </a:r>
          </a:p>
          <a:p>
            <a:pPr lvl="1"/>
            <a:r>
              <a:rPr lang="en-US" dirty="0"/>
              <a:t>Set the pointers of the new node accordingly</a:t>
            </a:r>
          </a:p>
          <a:p>
            <a:pPr lvl="1"/>
            <a:r>
              <a:rPr lang="en-US" dirty="0"/>
              <a:t>Update the upper-level nodes </a:t>
            </a:r>
            <a:r>
              <a:rPr lang="en-US" dirty="0" smtClean="0"/>
              <a:t>accordingly</a:t>
            </a:r>
          </a:p>
          <a:p>
            <a:pPr lvl="1"/>
            <a:r>
              <a:rPr lang="en-US" dirty="0" err="1" smtClean="0"/>
              <a:t>Ooops</a:t>
            </a:r>
            <a:r>
              <a:rPr lang="en-US" dirty="0" smtClean="0"/>
              <a:t>, the upper-level is full, too! </a:t>
            </a:r>
          </a:p>
          <a:p>
            <a:pPr lvl="1"/>
            <a:r>
              <a:rPr lang="en-US" dirty="0" smtClean="0"/>
              <a:t>Solution: split it, too</a:t>
            </a:r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2852673"/>
              </p:ext>
            </p:extLst>
          </p:nvPr>
        </p:nvGraphicFramePr>
        <p:xfrm>
          <a:off x="11281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294465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755576" y="1124744"/>
            <a:ext cx="1225624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 flipH="1">
            <a:off x="1966389" y="1196752"/>
            <a:ext cx="517379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6995688"/>
              </p:ext>
            </p:extLst>
          </p:nvPr>
        </p:nvGraphicFramePr>
        <p:xfrm>
          <a:off x="29569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56991" y="1196752"/>
            <a:ext cx="838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899592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2728392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57192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9447642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839444" y="476672"/>
            <a:ext cx="3765004" cy="132576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4211038"/>
              </p:ext>
            </p:extLst>
          </p:nvPr>
        </p:nvGraphicFramePr>
        <p:xfrm>
          <a:off x="4788024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67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6431634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6369894"/>
              </p:ext>
            </p:extLst>
          </p:nvPr>
        </p:nvGraphicFramePr>
        <p:xfrm>
          <a:off x="666023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68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69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8303842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7125372"/>
              </p:ext>
            </p:extLst>
          </p:nvPr>
        </p:nvGraphicFramePr>
        <p:xfrm>
          <a:off x="4263755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68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Straight Arrow Connector 25"/>
          <p:cNvCxnSpPr/>
          <p:nvPr/>
        </p:nvCxnSpPr>
        <p:spPr>
          <a:xfrm>
            <a:off x="4343400" y="1243236"/>
            <a:ext cx="1028700" cy="559197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839444" y="1268760"/>
            <a:ext cx="2252836" cy="533673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343400" y="476672"/>
            <a:ext cx="21379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86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435280" cy="367240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69</a:t>
            </a:r>
          </a:p>
          <a:p>
            <a:pPr lvl="1"/>
            <a:r>
              <a:rPr lang="en-US" dirty="0" smtClean="0"/>
              <a:t>Split the node</a:t>
            </a:r>
          </a:p>
          <a:p>
            <a:pPr lvl="1"/>
            <a:r>
              <a:rPr lang="en-US" dirty="0"/>
              <a:t>Get all the keys that need to be stored in the node</a:t>
            </a:r>
          </a:p>
          <a:p>
            <a:pPr lvl="1"/>
            <a:r>
              <a:rPr lang="en-US" dirty="0"/>
              <a:t>Sort them in ascending order</a:t>
            </a:r>
          </a:p>
          <a:p>
            <a:pPr lvl="1"/>
            <a:r>
              <a:rPr lang="en-US" dirty="0"/>
              <a:t>Move the second half of the keys to a new node</a:t>
            </a:r>
          </a:p>
          <a:p>
            <a:pPr lvl="1"/>
            <a:r>
              <a:rPr lang="en-US" dirty="0"/>
              <a:t>Set the pointers of the new node accordingly</a:t>
            </a:r>
          </a:p>
          <a:p>
            <a:pPr lvl="1"/>
            <a:r>
              <a:rPr lang="en-US" dirty="0"/>
              <a:t>Update the upper-level nodes </a:t>
            </a:r>
            <a:r>
              <a:rPr lang="en-US" dirty="0" smtClean="0"/>
              <a:t>accordingly</a:t>
            </a:r>
          </a:p>
          <a:p>
            <a:pPr lvl="1"/>
            <a:r>
              <a:rPr lang="en-US" dirty="0" err="1" smtClean="0"/>
              <a:t>Ooops</a:t>
            </a:r>
            <a:r>
              <a:rPr lang="en-US" dirty="0" smtClean="0"/>
              <a:t>, the upper-level is full, too! </a:t>
            </a:r>
          </a:p>
          <a:p>
            <a:pPr lvl="1"/>
            <a:r>
              <a:rPr lang="en-US" dirty="0" smtClean="0"/>
              <a:t>Solution: split it, too</a:t>
            </a:r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491658"/>
              </p:ext>
            </p:extLst>
          </p:nvPr>
        </p:nvGraphicFramePr>
        <p:xfrm>
          <a:off x="11281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9348510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755576" y="1124744"/>
            <a:ext cx="1225624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 flipH="1">
            <a:off x="1966389" y="1196752"/>
            <a:ext cx="517379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3426604"/>
              </p:ext>
            </p:extLst>
          </p:nvPr>
        </p:nvGraphicFramePr>
        <p:xfrm>
          <a:off x="2956991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56991" y="1196752"/>
            <a:ext cx="838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899592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2728392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4557192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1973154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rgbClr val="FFFF00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rgbClr val="FFFF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839444" y="476672"/>
            <a:ext cx="3765004" cy="1325761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1520" y="1340768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sp>
        <p:nvSpPr>
          <p:cNvPr id="25" name="Rectangle 24"/>
          <p:cNvSpPr/>
          <p:nvPr/>
        </p:nvSpPr>
        <p:spPr>
          <a:xfrm>
            <a:off x="8432102" y="1425550"/>
            <a:ext cx="6764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400" dirty="0" smtClean="0">
                <a:latin typeface="Comic Sans MS" pitchFamily="66" charset="0"/>
              </a:rPr>
              <a:t>…</a:t>
            </a:r>
            <a:endParaRPr lang="en-SG" sz="5400" baseline="-25000" dirty="0"/>
          </a:p>
        </p:txBody>
      </p:sp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5203045"/>
              </p:ext>
            </p:extLst>
          </p:nvPr>
        </p:nvGraphicFramePr>
        <p:xfrm>
          <a:off x="4788024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67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6431634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3439950"/>
              </p:ext>
            </p:extLst>
          </p:nvPr>
        </p:nvGraphicFramePr>
        <p:xfrm>
          <a:off x="666023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68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69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8303842" y="2022748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533975"/>
              </p:ext>
            </p:extLst>
          </p:nvPr>
        </p:nvGraphicFramePr>
        <p:xfrm>
          <a:off x="4263755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68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6" name="Straight Arrow Connector 25"/>
          <p:cNvCxnSpPr/>
          <p:nvPr/>
        </p:nvCxnSpPr>
        <p:spPr>
          <a:xfrm>
            <a:off x="4343400" y="1243236"/>
            <a:ext cx="1028700" cy="559197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4839444" y="1268760"/>
            <a:ext cx="2252836" cy="533673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4343400" y="476672"/>
            <a:ext cx="21379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11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Insertions in B-Tree: Summary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general, inserting a key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 a B-tree would require at least a search of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 the tree</a:t>
            </a:r>
          </a:p>
          <a:p>
            <a:r>
              <a:rPr lang="en-US" dirty="0" smtClean="0"/>
              <a:t>Hence, the number of nodes that need to be visited &gt;= the number of levels in the B-tree</a:t>
            </a:r>
          </a:p>
          <a:p>
            <a:r>
              <a:rPr lang="en-US" dirty="0" smtClean="0"/>
              <a:t>In contrast, inserting a tuple in a data file requires reading and writing one block only</a:t>
            </a:r>
          </a:p>
          <a:p>
            <a:r>
              <a:rPr lang="en-US" dirty="0" smtClean="0"/>
              <a:t>Conclusion: B-tree incurs higher overheads for insertions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927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19256" cy="388843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Delete a key value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a B-tree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 the 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leaf node that contains it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leaf node becomes empty, remove it and update the upper-levels</a:t>
            </a:r>
            <a:endParaRPr lang="en-US" dirty="0"/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90</a:t>
            </a:r>
            <a:endParaRPr lang="en-US" dirty="0"/>
          </a:p>
          <a:p>
            <a:pPr lvl="1"/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root; gets to the rightmost leaf node</a:t>
            </a:r>
          </a:p>
          <a:p>
            <a:pPr lvl="1"/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node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3281726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587548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8189207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4296362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6821285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64055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983551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3558661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48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19256" cy="388843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Delete a key value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a B-tree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 the 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leaf node that contains it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leaf node becomes empty, remove it and update the upper-levels</a:t>
            </a:r>
            <a:endParaRPr lang="en-US" dirty="0"/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90</a:t>
            </a:r>
            <a:endParaRPr lang="en-US" dirty="0"/>
          </a:p>
          <a:p>
            <a:pPr lvl="1"/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root; gets to the rightmost leaf node</a:t>
            </a:r>
          </a:p>
          <a:p>
            <a:pPr lvl="1"/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node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6373455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5253926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0480446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3054227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5396723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9986771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1216229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5713462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67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19256" cy="388843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Delete a key value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a B-tree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 the 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leaf node that contains it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leaf node becomes empty, remove it and update the upper-levels</a:t>
            </a:r>
            <a:endParaRPr lang="en-US" dirty="0"/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90</a:t>
            </a:r>
            <a:endParaRPr lang="en-US" dirty="0"/>
          </a:p>
          <a:p>
            <a:pPr lvl="1"/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root; gets to the rightmost leaf node</a:t>
            </a:r>
          </a:p>
          <a:p>
            <a:pPr lvl="1"/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node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0378890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9888033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5289678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2075460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3210708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6845269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31261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rgbClr val="FFFF00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rgbClr val="FFFF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878090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93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19256" cy="388843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Delete a key value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a B-tree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 the 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leaf node that contains it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leaf node becomes empty, remove it and update the upper-levels</a:t>
            </a:r>
            <a:endParaRPr lang="en-US" dirty="0"/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100</a:t>
            </a:r>
            <a:endParaRPr lang="en-US" dirty="0"/>
          </a:p>
          <a:p>
            <a:pPr lvl="1"/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root; gets to the rightmost leaf node</a:t>
            </a:r>
          </a:p>
          <a:p>
            <a:pPr lvl="1"/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node</a:t>
            </a:r>
          </a:p>
          <a:p>
            <a:pPr marL="344487" lvl="1" indent="0">
              <a:buNone/>
            </a:pPr>
            <a:r>
              <a:rPr lang="en-US" dirty="0"/>
              <a:t>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2459413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1673662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529106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7828049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9896227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2161336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8397437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2702980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303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19256" cy="388843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Delete a key value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a B-tree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 the 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leaf node that contains it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leaf node becomes empty, remove it and update the upper-levels</a:t>
            </a:r>
            <a:endParaRPr lang="en-US" dirty="0"/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100</a:t>
            </a:r>
            <a:endParaRPr lang="en-US" dirty="0"/>
          </a:p>
          <a:p>
            <a:pPr lvl="1"/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root; gets to the rightmost leaf node</a:t>
            </a:r>
          </a:p>
          <a:p>
            <a:pPr lvl="1"/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node</a:t>
            </a:r>
          </a:p>
          <a:p>
            <a:pPr lvl="1"/>
            <a:r>
              <a:rPr lang="en-US" dirty="0" smtClean="0"/>
              <a:t>The node becomes empty; remove it and update the upper-levels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3658958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2957930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5798675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7192923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279388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2492881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49306026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9280040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380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19256" cy="388843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Delete a key value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a B-tree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 the 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leaf node that contains it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leaf node becomes empty, remove it and update the upper-levels</a:t>
            </a:r>
            <a:endParaRPr lang="en-US" dirty="0"/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100</a:t>
            </a:r>
            <a:endParaRPr lang="en-US" dirty="0"/>
          </a:p>
          <a:p>
            <a:pPr lvl="1"/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root; gets to the rightmost leaf node</a:t>
            </a:r>
          </a:p>
          <a:p>
            <a:pPr lvl="1"/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node</a:t>
            </a:r>
          </a:p>
          <a:p>
            <a:pPr lvl="1"/>
            <a:r>
              <a:rPr lang="en-US" dirty="0" smtClean="0"/>
              <a:t>The node becomes empty; remove it and update the upper-levels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0387793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12497514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2520754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7469148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5225562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4339039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7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8105178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86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19256" cy="388843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Delete a key value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a B-tree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 the 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leaf node that contains it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leaf node becomes empty, remove it and update the upper-levels</a:t>
            </a:r>
            <a:endParaRPr lang="en-US" dirty="0"/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100</a:t>
            </a:r>
            <a:endParaRPr lang="en-US" dirty="0"/>
          </a:p>
          <a:p>
            <a:pPr lvl="1"/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root; gets to the rightmost leaf node</a:t>
            </a:r>
          </a:p>
          <a:p>
            <a:pPr lvl="1"/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node</a:t>
            </a:r>
          </a:p>
          <a:p>
            <a:pPr lvl="1"/>
            <a:r>
              <a:rPr lang="en-US" dirty="0" smtClean="0"/>
              <a:t>The node becomes empty; remove it and update the upper-levels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198404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7651161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412147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6371980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2415282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3836336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343400" y="476672"/>
            <a:ext cx="1596752" cy="134719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28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19256" cy="388843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Delete a key value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a B-tree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in the tree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leaf node that contains it</a:t>
            </a:r>
            <a:endParaRPr lang="en-US" dirty="0"/>
          </a:p>
          <a:p>
            <a:pPr marL="858837" lvl="1" indent="-514350">
              <a:buFont typeface="+mj-lt"/>
              <a:buAutoNum type="arabicPeriod"/>
            </a:pPr>
            <a:r>
              <a:rPr lang="en-US" dirty="0" smtClean="0"/>
              <a:t>If the leaf node becomes empty, remove it and update the upper-levels</a:t>
            </a:r>
            <a:endParaRPr lang="en-US" dirty="0"/>
          </a:p>
          <a:p>
            <a:r>
              <a:rPr lang="en-US" dirty="0" smtClean="0"/>
              <a:t>Example: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= 100</a:t>
            </a:r>
            <a:endParaRPr lang="en-US" dirty="0"/>
          </a:p>
          <a:p>
            <a:pPr lvl="1"/>
            <a:r>
              <a:rPr lang="en-US" dirty="0" smtClean="0"/>
              <a:t>Search for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root; gets to the rightmost leaf node</a:t>
            </a:r>
          </a:p>
          <a:p>
            <a:pPr lvl="1"/>
            <a:r>
              <a:rPr lang="en-US" dirty="0" smtClean="0"/>
              <a:t>Remove </a:t>
            </a:r>
            <a:r>
              <a:rPr lang="en-US" dirty="0" smtClean="0">
                <a:solidFill>
                  <a:srgbClr val="C00000"/>
                </a:solidFill>
              </a:rPr>
              <a:t>v</a:t>
            </a:r>
            <a:r>
              <a:rPr lang="en-US" dirty="0" smtClean="0"/>
              <a:t> from the node</a:t>
            </a:r>
          </a:p>
          <a:p>
            <a:pPr lvl="1"/>
            <a:r>
              <a:rPr lang="en-US" dirty="0" smtClean="0"/>
              <a:t>The node becomes empty; remove it and update the upper-levels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487117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1406477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0977967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0091189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5086394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505200" y="1196752"/>
            <a:ext cx="2434952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953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B-tree Summary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index structure that can handle insertions and deletions</a:t>
            </a:r>
          </a:p>
          <a:p>
            <a:r>
              <a:rPr lang="en-US" dirty="0" smtClean="0"/>
              <a:t>Good for searching a tuple or searching tuples in a small or medium range</a:t>
            </a:r>
          </a:p>
          <a:p>
            <a:r>
              <a:rPr lang="en-US" dirty="0" smtClean="0"/>
              <a:t>Not good for insertions</a:t>
            </a:r>
          </a:p>
          <a:p>
            <a:r>
              <a:rPr lang="en-US" dirty="0" smtClean="0"/>
              <a:t>Guideline: Build a B-tree on an attribute A of a table T if</a:t>
            </a:r>
          </a:p>
          <a:p>
            <a:pPr lvl="1"/>
            <a:r>
              <a:rPr lang="en-US" dirty="0" smtClean="0"/>
              <a:t>You want to accelerates queries on T.A, and</a:t>
            </a:r>
          </a:p>
          <a:p>
            <a:pPr lvl="1"/>
            <a:r>
              <a:rPr lang="en-US" dirty="0" smtClean="0"/>
              <a:t>T is not </a:t>
            </a:r>
            <a:r>
              <a:rPr lang="en-US" smtClean="0"/>
              <a:t>updated frequently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2517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6912"/>
            <a:ext cx="8219256" cy="3600400"/>
          </a:xfrm>
        </p:spPr>
        <p:txBody>
          <a:bodyPr>
            <a:normAutofit/>
          </a:bodyPr>
          <a:lstStyle/>
          <a:p>
            <a:r>
              <a:rPr lang="en-US" dirty="0" smtClean="0"/>
              <a:t>Given the above B-tree, suppose that we search for tuples with key values in [25, 40]</a:t>
            </a:r>
          </a:p>
          <a:p>
            <a:r>
              <a:rPr lang="en-US" dirty="0" smtClean="0"/>
              <a:t>How many nodes in the B-tree do we need to read for the query?</a:t>
            </a:r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55976512"/>
              </p:ext>
            </p:extLst>
          </p:nvPr>
        </p:nvGraphicFramePr>
        <p:xfrm>
          <a:off x="76200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76093"/>
              </p:ext>
            </p:extLst>
          </p:nvPr>
        </p:nvGraphicFramePr>
        <p:xfrm>
          <a:off x="19049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9288269"/>
              </p:ext>
            </p:extLst>
          </p:nvPr>
        </p:nvGraphicFramePr>
        <p:xfrm>
          <a:off x="1905000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>
            <a:endCxn id="4" idx="0"/>
          </p:cNvCxnSpPr>
          <p:nvPr/>
        </p:nvCxnSpPr>
        <p:spPr>
          <a:xfrm flipH="1">
            <a:off x="914398" y="1124744"/>
            <a:ext cx="1066802" cy="69912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2438400" y="1196752"/>
            <a:ext cx="304797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8917329"/>
              </p:ext>
            </p:extLst>
          </p:nvPr>
        </p:nvGraphicFramePr>
        <p:xfrm>
          <a:off x="3733799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>
            <a:endCxn id="9" idx="0"/>
          </p:cNvCxnSpPr>
          <p:nvPr/>
        </p:nvCxnSpPr>
        <p:spPr>
          <a:xfrm>
            <a:off x="2971799" y="1196752"/>
            <a:ext cx="1600198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2189970"/>
              </p:ext>
            </p:extLst>
          </p:nvPr>
        </p:nvGraphicFramePr>
        <p:xfrm>
          <a:off x="5562598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5860439"/>
              </p:ext>
            </p:extLst>
          </p:nvPr>
        </p:nvGraphicFramePr>
        <p:xfrm>
          <a:off x="7391402" y="1823864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0902926"/>
              </p:ext>
            </p:extLst>
          </p:nvPr>
        </p:nvGraphicFramePr>
        <p:xfrm>
          <a:off x="5562603" y="105273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>
            <a:endCxn id="5" idx="1"/>
          </p:cNvCxnSpPr>
          <p:nvPr/>
        </p:nvCxnSpPr>
        <p:spPr>
          <a:xfrm flipV="1">
            <a:off x="1676400" y="2014364"/>
            <a:ext cx="228599" cy="365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1"/>
          </p:cNvCxnSpPr>
          <p:nvPr/>
        </p:nvCxnSpPr>
        <p:spPr>
          <a:xfrm flipV="1">
            <a:off x="3505200" y="2014364"/>
            <a:ext cx="228599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1" idx="1"/>
          </p:cNvCxnSpPr>
          <p:nvPr/>
        </p:nvCxnSpPr>
        <p:spPr>
          <a:xfrm flipV="1">
            <a:off x="5334000" y="2014364"/>
            <a:ext cx="228598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12" idx="1"/>
          </p:cNvCxnSpPr>
          <p:nvPr/>
        </p:nvCxnSpPr>
        <p:spPr>
          <a:xfrm flipV="1">
            <a:off x="7162800" y="2014364"/>
            <a:ext cx="228602" cy="381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1" idx="0"/>
          </p:cNvCxnSpPr>
          <p:nvPr/>
        </p:nvCxnSpPr>
        <p:spPr>
          <a:xfrm>
            <a:off x="5638800" y="1196752"/>
            <a:ext cx="761996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2" idx="0"/>
          </p:cNvCxnSpPr>
          <p:nvPr/>
        </p:nvCxnSpPr>
        <p:spPr>
          <a:xfrm>
            <a:off x="6172200" y="1196752"/>
            <a:ext cx="2057400" cy="627112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8072238"/>
              </p:ext>
            </p:extLst>
          </p:nvPr>
        </p:nvGraphicFramePr>
        <p:xfrm>
          <a:off x="3733800" y="332656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>
            <a:endCxn id="6" idx="0"/>
          </p:cNvCxnSpPr>
          <p:nvPr/>
        </p:nvCxnSpPr>
        <p:spPr>
          <a:xfrm flipH="1">
            <a:off x="2743198" y="476672"/>
            <a:ext cx="1066802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3" idx="0"/>
          </p:cNvCxnSpPr>
          <p:nvPr/>
        </p:nvCxnSpPr>
        <p:spPr>
          <a:xfrm>
            <a:off x="4343400" y="476672"/>
            <a:ext cx="2057401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7200900" y="476672"/>
            <a:ext cx="963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index</a:t>
            </a:r>
            <a:endParaRPr lang="en-SG" sz="24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157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Consider constructing a </a:t>
            </a:r>
            <a:r>
              <a:rPr lang="en-SG" dirty="0" smtClean="0"/>
              <a:t>B-tree where </a:t>
            </a:r>
            <a:r>
              <a:rPr lang="en-SG" dirty="0"/>
              <a:t>each node </a:t>
            </a:r>
            <a:r>
              <a:rPr lang="en-SG" dirty="0" smtClean="0"/>
              <a:t>has </a:t>
            </a:r>
            <a:r>
              <a:rPr lang="en-SG" dirty="0"/>
              <a:t>at most 3 </a:t>
            </a:r>
            <a:r>
              <a:rPr lang="en-SG" dirty="0" smtClean="0"/>
              <a:t>keys (i.e., d = 3)</a:t>
            </a:r>
            <a:endParaRPr lang="en-SG" dirty="0"/>
          </a:p>
          <a:p>
            <a:r>
              <a:rPr lang="en-SG" dirty="0" smtClean="0"/>
              <a:t>Show </a:t>
            </a:r>
            <a:r>
              <a:rPr lang="en-SG" dirty="0"/>
              <a:t>the resulting tree after inserting keys 10, 20, 30, 40, 50, </a:t>
            </a:r>
            <a:r>
              <a:rPr lang="en-SG" dirty="0" smtClean="0"/>
              <a:t>60, 70</a:t>
            </a:r>
            <a:r>
              <a:rPr lang="en-SG" dirty="0"/>
              <a:t>, 80, 90, </a:t>
            </a:r>
            <a:r>
              <a:rPr lang="en-SG" dirty="0" smtClean="0"/>
              <a:t>and 100 </a:t>
            </a:r>
            <a:r>
              <a:rPr lang="en-SG" dirty="0"/>
              <a:t>in </a:t>
            </a:r>
            <a:r>
              <a:rPr lang="en-SG" dirty="0" smtClean="0"/>
              <a:t>ascending order.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6558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72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71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17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471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67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72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17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5"/>
          <p:cNvGraphicFramePr>
            <a:graphicFrameLocks/>
          </p:cNvGraphicFramePr>
          <p:nvPr/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282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5"/>
          <p:cNvGraphicFramePr>
            <a:graphicFrameLocks/>
          </p:cNvGraphicFramePr>
          <p:nvPr/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42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5"/>
          <p:cNvGraphicFramePr>
            <a:graphicFrameLocks/>
          </p:cNvGraphicFramePr>
          <p:nvPr/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80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5"/>
          <p:cNvGraphicFramePr>
            <a:graphicFrameLocks/>
          </p:cNvGraphicFramePr>
          <p:nvPr/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5"/>
          <p:cNvGraphicFramePr>
            <a:graphicFrameLocks/>
          </p:cNvGraphicFramePr>
          <p:nvPr/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080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5"/>
          <p:cNvGraphicFramePr>
            <a:graphicFrameLocks/>
          </p:cNvGraphicFramePr>
          <p:nvPr/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5"/>
          <p:cNvGraphicFramePr>
            <a:graphicFrameLocks/>
          </p:cNvGraphicFramePr>
          <p:nvPr/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3505199" y="3886200"/>
            <a:ext cx="29718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10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5"/>
          <p:cNvGraphicFramePr>
            <a:graphicFrameLocks/>
          </p:cNvGraphicFramePr>
          <p:nvPr/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5"/>
          <p:cNvGraphicFramePr>
            <a:graphicFrameLocks/>
          </p:cNvGraphicFramePr>
          <p:nvPr/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3505199" y="3886200"/>
            <a:ext cx="29718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63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5"/>
          <p:cNvGraphicFramePr>
            <a:graphicFrameLocks/>
          </p:cNvGraphicFramePr>
          <p:nvPr/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5"/>
          <p:cNvGraphicFramePr>
            <a:graphicFrameLocks/>
          </p:cNvGraphicFramePr>
          <p:nvPr/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3505199" y="3886200"/>
            <a:ext cx="29718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5"/>
          <p:cNvGraphicFramePr>
            <a:graphicFrameLocks/>
          </p:cNvGraphicFramePr>
          <p:nvPr/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62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5"/>
          <p:cNvGraphicFramePr>
            <a:graphicFrameLocks/>
          </p:cNvGraphicFramePr>
          <p:nvPr/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5"/>
          <p:cNvGraphicFramePr>
            <a:graphicFrameLocks/>
          </p:cNvGraphicFramePr>
          <p:nvPr/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Content Placeholder 5"/>
          <p:cNvGraphicFramePr>
            <a:graphicFrameLocks/>
          </p:cNvGraphicFramePr>
          <p:nvPr/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Content Placeholder 5"/>
          <p:cNvGraphicFramePr>
            <a:graphicFrameLocks/>
          </p:cNvGraphicFramePr>
          <p:nvPr/>
        </p:nvGraphicFramePr>
        <p:xfrm>
          <a:off x="5562603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16200000" flipH="1">
            <a:off x="5486400" y="4038600"/>
            <a:ext cx="106680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172200" y="3886200"/>
            <a:ext cx="20574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240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/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/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5"/>
          <p:cNvGraphicFramePr>
            <a:graphicFrameLocks/>
          </p:cNvGraphicFramePr>
          <p:nvPr/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5"/>
          <p:cNvGraphicFramePr>
            <a:graphicFrameLocks/>
          </p:cNvGraphicFramePr>
          <p:nvPr/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80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Content Placeholder 5"/>
          <p:cNvGraphicFramePr>
            <a:graphicFrameLocks/>
          </p:cNvGraphicFramePr>
          <p:nvPr/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15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Content Placeholder 5"/>
          <p:cNvGraphicFramePr>
            <a:graphicFrameLocks/>
          </p:cNvGraphicFramePr>
          <p:nvPr/>
        </p:nvGraphicFramePr>
        <p:xfrm>
          <a:off x="5562603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90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Straight Arrow Connector 20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16200000" flipH="1">
            <a:off x="5486400" y="4038600"/>
            <a:ext cx="106680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172200" y="3886200"/>
            <a:ext cx="20574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Content Placeholder 5"/>
          <p:cNvGraphicFramePr>
            <a:graphicFrameLocks/>
          </p:cNvGraphicFramePr>
          <p:nvPr/>
        </p:nvGraphicFramePr>
        <p:xfrm>
          <a:off x="3733800" y="22098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70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 rot="5400000">
            <a:off x="2667000" y="2514600"/>
            <a:ext cx="12192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343400" y="2438400"/>
            <a:ext cx="2057400" cy="12192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21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SG" dirty="0"/>
              <a:t>Consider constructing a </a:t>
            </a:r>
            <a:r>
              <a:rPr lang="en-SG" dirty="0" smtClean="0"/>
              <a:t>B-tree where </a:t>
            </a:r>
            <a:r>
              <a:rPr lang="en-SG" dirty="0"/>
              <a:t>each node </a:t>
            </a:r>
            <a:r>
              <a:rPr lang="en-SG" dirty="0" smtClean="0"/>
              <a:t>has </a:t>
            </a:r>
            <a:r>
              <a:rPr lang="en-SG" dirty="0"/>
              <a:t>at most 3 </a:t>
            </a:r>
            <a:r>
              <a:rPr lang="en-SG" dirty="0" smtClean="0"/>
              <a:t>keys (i.e., d = 3)</a:t>
            </a:r>
            <a:endParaRPr lang="en-SG" dirty="0"/>
          </a:p>
          <a:p>
            <a:r>
              <a:rPr lang="en-SG" dirty="0" smtClean="0"/>
              <a:t>Show </a:t>
            </a:r>
            <a:r>
              <a:rPr lang="en-SG" dirty="0"/>
              <a:t>the resulting tree after inserting keys </a:t>
            </a:r>
            <a:r>
              <a:rPr lang="en-SG" dirty="0" smtClean="0"/>
              <a:t>20, 5, 45, 25, 60, 30, 15, 10, 55, 35, 40, 50 (in this order).</a:t>
            </a:r>
          </a:p>
          <a:p>
            <a:r>
              <a:rPr lang="en-US" dirty="0" smtClean="0"/>
              <a:t>Suppose that the DBMS search in your B-tree for tuples with key value 15. How many B-tree nodes need to be visited?</a:t>
            </a:r>
          </a:p>
          <a:p>
            <a:r>
              <a:rPr lang="en-US" dirty="0"/>
              <a:t>Suppose that the DBMS search in your B-tree for tuples with key </a:t>
            </a:r>
            <a:r>
              <a:rPr lang="en-US" dirty="0" smtClean="0"/>
              <a:t>values in [25, 40]. </a:t>
            </a:r>
            <a:r>
              <a:rPr lang="en-US" dirty="0"/>
              <a:t>How many B-tree nodes need to be visited?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3437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5408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59778158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839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680528651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27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458981116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99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060824619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8177358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418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672687980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3749952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6449119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543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83648694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3594812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758394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77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1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523112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3369567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3519390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6721158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Arrow Connector 17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17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1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3091398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Arrow Connector 17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5505188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5347187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1560103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1244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1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6154422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Arrow Connector 17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0556780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7338544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7759446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66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1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5055274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8" name="Straight Arrow Connector 17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3379028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0054993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9023513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357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1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0368781"/>
              </p:ext>
            </p:extLst>
          </p:nvPr>
        </p:nvGraphicFramePr>
        <p:xfrm>
          <a:off x="5536704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0184236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1326518"/>
              </p:ext>
            </p:extLst>
          </p:nvPr>
        </p:nvGraphicFramePr>
        <p:xfrm>
          <a:off x="3707904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1876816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20" idx="0"/>
          </p:cNvCxnSpPr>
          <p:nvPr/>
        </p:nvCxnSpPr>
        <p:spPr>
          <a:xfrm>
            <a:off x="2438400" y="3886200"/>
            <a:ext cx="2107702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7" idx="0"/>
          </p:cNvCxnSpPr>
          <p:nvPr/>
        </p:nvCxnSpPr>
        <p:spPr>
          <a:xfrm>
            <a:off x="2971799" y="3886200"/>
            <a:ext cx="3403103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0710927"/>
              </p:ext>
            </p:extLst>
          </p:nvPr>
        </p:nvGraphicFramePr>
        <p:xfrm>
          <a:off x="1907704" y="4941168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23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07905" y="5169768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308105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13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1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4984141"/>
              </p:ext>
            </p:extLst>
          </p:nvPr>
        </p:nvGraphicFramePr>
        <p:xfrm>
          <a:off x="5536704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9465395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5713053"/>
              </p:ext>
            </p:extLst>
          </p:nvPr>
        </p:nvGraphicFramePr>
        <p:xfrm>
          <a:off x="3707904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3559927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20" idx="0"/>
          </p:cNvCxnSpPr>
          <p:nvPr/>
        </p:nvCxnSpPr>
        <p:spPr>
          <a:xfrm>
            <a:off x="2987824" y="3886200"/>
            <a:ext cx="1558278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7" idx="0"/>
          </p:cNvCxnSpPr>
          <p:nvPr/>
        </p:nvCxnSpPr>
        <p:spPr>
          <a:xfrm>
            <a:off x="3492251" y="3886200"/>
            <a:ext cx="288265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2459220"/>
              </p:ext>
            </p:extLst>
          </p:nvPr>
        </p:nvGraphicFramePr>
        <p:xfrm>
          <a:off x="1907704" y="4941168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23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07905" y="5169768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308105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12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1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8236706"/>
              </p:ext>
            </p:extLst>
          </p:nvPr>
        </p:nvGraphicFramePr>
        <p:xfrm>
          <a:off x="5536704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1621720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3059861"/>
              </p:ext>
            </p:extLst>
          </p:nvPr>
        </p:nvGraphicFramePr>
        <p:xfrm>
          <a:off x="3707904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227842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20" idx="0"/>
          </p:cNvCxnSpPr>
          <p:nvPr/>
        </p:nvCxnSpPr>
        <p:spPr>
          <a:xfrm>
            <a:off x="2987824" y="3886200"/>
            <a:ext cx="1558278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7" idx="0"/>
          </p:cNvCxnSpPr>
          <p:nvPr/>
        </p:nvCxnSpPr>
        <p:spPr>
          <a:xfrm>
            <a:off x="3492251" y="3886200"/>
            <a:ext cx="288265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0180597"/>
              </p:ext>
            </p:extLst>
          </p:nvPr>
        </p:nvGraphicFramePr>
        <p:xfrm>
          <a:off x="1907704" y="4941168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23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07905" y="5169768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308105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3" idx="0"/>
          </p:cNvCxnSpPr>
          <p:nvPr/>
        </p:nvCxnSpPr>
        <p:spPr>
          <a:xfrm>
            <a:off x="2483768" y="3886200"/>
            <a:ext cx="262134" cy="105496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89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1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1059933"/>
              </p:ext>
            </p:extLst>
          </p:nvPr>
        </p:nvGraphicFramePr>
        <p:xfrm>
          <a:off x="5536704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7052104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1612660"/>
              </p:ext>
            </p:extLst>
          </p:nvPr>
        </p:nvGraphicFramePr>
        <p:xfrm>
          <a:off x="3707904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7821980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20" idx="0"/>
          </p:cNvCxnSpPr>
          <p:nvPr/>
        </p:nvCxnSpPr>
        <p:spPr>
          <a:xfrm>
            <a:off x="2987824" y="3886200"/>
            <a:ext cx="1558278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7" idx="0"/>
          </p:cNvCxnSpPr>
          <p:nvPr/>
        </p:nvCxnSpPr>
        <p:spPr>
          <a:xfrm>
            <a:off x="3492251" y="3886200"/>
            <a:ext cx="288265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9968824"/>
              </p:ext>
            </p:extLst>
          </p:nvPr>
        </p:nvGraphicFramePr>
        <p:xfrm>
          <a:off x="1907704" y="4941168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23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07905" y="5169768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308105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3" idx="0"/>
          </p:cNvCxnSpPr>
          <p:nvPr/>
        </p:nvCxnSpPr>
        <p:spPr>
          <a:xfrm>
            <a:off x="2483768" y="3886200"/>
            <a:ext cx="262134" cy="105496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40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1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654791"/>
              </p:ext>
            </p:extLst>
          </p:nvPr>
        </p:nvGraphicFramePr>
        <p:xfrm>
          <a:off x="5536704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599527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5998157"/>
              </p:ext>
            </p:extLst>
          </p:nvPr>
        </p:nvGraphicFramePr>
        <p:xfrm>
          <a:off x="3707904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0459187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 smtClean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Straight Arrow Connector 21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20" idx="0"/>
          </p:cNvCxnSpPr>
          <p:nvPr/>
        </p:nvCxnSpPr>
        <p:spPr>
          <a:xfrm>
            <a:off x="2987824" y="3886200"/>
            <a:ext cx="1558278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17" idx="0"/>
          </p:cNvCxnSpPr>
          <p:nvPr/>
        </p:nvCxnSpPr>
        <p:spPr>
          <a:xfrm>
            <a:off x="3492251" y="3886200"/>
            <a:ext cx="288265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1506098"/>
              </p:ext>
            </p:extLst>
          </p:nvPr>
        </p:nvGraphicFramePr>
        <p:xfrm>
          <a:off x="1907704" y="4941168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4" name="Straight Arrow Connector 23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507905" y="5169768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308105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13" idx="0"/>
          </p:cNvCxnSpPr>
          <p:nvPr/>
        </p:nvCxnSpPr>
        <p:spPr>
          <a:xfrm>
            <a:off x="2483768" y="3886200"/>
            <a:ext cx="262134" cy="105496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23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792799046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7650956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9259344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7580612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" name="Straight Arrow Connector 10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0237542"/>
              </p:ext>
            </p:extLst>
          </p:nvPr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>
            <a:endCxn id="16" idx="0"/>
          </p:cNvCxnSpPr>
          <p:nvPr/>
        </p:nvCxnSpPr>
        <p:spPr>
          <a:xfrm>
            <a:off x="3505199" y="3886200"/>
            <a:ext cx="47244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2231376"/>
              </p:ext>
            </p:extLst>
          </p:nvPr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3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8266608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0111059"/>
              </p:ext>
            </p:extLst>
          </p:nvPr>
        </p:nvGraphicFramePr>
        <p:xfrm>
          <a:off x="5562603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" name="Straight Arrow Connector 24"/>
          <p:cNvCxnSpPr/>
          <p:nvPr/>
        </p:nvCxnSpPr>
        <p:spPr>
          <a:xfrm rot="16200000" flipH="1">
            <a:off x="5486400" y="4038600"/>
            <a:ext cx="106680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172200" y="3886200"/>
            <a:ext cx="20574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0973369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3359006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2884062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2800390"/>
              </p:ext>
            </p:extLst>
          </p:nvPr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0761855"/>
              </p:ext>
            </p:extLst>
          </p:nvPr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1" name="Straight Arrow Connector 30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361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3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5863980"/>
              </p:ext>
            </p:extLst>
          </p:nvPr>
        </p:nvGraphicFramePr>
        <p:xfrm>
          <a:off x="3733800" y="22098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 rot="5400000">
            <a:off x="2667000" y="2514600"/>
            <a:ext cx="12192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343400" y="2438400"/>
            <a:ext cx="2057400" cy="12192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6469639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" name="Straight Arrow Connector 26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1897225"/>
              </p:ext>
            </p:extLst>
          </p:nvPr>
        </p:nvGraphicFramePr>
        <p:xfrm>
          <a:off x="5562603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rot="16200000" flipH="1">
            <a:off x="5486400" y="4038600"/>
            <a:ext cx="106680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172200" y="3886200"/>
            <a:ext cx="20574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7965910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8829595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526596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2622858"/>
              </p:ext>
            </p:extLst>
          </p:nvPr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7610866"/>
              </p:ext>
            </p:extLst>
          </p:nvPr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Straight Arrow Connector 41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636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3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61306233"/>
              </p:ext>
            </p:extLst>
          </p:nvPr>
        </p:nvGraphicFramePr>
        <p:xfrm>
          <a:off x="3733800" y="22098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 rot="5400000">
            <a:off x="2667000" y="2514600"/>
            <a:ext cx="12192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343400" y="2438400"/>
            <a:ext cx="2057400" cy="12192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8392454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" name="Straight Arrow Connector 26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9853592"/>
              </p:ext>
            </p:extLst>
          </p:nvPr>
        </p:nvGraphicFramePr>
        <p:xfrm>
          <a:off x="5562603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rot="16200000" flipH="1">
            <a:off x="5486400" y="4038600"/>
            <a:ext cx="106680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172200" y="3886200"/>
            <a:ext cx="20574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8343730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3214060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0180413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9011001"/>
              </p:ext>
            </p:extLst>
          </p:nvPr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5783496"/>
              </p:ext>
            </p:extLst>
          </p:nvPr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Straight Arrow Connector 41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44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3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270439"/>
              </p:ext>
            </p:extLst>
          </p:nvPr>
        </p:nvGraphicFramePr>
        <p:xfrm>
          <a:off x="3733800" y="22098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 rot="5400000">
            <a:off x="2667000" y="2514600"/>
            <a:ext cx="12192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343400" y="2438400"/>
            <a:ext cx="2057400" cy="12192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6154533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" name="Straight Arrow Connector 26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9918269"/>
              </p:ext>
            </p:extLst>
          </p:nvPr>
        </p:nvGraphicFramePr>
        <p:xfrm>
          <a:off x="5562603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rot="16200000" flipH="1">
            <a:off x="5486400" y="4038600"/>
            <a:ext cx="106680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172200" y="3886200"/>
            <a:ext cx="20574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1721962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0886787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5152848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4076421"/>
              </p:ext>
            </p:extLst>
          </p:nvPr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0171315"/>
              </p:ext>
            </p:extLst>
          </p:nvPr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Straight Arrow Connector 41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8787074"/>
              </p:ext>
            </p:extLst>
          </p:nvPr>
        </p:nvGraphicFramePr>
        <p:xfrm>
          <a:off x="7315200" y="24384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 flipH="1" flipV="1">
            <a:off x="8532440" y="2852936"/>
            <a:ext cx="432048" cy="232707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58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20, 5, 45, 25, 60, 30, 15, 10, 55, 35, 40, 50</a:t>
            </a:r>
            <a:endParaRPr lang="zh-CN" altLang="en-US" dirty="0"/>
          </a:p>
        </p:txBody>
      </p:sp>
      <p:graphicFrame>
        <p:nvGraphicFramePr>
          <p:cNvPr id="3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7188618"/>
              </p:ext>
            </p:extLst>
          </p:nvPr>
        </p:nvGraphicFramePr>
        <p:xfrm>
          <a:off x="3733800" y="22098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 rot="5400000">
            <a:off x="2667000" y="2514600"/>
            <a:ext cx="12192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343400" y="2438400"/>
            <a:ext cx="2057400" cy="12192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0053459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" name="Straight Arrow Connector 26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4935403"/>
              </p:ext>
            </p:extLst>
          </p:nvPr>
        </p:nvGraphicFramePr>
        <p:xfrm>
          <a:off x="5562603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rot="16200000" flipH="1">
            <a:off x="5486400" y="4038600"/>
            <a:ext cx="106680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172200" y="3886200"/>
            <a:ext cx="20574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248916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0636747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5741544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2930880"/>
              </p:ext>
            </p:extLst>
          </p:nvPr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0598962"/>
              </p:ext>
            </p:extLst>
          </p:nvPr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Straight Arrow Connector 41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3611188"/>
              </p:ext>
            </p:extLst>
          </p:nvPr>
        </p:nvGraphicFramePr>
        <p:xfrm>
          <a:off x="7315200" y="24384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 flipH="1" flipV="1">
            <a:off x="8532440" y="2852936"/>
            <a:ext cx="432048" cy="232707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660232" y="2852936"/>
            <a:ext cx="1012304" cy="10332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57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smtClean="0"/>
              <a:t>Search for </a:t>
            </a:r>
            <a:r>
              <a:rPr lang="en-SG" dirty="0"/>
              <a:t>t</a:t>
            </a:r>
            <a:r>
              <a:rPr lang="en-SG" dirty="0" smtClean="0"/>
              <a:t>uples with key value 15</a:t>
            </a:r>
            <a:endParaRPr lang="zh-CN" altLang="en-US" dirty="0"/>
          </a:p>
        </p:txBody>
      </p:sp>
      <p:graphicFrame>
        <p:nvGraphicFramePr>
          <p:cNvPr id="3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4026219"/>
              </p:ext>
            </p:extLst>
          </p:nvPr>
        </p:nvGraphicFramePr>
        <p:xfrm>
          <a:off x="3733800" y="22098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 rot="5400000">
            <a:off x="2667000" y="2514600"/>
            <a:ext cx="12192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343400" y="2438400"/>
            <a:ext cx="2057400" cy="12192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2178313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" name="Straight Arrow Connector 26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4995108"/>
              </p:ext>
            </p:extLst>
          </p:nvPr>
        </p:nvGraphicFramePr>
        <p:xfrm>
          <a:off x="5562603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rot="16200000" flipH="1">
            <a:off x="5486400" y="4038600"/>
            <a:ext cx="106680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172200" y="3886200"/>
            <a:ext cx="20574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4914962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8963967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2940407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2007569"/>
              </p:ext>
            </p:extLst>
          </p:nvPr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5130606"/>
              </p:ext>
            </p:extLst>
          </p:nvPr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Straight Arrow Connector 41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5376691"/>
              </p:ext>
            </p:extLst>
          </p:nvPr>
        </p:nvGraphicFramePr>
        <p:xfrm>
          <a:off x="7315200" y="24384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 flipH="1" flipV="1">
            <a:off x="8532440" y="2852936"/>
            <a:ext cx="432048" cy="232707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660232" y="2852936"/>
            <a:ext cx="1012304" cy="10332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62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smtClean="0"/>
              <a:t>Search for </a:t>
            </a:r>
            <a:r>
              <a:rPr lang="en-SG" dirty="0"/>
              <a:t>t</a:t>
            </a:r>
            <a:r>
              <a:rPr lang="en-SG" dirty="0" smtClean="0"/>
              <a:t>uples with key value 15</a:t>
            </a:r>
            <a:endParaRPr lang="zh-CN" altLang="en-US" dirty="0"/>
          </a:p>
        </p:txBody>
      </p:sp>
      <p:graphicFrame>
        <p:nvGraphicFramePr>
          <p:cNvPr id="3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5235085"/>
              </p:ext>
            </p:extLst>
          </p:nvPr>
        </p:nvGraphicFramePr>
        <p:xfrm>
          <a:off x="3733800" y="22098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 rot="5400000">
            <a:off x="2667000" y="2514600"/>
            <a:ext cx="12192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343400" y="2438400"/>
            <a:ext cx="2057400" cy="12192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1242010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" name="Straight Arrow Connector 26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0304748"/>
              </p:ext>
            </p:extLst>
          </p:nvPr>
        </p:nvGraphicFramePr>
        <p:xfrm>
          <a:off x="5562603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rot="16200000" flipH="1">
            <a:off x="5486400" y="4038600"/>
            <a:ext cx="106680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172200" y="3886200"/>
            <a:ext cx="20574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1175903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540623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5615466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8234893"/>
              </p:ext>
            </p:extLst>
          </p:nvPr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3212284"/>
              </p:ext>
            </p:extLst>
          </p:nvPr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Straight Arrow Connector 41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4467934"/>
              </p:ext>
            </p:extLst>
          </p:nvPr>
        </p:nvGraphicFramePr>
        <p:xfrm>
          <a:off x="7315200" y="24384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 flipH="1" flipV="1">
            <a:off x="8532440" y="2852936"/>
            <a:ext cx="432048" cy="232707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660232" y="2852936"/>
            <a:ext cx="1012304" cy="10332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469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 smtClean="0"/>
              <a:t>Search for </a:t>
            </a:r>
            <a:r>
              <a:rPr lang="en-SG" dirty="0"/>
              <a:t>t</a:t>
            </a:r>
            <a:r>
              <a:rPr lang="en-SG" dirty="0" smtClean="0"/>
              <a:t>uples with key values in [25, 40]</a:t>
            </a:r>
            <a:endParaRPr lang="zh-CN" altLang="en-US" dirty="0"/>
          </a:p>
        </p:txBody>
      </p:sp>
      <p:graphicFrame>
        <p:nvGraphicFramePr>
          <p:cNvPr id="3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2660151"/>
              </p:ext>
            </p:extLst>
          </p:nvPr>
        </p:nvGraphicFramePr>
        <p:xfrm>
          <a:off x="3733800" y="22098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 rot="5400000">
            <a:off x="2667000" y="2514600"/>
            <a:ext cx="12192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343400" y="2438400"/>
            <a:ext cx="2057400" cy="12192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3221909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" name="Straight Arrow Connector 26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6760817"/>
              </p:ext>
            </p:extLst>
          </p:nvPr>
        </p:nvGraphicFramePr>
        <p:xfrm>
          <a:off x="5562603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rot="16200000" flipH="1">
            <a:off x="5486400" y="4038600"/>
            <a:ext cx="106680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172200" y="3886200"/>
            <a:ext cx="20574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8892489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6953995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1124777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8954928"/>
              </p:ext>
            </p:extLst>
          </p:nvPr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3351755"/>
              </p:ext>
            </p:extLst>
          </p:nvPr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Straight Arrow Connector 41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512908"/>
              </p:ext>
            </p:extLst>
          </p:nvPr>
        </p:nvGraphicFramePr>
        <p:xfrm>
          <a:off x="7315200" y="24384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 flipH="1" flipV="1">
            <a:off x="8532440" y="2852936"/>
            <a:ext cx="432048" cy="232707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660232" y="2852936"/>
            <a:ext cx="1012304" cy="10332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002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SG" dirty="0"/>
              <a:t>Search for tuples with key values in [25, 40]</a:t>
            </a:r>
            <a:endParaRPr lang="zh-CN" altLang="en-US" dirty="0"/>
          </a:p>
        </p:txBody>
      </p:sp>
      <p:graphicFrame>
        <p:nvGraphicFramePr>
          <p:cNvPr id="3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5127887"/>
              </p:ext>
            </p:extLst>
          </p:nvPr>
        </p:nvGraphicFramePr>
        <p:xfrm>
          <a:off x="3733800" y="22098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Straight Arrow Connector 31"/>
          <p:cNvCxnSpPr/>
          <p:nvPr/>
        </p:nvCxnSpPr>
        <p:spPr>
          <a:xfrm rot="5400000">
            <a:off x="2667000" y="2514600"/>
            <a:ext cx="12192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343400" y="2438400"/>
            <a:ext cx="2057400" cy="12192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2875764"/>
              </p:ext>
            </p:extLst>
          </p:nvPr>
        </p:nvGraphicFramePr>
        <p:xfrm>
          <a:off x="1905000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7" name="Straight Arrow Connector 26"/>
          <p:cNvCxnSpPr/>
          <p:nvPr/>
        </p:nvCxnSpPr>
        <p:spPr>
          <a:xfrm rot="5400000">
            <a:off x="914400" y="3886200"/>
            <a:ext cx="10668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rot="16200000" flipH="1">
            <a:off x="2057400" y="4267200"/>
            <a:ext cx="1066800" cy="304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971799" y="3886200"/>
            <a:ext cx="1600201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9496088"/>
              </p:ext>
            </p:extLst>
          </p:nvPr>
        </p:nvGraphicFramePr>
        <p:xfrm>
          <a:off x="5562603" y="36576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rot="16200000" flipH="1">
            <a:off x="5486400" y="4038600"/>
            <a:ext cx="1066800" cy="7620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6172200" y="3886200"/>
            <a:ext cx="2057400" cy="1066800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1224043"/>
              </p:ext>
            </p:extLst>
          </p:nvPr>
        </p:nvGraphicFramePr>
        <p:xfrm>
          <a:off x="76200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731163"/>
              </p:ext>
            </p:extLst>
          </p:nvPr>
        </p:nvGraphicFramePr>
        <p:xfrm>
          <a:off x="19049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4533869"/>
              </p:ext>
            </p:extLst>
          </p:nvPr>
        </p:nvGraphicFramePr>
        <p:xfrm>
          <a:off x="3733799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0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0920422"/>
              </p:ext>
            </p:extLst>
          </p:nvPr>
        </p:nvGraphicFramePr>
        <p:xfrm>
          <a:off x="5562598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685969"/>
              </p:ext>
            </p:extLst>
          </p:nvPr>
        </p:nvGraphicFramePr>
        <p:xfrm>
          <a:off x="7391402" y="49530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45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8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2" name="Straight Arrow Connector 41"/>
          <p:cNvCxnSpPr/>
          <p:nvPr/>
        </p:nvCxnSpPr>
        <p:spPr>
          <a:xfrm>
            <a:off x="1676400" y="5180012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>
            <a:off x="35052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3340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162800" y="5181600"/>
            <a:ext cx="304800" cy="1588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1312666"/>
              </p:ext>
            </p:extLst>
          </p:nvPr>
        </p:nvGraphicFramePr>
        <p:xfrm>
          <a:off x="7315200" y="2438400"/>
          <a:ext cx="1676397" cy="381000"/>
        </p:xfrm>
        <a:graphic>
          <a:graphicData uri="http://schemas.openxmlformats.org/drawingml/2006/table">
            <a:tbl>
              <a:tblPr/>
              <a:tblGrid>
                <a:gridCol w="15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4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55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 smtClean="0">
                          <a:solidFill>
                            <a:schemeClr val="bg1"/>
                          </a:solidFill>
                          <a:latin typeface="Arial" pitchFamily="34" charset="0"/>
                          <a:cs typeface="Arial" pitchFamily="34" charset="0"/>
                        </a:rPr>
                        <a:t>60</a:t>
                      </a:r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1" dirty="0">
                        <a:solidFill>
                          <a:schemeClr val="bg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3" name="Straight Arrow Connector 22"/>
          <p:cNvCxnSpPr/>
          <p:nvPr/>
        </p:nvCxnSpPr>
        <p:spPr>
          <a:xfrm flipH="1" flipV="1">
            <a:off x="8532440" y="2852936"/>
            <a:ext cx="432048" cy="2327076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6660232" y="2852936"/>
            <a:ext cx="1012304" cy="1033264"/>
          </a:xfrm>
          <a:prstGeom prst="straightConnector1">
            <a:avLst/>
          </a:prstGeom>
          <a:ln w="381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718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Indices in SQL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General syntax:</a:t>
            </a:r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CREATE </a:t>
            </a:r>
            <a:r>
              <a:rPr lang="en-US" dirty="0" smtClean="0">
                <a:solidFill>
                  <a:srgbClr val="0000FF"/>
                </a:solidFill>
              </a:rPr>
              <a:t>INDEX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/>
              <a:t>index_name</a:t>
            </a:r>
            <a:endParaRPr lang="en-US" dirty="0"/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ON</a:t>
            </a:r>
            <a:r>
              <a:rPr lang="en-US" dirty="0" smtClean="0"/>
              <a:t> </a:t>
            </a:r>
            <a:r>
              <a:rPr lang="en-US" dirty="0" err="1" smtClean="0"/>
              <a:t>table_name</a:t>
            </a:r>
            <a:r>
              <a:rPr lang="en-US" dirty="0" smtClean="0"/>
              <a:t>( </a:t>
            </a:r>
            <a:r>
              <a:rPr lang="en-US" dirty="0" smtClean="0"/>
              <a:t>attribute_name1, attribute name2, … </a:t>
            </a:r>
            <a:r>
              <a:rPr lang="en-US" dirty="0" smtClean="0"/>
              <a:t>)</a:t>
            </a:r>
            <a:endParaRPr lang="en-US" dirty="0"/>
          </a:p>
          <a:p>
            <a:endParaRPr lang="en-US" dirty="0" smtClean="0"/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DROP</a:t>
            </a:r>
            <a:r>
              <a:rPr lang="en-US" dirty="0" smtClean="0"/>
              <a:t> INDEX </a:t>
            </a:r>
            <a:r>
              <a:rPr lang="en-US" dirty="0" err="1" smtClean="0"/>
              <a:t>index_name</a:t>
            </a:r>
            <a:r>
              <a:rPr lang="en-US" dirty="0" smtClean="0"/>
              <a:t> </a:t>
            </a:r>
            <a:r>
              <a:rPr lang="en-US" dirty="0">
                <a:solidFill>
                  <a:srgbClr val="0000FF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/>
              <a:t>table_name</a:t>
            </a:r>
            <a:endParaRPr lang="en-US" dirty="0" smtClean="0"/>
          </a:p>
          <a:p>
            <a:r>
              <a:rPr lang="en-US" dirty="0" smtClean="0"/>
              <a:t>Different RDMBS have different </a:t>
            </a:r>
            <a:r>
              <a:rPr lang="en-US" smtClean="0"/>
              <a:t>additional options</a:t>
            </a:r>
            <a:endParaRPr lang="en-US" dirty="0" smtClean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6889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Edge 12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3366FF"/>
      </a:accent1>
      <a:accent2>
        <a:srgbClr val="3366FF"/>
      </a:accent2>
      <a:accent3>
        <a:srgbClr val="FFFFFF"/>
      </a:accent3>
      <a:accent4>
        <a:srgbClr val="000000"/>
      </a:accent4>
      <a:accent5>
        <a:srgbClr val="ADB8FF"/>
      </a:accent5>
      <a:accent6>
        <a:srgbClr val="2D5CE7"/>
      </a:accent6>
      <a:hlink>
        <a:srgbClr val="006666"/>
      </a:hlink>
      <a:folHlink>
        <a:srgbClr val="B2B2B2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1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0099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008A8A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2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19618</TotalTime>
  <Words>5223</Words>
  <Application>Microsoft Office PowerPoint</Application>
  <PresentationFormat>On-screen Show (4:3)</PresentationFormat>
  <Paragraphs>1717</Paragraphs>
  <Slides>104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1" baseType="lpstr">
      <vt:lpstr>宋体</vt:lpstr>
      <vt:lpstr>Arial</vt:lpstr>
      <vt:lpstr>Calibri</vt:lpstr>
      <vt:lpstr>Comic Sans MS</vt:lpstr>
      <vt:lpstr>Garamond</vt:lpstr>
      <vt:lpstr>Wingdings</vt:lpstr>
      <vt:lpstr>Edge</vt:lpstr>
      <vt:lpstr>CS2102 Database Systems</vt:lpstr>
      <vt:lpstr>Where We Are</vt:lpstr>
      <vt:lpstr>Outline</vt:lpstr>
      <vt:lpstr>Storage model</vt:lpstr>
      <vt:lpstr>Data Files</vt:lpstr>
      <vt:lpstr>Motivation for Indices</vt:lpstr>
      <vt:lpstr>Indices</vt:lpstr>
      <vt:lpstr>Indices (cont.)</vt:lpstr>
      <vt:lpstr>Types of Indices</vt:lpstr>
      <vt:lpstr>Types of Indices (cont.)</vt:lpstr>
      <vt:lpstr>Clustered vs. Un-clustered</vt:lpstr>
      <vt:lpstr>Clustered vs. Un-clustered</vt:lpstr>
      <vt:lpstr>Clustered vs. Un-clustered (cont.)</vt:lpstr>
      <vt:lpstr>Clustered vs. Un-clustered (cont.)</vt:lpstr>
      <vt:lpstr>Clustered vs. Un-clustered (cont.)</vt:lpstr>
      <vt:lpstr>Clustered vs. Un-clustered (cont.)</vt:lpstr>
      <vt:lpstr>Clustered vs. Un-clustered (cont.)</vt:lpstr>
      <vt:lpstr>Clustered vs. Un-clustered (cont.)</vt:lpstr>
      <vt:lpstr>Most Commonly Used Indices</vt:lpstr>
      <vt:lpstr>Motivation for B-trees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Insertions in B-Tree: Summary</vt:lpstr>
      <vt:lpstr>B-tree</vt:lpstr>
      <vt:lpstr>B-tree</vt:lpstr>
      <vt:lpstr>B-tree</vt:lpstr>
      <vt:lpstr>B-tree</vt:lpstr>
      <vt:lpstr>B-tree</vt:lpstr>
      <vt:lpstr>B-tree</vt:lpstr>
      <vt:lpstr>B-tree</vt:lpstr>
      <vt:lpstr>B-tree</vt:lpstr>
      <vt:lpstr>B-tree Summary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20, 5, 45, 25, 60, 30, 15, 10, 55, 35, 40, 50</vt:lpstr>
      <vt:lpstr>Search for tuples with key value 15</vt:lpstr>
      <vt:lpstr>Search for tuples with key value 15</vt:lpstr>
      <vt:lpstr>Search for tuples with key values in [25, 40]</vt:lpstr>
      <vt:lpstr>Search for tuples with key values in [25, 40]</vt:lpstr>
      <vt:lpstr>Indices in SQL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Data Publishing</dc:title>
  <dc:creator>xiaokui</dc:creator>
  <cp:lastModifiedBy>Xiaokui XIAO</cp:lastModifiedBy>
  <cp:revision>1122</cp:revision>
  <cp:lastPrinted>2013-09-12T04:51:00Z</cp:lastPrinted>
  <dcterms:created xsi:type="dcterms:W3CDTF">2009-03-02T02:47:37Z</dcterms:created>
  <dcterms:modified xsi:type="dcterms:W3CDTF">2019-06-18T03:22:14Z</dcterms:modified>
</cp:coreProperties>
</file>