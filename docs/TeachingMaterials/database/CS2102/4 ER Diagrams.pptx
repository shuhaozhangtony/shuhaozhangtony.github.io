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6" r:id="rId1"/>
  </p:sldMasterIdLst>
  <p:notesMasterIdLst>
    <p:notesMasterId r:id="rId100"/>
  </p:notesMasterIdLst>
  <p:handoutMasterIdLst>
    <p:handoutMasterId r:id="rId101"/>
  </p:handoutMasterIdLst>
  <p:sldIdLst>
    <p:sldId id="256" r:id="rId2"/>
    <p:sldId id="686" r:id="rId3"/>
    <p:sldId id="540" r:id="rId4"/>
    <p:sldId id="541" r:id="rId5"/>
    <p:sldId id="687" r:id="rId6"/>
    <p:sldId id="606" r:id="rId7"/>
    <p:sldId id="607" r:id="rId8"/>
    <p:sldId id="608" r:id="rId9"/>
    <p:sldId id="609" r:id="rId10"/>
    <p:sldId id="610" r:id="rId11"/>
    <p:sldId id="611" r:id="rId12"/>
    <p:sldId id="612" r:id="rId13"/>
    <p:sldId id="613" r:id="rId14"/>
    <p:sldId id="614" r:id="rId15"/>
    <p:sldId id="615" r:id="rId16"/>
    <p:sldId id="620" r:id="rId17"/>
    <p:sldId id="621" r:id="rId18"/>
    <p:sldId id="622" r:id="rId19"/>
    <p:sldId id="771" r:id="rId20"/>
    <p:sldId id="767" r:id="rId21"/>
    <p:sldId id="768" r:id="rId22"/>
    <p:sldId id="769" r:id="rId23"/>
    <p:sldId id="770" r:id="rId24"/>
    <p:sldId id="625" r:id="rId25"/>
    <p:sldId id="626" r:id="rId26"/>
    <p:sldId id="627" r:id="rId27"/>
    <p:sldId id="628" r:id="rId28"/>
    <p:sldId id="629" r:id="rId29"/>
    <p:sldId id="554" r:id="rId30"/>
    <p:sldId id="555" r:id="rId31"/>
    <p:sldId id="556" r:id="rId32"/>
    <p:sldId id="772" r:id="rId33"/>
    <p:sldId id="557" r:id="rId34"/>
    <p:sldId id="773" r:id="rId35"/>
    <p:sldId id="558" r:id="rId36"/>
    <p:sldId id="640" r:id="rId37"/>
    <p:sldId id="641" r:id="rId38"/>
    <p:sldId id="630" r:id="rId39"/>
    <p:sldId id="632" r:id="rId40"/>
    <p:sldId id="634" r:id="rId41"/>
    <p:sldId id="635" r:id="rId42"/>
    <p:sldId id="636" r:id="rId43"/>
    <p:sldId id="642" r:id="rId44"/>
    <p:sldId id="559" r:id="rId45"/>
    <p:sldId id="560" r:id="rId46"/>
    <p:sldId id="561" r:id="rId47"/>
    <p:sldId id="562" r:id="rId48"/>
    <p:sldId id="782" r:id="rId49"/>
    <p:sldId id="563" r:id="rId50"/>
    <p:sldId id="774" r:id="rId51"/>
    <p:sldId id="638" r:id="rId52"/>
    <p:sldId id="639" r:id="rId53"/>
    <p:sldId id="565" r:id="rId54"/>
    <p:sldId id="688" r:id="rId55"/>
    <p:sldId id="566" r:id="rId56"/>
    <p:sldId id="643" r:id="rId57"/>
    <p:sldId id="644" r:id="rId58"/>
    <p:sldId id="645" r:id="rId59"/>
    <p:sldId id="646" r:id="rId60"/>
    <p:sldId id="647" r:id="rId61"/>
    <p:sldId id="648" r:id="rId62"/>
    <p:sldId id="649" r:id="rId63"/>
    <p:sldId id="650" r:id="rId64"/>
    <p:sldId id="689" r:id="rId65"/>
    <p:sldId id="651" r:id="rId66"/>
    <p:sldId id="657" r:id="rId67"/>
    <p:sldId id="652" r:id="rId68"/>
    <p:sldId id="708" r:id="rId69"/>
    <p:sldId id="783" r:id="rId70"/>
    <p:sldId id="784" r:id="rId71"/>
    <p:sldId id="785" r:id="rId72"/>
    <p:sldId id="667" r:id="rId73"/>
    <p:sldId id="691" r:id="rId74"/>
    <p:sldId id="668" r:id="rId75"/>
    <p:sldId id="669" r:id="rId76"/>
    <p:sldId id="670" r:id="rId77"/>
    <p:sldId id="671" r:id="rId78"/>
    <p:sldId id="672" r:id="rId79"/>
    <p:sldId id="692" r:id="rId80"/>
    <p:sldId id="693" r:id="rId81"/>
    <p:sldId id="694" r:id="rId82"/>
    <p:sldId id="695" r:id="rId83"/>
    <p:sldId id="696" r:id="rId84"/>
    <p:sldId id="702" r:id="rId85"/>
    <p:sldId id="704" r:id="rId86"/>
    <p:sldId id="703" r:id="rId87"/>
    <p:sldId id="705" r:id="rId88"/>
    <p:sldId id="706" r:id="rId89"/>
    <p:sldId id="697" r:id="rId90"/>
    <p:sldId id="673" r:id="rId91"/>
    <p:sldId id="674" r:id="rId92"/>
    <p:sldId id="675" r:id="rId93"/>
    <p:sldId id="676" r:id="rId94"/>
    <p:sldId id="677" r:id="rId95"/>
    <p:sldId id="678" r:id="rId96"/>
    <p:sldId id="709" r:id="rId97"/>
    <p:sldId id="710" r:id="rId98"/>
    <p:sldId id="707" r:id="rId99"/>
  </p:sldIdLst>
  <p:sldSz cx="9144000" cy="6858000" type="screen4x3"/>
  <p:notesSz cx="6669088" cy="9753600"/>
  <p:defaultTextStyle>
    <a:defPPr>
      <a:defRPr lang="en-U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008000"/>
    <a:srgbClr val="CCFF99"/>
    <a:srgbClr val="FFFFCC"/>
    <a:srgbClr val="FF9900"/>
    <a:srgbClr val="33CC33"/>
    <a:srgbClr val="66FF33"/>
    <a:srgbClr val="CC00CC"/>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882" autoAdjust="0"/>
  </p:normalViewPr>
  <p:slideViewPr>
    <p:cSldViewPr>
      <p:cViewPr varScale="1">
        <p:scale>
          <a:sx n="111" d="100"/>
          <a:sy n="111" d="100"/>
        </p:scale>
        <p:origin x="1616" y="5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2889938" cy="487681"/>
          </a:xfrm>
          <a:prstGeom prst="rect">
            <a:avLst/>
          </a:prstGeom>
        </p:spPr>
        <p:txBody>
          <a:bodyPr vert="horz" wrap="square" lIns="96642" tIns="48321" rIns="96642" bIns="48321" numCol="1" anchor="t" anchorCtr="0" compatLnSpc="1">
            <a:prstTxWarp prst="textNoShape">
              <a:avLst/>
            </a:prstTxWarp>
          </a:bodyPr>
          <a:lstStyle>
            <a:lvl1pPr>
              <a:defRPr smtClean="0"/>
            </a:lvl1pPr>
          </a:lstStyle>
          <a:p>
            <a:pPr>
              <a:defRPr/>
            </a:pPr>
            <a:endParaRPr lang="zh-CN" altLang="en-US"/>
          </a:p>
        </p:txBody>
      </p:sp>
      <p:sp>
        <p:nvSpPr>
          <p:cNvPr id="3" name="Date Placeholder 2"/>
          <p:cNvSpPr>
            <a:spLocks noGrp="1"/>
          </p:cNvSpPr>
          <p:nvPr>
            <p:ph type="dt" sz="quarter" idx="1"/>
          </p:nvPr>
        </p:nvSpPr>
        <p:spPr>
          <a:xfrm>
            <a:off x="3777994" y="2"/>
            <a:ext cx="2889938" cy="487681"/>
          </a:xfrm>
          <a:prstGeom prst="rect">
            <a:avLst/>
          </a:prstGeom>
        </p:spPr>
        <p:txBody>
          <a:bodyPr vert="horz" wrap="square" lIns="96642" tIns="48321" rIns="96642" bIns="48321" numCol="1" anchor="t" anchorCtr="0" compatLnSpc="1">
            <a:prstTxWarp prst="textNoShape">
              <a:avLst/>
            </a:prstTxWarp>
          </a:bodyPr>
          <a:lstStyle>
            <a:lvl1pPr algn="r">
              <a:defRPr smtClean="0"/>
            </a:lvl1pPr>
          </a:lstStyle>
          <a:p>
            <a:pPr>
              <a:defRPr/>
            </a:pPr>
            <a:fld id="{1A395C66-BAC7-4947-A978-17979EC9EE5D}" type="datetimeFigureOut">
              <a:rPr lang="zh-CN" altLang="en-US"/>
              <a:pPr>
                <a:defRPr/>
              </a:pPr>
              <a:t>2019/6/17</a:t>
            </a:fld>
            <a:endParaRPr lang="en-US" altLang="zh-CN"/>
          </a:p>
        </p:txBody>
      </p:sp>
      <p:sp>
        <p:nvSpPr>
          <p:cNvPr id="4" name="Footer Placeholder 3"/>
          <p:cNvSpPr>
            <a:spLocks noGrp="1"/>
          </p:cNvSpPr>
          <p:nvPr>
            <p:ph type="ftr" sz="quarter" idx="2"/>
          </p:nvPr>
        </p:nvSpPr>
        <p:spPr>
          <a:xfrm>
            <a:off x="2" y="9263663"/>
            <a:ext cx="2889938" cy="487681"/>
          </a:xfrm>
          <a:prstGeom prst="rect">
            <a:avLst/>
          </a:prstGeom>
        </p:spPr>
        <p:txBody>
          <a:bodyPr vert="horz" wrap="square" lIns="96642" tIns="48321" rIns="96642" bIns="48321" numCol="1" anchor="b" anchorCtr="0" compatLnSpc="1">
            <a:prstTxWarp prst="textNoShape">
              <a:avLst/>
            </a:prstTxWarp>
          </a:bodyPr>
          <a:lstStyle>
            <a:lvl1pPr>
              <a:defRPr smtClean="0"/>
            </a:lvl1pPr>
          </a:lstStyle>
          <a:p>
            <a:pPr>
              <a:defRPr/>
            </a:pPr>
            <a:endParaRPr lang="zh-CN" altLang="en-US"/>
          </a:p>
        </p:txBody>
      </p:sp>
      <p:sp>
        <p:nvSpPr>
          <p:cNvPr id="5" name="Slide Number Placeholder 4"/>
          <p:cNvSpPr>
            <a:spLocks noGrp="1"/>
          </p:cNvSpPr>
          <p:nvPr>
            <p:ph type="sldNum" sz="quarter" idx="3"/>
          </p:nvPr>
        </p:nvSpPr>
        <p:spPr>
          <a:xfrm>
            <a:off x="3777994" y="9263663"/>
            <a:ext cx="2889938" cy="487681"/>
          </a:xfrm>
          <a:prstGeom prst="rect">
            <a:avLst/>
          </a:prstGeom>
        </p:spPr>
        <p:txBody>
          <a:bodyPr vert="horz" wrap="square" lIns="96642" tIns="48321" rIns="96642" bIns="48321" numCol="1" anchor="b" anchorCtr="0" compatLnSpc="1">
            <a:prstTxWarp prst="textNoShape">
              <a:avLst/>
            </a:prstTxWarp>
          </a:bodyPr>
          <a:lstStyle>
            <a:lvl1pPr algn="r">
              <a:defRPr smtClean="0"/>
            </a:lvl1pPr>
          </a:lstStyle>
          <a:p>
            <a:pPr>
              <a:defRPr/>
            </a:pPr>
            <a:fld id="{4239E3A9-FBC1-4C90-89C7-C86D175BA3FA}" type="slidenum">
              <a:rPr lang="zh-CN" altLang="en-US"/>
              <a:pPr>
                <a:defRPr/>
              </a:pPr>
              <a:t>‹#›</a:t>
            </a:fld>
            <a:endParaRPr lang="en-US" altLang="zh-CN"/>
          </a:p>
        </p:txBody>
      </p:sp>
    </p:spTree>
    <p:extLst>
      <p:ext uri="{BB962C8B-B14F-4D97-AF65-F5344CB8AC3E}">
        <p14:creationId xmlns:p14="http://schemas.microsoft.com/office/powerpoint/2010/main" val="36157083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2" y="2"/>
            <a:ext cx="2889938" cy="487681"/>
          </a:xfrm>
          <a:prstGeom prst="rect">
            <a:avLst/>
          </a:prstGeom>
          <a:noFill/>
          <a:ln w="9525">
            <a:noFill/>
            <a:miter lim="800000"/>
            <a:headEnd/>
            <a:tailEnd/>
          </a:ln>
          <a:effectLst/>
        </p:spPr>
        <p:txBody>
          <a:bodyPr vert="horz" wrap="square" lIns="96642" tIns="48321" rIns="96642" bIns="48321" numCol="1" anchor="t" anchorCtr="0" compatLnSpc="1">
            <a:prstTxWarp prst="textNoShape">
              <a:avLst/>
            </a:prstTxWarp>
          </a:bodyPr>
          <a:lstStyle>
            <a:lvl1pPr eaLnBrk="0" hangingPunct="0">
              <a:defRPr sz="1200"/>
            </a:lvl1pPr>
          </a:lstStyle>
          <a:p>
            <a:pPr>
              <a:defRPr/>
            </a:pPr>
            <a:endParaRPr lang="en-US" altLang="zh-CN"/>
          </a:p>
        </p:txBody>
      </p:sp>
      <p:sp>
        <p:nvSpPr>
          <p:cNvPr id="36867" name="Rectangle 3"/>
          <p:cNvSpPr>
            <a:spLocks noGrp="1" noChangeArrowheads="1"/>
          </p:cNvSpPr>
          <p:nvPr>
            <p:ph type="dt" idx="1"/>
          </p:nvPr>
        </p:nvSpPr>
        <p:spPr bwMode="auto">
          <a:xfrm>
            <a:off x="3777994" y="2"/>
            <a:ext cx="2889938" cy="487681"/>
          </a:xfrm>
          <a:prstGeom prst="rect">
            <a:avLst/>
          </a:prstGeom>
          <a:noFill/>
          <a:ln w="9525">
            <a:noFill/>
            <a:miter lim="800000"/>
            <a:headEnd/>
            <a:tailEnd/>
          </a:ln>
          <a:effectLst/>
        </p:spPr>
        <p:txBody>
          <a:bodyPr vert="horz" wrap="square" lIns="96642" tIns="48321" rIns="96642" bIns="48321" numCol="1" anchor="t" anchorCtr="0" compatLnSpc="1">
            <a:prstTxWarp prst="textNoShape">
              <a:avLst/>
            </a:prstTxWarp>
          </a:bodyPr>
          <a:lstStyle>
            <a:lvl1pPr algn="r" eaLnBrk="0" hangingPunct="0">
              <a:defRPr sz="1200"/>
            </a:lvl1pPr>
          </a:lstStyle>
          <a:p>
            <a:pPr>
              <a:defRPr/>
            </a:pPr>
            <a:fld id="{8C874FDD-B067-4E5B-9185-454DDEAB3F7B}" type="datetimeFigureOut">
              <a:rPr lang="zh-CN" altLang="en-US"/>
              <a:pPr>
                <a:defRPr/>
              </a:pPr>
              <a:t>2019/6/17</a:t>
            </a:fld>
            <a:endParaRPr lang="en-US" altLang="zh-CN"/>
          </a:p>
        </p:txBody>
      </p:sp>
      <p:sp>
        <p:nvSpPr>
          <p:cNvPr id="47108" name="Rectangle 4"/>
          <p:cNvSpPr>
            <a:spLocks noGrp="1" noRot="1" noChangeAspect="1" noChangeArrowheads="1" noTextEdit="1"/>
          </p:cNvSpPr>
          <p:nvPr>
            <p:ph type="sldImg" idx="2"/>
          </p:nvPr>
        </p:nvSpPr>
        <p:spPr bwMode="auto">
          <a:xfrm>
            <a:off x="896938" y="730250"/>
            <a:ext cx="4875212" cy="36576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66909" y="4632961"/>
            <a:ext cx="5335270" cy="4389119"/>
          </a:xfrm>
          <a:prstGeom prst="rect">
            <a:avLst/>
          </a:prstGeom>
          <a:noFill/>
          <a:ln w="9525">
            <a:noFill/>
            <a:miter lim="800000"/>
            <a:headEnd/>
            <a:tailEnd/>
          </a:ln>
          <a:effectLst/>
        </p:spPr>
        <p:txBody>
          <a:bodyPr vert="horz" wrap="square" lIns="96642" tIns="48321" rIns="96642" bIns="48321"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6870" name="Rectangle 6"/>
          <p:cNvSpPr>
            <a:spLocks noGrp="1" noChangeArrowheads="1"/>
          </p:cNvSpPr>
          <p:nvPr>
            <p:ph type="ftr" sz="quarter" idx="4"/>
          </p:nvPr>
        </p:nvSpPr>
        <p:spPr bwMode="auto">
          <a:xfrm>
            <a:off x="2" y="9263663"/>
            <a:ext cx="2889938" cy="487681"/>
          </a:xfrm>
          <a:prstGeom prst="rect">
            <a:avLst/>
          </a:prstGeom>
          <a:noFill/>
          <a:ln w="9525">
            <a:noFill/>
            <a:miter lim="800000"/>
            <a:headEnd/>
            <a:tailEnd/>
          </a:ln>
          <a:effectLst/>
        </p:spPr>
        <p:txBody>
          <a:bodyPr vert="horz" wrap="square" lIns="96642" tIns="48321" rIns="96642" bIns="48321" numCol="1" anchor="b" anchorCtr="0" compatLnSpc="1">
            <a:prstTxWarp prst="textNoShape">
              <a:avLst/>
            </a:prstTxWarp>
          </a:bodyPr>
          <a:lstStyle>
            <a:lvl1pPr eaLnBrk="0" hangingPunct="0">
              <a:defRPr sz="1200"/>
            </a:lvl1pPr>
          </a:lstStyle>
          <a:p>
            <a:pPr>
              <a:defRPr/>
            </a:pPr>
            <a:endParaRPr lang="en-US" altLang="zh-CN"/>
          </a:p>
        </p:txBody>
      </p:sp>
      <p:sp>
        <p:nvSpPr>
          <p:cNvPr id="36871" name="Rectangle 7"/>
          <p:cNvSpPr>
            <a:spLocks noGrp="1" noChangeArrowheads="1"/>
          </p:cNvSpPr>
          <p:nvPr>
            <p:ph type="sldNum" sz="quarter" idx="5"/>
          </p:nvPr>
        </p:nvSpPr>
        <p:spPr bwMode="auto">
          <a:xfrm>
            <a:off x="3777994" y="9263663"/>
            <a:ext cx="2889938" cy="487681"/>
          </a:xfrm>
          <a:prstGeom prst="rect">
            <a:avLst/>
          </a:prstGeom>
          <a:noFill/>
          <a:ln w="9525">
            <a:noFill/>
            <a:miter lim="800000"/>
            <a:headEnd/>
            <a:tailEnd/>
          </a:ln>
          <a:effectLst/>
        </p:spPr>
        <p:txBody>
          <a:bodyPr vert="horz" wrap="square" lIns="96642" tIns="48321" rIns="96642" bIns="48321" numCol="1" anchor="b" anchorCtr="0" compatLnSpc="1">
            <a:prstTxWarp prst="textNoShape">
              <a:avLst/>
            </a:prstTxWarp>
          </a:bodyPr>
          <a:lstStyle>
            <a:lvl1pPr algn="r" eaLnBrk="0" hangingPunct="0">
              <a:defRPr sz="1200"/>
            </a:lvl1pPr>
          </a:lstStyle>
          <a:p>
            <a:pPr>
              <a:defRPr/>
            </a:pPr>
            <a:fld id="{1A4026A9-F546-4A60-85FC-C280A3E995E5}" type="slidenum">
              <a:rPr lang="zh-CN" altLang="en-US"/>
              <a:pPr>
                <a:defRPr/>
              </a:pPr>
              <a:t>‹#›</a:t>
            </a:fld>
            <a:endParaRPr lang="en-US" altLang="zh-CN"/>
          </a:p>
        </p:txBody>
      </p:sp>
    </p:spTree>
    <p:extLst>
      <p:ext uri="{BB962C8B-B14F-4D97-AF65-F5344CB8AC3E}">
        <p14:creationId xmlns:p14="http://schemas.microsoft.com/office/powerpoint/2010/main" val="39046891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endParaRPr lang="en-US" altLang="zh-CN" dirty="0"/>
          </a:p>
        </p:txBody>
      </p:sp>
    </p:spTree>
    <p:extLst>
      <p:ext uri="{BB962C8B-B14F-4D97-AF65-F5344CB8AC3E}">
        <p14:creationId xmlns:p14="http://schemas.microsoft.com/office/powerpoint/2010/main" val="1785402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pPr>
              <a:defRPr/>
            </a:pPr>
            <a:fld id="{1A4026A9-F546-4A60-85FC-C280A3E995E5}" type="slidenum">
              <a:rPr lang="zh-CN" altLang="en-US" smtClean="0"/>
              <a:pPr>
                <a:defRPr/>
              </a:pPr>
              <a:t>67</a:t>
            </a:fld>
            <a:endParaRPr lang="en-US" altLang="zh-CN"/>
          </a:p>
        </p:txBody>
      </p:sp>
    </p:spTree>
    <p:extLst>
      <p:ext uri="{BB962C8B-B14F-4D97-AF65-F5344CB8AC3E}">
        <p14:creationId xmlns:p14="http://schemas.microsoft.com/office/powerpoint/2010/main" val="3274603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pPr>
              <a:defRPr/>
            </a:pPr>
            <a:fld id="{1A4026A9-F546-4A60-85FC-C280A3E995E5}" type="slidenum">
              <a:rPr lang="zh-CN" altLang="en-US" smtClean="0"/>
              <a:pPr>
                <a:defRPr/>
              </a:pPr>
              <a:t>68</a:t>
            </a:fld>
            <a:endParaRPr lang="en-US" altLang="zh-CN"/>
          </a:p>
        </p:txBody>
      </p:sp>
    </p:spTree>
    <p:extLst>
      <p:ext uri="{BB962C8B-B14F-4D97-AF65-F5344CB8AC3E}">
        <p14:creationId xmlns:p14="http://schemas.microsoft.com/office/powerpoint/2010/main" val="3274603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A4026A9-F546-4A60-85FC-C280A3E995E5}" type="slidenum">
              <a:rPr lang="zh-CN" altLang="en-US" smtClean="0"/>
              <a:pPr>
                <a:defRPr/>
              </a:pPr>
              <a:t>90</a:t>
            </a:fld>
            <a:endParaRPr lang="en-US" altLang="zh-CN"/>
          </a:p>
        </p:txBody>
      </p:sp>
    </p:spTree>
    <p:extLst>
      <p:ext uri="{BB962C8B-B14F-4D97-AF65-F5344CB8AC3E}">
        <p14:creationId xmlns:p14="http://schemas.microsoft.com/office/powerpoint/2010/main" val="1629589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pPr>
              <a:defRPr/>
            </a:pPr>
            <a:fld id="{1A4026A9-F546-4A60-85FC-C280A3E995E5}" type="slidenum">
              <a:rPr lang="zh-CN" altLang="en-US" smtClean="0"/>
              <a:pPr>
                <a:defRPr/>
              </a:pPr>
              <a:t>96</a:t>
            </a:fld>
            <a:endParaRPr lang="en-US" altLang="zh-CN"/>
          </a:p>
        </p:txBody>
      </p:sp>
    </p:spTree>
    <p:extLst>
      <p:ext uri="{BB962C8B-B14F-4D97-AF65-F5344CB8AC3E}">
        <p14:creationId xmlns:p14="http://schemas.microsoft.com/office/powerpoint/2010/main" val="3274603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914400" y="1524000"/>
            <a:ext cx="7623175" cy="1752600"/>
          </a:xfrm>
        </p:spPr>
        <p:txBody>
          <a:bodyPr/>
          <a:lstStyle>
            <a:lvl1pPr>
              <a:defRPr sz="5000" b="1"/>
            </a:lvl1pPr>
          </a:lstStyle>
          <a:p>
            <a:r>
              <a:rPr lang="en-US" altLang="zh-CN" dirty="0"/>
              <a:t>Click to edit Master title style</a:t>
            </a:r>
          </a:p>
        </p:txBody>
      </p:sp>
      <p:sp>
        <p:nvSpPr>
          <p:cNvPr id="819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zh-CN" dirty="0"/>
              <a:t>Click to edit Master subtitle style</a:t>
            </a:r>
          </a:p>
        </p:txBody>
      </p:sp>
      <p:sp>
        <p:nvSpPr>
          <p:cNvPr id="8196" name="Rectangle 4"/>
          <p:cNvSpPr>
            <a:spLocks noGrp="1" noChangeArrowheads="1"/>
          </p:cNvSpPr>
          <p:nvPr>
            <p:ph type="dt" sz="half" idx="2"/>
          </p:nvPr>
        </p:nvSpPr>
        <p:spPr/>
        <p:txBody>
          <a:bodyPr/>
          <a:lstStyle>
            <a:lvl1pPr>
              <a:defRPr/>
            </a:lvl1pPr>
          </a:lstStyle>
          <a:p>
            <a:pPr>
              <a:defRPr/>
            </a:pPr>
            <a:fld id="{FD6CDC6D-4EE0-4163-813D-9CD3796578B8}" type="datetimeFigureOut">
              <a:rPr lang="zh-CN" altLang="en-US" smtClean="0"/>
              <a:pPr>
                <a:defRPr/>
              </a:pPr>
              <a:t>2019/6/17</a:t>
            </a:fld>
            <a:endParaRPr lang="en-US" altLang="zh-CN"/>
          </a:p>
        </p:txBody>
      </p:sp>
      <p:sp>
        <p:nvSpPr>
          <p:cNvPr id="8197" name="Rectangle 5"/>
          <p:cNvSpPr>
            <a:spLocks noGrp="1" noChangeArrowheads="1"/>
          </p:cNvSpPr>
          <p:nvPr>
            <p:ph type="ftr" sz="quarter" idx="3"/>
          </p:nvPr>
        </p:nvSpPr>
        <p:spPr>
          <a:xfrm>
            <a:off x="3124200" y="6243638"/>
            <a:ext cx="2895600" cy="457200"/>
          </a:xfrm>
        </p:spPr>
        <p:txBody>
          <a:bodyPr/>
          <a:lstStyle>
            <a:lvl1pPr>
              <a:defRPr/>
            </a:lvl1pPr>
          </a:lstStyle>
          <a:p>
            <a:pPr>
              <a:defRPr/>
            </a:pPr>
            <a:endParaRPr lang="zh-CN" altLang="en-US"/>
          </a:p>
        </p:txBody>
      </p:sp>
      <p:sp>
        <p:nvSpPr>
          <p:cNvPr id="8198" name="Rectangle 6"/>
          <p:cNvSpPr>
            <a:spLocks noGrp="1" noChangeArrowheads="1"/>
          </p:cNvSpPr>
          <p:nvPr>
            <p:ph type="sldNum" sz="quarter" idx="4"/>
          </p:nvPr>
        </p:nvSpPr>
        <p:spPr/>
        <p:txBody>
          <a:bodyPr/>
          <a:lstStyle>
            <a:lvl1pPr>
              <a:defRPr/>
            </a:lvl1pPr>
          </a:lstStyle>
          <a:p>
            <a:pPr>
              <a:defRPr/>
            </a:pPr>
            <a:fld id="{8FC893D8-0101-4D6A-B8CF-851210C370AF}" type="slidenum">
              <a:rPr lang="zh-CN" altLang="en-US" smtClean="0"/>
              <a:pPr>
                <a:defRPr/>
              </a:pPr>
              <a:t>‹#›</a:t>
            </a:fld>
            <a:endParaRPr lang="en-US" altLang="zh-CN"/>
          </a:p>
        </p:txBody>
      </p:sp>
      <p:sp>
        <p:nvSpPr>
          <p:cNvPr id="8199"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endParaRPr lang="en-US"/>
          </a:p>
        </p:txBody>
      </p:sp>
      <p:sp>
        <p:nvSpPr>
          <p:cNvPr id="8200"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D1CC542-DA65-4D97-A79C-E6B794CDE341}" type="datetimeFigureOut">
              <a:rPr lang="zh-CN" altLang="en-US" smtClean="0"/>
              <a:pPr>
                <a:defRPr/>
              </a:pPr>
              <a:t>2019/6/17</a:t>
            </a:fld>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21C098B-AF64-43D3-8114-98CE067A81C3}" type="slidenum">
              <a:rPr lang="zh-CN" altLang="en-US" smtClean="0"/>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2868A76-9B69-47BF-9E4A-96902B10A1E7}" type="datetimeFigureOut">
              <a:rPr lang="zh-CN" altLang="en-US" smtClean="0"/>
              <a:pPr>
                <a:defRPr/>
              </a:pPr>
              <a:t>2019/6/17</a:t>
            </a:fld>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E69D6CF1-B5B0-45CC-A494-C560F80EF87C}" type="slidenum">
              <a:rPr lang="zh-CN" altLang="en-US" smtClean="0"/>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6193BC6-5129-4551-9A0C-D589C1FA99E0}" type="datetimeFigureOut">
              <a:rPr lang="zh-CN" altLang="en-US" smtClean="0"/>
              <a:pPr>
                <a:defRPr/>
              </a:pPr>
              <a:t>2019/6/17</a:t>
            </a:fld>
            <a:endParaRPr lang="en-US" altLang="zh-CN"/>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9A794451-DE8C-4F17-A5F8-6E9471C791FF}" type="slidenum">
              <a:rPr lang="zh-CN" altLang="en-US" smtClean="0"/>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fld id="{1DD4FC51-53E4-4B4A-8408-0D7C776F0E9B}" type="datetimeFigureOut">
              <a:rPr lang="zh-CN" altLang="en-US" smtClean="0"/>
              <a:pPr>
                <a:defRPr/>
              </a:pPr>
              <a:t>2019/6/17</a:t>
            </a:fld>
            <a:endParaRPr lang="en-US" altLang="zh-CN"/>
          </a:p>
        </p:txBody>
      </p:sp>
      <p:sp>
        <p:nvSpPr>
          <p:cNvPr id="8" name="Footer Placeholder 7"/>
          <p:cNvSpPr>
            <a:spLocks noGrp="1"/>
          </p:cNvSpPr>
          <p:nvPr>
            <p:ph type="ftr" sz="quarter" idx="11"/>
          </p:nvPr>
        </p:nvSpPr>
        <p:spPr/>
        <p:txBody>
          <a:bodyPr/>
          <a:lstStyle>
            <a:lvl1pPr>
              <a:defRPr/>
            </a:lvl1pPr>
          </a:lstStyle>
          <a:p>
            <a:pPr>
              <a:defRPr/>
            </a:pPr>
            <a:endParaRPr lang="zh-CN" altLang="en-US"/>
          </a:p>
        </p:txBody>
      </p:sp>
      <p:sp>
        <p:nvSpPr>
          <p:cNvPr id="9" name="Slide Number Placeholder 8"/>
          <p:cNvSpPr>
            <a:spLocks noGrp="1"/>
          </p:cNvSpPr>
          <p:nvPr>
            <p:ph type="sldNum" sz="quarter" idx="12"/>
          </p:nvPr>
        </p:nvSpPr>
        <p:spPr/>
        <p:txBody>
          <a:bodyPr/>
          <a:lstStyle>
            <a:lvl1pPr>
              <a:defRPr/>
            </a:lvl1pPr>
          </a:lstStyle>
          <a:p>
            <a:pPr>
              <a:defRPr/>
            </a:pPr>
            <a:fld id="{74DCD14B-0E03-45C4-9CB4-EC1BF9DBC28A}" type="slidenum">
              <a:rPr lang="zh-CN" altLang="en-US" smtClean="0"/>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fld id="{29D9692D-24FD-4BF2-843F-111947BC32F2}" type="datetimeFigureOut">
              <a:rPr lang="zh-CN" altLang="en-US" smtClean="0"/>
              <a:pPr>
                <a:defRPr/>
              </a:pPr>
              <a:t>2019/6/17</a:t>
            </a:fld>
            <a:endParaRPr lang="en-US" altLang="zh-CN"/>
          </a:p>
        </p:txBody>
      </p:sp>
      <p:sp>
        <p:nvSpPr>
          <p:cNvPr id="4" name="Footer Placeholder 3"/>
          <p:cNvSpPr>
            <a:spLocks noGrp="1"/>
          </p:cNvSpPr>
          <p:nvPr>
            <p:ph type="ftr" sz="quarter" idx="11"/>
          </p:nvPr>
        </p:nvSpPr>
        <p:spPr/>
        <p:txBody>
          <a:bodyPr/>
          <a:lstStyle>
            <a:lvl1pPr>
              <a:defRPr/>
            </a:lvl1pPr>
          </a:lstStyle>
          <a:p>
            <a:pPr>
              <a:defRPr/>
            </a:pPr>
            <a:endParaRPr lang="zh-CN" altLang="en-US"/>
          </a:p>
        </p:txBody>
      </p:sp>
      <p:sp>
        <p:nvSpPr>
          <p:cNvPr id="5" name="Slide Number Placeholder 4"/>
          <p:cNvSpPr>
            <a:spLocks noGrp="1"/>
          </p:cNvSpPr>
          <p:nvPr>
            <p:ph type="sldNum" sz="quarter" idx="12"/>
          </p:nvPr>
        </p:nvSpPr>
        <p:spPr/>
        <p:txBody>
          <a:bodyPr/>
          <a:lstStyle>
            <a:lvl1pPr>
              <a:defRPr/>
            </a:lvl1pPr>
          </a:lstStyle>
          <a:p>
            <a:pPr>
              <a:defRPr/>
            </a:pPr>
            <a:fld id="{B41499DB-596E-406E-A850-ADBBE4ACAF62}" type="slidenum">
              <a:rPr lang="zh-CN" altLang="en-US"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9207657F-E8DF-42F6-A122-EC46F94251E9}" type="datetimeFigureOut">
              <a:rPr lang="zh-CN" altLang="en-US" smtClean="0"/>
              <a:pPr>
                <a:defRPr/>
              </a:pPr>
              <a:t>2019/6/17</a:t>
            </a:fld>
            <a:endParaRPr lang="en-US" altLang="zh-CN"/>
          </a:p>
        </p:txBody>
      </p:sp>
      <p:sp>
        <p:nvSpPr>
          <p:cNvPr id="3" name="Footer Placeholder 2"/>
          <p:cNvSpPr>
            <a:spLocks noGrp="1"/>
          </p:cNvSpPr>
          <p:nvPr>
            <p:ph type="ftr" sz="quarter" idx="11"/>
          </p:nvPr>
        </p:nvSpPr>
        <p:spPr/>
        <p:txBody>
          <a:bodyPr/>
          <a:lstStyle>
            <a:lvl1pPr>
              <a:defRPr/>
            </a:lvl1pPr>
          </a:lstStyle>
          <a:p>
            <a:pPr>
              <a:defRPr/>
            </a:pPr>
            <a:endParaRPr lang="zh-CN" altLang="en-US"/>
          </a:p>
        </p:txBody>
      </p:sp>
      <p:sp>
        <p:nvSpPr>
          <p:cNvPr id="4" name="Slide Number Placeholder 3"/>
          <p:cNvSpPr>
            <a:spLocks noGrp="1"/>
          </p:cNvSpPr>
          <p:nvPr>
            <p:ph type="sldNum" sz="quarter" idx="12"/>
          </p:nvPr>
        </p:nvSpPr>
        <p:spPr/>
        <p:txBody>
          <a:bodyPr/>
          <a:lstStyle>
            <a:lvl1pPr>
              <a:defRPr/>
            </a:lvl1pPr>
          </a:lstStyle>
          <a:p>
            <a:pPr>
              <a:defRPr/>
            </a:pPr>
            <a:fld id="{C6521A6B-41C5-43CE-82EC-EE99A774C932}" type="slidenum">
              <a:rPr lang="zh-CN" altLang="en-US"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0691453A-18CE-4CCF-8E9D-7173DDA93971}" type="datetimeFigureOut">
              <a:rPr lang="zh-CN" altLang="en-US" smtClean="0"/>
              <a:pPr>
                <a:defRPr/>
              </a:pPr>
              <a:t>2019/6/17</a:t>
            </a:fld>
            <a:endParaRPr lang="en-US" altLang="zh-CN"/>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6ADBB9F9-E069-4585-84F6-CF7DDE5C2DA8}" type="slidenum">
              <a:rPr lang="zh-CN" altLang="en-US"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F046D232-B991-4B2D-9ABC-E8235D4C177C}" type="datetimeFigureOut">
              <a:rPr lang="zh-CN" altLang="en-US" smtClean="0"/>
              <a:pPr>
                <a:defRPr/>
              </a:pPr>
              <a:t>2019/6/17</a:t>
            </a:fld>
            <a:endParaRPr lang="en-US" altLang="zh-CN"/>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422185E5-D22F-4151-B7A0-3D1C0E84A9F2}" type="slidenum">
              <a:rPr lang="zh-CN" altLang="en-US"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9B0466F-4628-4FD0-96E3-BD8917FD5FD0}" type="datetimeFigureOut">
              <a:rPr lang="zh-CN" altLang="en-US" smtClean="0"/>
              <a:pPr>
                <a:defRPr/>
              </a:pPr>
              <a:t>2019/6/17</a:t>
            </a:fld>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D4B01DE-58FC-4595-BD9C-BE624D0330DD}" type="slidenum">
              <a:rPr lang="zh-CN" altLang="en-US"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86B8E33-68C8-450A-AAFD-1D2427969E67}" type="datetimeFigureOut">
              <a:rPr lang="zh-CN" altLang="en-US" smtClean="0"/>
              <a:pPr>
                <a:defRPr/>
              </a:pPr>
              <a:t>2019/6/17</a:t>
            </a:fld>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5EABE93-1989-44EE-8354-A9E88BBC465A}" type="slidenum">
              <a:rPr lang="zh-CN" altLang="en-US" smtClean="0"/>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2019/6/17</a:t>
            </a:fld>
            <a:endParaRPr lang="en-US" altLang="zh-CN">
              <a:solidFill>
                <a:srgbClr val="045C75"/>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2019/6/17</a:t>
            </a:fld>
            <a:endParaRPr lang="en-US" altLang="zh-CN">
              <a:solidFill>
                <a:srgbClr val="045C75"/>
              </a:solidFill>
            </a:endParaRPr>
          </a:p>
        </p:txBody>
      </p:sp>
      <p:sp>
        <p:nvSpPr>
          <p:cNvPr id="8" name="Footer Placeholder 7"/>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9" name="Slide Number Placeholder 8"/>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2019/6/17</a:t>
            </a:fld>
            <a:endParaRPr lang="en-US" altLang="zh-CN">
              <a:solidFill>
                <a:srgbClr val="045C75"/>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p:spPr>
        <p:txBody>
          <a:bodyPr/>
          <a:lstStyle>
            <a:lvl1pPr>
              <a:defRPr/>
            </a:lvl1pPr>
          </a:lstStyle>
          <a:p>
            <a:pPr>
              <a:defRPr/>
            </a:pPr>
            <a:fld id="{D92F4355-5CB1-4ACF-BDD9-483BD3E683DD}" type="datetimeFigureOut">
              <a:rPr lang="zh-CN" altLang="en-US" smtClean="0"/>
              <a:pPr>
                <a:defRPr/>
              </a:pPr>
              <a:t>2019/6/17</a:t>
            </a:fld>
            <a:endParaRPr lang="en-US" altLang="zh-CN">
              <a:solidFill>
                <a:srgbClr val="045C75"/>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pPr>
              <a:defRPr/>
            </a:pPr>
            <a:fld id="{17C11BA6-15D4-4D8B-A31B-49D97CB27F55}" type="slidenum">
              <a:rPr lang="zh-CN" altLang="en-US" smtClean="0"/>
              <a:pPr>
                <a:defRPr/>
              </a:pPr>
              <a:t>‹#›</a:t>
            </a:fld>
            <a:endParaRPr lang="en-US" altLang="zh-CN">
              <a:solidFill>
                <a:srgbClr val="045C75"/>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dirty="0"/>
              <a:t>Click to edit Master title style</a:t>
            </a:r>
          </a:p>
        </p:txBody>
      </p:sp>
      <p:sp>
        <p:nvSpPr>
          <p:cNvPr id="7171"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7172"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b="0">
                <a:latin typeface="+mj-lt"/>
              </a:defRPr>
            </a:lvl1pPr>
          </a:lstStyle>
          <a:p>
            <a:pPr>
              <a:defRPr/>
            </a:pPr>
            <a:fld id="{D92F4355-5CB1-4ACF-BDD9-483BD3E683DD}" type="datetimeFigureOut">
              <a:rPr lang="zh-CN" altLang="en-US" smtClean="0"/>
              <a:pPr>
                <a:defRPr/>
              </a:pPr>
              <a:t>2019/6/17</a:t>
            </a:fld>
            <a:endParaRPr lang="en-US" altLang="zh-CN">
              <a:solidFill>
                <a:srgbClr val="045C75"/>
              </a:solidFill>
            </a:endParaRPr>
          </a:p>
        </p:txBody>
      </p:sp>
      <p:sp>
        <p:nvSpPr>
          <p:cNvPr id="717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defRPr sz="1200" b="0">
                <a:latin typeface="+mj-lt"/>
              </a:defRPr>
            </a:lvl1pPr>
          </a:lstStyle>
          <a:p>
            <a:pPr>
              <a:defRPr/>
            </a:pPr>
            <a:endParaRPr lang="zh-CN" altLang="en-US"/>
          </a:p>
        </p:txBody>
      </p:sp>
      <p:sp>
        <p:nvSpPr>
          <p:cNvPr id="7174"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b="0">
                <a:latin typeface="+mj-lt"/>
              </a:defRPr>
            </a:lvl1pPr>
          </a:lstStyle>
          <a:p>
            <a:pPr>
              <a:defRPr/>
            </a:pPr>
            <a:fld id="{17C11BA6-15D4-4D8B-A31B-49D97CB27F55}" type="slidenum">
              <a:rPr lang="zh-CN" altLang="en-US" smtClean="0"/>
              <a:pPr>
                <a:defRPr/>
              </a:pPr>
              <a:t>‹#›</a:t>
            </a:fld>
            <a:endParaRPr lang="en-US" altLang="zh-CN">
              <a:solidFill>
                <a:srgbClr val="045C75"/>
              </a:solidFill>
            </a:endParaRPr>
          </a:p>
        </p:txBody>
      </p:sp>
      <p:sp>
        <p:nvSpPr>
          <p:cNvPr id="7175"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endParaRPr lang="en-US">
              <a:latin typeface="Comic Sans MS" pitchFamily="66" charset="0"/>
            </a:endParaRPr>
          </a:p>
        </p:txBody>
      </p:sp>
      <p:sp>
        <p:nvSpPr>
          <p:cNvPr id="7176"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 id="2147484028" r:id="rId12"/>
    <p:sldLayoutId id="2147484029" r:id="rId13"/>
    <p:sldLayoutId id="2147484030" r:id="rId14"/>
    <p:sldLayoutId id="2147484031" r:id="rId15"/>
  </p:sldLayoutIdLst>
  <p:txStyles>
    <p:titleStyle>
      <a:lvl1pPr algn="l" rtl="0" eaLnBrk="1" fontAlgn="base" hangingPunct="1">
        <a:spcBef>
          <a:spcPct val="0"/>
        </a:spcBef>
        <a:spcAft>
          <a:spcPct val="0"/>
        </a:spcAft>
        <a:defRPr sz="4200" b="1">
          <a:solidFill>
            <a:schemeClr val="tx2"/>
          </a:solidFill>
          <a:latin typeface="Calibri" pitchFamily="34" charset="0"/>
          <a:ea typeface="+mj-ea"/>
          <a:cs typeface="+mj-cs"/>
        </a:defRPr>
      </a:lvl1pPr>
      <a:lvl2pPr algn="l" rtl="0" eaLnBrk="1" fontAlgn="base" hangingPunct="1">
        <a:spcBef>
          <a:spcPct val="0"/>
        </a:spcBef>
        <a:spcAft>
          <a:spcPct val="0"/>
        </a:spcAft>
        <a:defRPr sz="4200">
          <a:solidFill>
            <a:schemeClr val="tx2"/>
          </a:solidFill>
          <a:latin typeface="Garamond" pitchFamily="18" charset="0"/>
          <a:ea typeface="宋体" pitchFamily="2" charset="-122"/>
        </a:defRPr>
      </a:lvl2pPr>
      <a:lvl3pPr algn="l" rtl="0" eaLnBrk="1" fontAlgn="base" hangingPunct="1">
        <a:spcBef>
          <a:spcPct val="0"/>
        </a:spcBef>
        <a:spcAft>
          <a:spcPct val="0"/>
        </a:spcAft>
        <a:defRPr sz="4200">
          <a:solidFill>
            <a:schemeClr val="tx2"/>
          </a:solidFill>
          <a:latin typeface="Garamond" pitchFamily="18" charset="0"/>
          <a:ea typeface="宋体" pitchFamily="2" charset="-122"/>
        </a:defRPr>
      </a:lvl3pPr>
      <a:lvl4pPr algn="l" rtl="0" eaLnBrk="1" fontAlgn="base" hangingPunct="1">
        <a:spcBef>
          <a:spcPct val="0"/>
        </a:spcBef>
        <a:spcAft>
          <a:spcPct val="0"/>
        </a:spcAft>
        <a:defRPr sz="4200">
          <a:solidFill>
            <a:schemeClr val="tx2"/>
          </a:solidFill>
          <a:latin typeface="Garamond" pitchFamily="18" charset="0"/>
          <a:ea typeface="宋体" pitchFamily="2" charset="-122"/>
        </a:defRPr>
      </a:lvl4pPr>
      <a:lvl5pPr algn="l" rtl="0" eaLnBrk="1" fontAlgn="base" hangingPunct="1">
        <a:spcBef>
          <a:spcPct val="0"/>
        </a:spcBef>
        <a:spcAft>
          <a:spcPct val="0"/>
        </a:spcAft>
        <a:defRPr sz="4200">
          <a:solidFill>
            <a:schemeClr val="tx2"/>
          </a:solidFill>
          <a:latin typeface="Garamond" pitchFamily="18" charset="0"/>
          <a:ea typeface="宋体" pitchFamily="2" charset="-122"/>
        </a:defRPr>
      </a:lvl5pPr>
      <a:lvl6pPr marL="457200" algn="l" rtl="0" eaLnBrk="1" fontAlgn="base" hangingPunct="1">
        <a:spcBef>
          <a:spcPct val="0"/>
        </a:spcBef>
        <a:spcAft>
          <a:spcPct val="0"/>
        </a:spcAft>
        <a:defRPr sz="4200">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4200">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4200">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Calibri" pitchFamily="34" charset="0"/>
          <a:ea typeface="+mn-ea"/>
          <a:cs typeface="+mn-cs"/>
        </a:defRPr>
      </a:lvl1pPr>
      <a:lvl2pPr marL="669925" indent="-325438"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Calibri" pitchFamily="34" charset="0"/>
          <a:ea typeface="+mn-ea"/>
        </a:defRPr>
      </a:lvl2pPr>
      <a:lvl3pPr marL="1022350" indent="-350838"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Calibri" pitchFamily="34" charset="0"/>
          <a:ea typeface="+mn-ea"/>
        </a:defRPr>
      </a:lvl3pPr>
      <a:lvl4pPr marL="1339850" indent="-315913"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Calibri" pitchFamily="34" charset="0"/>
          <a:ea typeface="+mn-ea"/>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Calibri" pitchFamily="34" charset="0"/>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fontAlgn="auto">
              <a:spcAft>
                <a:spcPts val="0"/>
              </a:spcAft>
              <a:defRPr/>
            </a:pPr>
            <a:r>
              <a:rPr lang="en-US" altLang="zh-CN" sz="4400" dirty="0" smtClean="0"/>
              <a:t>CS2102</a:t>
            </a:r>
            <a:br>
              <a:rPr lang="en-US" altLang="zh-CN" sz="4400" dirty="0" smtClean="0"/>
            </a:br>
            <a:r>
              <a:rPr lang="en-US" altLang="zh-CN" sz="4400" smtClean="0"/>
              <a:t>Database Systems</a:t>
            </a:r>
            <a:endParaRPr lang="en-US" sz="4400" dirty="0">
              <a:solidFill>
                <a:schemeClr val="tx1"/>
              </a:solidFill>
            </a:endParaRPr>
          </a:p>
        </p:txBody>
      </p:sp>
      <p:sp>
        <p:nvSpPr>
          <p:cNvPr id="13315" name="Subtitle 2"/>
          <p:cNvSpPr>
            <a:spLocks noGrp="1"/>
          </p:cNvSpPr>
          <p:nvPr>
            <p:ph type="subTitle" idx="1"/>
          </p:nvPr>
        </p:nvSpPr>
        <p:spPr>
          <a:xfrm>
            <a:off x="1981200" y="3962400"/>
            <a:ext cx="6553200" cy="2538434"/>
          </a:xfrm>
        </p:spPr>
        <p:txBody>
          <a:bodyPr>
            <a:normAutofit/>
          </a:bodyPr>
          <a:lstStyle/>
          <a:p>
            <a:pPr marL="26988" eaLnBrk="1" hangingPunct="1"/>
            <a:endParaRPr lang="en-US" altLang="zh-CN" sz="2600" dirty="0">
              <a:ea typeface="宋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p:txBody>
          <a:bodyPr/>
          <a:lstStyle/>
          <a:p>
            <a:r>
              <a:rPr lang="en-US" dirty="0"/>
              <a:t>In the previous lectures, we have discussed a lot about how to query/manage a database via SQL</a:t>
            </a:r>
          </a:p>
          <a:p>
            <a:r>
              <a:rPr lang="en-US" dirty="0"/>
              <a:t>But how do we design a database in the first place?</a:t>
            </a:r>
          </a:p>
        </p:txBody>
      </p:sp>
    </p:spTree>
    <p:extLst>
      <p:ext uri="{BB962C8B-B14F-4D97-AF65-F5344CB8AC3E}">
        <p14:creationId xmlns:p14="http://schemas.microsoft.com/office/powerpoint/2010/main" val="78734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a:t>
            </a:r>
            <a:endParaRPr lang="en-SG" dirty="0"/>
          </a:p>
        </p:txBody>
      </p:sp>
      <p:sp>
        <p:nvSpPr>
          <p:cNvPr id="4" name="Rounded Rectangle 3"/>
          <p:cNvSpPr/>
          <p:nvPr/>
        </p:nvSpPr>
        <p:spPr bwMode="auto">
          <a:xfrm>
            <a:off x="1979712" y="1484784"/>
            <a:ext cx="4968552"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2800" b="1" dirty="0">
                <a:latin typeface="Calibri" pitchFamily="34" charset="0"/>
                <a:ea typeface="宋体" pitchFamily="2" charset="-122"/>
              </a:rPr>
              <a:t>Real-World Application</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5" name="Rounded Rectangle 4"/>
          <p:cNvSpPr/>
          <p:nvPr/>
        </p:nvSpPr>
        <p:spPr bwMode="auto">
          <a:xfrm>
            <a:off x="1979712" y="5010358"/>
            <a:ext cx="4968552"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2800" b="1" dirty="0">
                <a:latin typeface="Calibri" pitchFamily="34" charset="0"/>
                <a:ea typeface="宋体" pitchFamily="2" charset="-122"/>
              </a:rPr>
              <a:t>Tables (Database Schema)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6" name="Down Arrow 5"/>
          <p:cNvSpPr/>
          <p:nvPr/>
        </p:nvSpPr>
        <p:spPr bwMode="auto">
          <a:xfrm>
            <a:off x="4139952" y="2348880"/>
            <a:ext cx="576064" cy="2448272"/>
          </a:xfrm>
          <a:prstGeom prst="downArrow">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Calibri" pitchFamily="34" charset="0"/>
              <a:ea typeface="宋体" pitchFamily="2" charset="-122"/>
            </a:endParaRPr>
          </a:p>
        </p:txBody>
      </p:sp>
      <p:sp>
        <p:nvSpPr>
          <p:cNvPr id="7" name="Rounded Rectangle 6"/>
          <p:cNvSpPr/>
          <p:nvPr/>
        </p:nvSpPr>
        <p:spPr bwMode="auto">
          <a:xfrm>
            <a:off x="3923928" y="2911500"/>
            <a:ext cx="1008112" cy="1021556"/>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5400" b="1" dirty="0">
                <a:solidFill>
                  <a:srgbClr val="C00000"/>
                </a:solidFill>
                <a:latin typeface="Calibri" pitchFamily="34" charset="0"/>
                <a:ea typeface="宋体" pitchFamily="2" charset="-122"/>
              </a:rPr>
              <a:t>?</a:t>
            </a:r>
            <a:endParaRPr kumimoji="0" lang="en-SG" sz="5400" b="1" i="0" u="none" strike="noStrike" cap="none" normalizeH="0" baseline="0" dirty="0">
              <a:ln>
                <a:noFill/>
              </a:ln>
              <a:solidFill>
                <a:srgbClr val="C00000"/>
              </a:solidFill>
              <a:effectLst/>
              <a:latin typeface="Calibri" pitchFamily="34" charset="0"/>
              <a:ea typeface="宋体" pitchFamily="2" charset="-122"/>
            </a:endParaRPr>
          </a:p>
        </p:txBody>
      </p:sp>
      <p:sp>
        <p:nvSpPr>
          <p:cNvPr id="8" name="Rectangle 7"/>
          <p:cNvSpPr/>
          <p:nvPr/>
        </p:nvSpPr>
        <p:spPr>
          <a:xfrm>
            <a:off x="603788" y="2402885"/>
            <a:ext cx="3078279" cy="954107"/>
          </a:xfrm>
          <a:prstGeom prst="rect">
            <a:avLst/>
          </a:prstGeom>
        </p:spPr>
        <p:txBody>
          <a:bodyPr wrap="none">
            <a:spAutoFit/>
          </a:bodyPr>
          <a:lstStyle/>
          <a:p>
            <a:pPr lvl="1"/>
            <a:r>
              <a:rPr lang="en-SG" sz="2800" dirty="0">
                <a:latin typeface="Calibri" pitchFamily="34" charset="0"/>
              </a:rPr>
              <a:t>Which tables </a:t>
            </a:r>
            <a:br>
              <a:rPr lang="en-SG" sz="2800" dirty="0">
                <a:latin typeface="Calibri" pitchFamily="34" charset="0"/>
              </a:rPr>
            </a:br>
            <a:r>
              <a:rPr lang="en-SG" sz="2800" dirty="0">
                <a:latin typeface="Calibri" pitchFamily="34" charset="0"/>
              </a:rPr>
              <a:t>should we have?</a:t>
            </a:r>
          </a:p>
        </p:txBody>
      </p:sp>
      <p:sp>
        <p:nvSpPr>
          <p:cNvPr id="9" name="Rectangle 8"/>
          <p:cNvSpPr/>
          <p:nvPr/>
        </p:nvSpPr>
        <p:spPr>
          <a:xfrm>
            <a:off x="430536" y="3789040"/>
            <a:ext cx="3108608" cy="954107"/>
          </a:xfrm>
          <a:prstGeom prst="rect">
            <a:avLst/>
          </a:prstGeom>
        </p:spPr>
        <p:txBody>
          <a:bodyPr wrap="none">
            <a:spAutoFit/>
          </a:bodyPr>
          <a:lstStyle/>
          <a:p>
            <a:pPr lvl="1"/>
            <a:r>
              <a:rPr lang="en-SG" sz="2800" dirty="0">
                <a:latin typeface="Calibri" pitchFamily="34" charset="0"/>
              </a:rPr>
              <a:t>What attributes</a:t>
            </a:r>
            <a:br>
              <a:rPr lang="en-SG" sz="2800" dirty="0">
                <a:latin typeface="Calibri" pitchFamily="34" charset="0"/>
              </a:rPr>
            </a:br>
            <a:r>
              <a:rPr lang="en-SG" sz="2800" dirty="0">
                <a:latin typeface="Calibri" pitchFamily="34" charset="0"/>
              </a:rPr>
              <a:t>should there be?</a:t>
            </a:r>
          </a:p>
        </p:txBody>
      </p:sp>
      <p:sp>
        <p:nvSpPr>
          <p:cNvPr id="10" name="Rectangle 9"/>
          <p:cNvSpPr/>
          <p:nvPr/>
        </p:nvSpPr>
        <p:spPr>
          <a:xfrm>
            <a:off x="4679008" y="2924944"/>
            <a:ext cx="3453253" cy="954107"/>
          </a:xfrm>
          <a:prstGeom prst="rect">
            <a:avLst/>
          </a:prstGeom>
        </p:spPr>
        <p:txBody>
          <a:bodyPr wrap="none">
            <a:spAutoFit/>
          </a:bodyPr>
          <a:lstStyle/>
          <a:p>
            <a:pPr lvl="1"/>
            <a:r>
              <a:rPr lang="en-SG" sz="2800" dirty="0">
                <a:latin typeface="Calibri" pitchFamily="34" charset="0"/>
              </a:rPr>
              <a:t>What constraints</a:t>
            </a:r>
            <a:br>
              <a:rPr lang="en-SG" sz="2800" dirty="0">
                <a:latin typeface="Calibri" pitchFamily="34" charset="0"/>
              </a:rPr>
            </a:br>
            <a:r>
              <a:rPr lang="en-SG" sz="2800" dirty="0">
                <a:latin typeface="Calibri" pitchFamily="34" charset="0"/>
              </a:rPr>
              <a:t>should we impose?</a:t>
            </a:r>
          </a:p>
        </p:txBody>
      </p:sp>
    </p:spTree>
    <p:extLst>
      <p:ext uri="{BB962C8B-B14F-4D97-AF65-F5344CB8AC3E}">
        <p14:creationId xmlns:p14="http://schemas.microsoft.com/office/powerpoint/2010/main" val="82758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a:t>
            </a:r>
            <a:endParaRPr lang="en-SG" dirty="0"/>
          </a:p>
        </p:txBody>
      </p:sp>
      <p:sp>
        <p:nvSpPr>
          <p:cNvPr id="4" name="Rounded Rectangle 3"/>
          <p:cNvSpPr/>
          <p:nvPr/>
        </p:nvSpPr>
        <p:spPr bwMode="auto">
          <a:xfrm>
            <a:off x="1979712" y="1484784"/>
            <a:ext cx="4968552"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2800" b="1" dirty="0">
                <a:latin typeface="Calibri" pitchFamily="34" charset="0"/>
                <a:ea typeface="宋体" pitchFamily="2" charset="-122"/>
              </a:rPr>
              <a:t>Real-World Application</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5" name="Rounded Rectangle 4"/>
          <p:cNvSpPr/>
          <p:nvPr/>
        </p:nvSpPr>
        <p:spPr bwMode="auto">
          <a:xfrm>
            <a:off x="1979712" y="5010358"/>
            <a:ext cx="4968552"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2800" b="1" dirty="0">
                <a:latin typeface="Calibri" pitchFamily="34" charset="0"/>
                <a:ea typeface="宋体" pitchFamily="2" charset="-122"/>
              </a:rPr>
              <a:t>Tables (Database Schema)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6" name="Down Arrow 5"/>
          <p:cNvSpPr/>
          <p:nvPr/>
        </p:nvSpPr>
        <p:spPr bwMode="auto">
          <a:xfrm>
            <a:off x="4139952" y="2276872"/>
            <a:ext cx="576064" cy="648072"/>
          </a:xfrm>
          <a:prstGeom prst="downArrow">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Calibri" pitchFamily="34" charset="0"/>
              <a:ea typeface="宋体" pitchFamily="2" charset="-122"/>
            </a:endParaRPr>
          </a:p>
        </p:txBody>
      </p:sp>
      <p:sp>
        <p:nvSpPr>
          <p:cNvPr id="11" name="Rounded Rectangle 10"/>
          <p:cNvSpPr/>
          <p:nvPr/>
        </p:nvSpPr>
        <p:spPr bwMode="auto">
          <a:xfrm>
            <a:off x="1979712" y="3021464"/>
            <a:ext cx="4968552" cy="1055608"/>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2800" b="1" dirty="0">
                <a:solidFill>
                  <a:srgbClr val="C00000"/>
                </a:solidFill>
                <a:latin typeface="Calibri" pitchFamily="34" charset="0"/>
                <a:ea typeface="宋体" pitchFamily="2" charset="-122"/>
              </a:rPr>
              <a:t>Entity-Relationship (ER) Diagrams</a:t>
            </a:r>
            <a:endParaRPr kumimoji="0" lang="en-SG" sz="2800" b="1" i="0" u="none" strike="noStrike" cap="none" normalizeH="0" baseline="0" dirty="0">
              <a:ln>
                <a:noFill/>
              </a:ln>
              <a:solidFill>
                <a:srgbClr val="C00000"/>
              </a:solidFill>
              <a:effectLst/>
              <a:latin typeface="Calibri" pitchFamily="34" charset="0"/>
              <a:ea typeface="宋体" pitchFamily="2" charset="-122"/>
            </a:endParaRPr>
          </a:p>
        </p:txBody>
      </p:sp>
      <p:sp>
        <p:nvSpPr>
          <p:cNvPr id="12" name="Down Arrow 11"/>
          <p:cNvSpPr/>
          <p:nvPr/>
        </p:nvSpPr>
        <p:spPr bwMode="auto">
          <a:xfrm>
            <a:off x="4139952" y="4221088"/>
            <a:ext cx="576064" cy="648072"/>
          </a:xfrm>
          <a:prstGeom prst="downArrow">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1502674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Diagrams</a:t>
            </a:r>
          </a:p>
        </p:txBody>
      </p:sp>
      <p:sp>
        <p:nvSpPr>
          <p:cNvPr id="3" name="Content Placeholder 2"/>
          <p:cNvSpPr>
            <a:spLocks noGrp="1"/>
          </p:cNvSpPr>
          <p:nvPr>
            <p:ph idx="1"/>
          </p:nvPr>
        </p:nvSpPr>
        <p:spPr/>
        <p:txBody>
          <a:bodyPr/>
          <a:lstStyle/>
          <a:p>
            <a:r>
              <a:rPr lang="en-US" dirty="0"/>
              <a:t>An </a:t>
            </a:r>
            <a:r>
              <a:rPr lang="en-US" dirty="0">
                <a:solidFill>
                  <a:srgbClr val="0000FF"/>
                </a:solidFill>
              </a:rPr>
              <a:t>Entity-Relationship (ER) diagram</a:t>
            </a:r>
            <a:r>
              <a:rPr lang="en-US" dirty="0"/>
              <a:t> is a graphical representation of the data in a database, as well as the connections among the data</a:t>
            </a:r>
          </a:p>
          <a:p>
            <a:r>
              <a:rPr lang="en-US" dirty="0"/>
              <a:t>Focuses on two concepts:</a:t>
            </a:r>
          </a:p>
          <a:p>
            <a:pPr lvl="1"/>
            <a:r>
              <a:rPr lang="en-US" dirty="0"/>
              <a:t>Entities (i.e., data)</a:t>
            </a:r>
          </a:p>
          <a:p>
            <a:pPr lvl="1"/>
            <a:r>
              <a:rPr lang="en-US" dirty="0"/>
              <a:t>Relationships (i.e., connections among the data)</a:t>
            </a:r>
          </a:p>
        </p:txBody>
      </p:sp>
    </p:spTree>
    <p:extLst>
      <p:ext uri="{BB962C8B-B14F-4D97-AF65-F5344CB8AC3E}">
        <p14:creationId xmlns:p14="http://schemas.microsoft.com/office/powerpoint/2010/main" val="3846865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solidFill>
                  <a:schemeClr val="tx1"/>
                </a:solidFill>
              </a:rPr>
              <a:t>ER Diagram</a:t>
            </a:r>
          </a:p>
        </p:txBody>
      </p:sp>
      <p:sp>
        <p:nvSpPr>
          <p:cNvPr id="33" name="Rectangle 4"/>
          <p:cNvSpPr>
            <a:spLocks noChangeArrowheads="1"/>
          </p:cNvSpPr>
          <p:nvPr/>
        </p:nvSpPr>
        <p:spPr bwMode="auto">
          <a:xfrm>
            <a:off x="5008984" y="2887198"/>
            <a:ext cx="180290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34" name="Oval 30"/>
          <p:cNvSpPr>
            <a:spLocks noChangeArrowheads="1"/>
          </p:cNvSpPr>
          <p:nvPr/>
        </p:nvSpPr>
        <p:spPr bwMode="auto">
          <a:xfrm>
            <a:off x="7222160" y="2564904"/>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country</a:t>
            </a:r>
          </a:p>
        </p:txBody>
      </p:sp>
      <p:sp>
        <p:nvSpPr>
          <p:cNvPr id="35" name="Oval 31"/>
          <p:cNvSpPr>
            <a:spLocks noChangeArrowheads="1"/>
          </p:cNvSpPr>
          <p:nvPr/>
        </p:nvSpPr>
        <p:spPr bwMode="auto">
          <a:xfrm>
            <a:off x="7222161" y="322590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36" name="Line 42"/>
          <p:cNvSpPr>
            <a:spLocks noChangeShapeType="1"/>
          </p:cNvSpPr>
          <p:nvPr/>
        </p:nvSpPr>
        <p:spPr bwMode="auto">
          <a:xfrm flipH="1" flipV="1">
            <a:off x="6811887" y="3344398"/>
            <a:ext cx="410272"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37" name="Line 43"/>
          <p:cNvSpPr>
            <a:spLocks noChangeShapeType="1"/>
          </p:cNvSpPr>
          <p:nvPr/>
        </p:nvSpPr>
        <p:spPr bwMode="auto">
          <a:xfrm flipH="1">
            <a:off x="6811886" y="2887198"/>
            <a:ext cx="410273" cy="24080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39" name="Rectangle 5"/>
          <p:cNvSpPr>
            <a:spLocks noChangeArrowheads="1"/>
          </p:cNvSpPr>
          <p:nvPr/>
        </p:nvSpPr>
        <p:spPr bwMode="auto">
          <a:xfrm>
            <a:off x="4860032" y="1201316"/>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40" name="Oval 28"/>
          <p:cNvSpPr>
            <a:spLocks noChangeArrowheads="1"/>
          </p:cNvSpPr>
          <p:nvPr/>
        </p:nvSpPr>
        <p:spPr bwMode="auto">
          <a:xfrm>
            <a:off x="5940152" y="409228"/>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41" name="Oval 29"/>
          <p:cNvSpPr>
            <a:spLocks noChangeArrowheads="1"/>
          </p:cNvSpPr>
          <p:nvPr/>
        </p:nvSpPr>
        <p:spPr bwMode="auto">
          <a:xfrm>
            <a:off x="4355976" y="4092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42" name="Line 44"/>
          <p:cNvSpPr>
            <a:spLocks noChangeShapeType="1"/>
          </p:cNvSpPr>
          <p:nvPr/>
        </p:nvSpPr>
        <p:spPr bwMode="auto">
          <a:xfrm>
            <a:off x="5008984" y="980728"/>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3" name="Line 45"/>
          <p:cNvSpPr>
            <a:spLocks noChangeShapeType="1"/>
          </p:cNvSpPr>
          <p:nvPr/>
        </p:nvSpPr>
        <p:spPr bwMode="auto">
          <a:xfrm flipH="1">
            <a:off x="5868144" y="980728"/>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7" name="Rectangle 3"/>
          <p:cNvSpPr>
            <a:spLocks noChangeArrowheads="1"/>
          </p:cNvSpPr>
          <p:nvPr/>
        </p:nvSpPr>
        <p:spPr bwMode="auto">
          <a:xfrm>
            <a:off x="683568" y="2035324"/>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48" name="Oval 25"/>
          <p:cNvSpPr>
            <a:spLocks noChangeArrowheads="1"/>
          </p:cNvSpPr>
          <p:nvPr/>
        </p:nvSpPr>
        <p:spPr bwMode="auto">
          <a:xfrm>
            <a:off x="46754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49" name="Oval 26"/>
          <p:cNvSpPr>
            <a:spLocks noChangeArrowheads="1"/>
          </p:cNvSpPr>
          <p:nvPr/>
        </p:nvSpPr>
        <p:spPr bwMode="auto">
          <a:xfrm>
            <a:off x="421804" y="3145532"/>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50" name="Oval 27"/>
          <p:cNvSpPr>
            <a:spLocks noChangeArrowheads="1"/>
          </p:cNvSpPr>
          <p:nvPr/>
        </p:nvSpPr>
        <p:spPr bwMode="auto">
          <a:xfrm>
            <a:off x="190770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51" name="Line 39"/>
          <p:cNvSpPr>
            <a:spLocks noChangeShapeType="1"/>
          </p:cNvSpPr>
          <p:nvPr/>
        </p:nvSpPr>
        <p:spPr bwMode="auto">
          <a:xfrm>
            <a:off x="1264196" y="1633364"/>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52" name="Line 40"/>
          <p:cNvSpPr>
            <a:spLocks noChangeShapeType="1"/>
          </p:cNvSpPr>
          <p:nvPr/>
        </p:nvSpPr>
        <p:spPr bwMode="auto">
          <a:xfrm flipH="1">
            <a:off x="1999456" y="1654324"/>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53" name="Line 41"/>
          <p:cNvSpPr>
            <a:spLocks noChangeShapeType="1"/>
          </p:cNvSpPr>
          <p:nvPr/>
        </p:nvSpPr>
        <p:spPr bwMode="auto">
          <a:xfrm flipV="1">
            <a:off x="1237928" y="2949724"/>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55" name="AutoShape 10"/>
          <p:cNvSpPr>
            <a:spLocks noChangeArrowheads="1"/>
          </p:cNvSpPr>
          <p:nvPr/>
        </p:nvSpPr>
        <p:spPr bwMode="auto">
          <a:xfrm>
            <a:off x="2915816" y="1340768"/>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56" name="Line 16"/>
          <p:cNvSpPr>
            <a:spLocks noChangeShapeType="1"/>
          </p:cNvSpPr>
          <p:nvPr/>
        </p:nvSpPr>
        <p:spPr bwMode="auto">
          <a:xfrm flipH="1">
            <a:off x="2186608" y="1844824"/>
            <a:ext cx="729208" cy="647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57" name="Line 17"/>
          <p:cNvSpPr>
            <a:spLocks noChangeShapeType="1"/>
          </p:cNvSpPr>
          <p:nvPr/>
        </p:nvSpPr>
        <p:spPr bwMode="auto">
          <a:xfrm>
            <a:off x="4211960" y="3344396"/>
            <a:ext cx="797024" cy="3839"/>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0" name="AutoShape 12"/>
          <p:cNvSpPr>
            <a:spLocks noChangeArrowheads="1"/>
          </p:cNvSpPr>
          <p:nvPr/>
        </p:nvSpPr>
        <p:spPr bwMode="auto">
          <a:xfrm>
            <a:off x="6957392" y="1052736"/>
            <a:ext cx="171906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Employ</a:t>
            </a:r>
          </a:p>
        </p:txBody>
      </p:sp>
      <p:sp>
        <p:nvSpPr>
          <p:cNvPr id="61" name="Line 20"/>
          <p:cNvSpPr>
            <a:spLocks noChangeShapeType="1"/>
          </p:cNvSpPr>
          <p:nvPr/>
        </p:nvSpPr>
        <p:spPr bwMode="auto">
          <a:xfrm flipV="1">
            <a:off x="6454688" y="2043336"/>
            <a:ext cx="1362236" cy="8438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2" name="Line 21"/>
          <p:cNvSpPr>
            <a:spLocks noChangeShapeType="1"/>
          </p:cNvSpPr>
          <p:nvPr/>
        </p:nvSpPr>
        <p:spPr bwMode="auto">
          <a:xfrm flipV="1">
            <a:off x="4355976" y="1772816"/>
            <a:ext cx="504056" cy="72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5" name="AutoShape 11"/>
          <p:cNvSpPr>
            <a:spLocks noChangeArrowheads="1"/>
          </p:cNvSpPr>
          <p:nvPr/>
        </p:nvSpPr>
        <p:spPr bwMode="auto">
          <a:xfrm>
            <a:off x="2771800" y="2852936"/>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Make</a:t>
            </a:r>
          </a:p>
        </p:txBody>
      </p:sp>
      <p:sp>
        <p:nvSpPr>
          <p:cNvPr id="66" name="Line 22"/>
          <p:cNvSpPr>
            <a:spLocks noChangeShapeType="1"/>
          </p:cNvSpPr>
          <p:nvPr/>
        </p:nvSpPr>
        <p:spPr bwMode="auto">
          <a:xfrm flipH="1" flipV="1">
            <a:off x="1999456" y="2949722"/>
            <a:ext cx="772344" cy="3946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7" name="Line 24"/>
          <p:cNvSpPr>
            <a:spLocks noChangeShapeType="1"/>
          </p:cNvSpPr>
          <p:nvPr/>
        </p:nvSpPr>
        <p:spPr bwMode="auto">
          <a:xfrm flipH="1">
            <a:off x="6454688" y="1548036"/>
            <a:ext cx="502704" cy="1104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1819190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solidFill>
                  <a:schemeClr val="tx1"/>
                </a:solidFill>
              </a:rPr>
              <a:t>ER Diagram</a:t>
            </a:r>
          </a:p>
        </p:txBody>
      </p:sp>
      <p:sp>
        <p:nvSpPr>
          <p:cNvPr id="4" name="Content Placeholder 3"/>
          <p:cNvSpPr>
            <a:spLocks noGrp="1"/>
          </p:cNvSpPr>
          <p:nvPr>
            <p:ph idx="1"/>
          </p:nvPr>
        </p:nvSpPr>
        <p:spPr>
          <a:xfrm>
            <a:off x="457200" y="3933056"/>
            <a:ext cx="8229600" cy="2197869"/>
          </a:xfrm>
        </p:spPr>
        <p:txBody>
          <a:bodyPr>
            <a:normAutofit/>
          </a:bodyPr>
          <a:lstStyle/>
          <a:p>
            <a:r>
              <a:rPr lang="en-US" dirty="0"/>
              <a:t>Rectangle = </a:t>
            </a:r>
            <a:r>
              <a:rPr lang="en-US" dirty="0">
                <a:solidFill>
                  <a:srgbClr val="A50021"/>
                </a:solidFill>
              </a:rPr>
              <a:t>Entity Set</a:t>
            </a:r>
          </a:p>
          <a:p>
            <a:r>
              <a:rPr lang="en-US" dirty="0">
                <a:solidFill>
                  <a:srgbClr val="A50021"/>
                </a:solidFill>
              </a:rPr>
              <a:t>Entity</a:t>
            </a:r>
            <a:r>
              <a:rPr lang="en-US" dirty="0"/>
              <a:t> = Real-world object (e.g., a bar)</a:t>
            </a:r>
          </a:p>
          <a:p>
            <a:r>
              <a:rPr lang="en-US" dirty="0">
                <a:solidFill>
                  <a:srgbClr val="A50021"/>
                </a:solidFill>
              </a:rPr>
              <a:t>Entity Set </a:t>
            </a:r>
            <a:r>
              <a:rPr lang="en-US" dirty="0"/>
              <a:t>= Collection of similar objects (e.g., a set of bars)</a:t>
            </a:r>
          </a:p>
          <a:p>
            <a:endParaRPr lang="en-SG" dirty="0"/>
          </a:p>
        </p:txBody>
      </p:sp>
      <p:sp>
        <p:nvSpPr>
          <p:cNvPr id="21" name="Rectangle 4"/>
          <p:cNvSpPr>
            <a:spLocks noChangeArrowheads="1"/>
          </p:cNvSpPr>
          <p:nvPr/>
        </p:nvSpPr>
        <p:spPr bwMode="auto">
          <a:xfrm>
            <a:off x="5008984" y="2887198"/>
            <a:ext cx="180290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26" name="Rectangle 5"/>
          <p:cNvSpPr>
            <a:spLocks noChangeArrowheads="1"/>
          </p:cNvSpPr>
          <p:nvPr/>
        </p:nvSpPr>
        <p:spPr bwMode="auto">
          <a:xfrm>
            <a:off x="4860032" y="1201316"/>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29" name="Rectangle 3"/>
          <p:cNvSpPr>
            <a:spLocks noChangeArrowheads="1"/>
          </p:cNvSpPr>
          <p:nvPr/>
        </p:nvSpPr>
        <p:spPr bwMode="auto">
          <a:xfrm>
            <a:off x="683568" y="2035324"/>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Tree>
    <p:extLst>
      <p:ext uri="{BB962C8B-B14F-4D97-AF65-F5344CB8AC3E}">
        <p14:creationId xmlns:p14="http://schemas.microsoft.com/office/powerpoint/2010/main" val="90782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solidFill>
                  <a:schemeClr val="tx1"/>
                </a:solidFill>
              </a:rPr>
              <a:t>ER Diagram</a:t>
            </a:r>
          </a:p>
        </p:txBody>
      </p:sp>
      <p:sp>
        <p:nvSpPr>
          <p:cNvPr id="4" name="Content Placeholder 3"/>
          <p:cNvSpPr>
            <a:spLocks noGrp="1"/>
          </p:cNvSpPr>
          <p:nvPr>
            <p:ph idx="1"/>
          </p:nvPr>
        </p:nvSpPr>
        <p:spPr>
          <a:xfrm>
            <a:off x="457200" y="3933056"/>
            <a:ext cx="8229600" cy="2197869"/>
          </a:xfrm>
        </p:spPr>
        <p:txBody>
          <a:bodyPr>
            <a:normAutofit/>
          </a:bodyPr>
          <a:lstStyle/>
          <a:p>
            <a:r>
              <a:rPr lang="en-US" dirty="0"/>
              <a:t>Oval = </a:t>
            </a:r>
            <a:r>
              <a:rPr lang="en-US" dirty="0">
                <a:solidFill>
                  <a:srgbClr val="A50021"/>
                </a:solidFill>
              </a:rPr>
              <a:t>Attribute</a:t>
            </a:r>
            <a:r>
              <a:rPr lang="en-US" dirty="0"/>
              <a:t> = Property of an entity set</a:t>
            </a:r>
            <a:endParaRPr lang="en-SG" dirty="0"/>
          </a:p>
          <a:p>
            <a:endParaRPr lang="en-SG" dirty="0"/>
          </a:p>
        </p:txBody>
      </p:sp>
      <p:sp>
        <p:nvSpPr>
          <p:cNvPr id="30" name="Rectangle 4"/>
          <p:cNvSpPr>
            <a:spLocks noChangeArrowheads="1"/>
          </p:cNvSpPr>
          <p:nvPr/>
        </p:nvSpPr>
        <p:spPr bwMode="auto">
          <a:xfrm>
            <a:off x="5008984" y="2887198"/>
            <a:ext cx="180290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31" name="Oval 30"/>
          <p:cNvSpPr>
            <a:spLocks noChangeArrowheads="1"/>
          </p:cNvSpPr>
          <p:nvPr/>
        </p:nvSpPr>
        <p:spPr bwMode="auto">
          <a:xfrm>
            <a:off x="7222160" y="2564904"/>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country</a:t>
            </a:r>
          </a:p>
        </p:txBody>
      </p:sp>
      <p:sp>
        <p:nvSpPr>
          <p:cNvPr id="32" name="Oval 31"/>
          <p:cNvSpPr>
            <a:spLocks noChangeArrowheads="1"/>
          </p:cNvSpPr>
          <p:nvPr/>
        </p:nvSpPr>
        <p:spPr bwMode="auto">
          <a:xfrm>
            <a:off x="7222161" y="322590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38" name="Line 42"/>
          <p:cNvSpPr>
            <a:spLocks noChangeShapeType="1"/>
          </p:cNvSpPr>
          <p:nvPr/>
        </p:nvSpPr>
        <p:spPr bwMode="auto">
          <a:xfrm flipH="1" flipV="1">
            <a:off x="6811887" y="3344398"/>
            <a:ext cx="410272"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44" name="Line 43"/>
          <p:cNvSpPr>
            <a:spLocks noChangeShapeType="1"/>
          </p:cNvSpPr>
          <p:nvPr/>
        </p:nvSpPr>
        <p:spPr bwMode="auto">
          <a:xfrm flipH="1">
            <a:off x="6811886" y="2887198"/>
            <a:ext cx="410273" cy="24080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45" name="Rectangle 5"/>
          <p:cNvSpPr>
            <a:spLocks noChangeArrowheads="1"/>
          </p:cNvSpPr>
          <p:nvPr/>
        </p:nvSpPr>
        <p:spPr bwMode="auto">
          <a:xfrm>
            <a:off x="4860032" y="1201316"/>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46" name="Oval 28"/>
          <p:cNvSpPr>
            <a:spLocks noChangeArrowheads="1"/>
          </p:cNvSpPr>
          <p:nvPr/>
        </p:nvSpPr>
        <p:spPr bwMode="auto">
          <a:xfrm>
            <a:off x="5940152" y="409228"/>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54" name="Oval 29"/>
          <p:cNvSpPr>
            <a:spLocks noChangeArrowheads="1"/>
          </p:cNvSpPr>
          <p:nvPr/>
        </p:nvSpPr>
        <p:spPr bwMode="auto">
          <a:xfrm>
            <a:off x="4355976" y="4092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58" name="Line 44"/>
          <p:cNvSpPr>
            <a:spLocks noChangeShapeType="1"/>
          </p:cNvSpPr>
          <p:nvPr/>
        </p:nvSpPr>
        <p:spPr bwMode="auto">
          <a:xfrm>
            <a:off x="5008984" y="980728"/>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59" name="Line 45"/>
          <p:cNvSpPr>
            <a:spLocks noChangeShapeType="1"/>
          </p:cNvSpPr>
          <p:nvPr/>
        </p:nvSpPr>
        <p:spPr bwMode="auto">
          <a:xfrm flipH="1">
            <a:off x="5868144" y="980728"/>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3" name="Rectangle 3"/>
          <p:cNvSpPr>
            <a:spLocks noChangeArrowheads="1"/>
          </p:cNvSpPr>
          <p:nvPr/>
        </p:nvSpPr>
        <p:spPr bwMode="auto">
          <a:xfrm>
            <a:off x="683568" y="2035324"/>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64" name="Oval 25"/>
          <p:cNvSpPr>
            <a:spLocks noChangeArrowheads="1"/>
          </p:cNvSpPr>
          <p:nvPr/>
        </p:nvSpPr>
        <p:spPr bwMode="auto">
          <a:xfrm>
            <a:off x="46754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68" name="Oval 26"/>
          <p:cNvSpPr>
            <a:spLocks noChangeArrowheads="1"/>
          </p:cNvSpPr>
          <p:nvPr/>
        </p:nvSpPr>
        <p:spPr bwMode="auto">
          <a:xfrm>
            <a:off x="421804" y="3145532"/>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69" name="Oval 27"/>
          <p:cNvSpPr>
            <a:spLocks noChangeArrowheads="1"/>
          </p:cNvSpPr>
          <p:nvPr/>
        </p:nvSpPr>
        <p:spPr bwMode="auto">
          <a:xfrm>
            <a:off x="190770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70" name="Line 39"/>
          <p:cNvSpPr>
            <a:spLocks noChangeShapeType="1"/>
          </p:cNvSpPr>
          <p:nvPr/>
        </p:nvSpPr>
        <p:spPr bwMode="auto">
          <a:xfrm>
            <a:off x="1264196" y="1633364"/>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71" name="Line 40"/>
          <p:cNvSpPr>
            <a:spLocks noChangeShapeType="1"/>
          </p:cNvSpPr>
          <p:nvPr/>
        </p:nvSpPr>
        <p:spPr bwMode="auto">
          <a:xfrm flipH="1">
            <a:off x="1999456" y="1654324"/>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72" name="Line 41"/>
          <p:cNvSpPr>
            <a:spLocks noChangeShapeType="1"/>
          </p:cNvSpPr>
          <p:nvPr/>
        </p:nvSpPr>
        <p:spPr bwMode="auto">
          <a:xfrm flipV="1">
            <a:off x="1237928" y="2949724"/>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43206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solidFill>
                  <a:schemeClr val="tx1"/>
                </a:solidFill>
              </a:rPr>
              <a:t>ER Diagram</a:t>
            </a:r>
          </a:p>
        </p:txBody>
      </p:sp>
      <p:sp>
        <p:nvSpPr>
          <p:cNvPr id="29" name="Content Placeholder 3"/>
          <p:cNvSpPr>
            <a:spLocks noGrp="1"/>
          </p:cNvSpPr>
          <p:nvPr>
            <p:ph idx="1"/>
          </p:nvPr>
        </p:nvSpPr>
        <p:spPr>
          <a:xfrm>
            <a:off x="457200" y="3933056"/>
            <a:ext cx="8229600" cy="2197869"/>
          </a:xfrm>
        </p:spPr>
        <p:txBody>
          <a:bodyPr>
            <a:normAutofit/>
          </a:bodyPr>
          <a:lstStyle/>
          <a:p>
            <a:r>
              <a:rPr lang="en-US" dirty="0"/>
              <a:t>Diamond = </a:t>
            </a:r>
            <a:r>
              <a:rPr lang="en-US" dirty="0">
                <a:solidFill>
                  <a:srgbClr val="A50021"/>
                </a:solidFill>
              </a:rPr>
              <a:t>Relationship</a:t>
            </a:r>
            <a:r>
              <a:rPr lang="en-US" dirty="0"/>
              <a:t> = Connection between two entity sets</a:t>
            </a:r>
            <a:endParaRPr lang="en-SG" dirty="0"/>
          </a:p>
          <a:p>
            <a:endParaRPr lang="en-SG" dirty="0"/>
          </a:p>
        </p:txBody>
      </p:sp>
      <p:sp>
        <p:nvSpPr>
          <p:cNvPr id="80" name="Rectangle 4"/>
          <p:cNvSpPr>
            <a:spLocks noChangeArrowheads="1"/>
          </p:cNvSpPr>
          <p:nvPr/>
        </p:nvSpPr>
        <p:spPr bwMode="auto">
          <a:xfrm>
            <a:off x="5008984" y="2887198"/>
            <a:ext cx="180290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81" name="Oval 30"/>
          <p:cNvSpPr>
            <a:spLocks noChangeArrowheads="1"/>
          </p:cNvSpPr>
          <p:nvPr/>
        </p:nvSpPr>
        <p:spPr bwMode="auto">
          <a:xfrm>
            <a:off x="7222160" y="2564904"/>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country</a:t>
            </a:r>
          </a:p>
        </p:txBody>
      </p:sp>
      <p:sp>
        <p:nvSpPr>
          <p:cNvPr id="82" name="Oval 31"/>
          <p:cNvSpPr>
            <a:spLocks noChangeArrowheads="1"/>
          </p:cNvSpPr>
          <p:nvPr/>
        </p:nvSpPr>
        <p:spPr bwMode="auto">
          <a:xfrm>
            <a:off x="7222161" y="322590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83" name="Line 42"/>
          <p:cNvSpPr>
            <a:spLocks noChangeShapeType="1"/>
          </p:cNvSpPr>
          <p:nvPr/>
        </p:nvSpPr>
        <p:spPr bwMode="auto">
          <a:xfrm flipH="1" flipV="1">
            <a:off x="6811887" y="3344398"/>
            <a:ext cx="410272"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4" name="Line 43"/>
          <p:cNvSpPr>
            <a:spLocks noChangeShapeType="1"/>
          </p:cNvSpPr>
          <p:nvPr/>
        </p:nvSpPr>
        <p:spPr bwMode="auto">
          <a:xfrm flipH="1">
            <a:off x="6811886" y="2887198"/>
            <a:ext cx="410273" cy="24080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5" name="Rectangle 5"/>
          <p:cNvSpPr>
            <a:spLocks noChangeArrowheads="1"/>
          </p:cNvSpPr>
          <p:nvPr/>
        </p:nvSpPr>
        <p:spPr bwMode="auto">
          <a:xfrm>
            <a:off x="4860032" y="1201316"/>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86" name="Oval 28"/>
          <p:cNvSpPr>
            <a:spLocks noChangeArrowheads="1"/>
          </p:cNvSpPr>
          <p:nvPr/>
        </p:nvSpPr>
        <p:spPr bwMode="auto">
          <a:xfrm>
            <a:off x="5940152" y="409228"/>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87" name="Oval 29"/>
          <p:cNvSpPr>
            <a:spLocks noChangeArrowheads="1"/>
          </p:cNvSpPr>
          <p:nvPr/>
        </p:nvSpPr>
        <p:spPr bwMode="auto">
          <a:xfrm>
            <a:off x="4355976" y="4092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88" name="Line 44"/>
          <p:cNvSpPr>
            <a:spLocks noChangeShapeType="1"/>
          </p:cNvSpPr>
          <p:nvPr/>
        </p:nvSpPr>
        <p:spPr bwMode="auto">
          <a:xfrm>
            <a:off x="5008984" y="980728"/>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89" name="Line 45"/>
          <p:cNvSpPr>
            <a:spLocks noChangeShapeType="1"/>
          </p:cNvSpPr>
          <p:nvPr/>
        </p:nvSpPr>
        <p:spPr bwMode="auto">
          <a:xfrm flipH="1">
            <a:off x="5868144" y="980728"/>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90" name="Rectangle 3"/>
          <p:cNvSpPr>
            <a:spLocks noChangeArrowheads="1"/>
          </p:cNvSpPr>
          <p:nvPr/>
        </p:nvSpPr>
        <p:spPr bwMode="auto">
          <a:xfrm>
            <a:off x="683568" y="2035324"/>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91" name="Oval 25"/>
          <p:cNvSpPr>
            <a:spLocks noChangeArrowheads="1"/>
          </p:cNvSpPr>
          <p:nvPr/>
        </p:nvSpPr>
        <p:spPr bwMode="auto">
          <a:xfrm>
            <a:off x="46754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92" name="Oval 26"/>
          <p:cNvSpPr>
            <a:spLocks noChangeArrowheads="1"/>
          </p:cNvSpPr>
          <p:nvPr/>
        </p:nvSpPr>
        <p:spPr bwMode="auto">
          <a:xfrm>
            <a:off x="421804" y="3145532"/>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93" name="Oval 27"/>
          <p:cNvSpPr>
            <a:spLocks noChangeArrowheads="1"/>
          </p:cNvSpPr>
          <p:nvPr/>
        </p:nvSpPr>
        <p:spPr bwMode="auto">
          <a:xfrm>
            <a:off x="190770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94" name="Line 39"/>
          <p:cNvSpPr>
            <a:spLocks noChangeShapeType="1"/>
          </p:cNvSpPr>
          <p:nvPr/>
        </p:nvSpPr>
        <p:spPr bwMode="auto">
          <a:xfrm>
            <a:off x="1264196" y="1633364"/>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5" name="Line 40"/>
          <p:cNvSpPr>
            <a:spLocks noChangeShapeType="1"/>
          </p:cNvSpPr>
          <p:nvPr/>
        </p:nvSpPr>
        <p:spPr bwMode="auto">
          <a:xfrm flipH="1">
            <a:off x="1999456" y="1654324"/>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6" name="Line 41"/>
          <p:cNvSpPr>
            <a:spLocks noChangeShapeType="1"/>
          </p:cNvSpPr>
          <p:nvPr/>
        </p:nvSpPr>
        <p:spPr bwMode="auto">
          <a:xfrm flipV="1">
            <a:off x="1237928" y="2949724"/>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7" name="AutoShape 10"/>
          <p:cNvSpPr>
            <a:spLocks noChangeArrowheads="1"/>
          </p:cNvSpPr>
          <p:nvPr/>
        </p:nvSpPr>
        <p:spPr bwMode="auto">
          <a:xfrm>
            <a:off x="2915816" y="1340768"/>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98" name="Line 16"/>
          <p:cNvSpPr>
            <a:spLocks noChangeShapeType="1"/>
          </p:cNvSpPr>
          <p:nvPr/>
        </p:nvSpPr>
        <p:spPr bwMode="auto">
          <a:xfrm flipH="1">
            <a:off x="2186608" y="1844824"/>
            <a:ext cx="729208" cy="647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9" name="Line 17"/>
          <p:cNvSpPr>
            <a:spLocks noChangeShapeType="1"/>
          </p:cNvSpPr>
          <p:nvPr/>
        </p:nvSpPr>
        <p:spPr bwMode="auto">
          <a:xfrm>
            <a:off x="4211960" y="3344396"/>
            <a:ext cx="797024" cy="3839"/>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00" name="AutoShape 12"/>
          <p:cNvSpPr>
            <a:spLocks noChangeArrowheads="1"/>
          </p:cNvSpPr>
          <p:nvPr/>
        </p:nvSpPr>
        <p:spPr bwMode="auto">
          <a:xfrm>
            <a:off x="6957392" y="1052736"/>
            <a:ext cx="171906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Employ</a:t>
            </a:r>
          </a:p>
        </p:txBody>
      </p:sp>
      <p:sp>
        <p:nvSpPr>
          <p:cNvPr id="101" name="Line 20"/>
          <p:cNvSpPr>
            <a:spLocks noChangeShapeType="1"/>
          </p:cNvSpPr>
          <p:nvPr/>
        </p:nvSpPr>
        <p:spPr bwMode="auto">
          <a:xfrm flipV="1">
            <a:off x="6454688" y="2043336"/>
            <a:ext cx="1362236" cy="8438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02" name="Line 21"/>
          <p:cNvSpPr>
            <a:spLocks noChangeShapeType="1"/>
          </p:cNvSpPr>
          <p:nvPr/>
        </p:nvSpPr>
        <p:spPr bwMode="auto">
          <a:xfrm flipV="1">
            <a:off x="4355976" y="1772816"/>
            <a:ext cx="504056" cy="72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03" name="AutoShape 11"/>
          <p:cNvSpPr>
            <a:spLocks noChangeArrowheads="1"/>
          </p:cNvSpPr>
          <p:nvPr/>
        </p:nvSpPr>
        <p:spPr bwMode="auto">
          <a:xfrm>
            <a:off x="2771800" y="2852936"/>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Make</a:t>
            </a:r>
          </a:p>
        </p:txBody>
      </p:sp>
      <p:sp>
        <p:nvSpPr>
          <p:cNvPr id="104" name="Line 22"/>
          <p:cNvSpPr>
            <a:spLocks noChangeShapeType="1"/>
          </p:cNvSpPr>
          <p:nvPr/>
        </p:nvSpPr>
        <p:spPr bwMode="auto">
          <a:xfrm flipH="1" flipV="1">
            <a:off x="1999456" y="2949722"/>
            <a:ext cx="772344" cy="3946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05" name="Line 24"/>
          <p:cNvSpPr>
            <a:spLocks noChangeShapeType="1"/>
          </p:cNvSpPr>
          <p:nvPr/>
        </p:nvSpPr>
        <p:spPr bwMode="auto">
          <a:xfrm flipH="1">
            <a:off x="6454688" y="1548036"/>
            <a:ext cx="502704" cy="1104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271397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solidFill>
                  <a:schemeClr val="tx1"/>
                </a:solidFill>
              </a:rPr>
              <a:t>ER Diagram</a:t>
            </a:r>
          </a:p>
        </p:txBody>
      </p:sp>
      <p:sp>
        <p:nvSpPr>
          <p:cNvPr id="29" name="Content Placeholder 3"/>
          <p:cNvSpPr>
            <a:spLocks noGrp="1"/>
          </p:cNvSpPr>
          <p:nvPr>
            <p:ph idx="1"/>
          </p:nvPr>
        </p:nvSpPr>
        <p:spPr>
          <a:xfrm>
            <a:off x="457200" y="3933056"/>
            <a:ext cx="8229600" cy="2197869"/>
          </a:xfrm>
        </p:spPr>
        <p:txBody>
          <a:bodyPr>
            <a:normAutofit/>
          </a:bodyPr>
          <a:lstStyle/>
          <a:p>
            <a:r>
              <a:rPr lang="en-US" dirty="0"/>
              <a:t>Diamond = </a:t>
            </a:r>
            <a:r>
              <a:rPr lang="en-US" dirty="0">
                <a:solidFill>
                  <a:srgbClr val="A50021"/>
                </a:solidFill>
              </a:rPr>
              <a:t>Relationship</a:t>
            </a:r>
            <a:r>
              <a:rPr lang="en-US" dirty="0"/>
              <a:t> = Connection between two entity sets</a:t>
            </a:r>
            <a:endParaRPr lang="en-SG" dirty="0"/>
          </a:p>
          <a:p>
            <a:r>
              <a:rPr lang="en-US" dirty="0"/>
              <a:t>Persons buy products</a:t>
            </a:r>
            <a:endParaRPr lang="en-SG" dirty="0"/>
          </a:p>
        </p:txBody>
      </p:sp>
      <p:sp>
        <p:nvSpPr>
          <p:cNvPr id="45" name="Rectangle 5"/>
          <p:cNvSpPr>
            <a:spLocks noChangeArrowheads="1"/>
          </p:cNvSpPr>
          <p:nvPr/>
        </p:nvSpPr>
        <p:spPr bwMode="auto">
          <a:xfrm>
            <a:off x="4860032" y="1201316"/>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46" name="Oval 28"/>
          <p:cNvSpPr>
            <a:spLocks noChangeArrowheads="1"/>
          </p:cNvSpPr>
          <p:nvPr/>
        </p:nvSpPr>
        <p:spPr bwMode="auto">
          <a:xfrm>
            <a:off x="5940152" y="409228"/>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54" name="Oval 29"/>
          <p:cNvSpPr>
            <a:spLocks noChangeArrowheads="1"/>
          </p:cNvSpPr>
          <p:nvPr/>
        </p:nvSpPr>
        <p:spPr bwMode="auto">
          <a:xfrm>
            <a:off x="4355976" y="4092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58" name="Rectangle 3"/>
          <p:cNvSpPr>
            <a:spLocks noChangeArrowheads="1"/>
          </p:cNvSpPr>
          <p:nvPr/>
        </p:nvSpPr>
        <p:spPr bwMode="auto">
          <a:xfrm>
            <a:off x="683568" y="2035324"/>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59" name="Oval 25"/>
          <p:cNvSpPr>
            <a:spLocks noChangeArrowheads="1"/>
          </p:cNvSpPr>
          <p:nvPr/>
        </p:nvSpPr>
        <p:spPr bwMode="auto">
          <a:xfrm>
            <a:off x="46754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63" name="Oval 26"/>
          <p:cNvSpPr>
            <a:spLocks noChangeArrowheads="1"/>
          </p:cNvSpPr>
          <p:nvPr/>
        </p:nvSpPr>
        <p:spPr bwMode="auto">
          <a:xfrm>
            <a:off x="421804" y="3145532"/>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64" name="Oval 27"/>
          <p:cNvSpPr>
            <a:spLocks noChangeArrowheads="1"/>
          </p:cNvSpPr>
          <p:nvPr/>
        </p:nvSpPr>
        <p:spPr bwMode="auto">
          <a:xfrm>
            <a:off x="190770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68" name="Line 39"/>
          <p:cNvSpPr>
            <a:spLocks noChangeShapeType="1"/>
          </p:cNvSpPr>
          <p:nvPr/>
        </p:nvSpPr>
        <p:spPr bwMode="auto">
          <a:xfrm>
            <a:off x="1264196" y="1633364"/>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9" name="Line 40"/>
          <p:cNvSpPr>
            <a:spLocks noChangeShapeType="1"/>
          </p:cNvSpPr>
          <p:nvPr/>
        </p:nvSpPr>
        <p:spPr bwMode="auto">
          <a:xfrm flipH="1">
            <a:off x="1999456" y="1654324"/>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70" name="Line 41"/>
          <p:cNvSpPr>
            <a:spLocks noChangeShapeType="1"/>
          </p:cNvSpPr>
          <p:nvPr/>
        </p:nvSpPr>
        <p:spPr bwMode="auto">
          <a:xfrm flipV="1">
            <a:off x="1237928" y="2949724"/>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71" name="AutoShape 10"/>
          <p:cNvSpPr>
            <a:spLocks noChangeArrowheads="1"/>
          </p:cNvSpPr>
          <p:nvPr/>
        </p:nvSpPr>
        <p:spPr bwMode="auto">
          <a:xfrm>
            <a:off x="2915816" y="1340768"/>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72" name="Line 16"/>
          <p:cNvSpPr>
            <a:spLocks noChangeShapeType="1"/>
          </p:cNvSpPr>
          <p:nvPr/>
        </p:nvSpPr>
        <p:spPr bwMode="auto">
          <a:xfrm flipH="1">
            <a:off x="2186608" y="1844824"/>
            <a:ext cx="729208" cy="647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76" name="Line 21"/>
          <p:cNvSpPr>
            <a:spLocks noChangeShapeType="1"/>
          </p:cNvSpPr>
          <p:nvPr/>
        </p:nvSpPr>
        <p:spPr bwMode="auto">
          <a:xfrm flipV="1">
            <a:off x="4355976" y="1772816"/>
            <a:ext cx="504056" cy="72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0" name="Line 44"/>
          <p:cNvSpPr>
            <a:spLocks noChangeShapeType="1"/>
          </p:cNvSpPr>
          <p:nvPr/>
        </p:nvSpPr>
        <p:spPr bwMode="auto">
          <a:xfrm>
            <a:off x="5008984" y="980728"/>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81" name="Line 45"/>
          <p:cNvSpPr>
            <a:spLocks noChangeShapeType="1"/>
          </p:cNvSpPr>
          <p:nvPr/>
        </p:nvSpPr>
        <p:spPr bwMode="auto">
          <a:xfrm flipH="1">
            <a:off x="5868144" y="980728"/>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Tree>
    <p:extLst>
      <p:ext uri="{BB962C8B-B14F-4D97-AF65-F5344CB8AC3E}">
        <p14:creationId xmlns:p14="http://schemas.microsoft.com/office/powerpoint/2010/main" val="418970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solidFill>
                  <a:schemeClr val="tx1"/>
                </a:solidFill>
              </a:rPr>
              <a:t>ER Diagram</a:t>
            </a:r>
          </a:p>
        </p:txBody>
      </p:sp>
      <p:sp>
        <p:nvSpPr>
          <p:cNvPr id="29" name="Content Placeholder 3"/>
          <p:cNvSpPr>
            <a:spLocks noGrp="1"/>
          </p:cNvSpPr>
          <p:nvPr>
            <p:ph idx="1"/>
          </p:nvPr>
        </p:nvSpPr>
        <p:spPr>
          <a:xfrm>
            <a:off x="457200" y="3933056"/>
            <a:ext cx="8229600" cy="2197869"/>
          </a:xfrm>
        </p:spPr>
        <p:txBody>
          <a:bodyPr>
            <a:normAutofit/>
          </a:bodyPr>
          <a:lstStyle/>
          <a:p>
            <a:r>
              <a:rPr lang="en-US" dirty="0"/>
              <a:t>Diamond = </a:t>
            </a:r>
            <a:r>
              <a:rPr lang="en-US" dirty="0">
                <a:solidFill>
                  <a:srgbClr val="A50021"/>
                </a:solidFill>
              </a:rPr>
              <a:t>Relationship</a:t>
            </a:r>
            <a:r>
              <a:rPr lang="en-US" dirty="0"/>
              <a:t> = Connection between two entity sets</a:t>
            </a:r>
            <a:endParaRPr lang="en-SG" dirty="0"/>
          </a:p>
          <a:p>
            <a:r>
              <a:rPr lang="en-US" dirty="0"/>
              <a:t>Companies make products</a:t>
            </a:r>
            <a:endParaRPr lang="en-SG" dirty="0"/>
          </a:p>
        </p:txBody>
      </p:sp>
      <p:sp>
        <p:nvSpPr>
          <p:cNvPr id="80" name="Rectangle 4"/>
          <p:cNvSpPr>
            <a:spLocks noChangeArrowheads="1"/>
          </p:cNvSpPr>
          <p:nvPr/>
        </p:nvSpPr>
        <p:spPr bwMode="auto">
          <a:xfrm>
            <a:off x="5008984" y="2887198"/>
            <a:ext cx="180290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81" name="Oval 30"/>
          <p:cNvSpPr>
            <a:spLocks noChangeArrowheads="1"/>
          </p:cNvSpPr>
          <p:nvPr/>
        </p:nvSpPr>
        <p:spPr bwMode="auto">
          <a:xfrm>
            <a:off x="7222160" y="2564904"/>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country</a:t>
            </a:r>
          </a:p>
        </p:txBody>
      </p:sp>
      <p:sp>
        <p:nvSpPr>
          <p:cNvPr id="82" name="Oval 31"/>
          <p:cNvSpPr>
            <a:spLocks noChangeArrowheads="1"/>
          </p:cNvSpPr>
          <p:nvPr/>
        </p:nvSpPr>
        <p:spPr bwMode="auto">
          <a:xfrm>
            <a:off x="7222161" y="322590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83" name="Line 42"/>
          <p:cNvSpPr>
            <a:spLocks noChangeShapeType="1"/>
          </p:cNvSpPr>
          <p:nvPr/>
        </p:nvSpPr>
        <p:spPr bwMode="auto">
          <a:xfrm flipH="1" flipV="1">
            <a:off x="6811887" y="3344398"/>
            <a:ext cx="410272"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4" name="Line 43"/>
          <p:cNvSpPr>
            <a:spLocks noChangeShapeType="1"/>
          </p:cNvSpPr>
          <p:nvPr/>
        </p:nvSpPr>
        <p:spPr bwMode="auto">
          <a:xfrm flipH="1">
            <a:off x="6811886" y="2887198"/>
            <a:ext cx="410273" cy="24080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0" name="Rectangle 3"/>
          <p:cNvSpPr>
            <a:spLocks noChangeArrowheads="1"/>
          </p:cNvSpPr>
          <p:nvPr/>
        </p:nvSpPr>
        <p:spPr bwMode="auto">
          <a:xfrm>
            <a:off x="683568" y="2035324"/>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91" name="Oval 25"/>
          <p:cNvSpPr>
            <a:spLocks noChangeArrowheads="1"/>
          </p:cNvSpPr>
          <p:nvPr/>
        </p:nvSpPr>
        <p:spPr bwMode="auto">
          <a:xfrm>
            <a:off x="46754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92" name="Oval 26"/>
          <p:cNvSpPr>
            <a:spLocks noChangeArrowheads="1"/>
          </p:cNvSpPr>
          <p:nvPr/>
        </p:nvSpPr>
        <p:spPr bwMode="auto">
          <a:xfrm>
            <a:off x="421804" y="3145532"/>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93" name="Oval 27"/>
          <p:cNvSpPr>
            <a:spLocks noChangeArrowheads="1"/>
          </p:cNvSpPr>
          <p:nvPr/>
        </p:nvSpPr>
        <p:spPr bwMode="auto">
          <a:xfrm>
            <a:off x="1907704" y="108282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94" name="Line 39"/>
          <p:cNvSpPr>
            <a:spLocks noChangeShapeType="1"/>
          </p:cNvSpPr>
          <p:nvPr/>
        </p:nvSpPr>
        <p:spPr bwMode="auto">
          <a:xfrm>
            <a:off x="1264196" y="1633364"/>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5" name="Line 40"/>
          <p:cNvSpPr>
            <a:spLocks noChangeShapeType="1"/>
          </p:cNvSpPr>
          <p:nvPr/>
        </p:nvSpPr>
        <p:spPr bwMode="auto">
          <a:xfrm flipH="1">
            <a:off x="1999456" y="1654324"/>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6" name="Line 41"/>
          <p:cNvSpPr>
            <a:spLocks noChangeShapeType="1"/>
          </p:cNvSpPr>
          <p:nvPr/>
        </p:nvSpPr>
        <p:spPr bwMode="auto">
          <a:xfrm flipV="1">
            <a:off x="1237928" y="2949724"/>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9" name="Line 17"/>
          <p:cNvSpPr>
            <a:spLocks noChangeShapeType="1"/>
          </p:cNvSpPr>
          <p:nvPr/>
        </p:nvSpPr>
        <p:spPr bwMode="auto">
          <a:xfrm>
            <a:off x="4211960" y="3344396"/>
            <a:ext cx="797024" cy="3839"/>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03" name="AutoShape 11"/>
          <p:cNvSpPr>
            <a:spLocks noChangeArrowheads="1"/>
          </p:cNvSpPr>
          <p:nvPr/>
        </p:nvSpPr>
        <p:spPr bwMode="auto">
          <a:xfrm>
            <a:off x="2771800" y="2852936"/>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Make</a:t>
            </a:r>
          </a:p>
        </p:txBody>
      </p:sp>
      <p:sp>
        <p:nvSpPr>
          <p:cNvPr id="104" name="Line 22"/>
          <p:cNvSpPr>
            <a:spLocks noChangeShapeType="1"/>
          </p:cNvSpPr>
          <p:nvPr/>
        </p:nvSpPr>
        <p:spPr bwMode="auto">
          <a:xfrm flipH="1" flipV="1">
            <a:off x="1999456" y="2949722"/>
            <a:ext cx="772344" cy="3946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3" name="Oval 2"/>
          <p:cNvSpPr/>
          <p:nvPr/>
        </p:nvSpPr>
        <p:spPr bwMode="auto">
          <a:xfrm>
            <a:off x="4572000" y="3007600"/>
            <a:ext cx="681608" cy="735747"/>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rgbClr val="FF0000"/>
              </a:solidFill>
              <a:effectLst/>
              <a:latin typeface="Arial" charset="0"/>
              <a:ea typeface="宋体" pitchFamily="2" charset="-122"/>
            </a:endParaRPr>
          </a:p>
        </p:txBody>
      </p:sp>
      <p:sp>
        <p:nvSpPr>
          <p:cNvPr id="4" name="Rounded Rectangular Callout 3"/>
          <p:cNvSpPr/>
          <p:nvPr/>
        </p:nvSpPr>
        <p:spPr bwMode="auto">
          <a:xfrm>
            <a:off x="3491880" y="1368574"/>
            <a:ext cx="4176464" cy="578882"/>
          </a:xfrm>
          <a:prstGeom prst="wedgeRoundRectCallout">
            <a:avLst>
              <a:gd name="adj1" fmla="val -18819"/>
              <a:gd name="adj2" fmla="val 225006"/>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Why is </a:t>
            </a:r>
            <a:r>
              <a:rPr lang="en-US" sz="2800" b="1" dirty="0">
                <a:latin typeface="Calibri" pitchFamily="34" charset="0"/>
                <a:ea typeface="宋体" pitchFamily="2" charset="-122"/>
              </a:rPr>
              <a:t>there an arrow?</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302434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Relationships</a:t>
            </a:r>
            <a:endParaRPr lang="en-SG" dirty="0"/>
          </a:p>
        </p:txBody>
      </p:sp>
      <p:sp>
        <p:nvSpPr>
          <p:cNvPr id="3" name="Content Placeholder 2"/>
          <p:cNvSpPr>
            <a:spLocks noGrp="1"/>
          </p:cNvSpPr>
          <p:nvPr>
            <p:ph idx="1"/>
          </p:nvPr>
        </p:nvSpPr>
        <p:spPr/>
        <p:txBody>
          <a:bodyPr/>
          <a:lstStyle/>
          <a:p>
            <a:r>
              <a:rPr lang="en-US" dirty="0"/>
              <a:t>Many-to-Many Relationships</a:t>
            </a:r>
          </a:p>
          <a:p>
            <a:r>
              <a:rPr lang="en-US" dirty="0"/>
              <a:t>Many-to-One Relationships</a:t>
            </a:r>
          </a:p>
          <a:p>
            <a:r>
              <a:rPr lang="en-US" dirty="0"/>
              <a:t>One-to-One Relationships</a:t>
            </a:r>
            <a:endParaRPr lang="en-SG" dirty="0"/>
          </a:p>
        </p:txBody>
      </p:sp>
    </p:spTree>
    <p:extLst>
      <p:ext uri="{BB962C8B-B14F-4D97-AF65-F5344CB8AC3E}">
        <p14:creationId xmlns:p14="http://schemas.microsoft.com/office/powerpoint/2010/main" val="3363760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endParaRPr lang="en-SG" dirty="0"/>
          </a:p>
        </p:txBody>
      </p:sp>
      <p:sp>
        <p:nvSpPr>
          <p:cNvPr id="3" name="Content Placeholder 2"/>
          <p:cNvSpPr>
            <a:spLocks noGrp="1"/>
          </p:cNvSpPr>
          <p:nvPr>
            <p:ph idx="1"/>
          </p:nvPr>
        </p:nvSpPr>
        <p:spPr>
          <a:xfrm>
            <a:off x="457200" y="4941168"/>
            <a:ext cx="8435280" cy="1189757"/>
          </a:xfrm>
        </p:spPr>
        <p:txBody>
          <a:bodyPr>
            <a:normAutofit/>
          </a:bodyPr>
          <a:lstStyle/>
          <a:p>
            <a:r>
              <a:rPr lang="en-US" dirty="0"/>
              <a:t>One person can buy multiple products</a:t>
            </a:r>
          </a:p>
          <a:p>
            <a:r>
              <a:rPr lang="en-US" dirty="0"/>
              <a:t>One product can be bought by multiple persons</a:t>
            </a:r>
            <a:endParaRPr lang="en-SG" dirty="0"/>
          </a:p>
        </p:txBody>
      </p:sp>
      <p:sp>
        <p:nvSpPr>
          <p:cNvPr id="9" name="Rectangle 5"/>
          <p:cNvSpPr>
            <a:spLocks noChangeArrowheads="1"/>
          </p:cNvSpPr>
          <p:nvPr/>
        </p:nvSpPr>
        <p:spPr bwMode="auto">
          <a:xfrm>
            <a:off x="4860032" y="1844824"/>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10" name="Oval 28"/>
          <p:cNvSpPr>
            <a:spLocks noChangeArrowheads="1"/>
          </p:cNvSpPr>
          <p:nvPr/>
        </p:nvSpPr>
        <p:spPr bwMode="auto">
          <a:xfrm>
            <a:off x="5940152" y="1052736"/>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11" name="Oval 29"/>
          <p:cNvSpPr>
            <a:spLocks noChangeArrowheads="1"/>
          </p:cNvSpPr>
          <p:nvPr/>
        </p:nvSpPr>
        <p:spPr bwMode="auto">
          <a:xfrm>
            <a:off x="4355976" y="105273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2" name="Line 44"/>
          <p:cNvSpPr>
            <a:spLocks noChangeShapeType="1"/>
          </p:cNvSpPr>
          <p:nvPr/>
        </p:nvSpPr>
        <p:spPr bwMode="auto">
          <a:xfrm>
            <a:off x="5008984" y="1624236"/>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13" name="Line 45"/>
          <p:cNvSpPr>
            <a:spLocks noChangeShapeType="1"/>
          </p:cNvSpPr>
          <p:nvPr/>
        </p:nvSpPr>
        <p:spPr bwMode="auto">
          <a:xfrm flipH="1">
            <a:off x="5868144" y="1624236"/>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14" name="Rectangle 3"/>
          <p:cNvSpPr>
            <a:spLocks noChangeArrowheads="1"/>
          </p:cNvSpPr>
          <p:nvPr/>
        </p:nvSpPr>
        <p:spPr bwMode="auto">
          <a:xfrm>
            <a:off x="683568" y="2678832"/>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5" name="Oval 25"/>
          <p:cNvSpPr>
            <a:spLocks noChangeArrowheads="1"/>
          </p:cNvSpPr>
          <p:nvPr/>
        </p:nvSpPr>
        <p:spPr bwMode="auto">
          <a:xfrm>
            <a:off x="467544" y="172633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6" name="Oval 26"/>
          <p:cNvSpPr>
            <a:spLocks noChangeArrowheads="1"/>
          </p:cNvSpPr>
          <p:nvPr/>
        </p:nvSpPr>
        <p:spPr bwMode="auto">
          <a:xfrm>
            <a:off x="421804" y="3789040"/>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17" name="Oval 27"/>
          <p:cNvSpPr>
            <a:spLocks noChangeArrowheads="1"/>
          </p:cNvSpPr>
          <p:nvPr/>
        </p:nvSpPr>
        <p:spPr bwMode="auto">
          <a:xfrm>
            <a:off x="1907704" y="172633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8" name="Line 39"/>
          <p:cNvSpPr>
            <a:spLocks noChangeShapeType="1"/>
          </p:cNvSpPr>
          <p:nvPr/>
        </p:nvSpPr>
        <p:spPr bwMode="auto">
          <a:xfrm>
            <a:off x="1264196" y="2276872"/>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9" name="Line 40"/>
          <p:cNvSpPr>
            <a:spLocks noChangeShapeType="1"/>
          </p:cNvSpPr>
          <p:nvPr/>
        </p:nvSpPr>
        <p:spPr bwMode="auto">
          <a:xfrm flipH="1">
            <a:off x="1999456" y="2297832"/>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0" name="Line 41"/>
          <p:cNvSpPr>
            <a:spLocks noChangeShapeType="1"/>
          </p:cNvSpPr>
          <p:nvPr/>
        </p:nvSpPr>
        <p:spPr bwMode="auto">
          <a:xfrm flipV="1">
            <a:off x="1237928" y="3593232"/>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1" name="AutoShape 10"/>
          <p:cNvSpPr>
            <a:spLocks noChangeArrowheads="1"/>
          </p:cNvSpPr>
          <p:nvPr/>
        </p:nvSpPr>
        <p:spPr bwMode="auto">
          <a:xfrm>
            <a:off x="2915816" y="1984276"/>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22" name="Line 16"/>
          <p:cNvSpPr>
            <a:spLocks noChangeShapeType="1"/>
          </p:cNvSpPr>
          <p:nvPr/>
        </p:nvSpPr>
        <p:spPr bwMode="auto">
          <a:xfrm flipH="1">
            <a:off x="2186608" y="2488332"/>
            <a:ext cx="729208" cy="647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3" name="Line 21"/>
          <p:cNvSpPr>
            <a:spLocks noChangeShapeType="1"/>
          </p:cNvSpPr>
          <p:nvPr/>
        </p:nvSpPr>
        <p:spPr bwMode="auto">
          <a:xfrm flipV="1">
            <a:off x="4355976" y="2416324"/>
            <a:ext cx="504056" cy="72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graphicFrame>
        <p:nvGraphicFramePr>
          <p:cNvPr id="24" name="Table 23"/>
          <p:cNvGraphicFramePr>
            <a:graphicFrameLocks noGrp="1"/>
          </p:cNvGraphicFramePr>
          <p:nvPr>
            <p:extLst>
              <p:ext uri="{D42A27DB-BD31-4B8C-83A1-F6EECF244321}">
                <p14:modId xmlns:p14="http://schemas.microsoft.com/office/powerpoint/2010/main" val="1425119301"/>
              </p:ext>
            </p:extLst>
          </p:nvPr>
        </p:nvGraphicFramePr>
        <p:xfrm>
          <a:off x="4427984" y="2879576"/>
          <a:ext cx="1512168" cy="213360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tblGrid>
              <a:tr h="388843">
                <a:tc>
                  <a:txBody>
                    <a:bodyPr/>
                    <a:lstStyle/>
                    <a:p>
                      <a:pPr algn="ctr"/>
                      <a:r>
                        <a:rPr lang="en-US" sz="2200" dirty="0">
                          <a:latin typeface="Calibri" pitchFamily="34" charset="0"/>
                        </a:rPr>
                        <a:t>Products</a:t>
                      </a:r>
                      <a:endParaRPr lang="en-SG" sz="2200" dirty="0">
                        <a:latin typeface="Calibri" pitchFamily="34" charset="0"/>
                      </a:endParaRPr>
                    </a:p>
                  </a:txBody>
                  <a:tcPr/>
                </a:tc>
                <a:extLst>
                  <a:ext uri="{0D108BD9-81ED-4DB2-BD59-A6C34878D82A}">
                    <a16:rowId xmlns:a16="http://schemas.microsoft.com/office/drawing/2014/main" val="10000"/>
                  </a:ext>
                </a:extLst>
              </a:tr>
              <a:tr h="388843">
                <a:tc>
                  <a:txBody>
                    <a:bodyPr/>
                    <a:lstStyle/>
                    <a:p>
                      <a:pPr algn="ctr"/>
                      <a:r>
                        <a:rPr lang="en-US" sz="2200" dirty="0">
                          <a:latin typeface="Calibri" pitchFamily="34" charset="0"/>
                        </a:rPr>
                        <a:t>iPhone</a:t>
                      </a:r>
                      <a:endParaRPr lang="en-SG" sz="2200" dirty="0">
                        <a:latin typeface="Calibri" pitchFamily="34" charset="0"/>
                      </a:endParaRPr>
                    </a:p>
                  </a:txBody>
                  <a:tcPr/>
                </a:tc>
                <a:extLst>
                  <a:ext uri="{0D108BD9-81ED-4DB2-BD59-A6C34878D82A}">
                    <a16:rowId xmlns:a16="http://schemas.microsoft.com/office/drawing/2014/main" val="10001"/>
                  </a:ext>
                </a:extLst>
              </a:tr>
              <a:tr h="388843">
                <a:tc>
                  <a:txBody>
                    <a:bodyPr/>
                    <a:lstStyle/>
                    <a:p>
                      <a:pPr algn="ctr"/>
                      <a:r>
                        <a:rPr lang="en-US" sz="2200" dirty="0" err="1">
                          <a:latin typeface="Calibri" pitchFamily="34" charset="0"/>
                        </a:rPr>
                        <a:t>iPad</a:t>
                      </a:r>
                      <a:endParaRPr lang="en-SG" sz="2200" dirty="0">
                        <a:latin typeface="Calibri" pitchFamily="34" charset="0"/>
                      </a:endParaRPr>
                    </a:p>
                  </a:txBody>
                  <a:tcPr/>
                </a:tc>
                <a:extLst>
                  <a:ext uri="{0D108BD9-81ED-4DB2-BD59-A6C34878D82A}">
                    <a16:rowId xmlns:a16="http://schemas.microsoft.com/office/drawing/2014/main" val="10002"/>
                  </a:ext>
                </a:extLst>
              </a:tr>
              <a:tr h="388843">
                <a:tc>
                  <a:txBody>
                    <a:bodyPr/>
                    <a:lstStyle/>
                    <a:p>
                      <a:pPr algn="ctr"/>
                      <a:r>
                        <a:rPr lang="en-US" sz="2200" dirty="0">
                          <a:latin typeface="Calibri" pitchFamily="34" charset="0"/>
                        </a:rPr>
                        <a:t>iMac</a:t>
                      </a:r>
                      <a:endParaRPr lang="en-SG" sz="2200" dirty="0">
                        <a:latin typeface="Calibri" pitchFamily="34" charset="0"/>
                      </a:endParaRPr>
                    </a:p>
                  </a:txBody>
                  <a:tcPr/>
                </a:tc>
                <a:extLst>
                  <a:ext uri="{0D108BD9-81ED-4DB2-BD59-A6C34878D82A}">
                    <a16:rowId xmlns:a16="http://schemas.microsoft.com/office/drawing/2014/main" val="10003"/>
                  </a:ext>
                </a:extLst>
              </a:tr>
              <a:tr h="388843">
                <a:tc>
                  <a:txBody>
                    <a:bodyPr/>
                    <a:lstStyle/>
                    <a:p>
                      <a:pPr algn="ctr"/>
                      <a:r>
                        <a:rPr lang="en-US" sz="2200" dirty="0">
                          <a:latin typeface="Calibri" pitchFamily="34" charset="0"/>
                        </a:rPr>
                        <a:t>…</a:t>
                      </a:r>
                    </a:p>
                  </a:txBody>
                  <a:tcPr/>
                </a:tc>
                <a:extLst>
                  <a:ext uri="{0D108BD9-81ED-4DB2-BD59-A6C34878D82A}">
                    <a16:rowId xmlns:a16="http://schemas.microsoft.com/office/drawing/2014/main" val="10004"/>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681125425"/>
              </p:ext>
            </p:extLst>
          </p:nvPr>
        </p:nvGraphicFramePr>
        <p:xfrm>
          <a:off x="7426958" y="2879576"/>
          <a:ext cx="1365124" cy="2133600"/>
        </p:xfrm>
        <a:graphic>
          <a:graphicData uri="http://schemas.openxmlformats.org/drawingml/2006/table">
            <a:tbl>
              <a:tblPr firstRow="1" bandRow="1">
                <a:tableStyleId>{5C22544A-7EE6-4342-B048-85BDC9FD1C3A}</a:tableStyleId>
              </a:tblPr>
              <a:tblGrid>
                <a:gridCol w="1365124">
                  <a:extLst>
                    <a:ext uri="{9D8B030D-6E8A-4147-A177-3AD203B41FA5}">
                      <a16:colId xmlns:a16="http://schemas.microsoft.com/office/drawing/2014/main" val="20000"/>
                    </a:ext>
                  </a:extLst>
                </a:gridCol>
              </a:tblGrid>
              <a:tr h="388843">
                <a:tc>
                  <a:txBody>
                    <a:bodyPr/>
                    <a:lstStyle/>
                    <a:p>
                      <a:pPr algn="ctr"/>
                      <a:r>
                        <a:rPr lang="en-US" sz="2200" dirty="0">
                          <a:latin typeface="Calibri" pitchFamily="34" charset="0"/>
                        </a:rPr>
                        <a:t>Persons</a:t>
                      </a:r>
                      <a:endParaRPr lang="en-SG" sz="2200" dirty="0">
                        <a:latin typeface="Calibri" pitchFamily="34" charset="0"/>
                      </a:endParaRPr>
                    </a:p>
                  </a:txBody>
                  <a:tcPr/>
                </a:tc>
                <a:extLst>
                  <a:ext uri="{0D108BD9-81ED-4DB2-BD59-A6C34878D82A}">
                    <a16:rowId xmlns:a16="http://schemas.microsoft.com/office/drawing/2014/main" val="10000"/>
                  </a:ext>
                </a:extLst>
              </a:tr>
              <a:tr h="388843">
                <a:tc>
                  <a:txBody>
                    <a:bodyPr/>
                    <a:lstStyle/>
                    <a:p>
                      <a:pPr algn="ctr"/>
                      <a:r>
                        <a:rPr lang="en-US" sz="2200" dirty="0">
                          <a:latin typeface="Calibri" pitchFamily="34" charset="0"/>
                        </a:rPr>
                        <a:t>Alice</a:t>
                      </a:r>
                      <a:endParaRPr lang="en-SG" sz="2200" dirty="0">
                        <a:latin typeface="Calibri" pitchFamily="34" charset="0"/>
                      </a:endParaRPr>
                    </a:p>
                  </a:txBody>
                  <a:tcPr/>
                </a:tc>
                <a:extLst>
                  <a:ext uri="{0D108BD9-81ED-4DB2-BD59-A6C34878D82A}">
                    <a16:rowId xmlns:a16="http://schemas.microsoft.com/office/drawing/2014/main" val="10001"/>
                  </a:ext>
                </a:extLst>
              </a:tr>
              <a:tr h="388843">
                <a:tc>
                  <a:txBody>
                    <a:bodyPr/>
                    <a:lstStyle/>
                    <a:p>
                      <a:pPr algn="ctr"/>
                      <a:r>
                        <a:rPr lang="en-US" sz="2200" dirty="0">
                          <a:latin typeface="Calibri" pitchFamily="34" charset="0"/>
                        </a:rPr>
                        <a:t>Bob</a:t>
                      </a:r>
                      <a:endParaRPr lang="en-SG" sz="2200" dirty="0">
                        <a:latin typeface="Calibri" pitchFamily="34" charset="0"/>
                      </a:endParaRPr>
                    </a:p>
                  </a:txBody>
                  <a:tcPr/>
                </a:tc>
                <a:extLst>
                  <a:ext uri="{0D108BD9-81ED-4DB2-BD59-A6C34878D82A}">
                    <a16:rowId xmlns:a16="http://schemas.microsoft.com/office/drawing/2014/main" val="10002"/>
                  </a:ext>
                </a:extLst>
              </a:tr>
              <a:tr h="388843">
                <a:tc>
                  <a:txBody>
                    <a:bodyPr/>
                    <a:lstStyle/>
                    <a:p>
                      <a:pPr algn="ctr"/>
                      <a:r>
                        <a:rPr lang="en-US" sz="2200" dirty="0">
                          <a:latin typeface="Calibri" pitchFamily="34" charset="0"/>
                        </a:rPr>
                        <a:t>Cathy</a:t>
                      </a:r>
                      <a:endParaRPr lang="en-SG" sz="2200" dirty="0">
                        <a:latin typeface="Calibri" pitchFamily="34" charset="0"/>
                      </a:endParaRPr>
                    </a:p>
                  </a:txBody>
                  <a:tcPr/>
                </a:tc>
                <a:extLst>
                  <a:ext uri="{0D108BD9-81ED-4DB2-BD59-A6C34878D82A}">
                    <a16:rowId xmlns:a16="http://schemas.microsoft.com/office/drawing/2014/main" val="10003"/>
                  </a:ext>
                </a:extLst>
              </a:tr>
              <a:tr h="388843">
                <a:tc>
                  <a:txBody>
                    <a:bodyPr/>
                    <a:lstStyle/>
                    <a:p>
                      <a:pPr algn="ctr"/>
                      <a:r>
                        <a:rPr lang="en-US" sz="2200" dirty="0">
                          <a:latin typeface="Calibri" pitchFamily="34" charset="0"/>
                        </a:rPr>
                        <a:t>…</a:t>
                      </a:r>
                    </a:p>
                  </a:txBody>
                  <a:tcPr/>
                </a:tc>
                <a:extLst>
                  <a:ext uri="{0D108BD9-81ED-4DB2-BD59-A6C34878D82A}">
                    <a16:rowId xmlns:a16="http://schemas.microsoft.com/office/drawing/2014/main" val="10004"/>
                  </a:ext>
                </a:extLst>
              </a:tr>
            </a:tbl>
          </a:graphicData>
        </a:graphic>
      </p:graphicFrame>
      <p:cxnSp>
        <p:nvCxnSpPr>
          <p:cNvPr id="26" name="Straight Connector 25"/>
          <p:cNvCxnSpPr/>
          <p:nvPr/>
        </p:nvCxnSpPr>
        <p:spPr bwMode="auto">
          <a:xfrm>
            <a:off x="5940152" y="3527648"/>
            <a:ext cx="15121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7" name="Straight Connector 26"/>
          <p:cNvCxnSpPr>
            <a:endCxn id="25" idx="1"/>
          </p:cNvCxnSpPr>
          <p:nvPr/>
        </p:nvCxnSpPr>
        <p:spPr bwMode="auto">
          <a:xfrm>
            <a:off x="5940152" y="3527648"/>
            <a:ext cx="1486806" cy="418728"/>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8" name="Straight Connector 27"/>
          <p:cNvCxnSpPr>
            <a:stCxn id="24" idx="3"/>
          </p:cNvCxnSpPr>
          <p:nvPr/>
        </p:nvCxnSpPr>
        <p:spPr bwMode="auto">
          <a:xfrm>
            <a:off x="5940152" y="3946376"/>
            <a:ext cx="1486806" cy="445368"/>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9" name="Straight Connector 28"/>
          <p:cNvCxnSpPr>
            <a:stCxn id="24" idx="3"/>
          </p:cNvCxnSpPr>
          <p:nvPr/>
        </p:nvCxnSpPr>
        <p:spPr bwMode="auto">
          <a:xfrm flipV="1">
            <a:off x="5940152" y="3527648"/>
            <a:ext cx="1512168" cy="418728"/>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0" name="Straight Connector 29"/>
          <p:cNvCxnSpPr>
            <a:endCxn id="25" idx="1"/>
          </p:cNvCxnSpPr>
          <p:nvPr/>
        </p:nvCxnSpPr>
        <p:spPr bwMode="auto">
          <a:xfrm flipV="1">
            <a:off x="5940152" y="3946376"/>
            <a:ext cx="1486806" cy="445368"/>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1" name="Straight Connector 30"/>
          <p:cNvCxnSpPr/>
          <p:nvPr/>
        </p:nvCxnSpPr>
        <p:spPr bwMode="auto">
          <a:xfrm flipV="1">
            <a:off x="5940152" y="3527648"/>
            <a:ext cx="1486806" cy="864096"/>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85273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Many-to-One Relationship</a:t>
            </a:r>
            <a:endParaRPr lang="en-SG" dirty="0"/>
          </a:p>
        </p:txBody>
      </p:sp>
      <p:sp>
        <p:nvSpPr>
          <p:cNvPr id="3" name="Content Placeholder 2"/>
          <p:cNvSpPr>
            <a:spLocks noGrp="1"/>
          </p:cNvSpPr>
          <p:nvPr>
            <p:ph idx="1"/>
          </p:nvPr>
        </p:nvSpPr>
        <p:spPr>
          <a:xfrm>
            <a:off x="457200" y="4797152"/>
            <a:ext cx="8229600" cy="1333773"/>
          </a:xfrm>
        </p:spPr>
        <p:txBody>
          <a:bodyPr>
            <a:normAutofit fontScale="92500"/>
          </a:bodyPr>
          <a:lstStyle/>
          <a:p>
            <a:r>
              <a:rPr lang="en-US" dirty="0"/>
              <a:t>One company can make multiple products</a:t>
            </a:r>
          </a:p>
          <a:p>
            <a:r>
              <a:rPr lang="en-US" dirty="0"/>
              <a:t>But one product can only be made by one company</a:t>
            </a:r>
            <a:endParaRPr lang="en-SG" dirty="0"/>
          </a:p>
        </p:txBody>
      </p:sp>
      <p:sp>
        <p:nvSpPr>
          <p:cNvPr id="4" name="Rectangle 4"/>
          <p:cNvSpPr>
            <a:spLocks noChangeArrowheads="1"/>
          </p:cNvSpPr>
          <p:nvPr/>
        </p:nvSpPr>
        <p:spPr bwMode="auto">
          <a:xfrm>
            <a:off x="5008984" y="3793214"/>
            <a:ext cx="180290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5" name="Oval 30"/>
          <p:cNvSpPr>
            <a:spLocks noChangeArrowheads="1"/>
          </p:cNvSpPr>
          <p:nvPr/>
        </p:nvSpPr>
        <p:spPr bwMode="auto">
          <a:xfrm>
            <a:off x="7222160" y="3470920"/>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country</a:t>
            </a:r>
          </a:p>
        </p:txBody>
      </p:sp>
      <p:sp>
        <p:nvSpPr>
          <p:cNvPr id="6" name="Oval 31"/>
          <p:cNvSpPr>
            <a:spLocks noChangeArrowheads="1"/>
          </p:cNvSpPr>
          <p:nvPr/>
        </p:nvSpPr>
        <p:spPr bwMode="auto">
          <a:xfrm>
            <a:off x="7222161" y="413192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7" name="Line 42"/>
          <p:cNvSpPr>
            <a:spLocks noChangeShapeType="1"/>
          </p:cNvSpPr>
          <p:nvPr/>
        </p:nvSpPr>
        <p:spPr bwMode="auto">
          <a:xfrm flipH="1" flipV="1">
            <a:off x="6811887" y="4250414"/>
            <a:ext cx="410272"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43"/>
          <p:cNvSpPr>
            <a:spLocks noChangeShapeType="1"/>
          </p:cNvSpPr>
          <p:nvPr/>
        </p:nvSpPr>
        <p:spPr bwMode="auto">
          <a:xfrm flipH="1">
            <a:off x="6811886" y="3793214"/>
            <a:ext cx="410273" cy="24080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 name="Rectangle 3"/>
          <p:cNvSpPr>
            <a:spLocks noChangeArrowheads="1"/>
          </p:cNvSpPr>
          <p:nvPr/>
        </p:nvSpPr>
        <p:spPr bwMode="auto">
          <a:xfrm>
            <a:off x="683568" y="2941340"/>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0" name="Oval 25"/>
          <p:cNvSpPr>
            <a:spLocks noChangeArrowheads="1"/>
          </p:cNvSpPr>
          <p:nvPr/>
        </p:nvSpPr>
        <p:spPr bwMode="auto">
          <a:xfrm>
            <a:off x="467544" y="198884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1" name="Oval 26"/>
          <p:cNvSpPr>
            <a:spLocks noChangeArrowheads="1"/>
          </p:cNvSpPr>
          <p:nvPr/>
        </p:nvSpPr>
        <p:spPr bwMode="auto">
          <a:xfrm>
            <a:off x="421804" y="4051548"/>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12" name="Oval 27"/>
          <p:cNvSpPr>
            <a:spLocks noChangeArrowheads="1"/>
          </p:cNvSpPr>
          <p:nvPr/>
        </p:nvSpPr>
        <p:spPr bwMode="auto">
          <a:xfrm>
            <a:off x="1907704" y="198884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3" name="Line 39"/>
          <p:cNvSpPr>
            <a:spLocks noChangeShapeType="1"/>
          </p:cNvSpPr>
          <p:nvPr/>
        </p:nvSpPr>
        <p:spPr bwMode="auto">
          <a:xfrm>
            <a:off x="1264196" y="2539380"/>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Line 40"/>
          <p:cNvSpPr>
            <a:spLocks noChangeShapeType="1"/>
          </p:cNvSpPr>
          <p:nvPr/>
        </p:nvSpPr>
        <p:spPr bwMode="auto">
          <a:xfrm flipH="1">
            <a:off x="1999456" y="2560340"/>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5" name="Line 41"/>
          <p:cNvSpPr>
            <a:spLocks noChangeShapeType="1"/>
          </p:cNvSpPr>
          <p:nvPr/>
        </p:nvSpPr>
        <p:spPr bwMode="auto">
          <a:xfrm flipV="1">
            <a:off x="1237928" y="3855740"/>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Line 17"/>
          <p:cNvSpPr>
            <a:spLocks noChangeShapeType="1"/>
          </p:cNvSpPr>
          <p:nvPr/>
        </p:nvSpPr>
        <p:spPr bwMode="auto">
          <a:xfrm>
            <a:off x="4211960" y="4250412"/>
            <a:ext cx="797024" cy="3839"/>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AutoShape 11"/>
          <p:cNvSpPr>
            <a:spLocks noChangeArrowheads="1"/>
          </p:cNvSpPr>
          <p:nvPr/>
        </p:nvSpPr>
        <p:spPr bwMode="auto">
          <a:xfrm>
            <a:off x="2771800" y="3758952"/>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Make</a:t>
            </a:r>
          </a:p>
        </p:txBody>
      </p:sp>
      <p:sp>
        <p:nvSpPr>
          <p:cNvPr id="18" name="Line 22"/>
          <p:cNvSpPr>
            <a:spLocks noChangeShapeType="1"/>
          </p:cNvSpPr>
          <p:nvPr/>
        </p:nvSpPr>
        <p:spPr bwMode="auto">
          <a:xfrm flipH="1" flipV="1">
            <a:off x="1999456" y="3855738"/>
            <a:ext cx="772344" cy="3946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graphicFrame>
        <p:nvGraphicFramePr>
          <p:cNvPr id="19" name="Table 18"/>
          <p:cNvGraphicFramePr>
            <a:graphicFrameLocks noGrp="1"/>
          </p:cNvGraphicFramePr>
          <p:nvPr>
            <p:extLst>
              <p:ext uri="{D42A27DB-BD31-4B8C-83A1-F6EECF244321}">
                <p14:modId xmlns:p14="http://schemas.microsoft.com/office/powerpoint/2010/main" val="3522590154"/>
              </p:ext>
            </p:extLst>
          </p:nvPr>
        </p:nvGraphicFramePr>
        <p:xfrm>
          <a:off x="3719295" y="1124744"/>
          <a:ext cx="1512168" cy="213360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tblGrid>
              <a:tr h="388843">
                <a:tc>
                  <a:txBody>
                    <a:bodyPr/>
                    <a:lstStyle/>
                    <a:p>
                      <a:pPr algn="ctr"/>
                      <a:r>
                        <a:rPr lang="en-US" sz="2200" dirty="0">
                          <a:latin typeface="Calibri" pitchFamily="34" charset="0"/>
                        </a:rPr>
                        <a:t>Products</a:t>
                      </a:r>
                      <a:endParaRPr lang="en-SG" sz="2200" dirty="0">
                        <a:latin typeface="Calibri" pitchFamily="34" charset="0"/>
                      </a:endParaRPr>
                    </a:p>
                  </a:txBody>
                  <a:tcPr/>
                </a:tc>
                <a:extLst>
                  <a:ext uri="{0D108BD9-81ED-4DB2-BD59-A6C34878D82A}">
                    <a16:rowId xmlns:a16="http://schemas.microsoft.com/office/drawing/2014/main" val="10000"/>
                  </a:ext>
                </a:extLst>
              </a:tr>
              <a:tr h="388843">
                <a:tc>
                  <a:txBody>
                    <a:bodyPr/>
                    <a:lstStyle/>
                    <a:p>
                      <a:pPr algn="ctr"/>
                      <a:r>
                        <a:rPr lang="en-US" sz="2200" dirty="0">
                          <a:latin typeface="Calibri" pitchFamily="34" charset="0"/>
                        </a:rPr>
                        <a:t>iPhone</a:t>
                      </a:r>
                      <a:endParaRPr lang="en-SG" sz="2200" dirty="0">
                        <a:latin typeface="Calibri" pitchFamily="34" charset="0"/>
                      </a:endParaRPr>
                    </a:p>
                  </a:txBody>
                  <a:tcPr/>
                </a:tc>
                <a:extLst>
                  <a:ext uri="{0D108BD9-81ED-4DB2-BD59-A6C34878D82A}">
                    <a16:rowId xmlns:a16="http://schemas.microsoft.com/office/drawing/2014/main" val="10001"/>
                  </a:ext>
                </a:extLst>
              </a:tr>
              <a:tr h="388843">
                <a:tc>
                  <a:txBody>
                    <a:bodyPr/>
                    <a:lstStyle/>
                    <a:p>
                      <a:pPr algn="ctr"/>
                      <a:r>
                        <a:rPr lang="en-US" sz="2200" dirty="0" err="1">
                          <a:latin typeface="Calibri" pitchFamily="34" charset="0"/>
                        </a:rPr>
                        <a:t>iPad</a:t>
                      </a:r>
                      <a:endParaRPr lang="en-SG" sz="2200" dirty="0">
                        <a:latin typeface="Calibri" pitchFamily="34" charset="0"/>
                      </a:endParaRPr>
                    </a:p>
                  </a:txBody>
                  <a:tcPr/>
                </a:tc>
                <a:extLst>
                  <a:ext uri="{0D108BD9-81ED-4DB2-BD59-A6C34878D82A}">
                    <a16:rowId xmlns:a16="http://schemas.microsoft.com/office/drawing/2014/main" val="10002"/>
                  </a:ext>
                </a:extLst>
              </a:tr>
              <a:tr h="388843">
                <a:tc>
                  <a:txBody>
                    <a:bodyPr/>
                    <a:lstStyle/>
                    <a:p>
                      <a:pPr algn="ctr"/>
                      <a:r>
                        <a:rPr lang="en-US" sz="2200" dirty="0">
                          <a:latin typeface="Calibri" pitchFamily="34" charset="0"/>
                        </a:rPr>
                        <a:t>iMac</a:t>
                      </a:r>
                      <a:endParaRPr lang="en-SG" sz="2200" dirty="0">
                        <a:latin typeface="Calibri" pitchFamily="34" charset="0"/>
                      </a:endParaRPr>
                    </a:p>
                  </a:txBody>
                  <a:tcPr/>
                </a:tc>
                <a:extLst>
                  <a:ext uri="{0D108BD9-81ED-4DB2-BD59-A6C34878D82A}">
                    <a16:rowId xmlns:a16="http://schemas.microsoft.com/office/drawing/2014/main" val="10003"/>
                  </a:ext>
                </a:extLst>
              </a:tr>
              <a:tr h="388843">
                <a:tc>
                  <a:txBody>
                    <a:bodyPr/>
                    <a:lstStyle/>
                    <a:p>
                      <a:pPr algn="ctr"/>
                      <a:r>
                        <a:rPr lang="en-US" sz="2200" dirty="0">
                          <a:latin typeface="Calibri" pitchFamily="34" charset="0"/>
                        </a:rPr>
                        <a:t>…</a:t>
                      </a:r>
                    </a:p>
                  </a:txBody>
                  <a:tcPr/>
                </a:tc>
                <a:extLst>
                  <a:ext uri="{0D108BD9-81ED-4DB2-BD59-A6C34878D82A}">
                    <a16:rowId xmlns:a16="http://schemas.microsoft.com/office/drawing/2014/main" val="10004"/>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988559664"/>
              </p:ext>
            </p:extLst>
          </p:nvPr>
        </p:nvGraphicFramePr>
        <p:xfrm>
          <a:off x="6718269" y="1124744"/>
          <a:ext cx="1598147" cy="2133600"/>
        </p:xfrm>
        <a:graphic>
          <a:graphicData uri="http://schemas.openxmlformats.org/drawingml/2006/table">
            <a:tbl>
              <a:tblPr firstRow="1" bandRow="1">
                <a:tableStyleId>{5C22544A-7EE6-4342-B048-85BDC9FD1C3A}</a:tableStyleId>
              </a:tblPr>
              <a:tblGrid>
                <a:gridCol w="1598147">
                  <a:extLst>
                    <a:ext uri="{9D8B030D-6E8A-4147-A177-3AD203B41FA5}">
                      <a16:colId xmlns:a16="http://schemas.microsoft.com/office/drawing/2014/main" val="20000"/>
                    </a:ext>
                  </a:extLst>
                </a:gridCol>
              </a:tblGrid>
              <a:tr h="388843">
                <a:tc>
                  <a:txBody>
                    <a:bodyPr/>
                    <a:lstStyle/>
                    <a:p>
                      <a:pPr algn="ctr"/>
                      <a:r>
                        <a:rPr lang="en-US" sz="2200" dirty="0">
                          <a:latin typeface="Calibri" pitchFamily="34" charset="0"/>
                        </a:rPr>
                        <a:t>Companies</a:t>
                      </a:r>
                      <a:endParaRPr lang="en-SG" sz="2200" dirty="0">
                        <a:latin typeface="Calibri" pitchFamily="34" charset="0"/>
                      </a:endParaRPr>
                    </a:p>
                  </a:txBody>
                  <a:tcPr/>
                </a:tc>
                <a:extLst>
                  <a:ext uri="{0D108BD9-81ED-4DB2-BD59-A6C34878D82A}">
                    <a16:rowId xmlns:a16="http://schemas.microsoft.com/office/drawing/2014/main" val="10000"/>
                  </a:ext>
                </a:extLst>
              </a:tr>
              <a:tr h="388843">
                <a:tc>
                  <a:txBody>
                    <a:bodyPr/>
                    <a:lstStyle/>
                    <a:p>
                      <a:pPr algn="ctr"/>
                      <a:r>
                        <a:rPr lang="en-US" sz="2200" dirty="0">
                          <a:latin typeface="Calibri" pitchFamily="34" charset="0"/>
                        </a:rPr>
                        <a:t>Apple</a:t>
                      </a:r>
                      <a:endParaRPr lang="en-SG" sz="2200" dirty="0">
                        <a:latin typeface="Calibri" pitchFamily="34" charset="0"/>
                      </a:endParaRPr>
                    </a:p>
                  </a:txBody>
                  <a:tcPr/>
                </a:tc>
                <a:extLst>
                  <a:ext uri="{0D108BD9-81ED-4DB2-BD59-A6C34878D82A}">
                    <a16:rowId xmlns:a16="http://schemas.microsoft.com/office/drawing/2014/main" val="10001"/>
                  </a:ext>
                </a:extLst>
              </a:tr>
              <a:tr h="388843">
                <a:tc>
                  <a:txBody>
                    <a:bodyPr/>
                    <a:lstStyle/>
                    <a:p>
                      <a:pPr algn="ctr"/>
                      <a:r>
                        <a:rPr lang="en-US" sz="2200" dirty="0">
                          <a:latin typeface="Calibri" pitchFamily="34" charset="0"/>
                        </a:rPr>
                        <a:t>Samsung</a:t>
                      </a:r>
                      <a:endParaRPr lang="en-SG" sz="2200" dirty="0">
                        <a:latin typeface="Calibri" pitchFamily="34" charset="0"/>
                      </a:endParaRPr>
                    </a:p>
                  </a:txBody>
                  <a:tcPr/>
                </a:tc>
                <a:extLst>
                  <a:ext uri="{0D108BD9-81ED-4DB2-BD59-A6C34878D82A}">
                    <a16:rowId xmlns:a16="http://schemas.microsoft.com/office/drawing/2014/main" val="10002"/>
                  </a:ext>
                </a:extLst>
              </a:tr>
              <a:tr h="388843">
                <a:tc>
                  <a:txBody>
                    <a:bodyPr/>
                    <a:lstStyle/>
                    <a:p>
                      <a:pPr algn="ctr"/>
                      <a:r>
                        <a:rPr lang="en-US" sz="2200" dirty="0">
                          <a:latin typeface="Calibri" pitchFamily="34" charset="0"/>
                        </a:rPr>
                        <a:t>Google</a:t>
                      </a:r>
                      <a:endParaRPr lang="en-SG" sz="2200" dirty="0">
                        <a:latin typeface="Calibri" pitchFamily="34" charset="0"/>
                      </a:endParaRPr>
                    </a:p>
                  </a:txBody>
                  <a:tcPr/>
                </a:tc>
                <a:extLst>
                  <a:ext uri="{0D108BD9-81ED-4DB2-BD59-A6C34878D82A}">
                    <a16:rowId xmlns:a16="http://schemas.microsoft.com/office/drawing/2014/main" val="10003"/>
                  </a:ext>
                </a:extLst>
              </a:tr>
              <a:tr h="388843">
                <a:tc>
                  <a:txBody>
                    <a:bodyPr/>
                    <a:lstStyle/>
                    <a:p>
                      <a:pPr algn="ctr"/>
                      <a:r>
                        <a:rPr lang="en-US" sz="2200" dirty="0">
                          <a:latin typeface="Calibri" pitchFamily="34" charset="0"/>
                        </a:rPr>
                        <a:t>…</a:t>
                      </a:r>
                    </a:p>
                  </a:txBody>
                  <a:tcPr/>
                </a:tc>
                <a:extLst>
                  <a:ext uri="{0D108BD9-81ED-4DB2-BD59-A6C34878D82A}">
                    <a16:rowId xmlns:a16="http://schemas.microsoft.com/office/drawing/2014/main" val="10004"/>
                  </a:ext>
                </a:extLst>
              </a:tr>
            </a:tbl>
          </a:graphicData>
        </a:graphic>
      </p:graphicFrame>
      <p:cxnSp>
        <p:nvCxnSpPr>
          <p:cNvPr id="21" name="Straight Connector 20"/>
          <p:cNvCxnSpPr/>
          <p:nvPr/>
        </p:nvCxnSpPr>
        <p:spPr bwMode="auto">
          <a:xfrm>
            <a:off x="5231463" y="1772816"/>
            <a:ext cx="15121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2" name="Straight Connector 21"/>
          <p:cNvCxnSpPr>
            <a:stCxn id="19" idx="3"/>
          </p:cNvCxnSpPr>
          <p:nvPr/>
        </p:nvCxnSpPr>
        <p:spPr bwMode="auto">
          <a:xfrm flipV="1">
            <a:off x="5231463" y="1772816"/>
            <a:ext cx="1512168" cy="418728"/>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flipV="1">
            <a:off x="5231463" y="1772816"/>
            <a:ext cx="1486806" cy="864096"/>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flipV="1">
            <a:off x="5231463" y="2636912"/>
            <a:ext cx="1512168" cy="432048"/>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720720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One-to-One Relationship</a:t>
            </a:r>
            <a:endParaRPr lang="en-SG" dirty="0"/>
          </a:p>
        </p:txBody>
      </p:sp>
      <p:sp>
        <p:nvSpPr>
          <p:cNvPr id="3" name="Content Placeholder 2"/>
          <p:cNvSpPr>
            <a:spLocks noGrp="1"/>
          </p:cNvSpPr>
          <p:nvPr>
            <p:ph idx="1"/>
          </p:nvPr>
        </p:nvSpPr>
        <p:spPr>
          <a:xfrm>
            <a:off x="457200" y="4725144"/>
            <a:ext cx="8507288" cy="1405781"/>
          </a:xfrm>
        </p:spPr>
        <p:txBody>
          <a:bodyPr/>
          <a:lstStyle/>
          <a:p>
            <a:r>
              <a:rPr lang="en-US" dirty="0"/>
              <a:t>A city can be the capital of only one country</a:t>
            </a:r>
          </a:p>
          <a:p>
            <a:r>
              <a:rPr lang="en-US" dirty="0"/>
              <a:t>A country can have only one capital city</a:t>
            </a:r>
            <a:endParaRPr lang="en-SG" dirty="0"/>
          </a:p>
        </p:txBody>
      </p:sp>
      <p:sp>
        <p:nvSpPr>
          <p:cNvPr id="4" name="Rectangle 5"/>
          <p:cNvSpPr>
            <a:spLocks noChangeArrowheads="1"/>
          </p:cNvSpPr>
          <p:nvPr/>
        </p:nvSpPr>
        <p:spPr bwMode="auto">
          <a:xfrm>
            <a:off x="6381328" y="1234035"/>
            <a:ext cx="16470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071436" y="1234852"/>
            <a:ext cx="12683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
        <p:nvSpPr>
          <p:cNvPr id="15" name="Line 17"/>
          <p:cNvSpPr>
            <a:spLocks noChangeShapeType="1"/>
          </p:cNvSpPr>
          <p:nvPr/>
        </p:nvSpPr>
        <p:spPr bwMode="auto">
          <a:xfrm flipV="1">
            <a:off x="5266718" y="1691235"/>
            <a:ext cx="1114610" cy="817"/>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800" b="1">
              <a:latin typeface="Calibri" pitchFamily="34" charset="0"/>
            </a:endParaRPr>
          </a:p>
        </p:txBody>
      </p:sp>
      <p:sp>
        <p:nvSpPr>
          <p:cNvPr id="16" name="Line 17"/>
          <p:cNvSpPr>
            <a:spLocks noChangeShapeType="1"/>
          </p:cNvSpPr>
          <p:nvPr/>
        </p:nvSpPr>
        <p:spPr bwMode="auto">
          <a:xfrm flipH="1" flipV="1">
            <a:off x="2339752" y="1691236"/>
            <a:ext cx="958194" cy="816"/>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800" b="1">
              <a:latin typeface="Calibri"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654270310"/>
              </p:ext>
            </p:extLst>
          </p:nvPr>
        </p:nvGraphicFramePr>
        <p:xfrm>
          <a:off x="2483768" y="2447528"/>
          <a:ext cx="1296144" cy="2133600"/>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20000"/>
                    </a:ext>
                  </a:extLst>
                </a:gridCol>
              </a:tblGrid>
              <a:tr h="388843">
                <a:tc>
                  <a:txBody>
                    <a:bodyPr/>
                    <a:lstStyle/>
                    <a:p>
                      <a:pPr algn="ctr"/>
                      <a:r>
                        <a:rPr lang="en-US" sz="2200" dirty="0">
                          <a:latin typeface="Calibri" pitchFamily="34" charset="0"/>
                        </a:rPr>
                        <a:t>Cities</a:t>
                      </a:r>
                      <a:endParaRPr lang="en-SG" sz="2200" dirty="0">
                        <a:latin typeface="Calibri" pitchFamily="34" charset="0"/>
                      </a:endParaRPr>
                    </a:p>
                  </a:txBody>
                  <a:tcPr/>
                </a:tc>
                <a:extLst>
                  <a:ext uri="{0D108BD9-81ED-4DB2-BD59-A6C34878D82A}">
                    <a16:rowId xmlns:a16="http://schemas.microsoft.com/office/drawing/2014/main" val="10000"/>
                  </a:ext>
                </a:extLst>
              </a:tr>
              <a:tr h="388843">
                <a:tc>
                  <a:txBody>
                    <a:bodyPr/>
                    <a:lstStyle/>
                    <a:p>
                      <a:pPr algn="ctr"/>
                      <a:r>
                        <a:rPr lang="en-US" sz="2200" dirty="0">
                          <a:latin typeface="Calibri" pitchFamily="34" charset="0"/>
                        </a:rPr>
                        <a:t>Paris</a:t>
                      </a:r>
                      <a:endParaRPr lang="en-SG" sz="2200" dirty="0">
                        <a:latin typeface="Calibri" pitchFamily="34" charset="0"/>
                      </a:endParaRPr>
                    </a:p>
                  </a:txBody>
                  <a:tcPr/>
                </a:tc>
                <a:extLst>
                  <a:ext uri="{0D108BD9-81ED-4DB2-BD59-A6C34878D82A}">
                    <a16:rowId xmlns:a16="http://schemas.microsoft.com/office/drawing/2014/main" val="10001"/>
                  </a:ext>
                </a:extLst>
              </a:tr>
              <a:tr h="388843">
                <a:tc>
                  <a:txBody>
                    <a:bodyPr/>
                    <a:lstStyle/>
                    <a:p>
                      <a:pPr algn="ctr"/>
                      <a:r>
                        <a:rPr lang="en-US" sz="2200" dirty="0">
                          <a:latin typeface="Calibri" pitchFamily="34" charset="0"/>
                        </a:rPr>
                        <a:t>London</a:t>
                      </a:r>
                      <a:endParaRPr lang="en-SG" sz="2200" dirty="0">
                        <a:latin typeface="Calibri" pitchFamily="34" charset="0"/>
                      </a:endParaRPr>
                    </a:p>
                  </a:txBody>
                  <a:tcPr/>
                </a:tc>
                <a:extLst>
                  <a:ext uri="{0D108BD9-81ED-4DB2-BD59-A6C34878D82A}">
                    <a16:rowId xmlns:a16="http://schemas.microsoft.com/office/drawing/2014/main" val="10002"/>
                  </a:ext>
                </a:extLst>
              </a:tr>
              <a:tr h="388843">
                <a:tc>
                  <a:txBody>
                    <a:bodyPr/>
                    <a:lstStyle/>
                    <a:p>
                      <a:pPr algn="ctr"/>
                      <a:r>
                        <a:rPr lang="en-US" sz="2200" dirty="0">
                          <a:latin typeface="Calibri" pitchFamily="34" charset="0"/>
                        </a:rPr>
                        <a:t>Berlin</a:t>
                      </a:r>
                      <a:endParaRPr lang="en-SG" sz="2200" dirty="0">
                        <a:latin typeface="Calibri" pitchFamily="34" charset="0"/>
                      </a:endParaRPr>
                    </a:p>
                  </a:txBody>
                  <a:tcPr/>
                </a:tc>
                <a:extLst>
                  <a:ext uri="{0D108BD9-81ED-4DB2-BD59-A6C34878D82A}">
                    <a16:rowId xmlns:a16="http://schemas.microsoft.com/office/drawing/2014/main" val="10003"/>
                  </a:ext>
                </a:extLst>
              </a:tr>
              <a:tr h="388843">
                <a:tc>
                  <a:txBody>
                    <a:bodyPr/>
                    <a:lstStyle/>
                    <a:p>
                      <a:pPr algn="ctr"/>
                      <a:r>
                        <a:rPr lang="en-US" sz="2200" dirty="0">
                          <a:latin typeface="Calibri" pitchFamily="34" charset="0"/>
                        </a:rPr>
                        <a:t>…</a:t>
                      </a:r>
                    </a:p>
                  </a:txBody>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768491549"/>
              </p:ext>
            </p:extLst>
          </p:nvPr>
        </p:nvGraphicFramePr>
        <p:xfrm>
          <a:off x="5266718" y="2447528"/>
          <a:ext cx="1537530" cy="2133600"/>
        </p:xfrm>
        <a:graphic>
          <a:graphicData uri="http://schemas.openxmlformats.org/drawingml/2006/table">
            <a:tbl>
              <a:tblPr firstRow="1" bandRow="1">
                <a:tableStyleId>{5C22544A-7EE6-4342-B048-85BDC9FD1C3A}</a:tableStyleId>
              </a:tblPr>
              <a:tblGrid>
                <a:gridCol w="1537530">
                  <a:extLst>
                    <a:ext uri="{9D8B030D-6E8A-4147-A177-3AD203B41FA5}">
                      <a16:colId xmlns:a16="http://schemas.microsoft.com/office/drawing/2014/main" val="20000"/>
                    </a:ext>
                  </a:extLst>
                </a:gridCol>
              </a:tblGrid>
              <a:tr h="388843">
                <a:tc>
                  <a:txBody>
                    <a:bodyPr/>
                    <a:lstStyle/>
                    <a:p>
                      <a:pPr algn="ctr"/>
                      <a:r>
                        <a:rPr lang="en-US" sz="2200" dirty="0">
                          <a:latin typeface="Calibri" pitchFamily="34" charset="0"/>
                        </a:rPr>
                        <a:t>Countries</a:t>
                      </a:r>
                      <a:endParaRPr lang="en-SG" sz="2200" dirty="0">
                        <a:latin typeface="Calibri" pitchFamily="34" charset="0"/>
                      </a:endParaRPr>
                    </a:p>
                  </a:txBody>
                  <a:tcPr/>
                </a:tc>
                <a:extLst>
                  <a:ext uri="{0D108BD9-81ED-4DB2-BD59-A6C34878D82A}">
                    <a16:rowId xmlns:a16="http://schemas.microsoft.com/office/drawing/2014/main" val="10000"/>
                  </a:ext>
                </a:extLst>
              </a:tr>
              <a:tr h="388843">
                <a:tc>
                  <a:txBody>
                    <a:bodyPr/>
                    <a:lstStyle/>
                    <a:p>
                      <a:pPr algn="ctr"/>
                      <a:r>
                        <a:rPr lang="en-US" sz="2200" dirty="0">
                          <a:latin typeface="Calibri" pitchFamily="34" charset="0"/>
                        </a:rPr>
                        <a:t>France</a:t>
                      </a:r>
                      <a:endParaRPr lang="en-SG" sz="2200" dirty="0">
                        <a:latin typeface="Calibri" pitchFamily="34" charset="0"/>
                      </a:endParaRPr>
                    </a:p>
                  </a:txBody>
                  <a:tcPr/>
                </a:tc>
                <a:extLst>
                  <a:ext uri="{0D108BD9-81ED-4DB2-BD59-A6C34878D82A}">
                    <a16:rowId xmlns:a16="http://schemas.microsoft.com/office/drawing/2014/main" val="10001"/>
                  </a:ext>
                </a:extLst>
              </a:tr>
              <a:tr h="388843">
                <a:tc>
                  <a:txBody>
                    <a:bodyPr/>
                    <a:lstStyle/>
                    <a:p>
                      <a:pPr algn="ctr"/>
                      <a:r>
                        <a:rPr lang="en-US" sz="2200" dirty="0">
                          <a:latin typeface="Calibri" pitchFamily="34" charset="0"/>
                        </a:rPr>
                        <a:t>German</a:t>
                      </a:r>
                      <a:endParaRPr lang="en-SG" sz="2200" dirty="0">
                        <a:latin typeface="Calibri" pitchFamily="34" charset="0"/>
                      </a:endParaRPr>
                    </a:p>
                  </a:txBody>
                  <a:tcPr/>
                </a:tc>
                <a:extLst>
                  <a:ext uri="{0D108BD9-81ED-4DB2-BD59-A6C34878D82A}">
                    <a16:rowId xmlns:a16="http://schemas.microsoft.com/office/drawing/2014/main" val="10002"/>
                  </a:ext>
                </a:extLst>
              </a:tr>
              <a:tr h="388843">
                <a:tc>
                  <a:txBody>
                    <a:bodyPr/>
                    <a:lstStyle/>
                    <a:p>
                      <a:pPr algn="ctr"/>
                      <a:r>
                        <a:rPr lang="en-US" sz="2200" dirty="0">
                          <a:latin typeface="Calibri" pitchFamily="34" charset="0"/>
                        </a:rPr>
                        <a:t>England</a:t>
                      </a:r>
                      <a:endParaRPr lang="en-SG" sz="2200" dirty="0">
                        <a:latin typeface="Calibri" pitchFamily="34" charset="0"/>
                      </a:endParaRPr>
                    </a:p>
                  </a:txBody>
                  <a:tcPr/>
                </a:tc>
                <a:extLst>
                  <a:ext uri="{0D108BD9-81ED-4DB2-BD59-A6C34878D82A}">
                    <a16:rowId xmlns:a16="http://schemas.microsoft.com/office/drawing/2014/main" val="10003"/>
                  </a:ext>
                </a:extLst>
              </a:tr>
              <a:tr h="388843">
                <a:tc>
                  <a:txBody>
                    <a:bodyPr/>
                    <a:lstStyle/>
                    <a:p>
                      <a:pPr algn="ctr"/>
                      <a:r>
                        <a:rPr lang="en-US" sz="2200" dirty="0">
                          <a:latin typeface="Calibri" pitchFamily="34" charset="0"/>
                        </a:rPr>
                        <a:t>…</a:t>
                      </a:r>
                    </a:p>
                  </a:txBody>
                  <a:tcPr/>
                </a:tc>
                <a:extLst>
                  <a:ext uri="{0D108BD9-81ED-4DB2-BD59-A6C34878D82A}">
                    <a16:rowId xmlns:a16="http://schemas.microsoft.com/office/drawing/2014/main" val="10004"/>
                  </a:ext>
                </a:extLst>
              </a:tr>
            </a:tbl>
          </a:graphicData>
        </a:graphic>
      </p:graphicFrame>
      <p:cxnSp>
        <p:nvCxnSpPr>
          <p:cNvPr id="11" name="Straight Connector 10"/>
          <p:cNvCxnSpPr/>
          <p:nvPr/>
        </p:nvCxnSpPr>
        <p:spPr bwMode="auto">
          <a:xfrm>
            <a:off x="3779912" y="3095600"/>
            <a:ext cx="15121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2" name="Straight Connector 11"/>
          <p:cNvCxnSpPr>
            <a:stCxn id="9" idx="3"/>
          </p:cNvCxnSpPr>
          <p:nvPr/>
        </p:nvCxnSpPr>
        <p:spPr bwMode="auto">
          <a:xfrm>
            <a:off x="3779912" y="3514328"/>
            <a:ext cx="1486806" cy="445368"/>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3" name="Straight Connector 12"/>
          <p:cNvCxnSpPr>
            <a:endCxn id="10" idx="1"/>
          </p:cNvCxnSpPr>
          <p:nvPr/>
        </p:nvCxnSpPr>
        <p:spPr bwMode="auto">
          <a:xfrm flipV="1">
            <a:off x="3779912" y="3514328"/>
            <a:ext cx="1486806" cy="445368"/>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425649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429000"/>
            <a:ext cx="8229600" cy="2701925"/>
          </a:xfrm>
        </p:spPr>
        <p:txBody>
          <a:bodyPr>
            <a:normAutofit/>
          </a:bodyPr>
          <a:lstStyle/>
          <a:p>
            <a:r>
              <a:rPr lang="en-US" dirty="0"/>
              <a:t>Each player prefers only one game, but not vice versa</a:t>
            </a:r>
          </a:p>
          <a:p>
            <a:r>
              <a:rPr lang="en-US" dirty="0"/>
              <a:t>Many-to-many?</a:t>
            </a:r>
          </a:p>
          <a:p>
            <a:r>
              <a:rPr lang="en-US" dirty="0"/>
              <a:t>Many-to-one?</a:t>
            </a:r>
          </a:p>
          <a:p>
            <a:r>
              <a:rPr lang="en-US" dirty="0"/>
              <a:t>One-to-one?</a:t>
            </a:r>
          </a:p>
        </p:txBody>
      </p:sp>
      <p:sp>
        <p:nvSpPr>
          <p:cNvPr id="4" name="Rectangle 5"/>
          <p:cNvSpPr>
            <a:spLocks noChangeArrowheads="1"/>
          </p:cNvSpPr>
          <p:nvPr/>
        </p:nvSpPr>
        <p:spPr bwMode="auto">
          <a:xfrm>
            <a:off x="6533248" y="1234035"/>
            <a:ext cx="1279111"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Games</a:t>
            </a:r>
          </a:p>
        </p:txBody>
      </p:sp>
      <p:sp>
        <p:nvSpPr>
          <p:cNvPr id="5" name="Rectangle 3"/>
          <p:cNvSpPr>
            <a:spLocks noChangeArrowheads="1"/>
          </p:cNvSpPr>
          <p:nvPr/>
        </p:nvSpPr>
        <p:spPr bwMode="auto">
          <a:xfrm>
            <a:off x="1075882" y="1234035"/>
            <a:ext cx="12683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Players</a:t>
            </a:r>
          </a:p>
        </p:txBody>
      </p:sp>
      <p:sp>
        <p:nvSpPr>
          <p:cNvPr id="6" name="AutoShape 10"/>
          <p:cNvSpPr>
            <a:spLocks noChangeArrowheads="1"/>
          </p:cNvSpPr>
          <p:nvPr/>
        </p:nvSpPr>
        <p:spPr bwMode="auto">
          <a:xfrm>
            <a:off x="3347864" y="1196752"/>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Prefer</a:t>
            </a:r>
          </a:p>
        </p:txBody>
      </p:sp>
    </p:spTree>
    <p:extLst>
      <p:ext uri="{BB962C8B-B14F-4D97-AF65-F5344CB8AC3E}">
        <p14:creationId xmlns:p14="http://schemas.microsoft.com/office/powerpoint/2010/main" val="28347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429000"/>
            <a:ext cx="8229600" cy="2701925"/>
          </a:xfrm>
        </p:spPr>
        <p:txBody>
          <a:bodyPr>
            <a:normAutofit/>
          </a:bodyPr>
          <a:lstStyle/>
          <a:p>
            <a:r>
              <a:rPr lang="en-US" dirty="0"/>
              <a:t>No two shops sell the same product</a:t>
            </a:r>
          </a:p>
          <a:p>
            <a:r>
              <a:rPr lang="en-US" dirty="0"/>
              <a:t>Many-to-many?</a:t>
            </a:r>
          </a:p>
          <a:p>
            <a:r>
              <a:rPr lang="en-US" dirty="0"/>
              <a:t>Many-to-one?</a:t>
            </a:r>
          </a:p>
          <a:p>
            <a:r>
              <a:rPr lang="en-US" dirty="0"/>
              <a:t>One-to-one?</a:t>
            </a:r>
          </a:p>
        </p:txBody>
      </p:sp>
      <p:sp>
        <p:nvSpPr>
          <p:cNvPr id="4" name="Rectangle 5"/>
          <p:cNvSpPr>
            <a:spLocks noChangeArrowheads="1"/>
          </p:cNvSpPr>
          <p:nvPr/>
        </p:nvSpPr>
        <p:spPr bwMode="auto">
          <a:xfrm>
            <a:off x="6533248" y="1234035"/>
            <a:ext cx="1279111"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Shops</a:t>
            </a:r>
          </a:p>
        </p:txBody>
      </p:sp>
      <p:sp>
        <p:nvSpPr>
          <p:cNvPr id="5" name="Rectangle 3"/>
          <p:cNvSpPr>
            <a:spLocks noChangeArrowheads="1"/>
          </p:cNvSpPr>
          <p:nvPr/>
        </p:nvSpPr>
        <p:spPr bwMode="auto">
          <a:xfrm>
            <a:off x="1075882" y="1234035"/>
            <a:ext cx="147989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Products</a:t>
            </a:r>
          </a:p>
        </p:txBody>
      </p:sp>
      <p:sp>
        <p:nvSpPr>
          <p:cNvPr id="6" name="AutoShape 10"/>
          <p:cNvSpPr>
            <a:spLocks noChangeArrowheads="1"/>
          </p:cNvSpPr>
          <p:nvPr/>
        </p:nvSpPr>
        <p:spPr bwMode="auto">
          <a:xfrm>
            <a:off x="3347864" y="1196752"/>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Sell</a:t>
            </a:r>
          </a:p>
        </p:txBody>
      </p:sp>
    </p:spTree>
    <p:extLst>
      <p:ext uri="{BB962C8B-B14F-4D97-AF65-F5344CB8AC3E}">
        <p14:creationId xmlns:p14="http://schemas.microsoft.com/office/powerpoint/2010/main" val="2747273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429000"/>
            <a:ext cx="8229600" cy="2701925"/>
          </a:xfrm>
        </p:spPr>
        <p:txBody>
          <a:bodyPr>
            <a:normAutofit/>
          </a:bodyPr>
          <a:lstStyle/>
          <a:p>
            <a:r>
              <a:rPr lang="en-US" dirty="0"/>
              <a:t>Any two players are from two different countries</a:t>
            </a:r>
          </a:p>
          <a:p>
            <a:r>
              <a:rPr lang="en-US" dirty="0"/>
              <a:t>Many-to-many?</a:t>
            </a:r>
          </a:p>
          <a:p>
            <a:r>
              <a:rPr lang="en-US" dirty="0"/>
              <a:t>Many-to-one?</a:t>
            </a:r>
          </a:p>
          <a:p>
            <a:r>
              <a:rPr lang="en-US" dirty="0"/>
              <a:t>One-to-one?</a:t>
            </a:r>
          </a:p>
        </p:txBody>
      </p:sp>
      <p:sp>
        <p:nvSpPr>
          <p:cNvPr id="4" name="Rectangle 5"/>
          <p:cNvSpPr>
            <a:spLocks noChangeArrowheads="1"/>
          </p:cNvSpPr>
          <p:nvPr/>
        </p:nvSpPr>
        <p:spPr bwMode="auto">
          <a:xfrm>
            <a:off x="6533248" y="1234035"/>
            <a:ext cx="1639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075882" y="1234035"/>
            <a:ext cx="147989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Players</a:t>
            </a:r>
          </a:p>
        </p:txBody>
      </p:sp>
      <p:sp>
        <p:nvSpPr>
          <p:cNvPr id="6" name="AutoShape 10"/>
          <p:cNvSpPr>
            <a:spLocks noChangeArrowheads="1"/>
          </p:cNvSpPr>
          <p:nvPr/>
        </p:nvSpPr>
        <p:spPr bwMode="auto">
          <a:xfrm>
            <a:off x="3347864" y="1196752"/>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a:latin typeface="Calibri" pitchFamily="34" charset="0"/>
              </a:rPr>
              <a:t>From</a:t>
            </a:r>
            <a:endParaRPr lang="en-US" sz="2800" b="1" dirty="0">
              <a:latin typeface="Calibri" pitchFamily="34" charset="0"/>
            </a:endParaRPr>
          </a:p>
        </p:txBody>
      </p:sp>
    </p:spTree>
    <p:extLst>
      <p:ext uri="{BB962C8B-B14F-4D97-AF65-F5344CB8AC3E}">
        <p14:creationId xmlns:p14="http://schemas.microsoft.com/office/powerpoint/2010/main" val="3863811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a:t>
            </a:r>
            <a:endParaRPr lang="en-SG" dirty="0"/>
          </a:p>
        </p:txBody>
      </p:sp>
      <p:sp>
        <p:nvSpPr>
          <p:cNvPr id="3" name="Content Placeholder 2"/>
          <p:cNvSpPr>
            <a:spLocks noGrp="1"/>
          </p:cNvSpPr>
          <p:nvPr>
            <p:ph idx="1"/>
          </p:nvPr>
        </p:nvSpPr>
        <p:spPr/>
        <p:txBody>
          <a:bodyPr/>
          <a:lstStyle/>
          <a:p>
            <a:r>
              <a:rPr lang="en-US" dirty="0"/>
              <a:t>Types of relationships</a:t>
            </a:r>
          </a:p>
          <a:p>
            <a:pPr lvl="1"/>
            <a:r>
              <a:rPr lang="en-US" dirty="0"/>
              <a:t>Many-to-Many Relationships</a:t>
            </a:r>
          </a:p>
          <a:p>
            <a:pPr lvl="1"/>
            <a:r>
              <a:rPr lang="en-US" dirty="0"/>
              <a:t>Many-to-One Relationships</a:t>
            </a:r>
          </a:p>
          <a:p>
            <a:pPr lvl="1"/>
            <a:r>
              <a:rPr lang="en-US" dirty="0"/>
              <a:t>One-to-One Relationships</a:t>
            </a:r>
          </a:p>
          <a:p>
            <a:r>
              <a:rPr lang="en-US" dirty="0"/>
              <a:t>So far we have only seen relationships that connect two entity sets</a:t>
            </a:r>
          </a:p>
          <a:p>
            <a:r>
              <a:rPr lang="en-US" dirty="0"/>
              <a:t>But it is possible to have a relationship that connects three or more entity sets</a:t>
            </a:r>
            <a:endParaRPr lang="en-SG" dirty="0"/>
          </a:p>
        </p:txBody>
      </p:sp>
    </p:spTree>
    <p:extLst>
      <p:ext uri="{BB962C8B-B14F-4D97-AF65-F5344CB8AC3E}">
        <p14:creationId xmlns:p14="http://schemas.microsoft.com/office/powerpoint/2010/main" val="391249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Multi-way Relationships</a:t>
            </a:r>
            <a:endParaRPr lang="en-SG" dirty="0"/>
          </a:p>
        </p:txBody>
      </p:sp>
      <p:sp>
        <p:nvSpPr>
          <p:cNvPr id="3" name="Content Placeholder 2"/>
          <p:cNvSpPr>
            <a:spLocks noGrp="1"/>
          </p:cNvSpPr>
          <p:nvPr>
            <p:ph idx="1"/>
          </p:nvPr>
        </p:nvSpPr>
        <p:spPr>
          <a:xfrm>
            <a:off x="457200" y="3789040"/>
            <a:ext cx="8229600" cy="2341885"/>
          </a:xfrm>
        </p:spPr>
        <p:txBody>
          <a:bodyPr>
            <a:normAutofit/>
          </a:bodyPr>
          <a:lstStyle/>
          <a:p>
            <a:r>
              <a:rPr lang="en-US" dirty="0"/>
              <a:t>What if we want to record the store from which the person buys the product?</a:t>
            </a:r>
          </a:p>
          <a:p>
            <a:r>
              <a:rPr lang="en-US" dirty="0"/>
              <a:t>We can use a 3-way relationship</a:t>
            </a:r>
          </a:p>
          <a:p>
            <a:r>
              <a:rPr lang="en-US" dirty="0"/>
              <a:t>Drawback: The arrows would be complicated</a:t>
            </a:r>
            <a:endParaRPr lang="en-SG" dirty="0"/>
          </a:p>
        </p:txBody>
      </p:sp>
      <p:sp>
        <p:nvSpPr>
          <p:cNvPr id="11" name="Rectangle 5"/>
          <p:cNvSpPr>
            <a:spLocks noChangeArrowheads="1"/>
          </p:cNvSpPr>
          <p:nvPr/>
        </p:nvSpPr>
        <p:spPr bwMode="auto">
          <a:xfrm>
            <a:off x="6588224" y="404664"/>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12" name="Rectangle 3"/>
          <p:cNvSpPr>
            <a:spLocks noChangeArrowheads="1"/>
          </p:cNvSpPr>
          <p:nvPr/>
        </p:nvSpPr>
        <p:spPr bwMode="auto">
          <a:xfrm>
            <a:off x="755576" y="1412776"/>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3" name="AutoShape 10"/>
          <p:cNvSpPr>
            <a:spLocks noChangeArrowheads="1"/>
          </p:cNvSpPr>
          <p:nvPr/>
        </p:nvSpPr>
        <p:spPr bwMode="auto">
          <a:xfrm>
            <a:off x="3131840" y="1196752"/>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14" name="Line 16"/>
          <p:cNvSpPr>
            <a:spLocks noChangeShapeType="1"/>
          </p:cNvSpPr>
          <p:nvPr/>
        </p:nvSpPr>
        <p:spPr bwMode="auto">
          <a:xfrm flipV="1">
            <a:off x="3851920" y="2069232"/>
            <a:ext cx="3389312" cy="1181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5" name="Line 21"/>
          <p:cNvSpPr>
            <a:spLocks noChangeShapeType="1"/>
          </p:cNvSpPr>
          <p:nvPr/>
        </p:nvSpPr>
        <p:spPr bwMode="auto">
          <a:xfrm flipV="1">
            <a:off x="4572000" y="1124744"/>
            <a:ext cx="2016224" cy="5673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Rectangle 4"/>
          <p:cNvSpPr>
            <a:spLocks noChangeArrowheads="1"/>
          </p:cNvSpPr>
          <p:nvPr/>
        </p:nvSpPr>
        <p:spPr bwMode="auto">
          <a:xfrm>
            <a:off x="7241232" y="1556792"/>
            <a:ext cx="13632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Stores</a:t>
            </a:r>
          </a:p>
        </p:txBody>
      </p:sp>
      <p:sp>
        <p:nvSpPr>
          <p:cNvPr id="18" name="Line 16"/>
          <p:cNvSpPr>
            <a:spLocks noChangeShapeType="1"/>
          </p:cNvSpPr>
          <p:nvPr/>
        </p:nvSpPr>
        <p:spPr bwMode="auto">
          <a:xfrm flipV="1">
            <a:off x="2258616" y="1692052"/>
            <a:ext cx="873224" cy="1779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13969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Multi-way Relationships</a:t>
            </a:r>
            <a:endParaRPr lang="en-SG" dirty="0"/>
          </a:p>
        </p:txBody>
      </p:sp>
      <p:sp>
        <p:nvSpPr>
          <p:cNvPr id="3" name="Content Placeholder 2"/>
          <p:cNvSpPr>
            <a:spLocks noGrp="1"/>
          </p:cNvSpPr>
          <p:nvPr>
            <p:ph idx="1"/>
          </p:nvPr>
        </p:nvSpPr>
        <p:spPr>
          <a:xfrm>
            <a:off x="457200" y="2780928"/>
            <a:ext cx="8229600" cy="3349997"/>
          </a:xfrm>
        </p:spPr>
        <p:txBody>
          <a:bodyPr>
            <a:noAutofit/>
          </a:bodyPr>
          <a:lstStyle/>
          <a:p>
            <a:r>
              <a:rPr lang="en-US" sz="2800" dirty="0"/>
              <a:t>What does this mean?</a:t>
            </a:r>
          </a:p>
          <a:p>
            <a:r>
              <a:rPr lang="en-US" sz="2800" dirty="0"/>
              <a:t>One  &lt;person, store&gt;  pair can correspond to one product</a:t>
            </a:r>
          </a:p>
          <a:p>
            <a:r>
              <a:rPr lang="en-US" sz="2800" dirty="0"/>
              <a:t>But one product can correspond to many &lt;person, store&gt; pairs</a:t>
            </a:r>
          </a:p>
          <a:p>
            <a:r>
              <a:rPr lang="en-US" sz="2800" dirty="0"/>
              <a:t>Meaning: A person buys at most product from each shop</a:t>
            </a:r>
            <a:endParaRPr lang="en-SG" sz="2800" dirty="0"/>
          </a:p>
        </p:txBody>
      </p:sp>
      <p:sp>
        <p:nvSpPr>
          <p:cNvPr id="12" name="Rectangle 5"/>
          <p:cNvSpPr>
            <a:spLocks noChangeArrowheads="1"/>
          </p:cNvSpPr>
          <p:nvPr/>
        </p:nvSpPr>
        <p:spPr bwMode="auto">
          <a:xfrm>
            <a:off x="6588224" y="404664"/>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13" name="Rectangle 3"/>
          <p:cNvSpPr>
            <a:spLocks noChangeArrowheads="1"/>
          </p:cNvSpPr>
          <p:nvPr/>
        </p:nvSpPr>
        <p:spPr bwMode="auto">
          <a:xfrm>
            <a:off x="755576" y="1412776"/>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4" name="AutoShape 10"/>
          <p:cNvSpPr>
            <a:spLocks noChangeArrowheads="1"/>
          </p:cNvSpPr>
          <p:nvPr/>
        </p:nvSpPr>
        <p:spPr bwMode="auto">
          <a:xfrm>
            <a:off x="3131840" y="1196752"/>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15" name="Line 16"/>
          <p:cNvSpPr>
            <a:spLocks noChangeShapeType="1"/>
          </p:cNvSpPr>
          <p:nvPr/>
        </p:nvSpPr>
        <p:spPr bwMode="auto">
          <a:xfrm flipV="1">
            <a:off x="3851920" y="2069232"/>
            <a:ext cx="3389312" cy="1181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Line 21"/>
          <p:cNvSpPr>
            <a:spLocks noChangeShapeType="1"/>
          </p:cNvSpPr>
          <p:nvPr/>
        </p:nvSpPr>
        <p:spPr bwMode="auto">
          <a:xfrm flipV="1">
            <a:off x="4572000" y="1124744"/>
            <a:ext cx="2016224" cy="5673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Rectangle 4"/>
          <p:cNvSpPr>
            <a:spLocks noChangeArrowheads="1"/>
          </p:cNvSpPr>
          <p:nvPr/>
        </p:nvSpPr>
        <p:spPr bwMode="auto">
          <a:xfrm>
            <a:off x="7241232" y="1556792"/>
            <a:ext cx="13632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Stores</a:t>
            </a:r>
          </a:p>
        </p:txBody>
      </p:sp>
      <p:sp>
        <p:nvSpPr>
          <p:cNvPr id="21" name="Line 17"/>
          <p:cNvSpPr>
            <a:spLocks noChangeShapeType="1"/>
          </p:cNvSpPr>
          <p:nvPr/>
        </p:nvSpPr>
        <p:spPr bwMode="auto">
          <a:xfrm flipH="1">
            <a:off x="2258616" y="1687488"/>
            <a:ext cx="873224" cy="182488"/>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13261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Multi-way Relationships</a:t>
            </a:r>
            <a:endParaRPr lang="en-SG" dirty="0"/>
          </a:p>
        </p:txBody>
      </p:sp>
      <p:sp>
        <p:nvSpPr>
          <p:cNvPr id="3" name="Content Placeholder 2"/>
          <p:cNvSpPr>
            <a:spLocks noGrp="1"/>
          </p:cNvSpPr>
          <p:nvPr>
            <p:ph idx="1"/>
          </p:nvPr>
        </p:nvSpPr>
        <p:spPr>
          <a:xfrm>
            <a:off x="457200" y="4149080"/>
            <a:ext cx="8229600" cy="1981845"/>
          </a:xfrm>
        </p:spPr>
        <p:txBody>
          <a:bodyPr>
            <a:normAutofit fontScale="92500" lnSpcReduction="10000"/>
          </a:bodyPr>
          <a:lstStyle/>
          <a:p>
            <a:r>
              <a:rPr lang="en-US" dirty="0"/>
              <a:t>What does this mean?</a:t>
            </a:r>
          </a:p>
          <a:p>
            <a:r>
              <a:rPr lang="en-US" dirty="0"/>
              <a:t>From  &lt;person, store&gt;  to product: many to one</a:t>
            </a:r>
          </a:p>
          <a:p>
            <a:r>
              <a:rPr lang="en-US" dirty="0"/>
              <a:t>From  &lt;person, product&gt;  to store: many to one</a:t>
            </a:r>
          </a:p>
          <a:p>
            <a:r>
              <a:rPr lang="en-US" dirty="0"/>
              <a:t>Note: not required in the exam</a:t>
            </a:r>
            <a:endParaRPr lang="en-SG" dirty="0"/>
          </a:p>
        </p:txBody>
      </p:sp>
      <p:sp>
        <p:nvSpPr>
          <p:cNvPr id="12" name="Rectangle 5"/>
          <p:cNvSpPr>
            <a:spLocks noChangeArrowheads="1"/>
          </p:cNvSpPr>
          <p:nvPr/>
        </p:nvSpPr>
        <p:spPr bwMode="auto">
          <a:xfrm>
            <a:off x="6588224" y="404664"/>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13" name="Rectangle 3"/>
          <p:cNvSpPr>
            <a:spLocks noChangeArrowheads="1"/>
          </p:cNvSpPr>
          <p:nvPr/>
        </p:nvSpPr>
        <p:spPr bwMode="auto">
          <a:xfrm>
            <a:off x="755576" y="1412776"/>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4" name="AutoShape 10"/>
          <p:cNvSpPr>
            <a:spLocks noChangeArrowheads="1"/>
          </p:cNvSpPr>
          <p:nvPr/>
        </p:nvSpPr>
        <p:spPr bwMode="auto">
          <a:xfrm>
            <a:off x="3131840" y="1196752"/>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16" name="Line 21"/>
          <p:cNvSpPr>
            <a:spLocks noChangeShapeType="1"/>
          </p:cNvSpPr>
          <p:nvPr/>
        </p:nvSpPr>
        <p:spPr bwMode="auto">
          <a:xfrm flipV="1">
            <a:off x="4572000" y="1124744"/>
            <a:ext cx="2016224" cy="5673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Rectangle 4"/>
          <p:cNvSpPr>
            <a:spLocks noChangeArrowheads="1"/>
          </p:cNvSpPr>
          <p:nvPr/>
        </p:nvSpPr>
        <p:spPr bwMode="auto">
          <a:xfrm>
            <a:off x="7241232" y="1556792"/>
            <a:ext cx="13632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Stores</a:t>
            </a:r>
          </a:p>
        </p:txBody>
      </p:sp>
      <p:sp>
        <p:nvSpPr>
          <p:cNvPr id="21" name="Line 17"/>
          <p:cNvSpPr>
            <a:spLocks noChangeShapeType="1"/>
          </p:cNvSpPr>
          <p:nvPr/>
        </p:nvSpPr>
        <p:spPr bwMode="auto">
          <a:xfrm flipH="1">
            <a:off x="2258616" y="1687488"/>
            <a:ext cx="873224" cy="182488"/>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1" name="Line 17"/>
          <p:cNvSpPr>
            <a:spLocks noChangeShapeType="1"/>
          </p:cNvSpPr>
          <p:nvPr/>
        </p:nvSpPr>
        <p:spPr bwMode="auto">
          <a:xfrm flipV="1">
            <a:off x="3851920" y="2104864"/>
            <a:ext cx="3389312" cy="82488"/>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465285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Multi-way to Binary</a:t>
            </a:r>
            <a:endParaRPr lang="en-SG" dirty="0"/>
          </a:p>
        </p:txBody>
      </p:sp>
      <p:sp>
        <p:nvSpPr>
          <p:cNvPr id="4" name="Rectangle 5"/>
          <p:cNvSpPr>
            <a:spLocks noChangeArrowheads="1"/>
          </p:cNvSpPr>
          <p:nvPr/>
        </p:nvSpPr>
        <p:spPr bwMode="auto">
          <a:xfrm>
            <a:off x="6588224" y="404664"/>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5" name="Rectangle 3"/>
          <p:cNvSpPr>
            <a:spLocks noChangeArrowheads="1"/>
          </p:cNvSpPr>
          <p:nvPr/>
        </p:nvSpPr>
        <p:spPr bwMode="auto">
          <a:xfrm>
            <a:off x="755576" y="1412776"/>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6" name="AutoShape 10"/>
          <p:cNvSpPr>
            <a:spLocks noChangeArrowheads="1"/>
          </p:cNvSpPr>
          <p:nvPr/>
        </p:nvSpPr>
        <p:spPr bwMode="auto">
          <a:xfrm>
            <a:off x="3131840" y="1196752"/>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7" name="Line 16"/>
          <p:cNvSpPr>
            <a:spLocks noChangeShapeType="1"/>
          </p:cNvSpPr>
          <p:nvPr/>
        </p:nvSpPr>
        <p:spPr bwMode="auto">
          <a:xfrm flipV="1">
            <a:off x="3851920" y="2069232"/>
            <a:ext cx="3389312" cy="1181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21"/>
          <p:cNvSpPr>
            <a:spLocks noChangeShapeType="1"/>
          </p:cNvSpPr>
          <p:nvPr/>
        </p:nvSpPr>
        <p:spPr bwMode="auto">
          <a:xfrm flipV="1">
            <a:off x="4572000" y="1124744"/>
            <a:ext cx="2016224" cy="5673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 name="Rectangle 4"/>
          <p:cNvSpPr>
            <a:spLocks noChangeArrowheads="1"/>
          </p:cNvSpPr>
          <p:nvPr/>
        </p:nvSpPr>
        <p:spPr bwMode="auto">
          <a:xfrm>
            <a:off x="7241232" y="1556792"/>
            <a:ext cx="13632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Stores</a:t>
            </a:r>
          </a:p>
        </p:txBody>
      </p:sp>
      <p:sp>
        <p:nvSpPr>
          <p:cNvPr id="10" name="Line 16"/>
          <p:cNvSpPr>
            <a:spLocks noChangeShapeType="1"/>
          </p:cNvSpPr>
          <p:nvPr/>
        </p:nvSpPr>
        <p:spPr bwMode="auto">
          <a:xfrm flipV="1">
            <a:off x="2258616" y="1692052"/>
            <a:ext cx="873224" cy="1779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1" name="Rectangle 5"/>
          <p:cNvSpPr>
            <a:spLocks noChangeArrowheads="1"/>
          </p:cNvSpPr>
          <p:nvPr/>
        </p:nvSpPr>
        <p:spPr bwMode="auto">
          <a:xfrm>
            <a:off x="7441840" y="2996952"/>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12" name="Rectangle 3"/>
          <p:cNvSpPr>
            <a:spLocks noChangeArrowheads="1"/>
          </p:cNvSpPr>
          <p:nvPr/>
        </p:nvSpPr>
        <p:spPr bwMode="auto">
          <a:xfrm>
            <a:off x="467544" y="4818856"/>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3" name="AutoShape 10"/>
          <p:cNvSpPr>
            <a:spLocks noChangeArrowheads="1"/>
          </p:cNvSpPr>
          <p:nvPr/>
        </p:nvSpPr>
        <p:spPr bwMode="auto">
          <a:xfrm>
            <a:off x="5220072" y="3374504"/>
            <a:ext cx="165618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Buyer of</a:t>
            </a:r>
          </a:p>
        </p:txBody>
      </p:sp>
      <p:sp>
        <p:nvSpPr>
          <p:cNvPr id="14" name="Line 16"/>
          <p:cNvSpPr>
            <a:spLocks noChangeShapeType="1"/>
          </p:cNvSpPr>
          <p:nvPr/>
        </p:nvSpPr>
        <p:spPr bwMode="auto">
          <a:xfrm>
            <a:off x="4499992" y="5234759"/>
            <a:ext cx="792088" cy="41773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5" name="Line 21"/>
          <p:cNvSpPr>
            <a:spLocks noChangeShapeType="1"/>
          </p:cNvSpPr>
          <p:nvPr/>
        </p:nvSpPr>
        <p:spPr bwMode="auto">
          <a:xfrm flipV="1">
            <a:off x="4724400" y="3869803"/>
            <a:ext cx="495672" cy="45055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Rectangle 4"/>
          <p:cNvSpPr>
            <a:spLocks noChangeArrowheads="1"/>
          </p:cNvSpPr>
          <p:nvPr/>
        </p:nvSpPr>
        <p:spPr bwMode="auto">
          <a:xfrm>
            <a:off x="7393632" y="4962872"/>
            <a:ext cx="13632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Stores</a:t>
            </a:r>
          </a:p>
        </p:txBody>
      </p:sp>
      <p:sp>
        <p:nvSpPr>
          <p:cNvPr id="17" name="Line 16"/>
          <p:cNvSpPr>
            <a:spLocks noChangeShapeType="1"/>
          </p:cNvSpPr>
          <p:nvPr/>
        </p:nvSpPr>
        <p:spPr bwMode="auto">
          <a:xfrm flipV="1">
            <a:off x="1039788" y="4157278"/>
            <a:ext cx="179276" cy="66157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8" name="Rectangle 5"/>
          <p:cNvSpPr>
            <a:spLocks noChangeArrowheads="1"/>
          </p:cNvSpPr>
          <p:nvPr/>
        </p:nvSpPr>
        <p:spPr bwMode="auto">
          <a:xfrm>
            <a:off x="3467192" y="4320359"/>
            <a:ext cx="182488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Transactions</a:t>
            </a:r>
          </a:p>
        </p:txBody>
      </p:sp>
      <p:sp>
        <p:nvSpPr>
          <p:cNvPr id="19" name="Line 17"/>
          <p:cNvSpPr>
            <a:spLocks noChangeShapeType="1"/>
          </p:cNvSpPr>
          <p:nvPr/>
        </p:nvSpPr>
        <p:spPr bwMode="auto">
          <a:xfrm flipV="1">
            <a:off x="6876256" y="3454152"/>
            <a:ext cx="565584" cy="415651"/>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0" name="AutoShape 10"/>
          <p:cNvSpPr>
            <a:spLocks noChangeArrowheads="1"/>
          </p:cNvSpPr>
          <p:nvPr/>
        </p:nvSpPr>
        <p:spPr bwMode="auto">
          <a:xfrm>
            <a:off x="1219064" y="3661977"/>
            <a:ext cx="202004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Product of</a:t>
            </a:r>
          </a:p>
        </p:txBody>
      </p:sp>
      <p:sp>
        <p:nvSpPr>
          <p:cNvPr id="21" name="Line 16"/>
          <p:cNvSpPr>
            <a:spLocks noChangeShapeType="1"/>
          </p:cNvSpPr>
          <p:nvPr/>
        </p:nvSpPr>
        <p:spPr bwMode="auto">
          <a:xfrm flipH="1" flipV="1">
            <a:off x="3239108" y="4157278"/>
            <a:ext cx="228084" cy="6202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2" name="Down Arrow 21"/>
          <p:cNvSpPr/>
          <p:nvPr/>
        </p:nvSpPr>
        <p:spPr bwMode="auto">
          <a:xfrm>
            <a:off x="3635896" y="2471192"/>
            <a:ext cx="743740" cy="1623888"/>
          </a:xfrm>
          <a:prstGeom prst="downArrow">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
        <p:nvSpPr>
          <p:cNvPr id="23" name="AutoShape 10"/>
          <p:cNvSpPr>
            <a:spLocks noChangeArrowheads="1"/>
          </p:cNvSpPr>
          <p:nvPr/>
        </p:nvSpPr>
        <p:spPr bwMode="auto">
          <a:xfrm>
            <a:off x="5275775" y="5157192"/>
            <a:ext cx="165618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Store of</a:t>
            </a:r>
          </a:p>
        </p:txBody>
      </p:sp>
      <p:sp>
        <p:nvSpPr>
          <p:cNvPr id="24" name="Line 17"/>
          <p:cNvSpPr>
            <a:spLocks noChangeShapeType="1"/>
          </p:cNvSpPr>
          <p:nvPr/>
        </p:nvSpPr>
        <p:spPr bwMode="auto">
          <a:xfrm flipV="1">
            <a:off x="6931959" y="5589239"/>
            <a:ext cx="461673" cy="63251"/>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38222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on Relationships</a:t>
            </a:r>
            <a:endParaRPr lang="en-SG" dirty="0"/>
          </a:p>
        </p:txBody>
      </p:sp>
      <p:sp>
        <p:nvSpPr>
          <p:cNvPr id="3" name="Content Placeholder 2"/>
          <p:cNvSpPr>
            <a:spLocks noGrp="1"/>
          </p:cNvSpPr>
          <p:nvPr>
            <p:ph idx="1"/>
          </p:nvPr>
        </p:nvSpPr>
        <p:spPr/>
        <p:txBody>
          <a:bodyPr/>
          <a:lstStyle/>
          <a:p>
            <a:r>
              <a:rPr lang="en-US" dirty="0"/>
              <a:t>We have talked about different types of relationships</a:t>
            </a:r>
          </a:p>
          <a:p>
            <a:pPr lvl="1"/>
            <a:r>
              <a:rPr lang="en-US" dirty="0"/>
              <a:t>Many-to-many, many-to-one, one-to-one</a:t>
            </a:r>
          </a:p>
          <a:p>
            <a:r>
              <a:rPr lang="en-US" dirty="0"/>
              <a:t>Coming next</a:t>
            </a:r>
          </a:p>
          <a:p>
            <a:pPr lvl="1"/>
            <a:r>
              <a:rPr lang="en-US" dirty="0"/>
              <a:t>Constraints on relationships</a:t>
            </a:r>
            <a:endParaRPr lang="en-SG" dirty="0"/>
          </a:p>
        </p:txBody>
      </p:sp>
    </p:spTree>
    <p:extLst>
      <p:ext uri="{BB962C8B-B14F-4D97-AF65-F5344CB8AC3E}">
        <p14:creationId xmlns:p14="http://schemas.microsoft.com/office/powerpoint/2010/main" val="244433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Constraints</a:t>
            </a:r>
            <a:endParaRPr lang="en-SG" dirty="0"/>
          </a:p>
        </p:txBody>
      </p:sp>
      <p:sp>
        <p:nvSpPr>
          <p:cNvPr id="3" name="Content Placeholder 2"/>
          <p:cNvSpPr>
            <a:spLocks noGrp="1"/>
          </p:cNvSpPr>
          <p:nvPr>
            <p:ph idx="1"/>
          </p:nvPr>
        </p:nvSpPr>
        <p:spPr>
          <a:xfrm>
            <a:off x="457200" y="2204864"/>
            <a:ext cx="8435280" cy="3960440"/>
          </a:xfrm>
        </p:spPr>
        <p:txBody>
          <a:bodyPr>
            <a:normAutofit fontScale="85000" lnSpcReduction="10000"/>
          </a:bodyPr>
          <a:lstStyle/>
          <a:p>
            <a:r>
              <a:rPr lang="en-US" dirty="0"/>
              <a:t>One company may make multiple products</a:t>
            </a:r>
          </a:p>
          <a:p>
            <a:r>
              <a:rPr lang="en-US" dirty="0"/>
              <a:t>One product is made by one company</a:t>
            </a:r>
          </a:p>
          <a:p>
            <a:r>
              <a:rPr lang="en-US" dirty="0"/>
              <a:t>Can there be a product that is not made by any company?</a:t>
            </a:r>
          </a:p>
          <a:p>
            <a:r>
              <a:rPr lang="en-US" dirty="0"/>
              <a:t>No. </a:t>
            </a:r>
          </a:p>
          <a:p>
            <a:r>
              <a:rPr lang="en-US" dirty="0"/>
              <a:t>i.e., every product must be involved in the Make relationship</a:t>
            </a:r>
          </a:p>
          <a:p>
            <a:r>
              <a:rPr lang="en-US" dirty="0"/>
              <a:t>This is called a </a:t>
            </a:r>
            <a:r>
              <a:rPr lang="en-US" dirty="0">
                <a:solidFill>
                  <a:srgbClr val="C00000"/>
                </a:solidFill>
              </a:rPr>
              <a:t>referential integrity constraint</a:t>
            </a:r>
            <a:r>
              <a:rPr lang="en-US" dirty="0"/>
              <a:t>.</a:t>
            </a:r>
          </a:p>
          <a:p>
            <a:r>
              <a:rPr lang="en-US" dirty="0"/>
              <a:t>How do we specify this in an ER diagram?</a:t>
            </a:r>
          </a:p>
          <a:p>
            <a:r>
              <a:rPr lang="en-US" dirty="0"/>
              <a:t>Use a </a:t>
            </a:r>
            <a:r>
              <a:rPr lang="en-US" dirty="0">
                <a:solidFill>
                  <a:srgbClr val="C00000"/>
                </a:solidFill>
              </a:rPr>
              <a:t>double-line</a:t>
            </a:r>
            <a:r>
              <a:rPr lang="en-US" dirty="0"/>
              <a:t> to connect Products and Make</a:t>
            </a:r>
          </a:p>
          <a:p>
            <a:endParaRPr lang="en-SG" dirty="0"/>
          </a:p>
        </p:txBody>
      </p:sp>
      <p:sp>
        <p:nvSpPr>
          <p:cNvPr id="4" name="Rectangle 5"/>
          <p:cNvSpPr>
            <a:spLocks noChangeArrowheads="1"/>
          </p:cNvSpPr>
          <p:nvPr/>
        </p:nvSpPr>
        <p:spPr bwMode="auto">
          <a:xfrm>
            <a:off x="6533248" y="1162027"/>
            <a:ext cx="1639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Products</a:t>
            </a:r>
          </a:p>
        </p:txBody>
      </p:sp>
      <p:sp>
        <p:nvSpPr>
          <p:cNvPr id="5" name="Rectangle 3"/>
          <p:cNvSpPr>
            <a:spLocks noChangeArrowheads="1"/>
          </p:cNvSpPr>
          <p:nvPr/>
        </p:nvSpPr>
        <p:spPr bwMode="auto">
          <a:xfrm>
            <a:off x="827584" y="1162027"/>
            <a:ext cx="187220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Companies</a:t>
            </a:r>
          </a:p>
        </p:txBody>
      </p:sp>
      <p:sp>
        <p:nvSpPr>
          <p:cNvPr id="6" name="AutoShape 10"/>
          <p:cNvSpPr>
            <a:spLocks noChangeArrowheads="1"/>
          </p:cNvSpPr>
          <p:nvPr/>
        </p:nvSpPr>
        <p:spPr bwMode="auto">
          <a:xfrm>
            <a:off x="3491880" y="1124744"/>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Make</a:t>
            </a:r>
          </a:p>
        </p:txBody>
      </p:sp>
      <p:sp>
        <p:nvSpPr>
          <p:cNvPr id="7" name="Line 41"/>
          <p:cNvSpPr>
            <a:spLocks noChangeShapeType="1"/>
          </p:cNvSpPr>
          <p:nvPr/>
        </p:nvSpPr>
        <p:spPr bwMode="auto">
          <a:xfrm>
            <a:off x="5652120" y="1608603"/>
            <a:ext cx="881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17"/>
          <p:cNvSpPr>
            <a:spLocks noChangeShapeType="1"/>
          </p:cNvSpPr>
          <p:nvPr/>
        </p:nvSpPr>
        <p:spPr bwMode="auto">
          <a:xfrm flipH="1">
            <a:off x="2699792" y="1620044"/>
            <a:ext cx="792088"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292038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Constraints</a:t>
            </a:r>
            <a:endParaRPr lang="en-SG" dirty="0"/>
          </a:p>
        </p:txBody>
      </p:sp>
      <p:sp>
        <p:nvSpPr>
          <p:cNvPr id="3" name="Content Placeholder 2"/>
          <p:cNvSpPr>
            <a:spLocks noGrp="1"/>
          </p:cNvSpPr>
          <p:nvPr>
            <p:ph idx="1"/>
          </p:nvPr>
        </p:nvSpPr>
        <p:spPr>
          <a:xfrm>
            <a:off x="457200" y="2204864"/>
            <a:ext cx="8435280" cy="3960440"/>
          </a:xfrm>
        </p:spPr>
        <p:txBody>
          <a:bodyPr>
            <a:normAutofit fontScale="85000" lnSpcReduction="10000"/>
          </a:bodyPr>
          <a:lstStyle/>
          <a:p>
            <a:r>
              <a:rPr lang="en-US" dirty="0"/>
              <a:t>One company may make multiple products</a:t>
            </a:r>
          </a:p>
          <a:p>
            <a:r>
              <a:rPr lang="en-US" dirty="0"/>
              <a:t>One product is made by one company</a:t>
            </a:r>
          </a:p>
          <a:p>
            <a:r>
              <a:rPr lang="en-US" dirty="0"/>
              <a:t>Can there be a product that is not made by any company?</a:t>
            </a:r>
          </a:p>
          <a:p>
            <a:r>
              <a:rPr lang="en-US" dirty="0"/>
              <a:t>No. </a:t>
            </a:r>
          </a:p>
          <a:p>
            <a:r>
              <a:rPr lang="en-US" dirty="0"/>
              <a:t>i.e., every product must be involved in the Make relationship</a:t>
            </a:r>
          </a:p>
          <a:p>
            <a:r>
              <a:rPr lang="en-US" dirty="0"/>
              <a:t>This is called a </a:t>
            </a:r>
            <a:r>
              <a:rPr lang="en-US" dirty="0">
                <a:solidFill>
                  <a:srgbClr val="C00000"/>
                </a:solidFill>
              </a:rPr>
              <a:t>referential integrity constraint</a:t>
            </a:r>
            <a:r>
              <a:rPr lang="en-US" dirty="0"/>
              <a:t>.</a:t>
            </a:r>
          </a:p>
          <a:p>
            <a:r>
              <a:rPr lang="en-US" dirty="0"/>
              <a:t>How do we specify this in an ER diagram?</a:t>
            </a:r>
          </a:p>
          <a:p>
            <a:r>
              <a:rPr lang="en-US" dirty="0"/>
              <a:t>Use a </a:t>
            </a:r>
            <a:r>
              <a:rPr lang="en-US" dirty="0">
                <a:solidFill>
                  <a:srgbClr val="C00000"/>
                </a:solidFill>
              </a:rPr>
              <a:t>double-line</a:t>
            </a:r>
            <a:r>
              <a:rPr lang="en-US" dirty="0"/>
              <a:t> to connect Products and Make</a:t>
            </a:r>
          </a:p>
          <a:p>
            <a:endParaRPr lang="en-SG" dirty="0"/>
          </a:p>
        </p:txBody>
      </p:sp>
      <p:sp>
        <p:nvSpPr>
          <p:cNvPr id="4" name="Rectangle 5"/>
          <p:cNvSpPr>
            <a:spLocks noChangeArrowheads="1"/>
          </p:cNvSpPr>
          <p:nvPr/>
        </p:nvSpPr>
        <p:spPr bwMode="auto">
          <a:xfrm>
            <a:off x="6533248" y="1162027"/>
            <a:ext cx="1639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Products</a:t>
            </a:r>
          </a:p>
        </p:txBody>
      </p:sp>
      <p:sp>
        <p:nvSpPr>
          <p:cNvPr id="5" name="Rectangle 3"/>
          <p:cNvSpPr>
            <a:spLocks noChangeArrowheads="1"/>
          </p:cNvSpPr>
          <p:nvPr/>
        </p:nvSpPr>
        <p:spPr bwMode="auto">
          <a:xfrm>
            <a:off x="827584" y="1162027"/>
            <a:ext cx="187220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Companies</a:t>
            </a:r>
          </a:p>
        </p:txBody>
      </p:sp>
      <p:sp>
        <p:nvSpPr>
          <p:cNvPr id="6" name="AutoShape 10"/>
          <p:cNvSpPr>
            <a:spLocks noChangeArrowheads="1"/>
          </p:cNvSpPr>
          <p:nvPr/>
        </p:nvSpPr>
        <p:spPr bwMode="auto">
          <a:xfrm>
            <a:off x="3491880" y="1124744"/>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Make</a:t>
            </a:r>
          </a:p>
        </p:txBody>
      </p:sp>
      <p:sp>
        <p:nvSpPr>
          <p:cNvPr id="7" name="Line 41"/>
          <p:cNvSpPr>
            <a:spLocks noChangeShapeType="1"/>
          </p:cNvSpPr>
          <p:nvPr/>
        </p:nvSpPr>
        <p:spPr bwMode="auto">
          <a:xfrm>
            <a:off x="5508104" y="1556792"/>
            <a:ext cx="1025144" cy="0"/>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17"/>
          <p:cNvSpPr>
            <a:spLocks noChangeShapeType="1"/>
          </p:cNvSpPr>
          <p:nvPr/>
        </p:nvSpPr>
        <p:spPr bwMode="auto">
          <a:xfrm flipH="1">
            <a:off x="2699792" y="1620044"/>
            <a:ext cx="792088"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 name="Line 41"/>
          <p:cNvSpPr>
            <a:spLocks noChangeShapeType="1"/>
          </p:cNvSpPr>
          <p:nvPr/>
        </p:nvSpPr>
        <p:spPr bwMode="auto">
          <a:xfrm>
            <a:off x="5436096" y="1709192"/>
            <a:ext cx="1097152" cy="0"/>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3244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Constraints</a:t>
            </a:r>
            <a:endParaRPr lang="en-SG" dirty="0"/>
          </a:p>
        </p:txBody>
      </p:sp>
      <p:sp>
        <p:nvSpPr>
          <p:cNvPr id="3" name="Content Placeholder 2"/>
          <p:cNvSpPr>
            <a:spLocks noGrp="1"/>
          </p:cNvSpPr>
          <p:nvPr>
            <p:ph idx="1"/>
          </p:nvPr>
        </p:nvSpPr>
        <p:spPr>
          <a:xfrm>
            <a:off x="457200" y="2780928"/>
            <a:ext cx="8435280" cy="3384376"/>
          </a:xfrm>
        </p:spPr>
        <p:txBody>
          <a:bodyPr>
            <a:normAutofit/>
          </a:bodyPr>
          <a:lstStyle/>
          <a:p>
            <a:r>
              <a:rPr lang="en-US" dirty="0"/>
              <a:t>We say that the entity set Products </a:t>
            </a:r>
            <a:r>
              <a:rPr lang="en-US" dirty="0">
                <a:solidFill>
                  <a:srgbClr val="C00000"/>
                </a:solidFill>
              </a:rPr>
              <a:t>totally participates</a:t>
            </a:r>
            <a:r>
              <a:rPr lang="en-US" dirty="0"/>
              <a:t> in the Make relationship</a:t>
            </a:r>
          </a:p>
          <a:p>
            <a:r>
              <a:rPr lang="en-US" dirty="0"/>
              <a:t>Or, the entity set Products has a </a:t>
            </a:r>
            <a:r>
              <a:rPr lang="en-US" dirty="0">
                <a:solidFill>
                  <a:srgbClr val="C00000"/>
                </a:solidFill>
              </a:rPr>
              <a:t>total participation</a:t>
            </a:r>
            <a:r>
              <a:rPr lang="en-US" dirty="0"/>
              <a:t> in the Make relationship</a:t>
            </a:r>
            <a:endParaRPr lang="en-SG" dirty="0"/>
          </a:p>
        </p:txBody>
      </p:sp>
      <p:sp>
        <p:nvSpPr>
          <p:cNvPr id="4" name="Rectangle 5"/>
          <p:cNvSpPr>
            <a:spLocks noChangeArrowheads="1"/>
          </p:cNvSpPr>
          <p:nvPr/>
        </p:nvSpPr>
        <p:spPr bwMode="auto">
          <a:xfrm>
            <a:off x="6533248" y="1162027"/>
            <a:ext cx="1639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Products</a:t>
            </a:r>
          </a:p>
        </p:txBody>
      </p:sp>
      <p:sp>
        <p:nvSpPr>
          <p:cNvPr id="5" name="Rectangle 3"/>
          <p:cNvSpPr>
            <a:spLocks noChangeArrowheads="1"/>
          </p:cNvSpPr>
          <p:nvPr/>
        </p:nvSpPr>
        <p:spPr bwMode="auto">
          <a:xfrm>
            <a:off x="827584" y="1162027"/>
            <a:ext cx="187220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Companies</a:t>
            </a:r>
          </a:p>
        </p:txBody>
      </p:sp>
      <p:sp>
        <p:nvSpPr>
          <p:cNvPr id="6" name="AutoShape 10"/>
          <p:cNvSpPr>
            <a:spLocks noChangeArrowheads="1"/>
          </p:cNvSpPr>
          <p:nvPr/>
        </p:nvSpPr>
        <p:spPr bwMode="auto">
          <a:xfrm>
            <a:off x="3491880" y="1124744"/>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Make</a:t>
            </a:r>
          </a:p>
        </p:txBody>
      </p:sp>
      <p:sp>
        <p:nvSpPr>
          <p:cNvPr id="7" name="Line 41"/>
          <p:cNvSpPr>
            <a:spLocks noChangeShapeType="1"/>
          </p:cNvSpPr>
          <p:nvPr/>
        </p:nvSpPr>
        <p:spPr bwMode="auto">
          <a:xfrm>
            <a:off x="5508104" y="1556792"/>
            <a:ext cx="1025144" cy="0"/>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17"/>
          <p:cNvSpPr>
            <a:spLocks noChangeShapeType="1"/>
          </p:cNvSpPr>
          <p:nvPr/>
        </p:nvSpPr>
        <p:spPr bwMode="auto">
          <a:xfrm flipH="1">
            <a:off x="2699792" y="1620044"/>
            <a:ext cx="792088"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9" name="Line 41"/>
          <p:cNvSpPr>
            <a:spLocks noChangeShapeType="1"/>
          </p:cNvSpPr>
          <p:nvPr/>
        </p:nvSpPr>
        <p:spPr bwMode="auto">
          <a:xfrm>
            <a:off x="5436096" y="1709192"/>
            <a:ext cx="1097152" cy="0"/>
          </a:xfrm>
          <a:prstGeom prst="line">
            <a:avLst/>
          </a:prstGeom>
          <a:noFill/>
          <a:ln w="28575">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72731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3140968"/>
            <a:ext cx="8229600" cy="2989957"/>
          </a:xfrm>
        </p:spPr>
        <p:txBody>
          <a:bodyPr/>
          <a:lstStyle/>
          <a:p>
            <a:r>
              <a:rPr lang="en-US" dirty="0"/>
              <a:t>A city can be the capital of only one country</a:t>
            </a:r>
          </a:p>
          <a:p>
            <a:r>
              <a:rPr lang="en-US" dirty="0"/>
              <a:t>A country must have a capital</a:t>
            </a:r>
          </a:p>
          <a:p>
            <a:r>
              <a:rPr lang="en-US" dirty="0"/>
              <a:t>How should we draw the connections?</a:t>
            </a:r>
            <a:endParaRPr lang="en-SG" dirty="0"/>
          </a:p>
          <a:p>
            <a:endParaRPr lang="en-SG" dirty="0"/>
          </a:p>
        </p:txBody>
      </p:sp>
      <p:sp>
        <p:nvSpPr>
          <p:cNvPr id="4" name="Rectangle 5"/>
          <p:cNvSpPr>
            <a:spLocks noChangeArrowheads="1"/>
          </p:cNvSpPr>
          <p:nvPr/>
        </p:nvSpPr>
        <p:spPr bwMode="auto">
          <a:xfrm>
            <a:off x="6381328" y="1234035"/>
            <a:ext cx="16470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071436" y="1234852"/>
            <a:ext cx="12683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Tree>
    <p:extLst>
      <p:ext uri="{BB962C8B-B14F-4D97-AF65-F5344CB8AC3E}">
        <p14:creationId xmlns:p14="http://schemas.microsoft.com/office/powerpoint/2010/main" val="2585655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2780928"/>
            <a:ext cx="8229600" cy="3349997"/>
          </a:xfrm>
        </p:spPr>
        <p:txBody>
          <a:bodyPr/>
          <a:lstStyle/>
          <a:p>
            <a:r>
              <a:rPr lang="en-US" dirty="0"/>
              <a:t>Each drinker must prefer at least one beer</a:t>
            </a:r>
          </a:p>
          <a:p>
            <a:r>
              <a:rPr lang="en-US" dirty="0"/>
              <a:t>Each beer can be preferred by multiple drinkers, and it may not be preferred by any drinker</a:t>
            </a:r>
          </a:p>
          <a:p>
            <a:r>
              <a:rPr lang="en-US" dirty="0"/>
              <a:t>How should we draw the connections?</a:t>
            </a:r>
            <a:endParaRPr lang="en-SG" dirty="0"/>
          </a:p>
        </p:txBody>
      </p:sp>
      <p:sp>
        <p:nvSpPr>
          <p:cNvPr id="4" name="Rectangle 5"/>
          <p:cNvSpPr>
            <a:spLocks noChangeArrowheads="1"/>
          </p:cNvSpPr>
          <p:nvPr/>
        </p:nvSpPr>
        <p:spPr bwMode="auto">
          <a:xfrm>
            <a:off x="6533248" y="1234035"/>
            <a:ext cx="149513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Drinkers</a:t>
            </a:r>
          </a:p>
        </p:txBody>
      </p:sp>
      <p:sp>
        <p:nvSpPr>
          <p:cNvPr id="5" name="Rectangle 3"/>
          <p:cNvSpPr>
            <a:spLocks noChangeArrowheads="1"/>
          </p:cNvSpPr>
          <p:nvPr/>
        </p:nvSpPr>
        <p:spPr bwMode="auto">
          <a:xfrm>
            <a:off x="1075882" y="1234035"/>
            <a:ext cx="12683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Beers</a:t>
            </a:r>
          </a:p>
        </p:txBody>
      </p:sp>
      <p:sp>
        <p:nvSpPr>
          <p:cNvPr id="6" name="AutoShape 10"/>
          <p:cNvSpPr>
            <a:spLocks noChangeArrowheads="1"/>
          </p:cNvSpPr>
          <p:nvPr/>
        </p:nvSpPr>
        <p:spPr bwMode="auto">
          <a:xfrm>
            <a:off x="3347864" y="1196752"/>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Prefer</a:t>
            </a:r>
          </a:p>
        </p:txBody>
      </p:sp>
    </p:spTree>
    <p:extLst>
      <p:ext uri="{BB962C8B-B14F-4D97-AF65-F5344CB8AC3E}">
        <p14:creationId xmlns:p14="http://schemas.microsoft.com/office/powerpoint/2010/main" val="250019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Constraints</a:t>
            </a:r>
            <a:endParaRPr lang="en-SG" dirty="0"/>
          </a:p>
        </p:txBody>
      </p:sp>
      <p:sp>
        <p:nvSpPr>
          <p:cNvPr id="3" name="Content Placeholder 2"/>
          <p:cNvSpPr>
            <a:spLocks noGrp="1"/>
          </p:cNvSpPr>
          <p:nvPr>
            <p:ph idx="1"/>
          </p:nvPr>
        </p:nvSpPr>
        <p:spPr/>
        <p:txBody>
          <a:bodyPr/>
          <a:lstStyle/>
          <a:p>
            <a:r>
              <a:rPr lang="en-US" dirty="0"/>
              <a:t>Participation constraints are independent of the types of relationships</a:t>
            </a:r>
            <a:endParaRPr lang="en-SG" dirty="0"/>
          </a:p>
        </p:txBody>
      </p:sp>
      <p:sp>
        <p:nvSpPr>
          <p:cNvPr id="4" name="Rectangle 5"/>
          <p:cNvSpPr>
            <a:spLocks noChangeArrowheads="1"/>
          </p:cNvSpPr>
          <p:nvPr/>
        </p:nvSpPr>
        <p:spPr bwMode="auto">
          <a:xfrm>
            <a:off x="6533249" y="2763715"/>
            <a:ext cx="1143000" cy="914400"/>
          </a:xfrm>
          <a:prstGeom prst="rect">
            <a:avLst/>
          </a:prstGeom>
          <a:solidFill>
            <a:srgbClr val="33CCFF"/>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5" name="Rectangle 3"/>
          <p:cNvSpPr>
            <a:spLocks noChangeArrowheads="1"/>
          </p:cNvSpPr>
          <p:nvPr/>
        </p:nvSpPr>
        <p:spPr bwMode="auto">
          <a:xfrm>
            <a:off x="1075882" y="2763715"/>
            <a:ext cx="1268316" cy="914400"/>
          </a:xfrm>
          <a:prstGeom prst="rect">
            <a:avLst/>
          </a:prstGeom>
          <a:solidFill>
            <a:srgbClr val="33CCFF"/>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6" name="AutoShape 10"/>
          <p:cNvSpPr>
            <a:spLocks noChangeArrowheads="1"/>
          </p:cNvSpPr>
          <p:nvPr/>
        </p:nvSpPr>
        <p:spPr bwMode="auto">
          <a:xfrm>
            <a:off x="3347864" y="2726432"/>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7" name="Straight Connector 6"/>
          <p:cNvCxnSpPr>
            <a:stCxn id="6" idx="3"/>
            <a:endCxn id="4" idx="1"/>
          </p:cNvCxnSpPr>
          <p:nvPr/>
        </p:nvCxnSpPr>
        <p:spPr bwMode="auto">
          <a:xfrm flipV="1">
            <a:off x="5508104" y="3220915"/>
            <a:ext cx="1025145" cy="817"/>
          </a:xfrm>
          <a:prstGeom prst="line">
            <a:avLst/>
          </a:prstGeom>
          <a:solidFill>
            <a:schemeClr val="accent1"/>
          </a:solidFill>
          <a:ln w="25400" cap="flat" cmpd="sng" algn="ctr">
            <a:solidFill>
              <a:schemeClr val="tx1"/>
            </a:solidFill>
            <a:prstDash val="solid"/>
            <a:round/>
            <a:headEnd type="none" w="med" len="med"/>
            <a:tailEnd type="arrow" w="lg" len="lg"/>
          </a:ln>
          <a:effectLst/>
        </p:spPr>
      </p:cxnSp>
      <p:cxnSp>
        <p:nvCxnSpPr>
          <p:cNvPr id="9" name="Straight Connector 8"/>
          <p:cNvCxnSpPr/>
          <p:nvPr/>
        </p:nvCxnSpPr>
        <p:spPr bwMode="auto">
          <a:xfrm>
            <a:off x="2344198" y="3158480"/>
            <a:ext cx="1147682"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10" name="Straight Connector 9"/>
          <p:cNvCxnSpPr/>
          <p:nvPr/>
        </p:nvCxnSpPr>
        <p:spPr bwMode="auto">
          <a:xfrm>
            <a:off x="2344198" y="3302496"/>
            <a:ext cx="1147682" cy="0"/>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15" name="Rectangle 5"/>
          <p:cNvSpPr>
            <a:spLocks noChangeArrowheads="1"/>
          </p:cNvSpPr>
          <p:nvPr/>
        </p:nvSpPr>
        <p:spPr bwMode="auto">
          <a:xfrm>
            <a:off x="6533249" y="4042347"/>
            <a:ext cx="1143000" cy="914400"/>
          </a:xfrm>
          <a:prstGeom prst="rect">
            <a:avLst/>
          </a:prstGeom>
          <a:solidFill>
            <a:srgbClr val="33CCFF"/>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16" name="Rectangle 3"/>
          <p:cNvSpPr>
            <a:spLocks noChangeArrowheads="1"/>
          </p:cNvSpPr>
          <p:nvPr/>
        </p:nvSpPr>
        <p:spPr bwMode="auto">
          <a:xfrm>
            <a:off x="1075882" y="4042347"/>
            <a:ext cx="1268316" cy="914400"/>
          </a:xfrm>
          <a:prstGeom prst="rect">
            <a:avLst/>
          </a:prstGeom>
          <a:solidFill>
            <a:srgbClr val="33CCFF"/>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17" name="AutoShape 10"/>
          <p:cNvSpPr>
            <a:spLocks noChangeArrowheads="1"/>
          </p:cNvSpPr>
          <p:nvPr/>
        </p:nvSpPr>
        <p:spPr bwMode="auto">
          <a:xfrm>
            <a:off x="3347864" y="4005064"/>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18" name="Straight Connector 17"/>
          <p:cNvCxnSpPr>
            <a:stCxn id="17" idx="1"/>
            <a:endCxn id="16" idx="3"/>
          </p:cNvCxnSpPr>
          <p:nvPr/>
        </p:nvCxnSpPr>
        <p:spPr bwMode="auto">
          <a:xfrm flipH="1" flipV="1">
            <a:off x="2344198" y="4499547"/>
            <a:ext cx="1003666" cy="817"/>
          </a:xfrm>
          <a:prstGeom prst="line">
            <a:avLst/>
          </a:prstGeom>
          <a:solidFill>
            <a:schemeClr val="accent1"/>
          </a:solidFill>
          <a:ln w="25400" cap="flat" cmpd="sng" algn="ctr">
            <a:solidFill>
              <a:schemeClr val="tx1"/>
            </a:solidFill>
            <a:prstDash val="solid"/>
            <a:round/>
            <a:headEnd type="none" w="med" len="med"/>
            <a:tailEnd type="none" w="lg" len="lg"/>
          </a:ln>
          <a:effectLst/>
        </p:spPr>
      </p:cxnSp>
      <p:grpSp>
        <p:nvGrpSpPr>
          <p:cNvPr id="19" name="Group 18"/>
          <p:cNvGrpSpPr/>
          <p:nvPr/>
        </p:nvGrpSpPr>
        <p:grpSpPr>
          <a:xfrm rot="10800000">
            <a:off x="5366196" y="4356348"/>
            <a:ext cx="1167053" cy="288032"/>
            <a:chOff x="2324827" y="1556792"/>
            <a:chExt cx="1167053" cy="288032"/>
          </a:xfrm>
        </p:grpSpPr>
        <p:cxnSp>
          <p:nvCxnSpPr>
            <p:cNvPr id="20" name="Straight Connector 19"/>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1" name="Straight Connector 20"/>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2" name="Straight Connector 21"/>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3" name="Straight Connector 22"/>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sp>
        <p:nvSpPr>
          <p:cNvPr id="26" name="Rectangle 5"/>
          <p:cNvSpPr>
            <a:spLocks noChangeArrowheads="1"/>
          </p:cNvSpPr>
          <p:nvPr/>
        </p:nvSpPr>
        <p:spPr bwMode="auto">
          <a:xfrm>
            <a:off x="6525344" y="5211987"/>
            <a:ext cx="1143000" cy="914400"/>
          </a:xfrm>
          <a:prstGeom prst="rect">
            <a:avLst/>
          </a:prstGeom>
          <a:solidFill>
            <a:srgbClr val="33CCFF"/>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27" name="Rectangle 3"/>
          <p:cNvSpPr>
            <a:spLocks noChangeArrowheads="1"/>
          </p:cNvSpPr>
          <p:nvPr/>
        </p:nvSpPr>
        <p:spPr bwMode="auto">
          <a:xfrm>
            <a:off x="1067977" y="5211987"/>
            <a:ext cx="1268316" cy="914400"/>
          </a:xfrm>
          <a:prstGeom prst="rect">
            <a:avLst/>
          </a:prstGeom>
          <a:solidFill>
            <a:srgbClr val="33CCFF"/>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28" name="AutoShape 10"/>
          <p:cNvSpPr>
            <a:spLocks noChangeArrowheads="1"/>
          </p:cNvSpPr>
          <p:nvPr/>
        </p:nvSpPr>
        <p:spPr bwMode="auto">
          <a:xfrm>
            <a:off x="3339959" y="5174704"/>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grpSp>
        <p:nvGrpSpPr>
          <p:cNvPr id="30" name="Group 29"/>
          <p:cNvGrpSpPr/>
          <p:nvPr/>
        </p:nvGrpSpPr>
        <p:grpSpPr>
          <a:xfrm rot="10800000">
            <a:off x="5358291" y="5525988"/>
            <a:ext cx="1167053" cy="288032"/>
            <a:chOff x="2324827" y="1556792"/>
            <a:chExt cx="1167053" cy="288032"/>
          </a:xfrm>
        </p:grpSpPr>
        <p:cxnSp>
          <p:nvCxnSpPr>
            <p:cNvPr id="31" name="Straight Connector 30"/>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32" name="Straight Connector 31"/>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33" name="Straight Connector 32"/>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34" name="Straight Connector 33"/>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cxnSp>
        <p:nvCxnSpPr>
          <p:cNvPr id="36" name="Straight Connector 35"/>
          <p:cNvCxnSpPr/>
          <p:nvPr/>
        </p:nvCxnSpPr>
        <p:spPr bwMode="auto">
          <a:xfrm>
            <a:off x="2339752" y="5589240"/>
            <a:ext cx="1147682"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37" name="Straight Connector 36"/>
          <p:cNvCxnSpPr/>
          <p:nvPr/>
        </p:nvCxnSpPr>
        <p:spPr bwMode="auto">
          <a:xfrm>
            <a:off x="2339752" y="5733256"/>
            <a:ext cx="1147682" cy="0"/>
          </a:xfrm>
          <a:prstGeom prst="line">
            <a:avLst/>
          </a:prstGeom>
          <a:solidFill>
            <a:schemeClr val="accent1"/>
          </a:solidFill>
          <a:ln w="25400" cap="flat" cmpd="sng" algn="ctr">
            <a:solidFill>
              <a:schemeClr val="tx1"/>
            </a:solidFill>
            <a:prstDash val="solid"/>
            <a:round/>
            <a:headEnd type="none" w="lg" len="lg"/>
            <a:tailEnd type="none" w="lg" len="lg"/>
          </a:ln>
          <a:effectLst/>
        </p:spPr>
      </p:cxnSp>
    </p:spTree>
    <p:extLst>
      <p:ext uri="{BB962C8B-B14F-4D97-AF65-F5344CB8AC3E}">
        <p14:creationId xmlns:p14="http://schemas.microsoft.com/office/powerpoint/2010/main" val="192824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5" grpId="0" animBg="1"/>
      <p:bldP spid="16" grpId="0" animBg="1"/>
      <p:bldP spid="17" grpId="0" animBg="1"/>
      <p:bldP spid="26" grpId="0" animBg="1"/>
      <p:bldP spid="27" grpId="0" animBg="1"/>
      <p:bldP spid="2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p:txBody>
          <a:bodyPr>
            <a:normAutofit fontScale="92500"/>
          </a:bodyPr>
          <a:lstStyle/>
          <a:p>
            <a:r>
              <a:rPr lang="en-US" dirty="0"/>
              <a:t>Consider two entity sets:  Shops and Companies</a:t>
            </a:r>
          </a:p>
          <a:p>
            <a:r>
              <a:rPr lang="en-US" dirty="0"/>
              <a:t>Each shop sells products from at least one company</a:t>
            </a:r>
          </a:p>
          <a:p>
            <a:r>
              <a:rPr lang="en-US" dirty="0"/>
              <a:t>Each company has its product sold at least one shop</a:t>
            </a:r>
          </a:p>
          <a:p>
            <a:r>
              <a:rPr lang="en-US" dirty="0"/>
              <a:t>A shop may be the flagship shop of at most one company</a:t>
            </a:r>
          </a:p>
          <a:p>
            <a:r>
              <a:rPr lang="en-US" dirty="0"/>
              <a:t>Each company has at least one flagship shops</a:t>
            </a:r>
          </a:p>
          <a:p>
            <a:r>
              <a:rPr lang="en-US" dirty="0"/>
              <a:t>Draw some relationships between Shops and Companies to capture the above statements</a:t>
            </a:r>
            <a:endParaRPr lang="en-SG" dirty="0"/>
          </a:p>
        </p:txBody>
      </p:sp>
    </p:spTree>
    <p:extLst>
      <p:ext uri="{BB962C8B-B14F-4D97-AF65-F5344CB8AC3E}">
        <p14:creationId xmlns:p14="http://schemas.microsoft.com/office/powerpoint/2010/main" val="128626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9081866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01208"/>
            <a:ext cx="8229600" cy="829717"/>
          </a:xfrm>
        </p:spPr>
        <p:txBody>
          <a:bodyPr>
            <a:normAutofit fontScale="92500" lnSpcReduction="20000"/>
          </a:bodyPr>
          <a:lstStyle/>
          <a:p>
            <a:r>
              <a:rPr lang="en-US" dirty="0"/>
              <a:t>There can be multiple relationships between two entities</a:t>
            </a:r>
            <a:endParaRPr lang="en-SG" dirty="0"/>
          </a:p>
        </p:txBody>
      </p:sp>
      <p:sp>
        <p:nvSpPr>
          <p:cNvPr id="4" name="Rectangle 5"/>
          <p:cNvSpPr>
            <a:spLocks noChangeArrowheads="1"/>
          </p:cNvSpPr>
          <p:nvPr/>
        </p:nvSpPr>
        <p:spPr bwMode="auto">
          <a:xfrm>
            <a:off x="1043608" y="1988840"/>
            <a:ext cx="1279111"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Shops</a:t>
            </a:r>
          </a:p>
        </p:txBody>
      </p:sp>
      <p:sp>
        <p:nvSpPr>
          <p:cNvPr id="5" name="Rectangle 5"/>
          <p:cNvSpPr>
            <a:spLocks noChangeArrowheads="1"/>
          </p:cNvSpPr>
          <p:nvPr/>
        </p:nvSpPr>
        <p:spPr bwMode="auto">
          <a:xfrm>
            <a:off x="6461241" y="1988840"/>
            <a:ext cx="1927183"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Companies</a:t>
            </a:r>
          </a:p>
        </p:txBody>
      </p:sp>
      <p:sp>
        <p:nvSpPr>
          <p:cNvPr id="6" name="AutoShape 10"/>
          <p:cNvSpPr>
            <a:spLocks noChangeArrowheads="1"/>
          </p:cNvSpPr>
          <p:nvPr/>
        </p:nvSpPr>
        <p:spPr bwMode="auto">
          <a:xfrm>
            <a:off x="2555776" y="836712"/>
            <a:ext cx="345638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err="1">
                <a:latin typeface="Calibri" pitchFamily="34" charset="0"/>
              </a:rPr>
              <a:t>SellProdFrom</a:t>
            </a:r>
            <a:endParaRPr lang="en-US" sz="2800" b="1" dirty="0">
              <a:latin typeface="Calibri" pitchFamily="34" charset="0"/>
            </a:endParaRPr>
          </a:p>
        </p:txBody>
      </p:sp>
      <p:sp>
        <p:nvSpPr>
          <p:cNvPr id="7" name="AutoShape 10"/>
          <p:cNvSpPr>
            <a:spLocks noChangeArrowheads="1"/>
          </p:cNvSpPr>
          <p:nvPr/>
        </p:nvSpPr>
        <p:spPr bwMode="auto">
          <a:xfrm>
            <a:off x="2627784" y="3212976"/>
            <a:ext cx="32403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err="1">
                <a:latin typeface="Calibri" pitchFamily="34" charset="0"/>
              </a:rPr>
              <a:t>IsFlagShipOf</a:t>
            </a:r>
            <a:endParaRPr lang="en-US" sz="2800" b="1" dirty="0">
              <a:latin typeface="Calibri" pitchFamily="34" charset="0"/>
            </a:endParaRPr>
          </a:p>
        </p:txBody>
      </p:sp>
      <p:cxnSp>
        <p:nvCxnSpPr>
          <p:cNvPr id="8" name="Straight Connector 7"/>
          <p:cNvCxnSpPr>
            <a:stCxn id="4" idx="0"/>
            <a:endCxn id="6" idx="1"/>
          </p:cNvCxnSpPr>
          <p:nvPr/>
        </p:nvCxnSpPr>
        <p:spPr bwMode="auto">
          <a:xfrm flipV="1">
            <a:off x="1683164" y="1332012"/>
            <a:ext cx="872612" cy="65682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11" name="Straight Connector 10"/>
          <p:cNvCxnSpPr/>
          <p:nvPr/>
        </p:nvCxnSpPr>
        <p:spPr bwMode="auto">
          <a:xfrm flipV="1">
            <a:off x="1979712" y="1404020"/>
            <a:ext cx="728596" cy="584820"/>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13" name="Straight Connector 12"/>
          <p:cNvCxnSpPr>
            <a:stCxn id="6" idx="3"/>
          </p:cNvCxnSpPr>
          <p:nvPr/>
        </p:nvCxnSpPr>
        <p:spPr bwMode="auto">
          <a:xfrm>
            <a:off x="6012160" y="1332012"/>
            <a:ext cx="504056" cy="656828"/>
          </a:xfrm>
          <a:prstGeom prst="line">
            <a:avLst/>
          </a:prstGeom>
          <a:solidFill>
            <a:schemeClr val="accent1"/>
          </a:solidFill>
          <a:ln w="25400" cap="flat" cmpd="sng" algn="ctr">
            <a:solidFill>
              <a:schemeClr val="tx1"/>
            </a:solidFill>
            <a:prstDash val="solid"/>
            <a:round/>
            <a:headEnd type="none" w="med" len="med"/>
            <a:tailEnd type="none" w="lg" len="lg"/>
          </a:ln>
          <a:effectLst/>
        </p:spPr>
      </p:cxnSp>
      <p:grpSp>
        <p:nvGrpSpPr>
          <p:cNvPr id="17" name="Group 16"/>
          <p:cNvGrpSpPr/>
          <p:nvPr/>
        </p:nvGrpSpPr>
        <p:grpSpPr>
          <a:xfrm rot="7998527">
            <a:off x="5576725" y="3136442"/>
            <a:ext cx="1065286" cy="311954"/>
            <a:chOff x="2324827" y="1556792"/>
            <a:chExt cx="1167053" cy="288032"/>
          </a:xfrm>
        </p:grpSpPr>
        <p:cxnSp>
          <p:nvCxnSpPr>
            <p:cNvPr id="18" name="Straight Connector 17"/>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19" name="Straight Connector 18"/>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0" name="Straight Connector 19"/>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1" name="Straight Connector 20"/>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cxnSp>
        <p:nvCxnSpPr>
          <p:cNvPr id="22" name="Straight Connector 21"/>
          <p:cNvCxnSpPr>
            <a:stCxn id="7" idx="1"/>
          </p:cNvCxnSpPr>
          <p:nvPr/>
        </p:nvCxnSpPr>
        <p:spPr bwMode="auto">
          <a:xfrm flipH="1" flipV="1">
            <a:off x="2322720" y="2887855"/>
            <a:ext cx="305064" cy="820421"/>
          </a:xfrm>
          <a:prstGeom prst="line">
            <a:avLst/>
          </a:prstGeom>
          <a:solidFill>
            <a:schemeClr val="accent1"/>
          </a:solidFill>
          <a:ln w="25400" cap="flat" cmpd="sng" algn="ctr">
            <a:solidFill>
              <a:schemeClr val="tx1"/>
            </a:solidFill>
            <a:prstDash val="solid"/>
            <a:round/>
            <a:headEnd type="none" w="med" len="med"/>
            <a:tailEnd type="none" w="lg" len="lg"/>
          </a:ln>
          <a:effectLst/>
        </p:spPr>
      </p:cxnSp>
      <p:cxnSp>
        <p:nvCxnSpPr>
          <p:cNvPr id="16" name="Straight Connector 15"/>
          <p:cNvCxnSpPr/>
          <p:nvPr/>
        </p:nvCxnSpPr>
        <p:spPr bwMode="auto">
          <a:xfrm>
            <a:off x="5868144" y="1404020"/>
            <a:ext cx="593097" cy="800844"/>
          </a:xfrm>
          <a:prstGeom prst="line">
            <a:avLst/>
          </a:prstGeom>
          <a:solidFill>
            <a:schemeClr val="accent1"/>
          </a:solidFill>
          <a:ln w="25400" cap="flat" cmpd="sng" algn="ctr">
            <a:solidFill>
              <a:schemeClr val="tx1"/>
            </a:solidFill>
            <a:prstDash val="solid"/>
            <a:round/>
            <a:headEnd type="none" w="med" len="med"/>
            <a:tailEnd type="none" w="lg" len="lg"/>
          </a:ln>
          <a:effectLst/>
        </p:spPr>
      </p:cxnSp>
    </p:spTree>
    <p:extLst>
      <p:ext uri="{BB962C8B-B14F-4D97-AF65-F5344CB8AC3E}">
        <p14:creationId xmlns:p14="http://schemas.microsoft.com/office/powerpoint/2010/main" val="1707654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a:t>
            </a:r>
            <a:endParaRPr lang="en-SG" dirty="0"/>
          </a:p>
        </p:txBody>
      </p:sp>
      <p:sp>
        <p:nvSpPr>
          <p:cNvPr id="3" name="Content Placeholder 2"/>
          <p:cNvSpPr>
            <a:spLocks noGrp="1"/>
          </p:cNvSpPr>
          <p:nvPr>
            <p:ph idx="1"/>
          </p:nvPr>
        </p:nvSpPr>
        <p:spPr/>
        <p:txBody>
          <a:bodyPr/>
          <a:lstStyle/>
          <a:p>
            <a:r>
              <a:rPr lang="en-US" dirty="0"/>
              <a:t>We have talked about</a:t>
            </a:r>
          </a:p>
          <a:p>
            <a:pPr lvl="1"/>
            <a:r>
              <a:rPr lang="en-US" dirty="0"/>
              <a:t>many-to-many, many-to-one, and one-to-one relationships</a:t>
            </a:r>
          </a:p>
          <a:p>
            <a:pPr lvl="1"/>
            <a:r>
              <a:rPr lang="en-US" dirty="0"/>
              <a:t>total participations</a:t>
            </a:r>
          </a:p>
          <a:p>
            <a:r>
              <a:rPr lang="en-US" dirty="0"/>
              <a:t>But so far we have only seen relationships that connect at least two entity sets</a:t>
            </a:r>
          </a:p>
          <a:p>
            <a:r>
              <a:rPr lang="en-US" dirty="0"/>
              <a:t>It is possible to have a relationship that connects only one entity set</a:t>
            </a:r>
            <a:endParaRPr lang="en-SG" dirty="0"/>
          </a:p>
        </p:txBody>
      </p:sp>
    </p:spTree>
    <p:extLst>
      <p:ext uri="{BB962C8B-B14F-4D97-AF65-F5344CB8AC3E}">
        <p14:creationId xmlns:p14="http://schemas.microsoft.com/office/powerpoint/2010/main" val="370919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a:t>
            </a:r>
            <a:endParaRPr lang="en-SG" dirty="0"/>
          </a:p>
        </p:txBody>
      </p:sp>
      <p:sp>
        <p:nvSpPr>
          <p:cNvPr id="3" name="Content Placeholder 2"/>
          <p:cNvSpPr>
            <a:spLocks noGrp="1"/>
          </p:cNvSpPr>
          <p:nvPr>
            <p:ph idx="1"/>
          </p:nvPr>
        </p:nvSpPr>
        <p:spPr>
          <a:xfrm>
            <a:off x="457200" y="2492897"/>
            <a:ext cx="8229600" cy="2160240"/>
          </a:xfrm>
        </p:spPr>
        <p:txBody>
          <a:bodyPr>
            <a:normAutofit fontScale="92500" lnSpcReduction="20000"/>
          </a:bodyPr>
          <a:lstStyle/>
          <a:p>
            <a:r>
              <a:rPr lang="en-US" dirty="0"/>
              <a:t>It is possible to have a relationship that connects only one entity set</a:t>
            </a:r>
            <a:endParaRPr lang="en-SG" dirty="0"/>
          </a:p>
          <a:p>
            <a:r>
              <a:rPr lang="en-US" dirty="0"/>
              <a:t>Example: some drinkers are married to each other</a:t>
            </a:r>
          </a:p>
          <a:p>
            <a:r>
              <a:rPr lang="en-US" dirty="0"/>
              <a:t>The role of the drinker is specified on the edge connecting the entity set to the relationship</a:t>
            </a:r>
            <a:endParaRPr lang="en-SG" dirty="0"/>
          </a:p>
        </p:txBody>
      </p:sp>
      <p:sp>
        <p:nvSpPr>
          <p:cNvPr id="4" name="Rectangle 5"/>
          <p:cNvSpPr>
            <a:spLocks noChangeArrowheads="1"/>
          </p:cNvSpPr>
          <p:nvPr/>
        </p:nvSpPr>
        <p:spPr bwMode="auto">
          <a:xfrm>
            <a:off x="2771800" y="1036340"/>
            <a:ext cx="1279111"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Drinker</a:t>
            </a:r>
          </a:p>
        </p:txBody>
      </p:sp>
      <p:sp>
        <p:nvSpPr>
          <p:cNvPr id="5" name="AutoShape 10"/>
          <p:cNvSpPr>
            <a:spLocks noChangeArrowheads="1"/>
          </p:cNvSpPr>
          <p:nvPr/>
        </p:nvSpPr>
        <p:spPr bwMode="auto">
          <a:xfrm>
            <a:off x="5275047" y="998240"/>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Married</a:t>
            </a:r>
          </a:p>
        </p:txBody>
      </p:sp>
      <p:cxnSp>
        <p:nvCxnSpPr>
          <p:cNvPr id="7" name="Curved Connector 6"/>
          <p:cNvCxnSpPr>
            <a:stCxn id="5" idx="0"/>
            <a:endCxn id="4" idx="0"/>
          </p:cNvCxnSpPr>
          <p:nvPr/>
        </p:nvCxnSpPr>
        <p:spPr bwMode="auto">
          <a:xfrm rot="16200000" flipH="1" flipV="1">
            <a:off x="4864212" y="-454616"/>
            <a:ext cx="38100" cy="2943811"/>
          </a:xfrm>
          <a:prstGeom prst="curvedConnector3">
            <a:avLst>
              <a:gd name="adj1" fmla="val -1389879"/>
            </a:avLst>
          </a:prstGeom>
          <a:solidFill>
            <a:schemeClr val="accent1"/>
          </a:solidFill>
          <a:ln w="25400" cap="flat" cmpd="sng" algn="ctr">
            <a:solidFill>
              <a:schemeClr val="tx1"/>
            </a:solidFill>
            <a:prstDash val="solid"/>
            <a:round/>
            <a:headEnd type="none" w="med" len="med"/>
            <a:tailEnd type="arrow" w="lg" len="lg"/>
          </a:ln>
          <a:effectLst/>
        </p:spPr>
      </p:cxnSp>
      <p:cxnSp>
        <p:nvCxnSpPr>
          <p:cNvPr id="10" name="Curved Connector 9"/>
          <p:cNvCxnSpPr>
            <a:stCxn id="5" idx="2"/>
            <a:endCxn id="4" idx="2"/>
          </p:cNvCxnSpPr>
          <p:nvPr/>
        </p:nvCxnSpPr>
        <p:spPr bwMode="auto">
          <a:xfrm rot="5400000" flipH="1">
            <a:off x="4864212" y="497885"/>
            <a:ext cx="38100" cy="2943811"/>
          </a:xfrm>
          <a:prstGeom prst="curvedConnector3">
            <a:avLst>
              <a:gd name="adj1" fmla="val -1177220"/>
            </a:avLst>
          </a:prstGeom>
          <a:solidFill>
            <a:schemeClr val="accent1"/>
          </a:solidFill>
          <a:ln w="25400" cap="flat" cmpd="sng" algn="ctr">
            <a:solidFill>
              <a:schemeClr val="tx1"/>
            </a:solidFill>
            <a:prstDash val="solid"/>
            <a:round/>
            <a:headEnd type="none" w="med" len="med"/>
            <a:tailEnd type="arrow" w="lg" len="lg"/>
          </a:ln>
          <a:effectLst/>
        </p:spPr>
      </p:cxnSp>
      <p:sp>
        <p:nvSpPr>
          <p:cNvPr id="14" name="Rectangle 13"/>
          <p:cNvSpPr/>
          <p:nvPr/>
        </p:nvSpPr>
        <p:spPr>
          <a:xfrm>
            <a:off x="4134683" y="476672"/>
            <a:ext cx="1478290" cy="523220"/>
          </a:xfrm>
          <a:prstGeom prst="rect">
            <a:avLst/>
          </a:prstGeom>
        </p:spPr>
        <p:txBody>
          <a:bodyPr wrap="none">
            <a:spAutoFit/>
          </a:bodyPr>
          <a:lstStyle/>
          <a:p>
            <a:pPr algn="ctr"/>
            <a:r>
              <a:rPr lang="en-US" sz="2800" dirty="0">
                <a:solidFill>
                  <a:srgbClr val="C00000"/>
                </a:solidFill>
                <a:latin typeface="Calibri" pitchFamily="34" charset="0"/>
              </a:rPr>
              <a:t>Husband</a:t>
            </a:r>
          </a:p>
        </p:txBody>
      </p:sp>
      <p:sp>
        <p:nvSpPr>
          <p:cNvPr id="15" name="Rectangle 14"/>
          <p:cNvSpPr/>
          <p:nvPr/>
        </p:nvSpPr>
        <p:spPr>
          <a:xfrm>
            <a:off x="4442108" y="1959223"/>
            <a:ext cx="863441" cy="523220"/>
          </a:xfrm>
          <a:prstGeom prst="rect">
            <a:avLst/>
          </a:prstGeom>
        </p:spPr>
        <p:txBody>
          <a:bodyPr wrap="none">
            <a:spAutoFit/>
          </a:bodyPr>
          <a:lstStyle/>
          <a:p>
            <a:pPr algn="ctr"/>
            <a:r>
              <a:rPr lang="en-US" sz="2800" dirty="0">
                <a:solidFill>
                  <a:srgbClr val="C00000"/>
                </a:solidFill>
                <a:latin typeface="Calibri" pitchFamily="34" charset="0"/>
              </a:rPr>
              <a:t>Wife</a:t>
            </a:r>
          </a:p>
        </p:txBody>
      </p:sp>
      <p:graphicFrame>
        <p:nvGraphicFramePr>
          <p:cNvPr id="17" name="Table 16"/>
          <p:cNvGraphicFramePr>
            <a:graphicFrameLocks noGrp="1"/>
          </p:cNvGraphicFramePr>
          <p:nvPr>
            <p:extLst>
              <p:ext uri="{D42A27DB-BD31-4B8C-83A1-F6EECF244321}">
                <p14:modId xmlns:p14="http://schemas.microsoft.com/office/powerpoint/2010/main" val="1288721554"/>
              </p:ext>
            </p:extLst>
          </p:nvPr>
        </p:nvGraphicFramePr>
        <p:xfrm>
          <a:off x="2339752" y="4653136"/>
          <a:ext cx="4398588" cy="1706880"/>
        </p:xfrm>
        <a:graphic>
          <a:graphicData uri="http://schemas.openxmlformats.org/drawingml/2006/table">
            <a:tbl>
              <a:tblPr firstRow="1" bandRow="1">
                <a:tableStyleId>{5C22544A-7EE6-4342-B048-85BDC9FD1C3A}</a:tableStyleId>
              </a:tblPr>
              <a:tblGrid>
                <a:gridCol w="2199294">
                  <a:extLst>
                    <a:ext uri="{9D8B030D-6E8A-4147-A177-3AD203B41FA5}">
                      <a16:colId xmlns:a16="http://schemas.microsoft.com/office/drawing/2014/main" val="20000"/>
                    </a:ext>
                  </a:extLst>
                </a:gridCol>
                <a:gridCol w="2199294">
                  <a:extLst>
                    <a:ext uri="{9D8B030D-6E8A-4147-A177-3AD203B41FA5}">
                      <a16:colId xmlns:a16="http://schemas.microsoft.com/office/drawing/2014/main" val="20001"/>
                    </a:ext>
                  </a:extLst>
                </a:gridCol>
              </a:tblGrid>
              <a:tr h="370840">
                <a:tc>
                  <a:txBody>
                    <a:bodyPr/>
                    <a:lstStyle/>
                    <a:p>
                      <a:pPr algn="ctr"/>
                      <a:r>
                        <a:rPr lang="en-US" sz="2200" dirty="0">
                          <a:latin typeface="Calibri" pitchFamily="34" charset="0"/>
                        </a:rPr>
                        <a:t>Husband</a:t>
                      </a:r>
                      <a:endParaRPr lang="en-SG" sz="2200" dirty="0">
                        <a:latin typeface="Calibri" pitchFamily="34" charset="0"/>
                      </a:endParaRPr>
                    </a:p>
                  </a:txBody>
                  <a:tcPr/>
                </a:tc>
                <a:tc>
                  <a:txBody>
                    <a:bodyPr/>
                    <a:lstStyle/>
                    <a:p>
                      <a:pPr algn="ctr"/>
                      <a:r>
                        <a:rPr lang="en-US" sz="2200" dirty="0">
                          <a:latin typeface="Calibri" pitchFamily="34" charset="0"/>
                        </a:rPr>
                        <a:t>Wife</a:t>
                      </a:r>
                      <a:endParaRPr lang="en-SG" sz="22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200" dirty="0">
                          <a:latin typeface="Calibri" pitchFamily="34" charset="0"/>
                        </a:rPr>
                        <a:t>Bob</a:t>
                      </a:r>
                      <a:endParaRPr lang="en-SG" sz="2200" dirty="0">
                        <a:latin typeface="Calibri" pitchFamily="34" charset="0"/>
                      </a:endParaRPr>
                    </a:p>
                  </a:txBody>
                  <a:tcPr/>
                </a:tc>
                <a:tc>
                  <a:txBody>
                    <a:bodyPr/>
                    <a:lstStyle/>
                    <a:p>
                      <a:pPr algn="ctr"/>
                      <a:r>
                        <a:rPr lang="en-US" sz="2200" dirty="0">
                          <a:latin typeface="Calibri" pitchFamily="34" charset="0"/>
                        </a:rPr>
                        <a:t>Alice</a:t>
                      </a:r>
                      <a:endParaRPr lang="en-SG" sz="2200" dirty="0">
                        <a:latin typeface="Calibri" pitchFamily="34" charset="0"/>
                      </a:endParaRPr>
                    </a:p>
                  </a:txBody>
                  <a:tcPr/>
                </a:tc>
                <a:extLst>
                  <a:ext uri="{0D108BD9-81ED-4DB2-BD59-A6C34878D82A}">
                    <a16:rowId xmlns:a16="http://schemas.microsoft.com/office/drawing/2014/main" val="10001"/>
                  </a:ext>
                </a:extLst>
              </a:tr>
              <a:tr h="370840">
                <a:tc>
                  <a:txBody>
                    <a:bodyPr/>
                    <a:lstStyle/>
                    <a:p>
                      <a:pPr algn="ctr"/>
                      <a:r>
                        <a:rPr lang="en-US" sz="2200" dirty="0">
                          <a:latin typeface="Calibri" pitchFamily="34" charset="0"/>
                        </a:rPr>
                        <a:t>David</a:t>
                      </a:r>
                      <a:endParaRPr lang="en-SG" sz="2200" dirty="0">
                        <a:latin typeface="Calibri" pitchFamily="34" charset="0"/>
                      </a:endParaRPr>
                    </a:p>
                  </a:txBody>
                  <a:tcPr/>
                </a:tc>
                <a:tc>
                  <a:txBody>
                    <a:bodyPr/>
                    <a:lstStyle/>
                    <a:p>
                      <a:pPr algn="ctr"/>
                      <a:r>
                        <a:rPr lang="en-US" sz="2200" dirty="0">
                          <a:latin typeface="Calibri" pitchFamily="34" charset="0"/>
                        </a:rPr>
                        <a:t>Cathy</a:t>
                      </a:r>
                      <a:endParaRPr lang="en-SG" sz="2200" dirty="0">
                        <a:latin typeface="Calibri" pitchFamily="34" charset="0"/>
                      </a:endParaRPr>
                    </a:p>
                  </a:txBody>
                  <a:tcPr/>
                </a:tc>
                <a:extLst>
                  <a:ext uri="{0D108BD9-81ED-4DB2-BD59-A6C34878D82A}">
                    <a16:rowId xmlns:a16="http://schemas.microsoft.com/office/drawing/2014/main" val="10002"/>
                  </a:ext>
                </a:extLst>
              </a:tr>
              <a:tr h="370840">
                <a:tc>
                  <a:txBody>
                    <a:bodyPr/>
                    <a:lstStyle/>
                    <a:p>
                      <a:pPr algn="ctr"/>
                      <a:r>
                        <a:rPr lang="en-US" sz="2200" dirty="0">
                          <a:latin typeface="Calibri" pitchFamily="34" charset="0"/>
                        </a:rPr>
                        <a:t>…</a:t>
                      </a:r>
                      <a:endParaRPr lang="en-SG" sz="2200" dirty="0">
                        <a:latin typeface="Calibri" pitchFamily="34" charset="0"/>
                      </a:endParaRPr>
                    </a:p>
                  </a:txBody>
                  <a:tcPr/>
                </a:tc>
                <a:tc>
                  <a:txBody>
                    <a:bodyPr/>
                    <a:lstStyle/>
                    <a:p>
                      <a:pPr algn="ctr"/>
                      <a:r>
                        <a:rPr lang="en-US" sz="2200" dirty="0">
                          <a:latin typeface="Calibri" pitchFamily="34" charset="0"/>
                        </a:rPr>
                        <a: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2242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a:t>
            </a:r>
            <a:endParaRPr lang="en-SG" dirty="0"/>
          </a:p>
        </p:txBody>
      </p:sp>
      <p:sp>
        <p:nvSpPr>
          <p:cNvPr id="3" name="Content Placeholder 2"/>
          <p:cNvSpPr>
            <a:spLocks noGrp="1"/>
          </p:cNvSpPr>
          <p:nvPr>
            <p:ph idx="1"/>
          </p:nvPr>
        </p:nvSpPr>
        <p:spPr>
          <a:xfrm>
            <a:off x="457200" y="2492897"/>
            <a:ext cx="8229600" cy="2160240"/>
          </a:xfrm>
        </p:spPr>
        <p:txBody>
          <a:bodyPr>
            <a:normAutofit/>
          </a:bodyPr>
          <a:lstStyle/>
          <a:p>
            <a:r>
              <a:rPr lang="en-US" dirty="0"/>
              <a:t>Question: A relationship connects an entity set to itself, does it have to be one-to-one?</a:t>
            </a:r>
          </a:p>
          <a:p>
            <a:r>
              <a:rPr lang="en-US" dirty="0"/>
              <a:t>Answer: No</a:t>
            </a:r>
            <a:endParaRPr lang="en-SG" dirty="0"/>
          </a:p>
        </p:txBody>
      </p:sp>
      <p:sp>
        <p:nvSpPr>
          <p:cNvPr id="4" name="Rectangle 5"/>
          <p:cNvSpPr>
            <a:spLocks noChangeArrowheads="1"/>
          </p:cNvSpPr>
          <p:nvPr/>
        </p:nvSpPr>
        <p:spPr bwMode="auto">
          <a:xfrm>
            <a:off x="2627784" y="1036340"/>
            <a:ext cx="1423127" cy="914400"/>
          </a:xfrm>
          <a:prstGeom prst="rect">
            <a:avLst/>
          </a:prstGeom>
          <a:solidFill>
            <a:srgbClr val="33CCFF"/>
          </a:solidFill>
          <a:ln w="25400">
            <a:solidFill>
              <a:schemeClr val="tx1"/>
            </a:solidFill>
            <a:miter lim="800000"/>
            <a:headEnd/>
            <a:tailEnd/>
          </a:ln>
          <a:effectLst/>
        </p:spPr>
        <p:txBody>
          <a:bodyPr wrap="none" anchor="ctr"/>
          <a:lstStyle/>
          <a:p>
            <a:pPr algn="ctr"/>
            <a:endParaRPr lang="en-US" sz="2800" dirty="0">
              <a:latin typeface="Calibri" pitchFamily="34" charset="0"/>
            </a:endParaRPr>
          </a:p>
        </p:txBody>
      </p:sp>
      <p:sp>
        <p:nvSpPr>
          <p:cNvPr id="5" name="AutoShape 10"/>
          <p:cNvSpPr>
            <a:spLocks noChangeArrowheads="1"/>
          </p:cNvSpPr>
          <p:nvPr/>
        </p:nvSpPr>
        <p:spPr bwMode="auto">
          <a:xfrm>
            <a:off x="5275047" y="998240"/>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endParaRPr lang="en-US" sz="2800" dirty="0">
              <a:latin typeface="Calibri" pitchFamily="34" charset="0"/>
            </a:endParaRPr>
          </a:p>
        </p:txBody>
      </p:sp>
      <p:cxnSp>
        <p:nvCxnSpPr>
          <p:cNvPr id="7" name="Curved Connector 6"/>
          <p:cNvCxnSpPr>
            <a:stCxn id="5" idx="0"/>
            <a:endCxn id="4" idx="0"/>
          </p:cNvCxnSpPr>
          <p:nvPr/>
        </p:nvCxnSpPr>
        <p:spPr bwMode="auto">
          <a:xfrm rot="16200000" flipH="1" flipV="1">
            <a:off x="4828208" y="-490620"/>
            <a:ext cx="38100" cy="3015819"/>
          </a:xfrm>
          <a:prstGeom prst="curvedConnector3">
            <a:avLst>
              <a:gd name="adj1" fmla="val -1868971"/>
            </a:avLst>
          </a:prstGeom>
          <a:solidFill>
            <a:schemeClr val="accent1"/>
          </a:solidFill>
          <a:ln w="31750" cap="flat" cmpd="sng" algn="ctr">
            <a:solidFill>
              <a:schemeClr val="tx1"/>
            </a:solidFill>
            <a:prstDash val="solid"/>
            <a:round/>
            <a:headEnd type="none" w="med" len="med"/>
            <a:tailEnd type="arrow" w="lg" len="lg"/>
          </a:ln>
          <a:effectLst/>
        </p:spPr>
      </p:cxnSp>
      <p:cxnSp>
        <p:nvCxnSpPr>
          <p:cNvPr id="10" name="Curved Connector 9"/>
          <p:cNvCxnSpPr>
            <a:stCxn id="5" idx="2"/>
            <a:endCxn id="4" idx="2"/>
          </p:cNvCxnSpPr>
          <p:nvPr/>
        </p:nvCxnSpPr>
        <p:spPr bwMode="auto">
          <a:xfrm rot="5400000" flipH="1">
            <a:off x="4828208" y="461881"/>
            <a:ext cx="38100" cy="3015819"/>
          </a:xfrm>
          <a:prstGeom prst="curvedConnector3">
            <a:avLst>
              <a:gd name="adj1" fmla="val -1400013"/>
            </a:avLst>
          </a:prstGeom>
          <a:solidFill>
            <a:schemeClr val="accent1"/>
          </a:solidFill>
          <a:ln w="31750" cap="flat" cmpd="sng" algn="ctr">
            <a:solidFill>
              <a:schemeClr val="tx1"/>
            </a:solidFill>
            <a:prstDash val="solid"/>
            <a:round/>
            <a:headEnd type="none" w="med" len="med"/>
            <a:tailEnd type="arrow" w="lg" len="lg"/>
          </a:ln>
          <a:effectLst/>
        </p:spPr>
      </p:cxnSp>
    </p:spTree>
    <p:extLst>
      <p:ext uri="{BB962C8B-B14F-4D97-AF65-F5344CB8AC3E}">
        <p14:creationId xmlns:p14="http://schemas.microsoft.com/office/powerpoint/2010/main" val="2074991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a:t>
            </a:r>
            <a:endParaRPr lang="en-SG" dirty="0"/>
          </a:p>
        </p:txBody>
      </p:sp>
      <p:sp>
        <p:nvSpPr>
          <p:cNvPr id="3" name="Content Placeholder 2"/>
          <p:cNvSpPr>
            <a:spLocks noGrp="1"/>
          </p:cNvSpPr>
          <p:nvPr>
            <p:ph idx="1"/>
          </p:nvPr>
        </p:nvSpPr>
        <p:spPr>
          <a:xfrm>
            <a:off x="457200" y="2492896"/>
            <a:ext cx="8229600" cy="3600400"/>
          </a:xfrm>
        </p:spPr>
        <p:txBody>
          <a:bodyPr>
            <a:normAutofit/>
          </a:bodyPr>
          <a:lstStyle/>
          <a:p>
            <a:r>
              <a:rPr lang="en-US" dirty="0"/>
              <a:t>Question: A relationship connects an entity set to itself, does it have to be one-to-one?</a:t>
            </a:r>
          </a:p>
          <a:p>
            <a:r>
              <a:rPr lang="en-US" dirty="0"/>
              <a:t>Answer: No</a:t>
            </a:r>
          </a:p>
          <a:p>
            <a:r>
              <a:rPr lang="en-US" dirty="0"/>
              <a:t>Example above:</a:t>
            </a:r>
          </a:p>
          <a:p>
            <a:pPr lvl="1"/>
            <a:r>
              <a:rPr lang="en-US" dirty="0"/>
              <a:t>One employee has only one supervisor, but may have many supervisees</a:t>
            </a:r>
          </a:p>
        </p:txBody>
      </p:sp>
      <p:sp>
        <p:nvSpPr>
          <p:cNvPr id="4" name="Rectangle 5"/>
          <p:cNvSpPr>
            <a:spLocks noChangeArrowheads="1"/>
          </p:cNvSpPr>
          <p:nvPr/>
        </p:nvSpPr>
        <p:spPr bwMode="auto">
          <a:xfrm>
            <a:off x="2627784" y="1036340"/>
            <a:ext cx="151216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dirty="0">
                <a:latin typeface="Calibri" pitchFamily="34" charset="0"/>
              </a:rPr>
              <a:t>Employee</a:t>
            </a:r>
          </a:p>
        </p:txBody>
      </p:sp>
      <p:sp>
        <p:nvSpPr>
          <p:cNvPr id="5" name="AutoShape 10"/>
          <p:cNvSpPr>
            <a:spLocks noChangeArrowheads="1"/>
          </p:cNvSpPr>
          <p:nvPr/>
        </p:nvSpPr>
        <p:spPr bwMode="auto">
          <a:xfrm>
            <a:off x="5275047" y="998240"/>
            <a:ext cx="216024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dirty="0">
                <a:latin typeface="Calibri" pitchFamily="34" charset="0"/>
              </a:rPr>
              <a:t>Supervise</a:t>
            </a:r>
          </a:p>
        </p:txBody>
      </p:sp>
      <p:cxnSp>
        <p:nvCxnSpPr>
          <p:cNvPr id="7" name="Curved Connector 6"/>
          <p:cNvCxnSpPr>
            <a:stCxn id="5" idx="0"/>
            <a:endCxn id="4" idx="0"/>
          </p:cNvCxnSpPr>
          <p:nvPr/>
        </p:nvCxnSpPr>
        <p:spPr bwMode="auto">
          <a:xfrm rot="16200000" flipH="1" flipV="1">
            <a:off x="4850468" y="-468360"/>
            <a:ext cx="38100" cy="2971299"/>
          </a:xfrm>
          <a:prstGeom prst="curvedConnector3">
            <a:avLst>
              <a:gd name="adj1" fmla="val -1813801"/>
            </a:avLst>
          </a:prstGeom>
          <a:solidFill>
            <a:schemeClr val="accent1"/>
          </a:solidFill>
          <a:ln w="31750" cap="flat" cmpd="sng" algn="ctr">
            <a:solidFill>
              <a:schemeClr val="tx1"/>
            </a:solidFill>
            <a:prstDash val="solid"/>
            <a:round/>
            <a:headEnd type="none" w="med" len="med"/>
            <a:tailEnd type="arrow" w="lg" len="lg"/>
          </a:ln>
          <a:effectLst/>
        </p:spPr>
      </p:cxnSp>
      <p:cxnSp>
        <p:nvCxnSpPr>
          <p:cNvPr id="10" name="Curved Connector 9"/>
          <p:cNvCxnSpPr>
            <a:stCxn id="5" idx="2"/>
            <a:endCxn id="4" idx="2"/>
          </p:cNvCxnSpPr>
          <p:nvPr/>
        </p:nvCxnSpPr>
        <p:spPr bwMode="auto">
          <a:xfrm rot="5400000" flipH="1">
            <a:off x="4850468" y="484141"/>
            <a:ext cx="38100" cy="2971299"/>
          </a:xfrm>
          <a:prstGeom prst="curvedConnector3">
            <a:avLst>
              <a:gd name="adj1" fmla="val -1648281"/>
            </a:avLst>
          </a:prstGeom>
          <a:solidFill>
            <a:schemeClr val="accent1"/>
          </a:solidFill>
          <a:ln w="31750" cap="flat" cmpd="sng" algn="ctr">
            <a:solidFill>
              <a:schemeClr val="tx1"/>
            </a:solidFill>
            <a:prstDash val="solid"/>
            <a:round/>
            <a:headEnd type="none" w="med" len="med"/>
            <a:tailEnd type="none" w="lg" len="lg"/>
          </a:ln>
          <a:effectLst/>
        </p:spPr>
      </p:cxnSp>
      <p:sp>
        <p:nvSpPr>
          <p:cNvPr id="14" name="Rectangle 13"/>
          <p:cNvSpPr/>
          <p:nvPr/>
        </p:nvSpPr>
        <p:spPr>
          <a:xfrm>
            <a:off x="4007182" y="332656"/>
            <a:ext cx="1733296" cy="523220"/>
          </a:xfrm>
          <a:prstGeom prst="rect">
            <a:avLst/>
          </a:prstGeom>
        </p:spPr>
        <p:txBody>
          <a:bodyPr wrap="none">
            <a:spAutoFit/>
          </a:bodyPr>
          <a:lstStyle/>
          <a:p>
            <a:pPr algn="ctr"/>
            <a:r>
              <a:rPr lang="en-US" sz="2800" dirty="0">
                <a:solidFill>
                  <a:srgbClr val="A50021"/>
                </a:solidFill>
                <a:latin typeface="Calibri" pitchFamily="34" charset="0"/>
              </a:rPr>
              <a:t>Supervisor</a:t>
            </a:r>
          </a:p>
        </p:txBody>
      </p:sp>
      <p:sp>
        <p:nvSpPr>
          <p:cNvPr id="15" name="Rectangle 14"/>
          <p:cNvSpPr/>
          <p:nvPr/>
        </p:nvSpPr>
        <p:spPr>
          <a:xfrm>
            <a:off x="3986344" y="1969676"/>
            <a:ext cx="1774973" cy="523220"/>
          </a:xfrm>
          <a:prstGeom prst="rect">
            <a:avLst/>
          </a:prstGeom>
        </p:spPr>
        <p:txBody>
          <a:bodyPr wrap="none">
            <a:spAutoFit/>
          </a:bodyPr>
          <a:lstStyle/>
          <a:p>
            <a:pPr algn="ctr"/>
            <a:r>
              <a:rPr lang="en-US" sz="2800" dirty="0">
                <a:solidFill>
                  <a:srgbClr val="A50021"/>
                </a:solidFill>
                <a:latin typeface="Calibri" pitchFamily="34" charset="0"/>
              </a:rPr>
              <a:t>Supervisee</a:t>
            </a:r>
          </a:p>
        </p:txBody>
      </p:sp>
    </p:spTree>
    <p:extLst>
      <p:ext uri="{BB962C8B-B14F-4D97-AF65-F5344CB8AC3E}">
        <p14:creationId xmlns:p14="http://schemas.microsoft.com/office/powerpoint/2010/main" val="36080077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686800" cy="1139825"/>
          </a:xfrm>
        </p:spPr>
        <p:txBody>
          <a:bodyPr>
            <a:normAutofit/>
          </a:bodyPr>
          <a:lstStyle/>
          <a:p>
            <a:r>
              <a:rPr lang="en-US" sz="3600" dirty="0"/>
              <a:t>One More Thing about Relationships</a:t>
            </a:r>
            <a:endParaRPr lang="en-SG" sz="3600" dirty="0"/>
          </a:p>
        </p:txBody>
      </p:sp>
      <p:sp>
        <p:nvSpPr>
          <p:cNvPr id="3" name="Content Placeholder 2"/>
          <p:cNvSpPr>
            <a:spLocks noGrp="1"/>
          </p:cNvSpPr>
          <p:nvPr>
            <p:ph idx="1"/>
          </p:nvPr>
        </p:nvSpPr>
        <p:spPr/>
        <p:txBody>
          <a:bodyPr/>
          <a:lstStyle/>
          <a:p>
            <a:r>
              <a:rPr lang="en-US" dirty="0"/>
              <a:t>A relationship can have its own attribute</a:t>
            </a:r>
          </a:p>
          <a:p>
            <a:endParaRPr lang="en-SG" dirty="0"/>
          </a:p>
        </p:txBody>
      </p:sp>
      <p:sp>
        <p:nvSpPr>
          <p:cNvPr id="9" name="Rectangle 5"/>
          <p:cNvSpPr>
            <a:spLocks noChangeArrowheads="1"/>
          </p:cNvSpPr>
          <p:nvPr/>
        </p:nvSpPr>
        <p:spPr bwMode="auto">
          <a:xfrm>
            <a:off x="4860032" y="3667100"/>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10" name="Oval 28"/>
          <p:cNvSpPr>
            <a:spLocks noChangeArrowheads="1"/>
          </p:cNvSpPr>
          <p:nvPr/>
        </p:nvSpPr>
        <p:spPr bwMode="auto">
          <a:xfrm>
            <a:off x="5940152" y="2875012"/>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11" name="Oval 29"/>
          <p:cNvSpPr>
            <a:spLocks noChangeArrowheads="1"/>
          </p:cNvSpPr>
          <p:nvPr/>
        </p:nvSpPr>
        <p:spPr bwMode="auto">
          <a:xfrm>
            <a:off x="4355976" y="28750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2" name="Line 44"/>
          <p:cNvSpPr>
            <a:spLocks noChangeShapeType="1"/>
          </p:cNvSpPr>
          <p:nvPr/>
        </p:nvSpPr>
        <p:spPr bwMode="auto">
          <a:xfrm>
            <a:off x="5008984" y="3446512"/>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14" name="Rectangle 3"/>
          <p:cNvSpPr>
            <a:spLocks noChangeArrowheads="1"/>
          </p:cNvSpPr>
          <p:nvPr/>
        </p:nvSpPr>
        <p:spPr bwMode="auto">
          <a:xfrm>
            <a:off x="683568" y="4501108"/>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5" name="Oval 25"/>
          <p:cNvSpPr>
            <a:spLocks noChangeArrowheads="1"/>
          </p:cNvSpPr>
          <p:nvPr/>
        </p:nvSpPr>
        <p:spPr bwMode="auto">
          <a:xfrm>
            <a:off x="467544" y="354860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6" name="Oval 26"/>
          <p:cNvSpPr>
            <a:spLocks noChangeArrowheads="1"/>
          </p:cNvSpPr>
          <p:nvPr/>
        </p:nvSpPr>
        <p:spPr bwMode="auto">
          <a:xfrm>
            <a:off x="421804" y="5611316"/>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17" name="Oval 27"/>
          <p:cNvSpPr>
            <a:spLocks noChangeArrowheads="1"/>
          </p:cNvSpPr>
          <p:nvPr/>
        </p:nvSpPr>
        <p:spPr bwMode="auto">
          <a:xfrm>
            <a:off x="1907704" y="354860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8" name="Line 39"/>
          <p:cNvSpPr>
            <a:spLocks noChangeShapeType="1"/>
          </p:cNvSpPr>
          <p:nvPr/>
        </p:nvSpPr>
        <p:spPr bwMode="auto">
          <a:xfrm>
            <a:off x="1264196" y="4099148"/>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9" name="Line 40"/>
          <p:cNvSpPr>
            <a:spLocks noChangeShapeType="1"/>
          </p:cNvSpPr>
          <p:nvPr/>
        </p:nvSpPr>
        <p:spPr bwMode="auto">
          <a:xfrm flipH="1">
            <a:off x="1999456" y="4120108"/>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0" name="Line 41"/>
          <p:cNvSpPr>
            <a:spLocks noChangeShapeType="1"/>
          </p:cNvSpPr>
          <p:nvPr/>
        </p:nvSpPr>
        <p:spPr bwMode="auto">
          <a:xfrm flipV="1">
            <a:off x="1237928" y="5415508"/>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1" name="AutoShape 10"/>
          <p:cNvSpPr>
            <a:spLocks noChangeArrowheads="1"/>
          </p:cNvSpPr>
          <p:nvPr/>
        </p:nvSpPr>
        <p:spPr bwMode="auto">
          <a:xfrm>
            <a:off x="2915816" y="3806552"/>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22" name="Line 16"/>
          <p:cNvSpPr>
            <a:spLocks noChangeShapeType="1"/>
          </p:cNvSpPr>
          <p:nvPr/>
        </p:nvSpPr>
        <p:spPr bwMode="auto">
          <a:xfrm flipH="1">
            <a:off x="2186608" y="4310608"/>
            <a:ext cx="729208" cy="647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6" name="Line 21"/>
          <p:cNvSpPr>
            <a:spLocks noChangeShapeType="1"/>
          </p:cNvSpPr>
          <p:nvPr/>
        </p:nvSpPr>
        <p:spPr bwMode="auto">
          <a:xfrm flipV="1">
            <a:off x="4355976" y="4238600"/>
            <a:ext cx="504056" cy="72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3" name="Line 45"/>
          <p:cNvSpPr>
            <a:spLocks noChangeShapeType="1"/>
          </p:cNvSpPr>
          <p:nvPr/>
        </p:nvSpPr>
        <p:spPr bwMode="auto">
          <a:xfrm flipH="1">
            <a:off x="5868144" y="3446512"/>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Tree>
    <p:extLst>
      <p:ext uri="{BB962C8B-B14F-4D97-AF65-F5344CB8AC3E}">
        <p14:creationId xmlns:p14="http://schemas.microsoft.com/office/powerpoint/2010/main" val="411555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6" grpId="0" animBg="1"/>
      <p:bldP spid="2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686800" cy="1139825"/>
          </a:xfrm>
        </p:spPr>
        <p:txBody>
          <a:bodyPr>
            <a:normAutofit/>
          </a:bodyPr>
          <a:lstStyle/>
          <a:p>
            <a:r>
              <a:rPr lang="en-US" sz="3600" dirty="0"/>
              <a:t>One More Thing about Relationships</a:t>
            </a:r>
            <a:endParaRPr lang="en-SG" sz="3600" dirty="0"/>
          </a:p>
        </p:txBody>
      </p:sp>
      <p:sp>
        <p:nvSpPr>
          <p:cNvPr id="3" name="Content Placeholder 2"/>
          <p:cNvSpPr>
            <a:spLocks noGrp="1"/>
          </p:cNvSpPr>
          <p:nvPr>
            <p:ph idx="1"/>
          </p:nvPr>
        </p:nvSpPr>
        <p:spPr/>
        <p:txBody>
          <a:bodyPr/>
          <a:lstStyle/>
          <a:p>
            <a:r>
              <a:rPr lang="en-US" dirty="0"/>
              <a:t>A relationship can have its own attribute</a:t>
            </a:r>
          </a:p>
          <a:p>
            <a:r>
              <a:rPr lang="en-US" dirty="0"/>
              <a:t>If we want to record the date of the purchase</a:t>
            </a:r>
            <a:endParaRPr lang="en-SG" dirty="0"/>
          </a:p>
        </p:txBody>
      </p:sp>
      <p:sp>
        <p:nvSpPr>
          <p:cNvPr id="9" name="Rectangle 5"/>
          <p:cNvSpPr>
            <a:spLocks noChangeArrowheads="1"/>
          </p:cNvSpPr>
          <p:nvPr/>
        </p:nvSpPr>
        <p:spPr bwMode="auto">
          <a:xfrm>
            <a:off x="4860032" y="3667100"/>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10" name="Oval 28"/>
          <p:cNvSpPr>
            <a:spLocks noChangeArrowheads="1"/>
          </p:cNvSpPr>
          <p:nvPr/>
        </p:nvSpPr>
        <p:spPr bwMode="auto">
          <a:xfrm>
            <a:off x="5940152" y="2875012"/>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11" name="Oval 29"/>
          <p:cNvSpPr>
            <a:spLocks noChangeArrowheads="1"/>
          </p:cNvSpPr>
          <p:nvPr/>
        </p:nvSpPr>
        <p:spPr bwMode="auto">
          <a:xfrm>
            <a:off x="4355976" y="28750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2" name="Line 44"/>
          <p:cNvSpPr>
            <a:spLocks noChangeShapeType="1"/>
          </p:cNvSpPr>
          <p:nvPr/>
        </p:nvSpPr>
        <p:spPr bwMode="auto">
          <a:xfrm>
            <a:off x="5008984" y="3446512"/>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13" name="Line 45"/>
          <p:cNvSpPr>
            <a:spLocks noChangeShapeType="1"/>
          </p:cNvSpPr>
          <p:nvPr/>
        </p:nvSpPr>
        <p:spPr bwMode="auto">
          <a:xfrm flipH="1">
            <a:off x="5868144" y="3446512"/>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14" name="Rectangle 3"/>
          <p:cNvSpPr>
            <a:spLocks noChangeArrowheads="1"/>
          </p:cNvSpPr>
          <p:nvPr/>
        </p:nvSpPr>
        <p:spPr bwMode="auto">
          <a:xfrm>
            <a:off x="683568" y="4501108"/>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5" name="Oval 25"/>
          <p:cNvSpPr>
            <a:spLocks noChangeArrowheads="1"/>
          </p:cNvSpPr>
          <p:nvPr/>
        </p:nvSpPr>
        <p:spPr bwMode="auto">
          <a:xfrm>
            <a:off x="467544" y="354860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6" name="Oval 26"/>
          <p:cNvSpPr>
            <a:spLocks noChangeArrowheads="1"/>
          </p:cNvSpPr>
          <p:nvPr/>
        </p:nvSpPr>
        <p:spPr bwMode="auto">
          <a:xfrm>
            <a:off x="421804" y="5611316"/>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17" name="Oval 27"/>
          <p:cNvSpPr>
            <a:spLocks noChangeArrowheads="1"/>
          </p:cNvSpPr>
          <p:nvPr/>
        </p:nvSpPr>
        <p:spPr bwMode="auto">
          <a:xfrm>
            <a:off x="1907704" y="354860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8" name="Line 39"/>
          <p:cNvSpPr>
            <a:spLocks noChangeShapeType="1"/>
          </p:cNvSpPr>
          <p:nvPr/>
        </p:nvSpPr>
        <p:spPr bwMode="auto">
          <a:xfrm>
            <a:off x="1264196" y="4099148"/>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9" name="Line 40"/>
          <p:cNvSpPr>
            <a:spLocks noChangeShapeType="1"/>
          </p:cNvSpPr>
          <p:nvPr/>
        </p:nvSpPr>
        <p:spPr bwMode="auto">
          <a:xfrm flipH="1">
            <a:off x="1999456" y="4120108"/>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0" name="Line 41"/>
          <p:cNvSpPr>
            <a:spLocks noChangeShapeType="1"/>
          </p:cNvSpPr>
          <p:nvPr/>
        </p:nvSpPr>
        <p:spPr bwMode="auto">
          <a:xfrm flipV="1">
            <a:off x="1237928" y="5415508"/>
            <a:ext cx="228128" cy="1958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1" name="AutoShape 10"/>
          <p:cNvSpPr>
            <a:spLocks noChangeArrowheads="1"/>
          </p:cNvSpPr>
          <p:nvPr/>
        </p:nvSpPr>
        <p:spPr bwMode="auto">
          <a:xfrm>
            <a:off x="2915816" y="3806552"/>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22" name="Line 16"/>
          <p:cNvSpPr>
            <a:spLocks noChangeShapeType="1"/>
          </p:cNvSpPr>
          <p:nvPr/>
        </p:nvSpPr>
        <p:spPr bwMode="auto">
          <a:xfrm flipH="1">
            <a:off x="2186608" y="4310608"/>
            <a:ext cx="729208" cy="647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6" name="Line 21"/>
          <p:cNvSpPr>
            <a:spLocks noChangeShapeType="1"/>
          </p:cNvSpPr>
          <p:nvPr/>
        </p:nvSpPr>
        <p:spPr bwMode="auto">
          <a:xfrm flipV="1">
            <a:off x="4355976" y="4238600"/>
            <a:ext cx="504056" cy="720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30" name="Oval 28"/>
          <p:cNvSpPr>
            <a:spLocks noChangeArrowheads="1"/>
          </p:cNvSpPr>
          <p:nvPr/>
        </p:nvSpPr>
        <p:spPr bwMode="auto">
          <a:xfrm>
            <a:off x="3419872" y="5227662"/>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date</a:t>
            </a:r>
          </a:p>
        </p:txBody>
      </p:sp>
      <p:sp>
        <p:nvSpPr>
          <p:cNvPr id="31" name="Line 45"/>
          <p:cNvSpPr>
            <a:spLocks noChangeShapeType="1"/>
          </p:cNvSpPr>
          <p:nvPr/>
        </p:nvSpPr>
        <p:spPr bwMode="auto">
          <a:xfrm flipH="1" flipV="1">
            <a:off x="3641136" y="4797152"/>
            <a:ext cx="459854" cy="43051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Tree>
    <p:extLst>
      <p:ext uri="{BB962C8B-B14F-4D97-AF65-F5344CB8AC3E}">
        <p14:creationId xmlns:p14="http://schemas.microsoft.com/office/powerpoint/2010/main" val="281199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One More Thing about Entity Sets</a:t>
            </a:r>
            <a:endParaRPr lang="en-SG" sz="3600" dirty="0"/>
          </a:p>
        </p:txBody>
      </p:sp>
      <p:sp>
        <p:nvSpPr>
          <p:cNvPr id="3" name="Content Placeholder 2"/>
          <p:cNvSpPr>
            <a:spLocks noGrp="1"/>
          </p:cNvSpPr>
          <p:nvPr>
            <p:ph idx="1"/>
          </p:nvPr>
        </p:nvSpPr>
        <p:spPr>
          <a:xfrm>
            <a:off x="457200" y="3212976"/>
            <a:ext cx="8229600" cy="2917949"/>
          </a:xfrm>
        </p:spPr>
        <p:txBody>
          <a:bodyPr/>
          <a:lstStyle/>
          <a:p>
            <a:r>
              <a:rPr lang="en-US" dirty="0"/>
              <a:t>Each entity set should have a </a:t>
            </a:r>
            <a:r>
              <a:rPr lang="en-US" dirty="0">
                <a:solidFill>
                  <a:srgbClr val="C00000"/>
                </a:solidFill>
              </a:rPr>
              <a:t>key</a:t>
            </a:r>
          </a:p>
          <a:p>
            <a:r>
              <a:rPr lang="en-US" dirty="0"/>
              <a:t>A key consists of one or more attributes, and they are underlined</a:t>
            </a:r>
          </a:p>
          <a:p>
            <a:r>
              <a:rPr lang="en-US" dirty="0"/>
              <a:t>Example: Each person must have a unique name</a:t>
            </a:r>
            <a:endParaRPr lang="en-SG" dirty="0"/>
          </a:p>
        </p:txBody>
      </p:sp>
      <p:sp>
        <p:nvSpPr>
          <p:cNvPr id="4" name="Rectangle 5"/>
          <p:cNvSpPr>
            <a:spLocks noChangeArrowheads="1"/>
          </p:cNvSpPr>
          <p:nvPr/>
        </p:nvSpPr>
        <p:spPr bwMode="auto">
          <a:xfrm>
            <a:off x="3493346" y="1938536"/>
            <a:ext cx="159465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5" name="Oval 28"/>
          <p:cNvSpPr>
            <a:spLocks noChangeArrowheads="1"/>
          </p:cNvSpPr>
          <p:nvPr/>
        </p:nvSpPr>
        <p:spPr bwMode="auto">
          <a:xfrm>
            <a:off x="4573466" y="1146448"/>
            <a:ext cx="1362236"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6" name="Oval 29"/>
          <p:cNvSpPr>
            <a:spLocks noChangeArrowheads="1"/>
          </p:cNvSpPr>
          <p:nvPr/>
        </p:nvSpPr>
        <p:spPr bwMode="auto">
          <a:xfrm>
            <a:off x="2989290" y="114644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7" name="Line 44"/>
          <p:cNvSpPr>
            <a:spLocks noChangeShapeType="1"/>
          </p:cNvSpPr>
          <p:nvPr/>
        </p:nvSpPr>
        <p:spPr bwMode="auto">
          <a:xfrm>
            <a:off x="3642298" y="1717948"/>
            <a:ext cx="499492"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8" name="Line 45"/>
          <p:cNvSpPr>
            <a:spLocks noChangeShapeType="1"/>
          </p:cNvSpPr>
          <p:nvPr/>
        </p:nvSpPr>
        <p:spPr bwMode="auto">
          <a:xfrm flipH="1">
            <a:off x="4501458" y="1717948"/>
            <a:ext cx="586544"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Tree>
    <p:extLst>
      <p:ext uri="{BB962C8B-B14F-4D97-AF65-F5344CB8AC3E}">
        <p14:creationId xmlns:p14="http://schemas.microsoft.com/office/powerpoint/2010/main" val="83357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212976"/>
            <a:ext cx="8229600" cy="2917949"/>
          </a:xfrm>
        </p:spPr>
        <p:txBody>
          <a:bodyPr>
            <a:normAutofit lnSpcReduction="10000"/>
          </a:bodyPr>
          <a:lstStyle/>
          <a:p>
            <a:r>
              <a:rPr lang="en-US" dirty="0"/>
              <a:t>Each entity set should have a </a:t>
            </a:r>
            <a:r>
              <a:rPr lang="en-US" dirty="0">
                <a:solidFill>
                  <a:srgbClr val="C00000"/>
                </a:solidFill>
              </a:rPr>
              <a:t>key</a:t>
            </a:r>
          </a:p>
          <a:p>
            <a:r>
              <a:rPr lang="en-US" dirty="0"/>
              <a:t>A key consists of one or more attributes, and they are underlined</a:t>
            </a:r>
          </a:p>
          <a:p>
            <a:r>
              <a:rPr lang="en-US" dirty="0"/>
              <a:t>Example: Each product has a unique name</a:t>
            </a:r>
          </a:p>
          <a:p>
            <a:r>
              <a:rPr lang="en-SG" dirty="0"/>
              <a:t>Rationale: We need a key for each entity set, </a:t>
            </a:r>
            <a:r>
              <a:rPr lang="en-US" dirty="0"/>
              <a:t>so that we can uniquely identify an entity in </a:t>
            </a:r>
            <a:r>
              <a:rPr lang="en-US"/>
              <a:t>the set</a:t>
            </a:r>
            <a:endParaRPr lang="en-US" dirty="0"/>
          </a:p>
          <a:p>
            <a:endParaRPr lang="en-SG" dirty="0"/>
          </a:p>
        </p:txBody>
      </p:sp>
      <p:sp>
        <p:nvSpPr>
          <p:cNvPr id="9" name="Rectangle 3"/>
          <p:cNvSpPr>
            <a:spLocks noChangeArrowheads="1"/>
          </p:cNvSpPr>
          <p:nvPr/>
        </p:nvSpPr>
        <p:spPr bwMode="auto">
          <a:xfrm>
            <a:off x="3635896" y="1268760"/>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0" name="Oval 25"/>
          <p:cNvSpPr>
            <a:spLocks noChangeArrowheads="1"/>
          </p:cNvSpPr>
          <p:nvPr/>
        </p:nvSpPr>
        <p:spPr bwMode="auto">
          <a:xfrm>
            <a:off x="3419872" y="31626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1" name="Oval 26"/>
          <p:cNvSpPr>
            <a:spLocks noChangeArrowheads="1"/>
          </p:cNvSpPr>
          <p:nvPr/>
        </p:nvSpPr>
        <p:spPr bwMode="auto">
          <a:xfrm>
            <a:off x="1475656" y="1440210"/>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category</a:t>
            </a:r>
          </a:p>
        </p:txBody>
      </p:sp>
      <p:sp>
        <p:nvSpPr>
          <p:cNvPr id="12" name="Oval 27"/>
          <p:cNvSpPr>
            <a:spLocks noChangeArrowheads="1"/>
          </p:cNvSpPr>
          <p:nvPr/>
        </p:nvSpPr>
        <p:spPr bwMode="auto">
          <a:xfrm>
            <a:off x="4860032" y="31626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3" name="Line 39"/>
          <p:cNvSpPr>
            <a:spLocks noChangeShapeType="1"/>
          </p:cNvSpPr>
          <p:nvPr/>
        </p:nvSpPr>
        <p:spPr bwMode="auto">
          <a:xfrm>
            <a:off x="4216524" y="866800"/>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Line 40"/>
          <p:cNvSpPr>
            <a:spLocks noChangeShapeType="1"/>
          </p:cNvSpPr>
          <p:nvPr/>
        </p:nvSpPr>
        <p:spPr bwMode="auto">
          <a:xfrm flipH="1">
            <a:off x="4951784" y="887760"/>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5" name="Line 41"/>
          <p:cNvSpPr>
            <a:spLocks noChangeShapeType="1"/>
          </p:cNvSpPr>
          <p:nvPr/>
        </p:nvSpPr>
        <p:spPr bwMode="auto">
          <a:xfrm>
            <a:off x="2961556" y="1725960"/>
            <a:ext cx="6743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163731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92896"/>
            <a:ext cx="8229600" cy="3638029"/>
          </a:xfrm>
        </p:spPr>
        <p:txBody>
          <a:bodyPr>
            <a:normAutofit fontScale="92500" lnSpcReduction="10000"/>
          </a:bodyPr>
          <a:lstStyle/>
          <a:p>
            <a:r>
              <a:rPr lang="en-US" altLang="zh-CN" dirty="0"/>
              <a:t>What now?</a:t>
            </a:r>
          </a:p>
          <a:p>
            <a:r>
              <a:rPr lang="en-US" dirty="0"/>
              <a:t>Each product has a unique   &lt;name, category&gt; combination</a:t>
            </a:r>
          </a:p>
          <a:p>
            <a:r>
              <a:rPr lang="en-US" dirty="0"/>
              <a:t>There can be products with the same name, or the same category, but not both</a:t>
            </a:r>
          </a:p>
          <a:p>
            <a:r>
              <a:rPr lang="en-US" dirty="0"/>
              <a:t>Example</a:t>
            </a:r>
          </a:p>
          <a:p>
            <a:pPr lvl="1"/>
            <a:r>
              <a:rPr lang="en-US" dirty="0"/>
              <a:t>Name = “Apple”, Category = “Fruit”, Price = “1”</a:t>
            </a:r>
          </a:p>
          <a:p>
            <a:pPr lvl="1"/>
            <a:r>
              <a:rPr lang="en-US" dirty="0"/>
              <a:t>Name = “Apple”, Category = “Phone”, Price = “888”</a:t>
            </a:r>
            <a:endParaRPr lang="en-SG" dirty="0"/>
          </a:p>
        </p:txBody>
      </p:sp>
      <p:sp>
        <p:nvSpPr>
          <p:cNvPr id="9" name="Rectangle 3"/>
          <p:cNvSpPr>
            <a:spLocks noChangeArrowheads="1"/>
          </p:cNvSpPr>
          <p:nvPr/>
        </p:nvSpPr>
        <p:spPr bwMode="auto">
          <a:xfrm>
            <a:off x="3635896" y="1268760"/>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0" name="Oval 25"/>
          <p:cNvSpPr>
            <a:spLocks noChangeArrowheads="1"/>
          </p:cNvSpPr>
          <p:nvPr/>
        </p:nvSpPr>
        <p:spPr bwMode="auto">
          <a:xfrm>
            <a:off x="3419872" y="31626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2" name="Oval 27"/>
          <p:cNvSpPr>
            <a:spLocks noChangeArrowheads="1"/>
          </p:cNvSpPr>
          <p:nvPr/>
        </p:nvSpPr>
        <p:spPr bwMode="auto">
          <a:xfrm>
            <a:off x="4860032" y="31626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3" name="Line 39"/>
          <p:cNvSpPr>
            <a:spLocks noChangeShapeType="1"/>
          </p:cNvSpPr>
          <p:nvPr/>
        </p:nvSpPr>
        <p:spPr bwMode="auto">
          <a:xfrm>
            <a:off x="4216524" y="866800"/>
            <a:ext cx="430460" cy="4019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Line 40"/>
          <p:cNvSpPr>
            <a:spLocks noChangeShapeType="1"/>
          </p:cNvSpPr>
          <p:nvPr/>
        </p:nvSpPr>
        <p:spPr bwMode="auto">
          <a:xfrm flipH="1">
            <a:off x="4951784" y="887760"/>
            <a:ext cx="479748" cy="381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Oval 26"/>
          <p:cNvSpPr>
            <a:spLocks noChangeArrowheads="1"/>
          </p:cNvSpPr>
          <p:nvPr/>
        </p:nvSpPr>
        <p:spPr bwMode="auto">
          <a:xfrm>
            <a:off x="1475656" y="1440210"/>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category</a:t>
            </a:r>
          </a:p>
        </p:txBody>
      </p:sp>
      <p:sp>
        <p:nvSpPr>
          <p:cNvPr id="17" name="Line 41"/>
          <p:cNvSpPr>
            <a:spLocks noChangeShapeType="1"/>
          </p:cNvSpPr>
          <p:nvPr/>
        </p:nvSpPr>
        <p:spPr bwMode="auto">
          <a:xfrm>
            <a:off x="2961556" y="1725960"/>
            <a:ext cx="6743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98757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a:t>
            </a:r>
            <a:endParaRPr lang="en-SG" dirty="0"/>
          </a:p>
        </p:txBody>
      </p:sp>
      <p:sp>
        <p:nvSpPr>
          <p:cNvPr id="3" name="Content Placeholder 2"/>
          <p:cNvSpPr>
            <a:spLocks noGrp="1"/>
          </p:cNvSpPr>
          <p:nvPr>
            <p:ph idx="1"/>
          </p:nvPr>
        </p:nvSpPr>
        <p:spPr/>
        <p:txBody>
          <a:bodyPr/>
          <a:lstStyle/>
          <a:p>
            <a:r>
              <a:rPr lang="en-US" dirty="0"/>
              <a:t>We have discussed several elements of ER diagrams</a:t>
            </a:r>
          </a:p>
          <a:p>
            <a:pPr lvl="1"/>
            <a:r>
              <a:rPr lang="en-US" dirty="0"/>
              <a:t>Entities</a:t>
            </a:r>
          </a:p>
          <a:p>
            <a:pPr lvl="1"/>
            <a:r>
              <a:rPr lang="en-US" dirty="0"/>
              <a:t>Relationships</a:t>
            </a:r>
          </a:p>
          <a:p>
            <a:pPr lvl="1"/>
            <a:r>
              <a:rPr lang="en-US" dirty="0"/>
              <a:t>Attributes</a:t>
            </a:r>
          </a:p>
          <a:p>
            <a:r>
              <a:rPr lang="en-US" dirty="0"/>
              <a:t>Coming next</a:t>
            </a:r>
          </a:p>
          <a:p>
            <a:pPr lvl="1"/>
            <a:r>
              <a:rPr lang="en-US" dirty="0"/>
              <a:t>Weak Entity Sets</a:t>
            </a:r>
          </a:p>
          <a:p>
            <a:pPr lvl="1"/>
            <a:r>
              <a:rPr lang="en-US" dirty="0"/>
              <a:t>Subclasses</a:t>
            </a:r>
          </a:p>
        </p:txBody>
      </p:sp>
    </p:spTree>
    <p:extLst>
      <p:ext uri="{BB962C8B-B14F-4D97-AF65-F5344CB8AC3E}">
        <p14:creationId xmlns:p14="http://schemas.microsoft.com/office/powerpoint/2010/main" val="3725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Weak Entity Sets</a:t>
            </a:r>
            <a:endParaRPr lang="en-SG" dirty="0"/>
          </a:p>
        </p:txBody>
      </p:sp>
      <p:sp>
        <p:nvSpPr>
          <p:cNvPr id="3" name="Content Placeholder 2"/>
          <p:cNvSpPr>
            <a:spLocks noGrp="1"/>
          </p:cNvSpPr>
          <p:nvPr>
            <p:ph idx="1"/>
          </p:nvPr>
        </p:nvSpPr>
        <p:spPr/>
        <p:txBody>
          <a:bodyPr/>
          <a:lstStyle/>
          <a:p>
            <a:r>
              <a:rPr lang="en-US" dirty="0"/>
              <a:t>Weak entity sets are a special type of entity sets that</a:t>
            </a:r>
          </a:p>
          <a:p>
            <a:pPr lvl="1"/>
            <a:r>
              <a:rPr lang="en-US" dirty="0"/>
              <a:t>cannot be uniquely identified by their own attributes</a:t>
            </a:r>
          </a:p>
          <a:p>
            <a:pPr lvl="1"/>
            <a:r>
              <a:rPr lang="en-US" dirty="0"/>
              <a:t>needs attributes from other entities to identify themselves</a:t>
            </a:r>
          </a:p>
          <a:p>
            <a:r>
              <a:rPr lang="en-US" dirty="0"/>
              <a:t>Example: Cities in USA</a:t>
            </a:r>
          </a:p>
          <a:p>
            <a:r>
              <a:rPr lang="en-US" dirty="0"/>
              <a:t>Problem: there are cities </a:t>
            </a:r>
            <a:br>
              <a:rPr lang="en-US" dirty="0"/>
            </a:br>
            <a:r>
              <a:rPr lang="en-US" dirty="0"/>
              <a:t>with identical names</a:t>
            </a:r>
            <a:endParaRPr lang="en-SG" dirty="0"/>
          </a:p>
        </p:txBody>
      </p:sp>
      <p:sp>
        <p:nvSpPr>
          <p:cNvPr id="5" name="Rectangle 3"/>
          <p:cNvSpPr>
            <a:spLocks noChangeArrowheads="1"/>
          </p:cNvSpPr>
          <p:nvPr/>
        </p:nvSpPr>
        <p:spPr bwMode="auto">
          <a:xfrm>
            <a:off x="5364088" y="4149080"/>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anose="020F0502020204030204" pitchFamily="34" charset="0"/>
              </a:rPr>
              <a:t>Cities</a:t>
            </a:r>
          </a:p>
        </p:txBody>
      </p:sp>
      <p:sp>
        <p:nvSpPr>
          <p:cNvPr id="6" name="Oval 25"/>
          <p:cNvSpPr>
            <a:spLocks noChangeArrowheads="1"/>
          </p:cNvSpPr>
          <p:nvPr/>
        </p:nvSpPr>
        <p:spPr bwMode="auto">
          <a:xfrm>
            <a:off x="7236296" y="379360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anose="020F0502020204030204" pitchFamily="34" charset="0"/>
              </a:rPr>
              <a:t>name</a:t>
            </a:r>
          </a:p>
        </p:txBody>
      </p:sp>
      <p:cxnSp>
        <p:nvCxnSpPr>
          <p:cNvPr id="9" name="Straight Connector 8"/>
          <p:cNvCxnSpPr>
            <a:stCxn id="6" idx="2"/>
            <a:endCxn id="5" idx="3"/>
          </p:cNvCxnSpPr>
          <p:nvPr/>
        </p:nvCxnSpPr>
        <p:spPr bwMode="auto">
          <a:xfrm flipH="1">
            <a:off x="6507088" y="4079354"/>
            <a:ext cx="729208" cy="526926"/>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1" name="Oval 25"/>
          <p:cNvSpPr>
            <a:spLocks noChangeArrowheads="1"/>
          </p:cNvSpPr>
          <p:nvPr/>
        </p:nvSpPr>
        <p:spPr bwMode="auto">
          <a:xfrm>
            <a:off x="7020272" y="4585692"/>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anose="020F0502020204030204" pitchFamily="34" charset="0"/>
              </a:rPr>
              <a:t>population</a:t>
            </a:r>
          </a:p>
        </p:txBody>
      </p:sp>
      <p:cxnSp>
        <p:nvCxnSpPr>
          <p:cNvPr id="12" name="Straight Connector 11"/>
          <p:cNvCxnSpPr>
            <a:stCxn id="11" idx="2"/>
          </p:cNvCxnSpPr>
          <p:nvPr/>
        </p:nvCxnSpPr>
        <p:spPr bwMode="auto">
          <a:xfrm flipH="1" flipV="1">
            <a:off x="6507088" y="4585692"/>
            <a:ext cx="513184" cy="28575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33729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16632"/>
            <a:ext cx="5040560" cy="626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3563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Weak Entity Set (cont.)</a:t>
            </a:r>
            <a:endParaRPr lang="en-SG" dirty="0"/>
          </a:p>
        </p:txBody>
      </p:sp>
      <p:sp>
        <p:nvSpPr>
          <p:cNvPr id="3" name="Content Placeholder 2"/>
          <p:cNvSpPr>
            <a:spLocks noGrp="1"/>
          </p:cNvSpPr>
          <p:nvPr>
            <p:ph idx="1"/>
          </p:nvPr>
        </p:nvSpPr>
        <p:spPr>
          <a:xfrm>
            <a:off x="457200" y="2708920"/>
            <a:ext cx="8229600" cy="3422005"/>
          </a:xfrm>
        </p:spPr>
        <p:txBody>
          <a:bodyPr>
            <a:normAutofit fontScale="77500" lnSpcReduction="20000"/>
          </a:bodyPr>
          <a:lstStyle/>
          <a:p>
            <a:r>
              <a:rPr lang="en-US" dirty="0"/>
              <a:t>Problem: there are cities with identical names</a:t>
            </a:r>
          </a:p>
          <a:p>
            <a:r>
              <a:rPr lang="en-US" dirty="0"/>
              <a:t>Observation: cities in the same state would have different names</a:t>
            </a:r>
          </a:p>
          <a:p>
            <a:r>
              <a:rPr lang="en-US" dirty="0"/>
              <a:t>Solution: make Cities a </a:t>
            </a:r>
            <a:r>
              <a:rPr lang="en-US" dirty="0">
                <a:solidFill>
                  <a:srgbClr val="C00000"/>
                </a:solidFill>
              </a:rPr>
              <a:t>weak entity set</a:t>
            </a:r>
            <a:r>
              <a:rPr lang="en-US" dirty="0"/>
              <a:t> associated with the entity set States</a:t>
            </a:r>
          </a:p>
          <a:p>
            <a:r>
              <a:rPr lang="en-US" dirty="0"/>
              <a:t>The relationship In is called the </a:t>
            </a:r>
            <a:r>
              <a:rPr lang="en-US" dirty="0">
                <a:solidFill>
                  <a:srgbClr val="C00000"/>
                </a:solidFill>
              </a:rPr>
              <a:t>supporting relationship</a:t>
            </a:r>
            <a:r>
              <a:rPr lang="en-US" dirty="0"/>
              <a:t> of Cities</a:t>
            </a:r>
          </a:p>
          <a:p>
            <a:r>
              <a:rPr lang="en-US" dirty="0"/>
              <a:t>Weak entity set = Double-lined rectangle</a:t>
            </a:r>
          </a:p>
          <a:p>
            <a:r>
              <a:rPr lang="en-US" dirty="0"/>
              <a:t>Supporting relationship = Double-lined diamond</a:t>
            </a:r>
          </a:p>
          <a:p>
            <a:r>
              <a:rPr lang="en-US" dirty="0"/>
              <a:t>The key of Cities = (State.name, Cities.name)</a:t>
            </a:r>
            <a:endParaRPr lang="en-SG" dirty="0"/>
          </a:p>
        </p:txBody>
      </p:sp>
      <p:sp>
        <p:nvSpPr>
          <p:cNvPr id="4" name="Rectangle 3"/>
          <p:cNvSpPr>
            <a:spLocks noChangeArrowheads="1"/>
          </p:cNvSpPr>
          <p:nvPr/>
        </p:nvSpPr>
        <p:spPr bwMode="auto">
          <a:xfrm>
            <a:off x="2267744" y="1484784"/>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Cities</a:t>
            </a:r>
          </a:p>
        </p:txBody>
      </p:sp>
      <p:sp>
        <p:nvSpPr>
          <p:cNvPr id="5" name="Oval 25"/>
          <p:cNvSpPr>
            <a:spLocks noChangeArrowheads="1"/>
          </p:cNvSpPr>
          <p:nvPr/>
        </p:nvSpPr>
        <p:spPr bwMode="auto">
          <a:xfrm>
            <a:off x="738049" y="1090435"/>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itchFamily="34" charset="0"/>
              </a:rPr>
              <a:t>name</a:t>
            </a:r>
          </a:p>
        </p:txBody>
      </p:sp>
      <p:cxnSp>
        <p:nvCxnSpPr>
          <p:cNvPr id="6" name="Straight Connector 5"/>
          <p:cNvCxnSpPr>
            <a:stCxn id="5" idx="6"/>
            <a:endCxn id="4" idx="1"/>
          </p:cNvCxnSpPr>
          <p:nvPr/>
        </p:nvCxnSpPr>
        <p:spPr bwMode="auto">
          <a:xfrm>
            <a:off x="1881049" y="1376185"/>
            <a:ext cx="386695" cy="56579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7" name="Oval 25"/>
          <p:cNvSpPr>
            <a:spLocks noChangeArrowheads="1"/>
          </p:cNvSpPr>
          <p:nvPr/>
        </p:nvSpPr>
        <p:spPr bwMode="auto">
          <a:xfrm>
            <a:off x="497177" y="2064271"/>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population</a:t>
            </a:r>
          </a:p>
        </p:txBody>
      </p:sp>
      <p:cxnSp>
        <p:nvCxnSpPr>
          <p:cNvPr id="8" name="Straight Connector 7"/>
          <p:cNvCxnSpPr>
            <a:stCxn id="7" idx="6"/>
            <a:endCxn id="4" idx="1"/>
          </p:cNvCxnSpPr>
          <p:nvPr/>
        </p:nvCxnSpPr>
        <p:spPr bwMode="auto">
          <a:xfrm flipV="1">
            <a:off x="2121921" y="1941984"/>
            <a:ext cx="145823" cy="408037"/>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4" name="Rectangle 13"/>
          <p:cNvSpPr>
            <a:spLocks noChangeArrowheads="1"/>
          </p:cNvSpPr>
          <p:nvPr/>
        </p:nvSpPr>
        <p:spPr bwMode="auto">
          <a:xfrm>
            <a:off x="2347449" y="1555493"/>
            <a:ext cx="977265" cy="781812"/>
          </a:xfrm>
          <a:prstGeom prst="rect">
            <a:avLst/>
          </a:prstGeom>
          <a:noFill/>
          <a:ln w="25400">
            <a:solidFill>
              <a:schemeClr val="tx1"/>
            </a:solidFill>
            <a:miter lim="800000"/>
            <a:headEnd/>
            <a:tailEnd/>
          </a:ln>
          <a:effectLst/>
        </p:spPr>
        <p:txBody>
          <a:bodyPr wrap="none" anchor="ctr"/>
          <a:lstStyle/>
          <a:p>
            <a:pPr algn="ctr"/>
            <a:endParaRPr lang="en-US" sz="2400" dirty="0">
              <a:latin typeface="Calibri" pitchFamily="34" charset="0"/>
            </a:endParaRPr>
          </a:p>
        </p:txBody>
      </p:sp>
      <p:sp>
        <p:nvSpPr>
          <p:cNvPr id="16" name="Rectangle 3"/>
          <p:cNvSpPr>
            <a:spLocks noChangeArrowheads="1"/>
          </p:cNvSpPr>
          <p:nvPr/>
        </p:nvSpPr>
        <p:spPr bwMode="auto">
          <a:xfrm>
            <a:off x="6021288" y="1533642"/>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States</a:t>
            </a:r>
          </a:p>
        </p:txBody>
      </p:sp>
      <p:sp>
        <p:nvSpPr>
          <p:cNvPr id="17" name="Oval 25"/>
          <p:cNvSpPr>
            <a:spLocks noChangeArrowheads="1"/>
          </p:cNvSpPr>
          <p:nvPr/>
        </p:nvSpPr>
        <p:spPr bwMode="auto">
          <a:xfrm>
            <a:off x="7452320" y="117816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itchFamily="34" charset="0"/>
              </a:rPr>
              <a:t>name</a:t>
            </a:r>
          </a:p>
        </p:txBody>
      </p:sp>
      <p:cxnSp>
        <p:nvCxnSpPr>
          <p:cNvPr id="18" name="Straight Connector 17"/>
          <p:cNvCxnSpPr>
            <a:stCxn id="17" idx="2"/>
            <a:endCxn id="16" idx="3"/>
          </p:cNvCxnSpPr>
          <p:nvPr/>
        </p:nvCxnSpPr>
        <p:spPr bwMode="auto">
          <a:xfrm flipH="1">
            <a:off x="7164288" y="1463916"/>
            <a:ext cx="288032" cy="526926"/>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9" name="Oval 25"/>
          <p:cNvSpPr>
            <a:spLocks noChangeArrowheads="1"/>
          </p:cNvSpPr>
          <p:nvPr/>
        </p:nvSpPr>
        <p:spPr bwMode="auto">
          <a:xfrm>
            <a:off x="7452320" y="1970254"/>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GDP</a:t>
            </a:r>
          </a:p>
        </p:txBody>
      </p:sp>
      <p:cxnSp>
        <p:nvCxnSpPr>
          <p:cNvPr id="20" name="Straight Connector 19"/>
          <p:cNvCxnSpPr>
            <a:stCxn id="19" idx="2"/>
            <a:endCxn id="16" idx="3"/>
          </p:cNvCxnSpPr>
          <p:nvPr/>
        </p:nvCxnSpPr>
        <p:spPr bwMode="auto">
          <a:xfrm flipH="1" flipV="1">
            <a:off x="7164288" y="1990842"/>
            <a:ext cx="288032" cy="265162"/>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4" name="AutoShape 10"/>
          <p:cNvSpPr>
            <a:spLocks noChangeArrowheads="1"/>
          </p:cNvSpPr>
          <p:nvPr/>
        </p:nvSpPr>
        <p:spPr bwMode="auto">
          <a:xfrm>
            <a:off x="3923928" y="1552228"/>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400" dirty="0">
                <a:latin typeface="Calibri" pitchFamily="34" charset="0"/>
              </a:rPr>
              <a:t>In</a:t>
            </a:r>
          </a:p>
        </p:txBody>
      </p:sp>
      <p:sp>
        <p:nvSpPr>
          <p:cNvPr id="25" name="AutoShape 10"/>
          <p:cNvSpPr>
            <a:spLocks noChangeArrowheads="1"/>
          </p:cNvSpPr>
          <p:nvPr/>
        </p:nvSpPr>
        <p:spPr bwMode="auto">
          <a:xfrm>
            <a:off x="4076329" y="1628800"/>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alibri" pitchFamily="34" charset="0"/>
            </a:endParaRPr>
          </a:p>
        </p:txBody>
      </p:sp>
      <p:cxnSp>
        <p:nvCxnSpPr>
          <p:cNvPr id="26" name="Straight Connector 25"/>
          <p:cNvCxnSpPr/>
          <p:nvPr/>
        </p:nvCxnSpPr>
        <p:spPr bwMode="auto">
          <a:xfrm>
            <a:off x="3410744" y="1916832"/>
            <a:ext cx="573841" cy="0"/>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7" name="Straight Connector 26"/>
          <p:cNvCxnSpPr/>
          <p:nvPr/>
        </p:nvCxnSpPr>
        <p:spPr bwMode="auto">
          <a:xfrm>
            <a:off x="3410744" y="2060848"/>
            <a:ext cx="573841" cy="0"/>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33" name="Straight Connector 32"/>
          <p:cNvCxnSpPr>
            <a:stCxn id="24" idx="3"/>
            <a:endCxn id="16" idx="1"/>
          </p:cNvCxnSpPr>
          <p:nvPr/>
        </p:nvCxnSpPr>
        <p:spPr bwMode="auto">
          <a:xfrm>
            <a:off x="5508104" y="1986558"/>
            <a:ext cx="513184" cy="4284"/>
          </a:xfrm>
          <a:prstGeom prst="line">
            <a:avLst/>
          </a:prstGeom>
          <a:solidFill>
            <a:schemeClr val="accent1"/>
          </a:solidFill>
          <a:ln w="25400" cap="flat" cmpd="sng" algn="ctr">
            <a:solidFill>
              <a:schemeClr val="tx1"/>
            </a:solidFill>
            <a:prstDash val="solid"/>
            <a:round/>
            <a:headEnd type="none" w="med" len="med"/>
            <a:tailEnd type="arrow" w="lg" len="lg"/>
          </a:ln>
          <a:effectLst/>
        </p:spPr>
      </p:cxnSp>
    </p:spTree>
    <p:extLst>
      <p:ext uri="{BB962C8B-B14F-4D97-AF65-F5344CB8AC3E}">
        <p14:creationId xmlns:p14="http://schemas.microsoft.com/office/powerpoint/2010/main" val="1371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4" grpId="0" animBg="1"/>
      <p:bldP spid="2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SG" dirty="0"/>
          </a:p>
        </p:txBody>
      </p:sp>
      <p:sp>
        <p:nvSpPr>
          <p:cNvPr id="3" name="Content Placeholder 2"/>
          <p:cNvSpPr>
            <a:spLocks noGrp="1"/>
          </p:cNvSpPr>
          <p:nvPr>
            <p:ph idx="1"/>
          </p:nvPr>
        </p:nvSpPr>
        <p:spPr/>
        <p:txBody>
          <a:bodyPr>
            <a:normAutofit fontScale="92500" lnSpcReduction="10000"/>
          </a:bodyPr>
          <a:lstStyle/>
          <a:p>
            <a:r>
              <a:rPr lang="en-US" dirty="0"/>
              <a:t>Consider two entity sets: Players and Teams</a:t>
            </a:r>
          </a:p>
          <a:p>
            <a:r>
              <a:rPr lang="en-US" dirty="0"/>
              <a:t>Each player has a name and a number</a:t>
            </a:r>
          </a:p>
          <a:p>
            <a:r>
              <a:rPr lang="en-US" dirty="0"/>
              <a:t>Each team has a name and a manager</a:t>
            </a:r>
          </a:p>
          <a:p>
            <a:r>
              <a:rPr lang="en-US" dirty="0"/>
              <a:t>Each players for exactly one team, and is uniquely identified within the team by his/her number</a:t>
            </a:r>
          </a:p>
          <a:p>
            <a:r>
              <a:rPr lang="en-US" dirty="0"/>
              <a:t>Each team is uniquely identified by its name</a:t>
            </a:r>
          </a:p>
          <a:p>
            <a:r>
              <a:rPr lang="en-US" dirty="0"/>
              <a:t>Different players may have the same name</a:t>
            </a:r>
          </a:p>
          <a:p>
            <a:r>
              <a:rPr lang="en-US" dirty="0"/>
              <a:t>Draw a ER diagram that captures the above statements</a:t>
            </a:r>
          </a:p>
          <a:p>
            <a:r>
              <a:rPr lang="en-US" dirty="0"/>
              <a:t>What is the key of Players?</a:t>
            </a:r>
            <a:endParaRPr lang="en-SG" dirty="0"/>
          </a:p>
        </p:txBody>
      </p:sp>
    </p:spTree>
    <p:extLst>
      <p:ext uri="{BB962C8B-B14F-4D97-AF65-F5344CB8AC3E}">
        <p14:creationId xmlns:p14="http://schemas.microsoft.com/office/powerpoint/2010/main" val="120284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2382038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2267744" y="2671221"/>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Players</a:t>
            </a:r>
          </a:p>
        </p:txBody>
      </p:sp>
      <p:sp>
        <p:nvSpPr>
          <p:cNvPr id="5" name="Oval 25"/>
          <p:cNvSpPr>
            <a:spLocks noChangeArrowheads="1"/>
          </p:cNvSpPr>
          <p:nvPr/>
        </p:nvSpPr>
        <p:spPr bwMode="auto">
          <a:xfrm>
            <a:off x="738049" y="227687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name</a:t>
            </a:r>
          </a:p>
        </p:txBody>
      </p:sp>
      <p:cxnSp>
        <p:nvCxnSpPr>
          <p:cNvPr id="6" name="Straight Connector 5"/>
          <p:cNvCxnSpPr>
            <a:stCxn id="5" idx="6"/>
            <a:endCxn id="4" idx="1"/>
          </p:cNvCxnSpPr>
          <p:nvPr/>
        </p:nvCxnSpPr>
        <p:spPr bwMode="auto">
          <a:xfrm>
            <a:off x="1881049" y="2562622"/>
            <a:ext cx="386695" cy="56579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7" name="Oval 25"/>
          <p:cNvSpPr>
            <a:spLocks noChangeArrowheads="1"/>
          </p:cNvSpPr>
          <p:nvPr/>
        </p:nvSpPr>
        <p:spPr bwMode="auto">
          <a:xfrm>
            <a:off x="497177" y="3250708"/>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itchFamily="34" charset="0"/>
              </a:rPr>
              <a:t>number</a:t>
            </a:r>
          </a:p>
        </p:txBody>
      </p:sp>
      <p:cxnSp>
        <p:nvCxnSpPr>
          <p:cNvPr id="8" name="Straight Connector 7"/>
          <p:cNvCxnSpPr>
            <a:stCxn id="7" idx="6"/>
            <a:endCxn id="4" idx="1"/>
          </p:cNvCxnSpPr>
          <p:nvPr/>
        </p:nvCxnSpPr>
        <p:spPr bwMode="auto">
          <a:xfrm flipV="1">
            <a:off x="2121921" y="3128421"/>
            <a:ext cx="145823" cy="408037"/>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9" name="Rectangle 8"/>
          <p:cNvSpPr>
            <a:spLocks noChangeArrowheads="1"/>
          </p:cNvSpPr>
          <p:nvPr/>
        </p:nvSpPr>
        <p:spPr bwMode="auto">
          <a:xfrm>
            <a:off x="2347449" y="2741930"/>
            <a:ext cx="977265" cy="781812"/>
          </a:xfrm>
          <a:prstGeom prst="rect">
            <a:avLst/>
          </a:prstGeom>
          <a:noFill/>
          <a:ln w="25400">
            <a:solidFill>
              <a:schemeClr val="tx1"/>
            </a:solidFill>
            <a:miter lim="800000"/>
            <a:headEnd/>
            <a:tailEnd/>
          </a:ln>
          <a:effectLst/>
        </p:spPr>
        <p:txBody>
          <a:bodyPr wrap="none" anchor="ctr"/>
          <a:lstStyle/>
          <a:p>
            <a:pPr algn="ctr"/>
            <a:endParaRPr lang="en-US" sz="2400" dirty="0">
              <a:latin typeface="Calibri" pitchFamily="34" charset="0"/>
            </a:endParaRPr>
          </a:p>
        </p:txBody>
      </p:sp>
      <p:sp>
        <p:nvSpPr>
          <p:cNvPr id="10" name="Rectangle 3"/>
          <p:cNvSpPr>
            <a:spLocks noChangeArrowheads="1"/>
          </p:cNvSpPr>
          <p:nvPr/>
        </p:nvSpPr>
        <p:spPr bwMode="auto">
          <a:xfrm>
            <a:off x="6021288" y="2720079"/>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Teams</a:t>
            </a:r>
          </a:p>
        </p:txBody>
      </p:sp>
      <p:sp>
        <p:nvSpPr>
          <p:cNvPr id="11" name="Oval 25"/>
          <p:cNvSpPr>
            <a:spLocks noChangeArrowheads="1"/>
          </p:cNvSpPr>
          <p:nvPr/>
        </p:nvSpPr>
        <p:spPr bwMode="auto">
          <a:xfrm>
            <a:off x="7452320" y="2364603"/>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itchFamily="34" charset="0"/>
              </a:rPr>
              <a:t>name</a:t>
            </a:r>
          </a:p>
        </p:txBody>
      </p:sp>
      <p:cxnSp>
        <p:nvCxnSpPr>
          <p:cNvPr id="12" name="Straight Connector 11"/>
          <p:cNvCxnSpPr>
            <a:stCxn id="11" idx="2"/>
            <a:endCxn id="10" idx="3"/>
          </p:cNvCxnSpPr>
          <p:nvPr/>
        </p:nvCxnSpPr>
        <p:spPr bwMode="auto">
          <a:xfrm flipH="1">
            <a:off x="7164288" y="2650353"/>
            <a:ext cx="288032" cy="526926"/>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3" name="Oval 25"/>
          <p:cNvSpPr>
            <a:spLocks noChangeArrowheads="1"/>
          </p:cNvSpPr>
          <p:nvPr/>
        </p:nvSpPr>
        <p:spPr bwMode="auto">
          <a:xfrm>
            <a:off x="7452320" y="3156691"/>
            <a:ext cx="1368152"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manager</a:t>
            </a:r>
          </a:p>
        </p:txBody>
      </p:sp>
      <p:cxnSp>
        <p:nvCxnSpPr>
          <p:cNvPr id="14" name="Straight Connector 13"/>
          <p:cNvCxnSpPr>
            <a:stCxn id="13" idx="2"/>
            <a:endCxn id="10" idx="3"/>
          </p:cNvCxnSpPr>
          <p:nvPr/>
        </p:nvCxnSpPr>
        <p:spPr bwMode="auto">
          <a:xfrm flipH="1" flipV="1">
            <a:off x="7164288" y="3177279"/>
            <a:ext cx="288032" cy="265162"/>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5" name="AutoShape 10"/>
          <p:cNvSpPr>
            <a:spLocks noChangeArrowheads="1"/>
          </p:cNvSpPr>
          <p:nvPr/>
        </p:nvSpPr>
        <p:spPr bwMode="auto">
          <a:xfrm>
            <a:off x="3923928" y="2738665"/>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400" dirty="0">
                <a:latin typeface="Calibri" pitchFamily="34" charset="0"/>
              </a:rPr>
              <a:t>In</a:t>
            </a:r>
          </a:p>
        </p:txBody>
      </p:sp>
      <p:sp>
        <p:nvSpPr>
          <p:cNvPr id="16" name="AutoShape 10"/>
          <p:cNvSpPr>
            <a:spLocks noChangeArrowheads="1"/>
          </p:cNvSpPr>
          <p:nvPr/>
        </p:nvSpPr>
        <p:spPr bwMode="auto">
          <a:xfrm>
            <a:off x="4076329" y="2815237"/>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alibri" pitchFamily="34" charset="0"/>
            </a:endParaRPr>
          </a:p>
        </p:txBody>
      </p:sp>
      <p:cxnSp>
        <p:nvCxnSpPr>
          <p:cNvPr id="17" name="Straight Connector 16"/>
          <p:cNvCxnSpPr/>
          <p:nvPr/>
        </p:nvCxnSpPr>
        <p:spPr bwMode="auto">
          <a:xfrm>
            <a:off x="3410744" y="3103269"/>
            <a:ext cx="573841" cy="0"/>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18" name="Straight Connector 17"/>
          <p:cNvCxnSpPr/>
          <p:nvPr/>
        </p:nvCxnSpPr>
        <p:spPr bwMode="auto">
          <a:xfrm>
            <a:off x="3410744" y="3247285"/>
            <a:ext cx="573841" cy="0"/>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19" name="Straight Connector 18"/>
          <p:cNvCxnSpPr>
            <a:stCxn id="15" idx="3"/>
            <a:endCxn id="10" idx="1"/>
          </p:cNvCxnSpPr>
          <p:nvPr/>
        </p:nvCxnSpPr>
        <p:spPr bwMode="auto">
          <a:xfrm>
            <a:off x="5508104" y="3172995"/>
            <a:ext cx="513184" cy="4284"/>
          </a:xfrm>
          <a:prstGeom prst="line">
            <a:avLst/>
          </a:prstGeom>
          <a:solidFill>
            <a:schemeClr val="accent1"/>
          </a:solidFill>
          <a:ln w="25400" cap="flat" cmpd="sng" algn="ctr">
            <a:solidFill>
              <a:schemeClr val="tx1"/>
            </a:solidFill>
            <a:prstDash val="solid"/>
            <a:round/>
            <a:headEnd type="none" w="med" len="med"/>
            <a:tailEnd type="arrow" w="lg" len="lg"/>
          </a:ln>
          <a:effectLst/>
        </p:spPr>
      </p:cxnSp>
      <p:sp>
        <p:nvSpPr>
          <p:cNvPr id="20" name="Content Placeholder 2"/>
          <p:cNvSpPr>
            <a:spLocks noGrp="1"/>
          </p:cNvSpPr>
          <p:nvPr>
            <p:ph idx="1"/>
          </p:nvPr>
        </p:nvSpPr>
        <p:spPr>
          <a:xfrm>
            <a:off x="457200" y="4725144"/>
            <a:ext cx="8229600" cy="1405781"/>
          </a:xfrm>
        </p:spPr>
        <p:txBody>
          <a:bodyPr>
            <a:normAutofit/>
          </a:bodyPr>
          <a:lstStyle/>
          <a:p>
            <a:r>
              <a:rPr lang="en-US" dirty="0"/>
              <a:t>Key of Players: (Teams.name, </a:t>
            </a:r>
            <a:r>
              <a:rPr lang="en-US" dirty="0" err="1"/>
              <a:t>Players.number</a:t>
            </a:r>
            <a:r>
              <a:rPr lang="en-US" dirty="0"/>
              <a:t>)</a:t>
            </a:r>
            <a:endParaRPr lang="en-SG" dirty="0"/>
          </a:p>
        </p:txBody>
      </p:sp>
    </p:spTree>
    <p:extLst>
      <p:ext uri="{BB962C8B-B14F-4D97-AF65-F5344CB8AC3E}">
        <p14:creationId xmlns:p14="http://schemas.microsoft.com/office/powerpoint/2010/main" val="1649116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a:t>
            </a:r>
            <a:endParaRPr lang="en-SG" dirty="0"/>
          </a:p>
        </p:txBody>
      </p:sp>
      <p:sp>
        <p:nvSpPr>
          <p:cNvPr id="3" name="Content Placeholder 2"/>
          <p:cNvSpPr>
            <a:spLocks noGrp="1"/>
          </p:cNvSpPr>
          <p:nvPr>
            <p:ph idx="1"/>
          </p:nvPr>
        </p:nvSpPr>
        <p:spPr/>
        <p:txBody>
          <a:bodyPr/>
          <a:lstStyle/>
          <a:p>
            <a:r>
              <a:rPr lang="en-US" dirty="0"/>
              <a:t>We have discussed several elements of ER diagrams</a:t>
            </a:r>
          </a:p>
          <a:p>
            <a:pPr lvl="1"/>
            <a:r>
              <a:rPr lang="en-US" dirty="0"/>
              <a:t>Entities</a:t>
            </a:r>
          </a:p>
          <a:p>
            <a:pPr lvl="1"/>
            <a:r>
              <a:rPr lang="en-US" dirty="0"/>
              <a:t>Relationships</a:t>
            </a:r>
          </a:p>
          <a:p>
            <a:pPr lvl="1"/>
            <a:r>
              <a:rPr lang="en-US" dirty="0"/>
              <a:t>Attributes</a:t>
            </a:r>
          </a:p>
          <a:p>
            <a:r>
              <a:rPr lang="en-US" dirty="0"/>
              <a:t>Coming next</a:t>
            </a:r>
          </a:p>
          <a:p>
            <a:pPr lvl="1"/>
            <a:r>
              <a:rPr lang="en-US" dirty="0"/>
              <a:t>Weak Entity Sets</a:t>
            </a:r>
          </a:p>
          <a:p>
            <a:pPr lvl="1"/>
            <a:r>
              <a:rPr lang="en-US" dirty="0">
                <a:solidFill>
                  <a:srgbClr val="C00000"/>
                </a:solidFill>
              </a:rPr>
              <a:t>Subclasses</a:t>
            </a:r>
          </a:p>
        </p:txBody>
      </p:sp>
    </p:spTree>
    <p:extLst>
      <p:ext uri="{BB962C8B-B14F-4D97-AF65-F5344CB8AC3E}">
        <p14:creationId xmlns:p14="http://schemas.microsoft.com/office/powerpoint/2010/main" val="26208611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Subclass</a:t>
            </a:r>
            <a:endParaRPr lang="en-SG" dirty="0"/>
          </a:p>
        </p:txBody>
      </p:sp>
      <p:sp>
        <p:nvSpPr>
          <p:cNvPr id="3" name="Content Placeholder 2"/>
          <p:cNvSpPr>
            <a:spLocks noGrp="1"/>
          </p:cNvSpPr>
          <p:nvPr>
            <p:ph idx="1"/>
          </p:nvPr>
        </p:nvSpPr>
        <p:spPr>
          <a:xfrm>
            <a:off x="457200" y="2492896"/>
            <a:ext cx="8229600" cy="3638029"/>
          </a:xfrm>
        </p:spPr>
        <p:txBody>
          <a:bodyPr>
            <a:normAutofit fontScale="92500" lnSpcReduction="10000"/>
          </a:bodyPr>
          <a:lstStyle/>
          <a:p>
            <a:r>
              <a:rPr lang="en-US" dirty="0"/>
              <a:t>PhDs are a special type of Students</a:t>
            </a:r>
          </a:p>
          <a:p>
            <a:r>
              <a:rPr lang="en-US" dirty="0">
                <a:solidFill>
                  <a:srgbClr val="A50021"/>
                </a:solidFill>
              </a:rPr>
              <a:t>Subclass</a:t>
            </a:r>
            <a:r>
              <a:rPr lang="en-US" dirty="0"/>
              <a:t> = Special type</a:t>
            </a:r>
          </a:p>
          <a:p>
            <a:r>
              <a:rPr lang="en-US" dirty="0"/>
              <a:t>Students is referred to as the </a:t>
            </a:r>
            <a:r>
              <a:rPr lang="en-US" dirty="0">
                <a:solidFill>
                  <a:srgbClr val="A50021"/>
                </a:solidFill>
              </a:rPr>
              <a:t>superclass</a:t>
            </a:r>
            <a:r>
              <a:rPr lang="en-US" dirty="0"/>
              <a:t> of PhDs</a:t>
            </a:r>
          </a:p>
          <a:p>
            <a:r>
              <a:rPr lang="en-US" dirty="0"/>
              <a:t>The connection between a subclass and its superclass is captured by the </a:t>
            </a:r>
            <a:r>
              <a:rPr lang="en-US" dirty="0" err="1">
                <a:solidFill>
                  <a:srgbClr val="A50021"/>
                </a:solidFill>
              </a:rPr>
              <a:t>isa</a:t>
            </a:r>
            <a:r>
              <a:rPr lang="en-US" dirty="0">
                <a:solidFill>
                  <a:srgbClr val="A50021"/>
                </a:solidFill>
              </a:rPr>
              <a:t> relationship</a:t>
            </a:r>
            <a:r>
              <a:rPr lang="en-US" dirty="0"/>
              <a:t>, which is represented using a triangle</a:t>
            </a:r>
          </a:p>
          <a:p>
            <a:r>
              <a:rPr lang="en-US" dirty="0"/>
              <a:t>Key of a subclass = key of its superclass</a:t>
            </a:r>
          </a:p>
          <a:p>
            <a:r>
              <a:rPr lang="en-US" dirty="0"/>
              <a:t>Example: Key of </a:t>
            </a:r>
            <a:r>
              <a:rPr lang="en-US" dirty="0" err="1"/>
              <a:t>Phds</a:t>
            </a:r>
            <a:r>
              <a:rPr lang="en-US" dirty="0"/>
              <a:t> = Students.ID</a:t>
            </a:r>
          </a:p>
        </p:txBody>
      </p:sp>
      <p:sp>
        <p:nvSpPr>
          <p:cNvPr id="4" name="Rectangle 3"/>
          <p:cNvSpPr>
            <a:spLocks noChangeArrowheads="1"/>
          </p:cNvSpPr>
          <p:nvPr/>
        </p:nvSpPr>
        <p:spPr bwMode="auto">
          <a:xfrm>
            <a:off x="2483768" y="1355070"/>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PhDs</a:t>
            </a:r>
          </a:p>
        </p:txBody>
      </p:sp>
      <p:sp>
        <p:nvSpPr>
          <p:cNvPr id="7" name="Oval 25"/>
          <p:cNvSpPr>
            <a:spLocks noChangeArrowheads="1"/>
          </p:cNvSpPr>
          <p:nvPr/>
        </p:nvSpPr>
        <p:spPr bwMode="auto">
          <a:xfrm>
            <a:off x="497177" y="1526520"/>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advisor</a:t>
            </a:r>
          </a:p>
        </p:txBody>
      </p:sp>
      <p:cxnSp>
        <p:nvCxnSpPr>
          <p:cNvPr id="8" name="Straight Connector 7"/>
          <p:cNvCxnSpPr>
            <a:stCxn id="7" idx="6"/>
            <a:endCxn id="4" idx="1"/>
          </p:cNvCxnSpPr>
          <p:nvPr/>
        </p:nvCxnSpPr>
        <p:spPr bwMode="auto">
          <a:xfrm>
            <a:off x="2121921" y="1812270"/>
            <a:ext cx="36184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0" name="Rectangle 3"/>
          <p:cNvSpPr>
            <a:spLocks noChangeArrowheads="1"/>
          </p:cNvSpPr>
          <p:nvPr/>
        </p:nvSpPr>
        <p:spPr bwMode="auto">
          <a:xfrm>
            <a:off x="5652120" y="1355070"/>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Students</a:t>
            </a:r>
          </a:p>
        </p:txBody>
      </p:sp>
      <p:sp>
        <p:nvSpPr>
          <p:cNvPr id="11" name="Oval 25"/>
          <p:cNvSpPr>
            <a:spLocks noChangeArrowheads="1"/>
          </p:cNvSpPr>
          <p:nvPr/>
        </p:nvSpPr>
        <p:spPr bwMode="auto">
          <a:xfrm>
            <a:off x="7452320" y="105273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2" name="Straight Connector 11"/>
          <p:cNvCxnSpPr>
            <a:stCxn id="11" idx="2"/>
            <a:endCxn id="10" idx="3"/>
          </p:cNvCxnSpPr>
          <p:nvPr/>
        </p:nvCxnSpPr>
        <p:spPr bwMode="auto">
          <a:xfrm flipH="1">
            <a:off x="7020272" y="1338486"/>
            <a:ext cx="432048"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3" name="Oval 25"/>
          <p:cNvSpPr>
            <a:spLocks noChangeArrowheads="1"/>
          </p:cNvSpPr>
          <p:nvPr/>
        </p:nvSpPr>
        <p:spPr bwMode="auto">
          <a:xfrm>
            <a:off x="7452320" y="1844824"/>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14" name="Straight Connector 13"/>
          <p:cNvCxnSpPr>
            <a:stCxn id="13" idx="2"/>
            <a:endCxn id="10" idx="3"/>
          </p:cNvCxnSpPr>
          <p:nvPr/>
        </p:nvCxnSpPr>
        <p:spPr bwMode="auto">
          <a:xfrm flipH="1" flipV="1">
            <a:off x="7020272" y="1812270"/>
            <a:ext cx="432048"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9" name="Straight Connector 18"/>
          <p:cNvCxnSpPr>
            <a:stCxn id="4" idx="3"/>
            <a:endCxn id="10" idx="1"/>
          </p:cNvCxnSpPr>
          <p:nvPr/>
        </p:nvCxnSpPr>
        <p:spPr bwMode="auto">
          <a:xfrm>
            <a:off x="3626768" y="1812270"/>
            <a:ext cx="2025352"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4" name="Isosceles Triangle 23"/>
          <p:cNvSpPr/>
          <p:nvPr/>
        </p:nvSpPr>
        <p:spPr bwMode="auto">
          <a:xfrm rot="5400000">
            <a:off x="4311871" y="1285432"/>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114761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Subclass</a:t>
            </a:r>
            <a:endParaRPr lang="en-SG" dirty="0"/>
          </a:p>
        </p:txBody>
      </p:sp>
      <p:sp>
        <p:nvSpPr>
          <p:cNvPr id="3" name="Content Placeholder 2"/>
          <p:cNvSpPr>
            <a:spLocks noGrp="1"/>
          </p:cNvSpPr>
          <p:nvPr>
            <p:ph idx="1"/>
          </p:nvPr>
        </p:nvSpPr>
        <p:spPr>
          <a:xfrm>
            <a:off x="457200" y="3933056"/>
            <a:ext cx="8229600" cy="2197869"/>
          </a:xfrm>
        </p:spPr>
        <p:txBody>
          <a:bodyPr>
            <a:normAutofit fontScale="92500" lnSpcReduction="10000"/>
          </a:bodyPr>
          <a:lstStyle/>
          <a:p>
            <a:r>
              <a:rPr lang="en-US" dirty="0"/>
              <a:t>An entity set can have multiple subclasses</a:t>
            </a:r>
          </a:p>
          <a:p>
            <a:r>
              <a:rPr lang="en-US" dirty="0"/>
              <a:t>Example</a:t>
            </a:r>
          </a:p>
          <a:p>
            <a:pPr lvl="1"/>
            <a:r>
              <a:rPr lang="en-US" dirty="0"/>
              <a:t>Superclass: Computers</a:t>
            </a:r>
          </a:p>
          <a:p>
            <a:pPr lvl="1"/>
            <a:r>
              <a:rPr lang="en-US" dirty="0"/>
              <a:t>Subclass 1: Desktop</a:t>
            </a:r>
          </a:p>
          <a:p>
            <a:pPr lvl="1"/>
            <a:r>
              <a:rPr lang="en-US" dirty="0"/>
              <a:t>Subclass 2: Laptop</a:t>
            </a:r>
          </a:p>
        </p:txBody>
      </p:sp>
      <p:sp>
        <p:nvSpPr>
          <p:cNvPr id="4" name="Rectangle 3"/>
          <p:cNvSpPr>
            <a:spLocks noChangeArrowheads="1"/>
          </p:cNvSpPr>
          <p:nvPr/>
        </p:nvSpPr>
        <p:spPr bwMode="auto">
          <a:xfrm>
            <a:off x="971600" y="1355070"/>
            <a:ext cx="171906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Desktops</a:t>
            </a:r>
          </a:p>
        </p:txBody>
      </p:sp>
      <p:sp>
        <p:nvSpPr>
          <p:cNvPr id="10" name="Rectangle 3"/>
          <p:cNvSpPr>
            <a:spLocks noChangeArrowheads="1"/>
          </p:cNvSpPr>
          <p:nvPr/>
        </p:nvSpPr>
        <p:spPr bwMode="auto">
          <a:xfrm>
            <a:off x="5436096" y="2075150"/>
            <a:ext cx="172819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Computers</a:t>
            </a:r>
          </a:p>
        </p:txBody>
      </p:sp>
      <p:sp>
        <p:nvSpPr>
          <p:cNvPr id="11" name="Oval 25"/>
          <p:cNvSpPr>
            <a:spLocks noChangeArrowheads="1"/>
          </p:cNvSpPr>
          <p:nvPr/>
        </p:nvSpPr>
        <p:spPr bwMode="auto">
          <a:xfrm>
            <a:off x="7452320" y="177281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name</a:t>
            </a:r>
          </a:p>
        </p:txBody>
      </p:sp>
      <p:cxnSp>
        <p:nvCxnSpPr>
          <p:cNvPr id="12" name="Straight Connector 11"/>
          <p:cNvCxnSpPr>
            <a:stCxn id="11" idx="2"/>
            <a:endCxn id="10" idx="3"/>
          </p:cNvCxnSpPr>
          <p:nvPr/>
        </p:nvCxnSpPr>
        <p:spPr bwMode="auto">
          <a:xfrm flipH="1">
            <a:off x="7164288" y="2058566"/>
            <a:ext cx="288032"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3" name="Oval 25"/>
          <p:cNvSpPr>
            <a:spLocks noChangeArrowheads="1"/>
          </p:cNvSpPr>
          <p:nvPr/>
        </p:nvSpPr>
        <p:spPr bwMode="auto">
          <a:xfrm>
            <a:off x="7452320" y="2564904"/>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price</a:t>
            </a:r>
          </a:p>
        </p:txBody>
      </p:sp>
      <p:cxnSp>
        <p:nvCxnSpPr>
          <p:cNvPr id="14" name="Straight Connector 13"/>
          <p:cNvCxnSpPr>
            <a:stCxn id="13" idx="2"/>
            <a:endCxn id="10" idx="3"/>
          </p:cNvCxnSpPr>
          <p:nvPr/>
        </p:nvCxnSpPr>
        <p:spPr bwMode="auto">
          <a:xfrm flipH="1" flipV="1">
            <a:off x="7164288" y="2532350"/>
            <a:ext cx="288032"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9" name="Straight Connector 18"/>
          <p:cNvCxnSpPr>
            <a:stCxn id="4" idx="3"/>
            <a:endCxn id="24" idx="3"/>
          </p:cNvCxnSpPr>
          <p:nvPr/>
        </p:nvCxnSpPr>
        <p:spPr bwMode="auto">
          <a:xfrm>
            <a:off x="2690664" y="1812270"/>
            <a:ext cx="987423" cy="235584"/>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4" name="Isosceles Triangle 23"/>
          <p:cNvSpPr/>
          <p:nvPr/>
        </p:nvSpPr>
        <p:spPr bwMode="auto">
          <a:xfrm rot="5400000">
            <a:off x="3777998" y="1528889"/>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18" name="Straight Connector 17"/>
          <p:cNvCxnSpPr>
            <a:stCxn id="24" idx="0"/>
          </p:cNvCxnSpPr>
          <p:nvPr/>
        </p:nvCxnSpPr>
        <p:spPr bwMode="auto">
          <a:xfrm>
            <a:off x="4716016" y="2047854"/>
            <a:ext cx="720080" cy="296462"/>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4" name="Rectangle 33"/>
          <p:cNvSpPr>
            <a:spLocks noChangeArrowheads="1"/>
          </p:cNvSpPr>
          <p:nvPr/>
        </p:nvSpPr>
        <p:spPr bwMode="auto">
          <a:xfrm>
            <a:off x="971600" y="2780928"/>
            <a:ext cx="171906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Laptops</a:t>
            </a:r>
          </a:p>
        </p:txBody>
      </p:sp>
      <p:cxnSp>
        <p:nvCxnSpPr>
          <p:cNvPr id="35" name="Straight Connector 34"/>
          <p:cNvCxnSpPr>
            <a:stCxn id="34" idx="3"/>
            <a:endCxn id="36" idx="3"/>
          </p:cNvCxnSpPr>
          <p:nvPr/>
        </p:nvCxnSpPr>
        <p:spPr bwMode="auto">
          <a:xfrm flipV="1">
            <a:off x="2690664" y="3127974"/>
            <a:ext cx="987423" cy="110154"/>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6" name="Isosceles Triangle 35"/>
          <p:cNvSpPr/>
          <p:nvPr/>
        </p:nvSpPr>
        <p:spPr bwMode="auto">
          <a:xfrm rot="5400000">
            <a:off x="3777998" y="2609009"/>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37" name="Straight Connector 36"/>
          <p:cNvCxnSpPr>
            <a:stCxn id="36" idx="0"/>
          </p:cNvCxnSpPr>
          <p:nvPr/>
        </p:nvCxnSpPr>
        <p:spPr bwMode="auto">
          <a:xfrm flipV="1">
            <a:off x="4716016" y="2708920"/>
            <a:ext cx="720080" cy="419054"/>
          </a:xfrm>
          <a:prstGeom prst="line">
            <a:avLst/>
          </a:prstGeom>
          <a:solidFill>
            <a:schemeClr val="accent1"/>
          </a:solidFill>
          <a:ln w="25400" cap="flat" cmpd="sng" algn="ctr">
            <a:solidFill>
              <a:schemeClr val="tx1"/>
            </a:solidFill>
            <a:prstDash val="solid"/>
            <a:round/>
            <a:headEnd type="none" w="med" len="med"/>
            <a:tailEnd type="none" w="lg" len="lg"/>
          </a:ln>
          <a:effectLst/>
        </p:spPr>
      </p:cxnSp>
    </p:spTree>
    <p:extLst>
      <p:ext uri="{BB962C8B-B14F-4D97-AF65-F5344CB8AC3E}">
        <p14:creationId xmlns:p14="http://schemas.microsoft.com/office/powerpoint/2010/main" val="39714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3" grpId="0" animBg="1"/>
      <p:bldP spid="24" grpId="0" animBg="1"/>
      <p:bldP spid="34" grpId="0" animBg="1"/>
      <p:bldP spid="3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Subclass vs. Weak Entity Sets</a:t>
            </a:r>
            <a:endParaRPr lang="en-SG" dirty="0"/>
          </a:p>
        </p:txBody>
      </p:sp>
      <p:sp>
        <p:nvSpPr>
          <p:cNvPr id="3" name="Content Placeholder 2"/>
          <p:cNvSpPr>
            <a:spLocks noGrp="1"/>
          </p:cNvSpPr>
          <p:nvPr>
            <p:ph idx="1"/>
          </p:nvPr>
        </p:nvSpPr>
        <p:spPr>
          <a:xfrm>
            <a:off x="457200" y="2492896"/>
            <a:ext cx="8229600" cy="3638029"/>
          </a:xfrm>
        </p:spPr>
        <p:txBody>
          <a:bodyPr/>
          <a:lstStyle/>
          <a:p>
            <a:r>
              <a:rPr lang="en-US" dirty="0"/>
              <a:t>PhDs are a special type of Students</a:t>
            </a:r>
          </a:p>
          <a:p>
            <a:endParaRPr lang="en-US" dirty="0"/>
          </a:p>
          <a:p>
            <a:endParaRPr lang="en-US" dirty="0"/>
          </a:p>
          <a:p>
            <a:endParaRPr lang="en-US" dirty="0"/>
          </a:p>
          <a:p>
            <a:endParaRPr lang="en-US" dirty="0"/>
          </a:p>
          <a:p>
            <a:r>
              <a:rPr lang="en-US" dirty="0"/>
              <a:t>Cities are NOT a special type of States</a:t>
            </a:r>
            <a:endParaRPr lang="en-SG" dirty="0"/>
          </a:p>
        </p:txBody>
      </p:sp>
      <p:sp>
        <p:nvSpPr>
          <p:cNvPr id="4" name="Rectangle 3"/>
          <p:cNvSpPr>
            <a:spLocks noChangeArrowheads="1"/>
          </p:cNvSpPr>
          <p:nvPr/>
        </p:nvSpPr>
        <p:spPr bwMode="auto">
          <a:xfrm>
            <a:off x="2483768" y="1355070"/>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PhDs</a:t>
            </a:r>
          </a:p>
        </p:txBody>
      </p:sp>
      <p:sp>
        <p:nvSpPr>
          <p:cNvPr id="5" name="Oval 25"/>
          <p:cNvSpPr>
            <a:spLocks noChangeArrowheads="1"/>
          </p:cNvSpPr>
          <p:nvPr/>
        </p:nvSpPr>
        <p:spPr bwMode="auto">
          <a:xfrm>
            <a:off x="497177" y="1526520"/>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advisor</a:t>
            </a:r>
          </a:p>
        </p:txBody>
      </p:sp>
      <p:cxnSp>
        <p:nvCxnSpPr>
          <p:cNvPr id="6" name="Straight Connector 5"/>
          <p:cNvCxnSpPr>
            <a:stCxn id="5" idx="6"/>
            <a:endCxn id="4" idx="1"/>
          </p:cNvCxnSpPr>
          <p:nvPr/>
        </p:nvCxnSpPr>
        <p:spPr bwMode="auto">
          <a:xfrm>
            <a:off x="2121921" y="1812270"/>
            <a:ext cx="36184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7" name="Rectangle 3"/>
          <p:cNvSpPr>
            <a:spLocks noChangeArrowheads="1"/>
          </p:cNvSpPr>
          <p:nvPr/>
        </p:nvSpPr>
        <p:spPr bwMode="auto">
          <a:xfrm>
            <a:off x="5652120" y="1355070"/>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Students</a:t>
            </a:r>
          </a:p>
        </p:txBody>
      </p:sp>
      <p:sp>
        <p:nvSpPr>
          <p:cNvPr id="8" name="Oval 25"/>
          <p:cNvSpPr>
            <a:spLocks noChangeArrowheads="1"/>
          </p:cNvSpPr>
          <p:nvPr/>
        </p:nvSpPr>
        <p:spPr bwMode="auto">
          <a:xfrm>
            <a:off x="7452320" y="105273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itchFamily="34" charset="0"/>
              </a:rPr>
              <a:t>ID</a:t>
            </a:r>
          </a:p>
        </p:txBody>
      </p:sp>
      <p:cxnSp>
        <p:nvCxnSpPr>
          <p:cNvPr id="9" name="Straight Connector 8"/>
          <p:cNvCxnSpPr>
            <a:stCxn id="8" idx="2"/>
            <a:endCxn id="7" idx="3"/>
          </p:cNvCxnSpPr>
          <p:nvPr/>
        </p:nvCxnSpPr>
        <p:spPr bwMode="auto">
          <a:xfrm flipH="1">
            <a:off x="7020272" y="1338486"/>
            <a:ext cx="432048"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0" name="Oval 25"/>
          <p:cNvSpPr>
            <a:spLocks noChangeArrowheads="1"/>
          </p:cNvSpPr>
          <p:nvPr/>
        </p:nvSpPr>
        <p:spPr bwMode="auto">
          <a:xfrm>
            <a:off x="7452320" y="1844824"/>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name</a:t>
            </a:r>
          </a:p>
        </p:txBody>
      </p:sp>
      <p:cxnSp>
        <p:nvCxnSpPr>
          <p:cNvPr id="11" name="Straight Connector 10"/>
          <p:cNvCxnSpPr>
            <a:stCxn id="10" idx="2"/>
            <a:endCxn id="7" idx="3"/>
          </p:cNvCxnSpPr>
          <p:nvPr/>
        </p:nvCxnSpPr>
        <p:spPr bwMode="auto">
          <a:xfrm flipH="1" flipV="1">
            <a:off x="7020272" y="1812270"/>
            <a:ext cx="432048"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2" name="Straight Connector 11"/>
          <p:cNvCxnSpPr>
            <a:stCxn id="4" idx="3"/>
            <a:endCxn id="7" idx="1"/>
          </p:cNvCxnSpPr>
          <p:nvPr/>
        </p:nvCxnSpPr>
        <p:spPr bwMode="auto">
          <a:xfrm>
            <a:off x="3626768" y="1812270"/>
            <a:ext cx="2025352"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13" name="Isosceles Triangle 12"/>
          <p:cNvSpPr/>
          <p:nvPr/>
        </p:nvSpPr>
        <p:spPr bwMode="auto">
          <a:xfrm rot="5400000">
            <a:off x="4311871" y="1285432"/>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600" b="1" i="0" u="none" strike="noStrike" cap="none" normalizeH="0" baseline="0" dirty="0">
                <a:ln>
                  <a:noFill/>
                </a:ln>
                <a:solidFill>
                  <a:schemeClr val="tx1"/>
                </a:solidFill>
                <a:effectLst/>
                <a:latin typeface="Calibri" pitchFamily="34" charset="0"/>
                <a:ea typeface="宋体" pitchFamily="2" charset="-122"/>
              </a:rPr>
              <a:t> </a:t>
            </a:r>
            <a:r>
              <a:rPr kumimoji="0" lang="en-US" sz="2600" i="0" u="none" strike="noStrike" cap="none" normalizeH="0" baseline="0" dirty="0" err="1">
                <a:ln>
                  <a:noFill/>
                </a:ln>
                <a:solidFill>
                  <a:schemeClr val="tx1"/>
                </a:solidFill>
                <a:effectLst/>
                <a:latin typeface="Calibri" pitchFamily="34" charset="0"/>
                <a:ea typeface="宋体" pitchFamily="2" charset="-122"/>
              </a:rPr>
              <a:t>isa</a:t>
            </a:r>
            <a:endParaRPr kumimoji="0" lang="en-SG" sz="2600" i="0" u="none" strike="noStrike" cap="none" normalizeH="0" baseline="0" dirty="0">
              <a:ln>
                <a:noFill/>
              </a:ln>
              <a:solidFill>
                <a:schemeClr val="tx1"/>
              </a:solidFill>
              <a:effectLst/>
              <a:latin typeface="Calibri" pitchFamily="34" charset="0"/>
              <a:ea typeface="宋体" pitchFamily="2" charset="-122"/>
            </a:endParaRPr>
          </a:p>
        </p:txBody>
      </p:sp>
      <p:sp>
        <p:nvSpPr>
          <p:cNvPr id="20" name="Rectangle 19"/>
          <p:cNvSpPr>
            <a:spLocks noChangeArrowheads="1"/>
          </p:cNvSpPr>
          <p:nvPr/>
        </p:nvSpPr>
        <p:spPr bwMode="auto">
          <a:xfrm>
            <a:off x="2267744" y="3790181"/>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Cities</a:t>
            </a:r>
          </a:p>
        </p:txBody>
      </p:sp>
      <p:sp>
        <p:nvSpPr>
          <p:cNvPr id="21" name="Oval 25"/>
          <p:cNvSpPr>
            <a:spLocks noChangeArrowheads="1"/>
          </p:cNvSpPr>
          <p:nvPr/>
        </p:nvSpPr>
        <p:spPr bwMode="auto">
          <a:xfrm>
            <a:off x="738049" y="339583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itchFamily="34" charset="0"/>
              </a:rPr>
              <a:t>name</a:t>
            </a:r>
          </a:p>
        </p:txBody>
      </p:sp>
      <p:cxnSp>
        <p:nvCxnSpPr>
          <p:cNvPr id="22" name="Straight Connector 21"/>
          <p:cNvCxnSpPr>
            <a:stCxn id="21" idx="6"/>
            <a:endCxn id="20" idx="1"/>
          </p:cNvCxnSpPr>
          <p:nvPr/>
        </p:nvCxnSpPr>
        <p:spPr bwMode="auto">
          <a:xfrm>
            <a:off x="1881049" y="3681582"/>
            <a:ext cx="386695" cy="56579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3" name="Oval 25"/>
          <p:cNvSpPr>
            <a:spLocks noChangeArrowheads="1"/>
          </p:cNvSpPr>
          <p:nvPr/>
        </p:nvSpPr>
        <p:spPr bwMode="auto">
          <a:xfrm>
            <a:off x="497177" y="4369668"/>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population</a:t>
            </a:r>
          </a:p>
        </p:txBody>
      </p:sp>
      <p:cxnSp>
        <p:nvCxnSpPr>
          <p:cNvPr id="24" name="Straight Connector 23"/>
          <p:cNvCxnSpPr>
            <a:stCxn id="23" idx="6"/>
            <a:endCxn id="20" idx="1"/>
          </p:cNvCxnSpPr>
          <p:nvPr/>
        </p:nvCxnSpPr>
        <p:spPr bwMode="auto">
          <a:xfrm flipV="1">
            <a:off x="2121921" y="4247381"/>
            <a:ext cx="145823" cy="408037"/>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5" name="Rectangle 24"/>
          <p:cNvSpPr>
            <a:spLocks noChangeArrowheads="1"/>
          </p:cNvSpPr>
          <p:nvPr/>
        </p:nvSpPr>
        <p:spPr bwMode="auto">
          <a:xfrm>
            <a:off x="2347449" y="3860890"/>
            <a:ext cx="977265" cy="781812"/>
          </a:xfrm>
          <a:prstGeom prst="rect">
            <a:avLst/>
          </a:prstGeom>
          <a:noFill/>
          <a:ln w="25400">
            <a:solidFill>
              <a:schemeClr val="tx1"/>
            </a:solidFill>
            <a:miter lim="800000"/>
            <a:headEnd/>
            <a:tailEnd/>
          </a:ln>
          <a:effectLst/>
        </p:spPr>
        <p:txBody>
          <a:bodyPr wrap="none" anchor="ctr"/>
          <a:lstStyle/>
          <a:p>
            <a:pPr algn="ctr"/>
            <a:endParaRPr lang="en-US" sz="2400" dirty="0">
              <a:latin typeface="Calibri" pitchFamily="34" charset="0"/>
            </a:endParaRPr>
          </a:p>
        </p:txBody>
      </p:sp>
      <p:sp>
        <p:nvSpPr>
          <p:cNvPr id="26" name="Rectangle 3"/>
          <p:cNvSpPr>
            <a:spLocks noChangeArrowheads="1"/>
          </p:cNvSpPr>
          <p:nvPr/>
        </p:nvSpPr>
        <p:spPr bwMode="auto">
          <a:xfrm>
            <a:off x="6021288" y="3839039"/>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States</a:t>
            </a:r>
          </a:p>
        </p:txBody>
      </p:sp>
      <p:sp>
        <p:nvSpPr>
          <p:cNvPr id="27" name="Oval 25"/>
          <p:cNvSpPr>
            <a:spLocks noChangeArrowheads="1"/>
          </p:cNvSpPr>
          <p:nvPr/>
        </p:nvSpPr>
        <p:spPr bwMode="auto">
          <a:xfrm>
            <a:off x="7452320" y="3483563"/>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u="sng" dirty="0">
                <a:latin typeface="Calibri" pitchFamily="34" charset="0"/>
              </a:rPr>
              <a:t>name</a:t>
            </a:r>
          </a:p>
        </p:txBody>
      </p:sp>
      <p:cxnSp>
        <p:nvCxnSpPr>
          <p:cNvPr id="28" name="Straight Connector 27"/>
          <p:cNvCxnSpPr>
            <a:stCxn id="27" idx="2"/>
            <a:endCxn id="26" idx="3"/>
          </p:cNvCxnSpPr>
          <p:nvPr/>
        </p:nvCxnSpPr>
        <p:spPr bwMode="auto">
          <a:xfrm flipH="1">
            <a:off x="7164288" y="3769313"/>
            <a:ext cx="288032" cy="526926"/>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9" name="Oval 25"/>
          <p:cNvSpPr>
            <a:spLocks noChangeArrowheads="1"/>
          </p:cNvSpPr>
          <p:nvPr/>
        </p:nvSpPr>
        <p:spPr bwMode="auto">
          <a:xfrm>
            <a:off x="7452320" y="4275651"/>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GDP</a:t>
            </a:r>
          </a:p>
        </p:txBody>
      </p:sp>
      <p:cxnSp>
        <p:nvCxnSpPr>
          <p:cNvPr id="30" name="Straight Connector 29"/>
          <p:cNvCxnSpPr>
            <a:stCxn id="29" idx="2"/>
            <a:endCxn id="26" idx="3"/>
          </p:cNvCxnSpPr>
          <p:nvPr/>
        </p:nvCxnSpPr>
        <p:spPr bwMode="auto">
          <a:xfrm flipH="1" flipV="1">
            <a:off x="7164288" y="4296239"/>
            <a:ext cx="288032" cy="265162"/>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31" name="AutoShape 10"/>
          <p:cNvSpPr>
            <a:spLocks noChangeArrowheads="1"/>
          </p:cNvSpPr>
          <p:nvPr/>
        </p:nvSpPr>
        <p:spPr bwMode="auto">
          <a:xfrm>
            <a:off x="3923928" y="3857625"/>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400" dirty="0">
                <a:latin typeface="Calibri" pitchFamily="34" charset="0"/>
              </a:rPr>
              <a:t>In</a:t>
            </a:r>
          </a:p>
        </p:txBody>
      </p:sp>
      <p:sp>
        <p:nvSpPr>
          <p:cNvPr id="32" name="AutoShape 10"/>
          <p:cNvSpPr>
            <a:spLocks noChangeArrowheads="1"/>
          </p:cNvSpPr>
          <p:nvPr/>
        </p:nvSpPr>
        <p:spPr bwMode="auto">
          <a:xfrm>
            <a:off x="4076329" y="3934197"/>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alibri" pitchFamily="34" charset="0"/>
            </a:endParaRPr>
          </a:p>
        </p:txBody>
      </p:sp>
      <p:cxnSp>
        <p:nvCxnSpPr>
          <p:cNvPr id="33" name="Straight Connector 32"/>
          <p:cNvCxnSpPr/>
          <p:nvPr/>
        </p:nvCxnSpPr>
        <p:spPr bwMode="auto">
          <a:xfrm>
            <a:off x="3410744" y="4222229"/>
            <a:ext cx="573841" cy="0"/>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34" name="Straight Connector 33"/>
          <p:cNvCxnSpPr/>
          <p:nvPr/>
        </p:nvCxnSpPr>
        <p:spPr bwMode="auto">
          <a:xfrm>
            <a:off x="3410744" y="4366245"/>
            <a:ext cx="573841" cy="0"/>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35" name="Straight Connector 34"/>
          <p:cNvCxnSpPr>
            <a:stCxn id="31" idx="3"/>
            <a:endCxn id="26" idx="1"/>
          </p:cNvCxnSpPr>
          <p:nvPr/>
        </p:nvCxnSpPr>
        <p:spPr bwMode="auto">
          <a:xfrm>
            <a:off x="5508104" y="4291955"/>
            <a:ext cx="513184" cy="4284"/>
          </a:xfrm>
          <a:prstGeom prst="line">
            <a:avLst/>
          </a:prstGeom>
          <a:solidFill>
            <a:schemeClr val="accent1"/>
          </a:solidFill>
          <a:ln w="25400" cap="flat" cmpd="sng" algn="ctr">
            <a:solidFill>
              <a:schemeClr val="tx1"/>
            </a:solidFill>
            <a:prstDash val="solid"/>
            <a:round/>
            <a:headEnd type="none" w="med" len="med"/>
            <a:tailEnd type="arrow" w="lg" len="lg"/>
          </a:ln>
          <a:effectLst/>
        </p:spPr>
      </p:cxnSp>
    </p:spTree>
    <p:extLst>
      <p:ext uri="{BB962C8B-B14F-4D97-AF65-F5344CB8AC3E}">
        <p14:creationId xmlns:p14="http://schemas.microsoft.com/office/powerpoint/2010/main" val="238297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5" grpId="0" animBg="1"/>
      <p:bldP spid="26" grpId="0" animBg="1"/>
      <p:bldP spid="27" grpId="0" animBg="1"/>
      <p:bldP spid="29" grpId="0" animBg="1"/>
      <p:bldP spid="31" grpId="0" animBg="1"/>
      <p:bldP spid="3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a:t>
            </a:r>
          </a:p>
        </p:txBody>
      </p:sp>
      <p:sp>
        <p:nvSpPr>
          <p:cNvPr id="3" name="Content Placeholder 2"/>
          <p:cNvSpPr>
            <a:spLocks noGrp="1"/>
          </p:cNvSpPr>
          <p:nvPr>
            <p:ph idx="1"/>
          </p:nvPr>
        </p:nvSpPr>
        <p:spPr/>
        <p:txBody>
          <a:bodyPr/>
          <a:lstStyle/>
          <a:p>
            <a:r>
              <a:rPr lang="en-US" dirty="0"/>
              <a:t>Elements of ER Diagrams</a:t>
            </a:r>
          </a:p>
          <a:p>
            <a:pPr lvl="1"/>
            <a:r>
              <a:rPr lang="en-US" dirty="0"/>
              <a:t>Entities Sets</a:t>
            </a:r>
          </a:p>
          <a:p>
            <a:pPr lvl="1"/>
            <a:r>
              <a:rPr lang="en-US" dirty="0"/>
              <a:t>Relationships</a:t>
            </a:r>
          </a:p>
          <a:p>
            <a:pPr lvl="1"/>
            <a:r>
              <a:rPr lang="en-US" dirty="0"/>
              <a:t>Attributes</a:t>
            </a:r>
          </a:p>
          <a:p>
            <a:pPr lvl="1"/>
            <a:r>
              <a:rPr lang="en-US" dirty="0"/>
              <a:t>Weak Entities Sets</a:t>
            </a:r>
          </a:p>
          <a:p>
            <a:pPr lvl="1"/>
            <a:r>
              <a:rPr lang="en-US" dirty="0"/>
              <a:t>Subclasses</a:t>
            </a:r>
          </a:p>
          <a:p>
            <a:r>
              <a:rPr lang="en-US" dirty="0"/>
              <a:t>How do we design an ER Diagram for an application?</a:t>
            </a:r>
          </a:p>
        </p:txBody>
      </p:sp>
    </p:spTree>
    <p:extLst>
      <p:ext uri="{BB962C8B-B14F-4D97-AF65-F5344CB8AC3E}">
        <p14:creationId xmlns:p14="http://schemas.microsoft.com/office/powerpoint/2010/main" val="359840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From Applications to ER Diagrams</a:t>
            </a:r>
            <a:endParaRPr lang="en-SG" dirty="0"/>
          </a:p>
        </p:txBody>
      </p:sp>
      <p:sp>
        <p:nvSpPr>
          <p:cNvPr id="3" name="Content Placeholder 2"/>
          <p:cNvSpPr>
            <a:spLocks noGrp="1"/>
          </p:cNvSpPr>
          <p:nvPr>
            <p:ph idx="1"/>
          </p:nvPr>
        </p:nvSpPr>
        <p:spPr/>
        <p:txBody>
          <a:bodyPr>
            <a:normAutofit lnSpcReduction="10000"/>
          </a:bodyPr>
          <a:lstStyle/>
          <a:p>
            <a:r>
              <a:rPr lang="en-US" dirty="0"/>
              <a:t>Identify the </a:t>
            </a:r>
            <a:r>
              <a:rPr lang="en-US" dirty="0">
                <a:solidFill>
                  <a:srgbClr val="C00000"/>
                </a:solidFill>
              </a:rPr>
              <a:t>objects</a:t>
            </a:r>
            <a:r>
              <a:rPr lang="en-US" dirty="0"/>
              <a:t> involved in your application</a:t>
            </a:r>
          </a:p>
          <a:p>
            <a:r>
              <a:rPr lang="en-US" dirty="0"/>
              <a:t>Model each type of objects as an entity set</a:t>
            </a:r>
          </a:p>
          <a:p>
            <a:r>
              <a:rPr lang="en-US" dirty="0"/>
              <a:t>Identify the attributes of each entity set</a:t>
            </a:r>
          </a:p>
          <a:p>
            <a:r>
              <a:rPr lang="en-US" dirty="0"/>
              <a:t>Identify the relationships among the entity sets</a:t>
            </a:r>
          </a:p>
          <a:p>
            <a:r>
              <a:rPr lang="en-US" dirty="0"/>
              <a:t>Refine your design</a:t>
            </a:r>
          </a:p>
          <a:p>
            <a:r>
              <a:rPr lang="en-US" dirty="0"/>
              <a:t>Example: A database for </a:t>
            </a:r>
            <a:r>
              <a:rPr lang="en-US" dirty="0" smtClean="0"/>
              <a:t>NUS</a:t>
            </a:r>
            <a:endParaRPr lang="en-US" dirty="0"/>
          </a:p>
          <a:p>
            <a:pPr lvl="1"/>
            <a:r>
              <a:rPr lang="en-US" dirty="0"/>
              <a:t>Objects: Students, Faculties, Schools, Courses…</a:t>
            </a:r>
          </a:p>
          <a:p>
            <a:pPr lvl="1"/>
            <a:r>
              <a:rPr lang="en-US" dirty="0"/>
              <a:t>Entity sets: Students, Faculties, Schools, Courses…</a:t>
            </a:r>
          </a:p>
          <a:p>
            <a:pPr lvl="1"/>
            <a:r>
              <a:rPr lang="en-US" dirty="0"/>
              <a:t>Relationships: course-enrollment, course-lecturer…</a:t>
            </a:r>
          </a:p>
        </p:txBody>
      </p:sp>
    </p:spTree>
    <p:extLst>
      <p:ext uri="{BB962C8B-B14F-4D97-AF65-F5344CB8AC3E}">
        <p14:creationId xmlns:p14="http://schemas.microsoft.com/office/powerpoint/2010/main" val="340923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Principle 1: Be Faithful</a:t>
            </a:r>
            <a:endParaRPr lang="en-SG" dirty="0"/>
          </a:p>
        </p:txBody>
      </p:sp>
      <p:sp>
        <p:nvSpPr>
          <p:cNvPr id="3" name="Content Placeholder 2"/>
          <p:cNvSpPr>
            <a:spLocks noGrp="1"/>
          </p:cNvSpPr>
          <p:nvPr>
            <p:ph idx="1"/>
          </p:nvPr>
        </p:nvSpPr>
        <p:spPr/>
        <p:txBody>
          <a:bodyPr/>
          <a:lstStyle/>
          <a:p>
            <a:r>
              <a:rPr lang="en-US" dirty="0"/>
              <a:t>Be faithful to the specifications of the application</a:t>
            </a:r>
            <a:endParaRPr lang="en-SG" dirty="0"/>
          </a:p>
          <a:p>
            <a:r>
              <a:rPr lang="en-US" dirty="0"/>
              <a:t>Capture the requirements as much as possible</a:t>
            </a:r>
            <a:endParaRPr lang="en-SG" dirty="0"/>
          </a:p>
          <a:p>
            <a:r>
              <a:rPr lang="en-SG" dirty="0"/>
              <a:t>Example: In one of our previous exercises…</a:t>
            </a:r>
          </a:p>
          <a:p>
            <a:pPr lvl="1"/>
            <a:r>
              <a:rPr lang="en-US" dirty="0"/>
              <a:t>Each player has a name and a number</a:t>
            </a:r>
          </a:p>
          <a:p>
            <a:pPr lvl="1"/>
            <a:endParaRPr lang="en-SG" dirty="0"/>
          </a:p>
        </p:txBody>
      </p:sp>
      <p:sp>
        <p:nvSpPr>
          <p:cNvPr id="4" name="Rectangle 3"/>
          <p:cNvSpPr>
            <a:spLocks noChangeArrowheads="1"/>
          </p:cNvSpPr>
          <p:nvPr/>
        </p:nvSpPr>
        <p:spPr bwMode="auto">
          <a:xfrm>
            <a:off x="2454135" y="4366245"/>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Players</a:t>
            </a:r>
          </a:p>
        </p:txBody>
      </p:sp>
      <p:sp>
        <p:nvSpPr>
          <p:cNvPr id="5" name="Oval 25"/>
          <p:cNvSpPr>
            <a:spLocks noChangeArrowheads="1"/>
          </p:cNvSpPr>
          <p:nvPr/>
        </p:nvSpPr>
        <p:spPr bwMode="auto">
          <a:xfrm>
            <a:off x="924440" y="397189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name</a:t>
            </a:r>
          </a:p>
        </p:txBody>
      </p:sp>
      <p:cxnSp>
        <p:nvCxnSpPr>
          <p:cNvPr id="6" name="Straight Connector 5"/>
          <p:cNvCxnSpPr>
            <a:stCxn id="5" idx="6"/>
            <a:endCxn id="4" idx="1"/>
          </p:cNvCxnSpPr>
          <p:nvPr/>
        </p:nvCxnSpPr>
        <p:spPr bwMode="auto">
          <a:xfrm>
            <a:off x="2067440" y="4257646"/>
            <a:ext cx="386695" cy="56579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7" name="Oval 25"/>
          <p:cNvSpPr>
            <a:spLocks noChangeArrowheads="1"/>
          </p:cNvSpPr>
          <p:nvPr/>
        </p:nvSpPr>
        <p:spPr bwMode="auto">
          <a:xfrm>
            <a:off x="683568" y="4945732"/>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number</a:t>
            </a:r>
          </a:p>
        </p:txBody>
      </p:sp>
      <p:cxnSp>
        <p:nvCxnSpPr>
          <p:cNvPr id="8" name="Straight Connector 7"/>
          <p:cNvCxnSpPr>
            <a:stCxn id="7" idx="6"/>
            <a:endCxn id="4" idx="1"/>
          </p:cNvCxnSpPr>
          <p:nvPr/>
        </p:nvCxnSpPr>
        <p:spPr bwMode="auto">
          <a:xfrm flipV="1">
            <a:off x="2308312" y="4823445"/>
            <a:ext cx="145823" cy="408037"/>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0" name="Rectangle 9"/>
          <p:cNvSpPr>
            <a:spLocks noChangeArrowheads="1"/>
          </p:cNvSpPr>
          <p:nvPr/>
        </p:nvSpPr>
        <p:spPr bwMode="auto">
          <a:xfrm>
            <a:off x="6630599" y="4399413"/>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400" dirty="0">
                <a:latin typeface="Calibri" pitchFamily="34" charset="0"/>
              </a:rPr>
              <a:t>Players</a:t>
            </a:r>
          </a:p>
        </p:txBody>
      </p:sp>
      <p:sp>
        <p:nvSpPr>
          <p:cNvPr id="11" name="Oval 25"/>
          <p:cNvSpPr>
            <a:spLocks noChangeArrowheads="1"/>
          </p:cNvSpPr>
          <p:nvPr/>
        </p:nvSpPr>
        <p:spPr bwMode="auto">
          <a:xfrm>
            <a:off x="5100904" y="400506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latin typeface="Calibri" pitchFamily="34" charset="0"/>
              </a:rPr>
              <a:t>name</a:t>
            </a:r>
          </a:p>
        </p:txBody>
      </p:sp>
      <p:cxnSp>
        <p:nvCxnSpPr>
          <p:cNvPr id="12" name="Straight Connector 11"/>
          <p:cNvCxnSpPr>
            <a:stCxn id="11" idx="6"/>
            <a:endCxn id="10" idx="1"/>
          </p:cNvCxnSpPr>
          <p:nvPr/>
        </p:nvCxnSpPr>
        <p:spPr bwMode="auto">
          <a:xfrm>
            <a:off x="6243904" y="4290814"/>
            <a:ext cx="386695" cy="565799"/>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2454135" y="5517232"/>
            <a:ext cx="317665" cy="576064"/>
          </a:xfrm>
          <a:prstGeom prst="line">
            <a:avLst/>
          </a:prstGeom>
          <a:solidFill>
            <a:schemeClr val="accent1"/>
          </a:solidFill>
          <a:ln w="50800" cap="flat" cmpd="sng" algn="ctr">
            <a:solidFill>
              <a:srgbClr val="008000"/>
            </a:solidFill>
            <a:prstDash val="solid"/>
            <a:round/>
            <a:headEnd type="none" w="med" len="med"/>
            <a:tailEnd type="none" w="med" len="med"/>
          </a:ln>
          <a:effectLst/>
        </p:spPr>
      </p:cxnSp>
      <p:cxnSp>
        <p:nvCxnSpPr>
          <p:cNvPr id="17" name="Straight Connector 16"/>
          <p:cNvCxnSpPr/>
          <p:nvPr/>
        </p:nvCxnSpPr>
        <p:spPr bwMode="auto">
          <a:xfrm flipV="1">
            <a:off x="2771800" y="5313814"/>
            <a:ext cx="1224136" cy="779482"/>
          </a:xfrm>
          <a:prstGeom prst="line">
            <a:avLst/>
          </a:prstGeom>
          <a:solidFill>
            <a:schemeClr val="accent1"/>
          </a:solidFill>
          <a:ln w="50800" cap="flat" cmpd="sng" algn="ctr">
            <a:solidFill>
              <a:srgbClr val="008000"/>
            </a:solidFill>
            <a:prstDash val="solid"/>
            <a:round/>
            <a:headEnd type="none" w="med" len="med"/>
            <a:tailEnd type="none" w="med" len="med"/>
          </a:ln>
          <a:effectLst/>
        </p:spPr>
      </p:cxnSp>
      <p:cxnSp>
        <p:nvCxnSpPr>
          <p:cNvPr id="21" name="Straight Connector 20"/>
          <p:cNvCxnSpPr/>
          <p:nvPr/>
        </p:nvCxnSpPr>
        <p:spPr bwMode="auto">
          <a:xfrm flipV="1">
            <a:off x="6876256" y="5341930"/>
            <a:ext cx="901907" cy="895382"/>
          </a:xfrm>
          <a:prstGeom prst="line">
            <a:avLst/>
          </a:prstGeom>
          <a:solidFill>
            <a:schemeClr val="accent1"/>
          </a:solidFill>
          <a:ln w="50800" cap="flat" cmpd="sng" algn="ctr">
            <a:solidFill>
              <a:srgbClr val="C00000"/>
            </a:solidFill>
            <a:prstDash val="solid"/>
            <a:round/>
            <a:headEnd type="none" w="med" len="med"/>
            <a:tailEnd type="none" w="med" len="med"/>
          </a:ln>
          <a:effectLst/>
        </p:spPr>
      </p:cxnSp>
      <p:cxnSp>
        <p:nvCxnSpPr>
          <p:cNvPr id="23" name="Straight Connector 22"/>
          <p:cNvCxnSpPr/>
          <p:nvPr/>
        </p:nvCxnSpPr>
        <p:spPr bwMode="auto">
          <a:xfrm flipH="1" flipV="1">
            <a:off x="6910453" y="5350314"/>
            <a:ext cx="901907" cy="895382"/>
          </a:xfrm>
          <a:prstGeom prst="line">
            <a:avLst/>
          </a:prstGeom>
          <a:solidFill>
            <a:schemeClr val="accent1"/>
          </a:solidFill>
          <a:ln w="50800" cap="flat" cmpd="sng" algn="ctr">
            <a:solidFill>
              <a:srgbClr val="C00000"/>
            </a:solidFill>
            <a:prstDash val="solid"/>
            <a:round/>
            <a:headEnd type="none" w="med" len="med"/>
            <a:tailEnd type="none" w="med" len="med"/>
          </a:ln>
          <a:effectLst/>
        </p:spPr>
      </p:cxnSp>
    </p:spTree>
    <p:extLst>
      <p:ext uri="{BB962C8B-B14F-4D97-AF65-F5344CB8AC3E}">
        <p14:creationId xmlns:p14="http://schemas.microsoft.com/office/powerpoint/2010/main" val="395341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0" grpId="0" animBg="1"/>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dirty="0"/>
              <a:t>Design Principle 2: Avoid Redundancy</a:t>
            </a:r>
            <a:endParaRPr lang="en-SG" sz="3400" dirty="0"/>
          </a:p>
        </p:txBody>
      </p:sp>
      <p:sp>
        <p:nvSpPr>
          <p:cNvPr id="3" name="Content Placeholder 2"/>
          <p:cNvSpPr>
            <a:spLocks noGrp="1"/>
          </p:cNvSpPr>
          <p:nvPr>
            <p:ph idx="1"/>
          </p:nvPr>
        </p:nvSpPr>
        <p:spPr>
          <a:xfrm>
            <a:off x="457200" y="1340768"/>
            <a:ext cx="8229600" cy="4790157"/>
          </a:xfrm>
        </p:spPr>
        <p:txBody>
          <a:bodyPr>
            <a:normAutofit fontScale="92500" lnSpcReduction="20000"/>
          </a:bodyPr>
          <a:lstStyle/>
          <a:p>
            <a:r>
              <a:rPr lang="en-US" dirty="0"/>
              <a:t>Example</a:t>
            </a:r>
          </a:p>
          <a:p>
            <a:endParaRPr lang="en-US" dirty="0"/>
          </a:p>
          <a:p>
            <a:endParaRPr lang="en-US" dirty="0"/>
          </a:p>
          <a:p>
            <a:endParaRPr lang="en-US" dirty="0"/>
          </a:p>
          <a:p>
            <a:endParaRPr lang="en-US" dirty="0"/>
          </a:p>
          <a:p>
            <a:endParaRPr lang="en-US" dirty="0"/>
          </a:p>
          <a:p>
            <a:endParaRPr lang="en-US" dirty="0"/>
          </a:p>
          <a:p>
            <a:r>
              <a:rPr lang="en-US" dirty="0"/>
              <a:t>The “mentor” attribute of student is redundant here</a:t>
            </a:r>
          </a:p>
          <a:p>
            <a:r>
              <a:rPr lang="en-US" dirty="0"/>
              <a:t>Problems that can be caused by redundancy</a:t>
            </a:r>
          </a:p>
          <a:p>
            <a:pPr lvl="1"/>
            <a:r>
              <a:rPr lang="en-US" dirty="0"/>
              <a:t>Waste of space</a:t>
            </a:r>
          </a:p>
          <a:p>
            <a:pPr lvl="1"/>
            <a:r>
              <a:rPr lang="en-US" dirty="0"/>
              <a:t>Possible inconsistency</a:t>
            </a:r>
            <a:endParaRPr lang="en-SG" dirty="0"/>
          </a:p>
        </p:txBody>
      </p:sp>
      <p:sp>
        <p:nvSpPr>
          <p:cNvPr id="4" name="Rectangle 5"/>
          <p:cNvSpPr>
            <a:spLocks noChangeArrowheads="1"/>
          </p:cNvSpPr>
          <p:nvPr/>
        </p:nvSpPr>
        <p:spPr bwMode="auto">
          <a:xfrm>
            <a:off x="5790685" y="2418605"/>
            <a:ext cx="129614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Faculties</a:t>
            </a:r>
          </a:p>
        </p:txBody>
      </p:sp>
      <p:sp>
        <p:nvSpPr>
          <p:cNvPr id="5" name="Oval 28"/>
          <p:cNvSpPr>
            <a:spLocks noChangeArrowheads="1"/>
          </p:cNvSpPr>
          <p:nvPr/>
        </p:nvSpPr>
        <p:spPr bwMode="auto">
          <a:xfrm>
            <a:off x="7380312" y="213285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6" name="Oval 29"/>
          <p:cNvSpPr>
            <a:spLocks noChangeArrowheads="1"/>
          </p:cNvSpPr>
          <p:nvPr/>
        </p:nvSpPr>
        <p:spPr bwMode="auto">
          <a:xfrm>
            <a:off x="7380312" y="28571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7" name="Rectangle 3"/>
          <p:cNvSpPr>
            <a:spLocks noChangeArrowheads="1"/>
          </p:cNvSpPr>
          <p:nvPr/>
        </p:nvSpPr>
        <p:spPr bwMode="auto">
          <a:xfrm>
            <a:off x="1907704" y="2416324"/>
            <a:ext cx="151216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Students</a:t>
            </a:r>
          </a:p>
        </p:txBody>
      </p:sp>
      <p:sp>
        <p:nvSpPr>
          <p:cNvPr id="8" name="Oval 25"/>
          <p:cNvSpPr>
            <a:spLocks noChangeArrowheads="1"/>
          </p:cNvSpPr>
          <p:nvPr/>
        </p:nvSpPr>
        <p:spPr bwMode="auto">
          <a:xfrm>
            <a:off x="497024" y="206084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9" name="Oval 26"/>
          <p:cNvSpPr>
            <a:spLocks noChangeArrowheads="1"/>
          </p:cNvSpPr>
          <p:nvPr/>
        </p:nvSpPr>
        <p:spPr bwMode="auto">
          <a:xfrm>
            <a:off x="497024" y="27809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10" name="Oval 27"/>
          <p:cNvSpPr>
            <a:spLocks noChangeArrowheads="1"/>
          </p:cNvSpPr>
          <p:nvPr/>
        </p:nvSpPr>
        <p:spPr bwMode="auto">
          <a:xfrm>
            <a:off x="497024" y="3471013"/>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mentor</a:t>
            </a:r>
          </a:p>
        </p:txBody>
      </p:sp>
      <p:sp>
        <p:nvSpPr>
          <p:cNvPr id="11" name="AutoShape 10"/>
          <p:cNvSpPr>
            <a:spLocks noChangeArrowheads="1"/>
          </p:cNvSpPr>
          <p:nvPr/>
        </p:nvSpPr>
        <p:spPr bwMode="auto">
          <a:xfrm>
            <a:off x="3928864" y="2361828"/>
            <a:ext cx="143522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Mentor</a:t>
            </a:r>
          </a:p>
        </p:txBody>
      </p:sp>
      <p:cxnSp>
        <p:nvCxnSpPr>
          <p:cNvPr id="12" name="Straight Connector 11"/>
          <p:cNvCxnSpPr>
            <a:endCxn id="7" idx="1"/>
          </p:cNvCxnSpPr>
          <p:nvPr/>
        </p:nvCxnSpPr>
        <p:spPr bwMode="auto">
          <a:xfrm>
            <a:off x="1640024" y="2346598"/>
            <a:ext cx="267680" cy="526926"/>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3" name="Straight Connector 12"/>
          <p:cNvCxnSpPr>
            <a:stCxn id="9" idx="6"/>
            <a:endCxn id="7" idx="1"/>
          </p:cNvCxnSpPr>
          <p:nvPr/>
        </p:nvCxnSpPr>
        <p:spPr bwMode="auto">
          <a:xfrm flipV="1">
            <a:off x="1640024" y="2873524"/>
            <a:ext cx="267680" cy="19315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4" name="Straight Connector 13"/>
          <p:cNvCxnSpPr>
            <a:stCxn id="7" idx="1"/>
            <a:endCxn id="10" idx="6"/>
          </p:cNvCxnSpPr>
          <p:nvPr/>
        </p:nvCxnSpPr>
        <p:spPr bwMode="auto">
          <a:xfrm flipH="1">
            <a:off x="1640024" y="2873524"/>
            <a:ext cx="267680" cy="883239"/>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5" name="Straight Connector 14"/>
          <p:cNvCxnSpPr>
            <a:stCxn id="7" idx="3"/>
            <a:endCxn id="11" idx="1"/>
          </p:cNvCxnSpPr>
          <p:nvPr/>
        </p:nvCxnSpPr>
        <p:spPr bwMode="auto">
          <a:xfrm flipV="1">
            <a:off x="3419872" y="2857128"/>
            <a:ext cx="508992" cy="16396"/>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6" name="Straight Connector 15"/>
          <p:cNvCxnSpPr>
            <a:stCxn id="11" idx="3"/>
            <a:endCxn id="4" idx="1"/>
          </p:cNvCxnSpPr>
          <p:nvPr/>
        </p:nvCxnSpPr>
        <p:spPr bwMode="auto">
          <a:xfrm>
            <a:off x="5364088" y="2857128"/>
            <a:ext cx="426597" cy="18677"/>
          </a:xfrm>
          <a:prstGeom prst="line">
            <a:avLst/>
          </a:prstGeom>
          <a:solidFill>
            <a:schemeClr val="accent1"/>
          </a:solidFill>
          <a:ln w="25400" cap="flat" cmpd="sng" algn="ctr">
            <a:solidFill>
              <a:schemeClr val="tx1"/>
            </a:solidFill>
            <a:prstDash val="solid"/>
            <a:round/>
            <a:headEnd type="none" w="med" len="med"/>
            <a:tailEnd type="arrow" w="lg" len="lg"/>
          </a:ln>
          <a:effectLst/>
        </p:spPr>
      </p:cxnSp>
      <p:cxnSp>
        <p:nvCxnSpPr>
          <p:cNvPr id="17" name="Straight Connector 16"/>
          <p:cNvCxnSpPr>
            <a:stCxn id="5" idx="2"/>
            <a:endCxn id="4" idx="3"/>
          </p:cNvCxnSpPr>
          <p:nvPr/>
        </p:nvCxnSpPr>
        <p:spPr bwMode="auto">
          <a:xfrm flipH="1">
            <a:off x="7086829" y="2418606"/>
            <a:ext cx="293483" cy="457199"/>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8" name="Straight Connector 17"/>
          <p:cNvCxnSpPr>
            <a:stCxn id="4" idx="3"/>
            <a:endCxn id="6" idx="2"/>
          </p:cNvCxnSpPr>
          <p:nvPr/>
        </p:nvCxnSpPr>
        <p:spPr bwMode="auto">
          <a:xfrm>
            <a:off x="7086829" y="2875805"/>
            <a:ext cx="293483" cy="267073"/>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73443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Design Principle 3: Keep It Simple</a:t>
            </a:r>
            <a:endParaRPr lang="en-SG" sz="3600" dirty="0"/>
          </a:p>
        </p:txBody>
      </p:sp>
      <p:sp>
        <p:nvSpPr>
          <p:cNvPr id="3" name="Content Placeholder 2"/>
          <p:cNvSpPr>
            <a:spLocks noGrp="1"/>
          </p:cNvSpPr>
          <p:nvPr>
            <p:ph idx="1"/>
          </p:nvPr>
        </p:nvSpPr>
        <p:spPr>
          <a:xfrm>
            <a:off x="457200" y="1196752"/>
            <a:ext cx="8229600" cy="2304256"/>
          </a:xfrm>
        </p:spPr>
        <p:txBody>
          <a:bodyPr>
            <a:normAutofit fontScale="92500" lnSpcReduction="10000"/>
          </a:bodyPr>
          <a:lstStyle/>
          <a:p>
            <a:r>
              <a:rPr lang="en-US" dirty="0"/>
              <a:t>Each student is mentored by one faculty</a:t>
            </a:r>
          </a:p>
          <a:p>
            <a:r>
              <a:rPr lang="en-US" dirty="0"/>
              <a:t>One faculty can mentor multiple students</a:t>
            </a:r>
          </a:p>
          <a:p>
            <a:r>
              <a:rPr lang="en-US" dirty="0"/>
              <a:t>We also record the number of times that a mentee meets with his/her mentor</a:t>
            </a:r>
          </a:p>
          <a:p>
            <a:r>
              <a:rPr lang="en-US" dirty="0"/>
              <a:t>Design below: Not wrong, but can be simplified</a:t>
            </a:r>
            <a:endParaRPr lang="en-SG" dirty="0"/>
          </a:p>
          <a:p>
            <a:endParaRPr lang="en-SG" dirty="0"/>
          </a:p>
        </p:txBody>
      </p:sp>
      <p:sp>
        <p:nvSpPr>
          <p:cNvPr id="4" name="Rectangle 4"/>
          <p:cNvSpPr>
            <a:spLocks noChangeArrowheads="1"/>
          </p:cNvSpPr>
          <p:nvPr/>
        </p:nvSpPr>
        <p:spPr bwMode="auto">
          <a:xfrm>
            <a:off x="6084168" y="4674840"/>
            <a:ext cx="151216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Faculties</a:t>
            </a:r>
          </a:p>
        </p:txBody>
      </p:sp>
      <p:sp>
        <p:nvSpPr>
          <p:cNvPr id="9" name="Rectangle 3"/>
          <p:cNvSpPr>
            <a:spLocks noChangeArrowheads="1"/>
          </p:cNvSpPr>
          <p:nvPr/>
        </p:nvSpPr>
        <p:spPr bwMode="auto">
          <a:xfrm>
            <a:off x="1340768" y="4653136"/>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Students</a:t>
            </a:r>
          </a:p>
        </p:txBody>
      </p:sp>
      <p:sp>
        <p:nvSpPr>
          <p:cNvPr id="12" name="Line 17"/>
          <p:cNvSpPr>
            <a:spLocks noChangeShapeType="1"/>
          </p:cNvSpPr>
          <p:nvPr/>
        </p:nvSpPr>
        <p:spPr bwMode="auto">
          <a:xfrm flipV="1">
            <a:off x="5068416" y="5373217"/>
            <a:ext cx="1015752" cy="292948"/>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AutoShape 11"/>
          <p:cNvSpPr>
            <a:spLocks noChangeArrowheads="1"/>
          </p:cNvSpPr>
          <p:nvPr/>
        </p:nvSpPr>
        <p:spPr bwMode="auto">
          <a:xfrm>
            <a:off x="3628256" y="5174704"/>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Mentor</a:t>
            </a:r>
          </a:p>
        </p:txBody>
      </p:sp>
      <p:sp>
        <p:nvSpPr>
          <p:cNvPr id="15" name="Line 22"/>
          <p:cNvSpPr>
            <a:spLocks noChangeShapeType="1"/>
          </p:cNvSpPr>
          <p:nvPr/>
        </p:nvSpPr>
        <p:spPr bwMode="auto">
          <a:xfrm flipH="1" flipV="1">
            <a:off x="2855912" y="5271490"/>
            <a:ext cx="772344" cy="3946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Line 17"/>
          <p:cNvSpPr>
            <a:spLocks noChangeShapeType="1"/>
          </p:cNvSpPr>
          <p:nvPr/>
        </p:nvSpPr>
        <p:spPr bwMode="auto">
          <a:xfrm>
            <a:off x="5068416" y="4500365"/>
            <a:ext cx="1015752" cy="49530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AutoShape 11"/>
          <p:cNvSpPr>
            <a:spLocks noChangeArrowheads="1"/>
          </p:cNvSpPr>
          <p:nvPr/>
        </p:nvSpPr>
        <p:spPr bwMode="auto">
          <a:xfrm>
            <a:off x="3635896" y="4005064"/>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Meet</a:t>
            </a:r>
          </a:p>
        </p:txBody>
      </p:sp>
      <p:sp>
        <p:nvSpPr>
          <p:cNvPr id="18" name="Line 22"/>
          <p:cNvSpPr>
            <a:spLocks noChangeShapeType="1"/>
          </p:cNvSpPr>
          <p:nvPr/>
        </p:nvSpPr>
        <p:spPr bwMode="auto">
          <a:xfrm flipH="1">
            <a:off x="2855912" y="4500365"/>
            <a:ext cx="779984" cy="49529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9" name="Oval 27"/>
          <p:cNvSpPr>
            <a:spLocks noChangeArrowheads="1"/>
          </p:cNvSpPr>
          <p:nvPr/>
        </p:nvSpPr>
        <p:spPr bwMode="auto">
          <a:xfrm>
            <a:off x="5148064" y="3719314"/>
            <a:ext cx="12961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number</a:t>
            </a:r>
          </a:p>
        </p:txBody>
      </p:sp>
      <p:cxnSp>
        <p:nvCxnSpPr>
          <p:cNvPr id="20" name="Straight Connector 19"/>
          <p:cNvCxnSpPr>
            <a:stCxn id="19" idx="2"/>
          </p:cNvCxnSpPr>
          <p:nvPr/>
        </p:nvCxnSpPr>
        <p:spPr bwMode="auto">
          <a:xfrm flipH="1">
            <a:off x="4355976" y="4005064"/>
            <a:ext cx="79208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46093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7" grpId="0" animBg="1"/>
      <p:bldP spid="18" grpId="0" animBg="1"/>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Design Principle 3: Keep It Simple</a:t>
            </a:r>
            <a:endParaRPr lang="en-SG" sz="3600" dirty="0"/>
          </a:p>
        </p:txBody>
      </p:sp>
      <p:sp>
        <p:nvSpPr>
          <p:cNvPr id="3" name="Content Placeholder 2"/>
          <p:cNvSpPr>
            <a:spLocks noGrp="1"/>
          </p:cNvSpPr>
          <p:nvPr>
            <p:ph idx="1"/>
          </p:nvPr>
        </p:nvSpPr>
        <p:spPr>
          <a:xfrm>
            <a:off x="457200" y="1196752"/>
            <a:ext cx="8229600" cy="2304256"/>
          </a:xfrm>
        </p:spPr>
        <p:txBody>
          <a:bodyPr>
            <a:normAutofit fontScale="92500" lnSpcReduction="10000"/>
          </a:bodyPr>
          <a:lstStyle/>
          <a:p>
            <a:r>
              <a:rPr lang="en-US" dirty="0"/>
              <a:t>Each student is mentored by one faculty</a:t>
            </a:r>
          </a:p>
          <a:p>
            <a:r>
              <a:rPr lang="en-US" dirty="0"/>
              <a:t>One faculty can mentor multiple students</a:t>
            </a:r>
          </a:p>
          <a:p>
            <a:r>
              <a:rPr lang="en-US" dirty="0"/>
              <a:t>We also record the number of times that a mentee meets with his/her mentor</a:t>
            </a:r>
          </a:p>
          <a:p>
            <a:r>
              <a:rPr lang="en-US" dirty="0"/>
              <a:t>Better Design:</a:t>
            </a:r>
            <a:endParaRPr lang="en-SG" dirty="0"/>
          </a:p>
          <a:p>
            <a:endParaRPr lang="en-SG" dirty="0"/>
          </a:p>
        </p:txBody>
      </p:sp>
      <p:sp>
        <p:nvSpPr>
          <p:cNvPr id="4" name="Rectangle 4"/>
          <p:cNvSpPr>
            <a:spLocks noChangeArrowheads="1"/>
          </p:cNvSpPr>
          <p:nvPr/>
        </p:nvSpPr>
        <p:spPr bwMode="auto">
          <a:xfrm>
            <a:off x="6084168" y="4674840"/>
            <a:ext cx="151216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Faculties</a:t>
            </a:r>
          </a:p>
        </p:txBody>
      </p:sp>
      <p:sp>
        <p:nvSpPr>
          <p:cNvPr id="9" name="Rectangle 3"/>
          <p:cNvSpPr>
            <a:spLocks noChangeArrowheads="1"/>
          </p:cNvSpPr>
          <p:nvPr/>
        </p:nvSpPr>
        <p:spPr bwMode="auto">
          <a:xfrm>
            <a:off x="1340768" y="4653136"/>
            <a:ext cx="150304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Students</a:t>
            </a:r>
          </a:p>
        </p:txBody>
      </p:sp>
      <p:sp>
        <p:nvSpPr>
          <p:cNvPr id="12" name="Line 17"/>
          <p:cNvSpPr>
            <a:spLocks noChangeShapeType="1"/>
          </p:cNvSpPr>
          <p:nvPr/>
        </p:nvSpPr>
        <p:spPr bwMode="auto">
          <a:xfrm flipV="1">
            <a:off x="5068416" y="5373217"/>
            <a:ext cx="1015752" cy="292948"/>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AutoShape 11"/>
          <p:cNvSpPr>
            <a:spLocks noChangeArrowheads="1"/>
          </p:cNvSpPr>
          <p:nvPr/>
        </p:nvSpPr>
        <p:spPr bwMode="auto">
          <a:xfrm>
            <a:off x="3628256" y="5174704"/>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Mentor</a:t>
            </a:r>
          </a:p>
        </p:txBody>
      </p:sp>
      <p:sp>
        <p:nvSpPr>
          <p:cNvPr id="15" name="Line 22"/>
          <p:cNvSpPr>
            <a:spLocks noChangeShapeType="1"/>
          </p:cNvSpPr>
          <p:nvPr/>
        </p:nvSpPr>
        <p:spPr bwMode="auto">
          <a:xfrm flipH="1" flipV="1">
            <a:off x="2855912" y="5271490"/>
            <a:ext cx="772344" cy="3946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1" name="Oval 27"/>
          <p:cNvSpPr>
            <a:spLocks noChangeArrowheads="1"/>
          </p:cNvSpPr>
          <p:nvPr/>
        </p:nvSpPr>
        <p:spPr bwMode="auto">
          <a:xfrm>
            <a:off x="4499992" y="4103340"/>
            <a:ext cx="12961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number</a:t>
            </a:r>
          </a:p>
        </p:txBody>
      </p:sp>
      <p:cxnSp>
        <p:nvCxnSpPr>
          <p:cNvPr id="22" name="Straight Connector 21"/>
          <p:cNvCxnSpPr>
            <a:stCxn id="21" idx="4"/>
            <a:endCxn id="14" idx="0"/>
          </p:cNvCxnSpPr>
          <p:nvPr/>
        </p:nvCxnSpPr>
        <p:spPr bwMode="auto">
          <a:xfrm flipH="1">
            <a:off x="4348336" y="4674840"/>
            <a:ext cx="799728" cy="49986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8029462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Design Principle 3: Keep It Simple</a:t>
            </a:r>
            <a:endParaRPr lang="en-SG" sz="3600" dirty="0"/>
          </a:p>
        </p:txBody>
      </p:sp>
      <p:sp>
        <p:nvSpPr>
          <p:cNvPr id="3" name="Content Placeholder 2"/>
          <p:cNvSpPr>
            <a:spLocks noGrp="1"/>
          </p:cNvSpPr>
          <p:nvPr>
            <p:ph idx="1"/>
          </p:nvPr>
        </p:nvSpPr>
        <p:spPr>
          <a:xfrm>
            <a:off x="457200" y="1196753"/>
            <a:ext cx="8229600" cy="1368152"/>
          </a:xfrm>
        </p:spPr>
        <p:txBody>
          <a:bodyPr>
            <a:normAutofit fontScale="92500" lnSpcReduction="10000"/>
          </a:bodyPr>
          <a:lstStyle/>
          <a:p>
            <a:r>
              <a:rPr lang="en-US" dirty="0"/>
              <a:t>There are four types of students: Year 1, Year 2, Year 3, Year 4</a:t>
            </a:r>
            <a:endParaRPr lang="en-SG" dirty="0"/>
          </a:p>
          <a:p>
            <a:r>
              <a:rPr lang="en-US" dirty="0"/>
              <a:t>Design below: Not wrong, but can be simplified</a:t>
            </a:r>
            <a:endParaRPr lang="en-SG" dirty="0"/>
          </a:p>
        </p:txBody>
      </p:sp>
      <p:sp>
        <p:nvSpPr>
          <p:cNvPr id="5" name="Rectangle 3"/>
          <p:cNvSpPr>
            <a:spLocks noChangeArrowheads="1"/>
          </p:cNvSpPr>
          <p:nvPr/>
        </p:nvSpPr>
        <p:spPr bwMode="auto">
          <a:xfrm>
            <a:off x="5652120" y="4242792"/>
            <a:ext cx="172819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Students</a:t>
            </a:r>
          </a:p>
        </p:txBody>
      </p:sp>
      <p:cxnSp>
        <p:nvCxnSpPr>
          <p:cNvPr id="8" name="Straight Connector 7"/>
          <p:cNvCxnSpPr>
            <a:stCxn id="30" idx="0"/>
          </p:cNvCxnSpPr>
          <p:nvPr/>
        </p:nvCxnSpPr>
        <p:spPr bwMode="auto">
          <a:xfrm flipV="1">
            <a:off x="4716013" y="4927607"/>
            <a:ext cx="936107" cy="149322"/>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9" name="Rectangle 8"/>
          <p:cNvSpPr>
            <a:spLocks noChangeArrowheads="1"/>
          </p:cNvSpPr>
          <p:nvPr/>
        </p:nvSpPr>
        <p:spPr bwMode="auto">
          <a:xfrm>
            <a:off x="1331640" y="5517232"/>
            <a:ext cx="1359024" cy="567355"/>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Year 4</a:t>
            </a:r>
          </a:p>
        </p:txBody>
      </p:sp>
      <p:cxnSp>
        <p:nvCxnSpPr>
          <p:cNvPr id="10" name="Straight Connector 9"/>
          <p:cNvCxnSpPr>
            <a:stCxn id="9" idx="3"/>
            <a:endCxn id="11" idx="3"/>
          </p:cNvCxnSpPr>
          <p:nvPr/>
        </p:nvCxnSpPr>
        <p:spPr bwMode="auto">
          <a:xfrm flipV="1">
            <a:off x="2690664" y="5797009"/>
            <a:ext cx="987420" cy="3901"/>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11" name="Isosceles Triangle 10"/>
          <p:cNvSpPr/>
          <p:nvPr/>
        </p:nvSpPr>
        <p:spPr bwMode="auto">
          <a:xfrm rot="5400000">
            <a:off x="3900761" y="5278044"/>
            <a:ext cx="592575"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ctr" anchorCtr="1"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12" name="Straight Connector 11"/>
          <p:cNvCxnSpPr>
            <a:stCxn id="11" idx="0"/>
          </p:cNvCxnSpPr>
          <p:nvPr/>
        </p:nvCxnSpPr>
        <p:spPr bwMode="auto">
          <a:xfrm flipV="1">
            <a:off x="4716013" y="5076928"/>
            <a:ext cx="936107" cy="720081"/>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8" name="Rectangle 27"/>
          <p:cNvSpPr>
            <a:spLocks noChangeArrowheads="1"/>
          </p:cNvSpPr>
          <p:nvPr/>
        </p:nvSpPr>
        <p:spPr bwMode="auto">
          <a:xfrm>
            <a:off x="1331640" y="4797152"/>
            <a:ext cx="1359024" cy="567355"/>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Year 3</a:t>
            </a:r>
          </a:p>
        </p:txBody>
      </p:sp>
      <p:cxnSp>
        <p:nvCxnSpPr>
          <p:cNvPr id="29" name="Straight Connector 28"/>
          <p:cNvCxnSpPr>
            <a:stCxn id="28" idx="3"/>
            <a:endCxn id="30" idx="3"/>
          </p:cNvCxnSpPr>
          <p:nvPr/>
        </p:nvCxnSpPr>
        <p:spPr bwMode="auto">
          <a:xfrm flipV="1">
            <a:off x="2690664" y="5076929"/>
            <a:ext cx="987420" cy="3901"/>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0" name="Isosceles Triangle 29"/>
          <p:cNvSpPr/>
          <p:nvPr/>
        </p:nvSpPr>
        <p:spPr bwMode="auto">
          <a:xfrm rot="5400000">
            <a:off x="3900761" y="4557964"/>
            <a:ext cx="592575"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ctr" anchorCtr="1"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31" name="Rectangle 30"/>
          <p:cNvSpPr>
            <a:spLocks noChangeArrowheads="1"/>
          </p:cNvSpPr>
          <p:nvPr/>
        </p:nvSpPr>
        <p:spPr bwMode="auto">
          <a:xfrm>
            <a:off x="1331640" y="4077072"/>
            <a:ext cx="1359024" cy="567355"/>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Year 2</a:t>
            </a:r>
          </a:p>
        </p:txBody>
      </p:sp>
      <p:cxnSp>
        <p:nvCxnSpPr>
          <p:cNvPr id="32" name="Straight Connector 31"/>
          <p:cNvCxnSpPr>
            <a:stCxn id="31" idx="3"/>
            <a:endCxn id="33" idx="3"/>
          </p:cNvCxnSpPr>
          <p:nvPr/>
        </p:nvCxnSpPr>
        <p:spPr bwMode="auto">
          <a:xfrm flipV="1">
            <a:off x="2690664" y="4356849"/>
            <a:ext cx="987420" cy="3901"/>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3" name="Isosceles Triangle 32"/>
          <p:cNvSpPr/>
          <p:nvPr/>
        </p:nvSpPr>
        <p:spPr bwMode="auto">
          <a:xfrm rot="5400000">
            <a:off x="3900761" y="3837884"/>
            <a:ext cx="592575"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ctr" anchorCtr="1"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34" name="Rectangle 33"/>
          <p:cNvSpPr>
            <a:spLocks noChangeArrowheads="1"/>
          </p:cNvSpPr>
          <p:nvPr/>
        </p:nvSpPr>
        <p:spPr bwMode="auto">
          <a:xfrm>
            <a:off x="1331640" y="3356992"/>
            <a:ext cx="1359024" cy="567355"/>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Year 1</a:t>
            </a:r>
          </a:p>
        </p:txBody>
      </p:sp>
      <p:cxnSp>
        <p:nvCxnSpPr>
          <p:cNvPr id="35" name="Straight Connector 34"/>
          <p:cNvCxnSpPr>
            <a:stCxn id="34" idx="3"/>
            <a:endCxn id="36" idx="3"/>
          </p:cNvCxnSpPr>
          <p:nvPr/>
        </p:nvCxnSpPr>
        <p:spPr bwMode="auto">
          <a:xfrm flipV="1">
            <a:off x="2690664" y="3636769"/>
            <a:ext cx="987420" cy="3901"/>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6" name="Isosceles Triangle 35"/>
          <p:cNvSpPr/>
          <p:nvPr/>
        </p:nvSpPr>
        <p:spPr bwMode="auto">
          <a:xfrm rot="5400000">
            <a:off x="3900761" y="3117804"/>
            <a:ext cx="592575"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ctr" anchorCtr="1"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40" name="Straight Connector 39"/>
          <p:cNvCxnSpPr>
            <a:stCxn id="33" idx="0"/>
            <a:endCxn id="5" idx="1"/>
          </p:cNvCxnSpPr>
          <p:nvPr/>
        </p:nvCxnSpPr>
        <p:spPr bwMode="auto">
          <a:xfrm>
            <a:off x="4716013" y="4356849"/>
            <a:ext cx="936107" cy="343143"/>
          </a:xfrm>
          <a:prstGeom prst="line">
            <a:avLst/>
          </a:prstGeom>
          <a:solidFill>
            <a:schemeClr val="accent1"/>
          </a:solidFill>
          <a:ln w="25400" cap="flat" cmpd="sng" algn="ctr">
            <a:solidFill>
              <a:schemeClr val="tx1"/>
            </a:solidFill>
            <a:prstDash val="solid"/>
            <a:round/>
            <a:headEnd type="none" w="med" len="med"/>
            <a:tailEnd type="none" w="lg" len="lg"/>
          </a:ln>
          <a:effectLst/>
        </p:spPr>
      </p:cxnSp>
      <p:cxnSp>
        <p:nvCxnSpPr>
          <p:cNvPr id="43" name="Straight Connector 42"/>
          <p:cNvCxnSpPr>
            <a:stCxn id="36" idx="0"/>
          </p:cNvCxnSpPr>
          <p:nvPr/>
        </p:nvCxnSpPr>
        <p:spPr bwMode="auto">
          <a:xfrm>
            <a:off x="4716013" y="3636769"/>
            <a:ext cx="936107" cy="891651"/>
          </a:xfrm>
          <a:prstGeom prst="line">
            <a:avLst/>
          </a:prstGeom>
          <a:solidFill>
            <a:schemeClr val="accent1"/>
          </a:solidFill>
          <a:ln w="25400" cap="flat" cmpd="sng" algn="ctr">
            <a:solidFill>
              <a:schemeClr val="tx1"/>
            </a:solidFill>
            <a:prstDash val="solid"/>
            <a:round/>
            <a:headEnd type="none" w="med" len="med"/>
            <a:tailEnd type="none" w="lg" len="lg"/>
          </a:ln>
          <a:effectLst/>
        </p:spPr>
      </p:cxnSp>
    </p:spTree>
    <p:extLst>
      <p:ext uri="{BB962C8B-B14F-4D97-AF65-F5344CB8AC3E}">
        <p14:creationId xmlns:p14="http://schemas.microsoft.com/office/powerpoint/2010/main" val="379763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28" grpId="0" animBg="1"/>
      <p:bldP spid="30" grpId="0" animBg="1"/>
      <p:bldP spid="31" grpId="0" animBg="1"/>
      <p:bldP spid="33" grpId="0" animBg="1"/>
      <p:bldP spid="34" grpId="0" animBg="1"/>
      <p:bldP spid="3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Design Principle 3: Keep It Simple</a:t>
            </a:r>
            <a:endParaRPr lang="en-SG" sz="3600" dirty="0"/>
          </a:p>
        </p:txBody>
      </p:sp>
      <p:sp>
        <p:nvSpPr>
          <p:cNvPr id="3" name="Content Placeholder 2"/>
          <p:cNvSpPr>
            <a:spLocks noGrp="1"/>
          </p:cNvSpPr>
          <p:nvPr>
            <p:ph idx="1"/>
          </p:nvPr>
        </p:nvSpPr>
        <p:spPr>
          <a:xfrm>
            <a:off x="457200" y="1196753"/>
            <a:ext cx="8229600" cy="1368152"/>
          </a:xfrm>
        </p:spPr>
        <p:txBody>
          <a:bodyPr>
            <a:normAutofit fontScale="92500" lnSpcReduction="10000"/>
          </a:bodyPr>
          <a:lstStyle/>
          <a:p>
            <a:r>
              <a:rPr lang="en-US" dirty="0"/>
              <a:t>There are four types of students: Year 1, Year 2, Year 3, Year 4</a:t>
            </a:r>
            <a:endParaRPr lang="en-SG" dirty="0"/>
          </a:p>
          <a:p>
            <a:r>
              <a:rPr lang="en-US" dirty="0"/>
              <a:t>Better Design</a:t>
            </a:r>
            <a:endParaRPr lang="en-SG" dirty="0"/>
          </a:p>
        </p:txBody>
      </p:sp>
      <p:sp>
        <p:nvSpPr>
          <p:cNvPr id="5" name="Rectangle 3"/>
          <p:cNvSpPr>
            <a:spLocks noChangeArrowheads="1"/>
          </p:cNvSpPr>
          <p:nvPr/>
        </p:nvSpPr>
        <p:spPr bwMode="auto">
          <a:xfrm>
            <a:off x="5652120" y="4242792"/>
            <a:ext cx="172819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Students</a:t>
            </a:r>
          </a:p>
        </p:txBody>
      </p:sp>
      <p:sp>
        <p:nvSpPr>
          <p:cNvPr id="21" name="Oval 27"/>
          <p:cNvSpPr>
            <a:spLocks noChangeArrowheads="1"/>
          </p:cNvSpPr>
          <p:nvPr/>
        </p:nvSpPr>
        <p:spPr bwMode="auto">
          <a:xfrm>
            <a:off x="3452056" y="4242792"/>
            <a:ext cx="12961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year</a:t>
            </a:r>
          </a:p>
        </p:txBody>
      </p:sp>
      <p:cxnSp>
        <p:nvCxnSpPr>
          <p:cNvPr id="22" name="Straight Connector 21"/>
          <p:cNvCxnSpPr>
            <a:stCxn id="5" idx="1"/>
          </p:cNvCxnSpPr>
          <p:nvPr/>
        </p:nvCxnSpPr>
        <p:spPr bwMode="auto">
          <a:xfrm flipH="1" flipV="1">
            <a:off x="4748200" y="4528542"/>
            <a:ext cx="903920" cy="17145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1888497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 When to Use Subclasses</a:t>
            </a:r>
            <a:endParaRPr lang="en-SG" dirty="0"/>
          </a:p>
        </p:txBody>
      </p:sp>
      <p:sp>
        <p:nvSpPr>
          <p:cNvPr id="3" name="Content Placeholder 2"/>
          <p:cNvSpPr>
            <a:spLocks noGrp="1"/>
          </p:cNvSpPr>
          <p:nvPr>
            <p:ph idx="1"/>
          </p:nvPr>
        </p:nvSpPr>
        <p:spPr>
          <a:xfrm>
            <a:off x="457200" y="1196752"/>
            <a:ext cx="8229600" cy="1108720"/>
          </a:xfrm>
        </p:spPr>
        <p:txBody>
          <a:bodyPr/>
          <a:lstStyle/>
          <a:p>
            <a:r>
              <a:rPr lang="en-US" sz="2800" dirty="0"/>
              <a:t>Case 1: When a subclass has some attribute that is absent from the superclass</a:t>
            </a:r>
            <a:endParaRPr lang="en-SG" sz="2800" dirty="0"/>
          </a:p>
        </p:txBody>
      </p:sp>
      <p:sp>
        <p:nvSpPr>
          <p:cNvPr id="4" name="Rectangle 3"/>
          <p:cNvSpPr>
            <a:spLocks noChangeArrowheads="1"/>
          </p:cNvSpPr>
          <p:nvPr/>
        </p:nvSpPr>
        <p:spPr bwMode="auto">
          <a:xfrm>
            <a:off x="2483768" y="2396345"/>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PhDs</a:t>
            </a:r>
          </a:p>
        </p:txBody>
      </p:sp>
      <p:sp>
        <p:nvSpPr>
          <p:cNvPr id="5" name="Oval 25"/>
          <p:cNvSpPr>
            <a:spLocks noChangeArrowheads="1"/>
          </p:cNvSpPr>
          <p:nvPr/>
        </p:nvSpPr>
        <p:spPr bwMode="auto">
          <a:xfrm>
            <a:off x="497177" y="2567795"/>
            <a:ext cx="1624744"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advisor</a:t>
            </a:r>
          </a:p>
        </p:txBody>
      </p:sp>
      <p:cxnSp>
        <p:nvCxnSpPr>
          <p:cNvPr id="6" name="Straight Connector 5"/>
          <p:cNvCxnSpPr>
            <a:stCxn id="5" idx="6"/>
            <a:endCxn id="4" idx="1"/>
          </p:cNvCxnSpPr>
          <p:nvPr/>
        </p:nvCxnSpPr>
        <p:spPr bwMode="auto">
          <a:xfrm>
            <a:off x="2121921" y="2853545"/>
            <a:ext cx="36184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7" name="Rectangle 3"/>
          <p:cNvSpPr>
            <a:spLocks noChangeArrowheads="1"/>
          </p:cNvSpPr>
          <p:nvPr/>
        </p:nvSpPr>
        <p:spPr bwMode="auto">
          <a:xfrm>
            <a:off x="5652120" y="2396345"/>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Students</a:t>
            </a:r>
          </a:p>
        </p:txBody>
      </p:sp>
      <p:sp>
        <p:nvSpPr>
          <p:cNvPr id="8" name="Oval 25"/>
          <p:cNvSpPr>
            <a:spLocks noChangeArrowheads="1"/>
          </p:cNvSpPr>
          <p:nvPr/>
        </p:nvSpPr>
        <p:spPr bwMode="auto">
          <a:xfrm>
            <a:off x="7452320" y="2094011"/>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9" name="Straight Connector 8"/>
          <p:cNvCxnSpPr>
            <a:stCxn id="8" idx="2"/>
            <a:endCxn id="7" idx="3"/>
          </p:cNvCxnSpPr>
          <p:nvPr/>
        </p:nvCxnSpPr>
        <p:spPr bwMode="auto">
          <a:xfrm flipH="1">
            <a:off x="7020272" y="2379761"/>
            <a:ext cx="432048"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0" name="Oval 25"/>
          <p:cNvSpPr>
            <a:spLocks noChangeArrowheads="1"/>
          </p:cNvSpPr>
          <p:nvPr/>
        </p:nvSpPr>
        <p:spPr bwMode="auto">
          <a:xfrm>
            <a:off x="7452320" y="2886099"/>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11" name="Straight Connector 10"/>
          <p:cNvCxnSpPr>
            <a:stCxn id="10" idx="2"/>
            <a:endCxn id="7" idx="3"/>
          </p:cNvCxnSpPr>
          <p:nvPr/>
        </p:nvCxnSpPr>
        <p:spPr bwMode="auto">
          <a:xfrm flipH="1" flipV="1">
            <a:off x="7020272" y="2853545"/>
            <a:ext cx="432048"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2" name="Straight Connector 11"/>
          <p:cNvCxnSpPr>
            <a:stCxn id="4" idx="3"/>
            <a:endCxn id="7" idx="1"/>
          </p:cNvCxnSpPr>
          <p:nvPr/>
        </p:nvCxnSpPr>
        <p:spPr bwMode="auto">
          <a:xfrm>
            <a:off x="3626768" y="2853545"/>
            <a:ext cx="2025352"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13" name="Isosceles Triangle 12"/>
          <p:cNvSpPr/>
          <p:nvPr/>
        </p:nvSpPr>
        <p:spPr bwMode="auto">
          <a:xfrm rot="5400000">
            <a:off x="4311871" y="2326707"/>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14" name="Content Placeholder 2"/>
          <p:cNvSpPr txBox="1">
            <a:spLocks/>
          </p:cNvSpPr>
          <p:nvPr/>
        </p:nvSpPr>
        <p:spPr bwMode="auto">
          <a:xfrm>
            <a:off x="457034" y="3760440"/>
            <a:ext cx="8229600" cy="11087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accent1"/>
              </a:buClr>
              <a:buSzPct val="65000"/>
              <a:buFont typeface="Wingdings" pitchFamily="2" charset="2"/>
              <a:buChar char="n"/>
              <a:defRPr sz="3200">
                <a:solidFill>
                  <a:schemeClr val="tx1"/>
                </a:solidFill>
                <a:latin typeface="Calibri" pitchFamily="34" charset="0"/>
                <a:ea typeface="+mn-ea"/>
                <a:cs typeface="+mn-cs"/>
              </a:defRPr>
            </a:lvl1pPr>
            <a:lvl2pPr marL="669925" indent="-325438" algn="l" rtl="0" eaLnBrk="1" fontAlgn="base" hangingPunct="1">
              <a:spcBef>
                <a:spcPct val="20000"/>
              </a:spcBef>
              <a:spcAft>
                <a:spcPct val="0"/>
              </a:spcAft>
              <a:buClr>
                <a:schemeClr val="accent2"/>
              </a:buClr>
              <a:buSzPct val="60000"/>
              <a:buFont typeface="Wingdings" pitchFamily="2" charset="2"/>
              <a:buChar char="q"/>
              <a:defRPr sz="2800">
                <a:solidFill>
                  <a:schemeClr val="tx1"/>
                </a:solidFill>
                <a:latin typeface="Calibri" pitchFamily="34" charset="0"/>
                <a:ea typeface="+mn-ea"/>
              </a:defRPr>
            </a:lvl2pPr>
            <a:lvl3pPr marL="1022350" indent="-350838" algn="l" rtl="0" eaLnBrk="1" fontAlgn="base" hangingPunct="1">
              <a:spcBef>
                <a:spcPct val="20000"/>
              </a:spcBef>
              <a:spcAft>
                <a:spcPct val="0"/>
              </a:spcAft>
              <a:buClr>
                <a:schemeClr val="accent1"/>
              </a:buClr>
              <a:buSzPct val="65000"/>
              <a:buFont typeface="Wingdings" pitchFamily="2" charset="2"/>
              <a:buChar char="n"/>
              <a:defRPr sz="2400">
                <a:solidFill>
                  <a:schemeClr val="tx1"/>
                </a:solidFill>
                <a:latin typeface="Calibri" pitchFamily="34" charset="0"/>
                <a:ea typeface="+mn-ea"/>
              </a:defRPr>
            </a:lvl3pPr>
            <a:lvl4pPr marL="1339850" indent="-315913" algn="l" rtl="0" eaLnBrk="1" fontAlgn="base" hangingPunct="1">
              <a:spcBef>
                <a:spcPct val="20000"/>
              </a:spcBef>
              <a:spcAft>
                <a:spcPct val="0"/>
              </a:spcAft>
              <a:buClr>
                <a:schemeClr val="accent2"/>
              </a:buClr>
              <a:buSzPct val="70000"/>
              <a:buFont typeface="Wingdings" pitchFamily="2" charset="2"/>
              <a:buChar char="q"/>
              <a:defRPr sz="2200">
                <a:solidFill>
                  <a:schemeClr val="tx1"/>
                </a:solidFill>
                <a:latin typeface="Calibri" pitchFamily="34" charset="0"/>
                <a:ea typeface="+mn-ea"/>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Calibri" pitchFamily="34" charset="0"/>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r>
              <a:rPr lang="en-US" sz="2800" dirty="0"/>
              <a:t>Case 2: When a subclass has its own relationship with some other entity sets</a:t>
            </a:r>
            <a:endParaRPr lang="en-SG" sz="2800" dirty="0"/>
          </a:p>
        </p:txBody>
      </p:sp>
      <p:sp>
        <p:nvSpPr>
          <p:cNvPr id="15" name="Rectangle 14"/>
          <p:cNvSpPr>
            <a:spLocks noChangeArrowheads="1"/>
          </p:cNvSpPr>
          <p:nvPr/>
        </p:nvSpPr>
        <p:spPr bwMode="auto">
          <a:xfrm>
            <a:off x="4221088" y="5132649"/>
            <a:ext cx="1575048"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Part-Time</a:t>
            </a:r>
          </a:p>
        </p:txBody>
      </p:sp>
      <p:sp>
        <p:nvSpPr>
          <p:cNvPr id="18" name="Rectangle 3"/>
          <p:cNvSpPr>
            <a:spLocks noChangeArrowheads="1"/>
          </p:cNvSpPr>
          <p:nvPr/>
        </p:nvSpPr>
        <p:spPr bwMode="auto">
          <a:xfrm>
            <a:off x="7308304" y="5132649"/>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Students</a:t>
            </a:r>
          </a:p>
        </p:txBody>
      </p:sp>
      <p:cxnSp>
        <p:nvCxnSpPr>
          <p:cNvPr id="23" name="Straight Connector 22"/>
          <p:cNvCxnSpPr>
            <a:stCxn id="15" idx="3"/>
            <a:endCxn id="18" idx="1"/>
          </p:cNvCxnSpPr>
          <p:nvPr/>
        </p:nvCxnSpPr>
        <p:spPr bwMode="auto">
          <a:xfrm>
            <a:off x="5796136" y="5589849"/>
            <a:ext cx="1512168"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4" name="Isosceles Triangle 23"/>
          <p:cNvSpPr/>
          <p:nvPr/>
        </p:nvSpPr>
        <p:spPr bwMode="auto">
          <a:xfrm rot="5400000">
            <a:off x="6154262" y="5063011"/>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37" name="Rectangle 3"/>
          <p:cNvSpPr>
            <a:spLocks noChangeArrowheads="1"/>
          </p:cNvSpPr>
          <p:nvPr/>
        </p:nvSpPr>
        <p:spPr bwMode="auto">
          <a:xfrm>
            <a:off x="497176" y="5124775"/>
            <a:ext cx="1698559"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Companies</a:t>
            </a:r>
          </a:p>
        </p:txBody>
      </p:sp>
      <p:sp>
        <p:nvSpPr>
          <p:cNvPr id="38" name="AutoShape 11"/>
          <p:cNvSpPr>
            <a:spLocks noChangeArrowheads="1"/>
          </p:cNvSpPr>
          <p:nvPr/>
        </p:nvSpPr>
        <p:spPr bwMode="auto">
          <a:xfrm>
            <a:off x="2483768" y="5085184"/>
            <a:ext cx="1440160"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Employ</a:t>
            </a:r>
          </a:p>
        </p:txBody>
      </p:sp>
      <p:cxnSp>
        <p:nvCxnSpPr>
          <p:cNvPr id="39" name="Straight Connector 38"/>
          <p:cNvCxnSpPr>
            <a:stCxn id="37" idx="3"/>
            <a:endCxn id="38" idx="1"/>
          </p:cNvCxnSpPr>
          <p:nvPr/>
        </p:nvCxnSpPr>
        <p:spPr bwMode="auto">
          <a:xfrm flipV="1">
            <a:off x="2195735" y="5580484"/>
            <a:ext cx="288033" cy="1491"/>
          </a:xfrm>
          <a:prstGeom prst="line">
            <a:avLst/>
          </a:prstGeom>
          <a:solidFill>
            <a:schemeClr val="accent1"/>
          </a:solidFill>
          <a:ln w="25400" cap="flat" cmpd="sng" algn="ctr">
            <a:solidFill>
              <a:schemeClr val="tx1"/>
            </a:solidFill>
            <a:prstDash val="solid"/>
            <a:round/>
            <a:headEnd type="none" w="med" len="med"/>
            <a:tailEnd type="none" w="lg" len="lg"/>
          </a:ln>
          <a:effectLst/>
        </p:spPr>
      </p:cxnSp>
      <p:cxnSp>
        <p:nvCxnSpPr>
          <p:cNvPr id="42" name="Straight Connector 41"/>
          <p:cNvCxnSpPr>
            <a:stCxn id="38" idx="3"/>
            <a:endCxn id="15" idx="1"/>
          </p:cNvCxnSpPr>
          <p:nvPr/>
        </p:nvCxnSpPr>
        <p:spPr bwMode="auto">
          <a:xfrm>
            <a:off x="3923928" y="5580484"/>
            <a:ext cx="297160" cy="9365"/>
          </a:xfrm>
          <a:prstGeom prst="line">
            <a:avLst/>
          </a:prstGeom>
          <a:solidFill>
            <a:schemeClr val="accent1"/>
          </a:solidFill>
          <a:ln w="25400" cap="flat" cmpd="sng" algn="ctr">
            <a:solidFill>
              <a:schemeClr val="tx1"/>
            </a:solidFill>
            <a:prstDash val="solid"/>
            <a:round/>
            <a:headEnd type="none" w="med" len="med"/>
            <a:tailEnd type="none" w="lg" len="lg"/>
          </a:ln>
          <a:effectLst/>
        </p:spPr>
      </p:cxnSp>
    </p:spTree>
    <p:extLst>
      <p:ext uri="{BB962C8B-B14F-4D97-AF65-F5344CB8AC3E}">
        <p14:creationId xmlns:p14="http://schemas.microsoft.com/office/powerpoint/2010/main" val="384044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7" grpId="0" animBg="1"/>
      <p:bldP spid="8" grpId="0" animBg="1"/>
      <p:bldP spid="10" grpId="0" animBg="1"/>
      <p:bldP spid="13" grpId="0" animBg="1"/>
      <p:bldP spid="14" grpId="0"/>
      <p:bldP spid="15" grpId="0" animBg="1"/>
      <p:bldP spid="18" grpId="0" animBg="1"/>
      <p:bldP spid="24" grpId="0" animBg="1"/>
      <p:bldP spid="37" grpId="0" animBg="1"/>
      <p:bldP spid="3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Principle 4: Don’t Over-use Weak Entity Sets </a:t>
            </a:r>
            <a:endParaRPr lang="en-SG" dirty="0"/>
          </a:p>
        </p:txBody>
      </p:sp>
      <p:sp>
        <p:nvSpPr>
          <p:cNvPr id="4" name="Rectangle 3"/>
          <p:cNvSpPr>
            <a:spLocks noChangeArrowheads="1"/>
          </p:cNvSpPr>
          <p:nvPr/>
        </p:nvSpPr>
        <p:spPr bwMode="auto">
          <a:xfrm>
            <a:off x="3789040" y="1772816"/>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States</a:t>
            </a:r>
          </a:p>
        </p:txBody>
      </p:sp>
      <p:sp>
        <p:nvSpPr>
          <p:cNvPr id="5" name="Rectangle 4"/>
          <p:cNvSpPr>
            <a:spLocks noChangeArrowheads="1"/>
          </p:cNvSpPr>
          <p:nvPr/>
        </p:nvSpPr>
        <p:spPr bwMode="auto">
          <a:xfrm>
            <a:off x="3868745" y="1843525"/>
            <a:ext cx="977265" cy="781812"/>
          </a:xfrm>
          <a:prstGeom prst="rect">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6" name="Rectangle 3"/>
          <p:cNvSpPr>
            <a:spLocks noChangeArrowheads="1"/>
          </p:cNvSpPr>
          <p:nvPr/>
        </p:nvSpPr>
        <p:spPr bwMode="auto">
          <a:xfrm>
            <a:off x="7114758" y="1772816"/>
            <a:ext cx="148969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7" name="AutoShape 10"/>
          <p:cNvSpPr>
            <a:spLocks noChangeArrowheads="1"/>
          </p:cNvSpPr>
          <p:nvPr/>
        </p:nvSpPr>
        <p:spPr bwMode="auto">
          <a:xfrm>
            <a:off x="5220072" y="1791402"/>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8" name="AutoShape 10"/>
          <p:cNvSpPr>
            <a:spLocks noChangeArrowheads="1"/>
          </p:cNvSpPr>
          <p:nvPr/>
        </p:nvSpPr>
        <p:spPr bwMode="auto">
          <a:xfrm>
            <a:off x="5372473" y="1867974"/>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9" name="Straight Connector 8"/>
          <p:cNvCxnSpPr/>
          <p:nvPr/>
        </p:nvCxnSpPr>
        <p:spPr bwMode="auto">
          <a:xfrm flipV="1">
            <a:off x="4932040" y="2132856"/>
            <a:ext cx="440433" cy="4284"/>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13" name="Rectangle 12"/>
          <p:cNvSpPr>
            <a:spLocks noChangeArrowheads="1"/>
          </p:cNvSpPr>
          <p:nvPr/>
        </p:nvSpPr>
        <p:spPr bwMode="auto">
          <a:xfrm>
            <a:off x="454195" y="1772816"/>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14" name="Rectangle 13"/>
          <p:cNvSpPr>
            <a:spLocks noChangeArrowheads="1"/>
          </p:cNvSpPr>
          <p:nvPr/>
        </p:nvSpPr>
        <p:spPr bwMode="auto">
          <a:xfrm>
            <a:off x="533900" y="1843525"/>
            <a:ext cx="977265" cy="781812"/>
          </a:xfrm>
          <a:prstGeom prst="rect">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15" name="AutoShape 10"/>
          <p:cNvSpPr>
            <a:spLocks noChangeArrowheads="1"/>
          </p:cNvSpPr>
          <p:nvPr/>
        </p:nvSpPr>
        <p:spPr bwMode="auto">
          <a:xfrm>
            <a:off x="1885227" y="1791402"/>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16" name="AutoShape 10"/>
          <p:cNvSpPr>
            <a:spLocks noChangeArrowheads="1"/>
          </p:cNvSpPr>
          <p:nvPr/>
        </p:nvSpPr>
        <p:spPr bwMode="auto">
          <a:xfrm>
            <a:off x="2037628" y="1867974"/>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17" name="Straight Connector 16"/>
          <p:cNvCxnSpPr/>
          <p:nvPr/>
        </p:nvCxnSpPr>
        <p:spPr bwMode="auto">
          <a:xfrm flipV="1">
            <a:off x="1597195" y="2132856"/>
            <a:ext cx="440433" cy="4284"/>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20" name="Rectangle 19"/>
          <p:cNvSpPr>
            <a:spLocks noChangeArrowheads="1"/>
          </p:cNvSpPr>
          <p:nvPr/>
        </p:nvSpPr>
        <p:spPr bwMode="auto">
          <a:xfrm>
            <a:off x="395536" y="4098776"/>
            <a:ext cx="2072069"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Universities</a:t>
            </a:r>
          </a:p>
        </p:txBody>
      </p:sp>
      <p:sp>
        <p:nvSpPr>
          <p:cNvPr id="21" name="Rectangle 20"/>
          <p:cNvSpPr>
            <a:spLocks noChangeArrowheads="1"/>
          </p:cNvSpPr>
          <p:nvPr/>
        </p:nvSpPr>
        <p:spPr bwMode="auto">
          <a:xfrm>
            <a:off x="475242" y="4169485"/>
            <a:ext cx="1870825" cy="781812"/>
          </a:xfrm>
          <a:prstGeom prst="rect">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27" name="AutoShape 10"/>
          <p:cNvSpPr>
            <a:spLocks noChangeArrowheads="1"/>
          </p:cNvSpPr>
          <p:nvPr/>
        </p:nvSpPr>
        <p:spPr bwMode="auto">
          <a:xfrm>
            <a:off x="533900" y="2953833"/>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28" name="AutoShape 10"/>
          <p:cNvSpPr>
            <a:spLocks noChangeArrowheads="1"/>
          </p:cNvSpPr>
          <p:nvPr/>
        </p:nvSpPr>
        <p:spPr bwMode="auto">
          <a:xfrm>
            <a:off x="686301" y="3030405"/>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29" name="Straight Connector 28"/>
          <p:cNvCxnSpPr>
            <a:stCxn id="27" idx="3"/>
          </p:cNvCxnSpPr>
          <p:nvPr/>
        </p:nvCxnSpPr>
        <p:spPr bwMode="auto">
          <a:xfrm flipH="1">
            <a:off x="2037628" y="3388163"/>
            <a:ext cx="80448" cy="710613"/>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34" name="Rectangle 33"/>
          <p:cNvSpPr>
            <a:spLocks noChangeArrowheads="1"/>
          </p:cNvSpPr>
          <p:nvPr/>
        </p:nvSpPr>
        <p:spPr bwMode="auto">
          <a:xfrm>
            <a:off x="4104160" y="2953833"/>
            <a:ext cx="219603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Departments</a:t>
            </a:r>
          </a:p>
        </p:txBody>
      </p:sp>
      <p:sp>
        <p:nvSpPr>
          <p:cNvPr id="35" name="Rectangle 34"/>
          <p:cNvSpPr>
            <a:spLocks noChangeArrowheads="1"/>
          </p:cNvSpPr>
          <p:nvPr/>
        </p:nvSpPr>
        <p:spPr bwMode="auto">
          <a:xfrm>
            <a:off x="4183866" y="3024542"/>
            <a:ext cx="2044318" cy="781812"/>
          </a:xfrm>
          <a:prstGeom prst="rect">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36" name="AutoShape 10"/>
          <p:cNvSpPr>
            <a:spLocks noChangeArrowheads="1"/>
          </p:cNvSpPr>
          <p:nvPr/>
        </p:nvSpPr>
        <p:spPr bwMode="auto">
          <a:xfrm>
            <a:off x="2747921" y="4117362"/>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37" name="AutoShape 10"/>
          <p:cNvSpPr>
            <a:spLocks noChangeArrowheads="1"/>
          </p:cNvSpPr>
          <p:nvPr/>
        </p:nvSpPr>
        <p:spPr bwMode="auto">
          <a:xfrm>
            <a:off x="2900322" y="4193934"/>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38" name="Straight Connector 37"/>
          <p:cNvCxnSpPr>
            <a:stCxn id="36" idx="3"/>
          </p:cNvCxnSpPr>
          <p:nvPr/>
        </p:nvCxnSpPr>
        <p:spPr bwMode="auto">
          <a:xfrm flipV="1">
            <a:off x="4332097" y="3868233"/>
            <a:ext cx="308368" cy="683459"/>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43" name="Rectangle 42"/>
          <p:cNvSpPr>
            <a:spLocks noChangeArrowheads="1"/>
          </p:cNvSpPr>
          <p:nvPr/>
        </p:nvSpPr>
        <p:spPr bwMode="auto">
          <a:xfrm>
            <a:off x="6560109" y="4424366"/>
            <a:ext cx="161229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Students</a:t>
            </a:r>
          </a:p>
        </p:txBody>
      </p:sp>
      <p:sp>
        <p:nvSpPr>
          <p:cNvPr id="44" name="Rectangle 43"/>
          <p:cNvSpPr>
            <a:spLocks noChangeArrowheads="1"/>
          </p:cNvSpPr>
          <p:nvPr/>
        </p:nvSpPr>
        <p:spPr bwMode="auto">
          <a:xfrm>
            <a:off x="6639815" y="4495075"/>
            <a:ext cx="1460578" cy="781812"/>
          </a:xfrm>
          <a:prstGeom prst="rect">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45" name="AutoShape 10"/>
          <p:cNvSpPr>
            <a:spLocks noChangeArrowheads="1"/>
          </p:cNvSpPr>
          <p:nvPr/>
        </p:nvSpPr>
        <p:spPr bwMode="auto">
          <a:xfrm>
            <a:off x="6578016" y="2981118"/>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46" name="AutoShape 10"/>
          <p:cNvSpPr>
            <a:spLocks noChangeArrowheads="1"/>
          </p:cNvSpPr>
          <p:nvPr/>
        </p:nvSpPr>
        <p:spPr bwMode="auto">
          <a:xfrm>
            <a:off x="6730417" y="3057690"/>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47" name="Straight Connector 46"/>
          <p:cNvCxnSpPr>
            <a:stCxn id="45" idx="3"/>
          </p:cNvCxnSpPr>
          <p:nvPr/>
        </p:nvCxnSpPr>
        <p:spPr bwMode="auto">
          <a:xfrm flipH="1">
            <a:off x="7997758" y="3415448"/>
            <a:ext cx="164434" cy="1008918"/>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41" name="Line 17"/>
          <p:cNvSpPr>
            <a:spLocks noChangeShapeType="1"/>
          </p:cNvSpPr>
          <p:nvPr/>
        </p:nvSpPr>
        <p:spPr bwMode="auto">
          <a:xfrm>
            <a:off x="3469403" y="2215439"/>
            <a:ext cx="319637"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42" name="Straight Connector 41"/>
          <p:cNvCxnSpPr/>
          <p:nvPr/>
        </p:nvCxnSpPr>
        <p:spPr bwMode="auto">
          <a:xfrm flipV="1">
            <a:off x="1611287" y="2344596"/>
            <a:ext cx="440433" cy="4284"/>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0" name="Line 17"/>
          <p:cNvSpPr>
            <a:spLocks noChangeShapeType="1"/>
          </p:cNvSpPr>
          <p:nvPr/>
        </p:nvSpPr>
        <p:spPr bwMode="auto">
          <a:xfrm>
            <a:off x="6804248" y="2225732"/>
            <a:ext cx="319637"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1" name="Straight Connector 50"/>
          <p:cNvCxnSpPr/>
          <p:nvPr/>
        </p:nvCxnSpPr>
        <p:spPr bwMode="auto">
          <a:xfrm flipV="1">
            <a:off x="4932040" y="2276872"/>
            <a:ext cx="440433" cy="4284"/>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2" name="Line 17"/>
          <p:cNvSpPr>
            <a:spLocks noChangeShapeType="1"/>
          </p:cNvSpPr>
          <p:nvPr/>
        </p:nvSpPr>
        <p:spPr bwMode="auto">
          <a:xfrm flipV="1">
            <a:off x="533901" y="2687215"/>
            <a:ext cx="491794" cy="700947"/>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3" name="Straight Connector 52"/>
          <p:cNvCxnSpPr/>
          <p:nvPr/>
        </p:nvCxnSpPr>
        <p:spPr bwMode="auto">
          <a:xfrm flipH="1">
            <a:off x="1817411" y="3535514"/>
            <a:ext cx="80448" cy="580253"/>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4" name="Line 17"/>
          <p:cNvSpPr>
            <a:spLocks noChangeShapeType="1"/>
          </p:cNvSpPr>
          <p:nvPr/>
        </p:nvSpPr>
        <p:spPr bwMode="auto">
          <a:xfrm flipH="1" flipV="1">
            <a:off x="2467606" y="4541396"/>
            <a:ext cx="280316"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5" name="Straight Connector 54"/>
          <p:cNvCxnSpPr/>
          <p:nvPr/>
        </p:nvCxnSpPr>
        <p:spPr bwMode="auto">
          <a:xfrm flipV="1">
            <a:off x="4183866" y="3872518"/>
            <a:ext cx="276547" cy="551848"/>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6" name="Line 17"/>
          <p:cNvSpPr>
            <a:spLocks noChangeShapeType="1"/>
          </p:cNvSpPr>
          <p:nvPr/>
        </p:nvSpPr>
        <p:spPr bwMode="auto">
          <a:xfrm flipH="1" flipV="1">
            <a:off x="6300193" y="3415448"/>
            <a:ext cx="277824"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7" name="Straight Connector 56"/>
          <p:cNvCxnSpPr/>
          <p:nvPr/>
        </p:nvCxnSpPr>
        <p:spPr bwMode="auto">
          <a:xfrm flipH="1">
            <a:off x="7859604" y="3535514"/>
            <a:ext cx="138154" cy="888852"/>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39" name="Content Placeholder 2"/>
          <p:cNvSpPr>
            <a:spLocks noGrp="1"/>
          </p:cNvSpPr>
          <p:nvPr>
            <p:ph idx="1"/>
          </p:nvPr>
        </p:nvSpPr>
        <p:spPr>
          <a:xfrm>
            <a:off x="454195" y="5445224"/>
            <a:ext cx="8229600" cy="657345"/>
          </a:xfrm>
        </p:spPr>
        <p:txBody>
          <a:bodyPr>
            <a:normAutofit/>
          </a:bodyPr>
          <a:lstStyle/>
          <a:p>
            <a:r>
              <a:rPr lang="en-SG" dirty="0"/>
              <a:t>This is overly complicated</a:t>
            </a:r>
          </a:p>
        </p:txBody>
      </p:sp>
    </p:spTree>
    <p:extLst>
      <p:ext uri="{BB962C8B-B14F-4D97-AF65-F5344CB8AC3E}">
        <p14:creationId xmlns:p14="http://schemas.microsoft.com/office/powerpoint/2010/main" val="313312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3" grpId="0" animBg="1"/>
      <p:bldP spid="14" grpId="0" animBg="1"/>
      <p:bldP spid="15" grpId="0" animBg="1"/>
      <p:bldP spid="16" grpId="0" animBg="1"/>
      <p:bldP spid="20" grpId="0" animBg="1"/>
      <p:bldP spid="21" grpId="0" animBg="1"/>
      <p:bldP spid="27" grpId="0" animBg="1"/>
      <p:bldP spid="28" grpId="0" animBg="1"/>
      <p:bldP spid="34" grpId="0" animBg="1"/>
      <p:bldP spid="35" grpId="0" animBg="1"/>
      <p:bldP spid="36" grpId="0" animBg="1"/>
      <p:bldP spid="37" grpId="0" animBg="1"/>
      <p:bldP spid="43" grpId="0" animBg="1"/>
      <p:bldP spid="44" grpId="0" animBg="1"/>
      <p:bldP spid="45" grpId="0" animBg="1"/>
      <p:bldP spid="46" grpId="0" animBg="1"/>
      <p:bldP spid="41" grpId="0" animBg="1"/>
      <p:bldP spid="50" grpId="0" animBg="1"/>
      <p:bldP spid="52" grpId="0" animBg="1"/>
      <p:bldP spid="54" grpId="0" animBg="1"/>
      <p:bldP spid="56" grpId="0" animBg="1"/>
      <p:bldP spid="3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Principle 4: Don’t Over-use Weak Entity Sets </a:t>
            </a:r>
            <a:endParaRPr lang="en-SG" dirty="0"/>
          </a:p>
        </p:txBody>
      </p:sp>
      <p:sp>
        <p:nvSpPr>
          <p:cNvPr id="4" name="Rectangle 3"/>
          <p:cNvSpPr>
            <a:spLocks noChangeArrowheads="1"/>
          </p:cNvSpPr>
          <p:nvPr/>
        </p:nvSpPr>
        <p:spPr bwMode="auto">
          <a:xfrm>
            <a:off x="3789040" y="1772816"/>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States</a:t>
            </a:r>
          </a:p>
        </p:txBody>
      </p:sp>
      <p:sp>
        <p:nvSpPr>
          <p:cNvPr id="6" name="Rectangle 3"/>
          <p:cNvSpPr>
            <a:spLocks noChangeArrowheads="1"/>
          </p:cNvSpPr>
          <p:nvPr/>
        </p:nvSpPr>
        <p:spPr bwMode="auto">
          <a:xfrm>
            <a:off x="7114758" y="1772816"/>
            <a:ext cx="148969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7" name="AutoShape 10"/>
          <p:cNvSpPr>
            <a:spLocks noChangeArrowheads="1"/>
          </p:cNvSpPr>
          <p:nvPr/>
        </p:nvSpPr>
        <p:spPr bwMode="auto">
          <a:xfrm>
            <a:off x="5220072" y="1791402"/>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13" name="Rectangle 12"/>
          <p:cNvSpPr>
            <a:spLocks noChangeArrowheads="1"/>
          </p:cNvSpPr>
          <p:nvPr/>
        </p:nvSpPr>
        <p:spPr bwMode="auto">
          <a:xfrm>
            <a:off x="454195" y="1772816"/>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15" name="AutoShape 10"/>
          <p:cNvSpPr>
            <a:spLocks noChangeArrowheads="1"/>
          </p:cNvSpPr>
          <p:nvPr/>
        </p:nvSpPr>
        <p:spPr bwMode="auto">
          <a:xfrm>
            <a:off x="1885227" y="1791402"/>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cxnSp>
        <p:nvCxnSpPr>
          <p:cNvPr id="17" name="Straight Connector 16"/>
          <p:cNvCxnSpPr>
            <a:endCxn id="15" idx="1"/>
          </p:cNvCxnSpPr>
          <p:nvPr/>
        </p:nvCxnSpPr>
        <p:spPr bwMode="auto">
          <a:xfrm>
            <a:off x="1597195" y="2209148"/>
            <a:ext cx="288032" cy="16584"/>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20" name="Rectangle 19"/>
          <p:cNvSpPr>
            <a:spLocks noChangeArrowheads="1"/>
          </p:cNvSpPr>
          <p:nvPr/>
        </p:nvSpPr>
        <p:spPr bwMode="auto">
          <a:xfrm>
            <a:off x="395536" y="4098776"/>
            <a:ext cx="2072069"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Universities</a:t>
            </a:r>
          </a:p>
        </p:txBody>
      </p:sp>
      <p:sp>
        <p:nvSpPr>
          <p:cNvPr id="27" name="AutoShape 10"/>
          <p:cNvSpPr>
            <a:spLocks noChangeArrowheads="1"/>
          </p:cNvSpPr>
          <p:nvPr/>
        </p:nvSpPr>
        <p:spPr bwMode="auto">
          <a:xfrm>
            <a:off x="533900" y="2953833"/>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cxnSp>
        <p:nvCxnSpPr>
          <p:cNvPr id="29" name="Straight Connector 28"/>
          <p:cNvCxnSpPr>
            <a:stCxn id="27" idx="3"/>
          </p:cNvCxnSpPr>
          <p:nvPr/>
        </p:nvCxnSpPr>
        <p:spPr bwMode="auto">
          <a:xfrm flipH="1">
            <a:off x="2037628" y="3388163"/>
            <a:ext cx="80448" cy="710613"/>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34" name="Rectangle 33"/>
          <p:cNvSpPr>
            <a:spLocks noChangeArrowheads="1"/>
          </p:cNvSpPr>
          <p:nvPr/>
        </p:nvSpPr>
        <p:spPr bwMode="auto">
          <a:xfrm>
            <a:off x="4104160" y="2953833"/>
            <a:ext cx="219603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Departments</a:t>
            </a:r>
          </a:p>
        </p:txBody>
      </p:sp>
      <p:sp>
        <p:nvSpPr>
          <p:cNvPr id="36" name="AutoShape 10"/>
          <p:cNvSpPr>
            <a:spLocks noChangeArrowheads="1"/>
          </p:cNvSpPr>
          <p:nvPr/>
        </p:nvSpPr>
        <p:spPr bwMode="auto">
          <a:xfrm>
            <a:off x="2747921" y="4117362"/>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cxnSp>
        <p:nvCxnSpPr>
          <p:cNvPr id="38" name="Straight Connector 37"/>
          <p:cNvCxnSpPr>
            <a:stCxn id="36" idx="3"/>
          </p:cNvCxnSpPr>
          <p:nvPr/>
        </p:nvCxnSpPr>
        <p:spPr bwMode="auto">
          <a:xfrm flipV="1">
            <a:off x="4332097" y="3868233"/>
            <a:ext cx="308368" cy="683459"/>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43" name="Rectangle 42"/>
          <p:cNvSpPr>
            <a:spLocks noChangeArrowheads="1"/>
          </p:cNvSpPr>
          <p:nvPr/>
        </p:nvSpPr>
        <p:spPr bwMode="auto">
          <a:xfrm>
            <a:off x="6560109" y="4424366"/>
            <a:ext cx="161229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Students</a:t>
            </a:r>
          </a:p>
        </p:txBody>
      </p:sp>
      <p:sp>
        <p:nvSpPr>
          <p:cNvPr id="45" name="AutoShape 10"/>
          <p:cNvSpPr>
            <a:spLocks noChangeArrowheads="1"/>
          </p:cNvSpPr>
          <p:nvPr/>
        </p:nvSpPr>
        <p:spPr bwMode="auto">
          <a:xfrm>
            <a:off x="6578016" y="2981118"/>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cxnSp>
        <p:nvCxnSpPr>
          <p:cNvPr id="47" name="Straight Connector 46"/>
          <p:cNvCxnSpPr>
            <a:stCxn id="45" idx="3"/>
          </p:cNvCxnSpPr>
          <p:nvPr/>
        </p:nvCxnSpPr>
        <p:spPr bwMode="auto">
          <a:xfrm flipH="1">
            <a:off x="7997758" y="3415448"/>
            <a:ext cx="164434" cy="1008918"/>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41" name="Line 17"/>
          <p:cNvSpPr>
            <a:spLocks noChangeShapeType="1"/>
          </p:cNvSpPr>
          <p:nvPr/>
        </p:nvSpPr>
        <p:spPr bwMode="auto">
          <a:xfrm>
            <a:off x="3469403" y="2215439"/>
            <a:ext cx="319637"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50" name="Line 17"/>
          <p:cNvSpPr>
            <a:spLocks noChangeShapeType="1"/>
          </p:cNvSpPr>
          <p:nvPr/>
        </p:nvSpPr>
        <p:spPr bwMode="auto">
          <a:xfrm>
            <a:off x="6804248" y="2225732"/>
            <a:ext cx="319637"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1" name="Straight Connector 50"/>
          <p:cNvCxnSpPr>
            <a:endCxn id="7" idx="1"/>
          </p:cNvCxnSpPr>
          <p:nvPr/>
        </p:nvCxnSpPr>
        <p:spPr bwMode="auto">
          <a:xfrm>
            <a:off x="4932040" y="2209148"/>
            <a:ext cx="288032" cy="16584"/>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2" name="Line 17"/>
          <p:cNvSpPr>
            <a:spLocks noChangeShapeType="1"/>
          </p:cNvSpPr>
          <p:nvPr/>
        </p:nvSpPr>
        <p:spPr bwMode="auto">
          <a:xfrm flipV="1">
            <a:off x="533901" y="2687215"/>
            <a:ext cx="491794" cy="700947"/>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54" name="Line 17"/>
          <p:cNvSpPr>
            <a:spLocks noChangeShapeType="1"/>
          </p:cNvSpPr>
          <p:nvPr/>
        </p:nvSpPr>
        <p:spPr bwMode="auto">
          <a:xfrm flipH="1" flipV="1">
            <a:off x="2467606" y="4541396"/>
            <a:ext cx="280316"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56" name="Line 17"/>
          <p:cNvSpPr>
            <a:spLocks noChangeShapeType="1"/>
          </p:cNvSpPr>
          <p:nvPr/>
        </p:nvSpPr>
        <p:spPr bwMode="auto">
          <a:xfrm flipH="1" flipV="1">
            <a:off x="6300193" y="3415448"/>
            <a:ext cx="277824" cy="0"/>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4" name="Content Placeholder 2"/>
          <p:cNvSpPr>
            <a:spLocks noGrp="1"/>
          </p:cNvSpPr>
          <p:nvPr>
            <p:ph idx="1"/>
          </p:nvPr>
        </p:nvSpPr>
        <p:spPr>
          <a:xfrm>
            <a:off x="454195" y="5291935"/>
            <a:ext cx="8229600" cy="873369"/>
          </a:xfrm>
        </p:spPr>
        <p:txBody>
          <a:bodyPr>
            <a:normAutofit fontScale="92500" lnSpcReduction="10000"/>
          </a:bodyPr>
          <a:lstStyle/>
          <a:p>
            <a:r>
              <a:rPr lang="en-SG" dirty="0"/>
              <a:t>Solution: Use weak entity sets only when no suitable ID attribute can be found</a:t>
            </a:r>
          </a:p>
          <a:p>
            <a:endParaRPr lang="en-SG" dirty="0"/>
          </a:p>
        </p:txBody>
      </p:sp>
    </p:spTree>
    <p:extLst>
      <p:ext uri="{BB962C8B-B14F-4D97-AF65-F5344CB8AC3E}">
        <p14:creationId xmlns:p14="http://schemas.microsoft.com/office/powerpoint/2010/main" val="68635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 Design: Example</a:t>
            </a:r>
            <a:endParaRPr lang="en-SG" dirty="0"/>
          </a:p>
        </p:txBody>
      </p:sp>
      <p:sp>
        <p:nvSpPr>
          <p:cNvPr id="3" name="Content Placeholder 2"/>
          <p:cNvSpPr>
            <a:spLocks noGrp="1"/>
          </p:cNvSpPr>
          <p:nvPr>
            <p:ph idx="1"/>
          </p:nvPr>
        </p:nvSpPr>
        <p:spPr>
          <a:xfrm>
            <a:off x="457200" y="1268760"/>
            <a:ext cx="8291264" cy="4896544"/>
          </a:xfrm>
        </p:spPr>
        <p:txBody>
          <a:bodyPr>
            <a:normAutofit fontScale="85000" lnSpcReduction="20000"/>
          </a:bodyPr>
          <a:lstStyle/>
          <a:p>
            <a:r>
              <a:rPr lang="en-SG" dirty="0"/>
              <a:t>Consider a mail order database in which employees take orders for parts from customers. The requirements are: </a:t>
            </a:r>
          </a:p>
          <a:p>
            <a:r>
              <a:rPr lang="en-SG" dirty="0"/>
              <a:t>Each employee is identified by a unique employee number, and has a first name, a last name, and a zip code. </a:t>
            </a:r>
          </a:p>
          <a:p>
            <a:r>
              <a:rPr lang="en-SG" dirty="0"/>
              <a:t>Each customer is identified by a unique customer number, and has a first name</a:t>
            </a:r>
            <a:r>
              <a:rPr lang="en-US" dirty="0"/>
              <a:t>, </a:t>
            </a:r>
            <a:r>
              <a:rPr lang="en-SG" dirty="0"/>
              <a:t>last names, and a zip code. </a:t>
            </a:r>
          </a:p>
          <a:p>
            <a:r>
              <a:rPr lang="en-SG" dirty="0"/>
              <a:t>Each part being sold is identified by a unique part number. It has a part name, a price, and a quantity in stock. </a:t>
            </a:r>
          </a:p>
          <a:p>
            <a:r>
              <a:rPr lang="en-SG" dirty="0"/>
              <a:t>Each order placed by a customer is taken by one employee and is given a unique order number. Each order may contain certain quantities of one or more parts. The shipping date of each part is also recorded. </a:t>
            </a:r>
          </a:p>
          <a:p>
            <a:endParaRPr lang="en-SG" dirty="0"/>
          </a:p>
        </p:txBody>
      </p:sp>
    </p:spTree>
    <p:extLst>
      <p:ext uri="{BB962C8B-B14F-4D97-AF65-F5344CB8AC3E}">
        <p14:creationId xmlns:p14="http://schemas.microsoft.com/office/powerpoint/2010/main" val="104913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a:p>
        </p:txBody>
      </p:sp>
    </p:spTree>
    <p:extLst>
      <p:ext uri="{BB962C8B-B14F-4D97-AF65-F5344CB8AC3E}">
        <p14:creationId xmlns:p14="http://schemas.microsoft.com/office/powerpoint/2010/main" val="6111137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5364088" y="3116316"/>
            <a:ext cx="1008112"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Orders</a:t>
            </a:r>
          </a:p>
        </p:txBody>
      </p:sp>
      <p:sp>
        <p:nvSpPr>
          <p:cNvPr id="5" name="Oval 25"/>
          <p:cNvSpPr>
            <a:spLocks noChangeArrowheads="1"/>
          </p:cNvSpPr>
          <p:nvPr/>
        </p:nvSpPr>
        <p:spPr bwMode="auto">
          <a:xfrm>
            <a:off x="6804248" y="3131174"/>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OID</a:t>
            </a:r>
          </a:p>
        </p:txBody>
      </p:sp>
      <p:sp>
        <p:nvSpPr>
          <p:cNvPr id="8" name="Line 39"/>
          <p:cNvSpPr>
            <a:spLocks noChangeShapeType="1"/>
          </p:cNvSpPr>
          <p:nvPr/>
        </p:nvSpPr>
        <p:spPr bwMode="auto">
          <a:xfrm>
            <a:off x="6372200" y="3344916"/>
            <a:ext cx="432048" cy="148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9" name="Rectangle 5"/>
          <p:cNvSpPr>
            <a:spLocks noChangeArrowheads="1"/>
          </p:cNvSpPr>
          <p:nvPr/>
        </p:nvSpPr>
        <p:spPr bwMode="auto">
          <a:xfrm>
            <a:off x="1403648" y="3131174"/>
            <a:ext cx="864096"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Parts</a:t>
            </a:r>
          </a:p>
        </p:txBody>
      </p:sp>
      <p:sp>
        <p:nvSpPr>
          <p:cNvPr id="10" name="AutoShape 10"/>
          <p:cNvSpPr>
            <a:spLocks noChangeArrowheads="1"/>
          </p:cNvSpPr>
          <p:nvPr/>
        </p:nvSpPr>
        <p:spPr bwMode="auto">
          <a:xfrm>
            <a:off x="3510457" y="3101644"/>
            <a:ext cx="845519"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In</a:t>
            </a:r>
          </a:p>
        </p:txBody>
      </p:sp>
      <p:sp>
        <p:nvSpPr>
          <p:cNvPr id="13" name="Rectangle 5"/>
          <p:cNvSpPr>
            <a:spLocks noChangeArrowheads="1"/>
          </p:cNvSpPr>
          <p:nvPr/>
        </p:nvSpPr>
        <p:spPr bwMode="auto">
          <a:xfrm>
            <a:off x="5076056" y="1124744"/>
            <a:ext cx="1512168"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Employees</a:t>
            </a:r>
          </a:p>
        </p:txBody>
      </p:sp>
      <p:sp>
        <p:nvSpPr>
          <p:cNvPr id="14" name="Rectangle 5"/>
          <p:cNvSpPr>
            <a:spLocks noChangeArrowheads="1"/>
          </p:cNvSpPr>
          <p:nvPr/>
        </p:nvSpPr>
        <p:spPr bwMode="auto">
          <a:xfrm>
            <a:off x="5112060" y="5085184"/>
            <a:ext cx="1512168"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Customers</a:t>
            </a:r>
          </a:p>
        </p:txBody>
      </p:sp>
      <p:sp>
        <p:nvSpPr>
          <p:cNvPr id="15" name="AutoShape 10"/>
          <p:cNvSpPr>
            <a:spLocks noChangeArrowheads="1"/>
          </p:cNvSpPr>
          <p:nvPr/>
        </p:nvSpPr>
        <p:spPr bwMode="auto">
          <a:xfrm>
            <a:off x="5220072" y="2060848"/>
            <a:ext cx="1214848"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take</a:t>
            </a:r>
          </a:p>
        </p:txBody>
      </p:sp>
      <p:sp>
        <p:nvSpPr>
          <p:cNvPr id="16" name="AutoShape 10"/>
          <p:cNvSpPr>
            <a:spLocks noChangeArrowheads="1"/>
          </p:cNvSpPr>
          <p:nvPr/>
        </p:nvSpPr>
        <p:spPr bwMode="auto">
          <a:xfrm>
            <a:off x="5260720" y="4149080"/>
            <a:ext cx="1214848"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make</a:t>
            </a:r>
          </a:p>
        </p:txBody>
      </p:sp>
      <p:sp>
        <p:nvSpPr>
          <p:cNvPr id="17" name="Oval 25"/>
          <p:cNvSpPr>
            <a:spLocks noChangeArrowheads="1"/>
          </p:cNvSpPr>
          <p:nvPr/>
        </p:nvSpPr>
        <p:spPr bwMode="auto">
          <a:xfrm>
            <a:off x="3059832" y="228143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quan</a:t>
            </a:r>
            <a:endParaRPr lang="en-US" sz="2400" b="1" dirty="0">
              <a:latin typeface="Calibri" pitchFamily="34" charset="0"/>
            </a:endParaRPr>
          </a:p>
        </p:txBody>
      </p:sp>
      <p:sp>
        <p:nvSpPr>
          <p:cNvPr id="18" name="Oval 25"/>
          <p:cNvSpPr>
            <a:spLocks noChangeArrowheads="1"/>
          </p:cNvSpPr>
          <p:nvPr/>
        </p:nvSpPr>
        <p:spPr bwMode="auto">
          <a:xfrm>
            <a:off x="2878856" y="3933056"/>
            <a:ext cx="1333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shipdate</a:t>
            </a:r>
            <a:endParaRPr lang="en-US" sz="2400" b="1" dirty="0">
              <a:latin typeface="Calibri" pitchFamily="34" charset="0"/>
            </a:endParaRPr>
          </a:p>
        </p:txBody>
      </p:sp>
      <p:sp>
        <p:nvSpPr>
          <p:cNvPr id="20" name="Line 39"/>
          <p:cNvSpPr>
            <a:spLocks noChangeShapeType="1"/>
          </p:cNvSpPr>
          <p:nvPr/>
        </p:nvSpPr>
        <p:spPr bwMode="auto">
          <a:xfrm flipV="1">
            <a:off x="2271237" y="3337486"/>
            <a:ext cx="1274171" cy="742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1" name="Line 39"/>
          <p:cNvSpPr>
            <a:spLocks noChangeShapeType="1"/>
          </p:cNvSpPr>
          <p:nvPr/>
        </p:nvSpPr>
        <p:spPr bwMode="auto">
          <a:xfrm>
            <a:off x="3635896" y="2708919"/>
            <a:ext cx="297320" cy="392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2" name="Line 39"/>
          <p:cNvSpPr>
            <a:spLocks noChangeShapeType="1"/>
          </p:cNvSpPr>
          <p:nvPr/>
        </p:nvSpPr>
        <p:spPr bwMode="auto">
          <a:xfrm flipV="1">
            <a:off x="3545408" y="3588188"/>
            <a:ext cx="387808" cy="34486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4" name="Oval 25"/>
          <p:cNvSpPr>
            <a:spLocks noChangeArrowheads="1"/>
          </p:cNvSpPr>
          <p:nvPr/>
        </p:nvSpPr>
        <p:spPr bwMode="auto">
          <a:xfrm>
            <a:off x="1403648" y="212561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PID</a:t>
            </a:r>
          </a:p>
        </p:txBody>
      </p:sp>
      <p:sp>
        <p:nvSpPr>
          <p:cNvPr id="25" name="Line 39"/>
          <p:cNvSpPr>
            <a:spLocks noChangeShapeType="1"/>
          </p:cNvSpPr>
          <p:nvPr/>
        </p:nvSpPr>
        <p:spPr bwMode="auto">
          <a:xfrm flipH="1">
            <a:off x="1835696" y="2553101"/>
            <a:ext cx="36004" cy="56321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6" name="Oval 25"/>
          <p:cNvSpPr>
            <a:spLocks noChangeArrowheads="1"/>
          </p:cNvSpPr>
          <p:nvPr/>
        </p:nvSpPr>
        <p:spPr bwMode="auto">
          <a:xfrm>
            <a:off x="376255" y="2407224"/>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name</a:t>
            </a:r>
          </a:p>
        </p:txBody>
      </p:sp>
      <p:sp>
        <p:nvSpPr>
          <p:cNvPr id="27" name="Line 39"/>
          <p:cNvSpPr>
            <a:spLocks noChangeShapeType="1"/>
          </p:cNvSpPr>
          <p:nvPr/>
        </p:nvSpPr>
        <p:spPr bwMode="auto">
          <a:xfrm flipH="1">
            <a:off x="1295636" y="3558658"/>
            <a:ext cx="288032" cy="66699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8" name="Line 39"/>
          <p:cNvSpPr>
            <a:spLocks noChangeShapeType="1"/>
          </p:cNvSpPr>
          <p:nvPr/>
        </p:nvSpPr>
        <p:spPr bwMode="auto">
          <a:xfrm>
            <a:off x="899592" y="2834708"/>
            <a:ext cx="684076" cy="2816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9" name="Oval 28"/>
          <p:cNvSpPr>
            <a:spLocks noChangeArrowheads="1"/>
          </p:cNvSpPr>
          <p:nvPr/>
        </p:nvSpPr>
        <p:spPr bwMode="auto">
          <a:xfrm>
            <a:off x="528655" y="414189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price</a:t>
            </a:r>
          </a:p>
        </p:txBody>
      </p:sp>
      <p:sp>
        <p:nvSpPr>
          <p:cNvPr id="30" name="Oval 29"/>
          <p:cNvSpPr>
            <a:spLocks noChangeArrowheads="1"/>
          </p:cNvSpPr>
          <p:nvPr/>
        </p:nvSpPr>
        <p:spPr bwMode="auto">
          <a:xfrm>
            <a:off x="1506193" y="4721782"/>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stock</a:t>
            </a:r>
          </a:p>
        </p:txBody>
      </p:sp>
      <p:sp>
        <p:nvSpPr>
          <p:cNvPr id="31" name="Line 39"/>
          <p:cNvSpPr>
            <a:spLocks noChangeShapeType="1"/>
          </p:cNvSpPr>
          <p:nvPr/>
        </p:nvSpPr>
        <p:spPr bwMode="auto">
          <a:xfrm flipH="1">
            <a:off x="1871699" y="3588188"/>
            <a:ext cx="102544" cy="113359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38" name="Oval 25"/>
          <p:cNvSpPr>
            <a:spLocks noChangeArrowheads="1"/>
          </p:cNvSpPr>
          <p:nvPr/>
        </p:nvSpPr>
        <p:spPr bwMode="auto">
          <a:xfrm>
            <a:off x="6948264" y="54868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fname</a:t>
            </a:r>
            <a:endParaRPr lang="en-US" sz="2400" b="1" dirty="0">
              <a:latin typeface="Calibri" pitchFamily="34" charset="0"/>
            </a:endParaRPr>
          </a:p>
        </p:txBody>
      </p:sp>
      <p:sp>
        <p:nvSpPr>
          <p:cNvPr id="39" name="Oval 25"/>
          <p:cNvSpPr>
            <a:spLocks noChangeArrowheads="1"/>
          </p:cNvSpPr>
          <p:nvPr/>
        </p:nvSpPr>
        <p:spPr bwMode="auto">
          <a:xfrm>
            <a:off x="6948264" y="116531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lname</a:t>
            </a:r>
            <a:endParaRPr lang="en-US" sz="2400" b="1" dirty="0">
              <a:latin typeface="Calibri" pitchFamily="34" charset="0"/>
            </a:endParaRPr>
          </a:p>
        </p:txBody>
      </p:sp>
      <p:sp>
        <p:nvSpPr>
          <p:cNvPr id="40" name="Line 39"/>
          <p:cNvSpPr>
            <a:spLocks noChangeShapeType="1"/>
          </p:cNvSpPr>
          <p:nvPr/>
        </p:nvSpPr>
        <p:spPr bwMode="auto">
          <a:xfrm>
            <a:off x="6588225" y="1379052"/>
            <a:ext cx="360039"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1" name="Line 39"/>
          <p:cNvSpPr>
            <a:spLocks noChangeShapeType="1"/>
          </p:cNvSpPr>
          <p:nvPr/>
        </p:nvSpPr>
        <p:spPr bwMode="auto">
          <a:xfrm flipV="1">
            <a:off x="6588225" y="836712"/>
            <a:ext cx="360039" cy="3285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2" name="Oval 25"/>
          <p:cNvSpPr>
            <a:spLocks noChangeArrowheads="1"/>
          </p:cNvSpPr>
          <p:nvPr/>
        </p:nvSpPr>
        <p:spPr bwMode="auto">
          <a:xfrm>
            <a:off x="3525241" y="116531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EID</a:t>
            </a:r>
          </a:p>
        </p:txBody>
      </p:sp>
      <p:sp>
        <p:nvSpPr>
          <p:cNvPr id="43" name="Line 39"/>
          <p:cNvSpPr>
            <a:spLocks noChangeShapeType="1"/>
          </p:cNvSpPr>
          <p:nvPr/>
        </p:nvSpPr>
        <p:spPr bwMode="auto">
          <a:xfrm>
            <a:off x="4461345" y="1379052"/>
            <a:ext cx="61471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4" name="Oval 25"/>
          <p:cNvSpPr>
            <a:spLocks noChangeArrowheads="1"/>
          </p:cNvSpPr>
          <p:nvPr/>
        </p:nvSpPr>
        <p:spPr bwMode="auto">
          <a:xfrm>
            <a:off x="3545408" y="40922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ZIP</a:t>
            </a:r>
          </a:p>
        </p:txBody>
      </p:sp>
      <p:sp>
        <p:nvSpPr>
          <p:cNvPr id="45" name="Line 39"/>
          <p:cNvSpPr>
            <a:spLocks noChangeShapeType="1"/>
          </p:cNvSpPr>
          <p:nvPr/>
        </p:nvSpPr>
        <p:spPr bwMode="auto">
          <a:xfrm>
            <a:off x="4355977" y="762422"/>
            <a:ext cx="720080" cy="38451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6" name="Oval 25"/>
          <p:cNvSpPr>
            <a:spLocks noChangeArrowheads="1"/>
          </p:cNvSpPr>
          <p:nvPr/>
        </p:nvSpPr>
        <p:spPr bwMode="auto">
          <a:xfrm>
            <a:off x="3572273" y="5481781"/>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CID</a:t>
            </a:r>
          </a:p>
        </p:txBody>
      </p:sp>
      <p:sp>
        <p:nvSpPr>
          <p:cNvPr id="47" name="Line 39"/>
          <p:cNvSpPr>
            <a:spLocks noChangeShapeType="1"/>
          </p:cNvSpPr>
          <p:nvPr/>
        </p:nvSpPr>
        <p:spPr bwMode="auto">
          <a:xfrm flipV="1">
            <a:off x="4508377" y="5373216"/>
            <a:ext cx="603683" cy="32230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8" name="Oval 25"/>
          <p:cNvSpPr>
            <a:spLocks noChangeArrowheads="1"/>
          </p:cNvSpPr>
          <p:nvPr/>
        </p:nvSpPr>
        <p:spPr bwMode="auto">
          <a:xfrm>
            <a:off x="3592440" y="4725699"/>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ZIP</a:t>
            </a:r>
          </a:p>
        </p:txBody>
      </p:sp>
      <p:sp>
        <p:nvSpPr>
          <p:cNvPr id="49" name="Line 39"/>
          <p:cNvSpPr>
            <a:spLocks noChangeShapeType="1"/>
          </p:cNvSpPr>
          <p:nvPr/>
        </p:nvSpPr>
        <p:spPr bwMode="auto">
          <a:xfrm>
            <a:off x="4508377" y="4939441"/>
            <a:ext cx="603683" cy="33170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50" name="Oval 25"/>
          <p:cNvSpPr>
            <a:spLocks noChangeArrowheads="1"/>
          </p:cNvSpPr>
          <p:nvPr/>
        </p:nvSpPr>
        <p:spPr bwMode="auto">
          <a:xfrm>
            <a:off x="6979080" y="459432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fname</a:t>
            </a:r>
            <a:endParaRPr lang="en-US" sz="2400" b="1" dirty="0">
              <a:latin typeface="Calibri" pitchFamily="34" charset="0"/>
            </a:endParaRPr>
          </a:p>
        </p:txBody>
      </p:sp>
      <p:sp>
        <p:nvSpPr>
          <p:cNvPr id="51" name="Oval 25"/>
          <p:cNvSpPr>
            <a:spLocks noChangeArrowheads="1"/>
          </p:cNvSpPr>
          <p:nvPr/>
        </p:nvSpPr>
        <p:spPr bwMode="auto">
          <a:xfrm>
            <a:off x="6979080" y="521095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lname</a:t>
            </a:r>
            <a:endParaRPr lang="en-US" sz="2400" b="1" dirty="0">
              <a:latin typeface="Calibri" pitchFamily="34" charset="0"/>
            </a:endParaRPr>
          </a:p>
        </p:txBody>
      </p:sp>
      <p:sp>
        <p:nvSpPr>
          <p:cNvPr id="52" name="Line 39"/>
          <p:cNvSpPr>
            <a:spLocks noChangeShapeType="1"/>
          </p:cNvSpPr>
          <p:nvPr/>
        </p:nvSpPr>
        <p:spPr bwMode="auto">
          <a:xfrm>
            <a:off x="6624228" y="5424692"/>
            <a:ext cx="35485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53" name="Line 39"/>
          <p:cNvSpPr>
            <a:spLocks noChangeShapeType="1"/>
          </p:cNvSpPr>
          <p:nvPr/>
        </p:nvSpPr>
        <p:spPr bwMode="auto">
          <a:xfrm flipV="1">
            <a:off x="6619041" y="4882352"/>
            <a:ext cx="360039" cy="3285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cxnSp>
        <p:nvCxnSpPr>
          <p:cNvPr id="54" name="Straight Connector 53"/>
          <p:cNvCxnSpPr/>
          <p:nvPr/>
        </p:nvCxnSpPr>
        <p:spPr bwMode="auto">
          <a:xfrm>
            <a:off x="5940152" y="2474427"/>
            <a:ext cx="0" cy="627217"/>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5" name="Line 17"/>
          <p:cNvSpPr>
            <a:spLocks noChangeShapeType="1"/>
          </p:cNvSpPr>
          <p:nvPr/>
        </p:nvSpPr>
        <p:spPr bwMode="auto">
          <a:xfrm flipV="1">
            <a:off x="5809197" y="1581944"/>
            <a:ext cx="0" cy="478904"/>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6" name="Straight Connector 55"/>
          <p:cNvCxnSpPr/>
          <p:nvPr/>
        </p:nvCxnSpPr>
        <p:spPr bwMode="auto">
          <a:xfrm flipV="1">
            <a:off x="5724128" y="2495178"/>
            <a:ext cx="0" cy="606466"/>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57" name="Straight Connector 56"/>
          <p:cNvCxnSpPr/>
          <p:nvPr/>
        </p:nvCxnSpPr>
        <p:spPr bwMode="auto">
          <a:xfrm>
            <a:off x="5940152" y="3573016"/>
            <a:ext cx="0" cy="6272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58" name="Straight Connector 57"/>
          <p:cNvCxnSpPr/>
          <p:nvPr/>
        </p:nvCxnSpPr>
        <p:spPr bwMode="auto">
          <a:xfrm flipV="1">
            <a:off x="5724128" y="3593767"/>
            <a:ext cx="0" cy="606466"/>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9" name="Line 17"/>
          <p:cNvSpPr>
            <a:spLocks noChangeShapeType="1"/>
          </p:cNvSpPr>
          <p:nvPr/>
        </p:nvSpPr>
        <p:spPr bwMode="auto">
          <a:xfrm>
            <a:off x="5868145" y="4635623"/>
            <a:ext cx="0" cy="411027"/>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0" name="Line 39"/>
          <p:cNvSpPr>
            <a:spLocks noChangeShapeType="1"/>
          </p:cNvSpPr>
          <p:nvPr/>
        </p:nvSpPr>
        <p:spPr bwMode="auto">
          <a:xfrm flipV="1">
            <a:off x="4283969" y="3284983"/>
            <a:ext cx="108011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1" name="Line 39"/>
          <p:cNvSpPr>
            <a:spLocks noChangeShapeType="1"/>
          </p:cNvSpPr>
          <p:nvPr/>
        </p:nvSpPr>
        <p:spPr bwMode="auto">
          <a:xfrm flipV="1">
            <a:off x="4283968" y="3411983"/>
            <a:ext cx="108011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Tree>
    <p:extLst>
      <p:ext uri="{BB962C8B-B14F-4D97-AF65-F5344CB8AC3E}">
        <p14:creationId xmlns:p14="http://schemas.microsoft.com/office/powerpoint/2010/main" val="30085317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4535996" y="3116316"/>
            <a:ext cx="1008112"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Orders</a:t>
            </a:r>
          </a:p>
        </p:txBody>
      </p:sp>
      <p:sp>
        <p:nvSpPr>
          <p:cNvPr id="5" name="Oval 25"/>
          <p:cNvSpPr>
            <a:spLocks noChangeArrowheads="1"/>
          </p:cNvSpPr>
          <p:nvPr/>
        </p:nvSpPr>
        <p:spPr bwMode="auto">
          <a:xfrm>
            <a:off x="3599891" y="250136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OID</a:t>
            </a:r>
          </a:p>
        </p:txBody>
      </p:sp>
      <p:sp>
        <p:nvSpPr>
          <p:cNvPr id="8" name="Line 39"/>
          <p:cNvSpPr>
            <a:spLocks noChangeShapeType="1"/>
          </p:cNvSpPr>
          <p:nvPr/>
        </p:nvSpPr>
        <p:spPr bwMode="auto">
          <a:xfrm>
            <a:off x="4139952" y="2924944"/>
            <a:ext cx="432048" cy="2160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9" name="Rectangle 5"/>
          <p:cNvSpPr>
            <a:spLocks noChangeArrowheads="1"/>
          </p:cNvSpPr>
          <p:nvPr/>
        </p:nvSpPr>
        <p:spPr bwMode="auto">
          <a:xfrm>
            <a:off x="1115616" y="3131174"/>
            <a:ext cx="864096"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Parts</a:t>
            </a:r>
          </a:p>
        </p:txBody>
      </p:sp>
      <p:sp>
        <p:nvSpPr>
          <p:cNvPr id="10" name="AutoShape 10"/>
          <p:cNvSpPr>
            <a:spLocks noChangeArrowheads="1"/>
          </p:cNvSpPr>
          <p:nvPr/>
        </p:nvSpPr>
        <p:spPr bwMode="auto">
          <a:xfrm>
            <a:off x="2718369" y="3101644"/>
            <a:ext cx="845519"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In</a:t>
            </a:r>
          </a:p>
        </p:txBody>
      </p:sp>
      <p:sp>
        <p:nvSpPr>
          <p:cNvPr id="13" name="Rectangle 5"/>
          <p:cNvSpPr>
            <a:spLocks noChangeArrowheads="1"/>
          </p:cNvSpPr>
          <p:nvPr/>
        </p:nvSpPr>
        <p:spPr bwMode="auto">
          <a:xfrm>
            <a:off x="4247964" y="1124744"/>
            <a:ext cx="1512168"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Employees</a:t>
            </a:r>
          </a:p>
        </p:txBody>
      </p:sp>
      <p:sp>
        <p:nvSpPr>
          <p:cNvPr id="14" name="Rectangle 5"/>
          <p:cNvSpPr>
            <a:spLocks noChangeArrowheads="1"/>
          </p:cNvSpPr>
          <p:nvPr/>
        </p:nvSpPr>
        <p:spPr bwMode="auto">
          <a:xfrm>
            <a:off x="4283968" y="5085184"/>
            <a:ext cx="1512168"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Customers</a:t>
            </a:r>
          </a:p>
        </p:txBody>
      </p:sp>
      <p:sp>
        <p:nvSpPr>
          <p:cNvPr id="15" name="AutoShape 10"/>
          <p:cNvSpPr>
            <a:spLocks noChangeArrowheads="1"/>
          </p:cNvSpPr>
          <p:nvPr/>
        </p:nvSpPr>
        <p:spPr bwMode="auto">
          <a:xfrm>
            <a:off x="4391980" y="2060848"/>
            <a:ext cx="1214848"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take</a:t>
            </a:r>
          </a:p>
        </p:txBody>
      </p:sp>
      <p:sp>
        <p:nvSpPr>
          <p:cNvPr id="16" name="AutoShape 10"/>
          <p:cNvSpPr>
            <a:spLocks noChangeArrowheads="1"/>
          </p:cNvSpPr>
          <p:nvPr/>
        </p:nvSpPr>
        <p:spPr bwMode="auto">
          <a:xfrm>
            <a:off x="4432628" y="4149080"/>
            <a:ext cx="1214848"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make</a:t>
            </a:r>
          </a:p>
        </p:txBody>
      </p:sp>
      <p:sp>
        <p:nvSpPr>
          <p:cNvPr id="17" name="Oval 25"/>
          <p:cNvSpPr>
            <a:spLocks noChangeArrowheads="1"/>
          </p:cNvSpPr>
          <p:nvPr/>
        </p:nvSpPr>
        <p:spPr bwMode="auto">
          <a:xfrm>
            <a:off x="2267744" y="228143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quan</a:t>
            </a:r>
            <a:endParaRPr lang="en-US" sz="2400" b="1" dirty="0">
              <a:latin typeface="Calibri" pitchFamily="34" charset="0"/>
            </a:endParaRPr>
          </a:p>
        </p:txBody>
      </p:sp>
      <p:sp>
        <p:nvSpPr>
          <p:cNvPr id="18" name="Oval 25"/>
          <p:cNvSpPr>
            <a:spLocks noChangeArrowheads="1"/>
          </p:cNvSpPr>
          <p:nvPr/>
        </p:nvSpPr>
        <p:spPr bwMode="auto">
          <a:xfrm>
            <a:off x="2267744" y="3933056"/>
            <a:ext cx="1333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shipdate</a:t>
            </a:r>
            <a:endParaRPr lang="en-US" sz="2400" b="1" dirty="0">
              <a:latin typeface="Calibri" pitchFamily="34" charset="0"/>
            </a:endParaRPr>
          </a:p>
        </p:txBody>
      </p:sp>
      <p:sp>
        <p:nvSpPr>
          <p:cNvPr id="20" name="Line 39"/>
          <p:cNvSpPr>
            <a:spLocks noChangeShapeType="1"/>
          </p:cNvSpPr>
          <p:nvPr/>
        </p:nvSpPr>
        <p:spPr bwMode="auto">
          <a:xfrm>
            <a:off x="1979713" y="3359772"/>
            <a:ext cx="782848"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1" name="Line 39"/>
          <p:cNvSpPr>
            <a:spLocks noChangeShapeType="1"/>
          </p:cNvSpPr>
          <p:nvPr/>
        </p:nvSpPr>
        <p:spPr bwMode="auto">
          <a:xfrm>
            <a:off x="2843808" y="2708919"/>
            <a:ext cx="297320" cy="392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2" name="Line 39"/>
          <p:cNvSpPr>
            <a:spLocks noChangeShapeType="1"/>
          </p:cNvSpPr>
          <p:nvPr/>
        </p:nvSpPr>
        <p:spPr bwMode="auto">
          <a:xfrm flipV="1">
            <a:off x="2934296" y="3588188"/>
            <a:ext cx="243792" cy="35524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4" name="Oval 25"/>
          <p:cNvSpPr>
            <a:spLocks noChangeArrowheads="1"/>
          </p:cNvSpPr>
          <p:nvPr/>
        </p:nvSpPr>
        <p:spPr bwMode="auto">
          <a:xfrm>
            <a:off x="1115616" y="206084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PID</a:t>
            </a:r>
          </a:p>
        </p:txBody>
      </p:sp>
      <p:sp>
        <p:nvSpPr>
          <p:cNvPr id="25" name="Line 39"/>
          <p:cNvSpPr>
            <a:spLocks noChangeShapeType="1"/>
          </p:cNvSpPr>
          <p:nvPr/>
        </p:nvSpPr>
        <p:spPr bwMode="auto">
          <a:xfrm>
            <a:off x="1583668" y="2497459"/>
            <a:ext cx="252028" cy="61885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6" name="Oval 25"/>
          <p:cNvSpPr>
            <a:spLocks noChangeArrowheads="1"/>
          </p:cNvSpPr>
          <p:nvPr/>
        </p:nvSpPr>
        <p:spPr bwMode="auto">
          <a:xfrm>
            <a:off x="376255" y="249746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name</a:t>
            </a:r>
          </a:p>
        </p:txBody>
      </p:sp>
      <p:sp>
        <p:nvSpPr>
          <p:cNvPr id="27" name="Line 39"/>
          <p:cNvSpPr>
            <a:spLocks noChangeShapeType="1"/>
          </p:cNvSpPr>
          <p:nvPr/>
        </p:nvSpPr>
        <p:spPr bwMode="auto">
          <a:xfrm flipH="1">
            <a:off x="791580" y="3573016"/>
            <a:ext cx="468052" cy="2880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8" name="Line 39"/>
          <p:cNvSpPr>
            <a:spLocks noChangeShapeType="1"/>
          </p:cNvSpPr>
          <p:nvPr/>
        </p:nvSpPr>
        <p:spPr bwMode="auto">
          <a:xfrm>
            <a:off x="899592" y="2924944"/>
            <a:ext cx="412767" cy="20623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9" name="Oval 28"/>
          <p:cNvSpPr>
            <a:spLocks noChangeArrowheads="1"/>
          </p:cNvSpPr>
          <p:nvPr/>
        </p:nvSpPr>
        <p:spPr bwMode="auto">
          <a:xfrm>
            <a:off x="323528" y="386104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price</a:t>
            </a:r>
          </a:p>
        </p:txBody>
      </p:sp>
      <p:sp>
        <p:nvSpPr>
          <p:cNvPr id="30" name="Oval 29"/>
          <p:cNvSpPr>
            <a:spLocks noChangeArrowheads="1"/>
          </p:cNvSpPr>
          <p:nvPr/>
        </p:nvSpPr>
        <p:spPr bwMode="auto">
          <a:xfrm>
            <a:off x="1187624" y="429309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stock</a:t>
            </a:r>
          </a:p>
        </p:txBody>
      </p:sp>
      <p:sp>
        <p:nvSpPr>
          <p:cNvPr id="31" name="Line 39"/>
          <p:cNvSpPr>
            <a:spLocks noChangeShapeType="1"/>
          </p:cNvSpPr>
          <p:nvPr/>
        </p:nvSpPr>
        <p:spPr bwMode="auto">
          <a:xfrm flipH="1">
            <a:off x="1583667" y="3593766"/>
            <a:ext cx="195287" cy="69932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38" name="Oval 25"/>
          <p:cNvSpPr>
            <a:spLocks noChangeArrowheads="1"/>
          </p:cNvSpPr>
          <p:nvPr/>
        </p:nvSpPr>
        <p:spPr bwMode="auto">
          <a:xfrm>
            <a:off x="6768244" y="212267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fname</a:t>
            </a:r>
            <a:endParaRPr lang="en-US" sz="2400" b="1" dirty="0">
              <a:latin typeface="Calibri" pitchFamily="34" charset="0"/>
            </a:endParaRPr>
          </a:p>
        </p:txBody>
      </p:sp>
      <p:sp>
        <p:nvSpPr>
          <p:cNvPr id="39" name="Oval 25"/>
          <p:cNvSpPr>
            <a:spLocks noChangeArrowheads="1"/>
          </p:cNvSpPr>
          <p:nvPr/>
        </p:nvSpPr>
        <p:spPr bwMode="auto">
          <a:xfrm>
            <a:off x="7908703" y="1880503"/>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lname</a:t>
            </a:r>
            <a:endParaRPr lang="en-US" sz="2400" b="1" dirty="0">
              <a:latin typeface="Calibri" pitchFamily="34" charset="0"/>
            </a:endParaRPr>
          </a:p>
        </p:txBody>
      </p:sp>
      <p:sp>
        <p:nvSpPr>
          <p:cNvPr id="40" name="Line 39"/>
          <p:cNvSpPr>
            <a:spLocks noChangeShapeType="1"/>
          </p:cNvSpPr>
          <p:nvPr/>
        </p:nvSpPr>
        <p:spPr bwMode="auto">
          <a:xfrm flipH="1" flipV="1">
            <a:off x="7416316" y="2547391"/>
            <a:ext cx="492387" cy="45951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1" name="Line 39"/>
          <p:cNvSpPr>
            <a:spLocks noChangeShapeType="1"/>
          </p:cNvSpPr>
          <p:nvPr/>
        </p:nvSpPr>
        <p:spPr bwMode="auto">
          <a:xfrm flipV="1">
            <a:off x="8376755" y="2281436"/>
            <a:ext cx="0" cy="7515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2" name="Oval 25"/>
          <p:cNvSpPr>
            <a:spLocks noChangeArrowheads="1"/>
          </p:cNvSpPr>
          <p:nvPr/>
        </p:nvSpPr>
        <p:spPr bwMode="auto">
          <a:xfrm>
            <a:off x="2699792" y="116531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EID</a:t>
            </a:r>
          </a:p>
        </p:txBody>
      </p:sp>
      <p:sp>
        <p:nvSpPr>
          <p:cNvPr id="43" name="Line 39"/>
          <p:cNvSpPr>
            <a:spLocks noChangeShapeType="1"/>
          </p:cNvSpPr>
          <p:nvPr/>
        </p:nvSpPr>
        <p:spPr bwMode="auto">
          <a:xfrm>
            <a:off x="3633253" y="1379052"/>
            <a:ext cx="61471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4" name="Oval 25"/>
          <p:cNvSpPr>
            <a:spLocks noChangeArrowheads="1"/>
          </p:cNvSpPr>
          <p:nvPr/>
        </p:nvSpPr>
        <p:spPr bwMode="auto">
          <a:xfrm>
            <a:off x="6876256" y="393762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ZIP</a:t>
            </a:r>
          </a:p>
        </p:txBody>
      </p:sp>
      <p:sp>
        <p:nvSpPr>
          <p:cNvPr id="45" name="Line 39"/>
          <p:cNvSpPr>
            <a:spLocks noChangeShapeType="1"/>
          </p:cNvSpPr>
          <p:nvPr/>
        </p:nvSpPr>
        <p:spPr bwMode="auto">
          <a:xfrm flipV="1">
            <a:off x="7416316" y="3359773"/>
            <a:ext cx="288270" cy="57328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6" name="Oval 25"/>
          <p:cNvSpPr>
            <a:spLocks noChangeArrowheads="1"/>
          </p:cNvSpPr>
          <p:nvPr/>
        </p:nvSpPr>
        <p:spPr bwMode="auto">
          <a:xfrm>
            <a:off x="2627784" y="522920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CID</a:t>
            </a:r>
          </a:p>
        </p:txBody>
      </p:sp>
      <p:sp>
        <p:nvSpPr>
          <p:cNvPr id="47" name="Line 39"/>
          <p:cNvSpPr>
            <a:spLocks noChangeShapeType="1"/>
          </p:cNvSpPr>
          <p:nvPr/>
        </p:nvSpPr>
        <p:spPr bwMode="auto">
          <a:xfrm flipV="1">
            <a:off x="3527884" y="5424692"/>
            <a:ext cx="72008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cxnSp>
        <p:nvCxnSpPr>
          <p:cNvPr id="54" name="Straight Connector 53"/>
          <p:cNvCxnSpPr/>
          <p:nvPr/>
        </p:nvCxnSpPr>
        <p:spPr bwMode="auto">
          <a:xfrm>
            <a:off x="5112060" y="2474427"/>
            <a:ext cx="0" cy="627217"/>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5" name="Line 17"/>
          <p:cNvSpPr>
            <a:spLocks noChangeShapeType="1"/>
          </p:cNvSpPr>
          <p:nvPr/>
        </p:nvSpPr>
        <p:spPr bwMode="auto">
          <a:xfrm flipV="1">
            <a:off x="4981105" y="1581944"/>
            <a:ext cx="0" cy="478904"/>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6" name="Straight Connector 55"/>
          <p:cNvCxnSpPr/>
          <p:nvPr/>
        </p:nvCxnSpPr>
        <p:spPr bwMode="auto">
          <a:xfrm flipV="1">
            <a:off x="4896036" y="2495178"/>
            <a:ext cx="0" cy="606466"/>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57" name="Straight Connector 56"/>
          <p:cNvCxnSpPr/>
          <p:nvPr/>
        </p:nvCxnSpPr>
        <p:spPr bwMode="auto">
          <a:xfrm>
            <a:off x="5112060" y="3573016"/>
            <a:ext cx="0" cy="6272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58" name="Straight Connector 57"/>
          <p:cNvCxnSpPr/>
          <p:nvPr/>
        </p:nvCxnSpPr>
        <p:spPr bwMode="auto">
          <a:xfrm flipV="1">
            <a:off x="4896036" y="3593767"/>
            <a:ext cx="0" cy="606466"/>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9" name="Line 17"/>
          <p:cNvSpPr>
            <a:spLocks noChangeShapeType="1"/>
          </p:cNvSpPr>
          <p:nvPr/>
        </p:nvSpPr>
        <p:spPr bwMode="auto">
          <a:xfrm>
            <a:off x="5040053" y="4635623"/>
            <a:ext cx="0" cy="411027"/>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1" name="Isosceles Triangle 60"/>
          <p:cNvSpPr/>
          <p:nvPr/>
        </p:nvSpPr>
        <p:spPr bwMode="auto">
          <a:xfrm rot="5400000">
            <a:off x="6214707" y="2290349"/>
            <a:ext cx="675026" cy="792088"/>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400" b="1" i="0" u="none" strike="noStrike" cap="none" normalizeH="0" baseline="0" dirty="0">
                <a:ln>
                  <a:noFill/>
                </a:ln>
                <a:solidFill>
                  <a:schemeClr val="tx1"/>
                </a:solidFill>
                <a:effectLst/>
                <a:latin typeface="Calibri" pitchFamily="34" charset="0"/>
                <a:ea typeface="宋体" pitchFamily="2" charset="-122"/>
              </a:rPr>
              <a:t> </a:t>
            </a:r>
            <a:r>
              <a:rPr kumimoji="0" lang="en-US" sz="2400" b="1" i="0" u="none" strike="noStrike" cap="none" normalizeH="0" baseline="0" dirty="0" err="1">
                <a:ln>
                  <a:noFill/>
                </a:ln>
                <a:solidFill>
                  <a:schemeClr val="tx1"/>
                </a:solidFill>
                <a:effectLst/>
                <a:latin typeface="Calibri" pitchFamily="34" charset="0"/>
                <a:ea typeface="宋体" pitchFamily="2" charset="-122"/>
              </a:rPr>
              <a:t>isa</a:t>
            </a:r>
            <a:endParaRPr kumimoji="0" lang="en-SG" sz="2400" b="1" i="0" u="none" strike="noStrike" cap="none" normalizeH="0" baseline="0" dirty="0">
              <a:ln>
                <a:noFill/>
              </a:ln>
              <a:solidFill>
                <a:schemeClr val="tx1"/>
              </a:solidFill>
              <a:effectLst/>
              <a:latin typeface="Calibri" pitchFamily="34" charset="0"/>
              <a:ea typeface="宋体" pitchFamily="2" charset="-122"/>
            </a:endParaRPr>
          </a:p>
        </p:txBody>
      </p:sp>
      <p:sp>
        <p:nvSpPr>
          <p:cNvPr id="62" name="Line 39"/>
          <p:cNvSpPr>
            <a:spLocks noChangeShapeType="1"/>
          </p:cNvSpPr>
          <p:nvPr/>
        </p:nvSpPr>
        <p:spPr bwMode="auto">
          <a:xfrm>
            <a:off x="5760131" y="1379051"/>
            <a:ext cx="396045" cy="12781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3" name="Line 39"/>
          <p:cNvSpPr>
            <a:spLocks noChangeShapeType="1"/>
          </p:cNvSpPr>
          <p:nvPr/>
        </p:nvSpPr>
        <p:spPr bwMode="auto">
          <a:xfrm flipV="1">
            <a:off x="5796137" y="3765808"/>
            <a:ext cx="360039" cy="15479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4" name="Rectangle 5"/>
          <p:cNvSpPr>
            <a:spLocks noChangeArrowheads="1"/>
          </p:cNvSpPr>
          <p:nvPr/>
        </p:nvSpPr>
        <p:spPr bwMode="auto">
          <a:xfrm>
            <a:off x="7560332" y="3006903"/>
            <a:ext cx="1260140"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Persons</a:t>
            </a:r>
          </a:p>
        </p:txBody>
      </p:sp>
      <p:sp>
        <p:nvSpPr>
          <p:cNvPr id="65" name="Line 39"/>
          <p:cNvSpPr>
            <a:spLocks noChangeShapeType="1"/>
          </p:cNvSpPr>
          <p:nvPr/>
        </p:nvSpPr>
        <p:spPr bwMode="auto">
          <a:xfrm>
            <a:off x="6948264" y="2686393"/>
            <a:ext cx="612068" cy="4545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6" name="Oval 25"/>
          <p:cNvSpPr>
            <a:spLocks noChangeArrowheads="1"/>
          </p:cNvSpPr>
          <p:nvPr/>
        </p:nvSpPr>
        <p:spPr bwMode="auto">
          <a:xfrm>
            <a:off x="7662509" y="435890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ID</a:t>
            </a:r>
          </a:p>
        </p:txBody>
      </p:sp>
      <p:sp>
        <p:nvSpPr>
          <p:cNvPr id="67" name="Line 39"/>
          <p:cNvSpPr>
            <a:spLocks noChangeShapeType="1"/>
          </p:cNvSpPr>
          <p:nvPr/>
        </p:nvSpPr>
        <p:spPr bwMode="auto">
          <a:xfrm flipV="1">
            <a:off x="8130560" y="3464103"/>
            <a:ext cx="246195" cy="9282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8" name="Isosceles Triangle 47"/>
          <p:cNvSpPr/>
          <p:nvPr/>
        </p:nvSpPr>
        <p:spPr bwMode="auto">
          <a:xfrm rot="5400000">
            <a:off x="6214707" y="3298461"/>
            <a:ext cx="675026" cy="792088"/>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400" b="1" i="0" u="none" strike="noStrike" cap="none" normalizeH="0" baseline="0" dirty="0">
                <a:ln>
                  <a:noFill/>
                </a:ln>
                <a:solidFill>
                  <a:schemeClr val="tx1"/>
                </a:solidFill>
                <a:effectLst/>
                <a:latin typeface="Calibri" pitchFamily="34" charset="0"/>
                <a:ea typeface="宋体" pitchFamily="2" charset="-122"/>
              </a:rPr>
              <a:t> </a:t>
            </a:r>
            <a:r>
              <a:rPr kumimoji="0" lang="en-US" sz="2400" b="1" i="0" u="none" strike="noStrike" cap="none" normalizeH="0" baseline="0" dirty="0" err="1">
                <a:ln>
                  <a:noFill/>
                </a:ln>
                <a:solidFill>
                  <a:schemeClr val="tx1"/>
                </a:solidFill>
                <a:effectLst/>
                <a:latin typeface="Calibri" pitchFamily="34" charset="0"/>
                <a:ea typeface="宋体" pitchFamily="2" charset="-122"/>
              </a:rPr>
              <a:t>isa</a:t>
            </a:r>
            <a:endParaRPr kumimoji="0" lang="en-SG" sz="2400" b="1" i="0" u="none" strike="noStrike" cap="none" normalizeH="0" baseline="0" dirty="0">
              <a:ln>
                <a:noFill/>
              </a:ln>
              <a:solidFill>
                <a:schemeClr val="tx1"/>
              </a:solidFill>
              <a:effectLst/>
              <a:latin typeface="Calibri" pitchFamily="34" charset="0"/>
              <a:ea typeface="宋体" pitchFamily="2" charset="-122"/>
            </a:endParaRPr>
          </a:p>
        </p:txBody>
      </p:sp>
      <p:sp>
        <p:nvSpPr>
          <p:cNvPr id="49" name="Line 39"/>
          <p:cNvSpPr>
            <a:spLocks noChangeShapeType="1"/>
          </p:cNvSpPr>
          <p:nvPr/>
        </p:nvSpPr>
        <p:spPr bwMode="auto">
          <a:xfrm flipV="1">
            <a:off x="6948264" y="3293367"/>
            <a:ext cx="612187" cy="40113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50" name="Line 39"/>
          <p:cNvSpPr>
            <a:spLocks noChangeShapeType="1"/>
          </p:cNvSpPr>
          <p:nvPr/>
        </p:nvSpPr>
        <p:spPr bwMode="auto">
          <a:xfrm flipV="1">
            <a:off x="3491882" y="3284983"/>
            <a:ext cx="1044113"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51" name="Line 39"/>
          <p:cNvSpPr>
            <a:spLocks noChangeShapeType="1"/>
          </p:cNvSpPr>
          <p:nvPr/>
        </p:nvSpPr>
        <p:spPr bwMode="auto">
          <a:xfrm flipV="1">
            <a:off x="3491881" y="3411983"/>
            <a:ext cx="104411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Tree>
    <p:extLst>
      <p:ext uri="{BB962C8B-B14F-4D97-AF65-F5344CB8AC3E}">
        <p14:creationId xmlns:p14="http://schemas.microsoft.com/office/powerpoint/2010/main" val="37177198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1196752"/>
            <a:ext cx="8229600" cy="4934173"/>
          </a:xfrm>
        </p:spPr>
        <p:txBody>
          <a:bodyPr>
            <a:normAutofit fontScale="85000" lnSpcReduction="20000"/>
          </a:bodyPr>
          <a:lstStyle/>
          <a:p>
            <a:r>
              <a:rPr lang="en-US" dirty="0"/>
              <a:t>Record info about teams, players, and their fans, including:</a:t>
            </a:r>
          </a:p>
          <a:p>
            <a:pPr lvl="1"/>
            <a:r>
              <a:rPr lang="en-US" dirty="0"/>
              <a:t>For each team, its name, its players, its team captain (who is also a player)</a:t>
            </a:r>
          </a:p>
          <a:p>
            <a:pPr lvl="1"/>
            <a:r>
              <a:rPr lang="en-US" dirty="0"/>
              <a:t>For each player, his/her name, and the history of teams on which he/she has played, including the start and ending dates for each team</a:t>
            </a:r>
          </a:p>
          <a:p>
            <a:pPr lvl="1"/>
            <a:r>
              <a:rPr lang="en-US" dirty="0"/>
              <a:t>For each fan, his/her name, favorite teams, favorite players</a:t>
            </a:r>
          </a:p>
          <a:p>
            <a:r>
              <a:rPr lang="en-US" dirty="0"/>
              <a:t>Additional information:</a:t>
            </a:r>
          </a:p>
          <a:p>
            <a:pPr lvl="1"/>
            <a:r>
              <a:rPr lang="en-US" dirty="0"/>
              <a:t>Each team has at least one player, and exactly one captain</a:t>
            </a:r>
          </a:p>
          <a:p>
            <a:pPr lvl="1"/>
            <a:r>
              <a:rPr lang="en-US" dirty="0"/>
              <a:t>Each team has a unique name</a:t>
            </a:r>
          </a:p>
          <a:p>
            <a:pPr lvl="1"/>
            <a:r>
              <a:rPr lang="en-US" dirty="0"/>
              <a:t>Two players (two fans) may have the same name</a:t>
            </a:r>
          </a:p>
          <a:p>
            <a:pPr lvl="1"/>
            <a:r>
              <a:rPr lang="en-US" dirty="0"/>
              <a:t>Each fan has at least one favorite team and at least one favorite player</a:t>
            </a:r>
          </a:p>
          <a:p>
            <a:endParaRPr lang="en-SG" dirty="0"/>
          </a:p>
        </p:txBody>
      </p:sp>
    </p:spTree>
    <p:extLst>
      <p:ext uri="{BB962C8B-B14F-4D97-AF65-F5344CB8AC3E}">
        <p14:creationId xmlns:p14="http://schemas.microsoft.com/office/powerpoint/2010/main" val="38308734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980728"/>
            <a:ext cx="8229600" cy="5256584"/>
          </a:xfrm>
        </p:spPr>
        <p:txBody>
          <a:bodyPr>
            <a:normAutofit fontScale="77500" lnSpcReduction="20000"/>
          </a:bodyPr>
          <a:lstStyle/>
          <a:p>
            <a:r>
              <a:rPr lang="en-SG" dirty="0"/>
              <a:t>Consider a movie database in which data is recorded about the movie industry. The data requirements are summarized as follows: </a:t>
            </a:r>
          </a:p>
          <a:p>
            <a:r>
              <a:rPr lang="en-SG" dirty="0"/>
              <a:t>Each movie is identified by a title and a year of release. It has a length in minutes. It has a studio that produces the movie, and it is classified under one or more genres (such as horror, action, drama </a:t>
            </a:r>
            <a:r>
              <a:rPr lang="en-SG" dirty="0" err="1"/>
              <a:t>etc</a:t>
            </a:r>
            <a:r>
              <a:rPr lang="en-SG" dirty="0"/>
              <a:t>). Movies are directed by one or more directors and have one or more actors acting in them. A movie also has a plot outline. Each movie also has zero or more quotable quotes which are spoken by a particular actor acting in the movie. </a:t>
            </a:r>
          </a:p>
          <a:p>
            <a:r>
              <a:rPr lang="en-SG" dirty="0"/>
              <a:t>Actors are identified by their names and date of birth and act in one or more movies. Each actor has a role in the movie. </a:t>
            </a:r>
          </a:p>
          <a:p>
            <a:r>
              <a:rPr lang="en-SG" dirty="0"/>
              <a:t>Directors are also identified by their names and date of birth and direct one or more movies. </a:t>
            </a:r>
          </a:p>
          <a:p>
            <a:r>
              <a:rPr lang="en-SG" dirty="0"/>
              <a:t>Studios are identified by their names and have an address. They produce one or more movies. </a:t>
            </a:r>
          </a:p>
        </p:txBody>
      </p:sp>
    </p:spTree>
    <p:extLst>
      <p:ext uri="{BB962C8B-B14F-4D97-AF65-F5344CB8AC3E}">
        <p14:creationId xmlns:p14="http://schemas.microsoft.com/office/powerpoint/2010/main" val="7368213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SG" dirty="0"/>
          </a:p>
        </p:txBody>
      </p:sp>
      <p:sp>
        <p:nvSpPr>
          <p:cNvPr id="3" name="Content Placeholder 2"/>
          <p:cNvSpPr>
            <a:spLocks noGrp="1"/>
          </p:cNvSpPr>
          <p:nvPr>
            <p:ph idx="1"/>
          </p:nvPr>
        </p:nvSpPr>
        <p:spPr>
          <a:xfrm>
            <a:off x="457200" y="1052736"/>
            <a:ext cx="8229600" cy="5078189"/>
          </a:xfrm>
        </p:spPr>
        <p:txBody>
          <a:bodyPr>
            <a:normAutofit fontScale="55000" lnSpcReduction="20000"/>
          </a:bodyPr>
          <a:lstStyle/>
          <a:p>
            <a:pPr lvl="0"/>
            <a:r>
              <a:rPr lang="en-SG" sz="3300" dirty="0"/>
              <a:t>The hospital has wards identified by a ward number. A ward has a block number and is located on a particular floor. Each ward consists of a number of rooms. Each room in a ward has a unique room number within the ward, but two rooms in two different wards may have the same room number. Rooms may have different sizes and may have different number of beds. Each ward has at least one room. </a:t>
            </a:r>
          </a:p>
          <a:p>
            <a:pPr lvl="0"/>
            <a:r>
              <a:rPr lang="en-SG" sz="3300" dirty="0"/>
              <a:t>When a patient registers, information about his IC#, name, and date of birth are recorded. If a patient is allocated to a room, no bed allocation details are recorded. </a:t>
            </a:r>
          </a:p>
          <a:p>
            <a:pPr lvl="0"/>
            <a:r>
              <a:rPr lang="en-SG" sz="3300" dirty="0"/>
              <a:t>There are three categories of wards: cardiology, paediatrics and surgery. Each paediatric ward has a number of baby nurseries, while each surgical ward has a number of intensive care units (ICU). </a:t>
            </a:r>
          </a:p>
          <a:p>
            <a:pPr lvl="0"/>
            <a:r>
              <a:rPr lang="en-SG" sz="3300" dirty="0"/>
              <a:t>During his/her hospitalisation, a patient may undergo one or more operations. Each operation has a type. Each type of operations is associated with a regular price and a list of surgeons that are qualified to perform operations of that type. Whenever a patient undergoes an operation, the hospital would record the date of the operation and the surgeons that are involved in the operation.</a:t>
            </a:r>
          </a:p>
          <a:p>
            <a:pPr lvl="0"/>
            <a:r>
              <a:rPr lang="en-SG" sz="3300" dirty="0"/>
              <a:t>Information about surgeon and nurses includes staff#, name, and date of joining. Every nurse is assigned to a ward, and different nurses can be assigned to the same ward. In addition, each ward is managed by exactly one nurse. Not every nurse manages a ward. </a:t>
            </a:r>
          </a:p>
          <a:p>
            <a:endParaRPr lang="en-SG" dirty="0"/>
          </a:p>
        </p:txBody>
      </p:sp>
    </p:spTree>
    <p:extLst>
      <p:ext uri="{BB962C8B-B14F-4D97-AF65-F5344CB8AC3E}">
        <p14:creationId xmlns:p14="http://schemas.microsoft.com/office/powerpoint/2010/main" val="4541302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a:t>
            </a:r>
            <a:endParaRPr lang="en-SG" dirty="0"/>
          </a:p>
        </p:txBody>
      </p:sp>
      <p:sp>
        <p:nvSpPr>
          <p:cNvPr id="3" name="Content Placeholder 2"/>
          <p:cNvSpPr>
            <a:spLocks noGrp="1"/>
          </p:cNvSpPr>
          <p:nvPr>
            <p:ph idx="1"/>
          </p:nvPr>
        </p:nvSpPr>
        <p:spPr>
          <a:xfrm>
            <a:off x="457200" y="1268760"/>
            <a:ext cx="8229600" cy="2592288"/>
          </a:xfrm>
        </p:spPr>
        <p:txBody>
          <a:bodyPr>
            <a:normAutofit/>
          </a:bodyPr>
          <a:lstStyle/>
          <a:p>
            <a:r>
              <a:rPr lang="en-US" dirty="0"/>
              <a:t>We have discussed</a:t>
            </a:r>
          </a:p>
          <a:p>
            <a:pPr lvl="1"/>
            <a:r>
              <a:rPr lang="en-US" dirty="0"/>
              <a:t>Elements of ER Diagrams: Entity Sets, Relationships, Attributes…</a:t>
            </a:r>
          </a:p>
          <a:p>
            <a:pPr lvl="1"/>
            <a:r>
              <a:rPr lang="en-US" dirty="0"/>
              <a:t>Design principles of ER Diagrams</a:t>
            </a:r>
          </a:p>
          <a:p>
            <a:r>
              <a:rPr lang="en-US" dirty="0"/>
              <a:t>These all concern the conversion below:</a:t>
            </a:r>
          </a:p>
          <a:p>
            <a:endParaRPr lang="en-US" dirty="0"/>
          </a:p>
          <a:p>
            <a:pPr lvl="1"/>
            <a:endParaRPr lang="en-US" dirty="0"/>
          </a:p>
        </p:txBody>
      </p:sp>
      <p:sp>
        <p:nvSpPr>
          <p:cNvPr id="4" name="Rounded Rectangle 3"/>
          <p:cNvSpPr/>
          <p:nvPr/>
        </p:nvSpPr>
        <p:spPr bwMode="auto">
          <a:xfrm>
            <a:off x="1835696" y="4046924"/>
            <a:ext cx="5472608"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2800" b="1" dirty="0">
                <a:latin typeface="Calibri" pitchFamily="34" charset="0"/>
                <a:ea typeface="宋体" pitchFamily="2" charset="-122"/>
              </a:rPr>
              <a:t>Real-World Application</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5" name="Down Arrow 4"/>
          <p:cNvSpPr/>
          <p:nvPr/>
        </p:nvSpPr>
        <p:spPr bwMode="auto">
          <a:xfrm>
            <a:off x="4283968" y="4769822"/>
            <a:ext cx="576064" cy="648072"/>
          </a:xfrm>
          <a:prstGeom prst="downArrow">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Calibri" pitchFamily="34" charset="0"/>
              <a:ea typeface="宋体" pitchFamily="2" charset="-122"/>
            </a:endParaRPr>
          </a:p>
        </p:txBody>
      </p:sp>
      <p:sp>
        <p:nvSpPr>
          <p:cNvPr id="6" name="Rounded Rectangle 5"/>
          <p:cNvSpPr/>
          <p:nvPr/>
        </p:nvSpPr>
        <p:spPr bwMode="auto">
          <a:xfrm>
            <a:off x="1835696" y="5514414"/>
            <a:ext cx="5472608"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2800" b="1" dirty="0">
                <a:solidFill>
                  <a:srgbClr val="C00000"/>
                </a:solidFill>
                <a:latin typeface="Calibri" pitchFamily="34" charset="0"/>
                <a:ea typeface="宋体" pitchFamily="2" charset="-122"/>
              </a:rPr>
              <a:t>Entity-Relationship (ER) Diagrams</a:t>
            </a:r>
            <a:endParaRPr kumimoji="0" lang="en-SG" sz="2800" b="1" i="0" u="none" strike="noStrike" cap="none" normalizeH="0" baseline="0" dirty="0">
              <a:ln>
                <a:noFill/>
              </a:ln>
              <a:solidFill>
                <a:srgbClr val="C00000"/>
              </a:solidFill>
              <a:effectLst/>
              <a:latin typeface="Calibri" pitchFamily="34" charset="0"/>
              <a:ea typeface="宋体" pitchFamily="2" charset="-122"/>
            </a:endParaRPr>
          </a:p>
        </p:txBody>
      </p:sp>
    </p:spTree>
    <p:extLst>
      <p:ext uri="{BB962C8B-B14F-4D97-AF65-F5344CB8AC3E}">
        <p14:creationId xmlns:p14="http://schemas.microsoft.com/office/powerpoint/2010/main" val="243432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Checkpoint</a:t>
            </a:r>
            <a:endParaRPr lang="en-SG" dirty="0"/>
          </a:p>
        </p:txBody>
      </p:sp>
      <p:sp>
        <p:nvSpPr>
          <p:cNvPr id="3" name="Content Placeholder 2"/>
          <p:cNvSpPr>
            <a:spLocks noGrp="1"/>
          </p:cNvSpPr>
          <p:nvPr>
            <p:ph idx="1"/>
          </p:nvPr>
        </p:nvSpPr>
        <p:spPr>
          <a:xfrm>
            <a:off x="457200" y="1268760"/>
            <a:ext cx="8229600" cy="2592288"/>
          </a:xfrm>
        </p:spPr>
        <p:txBody>
          <a:bodyPr>
            <a:normAutofit/>
          </a:bodyPr>
          <a:lstStyle/>
          <a:p>
            <a:r>
              <a:rPr lang="en-US" dirty="0"/>
              <a:t>But how do we convert the ER diagrams to a set of tables?</a:t>
            </a:r>
          </a:p>
          <a:p>
            <a:r>
              <a:rPr lang="en-US" dirty="0"/>
              <a:t>We will discuss this in the next few slides</a:t>
            </a:r>
          </a:p>
          <a:p>
            <a:endParaRPr lang="en-US" dirty="0"/>
          </a:p>
          <a:p>
            <a:endParaRPr lang="en-US" dirty="0"/>
          </a:p>
          <a:p>
            <a:pPr lvl="1"/>
            <a:endParaRPr lang="en-US" dirty="0"/>
          </a:p>
        </p:txBody>
      </p:sp>
      <p:sp>
        <p:nvSpPr>
          <p:cNvPr id="4" name="Rounded Rectangle 3"/>
          <p:cNvSpPr/>
          <p:nvPr/>
        </p:nvSpPr>
        <p:spPr bwMode="auto">
          <a:xfrm>
            <a:off x="1835696" y="4046924"/>
            <a:ext cx="5472608"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a:spcBef>
                <a:spcPct val="50000"/>
              </a:spcBef>
            </a:pPr>
            <a:r>
              <a:rPr lang="en-US" sz="2800" b="1" dirty="0">
                <a:solidFill>
                  <a:srgbClr val="C00000"/>
                </a:solidFill>
                <a:latin typeface="Calibri" pitchFamily="34" charset="0"/>
                <a:ea typeface="宋体" pitchFamily="2" charset="-122"/>
              </a:rPr>
              <a:t>Entity-Relationship (ER) Diagrams</a:t>
            </a:r>
            <a:endParaRPr lang="en-SG" sz="2800" b="1" dirty="0">
              <a:solidFill>
                <a:srgbClr val="C00000"/>
              </a:solidFill>
              <a:latin typeface="Calibri" pitchFamily="34" charset="0"/>
              <a:ea typeface="宋体" pitchFamily="2" charset="-122"/>
            </a:endParaRPr>
          </a:p>
        </p:txBody>
      </p:sp>
      <p:sp>
        <p:nvSpPr>
          <p:cNvPr id="5" name="Down Arrow 4"/>
          <p:cNvSpPr/>
          <p:nvPr/>
        </p:nvSpPr>
        <p:spPr bwMode="auto">
          <a:xfrm>
            <a:off x="4283968" y="4769822"/>
            <a:ext cx="576064" cy="648072"/>
          </a:xfrm>
          <a:prstGeom prst="downArrow">
            <a:avLst/>
          </a:prstGeom>
          <a:no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Calibri" pitchFamily="34" charset="0"/>
              <a:ea typeface="宋体" pitchFamily="2" charset="-122"/>
            </a:endParaRPr>
          </a:p>
        </p:txBody>
      </p:sp>
      <p:sp>
        <p:nvSpPr>
          <p:cNvPr id="6" name="Rounded Rectangle 5"/>
          <p:cNvSpPr/>
          <p:nvPr/>
        </p:nvSpPr>
        <p:spPr bwMode="auto">
          <a:xfrm>
            <a:off x="1835696" y="5514414"/>
            <a:ext cx="5472608" cy="578882"/>
          </a:xfrm>
          <a:prstGeom prst="roundRect">
            <a:avLst/>
          </a:prstGeom>
          <a:solidFill>
            <a:schemeClr val="bg1"/>
          </a:solidFill>
          <a:ln w="254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a:spcBef>
                <a:spcPct val="50000"/>
              </a:spcBef>
            </a:pPr>
            <a:r>
              <a:rPr lang="en-US" sz="2800" b="1" dirty="0">
                <a:latin typeface="Calibri" pitchFamily="34" charset="0"/>
                <a:ea typeface="宋体" pitchFamily="2" charset="-122"/>
              </a:rPr>
              <a:t>Tables (Database Schema)</a:t>
            </a:r>
            <a:endParaRPr lang="en-SG" sz="2800" b="1" dirty="0">
              <a:latin typeface="Calibri" pitchFamily="34" charset="0"/>
              <a:ea typeface="宋体" pitchFamily="2" charset="-122"/>
            </a:endParaRPr>
          </a:p>
        </p:txBody>
      </p:sp>
    </p:spTree>
    <p:extLst>
      <p:ext uri="{BB962C8B-B14F-4D97-AF65-F5344CB8AC3E}">
        <p14:creationId xmlns:p14="http://schemas.microsoft.com/office/powerpoint/2010/main" val="296516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 </a:t>
            </a:r>
            <a:r>
              <a:rPr lang="en-US" dirty="0">
                <a:sym typeface="Wingdings" pitchFamily="2" charset="2"/>
              </a:rPr>
              <a:t> Tables</a:t>
            </a:r>
            <a:endParaRPr lang="en-SG" dirty="0"/>
          </a:p>
        </p:txBody>
      </p:sp>
      <p:sp>
        <p:nvSpPr>
          <p:cNvPr id="3" name="Content Placeholder 2"/>
          <p:cNvSpPr>
            <a:spLocks noGrp="1"/>
          </p:cNvSpPr>
          <p:nvPr>
            <p:ph idx="1"/>
          </p:nvPr>
        </p:nvSpPr>
        <p:spPr>
          <a:xfrm>
            <a:off x="457200" y="3861048"/>
            <a:ext cx="8229600" cy="2269877"/>
          </a:xfrm>
        </p:spPr>
        <p:txBody>
          <a:bodyPr>
            <a:normAutofit/>
          </a:bodyPr>
          <a:lstStyle/>
          <a:p>
            <a:r>
              <a:rPr lang="en-US" dirty="0"/>
              <a:t>Products (</a:t>
            </a:r>
            <a:r>
              <a:rPr lang="en-US" u="sng" dirty="0"/>
              <a:t>name</a:t>
            </a:r>
            <a:r>
              <a:rPr lang="en-US" dirty="0"/>
              <a:t>, price)</a:t>
            </a:r>
          </a:p>
          <a:p>
            <a:r>
              <a:rPr lang="en-US" dirty="0"/>
              <a:t>Persons (</a:t>
            </a:r>
            <a:r>
              <a:rPr lang="en-US" u="sng" dirty="0"/>
              <a:t>name</a:t>
            </a:r>
            <a:r>
              <a:rPr lang="en-US" dirty="0"/>
              <a:t>, </a:t>
            </a:r>
            <a:r>
              <a:rPr lang="en-US" dirty="0" err="1"/>
              <a:t>addr</a:t>
            </a:r>
            <a:r>
              <a:rPr lang="en-US" dirty="0"/>
              <a:t>)</a:t>
            </a:r>
          </a:p>
          <a:p>
            <a:r>
              <a:rPr lang="en-US" dirty="0"/>
              <a:t>Buy (</a:t>
            </a:r>
            <a:r>
              <a:rPr lang="en-US" u="sng" dirty="0" err="1"/>
              <a:t>product_name</a:t>
            </a:r>
            <a:r>
              <a:rPr lang="en-US" dirty="0"/>
              <a:t>, </a:t>
            </a:r>
            <a:r>
              <a:rPr lang="en-US" u="sng" dirty="0" err="1"/>
              <a:t>person_name</a:t>
            </a:r>
            <a:r>
              <a:rPr lang="en-US" dirty="0"/>
              <a:t>)</a:t>
            </a:r>
          </a:p>
        </p:txBody>
      </p:sp>
      <p:sp>
        <p:nvSpPr>
          <p:cNvPr id="4" name="Rectangle 5"/>
          <p:cNvSpPr>
            <a:spLocks noChangeArrowheads="1"/>
          </p:cNvSpPr>
          <p:nvPr/>
        </p:nvSpPr>
        <p:spPr bwMode="auto">
          <a:xfrm>
            <a:off x="5848536" y="1340768"/>
            <a:ext cx="1594656" cy="694556"/>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Persons</a:t>
            </a:r>
          </a:p>
        </p:txBody>
      </p:sp>
      <p:sp>
        <p:nvSpPr>
          <p:cNvPr id="5" name="Oval 28"/>
          <p:cNvSpPr>
            <a:spLocks noChangeArrowheads="1"/>
          </p:cNvSpPr>
          <p:nvPr/>
        </p:nvSpPr>
        <p:spPr bwMode="auto">
          <a:xfrm>
            <a:off x="7674260" y="1777380"/>
            <a:ext cx="1146212"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6" name="Oval 29"/>
          <p:cNvSpPr>
            <a:spLocks noChangeArrowheads="1"/>
          </p:cNvSpPr>
          <p:nvPr/>
        </p:nvSpPr>
        <p:spPr bwMode="auto">
          <a:xfrm>
            <a:off x="7668344" y="1029658"/>
            <a:ext cx="1070992"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7" name="Line 44"/>
          <p:cNvSpPr>
            <a:spLocks noChangeShapeType="1"/>
          </p:cNvSpPr>
          <p:nvPr/>
        </p:nvSpPr>
        <p:spPr bwMode="auto">
          <a:xfrm>
            <a:off x="7418598" y="1814736"/>
            <a:ext cx="255662" cy="24839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8" name="Line 45"/>
          <p:cNvSpPr>
            <a:spLocks noChangeShapeType="1"/>
          </p:cNvSpPr>
          <p:nvPr/>
        </p:nvSpPr>
        <p:spPr bwMode="auto">
          <a:xfrm flipH="1">
            <a:off x="7443192" y="1315408"/>
            <a:ext cx="231068" cy="2857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9" name="Rectangle 3"/>
          <p:cNvSpPr>
            <a:spLocks noChangeArrowheads="1"/>
          </p:cNvSpPr>
          <p:nvPr/>
        </p:nvSpPr>
        <p:spPr bwMode="auto">
          <a:xfrm>
            <a:off x="2051720" y="1362472"/>
            <a:ext cx="1503040" cy="672852"/>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0" name="Oval 25"/>
          <p:cNvSpPr>
            <a:spLocks noChangeArrowheads="1"/>
          </p:cNvSpPr>
          <p:nvPr/>
        </p:nvSpPr>
        <p:spPr bwMode="auto">
          <a:xfrm>
            <a:off x="467544" y="9807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1" name="Oval 27"/>
          <p:cNvSpPr>
            <a:spLocks noChangeArrowheads="1"/>
          </p:cNvSpPr>
          <p:nvPr/>
        </p:nvSpPr>
        <p:spPr bwMode="auto">
          <a:xfrm>
            <a:off x="467544" y="177738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2" name="Line 39"/>
          <p:cNvSpPr>
            <a:spLocks noChangeShapeType="1"/>
          </p:cNvSpPr>
          <p:nvPr/>
        </p:nvSpPr>
        <p:spPr bwMode="auto">
          <a:xfrm>
            <a:off x="1610544" y="1315408"/>
            <a:ext cx="441176" cy="3389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3" name="Line 40"/>
          <p:cNvSpPr>
            <a:spLocks noChangeShapeType="1"/>
          </p:cNvSpPr>
          <p:nvPr/>
        </p:nvSpPr>
        <p:spPr bwMode="auto">
          <a:xfrm flipH="1">
            <a:off x="1610544" y="1814736"/>
            <a:ext cx="434330" cy="2205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AutoShape 10"/>
          <p:cNvSpPr>
            <a:spLocks noChangeArrowheads="1"/>
          </p:cNvSpPr>
          <p:nvPr/>
        </p:nvSpPr>
        <p:spPr bwMode="auto">
          <a:xfrm>
            <a:off x="3986808" y="1340768"/>
            <a:ext cx="1440160" cy="694556"/>
          </a:xfrm>
          <a:prstGeom prst="diamond">
            <a:avLst/>
          </a:prstGeom>
          <a:solidFill>
            <a:srgbClr val="CCFF99"/>
          </a:solidFill>
          <a:ln w="25400">
            <a:solidFill>
              <a:schemeClr val="tx1"/>
            </a:solidFill>
            <a:miter lim="800000"/>
            <a:headEnd/>
            <a:tailEnd/>
          </a:ln>
          <a:effectLst/>
        </p:spPr>
        <p:txBody>
          <a:bodyPr wrap="none" anchor="ctr"/>
          <a:lstStyle/>
          <a:p>
            <a:pPr algn="ctr"/>
            <a:r>
              <a:rPr lang="en-US" sz="2600" b="1" dirty="0">
                <a:latin typeface="Calibri" pitchFamily="34" charset="0"/>
              </a:rPr>
              <a:t>Buy</a:t>
            </a:r>
          </a:p>
        </p:txBody>
      </p:sp>
      <p:sp>
        <p:nvSpPr>
          <p:cNvPr id="15" name="Line 16"/>
          <p:cNvSpPr>
            <a:spLocks noChangeShapeType="1"/>
          </p:cNvSpPr>
          <p:nvPr/>
        </p:nvSpPr>
        <p:spPr bwMode="auto">
          <a:xfrm flipH="1">
            <a:off x="3554760" y="1700808"/>
            <a:ext cx="432048" cy="35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Line 21"/>
          <p:cNvSpPr>
            <a:spLocks noChangeShapeType="1"/>
          </p:cNvSpPr>
          <p:nvPr/>
        </p:nvSpPr>
        <p:spPr bwMode="auto">
          <a:xfrm>
            <a:off x="5426968" y="1697292"/>
            <a:ext cx="421568" cy="35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Down Arrow 16"/>
          <p:cNvSpPr/>
          <p:nvPr/>
        </p:nvSpPr>
        <p:spPr bwMode="auto">
          <a:xfrm>
            <a:off x="4427984" y="2204864"/>
            <a:ext cx="576064" cy="1440160"/>
          </a:xfrm>
          <a:prstGeom prst="downArrow">
            <a:avLst/>
          </a:prstGeom>
          <a:noFill/>
          <a:ln w="317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756518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 </a:t>
            </a:r>
            <a:r>
              <a:rPr lang="en-US" dirty="0">
                <a:sym typeface="Wingdings" pitchFamily="2" charset="2"/>
              </a:rPr>
              <a:t> Tables</a:t>
            </a:r>
            <a:endParaRPr lang="en-SG" dirty="0"/>
          </a:p>
        </p:txBody>
      </p:sp>
      <p:sp>
        <p:nvSpPr>
          <p:cNvPr id="3" name="Content Placeholder 2"/>
          <p:cNvSpPr>
            <a:spLocks noGrp="1"/>
          </p:cNvSpPr>
          <p:nvPr>
            <p:ph idx="1"/>
          </p:nvPr>
        </p:nvSpPr>
        <p:spPr/>
        <p:txBody>
          <a:bodyPr/>
          <a:lstStyle/>
          <a:p>
            <a:r>
              <a:rPr lang="en-US" dirty="0"/>
              <a:t>General rules:</a:t>
            </a:r>
          </a:p>
          <a:p>
            <a:pPr lvl="1"/>
            <a:r>
              <a:rPr lang="en-US" dirty="0"/>
              <a:t>Each entity set becomes a table</a:t>
            </a:r>
          </a:p>
          <a:p>
            <a:pPr lvl="1"/>
            <a:r>
              <a:rPr lang="en-US" dirty="0"/>
              <a:t>Each many-to-many relationship becomes a table</a:t>
            </a:r>
          </a:p>
          <a:p>
            <a:r>
              <a:rPr lang="en-US" dirty="0"/>
              <a:t>Special treatments needed for:</a:t>
            </a:r>
          </a:p>
          <a:p>
            <a:pPr lvl="1"/>
            <a:r>
              <a:rPr lang="en-US" dirty="0"/>
              <a:t>Many-to-one and one-to-one relationships </a:t>
            </a:r>
          </a:p>
          <a:p>
            <a:pPr lvl="1"/>
            <a:r>
              <a:rPr lang="en-US" dirty="0"/>
              <a:t>Weak entity sets</a:t>
            </a:r>
          </a:p>
          <a:p>
            <a:pPr lvl="1"/>
            <a:r>
              <a:rPr lang="en-US" dirty="0"/>
              <a:t>Subclasses</a:t>
            </a:r>
            <a:endParaRPr lang="en-SG" dirty="0"/>
          </a:p>
          <a:p>
            <a:pPr lvl="1"/>
            <a:endParaRPr lang="en-SG" dirty="0"/>
          </a:p>
        </p:txBody>
      </p:sp>
    </p:spTree>
    <p:extLst>
      <p:ext uri="{BB962C8B-B14F-4D97-AF65-F5344CB8AC3E}">
        <p14:creationId xmlns:p14="http://schemas.microsoft.com/office/powerpoint/2010/main" val="362168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 Set </a:t>
            </a:r>
            <a:r>
              <a:rPr lang="en-US" dirty="0">
                <a:sym typeface="Wingdings" pitchFamily="2" charset="2"/>
              </a:rPr>
              <a:t> Table</a:t>
            </a:r>
            <a:endParaRPr lang="en-SG" dirty="0"/>
          </a:p>
        </p:txBody>
      </p:sp>
      <p:sp>
        <p:nvSpPr>
          <p:cNvPr id="3" name="Content Placeholder 2"/>
          <p:cNvSpPr>
            <a:spLocks noGrp="1"/>
          </p:cNvSpPr>
          <p:nvPr>
            <p:ph idx="1"/>
          </p:nvPr>
        </p:nvSpPr>
        <p:spPr>
          <a:xfrm>
            <a:off x="457200" y="4365104"/>
            <a:ext cx="8229600" cy="1765821"/>
          </a:xfrm>
        </p:spPr>
        <p:txBody>
          <a:bodyPr>
            <a:normAutofit/>
          </a:bodyPr>
          <a:lstStyle/>
          <a:p>
            <a:r>
              <a:rPr lang="en-US" dirty="0"/>
              <a:t>Each entity set is converted into a table that contains all its attributes</a:t>
            </a:r>
          </a:p>
          <a:p>
            <a:r>
              <a:rPr lang="en-US" dirty="0"/>
              <a:t>The key of the table = the key of the entity set</a:t>
            </a:r>
            <a:endParaRPr lang="en-SG" dirty="0"/>
          </a:p>
        </p:txBody>
      </p:sp>
      <p:sp>
        <p:nvSpPr>
          <p:cNvPr id="4" name="Rectangle 3"/>
          <p:cNvSpPr>
            <a:spLocks noChangeArrowheads="1"/>
          </p:cNvSpPr>
          <p:nvPr/>
        </p:nvSpPr>
        <p:spPr bwMode="auto">
          <a:xfrm>
            <a:off x="4949044" y="2174776"/>
            <a:ext cx="955848" cy="601588"/>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Bars</a:t>
            </a:r>
          </a:p>
        </p:txBody>
      </p:sp>
      <p:sp>
        <p:nvSpPr>
          <p:cNvPr id="5" name="Oval 25"/>
          <p:cNvSpPr>
            <a:spLocks noChangeArrowheads="1"/>
          </p:cNvSpPr>
          <p:nvPr/>
        </p:nvSpPr>
        <p:spPr bwMode="auto">
          <a:xfrm>
            <a:off x="4166220" y="126876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sp>
        <p:nvSpPr>
          <p:cNvPr id="6" name="Oval 26"/>
          <p:cNvSpPr>
            <a:spLocks noChangeArrowheads="1"/>
          </p:cNvSpPr>
          <p:nvPr/>
        </p:nvSpPr>
        <p:spPr bwMode="auto">
          <a:xfrm>
            <a:off x="7046540" y="1277553"/>
            <a:ext cx="14859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license</a:t>
            </a:r>
          </a:p>
        </p:txBody>
      </p:sp>
      <p:sp>
        <p:nvSpPr>
          <p:cNvPr id="7" name="Oval 27"/>
          <p:cNvSpPr>
            <a:spLocks noChangeArrowheads="1"/>
          </p:cNvSpPr>
          <p:nvPr/>
        </p:nvSpPr>
        <p:spPr bwMode="auto">
          <a:xfrm>
            <a:off x="5606380" y="126876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err="1">
                <a:latin typeface="Calibri" pitchFamily="34" charset="0"/>
              </a:rPr>
              <a:t>addr</a:t>
            </a:r>
            <a:endParaRPr lang="en-US" sz="2800" b="1" dirty="0">
              <a:latin typeface="Calibri" pitchFamily="34" charset="0"/>
            </a:endParaRPr>
          </a:p>
        </p:txBody>
      </p:sp>
      <p:sp>
        <p:nvSpPr>
          <p:cNvPr id="12" name="Oval 25"/>
          <p:cNvSpPr>
            <a:spLocks noChangeArrowheads="1"/>
          </p:cNvSpPr>
          <p:nvPr/>
        </p:nvSpPr>
        <p:spPr bwMode="auto">
          <a:xfrm>
            <a:off x="2780928" y="1273397"/>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3" name="Straight Connector 12"/>
          <p:cNvCxnSpPr>
            <a:stCxn id="12" idx="4"/>
            <a:endCxn id="4" idx="1"/>
          </p:cNvCxnSpPr>
          <p:nvPr/>
        </p:nvCxnSpPr>
        <p:spPr bwMode="auto">
          <a:xfrm>
            <a:off x="3352428" y="1844897"/>
            <a:ext cx="1596616" cy="630673"/>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6" name="Straight Connector 15"/>
          <p:cNvCxnSpPr>
            <a:stCxn id="5" idx="4"/>
            <a:endCxn id="4" idx="0"/>
          </p:cNvCxnSpPr>
          <p:nvPr/>
        </p:nvCxnSpPr>
        <p:spPr bwMode="auto">
          <a:xfrm>
            <a:off x="4737720" y="1840260"/>
            <a:ext cx="689248" cy="334516"/>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9" name="Straight Connector 18"/>
          <p:cNvCxnSpPr>
            <a:stCxn id="7" idx="4"/>
            <a:endCxn id="4" idx="0"/>
          </p:cNvCxnSpPr>
          <p:nvPr/>
        </p:nvCxnSpPr>
        <p:spPr bwMode="auto">
          <a:xfrm flipH="1">
            <a:off x="5426968" y="1840260"/>
            <a:ext cx="750912" cy="334516"/>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2" name="Straight Connector 21"/>
          <p:cNvCxnSpPr>
            <a:stCxn id="6" idx="4"/>
            <a:endCxn id="4" idx="3"/>
          </p:cNvCxnSpPr>
          <p:nvPr/>
        </p:nvCxnSpPr>
        <p:spPr bwMode="auto">
          <a:xfrm flipH="1">
            <a:off x="5904892" y="1849053"/>
            <a:ext cx="1884598" cy="626517"/>
          </a:xfrm>
          <a:prstGeom prst="line">
            <a:avLst/>
          </a:prstGeom>
          <a:solidFill>
            <a:schemeClr val="accent1"/>
          </a:solidFill>
          <a:ln w="25400" cap="flat" cmpd="sng" algn="ctr">
            <a:solidFill>
              <a:schemeClr val="tx1"/>
            </a:solidFill>
            <a:prstDash val="solid"/>
            <a:round/>
            <a:headEnd type="none" w="med" len="med"/>
            <a:tailEnd type="none" w="med" len="med"/>
          </a:ln>
          <a:effectLst/>
        </p:spPr>
      </p:cxnSp>
      <p:graphicFrame>
        <p:nvGraphicFramePr>
          <p:cNvPr id="25" name="Table 24"/>
          <p:cNvGraphicFramePr>
            <a:graphicFrameLocks noGrp="1"/>
          </p:cNvGraphicFramePr>
          <p:nvPr>
            <p:extLst>
              <p:ext uri="{D42A27DB-BD31-4B8C-83A1-F6EECF244321}">
                <p14:modId xmlns:p14="http://schemas.microsoft.com/office/powerpoint/2010/main" val="3788958188"/>
              </p:ext>
            </p:extLst>
          </p:nvPr>
        </p:nvGraphicFramePr>
        <p:xfrm>
          <a:off x="1115616" y="3500616"/>
          <a:ext cx="4398588" cy="792480"/>
        </p:xfrm>
        <a:graphic>
          <a:graphicData uri="http://schemas.openxmlformats.org/drawingml/2006/table">
            <a:tbl>
              <a:tblPr firstRow="1" bandRow="1">
                <a:tableStyleId>{5C22544A-7EE6-4342-B048-85BDC9FD1C3A}</a:tableStyleId>
              </a:tblPr>
              <a:tblGrid>
                <a:gridCol w="1099647">
                  <a:extLst>
                    <a:ext uri="{9D8B030D-6E8A-4147-A177-3AD203B41FA5}">
                      <a16:colId xmlns:a16="http://schemas.microsoft.com/office/drawing/2014/main" val="20000"/>
                    </a:ext>
                  </a:extLst>
                </a:gridCol>
                <a:gridCol w="1099647">
                  <a:extLst>
                    <a:ext uri="{9D8B030D-6E8A-4147-A177-3AD203B41FA5}">
                      <a16:colId xmlns:a16="http://schemas.microsoft.com/office/drawing/2014/main" val="20001"/>
                    </a:ext>
                  </a:extLst>
                </a:gridCol>
                <a:gridCol w="1099647">
                  <a:extLst>
                    <a:ext uri="{9D8B030D-6E8A-4147-A177-3AD203B41FA5}">
                      <a16:colId xmlns:a16="http://schemas.microsoft.com/office/drawing/2014/main" val="20002"/>
                    </a:ext>
                  </a:extLst>
                </a:gridCol>
                <a:gridCol w="1099647">
                  <a:extLst>
                    <a:ext uri="{9D8B030D-6E8A-4147-A177-3AD203B41FA5}">
                      <a16:colId xmlns:a16="http://schemas.microsoft.com/office/drawing/2014/main" val="20003"/>
                    </a:ext>
                  </a:extLst>
                </a:gridCol>
              </a:tblGrid>
              <a:tr h="370840">
                <a:tc>
                  <a:txBody>
                    <a:bodyPr/>
                    <a:lstStyle/>
                    <a:p>
                      <a:pPr algn="ctr"/>
                      <a:r>
                        <a:rPr lang="en-US" sz="2600" u="sng" dirty="0">
                          <a:latin typeface="Calibri" pitchFamily="34" charset="0"/>
                        </a:rPr>
                        <a:t>ID</a:t>
                      </a:r>
                      <a:endParaRPr lang="en-SG" sz="2600" u="sng" dirty="0">
                        <a:latin typeface="Calibri" pitchFamily="34" charset="0"/>
                      </a:endParaRPr>
                    </a:p>
                  </a:txBody>
                  <a:tcPr marL="72000" marR="72000" marT="0" marB="0"/>
                </a:tc>
                <a:tc>
                  <a:txBody>
                    <a:bodyPr/>
                    <a:lstStyle/>
                    <a:p>
                      <a:pPr algn="ctr"/>
                      <a:r>
                        <a:rPr lang="en-US" sz="2600" dirty="0">
                          <a:latin typeface="Calibri" pitchFamily="34" charset="0"/>
                        </a:rPr>
                        <a:t>name</a:t>
                      </a:r>
                      <a:endParaRPr lang="en-SG" sz="2600" dirty="0">
                        <a:latin typeface="Calibri" pitchFamily="34" charset="0"/>
                      </a:endParaRPr>
                    </a:p>
                  </a:txBody>
                  <a:tcPr marL="72000" marR="72000" marT="0" marB="0"/>
                </a:tc>
                <a:tc>
                  <a:txBody>
                    <a:bodyPr/>
                    <a:lstStyle/>
                    <a:p>
                      <a:pPr algn="ctr"/>
                      <a:r>
                        <a:rPr lang="en-US" sz="2600" dirty="0" err="1">
                          <a:latin typeface="Calibri" pitchFamily="34" charset="0"/>
                        </a:rPr>
                        <a:t>addr</a:t>
                      </a:r>
                      <a:endParaRPr lang="en-SG" sz="2600" dirty="0">
                        <a:latin typeface="Calibri" pitchFamily="34" charset="0"/>
                      </a:endParaRPr>
                    </a:p>
                  </a:txBody>
                  <a:tcPr marL="72000" marR="72000" marT="0" marB="0"/>
                </a:tc>
                <a:tc>
                  <a:txBody>
                    <a:bodyPr/>
                    <a:lstStyle/>
                    <a:p>
                      <a:pPr algn="ctr"/>
                      <a:r>
                        <a:rPr lang="en-US" sz="2600" dirty="0">
                          <a:latin typeface="Calibri" pitchFamily="34" charset="0"/>
                        </a:rPr>
                        <a:t>license</a:t>
                      </a:r>
                      <a:endParaRPr lang="en-SG" sz="2600" dirty="0">
                        <a:latin typeface="Calibri" pitchFamily="34" charset="0"/>
                      </a:endParaRPr>
                    </a:p>
                  </a:txBody>
                  <a:tcPr marL="72000" marR="72000" marT="0" marB="0"/>
                </a:tc>
                <a:extLst>
                  <a:ext uri="{0D108BD9-81ED-4DB2-BD59-A6C34878D82A}">
                    <a16:rowId xmlns:a16="http://schemas.microsoft.com/office/drawing/2014/main" val="10000"/>
                  </a:ext>
                </a:extLst>
              </a:tr>
              <a:tr h="370840">
                <a:tc>
                  <a:txBody>
                    <a:bodyPr/>
                    <a:lstStyle/>
                    <a:p>
                      <a:pPr algn="ctr"/>
                      <a:r>
                        <a:rPr lang="en-US" sz="2600" dirty="0">
                          <a:latin typeface="Calibri" pitchFamily="34" charset="0"/>
                        </a:rPr>
                        <a:t>…</a:t>
                      </a:r>
                      <a:endParaRPr lang="en-SG" sz="2600" dirty="0">
                        <a:latin typeface="Calibri" pitchFamily="34" charset="0"/>
                      </a:endParaRPr>
                    </a:p>
                  </a:txBody>
                  <a:tcPr marL="72000" marR="72000" marT="0" marB="0"/>
                </a:tc>
                <a:tc>
                  <a:txBody>
                    <a:bodyPr/>
                    <a:lstStyle/>
                    <a:p>
                      <a:pPr algn="ctr"/>
                      <a:r>
                        <a:rPr lang="en-US" sz="2600" dirty="0">
                          <a:latin typeface="Calibri" pitchFamily="34" charset="0"/>
                        </a:rPr>
                        <a:t>…</a:t>
                      </a:r>
                      <a:endParaRPr lang="en-SG" sz="2600" dirty="0">
                        <a:latin typeface="Calibri" pitchFamily="34" charset="0"/>
                      </a:endParaRPr>
                    </a:p>
                  </a:txBody>
                  <a:tcPr marL="72000" marR="72000" marT="0" marB="0"/>
                </a:tc>
                <a:tc>
                  <a:txBody>
                    <a:bodyPr/>
                    <a:lstStyle/>
                    <a:p>
                      <a:pPr algn="ctr"/>
                      <a:r>
                        <a:rPr lang="en-US" sz="2600" dirty="0">
                          <a:latin typeface="Calibri" pitchFamily="34" charset="0"/>
                        </a:rPr>
                        <a:t>…</a:t>
                      </a:r>
                    </a:p>
                  </a:txBody>
                  <a:tcPr marL="72000" marR="72000" marT="0" marB="0"/>
                </a:tc>
                <a:tc>
                  <a:txBody>
                    <a:bodyPr/>
                    <a:lstStyle/>
                    <a:p>
                      <a:pPr algn="ctr"/>
                      <a:r>
                        <a:rPr lang="en-US" sz="2600" dirty="0">
                          <a:latin typeface="Calibri" pitchFamily="34" charset="0"/>
                        </a:rPr>
                        <a:t>…</a:t>
                      </a:r>
                    </a:p>
                  </a:txBody>
                  <a:tcPr marL="72000" marR="72000" marT="0" marB="0"/>
                </a:tc>
                <a:extLst>
                  <a:ext uri="{0D108BD9-81ED-4DB2-BD59-A6C34878D82A}">
                    <a16:rowId xmlns:a16="http://schemas.microsoft.com/office/drawing/2014/main" val="10001"/>
                  </a:ext>
                </a:extLst>
              </a:tr>
            </a:tbl>
          </a:graphicData>
        </a:graphic>
      </p:graphicFrame>
      <p:sp>
        <p:nvSpPr>
          <p:cNvPr id="26" name="TextBox 25"/>
          <p:cNvSpPr txBox="1"/>
          <p:nvPr/>
        </p:nvSpPr>
        <p:spPr>
          <a:xfrm>
            <a:off x="1132620" y="2849844"/>
            <a:ext cx="1063116" cy="534368"/>
          </a:xfrm>
          <a:prstGeom prst="rect">
            <a:avLst/>
          </a:prstGeom>
          <a:solidFill>
            <a:schemeClr val="bg1"/>
          </a:solidFill>
          <a:ln w="25400">
            <a:solidFill>
              <a:schemeClr val="accent1"/>
            </a:solidFill>
          </a:ln>
        </p:spPr>
        <p:txBody>
          <a:bodyPr wrap="square" tIns="36000" bIns="36000" rtlCol="0">
            <a:spAutoFit/>
          </a:bodyPr>
          <a:lstStyle/>
          <a:p>
            <a:r>
              <a:rPr lang="en-US" sz="3000" b="1" dirty="0">
                <a:latin typeface="Calibri" pitchFamily="34" charset="0"/>
              </a:rPr>
              <a:t>Bars</a:t>
            </a:r>
            <a:endParaRPr lang="en-SG" sz="3000" b="1" dirty="0">
              <a:latin typeface="Calibri" pitchFamily="34" charset="0"/>
            </a:endParaRPr>
          </a:p>
        </p:txBody>
      </p:sp>
      <p:sp>
        <p:nvSpPr>
          <p:cNvPr id="15" name="Down Arrow 14"/>
          <p:cNvSpPr/>
          <p:nvPr/>
        </p:nvSpPr>
        <p:spPr bwMode="auto">
          <a:xfrm rot="3450419">
            <a:off x="4185599" y="2704613"/>
            <a:ext cx="576064" cy="720080"/>
          </a:xfrm>
          <a:prstGeom prst="downArrow">
            <a:avLst/>
          </a:prstGeom>
          <a:noFill/>
          <a:ln w="317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SG" sz="2800" b="1"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96264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2" grpId="0" animBg="1"/>
      <p:bldP spid="26" grpId="0" animBg="1"/>
      <p:bldP spid="1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t>Many-to</a:t>
            </a:r>
            <a:r>
              <a:rPr lang="en-US" altLang="zh-CN" sz="3400" dirty="0"/>
              <a:t>-Many </a:t>
            </a:r>
            <a:r>
              <a:rPr lang="en-US" sz="3400" dirty="0"/>
              <a:t>Relationship </a:t>
            </a:r>
            <a:r>
              <a:rPr lang="en-US" sz="3400" dirty="0">
                <a:sym typeface="Wingdings" pitchFamily="2" charset="2"/>
              </a:rPr>
              <a:t> Table</a:t>
            </a:r>
            <a:endParaRPr lang="en-SG" sz="3400" dirty="0"/>
          </a:p>
        </p:txBody>
      </p:sp>
      <p:sp>
        <p:nvSpPr>
          <p:cNvPr id="3" name="Content Placeholder 2"/>
          <p:cNvSpPr>
            <a:spLocks noGrp="1"/>
          </p:cNvSpPr>
          <p:nvPr>
            <p:ph idx="1"/>
          </p:nvPr>
        </p:nvSpPr>
        <p:spPr>
          <a:xfrm>
            <a:off x="457200" y="2996952"/>
            <a:ext cx="8229600" cy="2520280"/>
          </a:xfrm>
        </p:spPr>
        <p:txBody>
          <a:bodyPr>
            <a:normAutofit/>
          </a:bodyPr>
          <a:lstStyle/>
          <a:p>
            <a:r>
              <a:rPr lang="en-US" dirty="0"/>
              <a:t>Converted into a table that contains </a:t>
            </a:r>
          </a:p>
          <a:p>
            <a:pPr lvl="1"/>
            <a:r>
              <a:rPr lang="en-US" dirty="0"/>
              <a:t>all keys of the participating entity sets, and </a:t>
            </a:r>
          </a:p>
          <a:p>
            <a:pPr lvl="1"/>
            <a:r>
              <a:rPr lang="en-US" dirty="0"/>
              <a:t>the attributes of the relationship (if any)</a:t>
            </a:r>
          </a:p>
          <a:p>
            <a:r>
              <a:rPr lang="en-US" dirty="0"/>
              <a:t>Key of table = Keys of the participating entity sets</a:t>
            </a:r>
          </a:p>
          <a:p>
            <a:endParaRPr lang="en-SG" dirty="0"/>
          </a:p>
        </p:txBody>
      </p:sp>
      <p:graphicFrame>
        <p:nvGraphicFramePr>
          <p:cNvPr id="4" name="Table 3"/>
          <p:cNvGraphicFramePr>
            <a:graphicFrameLocks noGrp="1"/>
          </p:cNvGraphicFramePr>
          <p:nvPr>
            <p:extLst>
              <p:ext uri="{D42A27DB-BD31-4B8C-83A1-F6EECF244321}">
                <p14:modId xmlns:p14="http://schemas.microsoft.com/office/powerpoint/2010/main" val="4067777505"/>
              </p:ext>
            </p:extLst>
          </p:nvPr>
        </p:nvGraphicFramePr>
        <p:xfrm>
          <a:off x="4211961" y="5117936"/>
          <a:ext cx="4464495" cy="975360"/>
        </p:xfrm>
        <a:graphic>
          <a:graphicData uri="http://schemas.openxmlformats.org/drawingml/2006/table">
            <a:tbl>
              <a:tblPr firstRow="1" bandRow="1">
                <a:tableStyleId>{5C22544A-7EE6-4342-B048-85BDC9FD1C3A}</a:tableStyleId>
              </a:tblPr>
              <a:tblGrid>
                <a:gridCol w="1488165">
                  <a:extLst>
                    <a:ext uri="{9D8B030D-6E8A-4147-A177-3AD203B41FA5}">
                      <a16:colId xmlns:a16="http://schemas.microsoft.com/office/drawing/2014/main" val="20000"/>
                    </a:ext>
                  </a:extLst>
                </a:gridCol>
                <a:gridCol w="1488165">
                  <a:extLst>
                    <a:ext uri="{9D8B030D-6E8A-4147-A177-3AD203B41FA5}">
                      <a16:colId xmlns:a16="http://schemas.microsoft.com/office/drawing/2014/main" val="20001"/>
                    </a:ext>
                  </a:extLst>
                </a:gridCol>
                <a:gridCol w="1488165">
                  <a:extLst>
                    <a:ext uri="{9D8B030D-6E8A-4147-A177-3AD203B41FA5}">
                      <a16:colId xmlns:a16="http://schemas.microsoft.com/office/drawing/2014/main" val="20002"/>
                    </a:ext>
                  </a:extLst>
                </a:gridCol>
              </a:tblGrid>
              <a:tr h="370840">
                <a:tc>
                  <a:txBody>
                    <a:bodyPr/>
                    <a:lstStyle/>
                    <a:p>
                      <a:pPr algn="ctr"/>
                      <a:r>
                        <a:rPr lang="en-US" sz="2600" u="sng" dirty="0">
                          <a:latin typeface="Calibri" pitchFamily="34" charset="0"/>
                        </a:rPr>
                        <a:t>Bars-ID</a:t>
                      </a:r>
                      <a:endParaRPr lang="en-SG" sz="2600" u="sng" dirty="0">
                        <a:latin typeface="Calibri" pitchFamily="34" charset="0"/>
                      </a:endParaRPr>
                    </a:p>
                  </a:txBody>
                  <a:tcPr/>
                </a:tc>
                <a:tc>
                  <a:txBody>
                    <a:bodyPr/>
                    <a:lstStyle/>
                    <a:p>
                      <a:pPr algn="ctr"/>
                      <a:r>
                        <a:rPr lang="en-US" sz="2600" u="sng" dirty="0">
                          <a:latin typeface="Calibri" pitchFamily="34" charset="0"/>
                        </a:rPr>
                        <a:t>Beers-ID</a:t>
                      </a:r>
                      <a:endParaRPr lang="en-SG" sz="2600" u="sng" dirty="0">
                        <a:latin typeface="Calibri" pitchFamily="34" charset="0"/>
                      </a:endParaRPr>
                    </a:p>
                  </a:txBody>
                  <a:tcPr/>
                </a:tc>
                <a:tc>
                  <a:txBody>
                    <a:bodyPr/>
                    <a:lstStyle/>
                    <a:p>
                      <a:pPr algn="ctr"/>
                      <a:r>
                        <a:rPr lang="en-US" sz="2600" dirty="0">
                          <a:latin typeface="Calibri" pitchFamily="34" charset="0"/>
                        </a:rPr>
                        <a:t>price</a:t>
                      </a:r>
                      <a:endParaRPr lang="en-SG" sz="26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600" dirty="0">
                          <a:latin typeface="Calibri" pitchFamily="34" charset="0"/>
                        </a:rPr>
                        <a:t>…</a:t>
                      </a:r>
                      <a:endParaRPr lang="en-SG" sz="2600" dirty="0">
                        <a:latin typeface="Calibri" pitchFamily="34" charset="0"/>
                      </a:endParaRPr>
                    </a:p>
                  </a:txBody>
                  <a:tcPr/>
                </a:tc>
                <a:tc>
                  <a:txBody>
                    <a:bodyPr/>
                    <a:lstStyle/>
                    <a:p>
                      <a:pPr algn="ctr"/>
                      <a:r>
                        <a:rPr lang="en-US" sz="2600" dirty="0">
                          <a:latin typeface="Calibri" pitchFamily="34" charset="0"/>
                        </a:rPr>
                        <a:t>…</a:t>
                      </a:r>
                      <a:endParaRPr lang="en-SG" sz="2600" dirty="0">
                        <a:latin typeface="Calibri" pitchFamily="34" charset="0"/>
                      </a:endParaRPr>
                    </a:p>
                  </a:txBody>
                  <a:tcPr/>
                </a:tc>
                <a:tc>
                  <a:txBody>
                    <a:bodyPr/>
                    <a:lstStyle/>
                    <a:p>
                      <a:pPr algn="ctr"/>
                      <a:r>
                        <a:rPr lang="en-US" sz="2600" dirty="0">
                          <a:latin typeface="Calibri" pitchFamily="34" charset="0"/>
                        </a:rPr>
                        <a:t>…</a:t>
                      </a:r>
                    </a:p>
                  </a:txBody>
                  <a:tcPr/>
                </a:tc>
                <a:extLst>
                  <a:ext uri="{0D108BD9-81ED-4DB2-BD59-A6C34878D82A}">
                    <a16:rowId xmlns:a16="http://schemas.microsoft.com/office/drawing/2014/main" val="10001"/>
                  </a:ext>
                </a:extLst>
              </a:tr>
            </a:tbl>
          </a:graphicData>
        </a:graphic>
      </p:graphicFrame>
      <p:sp>
        <p:nvSpPr>
          <p:cNvPr id="5" name="TextBox 4"/>
          <p:cNvSpPr txBox="1"/>
          <p:nvPr/>
        </p:nvSpPr>
        <p:spPr>
          <a:xfrm>
            <a:off x="3059832" y="5157192"/>
            <a:ext cx="1063116" cy="584775"/>
          </a:xfrm>
          <a:prstGeom prst="rect">
            <a:avLst/>
          </a:prstGeom>
          <a:solidFill>
            <a:schemeClr val="bg1"/>
          </a:solidFill>
          <a:ln w="25400">
            <a:solidFill>
              <a:schemeClr val="accent1"/>
            </a:solidFill>
          </a:ln>
        </p:spPr>
        <p:txBody>
          <a:bodyPr wrap="square" rtlCol="0">
            <a:spAutoFit/>
          </a:bodyPr>
          <a:lstStyle/>
          <a:p>
            <a:r>
              <a:rPr lang="en-US" sz="3200" b="1" dirty="0">
                <a:latin typeface="Calibri" pitchFamily="34" charset="0"/>
              </a:rPr>
              <a:t>Sell</a:t>
            </a:r>
            <a:endParaRPr lang="en-SG" sz="3200" b="1" dirty="0">
              <a:latin typeface="Calibri" pitchFamily="34" charset="0"/>
            </a:endParaRPr>
          </a:p>
        </p:txBody>
      </p:sp>
      <p:sp>
        <p:nvSpPr>
          <p:cNvPr id="6" name="Rectangle 5"/>
          <p:cNvSpPr>
            <a:spLocks noChangeArrowheads="1"/>
          </p:cNvSpPr>
          <p:nvPr/>
        </p:nvSpPr>
        <p:spPr bwMode="auto">
          <a:xfrm>
            <a:off x="5949280" y="1742655"/>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Beers</a:t>
            </a:r>
          </a:p>
        </p:txBody>
      </p:sp>
      <p:sp>
        <p:nvSpPr>
          <p:cNvPr id="7" name="Rectangle 3"/>
          <p:cNvSpPr>
            <a:spLocks noChangeArrowheads="1"/>
          </p:cNvSpPr>
          <p:nvPr/>
        </p:nvSpPr>
        <p:spPr bwMode="auto">
          <a:xfrm>
            <a:off x="2151556" y="1742655"/>
            <a:ext cx="12683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Bars</a:t>
            </a:r>
          </a:p>
        </p:txBody>
      </p:sp>
      <p:sp>
        <p:nvSpPr>
          <p:cNvPr id="8" name="AutoShape 10"/>
          <p:cNvSpPr>
            <a:spLocks noChangeArrowheads="1"/>
          </p:cNvSpPr>
          <p:nvPr/>
        </p:nvSpPr>
        <p:spPr bwMode="auto">
          <a:xfrm>
            <a:off x="3851920" y="1705372"/>
            <a:ext cx="1656184"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Sell</a:t>
            </a:r>
          </a:p>
        </p:txBody>
      </p:sp>
      <p:cxnSp>
        <p:nvCxnSpPr>
          <p:cNvPr id="9" name="Straight Connector 8"/>
          <p:cNvCxnSpPr>
            <a:stCxn id="7" idx="3"/>
            <a:endCxn id="8" idx="1"/>
          </p:cNvCxnSpPr>
          <p:nvPr/>
        </p:nvCxnSpPr>
        <p:spPr bwMode="auto">
          <a:xfrm>
            <a:off x="3419872" y="2199855"/>
            <a:ext cx="43204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10" name="Straight Connector 9"/>
          <p:cNvCxnSpPr>
            <a:stCxn id="8" idx="3"/>
            <a:endCxn id="6" idx="1"/>
          </p:cNvCxnSpPr>
          <p:nvPr/>
        </p:nvCxnSpPr>
        <p:spPr bwMode="auto">
          <a:xfrm flipV="1">
            <a:off x="5508104" y="2199855"/>
            <a:ext cx="441176" cy="817"/>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11" name="Oval 25"/>
          <p:cNvSpPr>
            <a:spLocks noChangeArrowheads="1"/>
          </p:cNvSpPr>
          <p:nvPr/>
        </p:nvSpPr>
        <p:spPr bwMode="auto">
          <a:xfrm>
            <a:off x="476672" y="156135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2" name="Straight Connector 11"/>
          <p:cNvCxnSpPr>
            <a:stCxn id="11" idx="6"/>
            <a:endCxn id="7" idx="1"/>
          </p:cNvCxnSpPr>
          <p:nvPr/>
        </p:nvCxnSpPr>
        <p:spPr bwMode="auto">
          <a:xfrm>
            <a:off x="1619672" y="1847106"/>
            <a:ext cx="531884" cy="35274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3" name="Oval 25"/>
          <p:cNvSpPr>
            <a:spLocks noChangeArrowheads="1"/>
          </p:cNvSpPr>
          <p:nvPr/>
        </p:nvSpPr>
        <p:spPr bwMode="auto">
          <a:xfrm>
            <a:off x="467544" y="22860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14" name="Straight Connector 13"/>
          <p:cNvCxnSpPr>
            <a:stCxn id="13" idx="6"/>
            <a:endCxn id="7" idx="1"/>
          </p:cNvCxnSpPr>
          <p:nvPr/>
        </p:nvCxnSpPr>
        <p:spPr bwMode="auto">
          <a:xfrm flipV="1">
            <a:off x="1610544" y="2199855"/>
            <a:ext cx="541012" cy="371895"/>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5" name="Oval 25"/>
          <p:cNvSpPr>
            <a:spLocks noChangeArrowheads="1"/>
          </p:cNvSpPr>
          <p:nvPr/>
        </p:nvSpPr>
        <p:spPr bwMode="auto">
          <a:xfrm>
            <a:off x="7505628" y="1561356"/>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6" name="Straight Connector 15"/>
          <p:cNvCxnSpPr>
            <a:stCxn id="15" idx="2"/>
            <a:endCxn id="6" idx="3"/>
          </p:cNvCxnSpPr>
          <p:nvPr/>
        </p:nvCxnSpPr>
        <p:spPr bwMode="auto">
          <a:xfrm flipH="1">
            <a:off x="7092280" y="1847106"/>
            <a:ext cx="413348" cy="35274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7" name="Oval 25"/>
          <p:cNvSpPr>
            <a:spLocks noChangeArrowheads="1"/>
          </p:cNvSpPr>
          <p:nvPr/>
        </p:nvSpPr>
        <p:spPr bwMode="auto">
          <a:xfrm>
            <a:off x="7496500" y="22860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18" name="Straight Connector 17"/>
          <p:cNvCxnSpPr>
            <a:stCxn id="6" idx="3"/>
            <a:endCxn id="17" idx="2"/>
          </p:cNvCxnSpPr>
          <p:nvPr/>
        </p:nvCxnSpPr>
        <p:spPr bwMode="auto">
          <a:xfrm>
            <a:off x="7092280" y="2199855"/>
            <a:ext cx="404220" cy="371895"/>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9" name="Oval 25"/>
          <p:cNvSpPr>
            <a:spLocks noChangeArrowheads="1"/>
          </p:cNvSpPr>
          <p:nvPr/>
        </p:nvSpPr>
        <p:spPr bwMode="auto">
          <a:xfrm>
            <a:off x="4932040" y="98529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price</a:t>
            </a:r>
          </a:p>
        </p:txBody>
      </p:sp>
      <p:cxnSp>
        <p:nvCxnSpPr>
          <p:cNvPr id="20" name="Straight Connector 19"/>
          <p:cNvCxnSpPr>
            <a:stCxn id="8" idx="0"/>
            <a:endCxn id="19" idx="4"/>
          </p:cNvCxnSpPr>
          <p:nvPr/>
        </p:nvCxnSpPr>
        <p:spPr bwMode="auto">
          <a:xfrm flipV="1">
            <a:off x="4680012" y="1556792"/>
            <a:ext cx="823528" cy="14858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02658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3" grpId="0" animBg="1"/>
      <p:bldP spid="15" grpId="0" animBg="1"/>
      <p:bldP spid="17" grpId="0" animBg="1"/>
      <p:bldP spid="1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dirty="0"/>
              <a:t>Many-to</a:t>
            </a:r>
            <a:r>
              <a:rPr lang="en-US" altLang="zh-CN" sz="3400" dirty="0"/>
              <a:t>-Many </a:t>
            </a:r>
            <a:r>
              <a:rPr lang="en-US" sz="3400" dirty="0"/>
              <a:t>Relationship </a:t>
            </a:r>
            <a:r>
              <a:rPr lang="en-US" sz="3400" dirty="0">
                <a:sym typeface="Wingdings" pitchFamily="2" charset="2"/>
              </a:rPr>
              <a:t> Table</a:t>
            </a:r>
            <a:endParaRPr lang="en-SG" sz="3400" dirty="0"/>
          </a:p>
        </p:txBody>
      </p:sp>
      <p:sp>
        <p:nvSpPr>
          <p:cNvPr id="3" name="Content Placeholder 2"/>
          <p:cNvSpPr>
            <a:spLocks noGrp="1"/>
          </p:cNvSpPr>
          <p:nvPr>
            <p:ph idx="1"/>
          </p:nvPr>
        </p:nvSpPr>
        <p:spPr>
          <a:xfrm>
            <a:off x="457200" y="3068960"/>
            <a:ext cx="8579296" cy="2016224"/>
          </a:xfrm>
        </p:spPr>
        <p:txBody>
          <a:bodyPr>
            <a:normAutofit fontScale="92500"/>
          </a:bodyPr>
          <a:lstStyle/>
          <a:p>
            <a:r>
              <a:rPr lang="en-US" dirty="0"/>
              <a:t>If an entity is involved multiple times in a relationship</a:t>
            </a:r>
          </a:p>
          <a:p>
            <a:pPr lvl="1"/>
            <a:r>
              <a:rPr lang="en-US" dirty="0"/>
              <a:t>Its key will appear in the corresponding table multiple times</a:t>
            </a:r>
          </a:p>
          <a:p>
            <a:pPr lvl="1"/>
            <a:r>
              <a:rPr lang="en-US" dirty="0"/>
              <a:t>The key is re-named according to the corresponding role</a:t>
            </a:r>
          </a:p>
          <a:p>
            <a:endParaRPr lang="en-SG" dirty="0"/>
          </a:p>
        </p:txBody>
      </p:sp>
      <p:graphicFrame>
        <p:nvGraphicFramePr>
          <p:cNvPr id="4" name="Table 3"/>
          <p:cNvGraphicFramePr>
            <a:graphicFrameLocks noGrp="1"/>
          </p:cNvGraphicFramePr>
          <p:nvPr>
            <p:extLst>
              <p:ext uri="{D42A27DB-BD31-4B8C-83A1-F6EECF244321}">
                <p14:modId xmlns:p14="http://schemas.microsoft.com/office/powerpoint/2010/main" val="1882214181"/>
              </p:ext>
            </p:extLst>
          </p:nvPr>
        </p:nvGraphicFramePr>
        <p:xfrm>
          <a:off x="3491881" y="5117936"/>
          <a:ext cx="4032447" cy="975360"/>
        </p:xfrm>
        <a:graphic>
          <a:graphicData uri="http://schemas.openxmlformats.org/drawingml/2006/table">
            <a:tbl>
              <a:tblPr firstRow="1" bandRow="1">
                <a:tableStyleId>{5C22544A-7EE6-4342-B048-85BDC9FD1C3A}</a:tableStyleId>
              </a:tblPr>
              <a:tblGrid>
                <a:gridCol w="1944215">
                  <a:extLst>
                    <a:ext uri="{9D8B030D-6E8A-4147-A177-3AD203B41FA5}">
                      <a16:colId xmlns:a16="http://schemas.microsoft.com/office/drawing/2014/main" val="20000"/>
                    </a:ext>
                  </a:extLst>
                </a:gridCol>
                <a:gridCol w="2088232">
                  <a:extLst>
                    <a:ext uri="{9D8B030D-6E8A-4147-A177-3AD203B41FA5}">
                      <a16:colId xmlns:a16="http://schemas.microsoft.com/office/drawing/2014/main" val="20001"/>
                    </a:ext>
                  </a:extLst>
                </a:gridCol>
              </a:tblGrid>
              <a:tr h="370840">
                <a:tc>
                  <a:txBody>
                    <a:bodyPr/>
                    <a:lstStyle/>
                    <a:p>
                      <a:pPr algn="ctr"/>
                      <a:r>
                        <a:rPr lang="en-US" sz="2600" u="sng" dirty="0">
                          <a:latin typeface="Calibri" pitchFamily="34" charset="0"/>
                        </a:rPr>
                        <a:t>Follower-ID</a:t>
                      </a:r>
                      <a:endParaRPr lang="en-SG" sz="2600" u="sng" dirty="0">
                        <a:latin typeface="Calibri" pitchFamily="34" charset="0"/>
                      </a:endParaRPr>
                    </a:p>
                  </a:txBody>
                  <a:tcPr/>
                </a:tc>
                <a:tc>
                  <a:txBody>
                    <a:bodyPr/>
                    <a:lstStyle/>
                    <a:p>
                      <a:pPr algn="ctr"/>
                      <a:r>
                        <a:rPr lang="en-US" sz="2600" u="sng" dirty="0" err="1">
                          <a:latin typeface="Calibri" pitchFamily="34" charset="0"/>
                        </a:rPr>
                        <a:t>Followee</a:t>
                      </a:r>
                      <a:r>
                        <a:rPr lang="en-US" sz="2600" u="sng" dirty="0">
                          <a:latin typeface="Calibri" pitchFamily="34" charset="0"/>
                        </a:rPr>
                        <a:t>-ID</a:t>
                      </a:r>
                      <a:endParaRPr lang="en-SG" sz="2600" u="sng"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600" dirty="0">
                          <a:latin typeface="Calibri" pitchFamily="34" charset="0"/>
                        </a:rPr>
                        <a:t>…</a:t>
                      </a:r>
                      <a:endParaRPr lang="en-SG" sz="2600" dirty="0">
                        <a:latin typeface="Calibri" pitchFamily="34" charset="0"/>
                      </a:endParaRPr>
                    </a:p>
                  </a:txBody>
                  <a:tcPr/>
                </a:tc>
                <a:tc>
                  <a:txBody>
                    <a:bodyPr/>
                    <a:lstStyle/>
                    <a:p>
                      <a:pPr algn="ctr"/>
                      <a:r>
                        <a:rPr lang="en-US" sz="2600" dirty="0">
                          <a:latin typeface="Calibri" pitchFamily="34" charset="0"/>
                        </a:rPr>
                        <a:t>…</a:t>
                      </a:r>
                      <a:endParaRPr lang="en-SG" sz="2600" dirty="0">
                        <a:latin typeface="Calibri" pitchFamily="34" charset="0"/>
                      </a:endParaRPr>
                    </a:p>
                  </a:txBody>
                  <a:tcPr/>
                </a:tc>
                <a:extLst>
                  <a:ext uri="{0D108BD9-81ED-4DB2-BD59-A6C34878D82A}">
                    <a16:rowId xmlns:a16="http://schemas.microsoft.com/office/drawing/2014/main" val="10001"/>
                  </a:ext>
                </a:extLst>
              </a:tr>
            </a:tbl>
          </a:graphicData>
        </a:graphic>
      </p:graphicFrame>
      <p:sp>
        <p:nvSpPr>
          <p:cNvPr id="5" name="TextBox 4"/>
          <p:cNvSpPr txBox="1"/>
          <p:nvPr/>
        </p:nvSpPr>
        <p:spPr>
          <a:xfrm>
            <a:off x="2051720" y="5157192"/>
            <a:ext cx="1351147" cy="584775"/>
          </a:xfrm>
          <a:prstGeom prst="rect">
            <a:avLst/>
          </a:prstGeom>
          <a:solidFill>
            <a:schemeClr val="bg1"/>
          </a:solidFill>
          <a:ln w="25400">
            <a:solidFill>
              <a:schemeClr val="accent1"/>
            </a:solidFill>
          </a:ln>
        </p:spPr>
        <p:txBody>
          <a:bodyPr wrap="square" rtlCol="0">
            <a:spAutoFit/>
          </a:bodyPr>
          <a:lstStyle/>
          <a:p>
            <a:r>
              <a:rPr lang="en-US" sz="3200" b="1" dirty="0">
                <a:latin typeface="Calibri" pitchFamily="34" charset="0"/>
              </a:rPr>
              <a:t>Follow</a:t>
            </a:r>
            <a:endParaRPr lang="en-SG" sz="3200" b="1" dirty="0">
              <a:latin typeface="Calibri" pitchFamily="34" charset="0"/>
            </a:endParaRPr>
          </a:p>
        </p:txBody>
      </p:sp>
      <p:sp>
        <p:nvSpPr>
          <p:cNvPr id="21" name="Rectangle 5"/>
          <p:cNvSpPr>
            <a:spLocks noChangeArrowheads="1"/>
          </p:cNvSpPr>
          <p:nvPr/>
        </p:nvSpPr>
        <p:spPr bwMode="auto">
          <a:xfrm>
            <a:off x="4301001" y="1540396"/>
            <a:ext cx="1279111" cy="810766"/>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Persons</a:t>
            </a:r>
          </a:p>
        </p:txBody>
      </p:sp>
      <p:sp>
        <p:nvSpPr>
          <p:cNvPr id="22" name="AutoShape 10"/>
          <p:cNvSpPr>
            <a:spLocks noChangeArrowheads="1"/>
          </p:cNvSpPr>
          <p:nvPr/>
        </p:nvSpPr>
        <p:spPr bwMode="auto">
          <a:xfrm>
            <a:off x="6804248" y="1502296"/>
            <a:ext cx="2160240" cy="848866"/>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Follow</a:t>
            </a:r>
          </a:p>
        </p:txBody>
      </p:sp>
      <p:cxnSp>
        <p:nvCxnSpPr>
          <p:cNvPr id="23" name="Curved Connector 22"/>
          <p:cNvCxnSpPr>
            <a:stCxn id="22" idx="0"/>
            <a:endCxn id="21" idx="0"/>
          </p:cNvCxnSpPr>
          <p:nvPr/>
        </p:nvCxnSpPr>
        <p:spPr bwMode="auto">
          <a:xfrm rot="16200000" flipH="1" flipV="1">
            <a:off x="6393413" y="49440"/>
            <a:ext cx="38100" cy="2943811"/>
          </a:xfrm>
          <a:prstGeom prst="curvedConnector3">
            <a:avLst>
              <a:gd name="adj1" fmla="val -1344835"/>
            </a:avLst>
          </a:prstGeom>
          <a:solidFill>
            <a:schemeClr val="accent1"/>
          </a:solidFill>
          <a:ln w="25400" cap="flat" cmpd="sng" algn="ctr">
            <a:solidFill>
              <a:schemeClr val="tx1"/>
            </a:solidFill>
            <a:prstDash val="solid"/>
            <a:round/>
            <a:headEnd type="none" w="med" len="med"/>
            <a:tailEnd type="none" w="lg" len="lg"/>
          </a:ln>
          <a:effectLst/>
        </p:spPr>
      </p:cxnSp>
      <p:cxnSp>
        <p:nvCxnSpPr>
          <p:cNvPr id="24" name="Curved Connector 23"/>
          <p:cNvCxnSpPr>
            <a:stCxn id="22" idx="2"/>
            <a:endCxn id="21" idx="2"/>
          </p:cNvCxnSpPr>
          <p:nvPr/>
        </p:nvCxnSpPr>
        <p:spPr bwMode="auto">
          <a:xfrm rot="5400000">
            <a:off x="6412463" y="879257"/>
            <a:ext cx="12700" cy="2943811"/>
          </a:xfrm>
          <a:prstGeom prst="curvedConnector3">
            <a:avLst>
              <a:gd name="adj1" fmla="val 4613795"/>
            </a:avLst>
          </a:prstGeom>
          <a:solidFill>
            <a:schemeClr val="accent1"/>
          </a:solidFill>
          <a:ln w="25400" cap="flat" cmpd="sng" algn="ctr">
            <a:solidFill>
              <a:schemeClr val="tx1"/>
            </a:solidFill>
            <a:prstDash val="solid"/>
            <a:round/>
            <a:headEnd type="none" w="med" len="med"/>
            <a:tailEnd type="none" w="lg" len="lg"/>
          </a:ln>
          <a:effectLst/>
        </p:spPr>
      </p:cxnSp>
      <p:sp>
        <p:nvSpPr>
          <p:cNvPr id="25" name="Rectangle 24"/>
          <p:cNvSpPr/>
          <p:nvPr/>
        </p:nvSpPr>
        <p:spPr>
          <a:xfrm>
            <a:off x="5636571" y="980728"/>
            <a:ext cx="1532920" cy="523220"/>
          </a:xfrm>
          <a:prstGeom prst="rect">
            <a:avLst/>
          </a:prstGeom>
        </p:spPr>
        <p:txBody>
          <a:bodyPr wrap="none">
            <a:spAutoFit/>
          </a:bodyPr>
          <a:lstStyle/>
          <a:p>
            <a:pPr algn="ctr"/>
            <a:r>
              <a:rPr lang="en-US" sz="2800" b="1" dirty="0" err="1">
                <a:latin typeface="Calibri" pitchFamily="34" charset="0"/>
              </a:rPr>
              <a:t>Followee</a:t>
            </a:r>
            <a:endParaRPr lang="en-US" sz="2800" b="1" dirty="0">
              <a:latin typeface="Calibri" pitchFamily="34" charset="0"/>
            </a:endParaRPr>
          </a:p>
        </p:txBody>
      </p:sp>
      <p:sp>
        <p:nvSpPr>
          <p:cNvPr id="26" name="Rectangle 25"/>
          <p:cNvSpPr/>
          <p:nvPr/>
        </p:nvSpPr>
        <p:spPr>
          <a:xfrm>
            <a:off x="5663019" y="2401724"/>
            <a:ext cx="1480022" cy="523220"/>
          </a:xfrm>
          <a:prstGeom prst="rect">
            <a:avLst/>
          </a:prstGeom>
        </p:spPr>
        <p:txBody>
          <a:bodyPr wrap="none">
            <a:spAutoFit/>
          </a:bodyPr>
          <a:lstStyle/>
          <a:p>
            <a:pPr algn="ctr"/>
            <a:r>
              <a:rPr lang="en-US" sz="2800" b="1" dirty="0">
                <a:latin typeface="Calibri" pitchFamily="34" charset="0"/>
              </a:rPr>
              <a:t>Follower</a:t>
            </a:r>
          </a:p>
        </p:txBody>
      </p:sp>
      <p:sp>
        <p:nvSpPr>
          <p:cNvPr id="27" name="Oval 25"/>
          <p:cNvSpPr>
            <a:spLocks noChangeArrowheads="1"/>
          </p:cNvSpPr>
          <p:nvPr/>
        </p:nvSpPr>
        <p:spPr bwMode="auto">
          <a:xfrm>
            <a:off x="2626117" y="134076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28" name="Straight Connector 27"/>
          <p:cNvCxnSpPr>
            <a:stCxn id="27" idx="6"/>
          </p:cNvCxnSpPr>
          <p:nvPr/>
        </p:nvCxnSpPr>
        <p:spPr bwMode="auto">
          <a:xfrm>
            <a:off x="3769117" y="1626518"/>
            <a:ext cx="531884" cy="35274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9" name="Oval 25"/>
          <p:cNvSpPr>
            <a:spLocks noChangeArrowheads="1"/>
          </p:cNvSpPr>
          <p:nvPr/>
        </p:nvSpPr>
        <p:spPr bwMode="auto">
          <a:xfrm>
            <a:off x="2616989" y="20654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30" name="Straight Connector 29"/>
          <p:cNvCxnSpPr>
            <a:stCxn id="29" idx="6"/>
          </p:cNvCxnSpPr>
          <p:nvPr/>
        </p:nvCxnSpPr>
        <p:spPr bwMode="auto">
          <a:xfrm flipV="1">
            <a:off x="3759989" y="1979267"/>
            <a:ext cx="541012" cy="371895"/>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5713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21" grpId="0" animBg="1"/>
      <p:bldP spid="22" grpId="0" animBg="1"/>
      <p:bldP spid="25" grpId="0"/>
      <p:bldP spid="26" grpId="0"/>
      <p:bldP spid="27" grpId="0" animBg="1"/>
      <p:bldP spid="2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 </a:t>
            </a:r>
            <a:r>
              <a:rPr lang="en-US" dirty="0">
                <a:sym typeface="Wingdings" pitchFamily="2" charset="2"/>
              </a:rPr>
              <a:t> Tables</a:t>
            </a:r>
            <a:endParaRPr lang="en-SG" dirty="0"/>
          </a:p>
        </p:txBody>
      </p:sp>
      <p:sp>
        <p:nvSpPr>
          <p:cNvPr id="3" name="Content Placeholder 2"/>
          <p:cNvSpPr>
            <a:spLocks noGrp="1"/>
          </p:cNvSpPr>
          <p:nvPr>
            <p:ph idx="1"/>
          </p:nvPr>
        </p:nvSpPr>
        <p:spPr/>
        <p:txBody>
          <a:bodyPr/>
          <a:lstStyle/>
          <a:p>
            <a:r>
              <a:rPr lang="en-US" dirty="0"/>
              <a:t>General rules:</a:t>
            </a:r>
          </a:p>
          <a:p>
            <a:pPr lvl="1"/>
            <a:r>
              <a:rPr lang="en-US" dirty="0"/>
              <a:t>Each entity set becomes a table</a:t>
            </a:r>
          </a:p>
          <a:p>
            <a:pPr lvl="1"/>
            <a:r>
              <a:rPr lang="en-US" dirty="0"/>
              <a:t>Each many-to-many relationship becomes a table</a:t>
            </a:r>
          </a:p>
          <a:p>
            <a:r>
              <a:rPr lang="en-US" dirty="0"/>
              <a:t>Special treatment needed for:</a:t>
            </a:r>
          </a:p>
          <a:p>
            <a:pPr lvl="1"/>
            <a:r>
              <a:rPr lang="en-US" dirty="0">
                <a:solidFill>
                  <a:srgbClr val="A50021"/>
                </a:solidFill>
              </a:rPr>
              <a:t>Many-to-one and one-to-one relationships </a:t>
            </a:r>
            <a:endParaRPr lang="en-US" dirty="0"/>
          </a:p>
          <a:p>
            <a:pPr lvl="1"/>
            <a:r>
              <a:rPr lang="en-US" dirty="0"/>
              <a:t>Weak entity sets</a:t>
            </a:r>
          </a:p>
          <a:p>
            <a:pPr lvl="1"/>
            <a:r>
              <a:rPr lang="en-US" dirty="0"/>
              <a:t>Subclasses</a:t>
            </a:r>
            <a:endParaRPr lang="en-SG" dirty="0"/>
          </a:p>
          <a:p>
            <a:pPr lvl="1"/>
            <a:endParaRPr lang="en-SG" dirty="0"/>
          </a:p>
        </p:txBody>
      </p:sp>
    </p:spTree>
    <p:extLst>
      <p:ext uri="{BB962C8B-B14F-4D97-AF65-F5344CB8AC3E}">
        <p14:creationId xmlns:p14="http://schemas.microsoft.com/office/powerpoint/2010/main" val="59522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Many-to-One Relationship </a:t>
            </a:r>
            <a:r>
              <a:rPr lang="en-US" dirty="0">
                <a:sym typeface="Wingdings" pitchFamily="2" charset="2"/>
              </a:rPr>
              <a:t> Table</a:t>
            </a:r>
            <a:endParaRPr lang="en-SG" dirty="0"/>
          </a:p>
        </p:txBody>
      </p:sp>
      <p:sp>
        <p:nvSpPr>
          <p:cNvPr id="3" name="Content Placeholder 2"/>
          <p:cNvSpPr>
            <a:spLocks noGrp="1"/>
          </p:cNvSpPr>
          <p:nvPr>
            <p:ph idx="1"/>
          </p:nvPr>
        </p:nvSpPr>
        <p:spPr>
          <a:xfrm>
            <a:off x="457200" y="2708920"/>
            <a:ext cx="8229600" cy="3422005"/>
          </a:xfrm>
        </p:spPr>
        <p:txBody>
          <a:bodyPr>
            <a:normAutofit fontScale="77500" lnSpcReduction="20000"/>
          </a:bodyPr>
          <a:lstStyle/>
          <a:p>
            <a:r>
              <a:rPr lang="en-US" dirty="0"/>
              <a:t>Naive translation</a:t>
            </a:r>
            <a:r>
              <a:rPr lang="en-SG" dirty="0"/>
              <a:t>:</a:t>
            </a:r>
          </a:p>
          <a:p>
            <a:pPr lvl="1"/>
            <a:r>
              <a:rPr lang="en-US" dirty="0"/>
              <a:t>Products( </a:t>
            </a:r>
            <a:r>
              <a:rPr lang="en-US" u="sng" dirty="0" err="1"/>
              <a:t>Pname</a:t>
            </a:r>
            <a:r>
              <a:rPr lang="en-US" dirty="0"/>
              <a:t>, price )</a:t>
            </a:r>
          </a:p>
          <a:p>
            <a:pPr lvl="1"/>
            <a:r>
              <a:rPr lang="en-US" dirty="0"/>
              <a:t>Companies( </a:t>
            </a:r>
            <a:r>
              <a:rPr lang="en-US" u="sng" dirty="0" err="1"/>
              <a:t>Cname</a:t>
            </a:r>
            <a:r>
              <a:rPr lang="en-US" dirty="0"/>
              <a:t>, country )</a:t>
            </a:r>
          </a:p>
          <a:p>
            <a:pPr lvl="1"/>
            <a:r>
              <a:rPr lang="en-US" dirty="0"/>
              <a:t>Make( </a:t>
            </a:r>
            <a:r>
              <a:rPr lang="en-US" u="sng" dirty="0" err="1"/>
              <a:t>Pname</a:t>
            </a:r>
            <a:r>
              <a:rPr lang="en-US" dirty="0"/>
              <a:t>, </a:t>
            </a:r>
            <a:r>
              <a:rPr lang="en-US" dirty="0" err="1"/>
              <a:t>Cname</a:t>
            </a:r>
            <a:r>
              <a:rPr lang="en-US" dirty="0"/>
              <a:t> )</a:t>
            </a:r>
          </a:p>
          <a:p>
            <a:r>
              <a:rPr lang="en-US" dirty="0"/>
              <a:t>Observation: in “Make”, each </a:t>
            </a:r>
            <a:r>
              <a:rPr lang="en-US" dirty="0" err="1"/>
              <a:t>Pname</a:t>
            </a:r>
            <a:r>
              <a:rPr lang="en-US" dirty="0"/>
              <a:t> is associated with only one </a:t>
            </a:r>
            <a:r>
              <a:rPr lang="en-US" dirty="0" err="1"/>
              <a:t>Cname</a:t>
            </a:r>
            <a:endParaRPr lang="en-US" dirty="0"/>
          </a:p>
          <a:p>
            <a:r>
              <a:rPr lang="en-US" dirty="0"/>
              <a:t>Simplification: Merge “Make” and “Products”</a:t>
            </a:r>
          </a:p>
          <a:p>
            <a:r>
              <a:rPr lang="en-US" dirty="0"/>
              <a:t>Results:</a:t>
            </a:r>
          </a:p>
          <a:p>
            <a:pPr lvl="1"/>
            <a:r>
              <a:rPr lang="en-US" dirty="0"/>
              <a:t>Products( </a:t>
            </a:r>
            <a:r>
              <a:rPr lang="en-US" u="sng" dirty="0" err="1"/>
              <a:t>Pname</a:t>
            </a:r>
            <a:r>
              <a:rPr lang="en-US" dirty="0"/>
              <a:t>, price, </a:t>
            </a:r>
            <a:r>
              <a:rPr lang="en-US" dirty="0" err="1"/>
              <a:t>Cname</a:t>
            </a:r>
            <a:r>
              <a:rPr lang="en-US" dirty="0"/>
              <a:t> )</a:t>
            </a:r>
          </a:p>
          <a:p>
            <a:pPr lvl="1"/>
            <a:r>
              <a:rPr lang="en-US" dirty="0"/>
              <a:t>Companies( </a:t>
            </a:r>
            <a:r>
              <a:rPr lang="en-US" u="sng" dirty="0" err="1"/>
              <a:t>Cname</a:t>
            </a:r>
            <a:r>
              <a:rPr lang="en-US" dirty="0"/>
              <a:t>, country )</a:t>
            </a:r>
          </a:p>
          <a:p>
            <a:pPr lvl="1"/>
            <a:endParaRPr lang="en-US" dirty="0"/>
          </a:p>
        </p:txBody>
      </p:sp>
      <p:sp>
        <p:nvSpPr>
          <p:cNvPr id="4" name="Rectangle 4"/>
          <p:cNvSpPr>
            <a:spLocks noChangeArrowheads="1"/>
          </p:cNvSpPr>
          <p:nvPr/>
        </p:nvSpPr>
        <p:spPr bwMode="auto">
          <a:xfrm>
            <a:off x="5940152" y="1867500"/>
            <a:ext cx="1584176" cy="553387"/>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5" name="Oval 30"/>
          <p:cNvSpPr>
            <a:spLocks noChangeArrowheads="1"/>
          </p:cNvSpPr>
          <p:nvPr/>
        </p:nvSpPr>
        <p:spPr bwMode="auto">
          <a:xfrm>
            <a:off x="7161040" y="1057300"/>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country</a:t>
            </a:r>
          </a:p>
        </p:txBody>
      </p:sp>
      <p:sp>
        <p:nvSpPr>
          <p:cNvPr id="6" name="Oval 31"/>
          <p:cNvSpPr>
            <a:spLocks noChangeArrowheads="1"/>
          </p:cNvSpPr>
          <p:nvPr/>
        </p:nvSpPr>
        <p:spPr bwMode="auto">
          <a:xfrm>
            <a:off x="7749480" y="200177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7" name="Line 42"/>
          <p:cNvSpPr>
            <a:spLocks noChangeShapeType="1"/>
          </p:cNvSpPr>
          <p:nvPr/>
        </p:nvSpPr>
        <p:spPr bwMode="auto">
          <a:xfrm flipH="1" flipV="1">
            <a:off x="7524327" y="2120262"/>
            <a:ext cx="225151"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43"/>
          <p:cNvSpPr>
            <a:spLocks noChangeShapeType="1"/>
          </p:cNvSpPr>
          <p:nvPr/>
        </p:nvSpPr>
        <p:spPr bwMode="auto">
          <a:xfrm flipH="1">
            <a:off x="7236295" y="1628800"/>
            <a:ext cx="615887" cy="238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Rectangle 3"/>
          <p:cNvSpPr>
            <a:spLocks noChangeArrowheads="1"/>
          </p:cNvSpPr>
          <p:nvPr/>
        </p:nvSpPr>
        <p:spPr bwMode="auto">
          <a:xfrm>
            <a:off x="2195736" y="1867501"/>
            <a:ext cx="1368152" cy="553387"/>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3" name="Oval 25"/>
          <p:cNvSpPr>
            <a:spLocks noChangeArrowheads="1"/>
          </p:cNvSpPr>
          <p:nvPr/>
        </p:nvSpPr>
        <p:spPr bwMode="auto">
          <a:xfrm>
            <a:off x="551656" y="182809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Oval 27"/>
          <p:cNvSpPr>
            <a:spLocks noChangeArrowheads="1"/>
          </p:cNvSpPr>
          <p:nvPr/>
        </p:nvSpPr>
        <p:spPr bwMode="auto">
          <a:xfrm>
            <a:off x="305983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6" name="Line 39"/>
          <p:cNvSpPr>
            <a:spLocks noChangeShapeType="1"/>
          </p:cNvSpPr>
          <p:nvPr/>
        </p:nvSpPr>
        <p:spPr bwMode="auto">
          <a:xfrm flipV="1">
            <a:off x="1694656" y="2113844"/>
            <a:ext cx="501080" cy="191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Line 40"/>
          <p:cNvSpPr>
            <a:spLocks noChangeShapeType="1"/>
          </p:cNvSpPr>
          <p:nvPr/>
        </p:nvSpPr>
        <p:spPr bwMode="auto">
          <a:xfrm flipH="1">
            <a:off x="3151584" y="1628799"/>
            <a:ext cx="340296" cy="21945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8" name="AutoShape 10"/>
          <p:cNvSpPr>
            <a:spLocks noChangeArrowheads="1"/>
          </p:cNvSpPr>
          <p:nvPr/>
        </p:nvSpPr>
        <p:spPr bwMode="auto">
          <a:xfrm>
            <a:off x="3995936" y="1701180"/>
            <a:ext cx="1368152" cy="863724"/>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Make</a:t>
            </a:r>
          </a:p>
        </p:txBody>
      </p:sp>
      <p:sp>
        <p:nvSpPr>
          <p:cNvPr id="31" name="Line 41"/>
          <p:cNvSpPr>
            <a:spLocks noChangeShapeType="1"/>
          </p:cNvSpPr>
          <p:nvPr/>
        </p:nvSpPr>
        <p:spPr bwMode="auto">
          <a:xfrm>
            <a:off x="3563888" y="2060849"/>
            <a:ext cx="50405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23" name="Straight Connector 22"/>
          <p:cNvCxnSpPr>
            <a:endCxn id="4" idx="1"/>
          </p:cNvCxnSpPr>
          <p:nvPr/>
        </p:nvCxnSpPr>
        <p:spPr bwMode="auto">
          <a:xfrm>
            <a:off x="5360258" y="2128740"/>
            <a:ext cx="579894" cy="15454"/>
          </a:xfrm>
          <a:prstGeom prst="line">
            <a:avLst/>
          </a:prstGeom>
          <a:solidFill>
            <a:schemeClr val="accent1"/>
          </a:solidFill>
          <a:ln w="25400" cap="flat" cmpd="sng" algn="ctr">
            <a:solidFill>
              <a:schemeClr val="tx1"/>
            </a:solidFill>
            <a:prstDash val="solid"/>
            <a:round/>
            <a:headEnd type="none" w="med" len="med"/>
            <a:tailEnd type="arrow" w="lg" len="lg"/>
          </a:ln>
          <a:effectLst/>
        </p:spPr>
      </p:cxnSp>
      <p:sp>
        <p:nvSpPr>
          <p:cNvPr id="39" name="Line 41"/>
          <p:cNvSpPr>
            <a:spLocks noChangeShapeType="1"/>
          </p:cNvSpPr>
          <p:nvPr/>
        </p:nvSpPr>
        <p:spPr bwMode="auto">
          <a:xfrm>
            <a:off x="3563888" y="2204864"/>
            <a:ext cx="504056"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65891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Many-to-One Relationship </a:t>
            </a:r>
            <a:r>
              <a:rPr lang="en-US" dirty="0">
                <a:sym typeface="Wingdings" pitchFamily="2" charset="2"/>
              </a:rPr>
              <a:t> Table</a:t>
            </a:r>
            <a:endParaRPr lang="en-SG" dirty="0"/>
          </a:p>
        </p:txBody>
      </p:sp>
      <p:sp>
        <p:nvSpPr>
          <p:cNvPr id="3" name="Content Placeholder 2"/>
          <p:cNvSpPr>
            <a:spLocks noGrp="1"/>
          </p:cNvSpPr>
          <p:nvPr>
            <p:ph idx="1"/>
          </p:nvPr>
        </p:nvSpPr>
        <p:spPr>
          <a:xfrm>
            <a:off x="457200" y="2996952"/>
            <a:ext cx="8229600" cy="3133973"/>
          </a:xfrm>
        </p:spPr>
        <p:txBody>
          <a:bodyPr>
            <a:normAutofit/>
          </a:bodyPr>
          <a:lstStyle/>
          <a:p>
            <a:r>
              <a:rPr lang="en-US" dirty="0"/>
              <a:t>In general, we do not need to create a relation for a many-to-one relationship</a:t>
            </a:r>
          </a:p>
          <a:p>
            <a:r>
              <a:rPr lang="en-US" dirty="0"/>
              <a:t>Instead, we only need to put the key of the “one” side into the table of the “many” side</a:t>
            </a:r>
          </a:p>
          <a:p>
            <a:pPr lvl="1"/>
            <a:endParaRPr lang="en-US" dirty="0"/>
          </a:p>
        </p:txBody>
      </p:sp>
      <p:sp>
        <p:nvSpPr>
          <p:cNvPr id="4" name="Rectangle 4"/>
          <p:cNvSpPr>
            <a:spLocks noChangeArrowheads="1"/>
          </p:cNvSpPr>
          <p:nvPr/>
        </p:nvSpPr>
        <p:spPr bwMode="auto">
          <a:xfrm>
            <a:off x="5940152" y="1867500"/>
            <a:ext cx="1584176" cy="553387"/>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Companies</a:t>
            </a:r>
          </a:p>
        </p:txBody>
      </p:sp>
      <p:sp>
        <p:nvSpPr>
          <p:cNvPr id="5" name="Oval 30"/>
          <p:cNvSpPr>
            <a:spLocks noChangeArrowheads="1"/>
          </p:cNvSpPr>
          <p:nvPr/>
        </p:nvSpPr>
        <p:spPr bwMode="auto">
          <a:xfrm>
            <a:off x="7161040" y="1057300"/>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country</a:t>
            </a:r>
          </a:p>
        </p:txBody>
      </p:sp>
      <p:sp>
        <p:nvSpPr>
          <p:cNvPr id="6" name="Oval 31"/>
          <p:cNvSpPr>
            <a:spLocks noChangeArrowheads="1"/>
          </p:cNvSpPr>
          <p:nvPr/>
        </p:nvSpPr>
        <p:spPr bwMode="auto">
          <a:xfrm>
            <a:off x="7749480" y="200177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7" name="Line 42"/>
          <p:cNvSpPr>
            <a:spLocks noChangeShapeType="1"/>
          </p:cNvSpPr>
          <p:nvPr/>
        </p:nvSpPr>
        <p:spPr bwMode="auto">
          <a:xfrm flipH="1" flipV="1">
            <a:off x="7524327" y="2120262"/>
            <a:ext cx="225151"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43"/>
          <p:cNvSpPr>
            <a:spLocks noChangeShapeType="1"/>
          </p:cNvSpPr>
          <p:nvPr/>
        </p:nvSpPr>
        <p:spPr bwMode="auto">
          <a:xfrm flipH="1">
            <a:off x="7236295" y="1628800"/>
            <a:ext cx="615887" cy="238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Rectangle 3"/>
          <p:cNvSpPr>
            <a:spLocks noChangeArrowheads="1"/>
          </p:cNvSpPr>
          <p:nvPr/>
        </p:nvSpPr>
        <p:spPr bwMode="auto">
          <a:xfrm>
            <a:off x="2195736" y="1867501"/>
            <a:ext cx="1368152" cy="553387"/>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Products</a:t>
            </a:r>
          </a:p>
        </p:txBody>
      </p:sp>
      <p:sp>
        <p:nvSpPr>
          <p:cNvPr id="13" name="Oval 25"/>
          <p:cNvSpPr>
            <a:spLocks noChangeArrowheads="1"/>
          </p:cNvSpPr>
          <p:nvPr/>
        </p:nvSpPr>
        <p:spPr bwMode="auto">
          <a:xfrm>
            <a:off x="551656" y="182809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Oval 27"/>
          <p:cNvSpPr>
            <a:spLocks noChangeArrowheads="1"/>
          </p:cNvSpPr>
          <p:nvPr/>
        </p:nvSpPr>
        <p:spPr bwMode="auto">
          <a:xfrm>
            <a:off x="305983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price</a:t>
            </a:r>
          </a:p>
        </p:txBody>
      </p:sp>
      <p:sp>
        <p:nvSpPr>
          <p:cNvPr id="16" name="Line 39"/>
          <p:cNvSpPr>
            <a:spLocks noChangeShapeType="1"/>
          </p:cNvSpPr>
          <p:nvPr/>
        </p:nvSpPr>
        <p:spPr bwMode="auto">
          <a:xfrm flipV="1">
            <a:off x="1694656" y="2113844"/>
            <a:ext cx="501080" cy="191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Line 40"/>
          <p:cNvSpPr>
            <a:spLocks noChangeShapeType="1"/>
          </p:cNvSpPr>
          <p:nvPr/>
        </p:nvSpPr>
        <p:spPr bwMode="auto">
          <a:xfrm flipH="1">
            <a:off x="3151584" y="1628799"/>
            <a:ext cx="340296" cy="21945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8" name="AutoShape 10"/>
          <p:cNvSpPr>
            <a:spLocks noChangeArrowheads="1"/>
          </p:cNvSpPr>
          <p:nvPr/>
        </p:nvSpPr>
        <p:spPr bwMode="auto">
          <a:xfrm>
            <a:off x="3995936" y="1701180"/>
            <a:ext cx="1368152" cy="863724"/>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Make</a:t>
            </a:r>
          </a:p>
        </p:txBody>
      </p:sp>
      <p:sp>
        <p:nvSpPr>
          <p:cNvPr id="18" name="Line 41"/>
          <p:cNvSpPr>
            <a:spLocks noChangeShapeType="1"/>
          </p:cNvSpPr>
          <p:nvPr/>
        </p:nvSpPr>
        <p:spPr bwMode="auto">
          <a:xfrm>
            <a:off x="3563888" y="2060849"/>
            <a:ext cx="50405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19" name="Straight Connector 18"/>
          <p:cNvCxnSpPr/>
          <p:nvPr/>
        </p:nvCxnSpPr>
        <p:spPr bwMode="auto">
          <a:xfrm>
            <a:off x="5360258" y="2128740"/>
            <a:ext cx="579894" cy="15454"/>
          </a:xfrm>
          <a:prstGeom prst="line">
            <a:avLst/>
          </a:prstGeom>
          <a:solidFill>
            <a:schemeClr val="accent1"/>
          </a:solidFill>
          <a:ln w="25400" cap="flat" cmpd="sng" algn="ctr">
            <a:solidFill>
              <a:schemeClr val="tx1"/>
            </a:solidFill>
            <a:prstDash val="solid"/>
            <a:round/>
            <a:headEnd type="none" w="med" len="med"/>
            <a:tailEnd type="arrow" w="lg" len="lg"/>
          </a:ln>
          <a:effectLst/>
        </p:spPr>
      </p:cxnSp>
      <p:sp>
        <p:nvSpPr>
          <p:cNvPr id="20" name="Line 41"/>
          <p:cNvSpPr>
            <a:spLocks noChangeShapeType="1"/>
          </p:cNvSpPr>
          <p:nvPr/>
        </p:nvSpPr>
        <p:spPr bwMode="auto">
          <a:xfrm>
            <a:off x="3563888" y="2204864"/>
            <a:ext cx="504056"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105855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Many-to-One Relationship </a:t>
            </a:r>
            <a:r>
              <a:rPr lang="en-US" dirty="0">
                <a:sym typeface="Wingdings" pitchFamily="2" charset="2"/>
              </a:rPr>
              <a:t> Table</a:t>
            </a:r>
            <a:endParaRPr lang="en-SG" dirty="0"/>
          </a:p>
        </p:txBody>
      </p:sp>
      <p:sp>
        <p:nvSpPr>
          <p:cNvPr id="3" name="Content Placeholder 2"/>
          <p:cNvSpPr>
            <a:spLocks noGrp="1"/>
          </p:cNvSpPr>
          <p:nvPr>
            <p:ph idx="1"/>
          </p:nvPr>
        </p:nvSpPr>
        <p:spPr>
          <a:xfrm>
            <a:off x="457200" y="5085184"/>
            <a:ext cx="8229600" cy="1045741"/>
          </a:xfrm>
        </p:spPr>
        <p:txBody>
          <a:bodyPr>
            <a:normAutofit/>
          </a:bodyPr>
          <a:lstStyle/>
          <a:p>
            <a:r>
              <a:rPr lang="en-US" dirty="0"/>
              <a:t>Only need to put the key of the “one” side into the table of the “many” side</a:t>
            </a:r>
          </a:p>
          <a:p>
            <a:pPr lvl="1"/>
            <a:endParaRPr lang="en-US" dirty="0"/>
          </a:p>
        </p:txBody>
      </p:sp>
      <p:sp>
        <p:nvSpPr>
          <p:cNvPr id="4" name="Rectangle 4"/>
          <p:cNvSpPr>
            <a:spLocks noChangeArrowheads="1"/>
          </p:cNvSpPr>
          <p:nvPr/>
        </p:nvSpPr>
        <p:spPr bwMode="auto">
          <a:xfrm>
            <a:off x="5940152" y="1867500"/>
            <a:ext cx="1584176" cy="553387"/>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Students</a:t>
            </a:r>
          </a:p>
        </p:txBody>
      </p:sp>
      <p:sp>
        <p:nvSpPr>
          <p:cNvPr id="5" name="Oval 30"/>
          <p:cNvSpPr>
            <a:spLocks noChangeArrowheads="1"/>
          </p:cNvSpPr>
          <p:nvPr/>
        </p:nvSpPr>
        <p:spPr bwMode="auto">
          <a:xfrm>
            <a:off x="7161040" y="1057300"/>
            <a:ext cx="1382287"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6" name="Oval 31"/>
          <p:cNvSpPr>
            <a:spLocks noChangeArrowheads="1"/>
          </p:cNvSpPr>
          <p:nvPr/>
        </p:nvSpPr>
        <p:spPr bwMode="auto">
          <a:xfrm>
            <a:off x="7749480" y="200177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7" name="Line 42"/>
          <p:cNvSpPr>
            <a:spLocks noChangeShapeType="1"/>
          </p:cNvSpPr>
          <p:nvPr/>
        </p:nvSpPr>
        <p:spPr bwMode="auto">
          <a:xfrm flipH="1" flipV="1">
            <a:off x="7524327" y="2120262"/>
            <a:ext cx="225151" cy="16725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8" name="Line 43"/>
          <p:cNvSpPr>
            <a:spLocks noChangeShapeType="1"/>
          </p:cNvSpPr>
          <p:nvPr/>
        </p:nvSpPr>
        <p:spPr bwMode="auto">
          <a:xfrm flipH="1">
            <a:off x="7236295" y="1628800"/>
            <a:ext cx="615887" cy="238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Rectangle 3"/>
          <p:cNvSpPr>
            <a:spLocks noChangeArrowheads="1"/>
          </p:cNvSpPr>
          <p:nvPr/>
        </p:nvSpPr>
        <p:spPr bwMode="auto">
          <a:xfrm>
            <a:off x="2195736" y="1867501"/>
            <a:ext cx="1368152" cy="553387"/>
          </a:xfrm>
          <a:prstGeom prst="rect">
            <a:avLst/>
          </a:prstGeom>
          <a:solidFill>
            <a:srgbClr val="33CCFF"/>
          </a:solidFill>
          <a:ln w="25400">
            <a:solidFill>
              <a:schemeClr val="tx1"/>
            </a:solidFill>
            <a:miter lim="800000"/>
            <a:headEnd/>
            <a:tailEnd/>
          </a:ln>
          <a:effectLst/>
        </p:spPr>
        <p:txBody>
          <a:bodyPr wrap="none" anchor="ctr"/>
          <a:lstStyle/>
          <a:p>
            <a:pPr algn="ctr"/>
            <a:r>
              <a:rPr lang="en-US" sz="2600" b="1" dirty="0">
                <a:latin typeface="Calibri" pitchFamily="34" charset="0"/>
              </a:rPr>
              <a:t>School</a:t>
            </a:r>
          </a:p>
        </p:txBody>
      </p:sp>
      <p:sp>
        <p:nvSpPr>
          <p:cNvPr id="13" name="Oval 25"/>
          <p:cNvSpPr>
            <a:spLocks noChangeArrowheads="1"/>
          </p:cNvSpPr>
          <p:nvPr/>
        </p:nvSpPr>
        <p:spPr bwMode="auto">
          <a:xfrm>
            <a:off x="551656" y="1828094"/>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Oval 27"/>
          <p:cNvSpPr>
            <a:spLocks noChangeArrowheads="1"/>
          </p:cNvSpPr>
          <p:nvPr/>
        </p:nvSpPr>
        <p:spPr bwMode="auto">
          <a:xfrm>
            <a:off x="305983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err="1">
                <a:latin typeface="Calibri" pitchFamily="34" charset="0"/>
              </a:rPr>
              <a:t>addr</a:t>
            </a:r>
            <a:endParaRPr lang="en-US" sz="2600" b="1" dirty="0">
              <a:latin typeface="Calibri" pitchFamily="34" charset="0"/>
            </a:endParaRPr>
          </a:p>
        </p:txBody>
      </p:sp>
      <p:sp>
        <p:nvSpPr>
          <p:cNvPr id="16" name="Line 39"/>
          <p:cNvSpPr>
            <a:spLocks noChangeShapeType="1"/>
          </p:cNvSpPr>
          <p:nvPr/>
        </p:nvSpPr>
        <p:spPr bwMode="auto">
          <a:xfrm flipV="1">
            <a:off x="1694656" y="2113844"/>
            <a:ext cx="501080" cy="191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7" name="Line 40"/>
          <p:cNvSpPr>
            <a:spLocks noChangeShapeType="1"/>
          </p:cNvSpPr>
          <p:nvPr/>
        </p:nvSpPr>
        <p:spPr bwMode="auto">
          <a:xfrm flipH="1">
            <a:off x="3151584" y="1628799"/>
            <a:ext cx="340296" cy="21945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28" name="AutoShape 10"/>
          <p:cNvSpPr>
            <a:spLocks noChangeArrowheads="1"/>
          </p:cNvSpPr>
          <p:nvPr/>
        </p:nvSpPr>
        <p:spPr bwMode="auto">
          <a:xfrm>
            <a:off x="4139952" y="1701180"/>
            <a:ext cx="1368152" cy="863724"/>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29" name="Line 17"/>
          <p:cNvSpPr>
            <a:spLocks noChangeShapeType="1"/>
          </p:cNvSpPr>
          <p:nvPr/>
        </p:nvSpPr>
        <p:spPr bwMode="auto">
          <a:xfrm flipH="1" flipV="1">
            <a:off x="5508104" y="2113844"/>
            <a:ext cx="432048" cy="10256"/>
          </a:xfrm>
          <a:prstGeom prst="line">
            <a:avLst/>
          </a:prstGeom>
          <a:noFill/>
          <a:ln w="3175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8" name="Line 17"/>
          <p:cNvSpPr>
            <a:spLocks noChangeShapeType="1"/>
          </p:cNvSpPr>
          <p:nvPr/>
        </p:nvSpPr>
        <p:spPr bwMode="auto">
          <a:xfrm flipH="1" flipV="1">
            <a:off x="3563644" y="2133041"/>
            <a:ext cx="576307" cy="11151"/>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9" name="Content Placeholder 2"/>
          <p:cNvSpPr txBox="1">
            <a:spLocks/>
          </p:cNvSpPr>
          <p:nvPr/>
        </p:nvSpPr>
        <p:spPr bwMode="auto">
          <a:xfrm>
            <a:off x="457200" y="2708921"/>
            <a:ext cx="8229600" cy="16561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lr>
                <a:schemeClr val="accent1"/>
              </a:buClr>
              <a:buSzPct val="65000"/>
              <a:buFont typeface="Wingdings" pitchFamily="2" charset="2"/>
              <a:buChar char="n"/>
              <a:defRPr sz="3200">
                <a:solidFill>
                  <a:schemeClr val="tx1"/>
                </a:solidFill>
                <a:latin typeface="Calibri" pitchFamily="34" charset="0"/>
                <a:ea typeface="+mn-ea"/>
                <a:cs typeface="+mn-cs"/>
              </a:defRPr>
            </a:lvl1pPr>
            <a:lvl2pPr marL="669925" indent="-325438" algn="l" rtl="0" eaLnBrk="1" fontAlgn="base" hangingPunct="1">
              <a:spcBef>
                <a:spcPct val="20000"/>
              </a:spcBef>
              <a:spcAft>
                <a:spcPct val="0"/>
              </a:spcAft>
              <a:buClr>
                <a:schemeClr val="accent2"/>
              </a:buClr>
              <a:buSzPct val="60000"/>
              <a:buFont typeface="Wingdings" pitchFamily="2" charset="2"/>
              <a:buChar char="q"/>
              <a:defRPr sz="2800">
                <a:solidFill>
                  <a:schemeClr val="tx1"/>
                </a:solidFill>
                <a:latin typeface="Calibri" pitchFamily="34" charset="0"/>
                <a:ea typeface="+mn-ea"/>
              </a:defRPr>
            </a:lvl2pPr>
            <a:lvl3pPr marL="1022350" indent="-350838" algn="l" rtl="0" eaLnBrk="1" fontAlgn="base" hangingPunct="1">
              <a:spcBef>
                <a:spcPct val="20000"/>
              </a:spcBef>
              <a:spcAft>
                <a:spcPct val="0"/>
              </a:spcAft>
              <a:buClr>
                <a:schemeClr val="accent1"/>
              </a:buClr>
              <a:buSzPct val="65000"/>
              <a:buFont typeface="Wingdings" pitchFamily="2" charset="2"/>
              <a:buChar char="n"/>
              <a:defRPr sz="2400">
                <a:solidFill>
                  <a:schemeClr val="tx1"/>
                </a:solidFill>
                <a:latin typeface="Calibri" pitchFamily="34" charset="0"/>
                <a:ea typeface="+mn-ea"/>
              </a:defRPr>
            </a:lvl3pPr>
            <a:lvl4pPr marL="1339850" indent="-315913" algn="l" rtl="0" eaLnBrk="1" fontAlgn="base" hangingPunct="1">
              <a:spcBef>
                <a:spcPct val="20000"/>
              </a:spcBef>
              <a:spcAft>
                <a:spcPct val="0"/>
              </a:spcAft>
              <a:buClr>
                <a:schemeClr val="accent2"/>
              </a:buClr>
              <a:buSzPct val="70000"/>
              <a:buFont typeface="Wingdings" pitchFamily="2" charset="2"/>
              <a:buChar char="q"/>
              <a:defRPr sz="2200">
                <a:solidFill>
                  <a:schemeClr val="tx1"/>
                </a:solidFill>
                <a:latin typeface="Calibri" pitchFamily="34" charset="0"/>
                <a:ea typeface="+mn-ea"/>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Calibri" pitchFamily="34" charset="0"/>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r>
              <a:rPr lang="en-US" dirty="0"/>
              <a:t>Translation</a:t>
            </a:r>
            <a:r>
              <a:rPr lang="en-SG" dirty="0"/>
              <a:t>:</a:t>
            </a:r>
          </a:p>
          <a:p>
            <a:pPr lvl="1"/>
            <a:r>
              <a:rPr lang="en-US" dirty="0"/>
              <a:t>School( </a:t>
            </a:r>
            <a:r>
              <a:rPr lang="en-US" u="sng" dirty="0" err="1"/>
              <a:t>Hname</a:t>
            </a:r>
            <a:r>
              <a:rPr lang="en-US" dirty="0"/>
              <a:t>, </a:t>
            </a:r>
            <a:r>
              <a:rPr lang="en-US" dirty="0" err="1"/>
              <a:t>addr</a:t>
            </a:r>
            <a:r>
              <a:rPr lang="en-US" dirty="0"/>
              <a:t> )</a:t>
            </a:r>
          </a:p>
          <a:p>
            <a:pPr lvl="1"/>
            <a:r>
              <a:rPr lang="en-US" dirty="0"/>
              <a:t>Students( </a:t>
            </a:r>
            <a:r>
              <a:rPr lang="en-US" u="sng" dirty="0"/>
              <a:t>ID</a:t>
            </a:r>
            <a:r>
              <a:rPr lang="en-US" dirty="0"/>
              <a:t>, </a:t>
            </a:r>
            <a:r>
              <a:rPr lang="en-US" dirty="0" err="1"/>
              <a:t>Sname</a:t>
            </a:r>
            <a:r>
              <a:rPr lang="en-US" dirty="0"/>
              <a:t>, </a:t>
            </a:r>
            <a:r>
              <a:rPr lang="en-US" dirty="0" err="1"/>
              <a:t>Hname</a:t>
            </a:r>
            <a:r>
              <a:rPr lang="en-US" dirty="0"/>
              <a:t> )</a:t>
            </a:r>
          </a:p>
        </p:txBody>
      </p:sp>
    </p:spTree>
    <p:extLst>
      <p:ext uri="{BB962C8B-B14F-4D97-AF65-F5344CB8AC3E}">
        <p14:creationId xmlns:p14="http://schemas.microsoft.com/office/powerpoint/2010/main" val="154836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80928"/>
            <a:ext cx="8434536" cy="3528392"/>
          </a:xfrm>
        </p:spPr>
        <p:txBody>
          <a:bodyPr>
            <a:normAutofit fontScale="85000" lnSpcReduction="20000"/>
          </a:bodyPr>
          <a:lstStyle/>
          <a:p>
            <a:r>
              <a:rPr lang="en-US" dirty="0"/>
              <a:t>No need to create a relation for a one-to-one relationship</a:t>
            </a:r>
          </a:p>
          <a:p>
            <a:r>
              <a:rPr lang="en-US" dirty="0"/>
              <a:t>Only need to put the key of “one” side into the table of the other</a:t>
            </a:r>
          </a:p>
          <a:p>
            <a:r>
              <a:rPr lang="en-US" dirty="0"/>
              <a:t>Solution 1</a:t>
            </a:r>
          </a:p>
          <a:p>
            <a:pPr lvl="1"/>
            <a:r>
              <a:rPr lang="en-US" dirty="0"/>
              <a:t>Cities( </a:t>
            </a:r>
            <a:r>
              <a:rPr lang="en-US" u="sng" dirty="0"/>
              <a:t>TID</a:t>
            </a:r>
            <a:r>
              <a:rPr lang="en-US" dirty="0"/>
              <a:t>, </a:t>
            </a:r>
            <a:r>
              <a:rPr lang="en-US" dirty="0" err="1"/>
              <a:t>Tname</a:t>
            </a:r>
            <a:r>
              <a:rPr lang="en-US" dirty="0"/>
              <a:t> )</a:t>
            </a:r>
          </a:p>
          <a:p>
            <a:pPr lvl="1"/>
            <a:r>
              <a:rPr lang="en-US" dirty="0"/>
              <a:t>Countries( </a:t>
            </a:r>
            <a:r>
              <a:rPr lang="en-US" u="sng" dirty="0" err="1"/>
              <a:t>Cname</a:t>
            </a:r>
            <a:r>
              <a:rPr lang="en-US" dirty="0"/>
              <a:t>, pop, TID)</a:t>
            </a:r>
          </a:p>
          <a:p>
            <a:r>
              <a:rPr lang="en-US" dirty="0"/>
              <a:t>Solution 2</a:t>
            </a:r>
          </a:p>
          <a:p>
            <a:pPr lvl="1"/>
            <a:r>
              <a:rPr lang="en-US" dirty="0"/>
              <a:t>Cities( </a:t>
            </a:r>
            <a:r>
              <a:rPr lang="en-US" u="sng" dirty="0"/>
              <a:t>TID</a:t>
            </a:r>
            <a:r>
              <a:rPr lang="en-US" dirty="0"/>
              <a:t>, </a:t>
            </a:r>
            <a:r>
              <a:rPr lang="en-US" dirty="0" err="1"/>
              <a:t>Tname</a:t>
            </a:r>
            <a:r>
              <a:rPr lang="en-US" dirty="0"/>
              <a:t>, </a:t>
            </a:r>
            <a:r>
              <a:rPr lang="en-US" dirty="0" err="1"/>
              <a:t>Cname</a:t>
            </a:r>
            <a:r>
              <a:rPr lang="en-US" dirty="0"/>
              <a:t> )</a:t>
            </a:r>
          </a:p>
          <a:p>
            <a:pPr lvl="1"/>
            <a:r>
              <a:rPr lang="en-US" dirty="0"/>
              <a:t>Countries( </a:t>
            </a:r>
            <a:r>
              <a:rPr lang="en-US" u="sng" dirty="0" err="1"/>
              <a:t>Cname</a:t>
            </a:r>
            <a:r>
              <a:rPr lang="en-US" dirty="0"/>
              <a:t>, pop )</a:t>
            </a:r>
            <a:endParaRPr lang="en-SG" dirty="0"/>
          </a:p>
        </p:txBody>
      </p:sp>
      <p:sp>
        <p:nvSpPr>
          <p:cNvPr id="4" name="Rectangle 5"/>
          <p:cNvSpPr>
            <a:spLocks noChangeArrowheads="1"/>
          </p:cNvSpPr>
          <p:nvPr/>
        </p:nvSpPr>
        <p:spPr bwMode="auto">
          <a:xfrm>
            <a:off x="5686610" y="1234035"/>
            <a:ext cx="154968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835695" y="1234852"/>
            <a:ext cx="972107"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
        <p:nvSpPr>
          <p:cNvPr id="10" name="Oval 25"/>
          <p:cNvSpPr>
            <a:spLocks noChangeArrowheads="1"/>
          </p:cNvSpPr>
          <p:nvPr/>
        </p:nvSpPr>
        <p:spPr bwMode="auto">
          <a:xfrm>
            <a:off x="47667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11" name="Line 39"/>
          <p:cNvSpPr>
            <a:spLocks noChangeShapeType="1"/>
          </p:cNvSpPr>
          <p:nvPr/>
        </p:nvSpPr>
        <p:spPr bwMode="auto">
          <a:xfrm>
            <a:off x="1586532" y="1484784"/>
            <a:ext cx="249163" cy="2023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Oval 25"/>
          <p:cNvSpPr>
            <a:spLocks noChangeArrowheads="1"/>
          </p:cNvSpPr>
          <p:nvPr/>
        </p:nvSpPr>
        <p:spPr bwMode="auto">
          <a:xfrm>
            <a:off x="443532" y="19016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13" name="Line 39"/>
          <p:cNvSpPr>
            <a:spLocks noChangeShapeType="1"/>
          </p:cNvSpPr>
          <p:nvPr/>
        </p:nvSpPr>
        <p:spPr bwMode="auto">
          <a:xfrm flipV="1">
            <a:off x="1586532" y="1901601"/>
            <a:ext cx="249163"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Oval 25"/>
          <p:cNvSpPr>
            <a:spLocks noChangeArrowheads="1"/>
          </p:cNvSpPr>
          <p:nvPr/>
        </p:nvSpPr>
        <p:spPr bwMode="auto">
          <a:xfrm>
            <a:off x="7596336" y="9491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Line 39"/>
          <p:cNvSpPr>
            <a:spLocks noChangeShapeType="1"/>
          </p:cNvSpPr>
          <p:nvPr/>
        </p:nvSpPr>
        <p:spPr bwMode="auto">
          <a:xfrm flipV="1">
            <a:off x="7236296" y="1232190"/>
            <a:ext cx="360040"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Oval 25"/>
          <p:cNvSpPr>
            <a:spLocks noChangeArrowheads="1"/>
          </p:cNvSpPr>
          <p:nvPr/>
        </p:nvSpPr>
        <p:spPr bwMode="auto">
          <a:xfrm>
            <a:off x="7748736" y="20019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pop</a:t>
            </a:r>
          </a:p>
        </p:txBody>
      </p:sp>
      <p:sp>
        <p:nvSpPr>
          <p:cNvPr id="17" name="Line 39"/>
          <p:cNvSpPr>
            <a:spLocks noChangeShapeType="1"/>
          </p:cNvSpPr>
          <p:nvPr/>
        </p:nvSpPr>
        <p:spPr bwMode="auto">
          <a:xfrm>
            <a:off x="7236296" y="1817512"/>
            <a:ext cx="512440" cy="4674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19" name="Straight Connector 18"/>
          <p:cNvCxnSpPr>
            <a:stCxn id="6" idx="1"/>
            <a:endCxn id="5" idx="3"/>
          </p:cNvCxnSpPr>
          <p:nvPr/>
        </p:nvCxnSpPr>
        <p:spPr bwMode="auto">
          <a:xfrm flipH="1">
            <a:off x="2807802" y="1692052"/>
            <a:ext cx="490144" cy="0"/>
          </a:xfrm>
          <a:prstGeom prst="line">
            <a:avLst/>
          </a:prstGeom>
          <a:solidFill>
            <a:schemeClr val="accent1"/>
          </a:solidFill>
          <a:ln w="25400" cap="flat" cmpd="sng" algn="ctr">
            <a:solidFill>
              <a:schemeClr val="tx1"/>
            </a:solidFill>
            <a:prstDash val="solid"/>
            <a:round/>
            <a:headEnd type="none" w="med" len="med"/>
            <a:tailEnd type="arrow" w="lg" len="lg"/>
          </a:ln>
          <a:effectLst/>
        </p:spPr>
      </p:cxnSp>
      <p:grpSp>
        <p:nvGrpSpPr>
          <p:cNvPr id="20" name="Group 19"/>
          <p:cNvGrpSpPr/>
          <p:nvPr/>
        </p:nvGrpSpPr>
        <p:grpSpPr>
          <a:xfrm rot="10800000">
            <a:off x="5103082" y="1545583"/>
            <a:ext cx="557421" cy="288032"/>
            <a:chOff x="2324827" y="1556792"/>
            <a:chExt cx="1167053" cy="288032"/>
          </a:xfrm>
        </p:grpSpPr>
        <p:cxnSp>
          <p:nvCxnSpPr>
            <p:cNvPr id="21" name="Straight Connector 20"/>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2" name="Straight Connector 21"/>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3" name="Straight Connector 22"/>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4" name="Straight Connector 23"/>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sp>
        <p:nvSpPr>
          <p:cNvPr id="25" name="Title 1"/>
          <p:cNvSpPr>
            <a:spLocks noGrp="1"/>
          </p:cNvSpPr>
          <p:nvPr>
            <p:ph type="title"/>
          </p:nvPr>
        </p:nvSpPr>
        <p:spPr>
          <a:xfrm>
            <a:off x="457200" y="277813"/>
            <a:ext cx="8229600" cy="1139825"/>
          </a:xfrm>
        </p:spPr>
        <p:txBody>
          <a:bodyPr>
            <a:normAutofit/>
          </a:bodyPr>
          <a:lstStyle/>
          <a:p>
            <a:r>
              <a:rPr lang="en-US" dirty="0"/>
              <a:t>One-to-One Relationship </a:t>
            </a:r>
            <a:r>
              <a:rPr lang="en-US" dirty="0">
                <a:sym typeface="Wingdings" pitchFamily="2" charset="2"/>
              </a:rPr>
              <a:t> Table</a:t>
            </a:r>
            <a:endParaRPr lang="en-SG" dirty="0"/>
          </a:p>
        </p:txBody>
      </p:sp>
    </p:spTree>
    <p:extLst>
      <p:ext uri="{BB962C8B-B14F-4D97-AF65-F5344CB8AC3E}">
        <p14:creationId xmlns:p14="http://schemas.microsoft.com/office/powerpoint/2010/main" val="69027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80928"/>
            <a:ext cx="8229600" cy="3349997"/>
          </a:xfrm>
        </p:spPr>
        <p:txBody>
          <a:bodyPr>
            <a:normAutofit fontScale="85000" lnSpcReduction="20000"/>
          </a:bodyPr>
          <a:lstStyle/>
          <a:p>
            <a:r>
              <a:rPr lang="en-US" dirty="0"/>
              <a:t>What if the relationship has its own attributes?</a:t>
            </a:r>
          </a:p>
          <a:p>
            <a:r>
              <a:rPr lang="en-US" dirty="0"/>
              <a:t> </a:t>
            </a:r>
            <a:br>
              <a:rPr lang="en-US" dirty="0"/>
            </a:br>
            <a:endParaRPr lang="en-US" dirty="0"/>
          </a:p>
          <a:p>
            <a:r>
              <a:rPr lang="en-US" dirty="0"/>
              <a:t>Solution 1</a:t>
            </a:r>
          </a:p>
          <a:p>
            <a:pPr lvl="1"/>
            <a:r>
              <a:rPr lang="en-US" dirty="0"/>
              <a:t>Cities( </a:t>
            </a:r>
            <a:r>
              <a:rPr lang="en-US" u="sng" dirty="0"/>
              <a:t>TID</a:t>
            </a:r>
            <a:r>
              <a:rPr lang="en-US" dirty="0"/>
              <a:t>, </a:t>
            </a:r>
            <a:r>
              <a:rPr lang="en-US" dirty="0" err="1"/>
              <a:t>Tname</a:t>
            </a:r>
            <a:r>
              <a:rPr lang="en-US" dirty="0"/>
              <a:t> )</a:t>
            </a:r>
          </a:p>
          <a:p>
            <a:pPr lvl="1"/>
            <a:r>
              <a:rPr lang="en-US" dirty="0"/>
              <a:t>Countries( </a:t>
            </a:r>
            <a:r>
              <a:rPr lang="en-US" u="sng" dirty="0" err="1"/>
              <a:t>Cname</a:t>
            </a:r>
            <a:r>
              <a:rPr lang="en-US" dirty="0"/>
              <a:t>, pop, TID)</a:t>
            </a:r>
          </a:p>
          <a:p>
            <a:r>
              <a:rPr lang="en-US" dirty="0"/>
              <a:t>Solution 2</a:t>
            </a:r>
          </a:p>
          <a:p>
            <a:pPr lvl="1"/>
            <a:r>
              <a:rPr lang="en-US" dirty="0"/>
              <a:t>Cities( </a:t>
            </a:r>
            <a:r>
              <a:rPr lang="en-US" u="sng" dirty="0"/>
              <a:t>TID</a:t>
            </a:r>
            <a:r>
              <a:rPr lang="en-US" dirty="0"/>
              <a:t>, </a:t>
            </a:r>
            <a:r>
              <a:rPr lang="en-US" dirty="0" err="1"/>
              <a:t>Tname</a:t>
            </a:r>
            <a:r>
              <a:rPr lang="en-US" dirty="0"/>
              <a:t>, </a:t>
            </a:r>
            <a:r>
              <a:rPr lang="en-US" dirty="0" err="1"/>
              <a:t>Cname</a:t>
            </a:r>
            <a:r>
              <a:rPr lang="en-US" dirty="0"/>
              <a:t> )</a:t>
            </a:r>
          </a:p>
          <a:p>
            <a:pPr lvl="1"/>
            <a:r>
              <a:rPr lang="en-US" dirty="0"/>
              <a:t>Countries( </a:t>
            </a:r>
            <a:r>
              <a:rPr lang="en-US" u="sng" dirty="0" err="1"/>
              <a:t>Cname</a:t>
            </a:r>
            <a:r>
              <a:rPr lang="en-US" dirty="0"/>
              <a:t>, pop )</a:t>
            </a:r>
            <a:endParaRPr lang="en-SG" dirty="0"/>
          </a:p>
        </p:txBody>
      </p:sp>
      <p:sp>
        <p:nvSpPr>
          <p:cNvPr id="4" name="Rectangle 5"/>
          <p:cNvSpPr>
            <a:spLocks noChangeArrowheads="1"/>
          </p:cNvSpPr>
          <p:nvPr/>
        </p:nvSpPr>
        <p:spPr bwMode="auto">
          <a:xfrm>
            <a:off x="5686610" y="1234035"/>
            <a:ext cx="154968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835695" y="1234852"/>
            <a:ext cx="972107"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
        <p:nvSpPr>
          <p:cNvPr id="10" name="Oval 25"/>
          <p:cNvSpPr>
            <a:spLocks noChangeArrowheads="1"/>
          </p:cNvSpPr>
          <p:nvPr/>
        </p:nvSpPr>
        <p:spPr bwMode="auto">
          <a:xfrm>
            <a:off x="47667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11" name="Line 39"/>
          <p:cNvSpPr>
            <a:spLocks noChangeShapeType="1"/>
          </p:cNvSpPr>
          <p:nvPr/>
        </p:nvSpPr>
        <p:spPr bwMode="auto">
          <a:xfrm>
            <a:off x="1586532" y="1484784"/>
            <a:ext cx="249163" cy="2023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Oval 25"/>
          <p:cNvSpPr>
            <a:spLocks noChangeArrowheads="1"/>
          </p:cNvSpPr>
          <p:nvPr/>
        </p:nvSpPr>
        <p:spPr bwMode="auto">
          <a:xfrm>
            <a:off x="443532" y="19016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13" name="Line 39"/>
          <p:cNvSpPr>
            <a:spLocks noChangeShapeType="1"/>
          </p:cNvSpPr>
          <p:nvPr/>
        </p:nvSpPr>
        <p:spPr bwMode="auto">
          <a:xfrm flipV="1">
            <a:off x="1586532" y="1901601"/>
            <a:ext cx="249163"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Oval 25"/>
          <p:cNvSpPr>
            <a:spLocks noChangeArrowheads="1"/>
          </p:cNvSpPr>
          <p:nvPr/>
        </p:nvSpPr>
        <p:spPr bwMode="auto">
          <a:xfrm>
            <a:off x="7596336" y="9491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Line 39"/>
          <p:cNvSpPr>
            <a:spLocks noChangeShapeType="1"/>
          </p:cNvSpPr>
          <p:nvPr/>
        </p:nvSpPr>
        <p:spPr bwMode="auto">
          <a:xfrm flipV="1">
            <a:off x="7236296" y="1232190"/>
            <a:ext cx="360040"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Oval 25"/>
          <p:cNvSpPr>
            <a:spLocks noChangeArrowheads="1"/>
          </p:cNvSpPr>
          <p:nvPr/>
        </p:nvSpPr>
        <p:spPr bwMode="auto">
          <a:xfrm>
            <a:off x="7748736" y="20019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pop</a:t>
            </a:r>
          </a:p>
        </p:txBody>
      </p:sp>
      <p:sp>
        <p:nvSpPr>
          <p:cNvPr id="17" name="Line 39"/>
          <p:cNvSpPr>
            <a:spLocks noChangeShapeType="1"/>
          </p:cNvSpPr>
          <p:nvPr/>
        </p:nvSpPr>
        <p:spPr bwMode="auto">
          <a:xfrm>
            <a:off x="7236296" y="1817512"/>
            <a:ext cx="512440" cy="4674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19" name="Straight Connector 18"/>
          <p:cNvCxnSpPr>
            <a:stCxn id="6" idx="1"/>
            <a:endCxn id="5" idx="3"/>
          </p:cNvCxnSpPr>
          <p:nvPr/>
        </p:nvCxnSpPr>
        <p:spPr bwMode="auto">
          <a:xfrm flipH="1">
            <a:off x="2807802" y="1692052"/>
            <a:ext cx="490144" cy="0"/>
          </a:xfrm>
          <a:prstGeom prst="line">
            <a:avLst/>
          </a:prstGeom>
          <a:solidFill>
            <a:schemeClr val="accent1"/>
          </a:solidFill>
          <a:ln w="25400" cap="flat" cmpd="sng" algn="ctr">
            <a:solidFill>
              <a:schemeClr val="tx1"/>
            </a:solidFill>
            <a:prstDash val="solid"/>
            <a:round/>
            <a:headEnd type="none" w="med" len="med"/>
            <a:tailEnd type="arrow" w="lg" len="lg"/>
          </a:ln>
          <a:effectLst/>
        </p:spPr>
      </p:cxnSp>
      <p:grpSp>
        <p:nvGrpSpPr>
          <p:cNvPr id="20" name="Group 19"/>
          <p:cNvGrpSpPr/>
          <p:nvPr/>
        </p:nvGrpSpPr>
        <p:grpSpPr>
          <a:xfrm rot="10800000">
            <a:off x="5103082" y="1545583"/>
            <a:ext cx="557421" cy="288032"/>
            <a:chOff x="2324827" y="1556792"/>
            <a:chExt cx="1167053" cy="288032"/>
          </a:xfrm>
        </p:grpSpPr>
        <p:cxnSp>
          <p:nvCxnSpPr>
            <p:cNvPr id="21" name="Straight Connector 20"/>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2" name="Straight Connector 21"/>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3" name="Straight Connector 22"/>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4" name="Straight Connector 23"/>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sp>
        <p:nvSpPr>
          <p:cNvPr id="25" name="Title 1"/>
          <p:cNvSpPr>
            <a:spLocks noGrp="1"/>
          </p:cNvSpPr>
          <p:nvPr>
            <p:ph type="title"/>
          </p:nvPr>
        </p:nvSpPr>
        <p:spPr>
          <a:xfrm>
            <a:off x="457200" y="277813"/>
            <a:ext cx="8229600" cy="1139825"/>
          </a:xfrm>
        </p:spPr>
        <p:txBody>
          <a:bodyPr>
            <a:normAutofit/>
          </a:bodyPr>
          <a:lstStyle/>
          <a:p>
            <a:r>
              <a:rPr lang="en-US" dirty="0"/>
              <a:t>One-to-One Relationship </a:t>
            </a:r>
            <a:r>
              <a:rPr lang="en-US" dirty="0">
                <a:sym typeface="Wingdings" pitchFamily="2" charset="2"/>
              </a:rPr>
              <a:t> Table</a:t>
            </a:r>
            <a:endParaRPr lang="en-SG" dirty="0"/>
          </a:p>
        </p:txBody>
      </p:sp>
    </p:spTree>
    <p:extLst>
      <p:ext uri="{BB962C8B-B14F-4D97-AF65-F5344CB8AC3E}">
        <p14:creationId xmlns:p14="http://schemas.microsoft.com/office/powerpoint/2010/main" val="13897409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80928"/>
            <a:ext cx="8229600" cy="3349997"/>
          </a:xfrm>
        </p:spPr>
        <p:txBody>
          <a:bodyPr>
            <a:normAutofit fontScale="85000" lnSpcReduction="20000"/>
          </a:bodyPr>
          <a:lstStyle/>
          <a:p>
            <a:r>
              <a:rPr lang="en-US" dirty="0"/>
              <a:t>What if the relationship has its own attributes?</a:t>
            </a:r>
          </a:p>
          <a:p>
            <a:r>
              <a:rPr lang="en-US" dirty="0"/>
              <a:t> </a:t>
            </a:r>
            <a:br>
              <a:rPr lang="en-US" dirty="0"/>
            </a:br>
            <a:endParaRPr lang="en-US" dirty="0"/>
          </a:p>
          <a:p>
            <a:r>
              <a:rPr lang="en-US" dirty="0"/>
              <a:t>Solution 1</a:t>
            </a:r>
          </a:p>
          <a:p>
            <a:pPr lvl="1"/>
            <a:r>
              <a:rPr lang="en-US" dirty="0"/>
              <a:t>Cities( </a:t>
            </a:r>
            <a:r>
              <a:rPr lang="en-US" u="sng" dirty="0"/>
              <a:t>TID</a:t>
            </a:r>
            <a:r>
              <a:rPr lang="en-US" dirty="0"/>
              <a:t>, </a:t>
            </a:r>
            <a:r>
              <a:rPr lang="en-US" dirty="0" err="1"/>
              <a:t>Tname</a:t>
            </a:r>
            <a:r>
              <a:rPr lang="en-US" dirty="0"/>
              <a:t> )</a:t>
            </a:r>
          </a:p>
          <a:p>
            <a:pPr lvl="1"/>
            <a:r>
              <a:rPr lang="en-US" dirty="0"/>
              <a:t>Countries( </a:t>
            </a:r>
            <a:r>
              <a:rPr lang="en-US" u="sng" dirty="0" err="1"/>
              <a:t>Cname</a:t>
            </a:r>
            <a:r>
              <a:rPr lang="en-US" dirty="0"/>
              <a:t>, pop, TID)</a:t>
            </a:r>
          </a:p>
          <a:p>
            <a:r>
              <a:rPr lang="en-US" dirty="0"/>
              <a:t>Solution 2</a:t>
            </a:r>
          </a:p>
          <a:p>
            <a:pPr lvl="1"/>
            <a:r>
              <a:rPr lang="en-US" dirty="0"/>
              <a:t>Cities( </a:t>
            </a:r>
            <a:r>
              <a:rPr lang="en-US" u="sng" dirty="0"/>
              <a:t>TID</a:t>
            </a:r>
            <a:r>
              <a:rPr lang="en-US" dirty="0"/>
              <a:t>, </a:t>
            </a:r>
            <a:r>
              <a:rPr lang="en-US" dirty="0" err="1"/>
              <a:t>Tname</a:t>
            </a:r>
            <a:r>
              <a:rPr lang="en-US" dirty="0"/>
              <a:t>, </a:t>
            </a:r>
            <a:r>
              <a:rPr lang="en-US" dirty="0" err="1"/>
              <a:t>Cname</a:t>
            </a:r>
            <a:r>
              <a:rPr lang="en-US" dirty="0"/>
              <a:t> )</a:t>
            </a:r>
          </a:p>
          <a:p>
            <a:pPr lvl="1"/>
            <a:r>
              <a:rPr lang="en-US" dirty="0"/>
              <a:t>Countries( </a:t>
            </a:r>
            <a:r>
              <a:rPr lang="en-US" u="sng" dirty="0" err="1"/>
              <a:t>Cname</a:t>
            </a:r>
            <a:r>
              <a:rPr lang="en-US" dirty="0"/>
              <a:t>, pop )</a:t>
            </a:r>
            <a:endParaRPr lang="en-SG" dirty="0"/>
          </a:p>
        </p:txBody>
      </p:sp>
      <p:sp>
        <p:nvSpPr>
          <p:cNvPr id="4" name="Rectangle 5"/>
          <p:cNvSpPr>
            <a:spLocks noChangeArrowheads="1"/>
          </p:cNvSpPr>
          <p:nvPr/>
        </p:nvSpPr>
        <p:spPr bwMode="auto">
          <a:xfrm>
            <a:off x="5686610" y="1234035"/>
            <a:ext cx="154968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835695" y="1234852"/>
            <a:ext cx="972107"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
        <p:nvSpPr>
          <p:cNvPr id="10" name="Oval 25"/>
          <p:cNvSpPr>
            <a:spLocks noChangeArrowheads="1"/>
          </p:cNvSpPr>
          <p:nvPr/>
        </p:nvSpPr>
        <p:spPr bwMode="auto">
          <a:xfrm>
            <a:off x="47667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11" name="Line 39"/>
          <p:cNvSpPr>
            <a:spLocks noChangeShapeType="1"/>
          </p:cNvSpPr>
          <p:nvPr/>
        </p:nvSpPr>
        <p:spPr bwMode="auto">
          <a:xfrm>
            <a:off x="1586532" y="1484784"/>
            <a:ext cx="249163" cy="2023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Oval 25"/>
          <p:cNvSpPr>
            <a:spLocks noChangeArrowheads="1"/>
          </p:cNvSpPr>
          <p:nvPr/>
        </p:nvSpPr>
        <p:spPr bwMode="auto">
          <a:xfrm>
            <a:off x="443532" y="19016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13" name="Line 39"/>
          <p:cNvSpPr>
            <a:spLocks noChangeShapeType="1"/>
          </p:cNvSpPr>
          <p:nvPr/>
        </p:nvSpPr>
        <p:spPr bwMode="auto">
          <a:xfrm flipV="1">
            <a:off x="1586532" y="1901601"/>
            <a:ext cx="249163"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Oval 25"/>
          <p:cNvSpPr>
            <a:spLocks noChangeArrowheads="1"/>
          </p:cNvSpPr>
          <p:nvPr/>
        </p:nvSpPr>
        <p:spPr bwMode="auto">
          <a:xfrm>
            <a:off x="7596336" y="9491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Line 39"/>
          <p:cNvSpPr>
            <a:spLocks noChangeShapeType="1"/>
          </p:cNvSpPr>
          <p:nvPr/>
        </p:nvSpPr>
        <p:spPr bwMode="auto">
          <a:xfrm flipV="1">
            <a:off x="7236296" y="1232190"/>
            <a:ext cx="360040"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Oval 25"/>
          <p:cNvSpPr>
            <a:spLocks noChangeArrowheads="1"/>
          </p:cNvSpPr>
          <p:nvPr/>
        </p:nvSpPr>
        <p:spPr bwMode="auto">
          <a:xfrm>
            <a:off x="7748736" y="20019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pop</a:t>
            </a:r>
          </a:p>
        </p:txBody>
      </p:sp>
      <p:sp>
        <p:nvSpPr>
          <p:cNvPr id="17" name="Line 39"/>
          <p:cNvSpPr>
            <a:spLocks noChangeShapeType="1"/>
          </p:cNvSpPr>
          <p:nvPr/>
        </p:nvSpPr>
        <p:spPr bwMode="auto">
          <a:xfrm>
            <a:off x="7236296" y="1817512"/>
            <a:ext cx="512440" cy="4674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19" name="Straight Connector 18"/>
          <p:cNvCxnSpPr>
            <a:stCxn id="6" idx="1"/>
            <a:endCxn id="5" idx="3"/>
          </p:cNvCxnSpPr>
          <p:nvPr/>
        </p:nvCxnSpPr>
        <p:spPr bwMode="auto">
          <a:xfrm flipH="1">
            <a:off x="2807802" y="1692052"/>
            <a:ext cx="490144" cy="0"/>
          </a:xfrm>
          <a:prstGeom prst="line">
            <a:avLst/>
          </a:prstGeom>
          <a:solidFill>
            <a:schemeClr val="accent1"/>
          </a:solidFill>
          <a:ln w="25400" cap="flat" cmpd="sng" algn="ctr">
            <a:solidFill>
              <a:schemeClr val="tx1"/>
            </a:solidFill>
            <a:prstDash val="solid"/>
            <a:round/>
            <a:headEnd type="none" w="med" len="med"/>
            <a:tailEnd type="arrow" w="lg" len="lg"/>
          </a:ln>
          <a:effectLst/>
        </p:spPr>
      </p:cxnSp>
      <p:grpSp>
        <p:nvGrpSpPr>
          <p:cNvPr id="20" name="Group 19"/>
          <p:cNvGrpSpPr/>
          <p:nvPr/>
        </p:nvGrpSpPr>
        <p:grpSpPr>
          <a:xfrm rot="10800000">
            <a:off x="5103082" y="1545583"/>
            <a:ext cx="557421" cy="288032"/>
            <a:chOff x="2324827" y="1556792"/>
            <a:chExt cx="1167053" cy="288032"/>
          </a:xfrm>
        </p:grpSpPr>
        <p:cxnSp>
          <p:nvCxnSpPr>
            <p:cNvPr id="21" name="Straight Connector 20"/>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2" name="Straight Connector 21"/>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3" name="Straight Connector 22"/>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4" name="Straight Connector 23"/>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sp>
        <p:nvSpPr>
          <p:cNvPr id="27" name="Title 1"/>
          <p:cNvSpPr>
            <a:spLocks noGrp="1"/>
          </p:cNvSpPr>
          <p:nvPr>
            <p:ph type="title"/>
          </p:nvPr>
        </p:nvSpPr>
        <p:spPr>
          <a:xfrm>
            <a:off x="457200" y="277813"/>
            <a:ext cx="8229600" cy="1139825"/>
          </a:xfrm>
        </p:spPr>
        <p:txBody>
          <a:bodyPr>
            <a:normAutofit/>
          </a:bodyPr>
          <a:lstStyle/>
          <a:p>
            <a:r>
              <a:rPr lang="en-US" dirty="0"/>
              <a:t>One-to-One Relationship </a:t>
            </a:r>
            <a:r>
              <a:rPr lang="en-US" dirty="0">
                <a:sym typeface="Wingdings" pitchFamily="2" charset="2"/>
              </a:rPr>
              <a:t> Table</a:t>
            </a:r>
            <a:endParaRPr lang="en-SG" dirty="0"/>
          </a:p>
        </p:txBody>
      </p:sp>
      <p:sp>
        <p:nvSpPr>
          <p:cNvPr id="28" name="Oval 25"/>
          <p:cNvSpPr>
            <a:spLocks noChangeArrowheads="1"/>
          </p:cNvSpPr>
          <p:nvPr/>
        </p:nvSpPr>
        <p:spPr bwMode="auto">
          <a:xfrm>
            <a:off x="4787969" y="2206431"/>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since</a:t>
            </a:r>
          </a:p>
        </p:txBody>
      </p:sp>
      <p:sp>
        <p:nvSpPr>
          <p:cNvPr id="29" name="Line 39"/>
          <p:cNvSpPr>
            <a:spLocks noChangeShapeType="1"/>
          </p:cNvSpPr>
          <p:nvPr/>
        </p:nvSpPr>
        <p:spPr bwMode="auto">
          <a:xfrm>
            <a:off x="4282332" y="2187352"/>
            <a:ext cx="505637" cy="30216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19332438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80928"/>
            <a:ext cx="8434536" cy="3349997"/>
          </a:xfrm>
        </p:spPr>
        <p:txBody>
          <a:bodyPr>
            <a:normAutofit fontScale="85000" lnSpcReduction="20000"/>
          </a:bodyPr>
          <a:lstStyle/>
          <a:p>
            <a:r>
              <a:rPr lang="en-US" dirty="0"/>
              <a:t>What if the relationship has its own attributes?</a:t>
            </a:r>
          </a:p>
          <a:p>
            <a:r>
              <a:rPr lang="en-US" dirty="0"/>
              <a:t>Put the key and attribute of “one” side, </a:t>
            </a:r>
            <a:r>
              <a:rPr lang="en-US" dirty="0">
                <a:solidFill>
                  <a:srgbClr val="C00000"/>
                </a:solidFill>
              </a:rPr>
              <a:t>as well as the attribute of the relationship</a:t>
            </a:r>
            <a:r>
              <a:rPr lang="en-US" dirty="0"/>
              <a:t>, into the table of the other</a:t>
            </a:r>
          </a:p>
          <a:p>
            <a:r>
              <a:rPr lang="en-US" dirty="0"/>
              <a:t>Solution 1</a:t>
            </a:r>
          </a:p>
          <a:p>
            <a:pPr lvl="1"/>
            <a:r>
              <a:rPr lang="en-US" dirty="0"/>
              <a:t>Cities( </a:t>
            </a:r>
            <a:r>
              <a:rPr lang="en-US" u="sng" dirty="0"/>
              <a:t>TID</a:t>
            </a:r>
            <a:r>
              <a:rPr lang="en-US" dirty="0"/>
              <a:t>, </a:t>
            </a:r>
            <a:r>
              <a:rPr lang="en-US" dirty="0" err="1"/>
              <a:t>Tname</a:t>
            </a:r>
            <a:r>
              <a:rPr lang="en-US" dirty="0"/>
              <a:t> )</a:t>
            </a:r>
          </a:p>
          <a:p>
            <a:pPr lvl="1"/>
            <a:r>
              <a:rPr lang="en-US" dirty="0"/>
              <a:t>Countries( </a:t>
            </a:r>
            <a:r>
              <a:rPr lang="en-US" u="sng" dirty="0" err="1"/>
              <a:t>Cname</a:t>
            </a:r>
            <a:r>
              <a:rPr lang="en-US" dirty="0"/>
              <a:t>, pop, TID)</a:t>
            </a:r>
          </a:p>
          <a:p>
            <a:r>
              <a:rPr lang="en-US" dirty="0"/>
              <a:t>Solution 2</a:t>
            </a:r>
          </a:p>
          <a:p>
            <a:pPr lvl="1"/>
            <a:r>
              <a:rPr lang="en-US" dirty="0"/>
              <a:t>Cities( </a:t>
            </a:r>
            <a:r>
              <a:rPr lang="en-US" u="sng" dirty="0"/>
              <a:t>TID</a:t>
            </a:r>
            <a:r>
              <a:rPr lang="en-US" dirty="0"/>
              <a:t>, </a:t>
            </a:r>
            <a:r>
              <a:rPr lang="en-US" dirty="0" err="1"/>
              <a:t>Tname</a:t>
            </a:r>
            <a:r>
              <a:rPr lang="en-US" dirty="0"/>
              <a:t>, </a:t>
            </a:r>
            <a:r>
              <a:rPr lang="en-US" dirty="0" err="1"/>
              <a:t>Cname</a:t>
            </a:r>
            <a:r>
              <a:rPr lang="en-US" dirty="0"/>
              <a:t> )</a:t>
            </a:r>
          </a:p>
          <a:p>
            <a:pPr lvl="1"/>
            <a:r>
              <a:rPr lang="en-US" dirty="0"/>
              <a:t>Countries( </a:t>
            </a:r>
            <a:r>
              <a:rPr lang="en-US" u="sng" dirty="0" err="1"/>
              <a:t>Cname</a:t>
            </a:r>
            <a:r>
              <a:rPr lang="en-US" dirty="0"/>
              <a:t>, pop )</a:t>
            </a:r>
            <a:endParaRPr lang="en-SG" dirty="0"/>
          </a:p>
        </p:txBody>
      </p:sp>
      <p:sp>
        <p:nvSpPr>
          <p:cNvPr id="4" name="Rectangle 5"/>
          <p:cNvSpPr>
            <a:spLocks noChangeArrowheads="1"/>
          </p:cNvSpPr>
          <p:nvPr/>
        </p:nvSpPr>
        <p:spPr bwMode="auto">
          <a:xfrm>
            <a:off x="5686610" y="1234035"/>
            <a:ext cx="154968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835695" y="1234852"/>
            <a:ext cx="972107"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
        <p:nvSpPr>
          <p:cNvPr id="10" name="Oval 25"/>
          <p:cNvSpPr>
            <a:spLocks noChangeArrowheads="1"/>
          </p:cNvSpPr>
          <p:nvPr/>
        </p:nvSpPr>
        <p:spPr bwMode="auto">
          <a:xfrm>
            <a:off x="47667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11" name="Line 39"/>
          <p:cNvSpPr>
            <a:spLocks noChangeShapeType="1"/>
          </p:cNvSpPr>
          <p:nvPr/>
        </p:nvSpPr>
        <p:spPr bwMode="auto">
          <a:xfrm>
            <a:off x="1586532" y="1484784"/>
            <a:ext cx="249163" cy="2023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Oval 25"/>
          <p:cNvSpPr>
            <a:spLocks noChangeArrowheads="1"/>
          </p:cNvSpPr>
          <p:nvPr/>
        </p:nvSpPr>
        <p:spPr bwMode="auto">
          <a:xfrm>
            <a:off x="443532" y="19016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13" name="Line 39"/>
          <p:cNvSpPr>
            <a:spLocks noChangeShapeType="1"/>
          </p:cNvSpPr>
          <p:nvPr/>
        </p:nvSpPr>
        <p:spPr bwMode="auto">
          <a:xfrm flipV="1">
            <a:off x="1586532" y="1901601"/>
            <a:ext cx="249163"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Oval 25"/>
          <p:cNvSpPr>
            <a:spLocks noChangeArrowheads="1"/>
          </p:cNvSpPr>
          <p:nvPr/>
        </p:nvSpPr>
        <p:spPr bwMode="auto">
          <a:xfrm>
            <a:off x="7596336" y="9491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Line 39"/>
          <p:cNvSpPr>
            <a:spLocks noChangeShapeType="1"/>
          </p:cNvSpPr>
          <p:nvPr/>
        </p:nvSpPr>
        <p:spPr bwMode="auto">
          <a:xfrm flipV="1">
            <a:off x="7236296" y="1232190"/>
            <a:ext cx="360040"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Oval 25"/>
          <p:cNvSpPr>
            <a:spLocks noChangeArrowheads="1"/>
          </p:cNvSpPr>
          <p:nvPr/>
        </p:nvSpPr>
        <p:spPr bwMode="auto">
          <a:xfrm>
            <a:off x="7748736" y="20019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pop</a:t>
            </a:r>
          </a:p>
        </p:txBody>
      </p:sp>
      <p:sp>
        <p:nvSpPr>
          <p:cNvPr id="17" name="Line 39"/>
          <p:cNvSpPr>
            <a:spLocks noChangeShapeType="1"/>
          </p:cNvSpPr>
          <p:nvPr/>
        </p:nvSpPr>
        <p:spPr bwMode="auto">
          <a:xfrm>
            <a:off x="7236296" y="1817512"/>
            <a:ext cx="512440" cy="4674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19" name="Straight Connector 18"/>
          <p:cNvCxnSpPr>
            <a:stCxn id="6" idx="1"/>
            <a:endCxn id="5" idx="3"/>
          </p:cNvCxnSpPr>
          <p:nvPr/>
        </p:nvCxnSpPr>
        <p:spPr bwMode="auto">
          <a:xfrm flipH="1">
            <a:off x="2807802" y="1692052"/>
            <a:ext cx="490144" cy="0"/>
          </a:xfrm>
          <a:prstGeom prst="line">
            <a:avLst/>
          </a:prstGeom>
          <a:solidFill>
            <a:schemeClr val="accent1"/>
          </a:solidFill>
          <a:ln w="25400" cap="flat" cmpd="sng" algn="ctr">
            <a:solidFill>
              <a:schemeClr val="tx1"/>
            </a:solidFill>
            <a:prstDash val="solid"/>
            <a:round/>
            <a:headEnd type="none" w="med" len="med"/>
            <a:tailEnd type="arrow" w="lg" len="lg"/>
          </a:ln>
          <a:effectLst/>
        </p:spPr>
      </p:cxnSp>
      <p:grpSp>
        <p:nvGrpSpPr>
          <p:cNvPr id="20" name="Group 19"/>
          <p:cNvGrpSpPr/>
          <p:nvPr/>
        </p:nvGrpSpPr>
        <p:grpSpPr>
          <a:xfrm rot="10800000">
            <a:off x="5103082" y="1545583"/>
            <a:ext cx="557421" cy="288032"/>
            <a:chOff x="2324827" y="1556792"/>
            <a:chExt cx="1167053" cy="288032"/>
          </a:xfrm>
        </p:grpSpPr>
        <p:cxnSp>
          <p:nvCxnSpPr>
            <p:cNvPr id="21" name="Straight Connector 20"/>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2" name="Straight Connector 21"/>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3" name="Straight Connector 22"/>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4" name="Straight Connector 23"/>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sp>
        <p:nvSpPr>
          <p:cNvPr id="27" name="Title 1"/>
          <p:cNvSpPr>
            <a:spLocks noGrp="1"/>
          </p:cNvSpPr>
          <p:nvPr>
            <p:ph type="title"/>
          </p:nvPr>
        </p:nvSpPr>
        <p:spPr>
          <a:xfrm>
            <a:off x="457200" y="277813"/>
            <a:ext cx="8229600" cy="1139825"/>
          </a:xfrm>
        </p:spPr>
        <p:txBody>
          <a:bodyPr>
            <a:normAutofit/>
          </a:bodyPr>
          <a:lstStyle/>
          <a:p>
            <a:r>
              <a:rPr lang="en-US" dirty="0"/>
              <a:t>One-to-One Relationship </a:t>
            </a:r>
            <a:r>
              <a:rPr lang="en-US" dirty="0">
                <a:sym typeface="Wingdings" pitchFamily="2" charset="2"/>
              </a:rPr>
              <a:t> Table</a:t>
            </a:r>
            <a:endParaRPr lang="en-SG" dirty="0"/>
          </a:p>
        </p:txBody>
      </p:sp>
      <p:sp>
        <p:nvSpPr>
          <p:cNvPr id="28" name="Oval 25"/>
          <p:cNvSpPr>
            <a:spLocks noChangeArrowheads="1"/>
          </p:cNvSpPr>
          <p:nvPr/>
        </p:nvSpPr>
        <p:spPr bwMode="auto">
          <a:xfrm>
            <a:off x="4787969" y="2206431"/>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since</a:t>
            </a:r>
          </a:p>
        </p:txBody>
      </p:sp>
      <p:sp>
        <p:nvSpPr>
          <p:cNvPr id="29" name="Line 39"/>
          <p:cNvSpPr>
            <a:spLocks noChangeShapeType="1"/>
          </p:cNvSpPr>
          <p:nvPr/>
        </p:nvSpPr>
        <p:spPr bwMode="auto">
          <a:xfrm>
            <a:off x="4282332" y="2187352"/>
            <a:ext cx="505637" cy="30216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7103998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80928"/>
            <a:ext cx="8434536" cy="3349997"/>
          </a:xfrm>
        </p:spPr>
        <p:txBody>
          <a:bodyPr>
            <a:normAutofit fontScale="85000" lnSpcReduction="20000"/>
          </a:bodyPr>
          <a:lstStyle/>
          <a:p>
            <a:r>
              <a:rPr lang="en-US" dirty="0"/>
              <a:t>What if the relationship has its own attributes?</a:t>
            </a:r>
          </a:p>
          <a:p>
            <a:r>
              <a:rPr lang="en-US" dirty="0"/>
              <a:t>Put the key and attribute of “one” side, </a:t>
            </a:r>
            <a:r>
              <a:rPr lang="en-US" dirty="0">
                <a:solidFill>
                  <a:srgbClr val="C00000"/>
                </a:solidFill>
              </a:rPr>
              <a:t>as well as the attribute of the relationship</a:t>
            </a:r>
            <a:r>
              <a:rPr lang="en-US" dirty="0"/>
              <a:t>, into the table of the other</a:t>
            </a:r>
          </a:p>
          <a:p>
            <a:r>
              <a:rPr lang="en-US" dirty="0"/>
              <a:t>Solution 1</a:t>
            </a:r>
          </a:p>
          <a:p>
            <a:pPr lvl="1"/>
            <a:r>
              <a:rPr lang="en-US" dirty="0"/>
              <a:t>Cities( </a:t>
            </a:r>
            <a:r>
              <a:rPr lang="en-US" u="sng" dirty="0"/>
              <a:t>TID</a:t>
            </a:r>
            <a:r>
              <a:rPr lang="en-US" dirty="0"/>
              <a:t>, </a:t>
            </a:r>
            <a:r>
              <a:rPr lang="en-US" dirty="0" err="1"/>
              <a:t>Tname</a:t>
            </a:r>
            <a:r>
              <a:rPr lang="en-US" dirty="0"/>
              <a:t> )</a:t>
            </a:r>
          </a:p>
          <a:p>
            <a:pPr lvl="1"/>
            <a:r>
              <a:rPr lang="en-US" dirty="0"/>
              <a:t>Countries( </a:t>
            </a:r>
            <a:r>
              <a:rPr lang="en-US" u="sng" dirty="0" err="1"/>
              <a:t>Cname</a:t>
            </a:r>
            <a:r>
              <a:rPr lang="en-US" dirty="0"/>
              <a:t>, pop, TID, </a:t>
            </a:r>
            <a:r>
              <a:rPr lang="en-US" dirty="0">
                <a:solidFill>
                  <a:srgbClr val="C00000"/>
                </a:solidFill>
              </a:rPr>
              <a:t>since</a:t>
            </a:r>
            <a:r>
              <a:rPr lang="en-US" dirty="0"/>
              <a:t> )</a:t>
            </a:r>
          </a:p>
          <a:p>
            <a:r>
              <a:rPr lang="en-US" dirty="0"/>
              <a:t>Solution 2</a:t>
            </a:r>
          </a:p>
          <a:p>
            <a:pPr lvl="1"/>
            <a:r>
              <a:rPr lang="en-US" dirty="0"/>
              <a:t>Cities( </a:t>
            </a:r>
            <a:r>
              <a:rPr lang="en-US" u="sng" dirty="0"/>
              <a:t>TID</a:t>
            </a:r>
            <a:r>
              <a:rPr lang="en-US" dirty="0"/>
              <a:t>, </a:t>
            </a:r>
            <a:r>
              <a:rPr lang="en-US" dirty="0" err="1"/>
              <a:t>Tname</a:t>
            </a:r>
            <a:r>
              <a:rPr lang="en-US" dirty="0"/>
              <a:t>, </a:t>
            </a:r>
            <a:r>
              <a:rPr lang="en-US" dirty="0" err="1"/>
              <a:t>Cname</a:t>
            </a:r>
            <a:r>
              <a:rPr lang="en-US" dirty="0"/>
              <a:t> )</a:t>
            </a:r>
          </a:p>
          <a:p>
            <a:pPr lvl="1"/>
            <a:r>
              <a:rPr lang="en-US" dirty="0"/>
              <a:t>Countries( </a:t>
            </a:r>
            <a:r>
              <a:rPr lang="en-US" u="sng" dirty="0" err="1"/>
              <a:t>Cname</a:t>
            </a:r>
            <a:r>
              <a:rPr lang="en-US" dirty="0"/>
              <a:t>, pop )</a:t>
            </a:r>
            <a:endParaRPr lang="en-SG" dirty="0"/>
          </a:p>
        </p:txBody>
      </p:sp>
      <p:sp>
        <p:nvSpPr>
          <p:cNvPr id="4" name="Rectangle 5"/>
          <p:cNvSpPr>
            <a:spLocks noChangeArrowheads="1"/>
          </p:cNvSpPr>
          <p:nvPr/>
        </p:nvSpPr>
        <p:spPr bwMode="auto">
          <a:xfrm>
            <a:off x="5686610" y="1234035"/>
            <a:ext cx="154968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835695" y="1234852"/>
            <a:ext cx="972107"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
        <p:nvSpPr>
          <p:cNvPr id="10" name="Oval 25"/>
          <p:cNvSpPr>
            <a:spLocks noChangeArrowheads="1"/>
          </p:cNvSpPr>
          <p:nvPr/>
        </p:nvSpPr>
        <p:spPr bwMode="auto">
          <a:xfrm>
            <a:off x="47667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11" name="Line 39"/>
          <p:cNvSpPr>
            <a:spLocks noChangeShapeType="1"/>
          </p:cNvSpPr>
          <p:nvPr/>
        </p:nvSpPr>
        <p:spPr bwMode="auto">
          <a:xfrm>
            <a:off x="1586532" y="1484784"/>
            <a:ext cx="249163" cy="2023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Oval 25"/>
          <p:cNvSpPr>
            <a:spLocks noChangeArrowheads="1"/>
          </p:cNvSpPr>
          <p:nvPr/>
        </p:nvSpPr>
        <p:spPr bwMode="auto">
          <a:xfrm>
            <a:off x="443532" y="19016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13" name="Line 39"/>
          <p:cNvSpPr>
            <a:spLocks noChangeShapeType="1"/>
          </p:cNvSpPr>
          <p:nvPr/>
        </p:nvSpPr>
        <p:spPr bwMode="auto">
          <a:xfrm flipV="1">
            <a:off x="1586532" y="1901601"/>
            <a:ext cx="249163"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Oval 25"/>
          <p:cNvSpPr>
            <a:spLocks noChangeArrowheads="1"/>
          </p:cNvSpPr>
          <p:nvPr/>
        </p:nvSpPr>
        <p:spPr bwMode="auto">
          <a:xfrm>
            <a:off x="7596336" y="9491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Line 39"/>
          <p:cNvSpPr>
            <a:spLocks noChangeShapeType="1"/>
          </p:cNvSpPr>
          <p:nvPr/>
        </p:nvSpPr>
        <p:spPr bwMode="auto">
          <a:xfrm flipV="1">
            <a:off x="7236296" y="1232190"/>
            <a:ext cx="360040"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Oval 25"/>
          <p:cNvSpPr>
            <a:spLocks noChangeArrowheads="1"/>
          </p:cNvSpPr>
          <p:nvPr/>
        </p:nvSpPr>
        <p:spPr bwMode="auto">
          <a:xfrm>
            <a:off x="7748736" y="20019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pop</a:t>
            </a:r>
          </a:p>
        </p:txBody>
      </p:sp>
      <p:sp>
        <p:nvSpPr>
          <p:cNvPr id="17" name="Line 39"/>
          <p:cNvSpPr>
            <a:spLocks noChangeShapeType="1"/>
          </p:cNvSpPr>
          <p:nvPr/>
        </p:nvSpPr>
        <p:spPr bwMode="auto">
          <a:xfrm>
            <a:off x="7236296" y="1817512"/>
            <a:ext cx="512440" cy="4674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19" name="Straight Connector 18"/>
          <p:cNvCxnSpPr>
            <a:stCxn id="6" idx="1"/>
            <a:endCxn id="5" idx="3"/>
          </p:cNvCxnSpPr>
          <p:nvPr/>
        </p:nvCxnSpPr>
        <p:spPr bwMode="auto">
          <a:xfrm flipH="1">
            <a:off x="2807802" y="1692052"/>
            <a:ext cx="490144" cy="0"/>
          </a:xfrm>
          <a:prstGeom prst="line">
            <a:avLst/>
          </a:prstGeom>
          <a:solidFill>
            <a:schemeClr val="accent1"/>
          </a:solidFill>
          <a:ln w="25400" cap="flat" cmpd="sng" algn="ctr">
            <a:solidFill>
              <a:schemeClr val="tx1"/>
            </a:solidFill>
            <a:prstDash val="solid"/>
            <a:round/>
            <a:headEnd type="none" w="med" len="med"/>
            <a:tailEnd type="arrow" w="lg" len="lg"/>
          </a:ln>
          <a:effectLst/>
        </p:spPr>
      </p:cxnSp>
      <p:grpSp>
        <p:nvGrpSpPr>
          <p:cNvPr id="20" name="Group 19"/>
          <p:cNvGrpSpPr/>
          <p:nvPr/>
        </p:nvGrpSpPr>
        <p:grpSpPr>
          <a:xfrm rot="10800000">
            <a:off x="5103082" y="1545583"/>
            <a:ext cx="557421" cy="288032"/>
            <a:chOff x="2324827" y="1556792"/>
            <a:chExt cx="1167053" cy="288032"/>
          </a:xfrm>
        </p:grpSpPr>
        <p:cxnSp>
          <p:nvCxnSpPr>
            <p:cNvPr id="21" name="Straight Connector 20"/>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2" name="Straight Connector 21"/>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3" name="Straight Connector 22"/>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4" name="Straight Connector 23"/>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sp>
        <p:nvSpPr>
          <p:cNvPr id="27" name="Title 1"/>
          <p:cNvSpPr>
            <a:spLocks noGrp="1"/>
          </p:cNvSpPr>
          <p:nvPr>
            <p:ph type="title"/>
          </p:nvPr>
        </p:nvSpPr>
        <p:spPr>
          <a:xfrm>
            <a:off x="457200" y="277813"/>
            <a:ext cx="8229600" cy="1139825"/>
          </a:xfrm>
        </p:spPr>
        <p:txBody>
          <a:bodyPr>
            <a:normAutofit/>
          </a:bodyPr>
          <a:lstStyle/>
          <a:p>
            <a:r>
              <a:rPr lang="en-US" dirty="0"/>
              <a:t>One-to-One Relationship </a:t>
            </a:r>
            <a:r>
              <a:rPr lang="en-US" dirty="0">
                <a:sym typeface="Wingdings" pitchFamily="2" charset="2"/>
              </a:rPr>
              <a:t> Table</a:t>
            </a:r>
            <a:endParaRPr lang="en-SG" dirty="0"/>
          </a:p>
        </p:txBody>
      </p:sp>
      <p:sp>
        <p:nvSpPr>
          <p:cNvPr id="28" name="Oval 25"/>
          <p:cNvSpPr>
            <a:spLocks noChangeArrowheads="1"/>
          </p:cNvSpPr>
          <p:nvPr/>
        </p:nvSpPr>
        <p:spPr bwMode="auto">
          <a:xfrm>
            <a:off x="4787969" y="2206431"/>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since</a:t>
            </a:r>
          </a:p>
        </p:txBody>
      </p:sp>
      <p:sp>
        <p:nvSpPr>
          <p:cNvPr id="29" name="Line 39"/>
          <p:cNvSpPr>
            <a:spLocks noChangeShapeType="1"/>
          </p:cNvSpPr>
          <p:nvPr/>
        </p:nvSpPr>
        <p:spPr bwMode="auto">
          <a:xfrm>
            <a:off x="4282332" y="2187352"/>
            <a:ext cx="505637" cy="30216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19902295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80928"/>
            <a:ext cx="8434536" cy="3349997"/>
          </a:xfrm>
        </p:spPr>
        <p:txBody>
          <a:bodyPr>
            <a:normAutofit fontScale="85000" lnSpcReduction="20000"/>
          </a:bodyPr>
          <a:lstStyle/>
          <a:p>
            <a:r>
              <a:rPr lang="en-US" dirty="0"/>
              <a:t>What if the relationship has its own attributes?</a:t>
            </a:r>
          </a:p>
          <a:p>
            <a:r>
              <a:rPr lang="en-US" dirty="0"/>
              <a:t>Put the key and attribute of “one” side, </a:t>
            </a:r>
            <a:r>
              <a:rPr lang="en-US" dirty="0">
                <a:solidFill>
                  <a:srgbClr val="C00000"/>
                </a:solidFill>
              </a:rPr>
              <a:t>as well as the attribute of the relationship</a:t>
            </a:r>
            <a:r>
              <a:rPr lang="en-US" dirty="0"/>
              <a:t>, into the table of the other</a:t>
            </a:r>
          </a:p>
          <a:p>
            <a:r>
              <a:rPr lang="en-US" dirty="0"/>
              <a:t>Solution 1</a:t>
            </a:r>
          </a:p>
          <a:p>
            <a:pPr lvl="1"/>
            <a:r>
              <a:rPr lang="en-US" dirty="0"/>
              <a:t>Cities( </a:t>
            </a:r>
            <a:r>
              <a:rPr lang="en-US" u="sng" dirty="0"/>
              <a:t>TID</a:t>
            </a:r>
            <a:r>
              <a:rPr lang="en-US" dirty="0"/>
              <a:t>, </a:t>
            </a:r>
            <a:r>
              <a:rPr lang="en-US" dirty="0" err="1"/>
              <a:t>Tname</a:t>
            </a:r>
            <a:r>
              <a:rPr lang="en-US" dirty="0"/>
              <a:t> )</a:t>
            </a:r>
          </a:p>
          <a:p>
            <a:pPr lvl="1"/>
            <a:r>
              <a:rPr lang="en-US" dirty="0"/>
              <a:t>Countries( </a:t>
            </a:r>
            <a:r>
              <a:rPr lang="en-US" u="sng" dirty="0" err="1"/>
              <a:t>Cname</a:t>
            </a:r>
            <a:r>
              <a:rPr lang="en-US" dirty="0"/>
              <a:t>, pop, TID, </a:t>
            </a:r>
            <a:r>
              <a:rPr lang="en-US" dirty="0">
                <a:solidFill>
                  <a:srgbClr val="C00000"/>
                </a:solidFill>
              </a:rPr>
              <a:t>since</a:t>
            </a:r>
            <a:r>
              <a:rPr lang="en-US" dirty="0"/>
              <a:t> )</a:t>
            </a:r>
          </a:p>
          <a:p>
            <a:r>
              <a:rPr lang="en-US" dirty="0"/>
              <a:t>Solution 2</a:t>
            </a:r>
          </a:p>
          <a:p>
            <a:pPr lvl="1"/>
            <a:r>
              <a:rPr lang="en-US" dirty="0"/>
              <a:t>Cities( </a:t>
            </a:r>
            <a:r>
              <a:rPr lang="en-US" u="sng" dirty="0"/>
              <a:t>TID</a:t>
            </a:r>
            <a:r>
              <a:rPr lang="en-US" dirty="0"/>
              <a:t>, </a:t>
            </a:r>
            <a:r>
              <a:rPr lang="en-US" dirty="0" err="1"/>
              <a:t>Tname</a:t>
            </a:r>
            <a:r>
              <a:rPr lang="en-US" dirty="0"/>
              <a:t>, </a:t>
            </a:r>
            <a:r>
              <a:rPr lang="en-US" dirty="0" err="1"/>
              <a:t>Cname</a:t>
            </a:r>
            <a:r>
              <a:rPr lang="en-US" dirty="0"/>
              <a:t>, </a:t>
            </a:r>
            <a:r>
              <a:rPr lang="en-US" dirty="0">
                <a:solidFill>
                  <a:srgbClr val="C00000"/>
                </a:solidFill>
              </a:rPr>
              <a:t>since</a:t>
            </a:r>
            <a:r>
              <a:rPr lang="en-US" dirty="0"/>
              <a:t> )</a:t>
            </a:r>
          </a:p>
          <a:p>
            <a:pPr lvl="1"/>
            <a:r>
              <a:rPr lang="en-US" dirty="0"/>
              <a:t>Countries( </a:t>
            </a:r>
            <a:r>
              <a:rPr lang="en-US" u="sng" dirty="0" err="1"/>
              <a:t>Cname</a:t>
            </a:r>
            <a:r>
              <a:rPr lang="en-US" dirty="0"/>
              <a:t>, pop )</a:t>
            </a:r>
            <a:endParaRPr lang="en-SG" dirty="0"/>
          </a:p>
        </p:txBody>
      </p:sp>
      <p:sp>
        <p:nvSpPr>
          <p:cNvPr id="4" name="Rectangle 5"/>
          <p:cNvSpPr>
            <a:spLocks noChangeArrowheads="1"/>
          </p:cNvSpPr>
          <p:nvPr/>
        </p:nvSpPr>
        <p:spPr bwMode="auto">
          <a:xfrm>
            <a:off x="5686610" y="1234035"/>
            <a:ext cx="154968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Countries</a:t>
            </a:r>
          </a:p>
        </p:txBody>
      </p:sp>
      <p:sp>
        <p:nvSpPr>
          <p:cNvPr id="5" name="Rectangle 3"/>
          <p:cNvSpPr>
            <a:spLocks noChangeArrowheads="1"/>
          </p:cNvSpPr>
          <p:nvPr/>
        </p:nvSpPr>
        <p:spPr bwMode="auto">
          <a:xfrm>
            <a:off x="1835695" y="1234852"/>
            <a:ext cx="972107"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6" name="AutoShape 10"/>
          <p:cNvSpPr>
            <a:spLocks noChangeArrowheads="1"/>
          </p:cNvSpPr>
          <p:nvPr/>
        </p:nvSpPr>
        <p:spPr bwMode="auto">
          <a:xfrm>
            <a:off x="3297946" y="1196752"/>
            <a:ext cx="1968772" cy="99060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Capital of</a:t>
            </a:r>
          </a:p>
        </p:txBody>
      </p:sp>
      <p:sp>
        <p:nvSpPr>
          <p:cNvPr id="10" name="Oval 25"/>
          <p:cNvSpPr>
            <a:spLocks noChangeArrowheads="1"/>
          </p:cNvSpPr>
          <p:nvPr/>
        </p:nvSpPr>
        <p:spPr bwMode="auto">
          <a:xfrm>
            <a:off x="476672" y="1057300"/>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ID</a:t>
            </a:r>
          </a:p>
        </p:txBody>
      </p:sp>
      <p:sp>
        <p:nvSpPr>
          <p:cNvPr id="11" name="Line 39"/>
          <p:cNvSpPr>
            <a:spLocks noChangeShapeType="1"/>
          </p:cNvSpPr>
          <p:nvPr/>
        </p:nvSpPr>
        <p:spPr bwMode="auto">
          <a:xfrm>
            <a:off x="1586532" y="1484784"/>
            <a:ext cx="249163" cy="20236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2" name="Oval 25"/>
          <p:cNvSpPr>
            <a:spLocks noChangeArrowheads="1"/>
          </p:cNvSpPr>
          <p:nvPr/>
        </p:nvSpPr>
        <p:spPr bwMode="auto">
          <a:xfrm>
            <a:off x="443532" y="19016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name</a:t>
            </a:r>
          </a:p>
        </p:txBody>
      </p:sp>
      <p:sp>
        <p:nvSpPr>
          <p:cNvPr id="13" name="Line 39"/>
          <p:cNvSpPr>
            <a:spLocks noChangeShapeType="1"/>
          </p:cNvSpPr>
          <p:nvPr/>
        </p:nvSpPr>
        <p:spPr bwMode="auto">
          <a:xfrm flipV="1">
            <a:off x="1586532" y="1901601"/>
            <a:ext cx="249163"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4" name="Oval 25"/>
          <p:cNvSpPr>
            <a:spLocks noChangeArrowheads="1"/>
          </p:cNvSpPr>
          <p:nvPr/>
        </p:nvSpPr>
        <p:spPr bwMode="auto">
          <a:xfrm>
            <a:off x="7596336" y="94910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u="sng" dirty="0">
                <a:latin typeface="Calibri" pitchFamily="34" charset="0"/>
              </a:rPr>
              <a:t>name</a:t>
            </a:r>
          </a:p>
        </p:txBody>
      </p:sp>
      <p:sp>
        <p:nvSpPr>
          <p:cNvPr id="15" name="Line 39"/>
          <p:cNvSpPr>
            <a:spLocks noChangeShapeType="1"/>
          </p:cNvSpPr>
          <p:nvPr/>
        </p:nvSpPr>
        <p:spPr bwMode="auto">
          <a:xfrm flipV="1">
            <a:off x="7236296" y="1232190"/>
            <a:ext cx="360040" cy="2468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16" name="Oval 25"/>
          <p:cNvSpPr>
            <a:spLocks noChangeArrowheads="1"/>
          </p:cNvSpPr>
          <p:nvPr/>
        </p:nvSpPr>
        <p:spPr bwMode="auto">
          <a:xfrm>
            <a:off x="7748736" y="20019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pop</a:t>
            </a:r>
          </a:p>
        </p:txBody>
      </p:sp>
      <p:sp>
        <p:nvSpPr>
          <p:cNvPr id="17" name="Line 39"/>
          <p:cNvSpPr>
            <a:spLocks noChangeShapeType="1"/>
          </p:cNvSpPr>
          <p:nvPr/>
        </p:nvSpPr>
        <p:spPr bwMode="auto">
          <a:xfrm>
            <a:off x="7236296" y="1817512"/>
            <a:ext cx="512440" cy="46748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19" name="Straight Connector 18"/>
          <p:cNvCxnSpPr>
            <a:stCxn id="6" idx="1"/>
            <a:endCxn id="5" idx="3"/>
          </p:cNvCxnSpPr>
          <p:nvPr/>
        </p:nvCxnSpPr>
        <p:spPr bwMode="auto">
          <a:xfrm flipH="1">
            <a:off x="2807802" y="1692052"/>
            <a:ext cx="490144" cy="0"/>
          </a:xfrm>
          <a:prstGeom prst="line">
            <a:avLst/>
          </a:prstGeom>
          <a:solidFill>
            <a:schemeClr val="accent1"/>
          </a:solidFill>
          <a:ln w="25400" cap="flat" cmpd="sng" algn="ctr">
            <a:solidFill>
              <a:schemeClr val="tx1"/>
            </a:solidFill>
            <a:prstDash val="solid"/>
            <a:round/>
            <a:headEnd type="none" w="med" len="med"/>
            <a:tailEnd type="arrow" w="lg" len="lg"/>
          </a:ln>
          <a:effectLst/>
        </p:spPr>
      </p:cxnSp>
      <p:grpSp>
        <p:nvGrpSpPr>
          <p:cNvPr id="20" name="Group 19"/>
          <p:cNvGrpSpPr/>
          <p:nvPr/>
        </p:nvGrpSpPr>
        <p:grpSpPr>
          <a:xfrm rot="10800000">
            <a:off x="5103082" y="1545583"/>
            <a:ext cx="557421" cy="288032"/>
            <a:chOff x="2324827" y="1556792"/>
            <a:chExt cx="1167053" cy="288032"/>
          </a:xfrm>
        </p:grpSpPr>
        <p:cxnSp>
          <p:nvCxnSpPr>
            <p:cNvPr id="21" name="Straight Connector 20"/>
            <p:cNvCxnSpPr/>
            <p:nvPr/>
          </p:nvCxnSpPr>
          <p:spPr bwMode="auto">
            <a:xfrm>
              <a:off x="2418302" y="1628800"/>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2" name="Straight Connector 21"/>
            <p:cNvCxnSpPr/>
            <p:nvPr/>
          </p:nvCxnSpPr>
          <p:spPr bwMode="auto">
            <a:xfrm>
              <a:off x="2418302" y="1771999"/>
              <a:ext cx="1073578" cy="8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3" name="Straight Connector 22"/>
            <p:cNvCxnSpPr/>
            <p:nvPr/>
          </p:nvCxnSpPr>
          <p:spPr bwMode="auto">
            <a:xfrm flipV="1">
              <a:off x="2324827" y="1556792"/>
              <a:ext cx="167579" cy="166868"/>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24" name="Straight Connector 23"/>
            <p:cNvCxnSpPr/>
            <p:nvPr/>
          </p:nvCxnSpPr>
          <p:spPr bwMode="auto">
            <a:xfrm>
              <a:off x="2344198" y="1691235"/>
              <a:ext cx="148208" cy="153589"/>
            </a:xfrm>
            <a:prstGeom prst="line">
              <a:avLst/>
            </a:prstGeom>
            <a:solidFill>
              <a:schemeClr val="accent1"/>
            </a:solidFill>
            <a:ln w="25400" cap="flat" cmpd="sng" algn="ctr">
              <a:solidFill>
                <a:schemeClr val="tx1"/>
              </a:solidFill>
              <a:prstDash val="solid"/>
              <a:round/>
              <a:headEnd type="none" w="lg" len="lg"/>
              <a:tailEnd type="none" w="lg" len="lg"/>
            </a:ln>
            <a:effectLst/>
          </p:spPr>
        </p:cxnSp>
      </p:grpSp>
      <p:sp>
        <p:nvSpPr>
          <p:cNvPr id="27" name="Title 1"/>
          <p:cNvSpPr>
            <a:spLocks noGrp="1"/>
          </p:cNvSpPr>
          <p:nvPr>
            <p:ph type="title"/>
          </p:nvPr>
        </p:nvSpPr>
        <p:spPr>
          <a:xfrm>
            <a:off x="457200" y="277813"/>
            <a:ext cx="8229600" cy="1139825"/>
          </a:xfrm>
        </p:spPr>
        <p:txBody>
          <a:bodyPr>
            <a:normAutofit/>
          </a:bodyPr>
          <a:lstStyle/>
          <a:p>
            <a:r>
              <a:rPr lang="en-US" dirty="0"/>
              <a:t>One-to-One Relationship </a:t>
            </a:r>
            <a:r>
              <a:rPr lang="en-US" dirty="0">
                <a:sym typeface="Wingdings" pitchFamily="2" charset="2"/>
              </a:rPr>
              <a:t> Table</a:t>
            </a:r>
            <a:endParaRPr lang="en-SG" dirty="0"/>
          </a:p>
        </p:txBody>
      </p:sp>
      <p:sp>
        <p:nvSpPr>
          <p:cNvPr id="28" name="Oval 25"/>
          <p:cNvSpPr>
            <a:spLocks noChangeArrowheads="1"/>
          </p:cNvSpPr>
          <p:nvPr/>
        </p:nvSpPr>
        <p:spPr bwMode="auto">
          <a:xfrm>
            <a:off x="4787969" y="2206431"/>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600" b="1" dirty="0">
                <a:latin typeface="Calibri" pitchFamily="34" charset="0"/>
              </a:rPr>
              <a:t>since</a:t>
            </a:r>
          </a:p>
        </p:txBody>
      </p:sp>
      <p:sp>
        <p:nvSpPr>
          <p:cNvPr id="29" name="Line 39"/>
          <p:cNvSpPr>
            <a:spLocks noChangeShapeType="1"/>
          </p:cNvSpPr>
          <p:nvPr/>
        </p:nvSpPr>
        <p:spPr bwMode="auto">
          <a:xfrm>
            <a:off x="4282332" y="2187352"/>
            <a:ext cx="505637" cy="30216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Tree>
    <p:extLst>
      <p:ext uri="{BB962C8B-B14F-4D97-AF65-F5344CB8AC3E}">
        <p14:creationId xmlns:p14="http://schemas.microsoft.com/office/powerpoint/2010/main" val="33148552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 </a:t>
            </a:r>
            <a:r>
              <a:rPr lang="en-US" dirty="0">
                <a:sym typeface="Wingdings" pitchFamily="2" charset="2"/>
              </a:rPr>
              <a:t> Tables</a:t>
            </a:r>
            <a:endParaRPr lang="en-SG" dirty="0"/>
          </a:p>
        </p:txBody>
      </p:sp>
      <p:sp>
        <p:nvSpPr>
          <p:cNvPr id="3" name="Content Placeholder 2"/>
          <p:cNvSpPr>
            <a:spLocks noGrp="1"/>
          </p:cNvSpPr>
          <p:nvPr>
            <p:ph idx="1"/>
          </p:nvPr>
        </p:nvSpPr>
        <p:spPr/>
        <p:txBody>
          <a:bodyPr/>
          <a:lstStyle/>
          <a:p>
            <a:r>
              <a:rPr lang="en-US" dirty="0"/>
              <a:t>General rules:</a:t>
            </a:r>
          </a:p>
          <a:p>
            <a:pPr lvl="1"/>
            <a:r>
              <a:rPr lang="en-US" dirty="0"/>
              <a:t>Each entity set becomes a table</a:t>
            </a:r>
          </a:p>
          <a:p>
            <a:pPr lvl="1"/>
            <a:r>
              <a:rPr lang="en-US" dirty="0"/>
              <a:t>Each many-to-many relationship becomes a table</a:t>
            </a:r>
          </a:p>
          <a:p>
            <a:r>
              <a:rPr lang="en-US" dirty="0"/>
              <a:t>Special treatment needed for:</a:t>
            </a:r>
          </a:p>
          <a:p>
            <a:pPr lvl="1"/>
            <a:r>
              <a:rPr lang="en-US" dirty="0"/>
              <a:t>Many-to-one and one-to-one relationships </a:t>
            </a:r>
          </a:p>
          <a:p>
            <a:pPr lvl="1"/>
            <a:r>
              <a:rPr lang="en-US" dirty="0">
                <a:solidFill>
                  <a:srgbClr val="C00000"/>
                </a:solidFill>
              </a:rPr>
              <a:t>Weak entity sets</a:t>
            </a:r>
          </a:p>
          <a:p>
            <a:pPr lvl="1"/>
            <a:r>
              <a:rPr lang="en-US" dirty="0">
                <a:solidFill>
                  <a:srgbClr val="C00000"/>
                </a:solidFill>
              </a:rPr>
              <a:t>Subclasses</a:t>
            </a:r>
            <a:endParaRPr lang="en-SG" dirty="0">
              <a:solidFill>
                <a:srgbClr val="C00000"/>
              </a:solidFill>
            </a:endParaRPr>
          </a:p>
          <a:p>
            <a:pPr lvl="1"/>
            <a:endParaRPr lang="en-SG" dirty="0"/>
          </a:p>
        </p:txBody>
      </p:sp>
    </p:spTree>
    <p:extLst>
      <p:ext uri="{BB962C8B-B14F-4D97-AF65-F5344CB8AC3E}">
        <p14:creationId xmlns:p14="http://schemas.microsoft.com/office/powerpoint/2010/main" val="12811998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Weak Entity Set </a:t>
            </a:r>
            <a:r>
              <a:rPr lang="en-US" dirty="0">
                <a:sym typeface="Wingdings" pitchFamily="2" charset="2"/>
              </a:rPr>
              <a:t> Table</a:t>
            </a:r>
            <a:endParaRPr lang="en-SG" dirty="0"/>
          </a:p>
        </p:txBody>
      </p:sp>
      <p:sp>
        <p:nvSpPr>
          <p:cNvPr id="3" name="Content Placeholder 2"/>
          <p:cNvSpPr>
            <a:spLocks noGrp="1"/>
          </p:cNvSpPr>
          <p:nvPr>
            <p:ph idx="1"/>
          </p:nvPr>
        </p:nvSpPr>
        <p:spPr>
          <a:xfrm>
            <a:off x="457200" y="2780928"/>
            <a:ext cx="8229600" cy="2160240"/>
          </a:xfrm>
        </p:spPr>
        <p:txBody>
          <a:bodyPr>
            <a:normAutofit fontScale="92500" lnSpcReduction="10000"/>
          </a:bodyPr>
          <a:lstStyle/>
          <a:p>
            <a:r>
              <a:rPr lang="en-US" dirty="0"/>
              <a:t>Each weak entity set is converted to a table that contains </a:t>
            </a:r>
          </a:p>
          <a:p>
            <a:pPr lvl="1"/>
            <a:r>
              <a:rPr lang="en-US" dirty="0"/>
              <a:t>all of its attributes, and</a:t>
            </a:r>
          </a:p>
          <a:p>
            <a:pPr lvl="1"/>
            <a:r>
              <a:rPr lang="en-US" dirty="0"/>
              <a:t>the key attributes of the supporting entity set</a:t>
            </a:r>
          </a:p>
          <a:p>
            <a:r>
              <a:rPr lang="en-US" dirty="0"/>
              <a:t>The supporting relationship is ignored</a:t>
            </a:r>
            <a:endParaRPr lang="en-SG" dirty="0"/>
          </a:p>
          <a:p>
            <a:endParaRPr lang="en-SG" dirty="0"/>
          </a:p>
        </p:txBody>
      </p:sp>
      <p:sp>
        <p:nvSpPr>
          <p:cNvPr id="4" name="Rectangle 3"/>
          <p:cNvSpPr>
            <a:spLocks noChangeArrowheads="1"/>
          </p:cNvSpPr>
          <p:nvPr/>
        </p:nvSpPr>
        <p:spPr bwMode="auto">
          <a:xfrm>
            <a:off x="2267744" y="1375077"/>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Cities</a:t>
            </a:r>
          </a:p>
        </p:txBody>
      </p:sp>
      <p:sp>
        <p:nvSpPr>
          <p:cNvPr id="5" name="Oval 25"/>
          <p:cNvSpPr>
            <a:spLocks noChangeArrowheads="1"/>
          </p:cNvSpPr>
          <p:nvPr/>
        </p:nvSpPr>
        <p:spPr bwMode="auto">
          <a:xfrm>
            <a:off x="738049" y="980728"/>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name</a:t>
            </a:r>
          </a:p>
        </p:txBody>
      </p:sp>
      <p:cxnSp>
        <p:nvCxnSpPr>
          <p:cNvPr id="6" name="Straight Connector 5"/>
          <p:cNvCxnSpPr>
            <a:stCxn id="5" idx="6"/>
            <a:endCxn id="4" idx="1"/>
          </p:cNvCxnSpPr>
          <p:nvPr/>
        </p:nvCxnSpPr>
        <p:spPr bwMode="auto">
          <a:xfrm>
            <a:off x="1881049" y="1266478"/>
            <a:ext cx="386695" cy="565799"/>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7" name="Oval 25"/>
          <p:cNvSpPr>
            <a:spLocks noChangeArrowheads="1"/>
          </p:cNvSpPr>
          <p:nvPr/>
        </p:nvSpPr>
        <p:spPr bwMode="auto">
          <a:xfrm>
            <a:off x="179512" y="1954564"/>
            <a:ext cx="194240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population</a:t>
            </a:r>
          </a:p>
        </p:txBody>
      </p:sp>
      <p:cxnSp>
        <p:nvCxnSpPr>
          <p:cNvPr id="8" name="Straight Connector 7"/>
          <p:cNvCxnSpPr>
            <a:stCxn id="7" idx="6"/>
            <a:endCxn id="4" idx="1"/>
          </p:cNvCxnSpPr>
          <p:nvPr/>
        </p:nvCxnSpPr>
        <p:spPr bwMode="auto">
          <a:xfrm flipV="1">
            <a:off x="2121921" y="1832277"/>
            <a:ext cx="145823" cy="408037"/>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9" name="Rectangle 8"/>
          <p:cNvSpPr>
            <a:spLocks noChangeArrowheads="1"/>
          </p:cNvSpPr>
          <p:nvPr/>
        </p:nvSpPr>
        <p:spPr bwMode="auto">
          <a:xfrm>
            <a:off x="2347449" y="1445786"/>
            <a:ext cx="977265" cy="781812"/>
          </a:xfrm>
          <a:prstGeom prst="rect">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sp>
        <p:nvSpPr>
          <p:cNvPr id="10" name="Rectangle 3"/>
          <p:cNvSpPr>
            <a:spLocks noChangeArrowheads="1"/>
          </p:cNvSpPr>
          <p:nvPr/>
        </p:nvSpPr>
        <p:spPr bwMode="auto">
          <a:xfrm>
            <a:off x="6021288" y="1423935"/>
            <a:ext cx="1143000"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States</a:t>
            </a:r>
          </a:p>
        </p:txBody>
      </p:sp>
      <p:sp>
        <p:nvSpPr>
          <p:cNvPr id="11" name="Oval 25"/>
          <p:cNvSpPr>
            <a:spLocks noChangeArrowheads="1"/>
          </p:cNvSpPr>
          <p:nvPr/>
        </p:nvSpPr>
        <p:spPr bwMode="auto">
          <a:xfrm>
            <a:off x="7452320" y="1068459"/>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name</a:t>
            </a:r>
          </a:p>
        </p:txBody>
      </p:sp>
      <p:cxnSp>
        <p:nvCxnSpPr>
          <p:cNvPr id="12" name="Straight Connector 11"/>
          <p:cNvCxnSpPr>
            <a:stCxn id="11" idx="2"/>
            <a:endCxn id="10" idx="3"/>
          </p:cNvCxnSpPr>
          <p:nvPr/>
        </p:nvCxnSpPr>
        <p:spPr bwMode="auto">
          <a:xfrm flipH="1">
            <a:off x="7164288" y="1354209"/>
            <a:ext cx="288032" cy="526926"/>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3" name="Oval 25"/>
          <p:cNvSpPr>
            <a:spLocks noChangeArrowheads="1"/>
          </p:cNvSpPr>
          <p:nvPr/>
        </p:nvSpPr>
        <p:spPr bwMode="auto">
          <a:xfrm>
            <a:off x="7452320" y="1860547"/>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GDP</a:t>
            </a:r>
          </a:p>
        </p:txBody>
      </p:sp>
      <p:cxnSp>
        <p:nvCxnSpPr>
          <p:cNvPr id="14" name="Straight Connector 13"/>
          <p:cNvCxnSpPr>
            <a:stCxn id="13" idx="2"/>
            <a:endCxn id="10" idx="3"/>
          </p:cNvCxnSpPr>
          <p:nvPr/>
        </p:nvCxnSpPr>
        <p:spPr bwMode="auto">
          <a:xfrm flipH="1" flipV="1">
            <a:off x="7164288" y="1881135"/>
            <a:ext cx="288032" cy="265162"/>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5" name="AutoShape 10"/>
          <p:cNvSpPr>
            <a:spLocks noChangeArrowheads="1"/>
          </p:cNvSpPr>
          <p:nvPr/>
        </p:nvSpPr>
        <p:spPr bwMode="auto">
          <a:xfrm>
            <a:off x="3923928" y="1442521"/>
            <a:ext cx="1584176" cy="868660"/>
          </a:xfrm>
          <a:prstGeom prst="diamond">
            <a:avLst/>
          </a:prstGeom>
          <a:solidFill>
            <a:srgbClr val="CCFF99"/>
          </a:solidFill>
          <a:ln w="25400">
            <a:solidFill>
              <a:schemeClr val="tx1"/>
            </a:solidFill>
            <a:miter lim="800000"/>
            <a:headEnd/>
            <a:tailEnd/>
          </a:ln>
          <a:effectLst/>
        </p:spPr>
        <p:txBody>
          <a:bodyPr wrap="none" anchor="ctr"/>
          <a:lstStyle/>
          <a:p>
            <a:pPr algn="ctr"/>
            <a:r>
              <a:rPr lang="en-US" sz="2800" b="1" dirty="0">
                <a:latin typeface="Calibri" pitchFamily="34" charset="0"/>
              </a:rPr>
              <a:t>In</a:t>
            </a:r>
          </a:p>
        </p:txBody>
      </p:sp>
      <p:sp>
        <p:nvSpPr>
          <p:cNvPr id="16" name="AutoShape 10"/>
          <p:cNvSpPr>
            <a:spLocks noChangeArrowheads="1"/>
          </p:cNvSpPr>
          <p:nvPr/>
        </p:nvSpPr>
        <p:spPr bwMode="auto">
          <a:xfrm>
            <a:off x="4076329" y="1519093"/>
            <a:ext cx="1267341" cy="694928"/>
          </a:xfrm>
          <a:prstGeom prst="diamond">
            <a:avLst/>
          </a:prstGeom>
          <a:noFill/>
          <a:ln w="25400">
            <a:solidFill>
              <a:schemeClr val="tx1"/>
            </a:solidFill>
            <a:miter lim="800000"/>
            <a:headEnd/>
            <a:tailEnd/>
          </a:ln>
          <a:effectLst/>
        </p:spPr>
        <p:txBody>
          <a:bodyPr wrap="none" anchor="ctr"/>
          <a:lstStyle/>
          <a:p>
            <a:pPr algn="ctr"/>
            <a:endParaRPr lang="en-US" sz="2400" dirty="0">
              <a:latin typeface="Comic Sans MS" pitchFamily="66" charset="0"/>
            </a:endParaRPr>
          </a:p>
        </p:txBody>
      </p:sp>
      <p:cxnSp>
        <p:nvCxnSpPr>
          <p:cNvPr id="17" name="Straight Connector 16"/>
          <p:cNvCxnSpPr/>
          <p:nvPr/>
        </p:nvCxnSpPr>
        <p:spPr bwMode="auto">
          <a:xfrm flipV="1">
            <a:off x="3410744" y="1772816"/>
            <a:ext cx="665585" cy="2282"/>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18" name="Line 17"/>
          <p:cNvSpPr>
            <a:spLocks noChangeShapeType="1"/>
          </p:cNvSpPr>
          <p:nvPr/>
        </p:nvSpPr>
        <p:spPr bwMode="auto">
          <a:xfrm flipH="1">
            <a:off x="5508104" y="1876851"/>
            <a:ext cx="513184" cy="1141"/>
          </a:xfrm>
          <a:prstGeom prst="line">
            <a:avLst/>
          </a:prstGeom>
          <a:noFill/>
          <a:ln w="31750">
            <a:solidFill>
              <a:schemeClr val="tx1"/>
            </a:solidFill>
            <a:round/>
            <a:headEnd type="arrow"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graphicFrame>
        <p:nvGraphicFramePr>
          <p:cNvPr id="24" name="Table 23"/>
          <p:cNvGraphicFramePr>
            <a:graphicFrameLocks noGrp="1"/>
          </p:cNvGraphicFramePr>
          <p:nvPr>
            <p:extLst>
              <p:ext uri="{D42A27DB-BD31-4B8C-83A1-F6EECF244321}">
                <p14:modId xmlns:p14="http://schemas.microsoft.com/office/powerpoint/2010/main" val="3615525036"/>
              </p:ext>
            </p:extLst>
          </p:nvPr>
        </p:nvGraphicFramePr>
        <p:xfrm>
          <a:off x="2339752" y="5167848"/>
          <a:ext cx="4968552" cy="914400"/>
        </p:xfrm>
        <a:graphic>
          <a:graphicData uri="http://schemas.openxmlformats.org/drawingml/2006/table">
            <a:tbl>
              <a:tblPr firstRow="1" bandRow="1">
                <a:tableStyleId>{5C22544A-7EE6-4342-B048-85BDC9FD1C3A}</a:tableStyleId>
              </a:tblPr>
              <a:tblGrid>
                <a:gridCol w="1728192">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tblGrid>
              <a:tr h="370840">
                <a:tc>
                  <a:txBody>
                    <a:bodyPr/>
                    <a:lstStyle/>
                    <a:p>
                      <a:pPr algn="ctr"/>
                      <a:r>
                        <a:rPr lang="en-US" sz="2400" u="sng" dirty="0">
                          <a:latin typeface="Calibri" pitchFamily="34" charset="0"/>
                        </a:rPr>
                        <a:t>state-name</a:t>
                      </a:r>
                      <a:endParaRPr lang="en-SG" sz="2400" u="sng" dirty="0">
                        <a:latin typeface="Calibri" pitchFamily="34" charset="0"/>
                      </a:endParaRPr>
                    </a:p>
                  </a:txBody>
                  <a:tcPr/>
                </a:tc>
                <a:tc>
                  <a:txBody>
                    <a:bodyPr/>
                    <a:lstStyle/>
                    <a:p>
                      <a:pPr algn="ctr"/>
                      <a:r>
                        <a:rPr lang="en-US" sz="2400" u="sng" dirty="0">
                          <a:latin typeface="Calibri" pitchFamily="34" charset="0"/>
                        </a:rPr>
                        <a:t>city-name</a:t>
                      </a:r>
                      <a:endParaRPr lang="en-SG" sz="2400" u="sng" dirty="0">
                        <a:latin typeface="Calibri" pitchFamily="34" charset="0"/>
                      </a:endParaRPr>
                    </a:p>
                  </a:txBody>
                  <a:tcPr/>
                </a:tc>
                <a:tc>
                  <a:txBody>
                    <a:bodyPr/>
                    <a:lstStyle/>
                    <a:p>
                      <a:pPr algn="ctr"/>
                      <a:r>
                        <a:rPr lang="en-US" sz="2400" dirty="0">
                          <a:latin typeface="Calibri" pitchFamily="34" charset="0"/>
                        </a:rPr>
                        <a:t>population</a:t>
                      </a:r>
                      <a:endParaRPr lang="en-SG" sz="2400" dirty="0">
                        <a:latin typeface="Calibri" pitchFamily="34" charset="0"/>
                      </a:endParaRPr>
                    </a:p>
                  </a:txBody>
                  <a:tcPr/>
                </a:tc>
                <a:extLst>
                  <a:ext uri="{0D108BD9-81ED-4DB2-BD59-A6C34878D82A}">
                    <a16:rowId xmlns:a16="http://schemas.microsoft.com/office/drawing/2014/main" val="10000"/>
                  </a:ext>
                </a:extLst>
              </a:tr>
              <a:tr h="370840">
                <a:tc>
                  <a:txBody>
                    <a:bodyPr/>
                    <a:lstStyle/>
                    <a:p>
                      <a:pPr algn="ctr"/>
                      <a:r>
                        <a:rPr lang="en-US" sz="2400" dirty="0">
                          <a:latin typeface="Calibri" pitchFamily="34" charset="0"/>
                        </a:rPr>
                        <a:t>…</a:t>
                      </a:r>
                      <a:endParaRPr lang="en-SG" sz="2400" dirty="0">
                        <a:latin typeface="Calibri" pitchFamily="34" charset="0"/>
                      </a:endParaRPr>
                    </a:p>
                  </a:txBody>
                  <a:tcPr/>
                </a:tc>
                <a:tc>
                  <a:txBody>
                    <a:bodyPr/>
                    <a:lstStyle/>
                    <a:p>
                      <a:pPr algn="ctr"/>
                      <a:r>
                        <a:rPr lang="en-US" sz="2400" dirty="0">
                          <a:latin typeface="Calibri" pitchFamily="34" charset="0"/>
                        </a:rPr>
                        <a:t>…</a:t>
                      </a:r>
                      <a:endParaRPr lang="en-SG" sz="2400" dirty="0">
                        <a:latin typeface="Calibri" pitchFamily="34" charset="0"/>
                      </a:endParaRPr>
                    </a:p>
                  </a:txBody>
                  <a:tcPr/>
                </a:tc>
                <a:tc>
                  <a:txBody>
                    <a:bodyPr/>
                    <a:lstStyle/>
                    <a:p>
                      <a:pPr algn="ctr"/>
                      <a:r>
                        <a:rPr lang="en-US" sz="2400" dirty="0">
                          <a:latin typeface="Calibri" pitchFamily="34" charset="0"/>
                        </a:rPr>
                        <a:t>…</a:t>
                      </a:r>
                    </a:p>
                  </a:txBody>
                  <a:tcPr/>
                </a:tc>
                <a:extLst>
                  <a:ext uri="{0D108BD9-81ED-4DB2-BD59-A6C34878D82A}">
                    <a16:rowId xmlns:a16="http://schemas.microsoft.com/office/drawing/2014/main" val="10001"/>
                  </a:ext>
                </a:extLst>
              </a:tr>
            </a:tbl>
          </a:graphicData>
        </a:graphic>
      </p:graphicFrame>
      <p:sp>
        <p:nvSpPr>
          <p:cNvPr id="25" name="TextBox 24"/>
          <p:cNvSpPr txBox="1"/>
          <p:nvPr/>
        </p:nvSpPr>
        <p:spPr>
          <a:xfrm>
            <a:off x="1078986" y="5229200"/>
            <a:ext cx="1188758" cy="553998"/>
          </a:xfrm>
          <a:prstGeom prst="rect">
            <a:avLst/>
          </a:prstGeom>
          <a:solidFill>
            <a:schemeClr val="bg1"/>
          </a:solidFill>
          <a:ln w="25400">
            <a:solidFill>
              <a:schemeClr val="accent1"/>
            </a:solidFill>
          </a:ln>
        </p:spPr>
        <p:txBody>
          <a:bodyPr wrap="square" rtlCol="0">
            <a:spAutoFit/>
          </a:bodyPr>
          <a:lstStyle/>
          <a:p>
            <a:r>
              <a:rPr lang="en-US" sz="3000" b="1" dirty="0">
                <a:latin typeface="Calibri" pitchFamily="34" charset="0"/>
              </a:rPr>
              <a:t>Cities</a:t>
            </a:r>
            <a:endParaRPr lang="en-SG" sz="3000" b="1" dirty="0">
              <a:latin typeface="Calibri" pitchFamily="34" charset="0"/>
            </a:endParaRPr>
          </a:p>
        </p:txBody>
      </p:sp>
      <p:cxnSp>
        <p:nvCxnSpPr>
          <p:cNvPr id="23" name="Straight Connector 22"/>
          <p:cNvCxnSpPr/>
          <p:nvPr/>
        </p:nvCxnSpPr>
        <p:spPr bwMode="auto">
          <a:xfrm flipV="1">
            <a:off x="3419872" y="1986558"/>
            <a:ext cx="665585" cy="2282"/>
          </a:xfrm>
          <a:prstGeom prst="line">
            <a:avLst/>
          </a:prstGeom>
          <a:solidFill>
            <a:schemeClr val="accent1"/>
          </a:solidFill>
          <a:ln w="25400" cap="flat" cmpd="sng" algn="ctr">
            <a:solidFill>
              <a:schemeClr val="tx1"/>
            </a:solidFill>
            <a:prstDash val="solid"/>
            <a:round/>
            <a:headEnd type="none" w="lg" len="lg"/>
            <a:tailEnd type="none" w="lg" len="lg"/>
          </a:ln>
          <a:effectLst/>
        </p:spPr>
      </p:cxnSp>
    </p:spTree>
    <p:extLst>
      <p:ext uri="{BB962C8B-B14F-4D97-AF65-F5344CB8AC3E}">
        <p14:creationId xmlns:p14="http://schemas.microsoft.com/office/powerpoint/2010/main" val="333873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0" grpId="0" animBg="1"/>
      <p:bldP spid="11" grpId="0" animBg="1"/>
      <p:bldP spid="13" grpId="0" animBg="1"/>
      <p:bldP spid="15" grpId="0" animBg="1"/>
      <p:bldP spid="16" grpId="0" animBg="1"/>
      <p:bldP spid="18" grpId="0" animBg="1"/>
      <p:bldP spid="2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Subclass </a:t>
            </a:r>
            <a:r>
              <a:rPr lang="en-US" dirty="0">
                <a:sym typeface="Wingdings" pitchFamily="2" charset="2"/>
              </a:rPr>
              <a:t> Relation</a:t>
            </a:r>
            <a:endParaRPr lang="en-SG" dirty="0"/>
          </a:p>
        </p:txBody>
      </p:sp>
      <p:sp>
        <p:nvSpPr>
          <p:cNvPr id="3" name="Content Placeholder 2"/>
          <p:cNvSpPr>
            <a:spLocks noGrp="1"/>
          </p:cNvSpPr>
          <p:nvPr>
            <p:ph idx="1"/>
          </p:nvPr>
        </p:nvSpPr>
        <p:spPr>
          <a:xfrm>
            <a:off x="457200" y="3573016"/>
            <a:ext cx="8229600" cy="2557909"/>
          </a:xfrm>
        </p:spPr>
        <p:txBody>
          <a:bodyPr/>
          <a:lstStyle/>
          <a:p>
            <a:r>
              <a:rPr lang="en-US" dirty="0"/>
              <a:t>There are three different ways</a:t>
            </a:r>
          </a:p>
          <a:p>
            <a:pPr lvl="1"/>
            <a:r>
              <a:rPr lang="en-US" dirty="0"/>
              <a:t>The ER approach</a:t>
            </a:r>
          </a:p>
          <a:p>
            <a:pPr lvl="1"/>
            <a:r>
              <a:rPr lang="en-US" dirty="0"/>
              <a:t>The OO approach</a:t>
            </a:r>
          </a:p>
          <a:p>
            <a:pPr lvl="1"/>
            <a:r>
              <a:rPr lang="en-US" dirty="0"/>
              <a:t>The NULL approach</a:t>
            </a:r>
          </a:p>
          <a:p>
            <a:pPr lvl="1"/>
            <a:endParaRPr lang="en-SG" dirty="0"/>
          </a:p>
        </p:txBody>
      </p:sp>
      <p:sp>
        <p:nvSpPr>
          <p:cNvPr id="14" name="Rectangle 13"/>
          <p:cNvSpPr>
            <a:spLocks noChangeArrowheads="1"/>
          </p:cNvSpPr>
          <p:nvPr/>
        </p:nvSpPr>
        <p:spPr bwMode="auto">
          <a:xfrm>
            <a:off x="2483768" y="1139046"/>
            <a:ext cx="129614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Cartoon</a:t>
            </a:r>
          </a:p>
        </p:txBody>
      </p:sp>
      <p:sp>
        <p:nvSpPr>
          <p:cNvPr id="15" name="Oval 25"/>
          <p:cNvSpPr>
            <a:spLocks noChangeArrowheads="1"/>
          </p:cNvSpPr>
          <p:nvPr/>
        </p:nvSpPr>
        <p:spPr bwMode="auto">
          <a:xfrm>
            <a:off x="899591" y="1310496"/>
            <a:ext cx="122232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Is_3D</a:t>
            </a:r>
          </a:p>
        </p:txBody>
      </p:sp>
      <p:cxnSp>
        <p:nvCxnSpPr>
          <p:cNvPr id="16" name="Straight Connector 15"/>
          <p:cNvCxnSpPr>
            <a:stCxn id="15" idx="6"/>
            <a:endCxn id="14" idx="1"/>
          </p:cNvCxnSpPr>
          <p:nvPr/>
        </p:nvCxnSpPr>
        <p:spPr bwMode="auto">
          <a:xfrm>
            <a:off x="2121920" y="1596246"/>
            <a:ext cx="36184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7" name="Rectangle 3"/>
          <p:cNvSpPr>
            <a:spLocks noChangeArrowheads="1"/>
          </p:cNvSpPr>
          <p:nvPr/>
        </p:nvSpPr>
        <p:spPr bwMode="auto">
          <a:xfrm>
            <a:off x="5652120" y="1139046"/>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Movies</a:t>
            </a:r>
          </a:p>
        </p:txBody>
      </p:sp>
      <p:sp>
        <p:nvSpPr>
          <p:cNvPr id="18" name="Oval 25"/>
          <p:cNvSpPr>
            <a:spLocks noChangeArrowheads="1"/>
          </p:cNvSpPr>
          <p:nvPr/>
        </p:nvSpPr>
        <p:spPr bwMode="auto">
          <a:xfrm>
            <a:off x="7452320" y="8367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9" name="Straight Connector 18"/>
          <p:cNvCxnSpPr>
            <a:stCxn id="18" idx="2"/>
            <a:endCxn id="17" idx="3"/>
          </p:cNvCxnSpPr>
          <p:nvPr/>
        </p:nvCxnSpPr>
        <p:spPr bwMode="auto">
          <a:xfrm flipH="1">
            <a:off x="7020272" y="1122462"/>
            <a:ext cx="432048"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0" name="Oval 25"/>
          <p:cNvSpPr>
            <a:spLocks noChangeArrowheads="1"/>
          </p:cNvSpPr>
          <p:nvPr/>
        </p:nvSpPr>
        <p:spPr bwMode="auto">
          <a:xfrm>
            <a:off x="7452320" y="1628800"/>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21" name="Straight Connector 20"/>
          <p:cNvCxnSpPr>
            <a:stCxn id="20" idx="2"/>
            <a:endCxn id="17" idx="3"/>
          </p:cNvCxnSpPr>
          <p:nvPr/>
        </p:nvCxnSpPr>
        <p:spPr bwMode="auto">
          <a:xfrm flipH="1" flipV="1">
            <a:off x="7020272" y="1596246"/>
            <a:ext cx="432048"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2" name="Straight Connector 21"/>
          <p:cNvCxnSpPr>
            <a:stCxn id="14" idx="3"/>
            <a:endCxn id="17" idx="1"/>
          </p:cNvCxnSpPr>
          <p:nvPr/>
        </p:nvCxnSpPr>
        <p:spPr bwMode="auto">
          <a:xfrm>
            <a:off x="3779912" y="1596246"/>
            <a:ext cx="1872208"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3" name="Isosceles Triangle 22"/>
          <p:cNvSpPr/>
          <p:nvPr/>
        </p:nvSpPr>
        <p:spPr bwMode="auto">
          <a:xfrm rot="5400000">
            <a:off x="4311871" y="1069408"/>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24" name="Rectangle 23"/>
          <p:cNvSpPr>
            <a:spLocks noChangeArrowheads="1"/>
          </p:cNvSpPr>
          <p:nvPr/>
        </p:nvSpPr>
        <p:spPr bwMode="auto">
          <a:xfrm>
            <a:off x="2492896" y="2294012"/>
            <a:ext cx="12870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Sci-Fi</a:t>
            </a:r>
          </a:p>
        </p:txBody>
      </p:sp>
      <p:cxnSp>
        <p:nvCxnSpPr>
          <p:cNvPr id="25" name="Straight Connector 24"/>
          <p:cNvCxnSpPr>
            <a:stCxn id="24" idx="3"/>
            <a:endCxn id="26" idx="3"/>
          </p:cNvCxnSpPr>
          <p:nvPr/>
        </p:nvCxnSpPr>
        <p:spPr bwMode="auto">
          <a:xfrm flipV="1">
            <a:off x="3779912" y="2743339"/>
            <a:ext cx="432048" cy="787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6" name="Isosceles Triangle 25"/>
          <p:cNvSpPr/>
          <p:nvPr/>
        </p:nvSpPr>
        <p:spPr bwMode="auto">
          <a:xfrm rot="5400000">
            <a:off x="4311871" y="2224374"/>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28" name="Straight Connector 27"/>
          <p:cNvCxnSpPr>
            <a:stCxn id="26" idx="0"/>
          </p:cNvCxnSpPr>
          <p:nvPr/>
        </p:nvCxnSpPr>
        <p:spPr bwMode="auto">
          <a:xfrm flipV="1">
            <a:off x="5249889" y="2053446"/>
            <a:ext cx="474239" cy="68989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5" name="Oval 25"/>
          <p:cNvSpPr>
            <a:spLocks noChangeArrowheads="1"/>
          </p:cNvSpPr>
          <p:nvPr/>
        </p:nvSpPr>
        <p:spPr bwMode="auto">
          <a:xfrm>
            <a:off x="325335" y="2420888"/>
            <a:ext cx="194240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err="1">
                <a:latin typeface="Calibri" pitchFamily="34" charset="0"/>
              </a:rPr>
              <a:t>Is_Adoption</a:t>
            </a:r>
            <a:endParaRPr lang="en-US" sz="2800" b="1" dirty="0">
              <a:latin typeface="Calibri" pitchFamily="34" charset="0"/>
            </a:endParaRPr>
          </a:p>
        </p:txBody>
      </p:sp>
      <p:cxnSp>
        <p:nvCxnSpPr>
          <p:cNvPr id="36" name="Straight Connector 35"/>
          <p:cNvCxnSpPr>
            <a:stCxn id="35" idx="6"/>
            <a:endCxn id="24" idx="1"/>
          </p:cNvCxnSpPr>
          <p:nvPr/>
        </p:nvCxnSpPr>
        <p:spPr bwMode="auto">
          <a:xfrm>
            <a:off x="2267744" y="2706638"/>
            <a:ext cx="225152" cy="4457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41108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ER approach</a:t>
            </a:r>
            <a:endParaRPr lang="en-SG" dirty="0"/>
          </a:p>
        </p:txBody>
      </p:sp>
      <p:sp>
        <p:nvSpPr>
          <p:cNvPr id="3" name="Content Placeholder 2"/>
          <p:cNvSpPr>
            <a:spLocks noGrp="1"/>
          </p:cNvSpPr>
          <p:nvPr>
            <p:ph idx="1"/>
          </p:nvPr>
        </p:nvSpPr>
        <p:spPr>
          <a:xfrm>
            <a:off x="457200" y="3573016"/>
            <a:ext cx="8229600" cy="2557909"/>
          </a:xfrm>
        </p:spPr>
        <p:txBody>
          <a:bodyPr>
            <a:normAutofit/>
          </a:bodyPr>
          <a:lstStyle/>
          <a:p>
            <a:r>
              <a:rPr lang="en-US" dirty="0"/>
              <a:t>One relation for each entity set</a:t>
            </a:r>
          </a:p>
          <a:p>
            <a:pPr lvl="1"/>
            <a:r>
              <a:rPr lang="en-US" dirty="0"/>
              <a:t>Movies( </a:t>
            </a:r>
            <a:r>
              <a:rPr lang="en-US" u="sng" dirty="0"/>
              <a:t>ID</a:t>
            </a:r>
            <a:r>
              <a:rPr lang="en-US" dirty="0"/>
              <a:t>, name )</a:t>
            </a:r>
          </a:p>
          <a:p>
            <a:pPr lvl="1"/>
            <a:r>
              <a:rPr lang="en-US" dirty="0"/>
              <a:t>Cartoon( </a:t>
            </a:r>
            <a:r>
              <a:rPr lang="en-US" u="sng" dirty="0"/>
              <a:t>ID</a:t>
            </a:r>
            <a:r>
              <a:rPr lang="en-US" dirty="0"/>
              <a:t>, Is_3D )</a:t>
            </a:r>
          </a:p>
          <a:p>
            <a:pPr lvl="1"/>
            <a:r>
              <a:rPr lang="en-US" dirty="0"/>
              <a:t>Sci-Fi( </a:t>
            </a:r>
            <a:r>
              <a:rPr lang="en-US" u="sng" dirty="0"/>
              <a:t>ID</a:t>
            </a:r>
            <a:r>
              <a:rPr lang="en-US" dirty="0"/>
              <a:t>, </a:t>
            </a:r>
            <a:r>
              <a:rPr lang="en-US" dirty="0" err="1"/>
              <a:t>Is_Adoption</a:t>
            </a:r>
            <a:r>
              <a:rPr lang="en-US" dirty="0"/>
              <a:t> )</a:t>
            </a:r>
          </a:p>
          <a:p>
            <a:r>
              <a:rPr lang="en-US" dirty="0"/>
              <a:t>A record may appear in multiple relations</a:t>
            </a:r>
          </a:p>
          <a:p>
            <a:pPr lvl="1"/>
            <a:endParaRPr lang="en-SG" dirty="0"/>
          </a:p>
        </p:txBody>
      </p:sp>
      <p:sp>
        <p:nvSpPr>
          <p:cNvPr id="14" name="Rectangle 13"/>
          <p:cNvSpPr>
            <a:spLocks noChangeArrowheads="1"/>
          </p:cNvSpPr>
          <p:nvPr/>
        </p:nvSpPr>
        <p:spPr bwMode="auto">
          <a:xfrm>
            <a:off x="2483768" y="1139046"/>
            <a:ext cx="129614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Cartoon</a:t>
            </a:r>
          </a:p>
        </p:txBody>
      </p:sp>
      <p:sp>
        <p:nvSpPr>
          <p:cNvPr id="15" name="Oval 25"/>
          <p:cNvSpPr>
            <a:spLocks noChangeArrowheads="1"/>
          </p:cNvSpPr>
          <p:nvPr/>
        </p:nvSpPr>
        <p:spPr bwMode="auto">
          <a:xfrm>
            <a:off x="899591" y="1310496"/>
            <a:ext cx="122232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Is_3D</a:t>
            </a:r>
          </a:p>
        </p:txBody>
      </p:sp>
      <p:cxnSp>
        <p:nvCxnSpPr>
          <p:cNvPr id="16" name="Straight Connector 15"/>
          <p:cNvCxnSpPr>
            <a:stCxn id="15" idx="6"/>
            <a:endCxn id="14" idx="1"/>
          </p:cNvCxnSpPr>
          <p:nvPr/>
        </p:nvCxnSpPr>
        <p:spPr bwMode="auto">
          <a:xfrm>
            <a:off x="2121920" y="1596246"/>
            <a:ext cx="36184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7" name="Rectangle 3"/>
          <p:cNvSpPr>
            <a:spLocks noChangeArrowheads="1"/>
          </p:cNvSpPr>
          <p:nvPr/>
        </p:nvSpPr>
        <p:spPr bwMode="auto">
          <a:xfrm>
            <a:off x="5652120" y="1139046"/>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Movies</a:t>
            </a:r>
          </a:p>
        </p:txBody>
      </p:sp>
      <p:sp>
        <p:nvSpPr>
          <p:cNvPr id="18" name="Oval 25"/>
          <p:cNvSpPr>
            <a:spLocks noChangeArrowheads="1"/>
          </p:cNvSpPr>
          <p:nvPr/>
        </p:nvSpPr>
        <p:spPr bwMode="auto">
          <a:xfrm>
            <a:off x="7452320" y="8367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9" name="Straight Connector 18"/>
          <p:cNvCxnSpPr>
            <a:stCxn id="18" idx="2"/>
            <a:endCxn id="17" idx="3"/>
          </p:cNvCxnSpPr>
          <p:nvPr/>
        </p:nvCxnSpPr>
        <p:spPr bwMode="auto">
          <a:xfrm flipH="1">
            <a:off x="7020272" y="1122462"/>
            <a:ext cx="432048"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0" name="Oval 25"/>
          <p:cNvSpPr>
            <a:spLocks noChangeArrowheads="1"/>
          </p:cNvSpPr>
          <p:nvPr/>
        </p:nvSpPr>
        <p:spPr bwMode="auto">
          <a:xfrm>
            <a:off x="7452320" y="1628800"/>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21" name="Straight Connector 20"/>
          <p:cNvCxnSpPr>
            <a:stCxn id="20" idx="2"/>
            <a:endCxn id="17" idx="3"/>
          </p:cNvCxnSpPr>
          <p:nvPr/>
        </p:nvCxnSpPr>
        <p:spPr bwMode="auto">
          <a:xfrm flipH="1" flipV="1">
            <a:off x="7020272" y="1596246"/>
            <a:ext cx="432048"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2" name="Straight Connector 21"/>
          <p:cNvCxnSpPr>
            <a:stCxn id="14" idx="3"/>
            <a:endCxn id="17" idx="1"/>
          </p:cNvCxnSpPr>
          <p:nvPr/>
        </p:nvCxnSpPr>
        <p:spPr bwMode="auto">
          <a:xfrm>
            <a:off x="3779912" y="1596246"/>
            <a:ext cx="1872208"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3" name="Isosceles Triangle 22"/>
          <p:cNvSpPr/>
          <p:nvPr/>
        </p:nvSpPr>
        <p:spPr bwMode="auto">
          <a:xfrm rot="5400000">
            <a:off x="4311871" y="1069408"/>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24" name="Rectangle 23"/>
          <p:cNvSpPr>
            <a:spLocks noChangeArrowheads="1"/>
          </p:cNvSpPr>
          <p:nvPr/>
        </p:nvSpPr>
        <p:spPr bwMode="auto">
          <a:xfrm>
            <a:off x="2492896" y="2294012"/>
            <a:ext cx="12870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Sci-Fi</a:t>
            </a:r>
          </a:p>
        </p:txBody>
      </p:sp>
      <p:cxnSp>
        <p:nvCxnSpPr>
          <p:cNvPr id="25" name="Straight Connector 24"/>
          <p:cNvCxnSpPr>
            <a:stCxn id="24" idx="3"/>
            <a:endCxn id="26" idx="3"/>
          </p:cNvCxnSpPr>
          <p:nvPr/>
        </p:nvCxnSpPr>
        <p:spPr bwMode="auto">
          <a:xfrm flipV="1">
            <a:off x="3779912" y="2743339"/>
            <a:ext cx="432048" cy="787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6" name="Isosceles Triangle 25"/>
          <p:cNvSpPr/>
          <p:nvPr/>
        </p:nvSpPr>
        <p:spPr bwMode="auto">
          <a:xfrm rot="5400000">
            <a:off x="4311871" y="2224374"/>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28" name="Straight Connector 27"/>
          <p:cNvCxnSpPr>
            <a:stCxn id="26" idx="0"/>
          </p:cNvCxnSpPr>
          <p:nvPr/>
        </p:nvCxnSpPr>
        <p:spPr bwMode="auto">
          <a:xfrm flipV="1">
            <a:off x="5249889" y="2053446"/>
            <a:ext cx="474239" cy="68989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5" name="Oval 25"/>
          <p:cNvSpPr>
            <a:spLocks noChangeArrowheads="1"/>
          </p:cNvSpPr>
          <p:nvPr/>
        </p:nvSpPr>
        <p:spPr bwMode="auto">
          <a:xfrm>
            <a:off x="325335" y="2420888"/>
            <a:ext cx="194240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err="1">
                <a:latin typeface="Calibri" pitchFamily="34" charset="0"/>
              </a:rPr>
              <a:t>Is_Adoption</a:t>
            </a:r>
            <a:endParaRPr lang="en-US" sz="2800" b="1" dirty="0">
              <a:latin typeface="Calibri" pitchFamily="34" charset="0"/>
            </a:endParaRPr>
          </a:p>
        </p:txBody>
      </p:sp>
      <p:cxnSp>
        <p:nvCxnSpPr>
          <p:cNvPr id="36" name="Straight Connector 35"/>
          <p:cNvCxnSpPr>
            <a:stCxn id="35" idx="6"/>
            <a:endCxn id="24" idx="1"/>
          </p:cNvCxnSpPr>
          <p:nvPr/>
        </p:nvCxnSpPr>
        <p:spPr bwMode="auto">
          <a:xfrm>
            <a:off x="2267744" y="2706638"/>
            <a:ext cx="225152" cy="4457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87097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OO approach</a:t>
            </a:r>
            <a:endParaRPr lang="en-SG" dirty="0"/>
          </a:p>
        </p:txBody>
      </p:sp>
      <p:sp>
        <p:nvSpPr>
          <p:cNvPr id="3" name="Content Placeholder 2"/>
          <p:cNvSpPr>
            <a:spLocks noGrp="1"/>
          </p:cNvSpPr>
          <p:nvPr>
            <p:ph idx="1"/>
          </p:nvPr>
        </p:nvSpPr>
        <p:spPr>
          <a:xfrm>
            <a:off x="457200" y="3429000"/>
            <a:ext cx="8229600" cy="2701925"/>
          </a:xfrm>
        </p:spPr>
        <p:txBody>
          <a:bodyPr>
            <a:normAutofit fontScale="85000" lnSpcReduction="20000"/>
          </a:bodyPr>
          <a:lstStyle/>
          <a:p>
            <a:r>
              <a:rPr lang="en-US" dirty="0"/>
              <a:t>One relation for each entity set and each </a:t>
            </a:r>
            <a:r>
              <a:rPr lang="en-US" dirty="0">
                <a:solidFill>
                  <a:srgbClr val="A50021"/>
                </a:solidFill>
              </a:rPr>
              <a:t>possible subclass combination</a:t>
            </a:r>
          </a:p>
          <a:p>
            <a:pPr lvl="1"/>
            <a:r>
              <a:rPr lang="en-US" dirty="0"/>
              <a:t>Movies( </a:t>
            </a:r>
            <a:r>
              <a:rPr lang="en-US" u="sng" dirty="0"/>
              <a:t>ID</a:t>
            </a:r>
            <a:r>
              <a:rPr lang="en-US" dirty="0"/>
              <a:t>, name )</a:t>
            </a:r>
          </a:p>
          <a:p>
            <a:pPr lvl="1"/>
            <a:r>
              <a:rPr lang="en-US" dirty="0"/>
              <a:t>Cartoon( </a:t>
            </a:r>
            <a:r>
              <a:rPr lang="en-US" u="sng" dirty="0"/>
              <a:t>ID</a:t>
            </a:r>
            <a:r>
              <a:rPr lang="en-US" dirty="0"/>
              <a:t>, name, Is_3D )</a:t>
            </a:r>
          </a:p>
          <a:p>
            <a:pPr lvl="1"/>
            <a:r>
              <a:rPr lang="en-US" dirty="0"/>
              <a:t>Sci-Fi( </a:t>
            </a:r>
            <a:r>
              <a:rPr lang="en-US" u="sng" dirty="0"/>
              <a:t>ID</a:t>
            </a:r>
            <a:r>
              <a:rPr lang="en-US" dirty="0"/>
              <a:t>, name, </a:t>
            </a:r>
            <a:r>
              <a:rPr lang="en-US" dirty="0" err="1"/>
              <a:t>Is_Adoption</a:t>
            </a:r>
            <a:r>
              <a:rPr lang="en-US" dirty="0"/>
              <a:t> )</a:t>
            </a:r>
          </a:p>
          <a:p>
            <a:pPr lvl="1"/>
            <a:r>
              <a:rPr lang="en-US" dirty="0"/>
              <a:t>Sci-Fi-Cartoon( </a:t>
            </a:r>
            <a:r>
              <a:rPr lang="en-US" u="sng" dirty="0"/>
              <a:t>ID</a:t>
            </a:r>
            <a:r>
              <a:rPr lang="en-US" dirty="0"/>
              <a:t>, name, Is_3D, </a:t>
            </a:r>
            <a:r>
              <a:rPr lang="en-US" dirty="0" err="1"/>
              <a:t>Is_Adoption</a:t>
            </a:r>
            <a:r>
              <a:rPr lang="en-US" dirty="0"/>
              <a:t> )</a:t>
            </a:r>
          </a:p>
          <a:p>
            <a:r>
              <a:rPr lang="en-US" dirty="0"/>
              <a:t>Each record appears in only one relation</a:t>
            </a:r>
          </a:p>
          <a:p>
            <a:pPr lvl="1"/>
            <a:endParaRPr lang="en-US" dirty="0"/>
          </a:p>
          <a:p>
            <a:pPr lvl="1"/>
            <a:endParaRPr lang="en-US" dirty="0"/>
          </a:p>
          <a:p>
            <a:pPr lvl="1"/>
            <a:endParaRPr lang="en-SG" dirty="0"/>
          </a:p>
        </p:txBody>
      </p:sp>
      <p:sp>
        <p:nvSpPr>
          <p:cNvPr id="14" name="Rectangle 13"/>
          <p:cNvSpPr>
            <a:spLocks noChangeArrowheads="1"/>
          </p:cNvSpPr>
          <p:nvPr/>
        </p:nvSpPr>
        <p:spPr bwMode="auto">
          <a:xfrm>
            <a:off x="2483768" y="1139046"/>
            <a:ext cx="129614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Cartoon</a:t>
            </a:r>
          </a:p>
        </p:txBody>
      </p:sp>
      <p:sp>
        <p:nvSpPr>
          <p:cNvPr id="15" name="Oval 25"/>
          <p:cNvSpPr>
            <a:spLocks noChangeArrowheads="1"/>
          </p:cNvSpPr>
          <p:nvPr/>
        </p:nvSpPr>
        <p:spPr bwMode="auto">
          <a:xfrm>
            <a:off x="899591" y="1310496"/>
            <a:ext cx="122232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Is_3D</a:t>
            </a:r>
          </a:p>
        </p:txBody>
      </p:sp>
      <p:cxnSp>
        <p:nvCxnSpPr>
          <p:cNvPr id="16" name="Straight Connector 15"/>
          <p:cNvCxnSpPr>
            <a:stCxn id="15" idx="6"/>
            <a:endCxn id="14" idx="1"/>
          </p:cNvCxnSpPr>
          <p:nvPr/>
        </p:nvCxnSpPr>
        <p:spPr bwMode="auto">
          <a:xfrm>
            <a:off x="2121920" y="1596246"/>
            <a:ext cx="36184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7" name="Rectangle 3"/>
          <p:cNvSpPr>
            <a:spLocks noChangeArrowheads="1"/>
          </p:cNvSpPr>
          <p:nvPr/>
        </p:nvSpPr>
        <p:spPr bwMode="auto">
          <a:xfrm>
            <a:off x="5652120" y="1139046"/>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Movies</a:t>
            </a:r>
          </a:p>
        </p:txBody>
      </p:sp>
      <p:sp>
        <p:nvSpPr>
          <p:cNvPr id="18" name="Oval 25"/>
          <p:cNvSpPr>
            <a:spLocks noChangeArrowheads="1"/>
          </p:cNvSpPr>
          <p:nvPr/>
        </p:nvSpPr>
        <p:spPr bwMode="auto">
          <a:xfrm>
            <a:off x="7452320" y="8367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9" name="Straight Connector 18"/>
          <p:cNvCxnSpPr>
            <a:stCxn id="18" idx="2"/>
            <a:endCxn id="17" idx="3"/>
          </p:cNvCxnSpPr>
          <p:nvPr/>
        </p:nvCxnSpPr>
        <p:spPr bwMode="auto">
          <a:xfrm flipH="1">
            <a:off x="7020272" y="1122462"/>
            <a:ext cx="432048"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0" name="Oval 25"/>
          <p:cNvSpPr>
            <a:spLocks noChangeArrowheads="1"/>
          </p:cNvSpPr>
          <p:nvPr/>
        </p:nvSpPr>
        <p:spPr bwMode="auto">
          <a:xfrm>
            <a:off x="7452320" y="1628800"/>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21" name="Straight Connector 20"/>
          <p:cNvCxnSpPr>
            <a:stCxn id="20" idx="2"/>
            <a:endCxn id="17" idx="3"/>
          </p:cNvCxnSpPr>
          <p:nvPr/>
        </p:nvCxnSpPr>
        <p:spPr bwMode="auto">
          <a:xfrm flipH="1" flipV="1">
            <a:off x="7020272" y="1596246"/>
            <a:ext cx="432048"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2" name="Straight Connector 21"/>
          <p:cNvCxnSpPr>
            <a:stCxn id="14" idx="3"/>
            <a:endCxn id="17" idx="1"/>
          </p:cNvCxnSpPr>
          <p:nvPr/>
        </p:nvCxnSpPr>
        <p:spPr bwMode="auto">
          <a:xfrm>
            <a:off x="3779912" y="1596246"/>
            <a:ext cx="1872208"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3" name="Isosceles Triangle 22"/>
          <p:cNvSpPr/>
          <p:nvPr/>
        </p:nvSpPr>
        <p:spPr bwMode="auto">
          <a:xfrm rot="5400000">
            <a:off x="4311871" y="1069408"/>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24" name="Rectangle 23"/>
          <p:cNvSpPr>
            <a:spLocks noChangeArrowheads="1"/>
          </p:cNvSpPr>
          <p:nvPr/>
        </p:nvSpPr>
        <p:spPr bwMode="auto">
          <a:xfrm>
            <a:off x="2492896" y="2294012"/>
            <a:ext cx="12870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Sci-Fi</a:t>
            </a:r>
          </a:p>
        </p:txBody>
      </p:sp>
      <p:cxnSp>
        <p:nvCxnSpPr>
          <p:cNvPr id="25" name="Straight Connector 24"/>
          <p:cNvCxnSpPr>
            <a:stCxn id="24" idx="3"/>
            <a:endCxn id="26" idx="3"/>
          </p:cNvCxnSpPr>
          <p:nvPr/>
        </p:nvCxnSpPr>
        <p:spPr bwMode="auto">
          <a:xfrm flipV="1">
            <a:off x="3779912" y="2743339"/>
            <a:ext cx="432048" cy="787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6" name="Isosceles Triangle 25"/>
          <p:cNvSpPr/>
          <p:nvPr/>
        </p:nvSpPr>
        <p:spPr bwMode="auto">
          <a:xfrm rot="5400000">
            <a:off x="4311871" y="2224374"/>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28" name="Straight Connector 27"/>
          <p:cNvCxnSpPr>
            <a:stCxn id="26" idx="0"/>
          </p:cNvCxnSpPr>
          <p:nvPr/>
        </p:nvCxnSpPr>
        <p:spPr bwMode="auto">
          <a:xfrm flipV="1">
            <a:off x="5249889" y="2053446"/>
            <a:ext cx="474239" cy="68989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5" name="Oval 25"/>
          <p:cNvSpPr>
            <a:spLocks noChangeArrowheads="1"/>
          </p:cNvSpPr>
          <p:nvPr/>
        </p:nvSpPr>
        <p:spPr bwMode="auto">
          <a:xfrm>
            <a:off x="325335" y="2420888"/>
            <a:ext cx="194240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err="1">
                <a:latin typeface="Calibri" pitchFamily="34" charset="0"/>
              </a:rPr>
              <a:t>Is_Adoption</a:t>
            </a:r>
            <a:endParaRPr lang="en-US" sz="2800" b="1" dirty="0">
              <a:latin typeface="Calibri" pitchFamily="34" charset="0"/>
            </a:endParaRPr>
          </a:p>
        </p:txBody>
      </p:sp>
      <p:cxnSp>
        <p:nvCxnSpPr>
          <p:cNvPr id="36" name="Straight Connector 35"/>
          <p:cNvCxnSpPr>
            <a:stCxn id="35" idx="6"/>
            <a:endCxn id="24" idx="1"/>
          </p:cNvCxnSpPr>
          <p:nvPr/>
        </p:nvCxnSpPr>
        <p:spPr bwMode="auto">
          <a:xfrm>
            <a:off x="2267744" y="2706638"/>
            <a:ext cx="225152" cy="4457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407272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NULL approach</a:t>
            </a:r>
            <a:endParaRPr lang="en-SG" dirty="0"/>
          </a:p>
        </p:txBody>
      </p:sp>
      <p:sp>
        <p:nvSpPr>
          <p:cNvPr id="3" name="Content Placeholder 2"/>
          <p:cNvSpPr>
            <a:spLocks noGrp="1"/>
          </p:cNvSpPr>
          <p:nvPr>
            <p:ph idx="1"/>
          </p:nvPr>
        </p:nvSpPr>
        <p:spPr>
          <a:xfrm>
            <a:off x="457200" y="3429000"/>
            <a:ext cx="8229600" cy="2701925"/>
          </a:xfrm>
        </p:spPr>
        <p:txBody>
          <a:bodyPr>
            <a:normAutofit fontScale="92500"/>
          </a:bodyPr>
          <a:lstStyle/>
          <a:p>
            <a:r>
              <a:rPr lang="en-US" dirty="0"/>
              <a:t>One relation that includes everything</a:t>
            </a:r>
            <a:endParaRPr lang="en-US" dirty="0">
              <a:solidFill>
                <a:srgbClr val="A50021"/>
              </a:solidFill>
            </a:endParaRPr>
          </a:p>
          <a:p>
            <a:pPr lvl="1"/>
            <a:r>
              <a:rPr lang="en-US" dirty="0"/>
              <a:t>Movies( </a:t>
            </a:r>
            <a:r>
              <a:rPr lang="en-US" u="sng" dirty="0"/>
              <a:t>ID</a:t>
            </a:r>
            <a:r>
              <a:rPr lang="en-US" dirty="0"/>
              <a:t>, name, Is_3D, </a:t>
            </a:r>
            <a:r>
              <a:rPr lang="en-US" dirty="0" err="1"/>
              <a:t>Is_Adoption</a:t>
            </a:r>
            <a:r>
              <a:rPr lang="en-US" dirty="0"/>
              <a:t> )</a:t>
            </a:r>
          </a:p>
          <a:p>
            <a:r>
              <a:rPr lang="en-US" dirty="0"/>
              <a:t>For non-cartoon movies, its “Is_3D” is set to NULL</a:t>
            </a:r>
          </a:p>
          <a:p>
            <a:r>
              <a:rPr lang="en-US" dirty="0"/>
              <a:t>For non-sci-fi movies, its “</a:t>
            </a:r>
            <a:r>
              <a:rPr lang="en-US" dirty="0" err="1"/>
              <a:t>Is_Adoption</a:t>
            </a:r>
            <a:r>
              <a:rPr lang="en-US" dirty="0"/>
              <a:t>” is set to NULL</a:t>
            </a:r>
          </a:p>
          <a:p>
            <a:endParaRPr lang="en-US" dirty="0"/>
          </a:p>
          <a:p>
            <a:pPr lvl="1"/>
            <a:endParaRPr lang="en-US" dirty="0"/>
          </a:p>
          <a:p>
            <a:pPr lvl="1"/>
            <a:endParaRPr lang="en-US" dirty="0"/>
          </a:p>
          <a:p>
            <a:pPr lvl="1"/>
            <a:endParaRPr lang="en-SG" dirty="0"/>
          </a:p>
        </p:txBody>
      </p:sp>
      <p:sp>
        <p:nvSpPr>
          <p:cNvPr id="14" name="Rectangle 13"/>
          <p:cNvSpPr>
            <a:spLocks noChangeArrowheads="1"/>
          </p:cNvSpPr>
          <p:nvPr/>
        </p:nvSpPr>
        <p:spPr bwMode="auto">
          <a:xfrm>
            <a:off x="2483768" y="1139046"/>
            <a:ext cx="1296144"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Cartoon</a:t>
            </a:r>
          </a:p>
        </p:txBody>
      </p:sp>
      <p:sp>
        <p:nvSpPr>
          <p:cNvPr id="15" name="Oval 25"/>
          <p:cNvSpPr>
            <a:spLocks noChangeArrowheads="1"/>
          </p:cNvSpPr>
          <p:nvPr/>
        </p:nvSpPr>
        <p:spPr bwMode="auto">
          <a:xfrm>
            <a:off x="899591" y="1310496"/>
            <a:ext cx="122232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Is_3D</a:t>
            </a:r>
          </a:p>
        </p:txBody>
      </p:sp>
      <p:cxnSp>
        <p:nvCxnSpPr>
          <p:cNvPr id="16" name="Straight Connector 15"/>
          <p:cNvCxnSpPr>
            <a:stCxn id="15" idx="6"/>
            <a:endCxn id="14" idx="1"/>
          </p:cNvCxnSpPr>
          <p:nvPr/>
        </p:nvCxnSpPr>
        <p:spPr bwMode="auto">
          <a:xfrm>
            <a:off x="2121920" y="1596246"/>
            <a:ext cx="36184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7" name="Rectangle 3"/>
          <p:cNvSpPr>
            <a:spLocks noChangeArrowheads="1"/>
          </p:cNvSpPr>
          <p:nvPr/>
        </p:nvSpPr>
        <p:spPr bwMode="auto">
          <a:xfrm>
            <a:off x="5652120" y="1139046"/>
            <a:ext cx="1368152"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Movies</a:t>
            </a:r>
          </a:p>
        </p:txBody>
      </p:sp>
      <p:sp>
        <p:nvSpPr>
          <p:cNvPr id="18" name="Oval 25"/>
          <p:cNvSpPr>
            <a:spLocks noChangeArrowheads="1"/>
          </p:cNvSpPr>
          <p:nvPr/>
        </p:nvSpPr>
        <p:spPr bwMode="auto">
          <a:xfrm>
            <a:off x="7452320" y="836712"/>
            <a:ext cx="1143000"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u="sng" dirty="0">
                <a:latin typeface="Calibri" pitchFamily="34" charset="0"/>
              </a:rPr>
              <a:t>ID</a:t>
            </a:r>
          </a:p>
        </p:txBody>
      </p:sp>
      <p:cxnSp>
        <p:nvCxnSpPr>
          <p:cNvPr id="19" name="Straight Connector 18"/>
          <p:cNvCxnSpPr>
            <a:stCxn id="18" idx="2"/>
            <a:endCxn id="17" idx="3"/>
          </p:cNvCxnSpPr>
          <p:nvPr/>
        </p:nvCxnSpPr>
        <p:spPr bwMode="auto">
          <a:xfrm flipH="1">
            <a:off x="7020272" y="1122462"/>
            <a:ext cx="432048" cy="47378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20" name="Oval 25"/>
          <p:cNvSpPr>
            <a:spLocks noChangeArrowheads="1"/>
          </p:cNvSpPr>
          <p:nvPr/>
        </p:nvSpPr>
        <p:spPr bwMode="auto">
          <a:xfrm>
            <a:off x="7452320" y="1628800"/>
            <a:ext cx="1152128"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a:latin typeface="Calibri" pitchFamily="34" charset="0"/>
              </a:rPr>
              <a:t>name</a:t>
            </a:r>
          </a:p>
        </p:txBody>
      </p:sp>
      <p:cxnSp>
        <p:nvCxnSpPr>
          <p:cNvPr id="21" name="Straight Connector 20"/>
          <p:cNvCxnSpPr>
            <a:stCxn id="20" idx="2"/>
            <a:endCxn id="17" idx="3"/>
          </p:cNvCxnSpPr>
          <p:nvPr/>
        </p:nvCxnSpPr>
        <p:spPr bwMode="auto">
          <a:xfrm flipH="1" flipV="1">
            <a:off x="7020272" y="1596246"/>
            <a:ext cx="432048" cy="318304"/>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2" name="Straight Connector 21"/>
          <p:cNvCxnSpPr>
            <a:stCxn id="14" idx="3"/>
            <a:endCxn id="17" idx="1"/>
          </p:cNvCxnSpPr>
          <p:nvPr/>
        </p:nvCxnSpPr>
        <p:spPr bwMode="auto">
          <a:xfrm>
            <a:off x="3779912" y="1596246"/>
            <a:ext cx="1872208" cy="0"/>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3" name="Isosceles Triangle 22"/>
          <p:cNvSpPr/>
          <p:nvPr/>
        </p:nvSpPr>
        <p:spPr bwMode="auto">
          <a:xfrm rot="5400000">
            <a:off x="4311871" y="1069408"/>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sp>
        <p:nvSpPr>
          <p:cNvPr id="24" name="Rectangle 23"/>
          <p:cNvSpPr>
            <a:spLocks noChangeArrowheads="1"/>
          </p:cNvSpPr>
          <p:nvPr/>
        </p:nvSpPr>
        <p:spPr bwMode="auto">
          <a:xfrm>
            <a:off x="2492896" y="2294012"/>
            <a:ext cx="1287016" cy="914400"/>
          </a:xfrm>
          <a:prstGeom prst="rect">
            <a:avLst/>
          </a:prstGeom>
          <a:solidFill>
            <a:srgbClr val="33CCFF"/>
          </a:solidFill>
          <a:ln w="25400">
            <a:solidFill>
              <a:schemeClr val="tx1"/>
            </a:solidFill>
            <a:miter lim="800000"/>
            <a:headEnd/>
            <a:tailEnd/>
          </a:ln>
          <a:effectLst/>
        </p:spPr>
        <p:txBody>
          <a:bodyPr wrap="none" anchor="ctr"/>
          <a:lstStyle/>
          <a:p>
            <a:pPr algn="ctr"/>
            <a:r>
              <a:rPr lang="en-US" sz="2800" b="1" dirty="0">
                <a:latin typeface="Calibri" pitchFamily="34" charset="0"/>
              </a:rPr>
              <a:t>Sci-Fi</a:t>
            </a:r>
          </a:p>
        </p:txBody>
      </p:sp>
      <p:cxnSp>
        <p:nvCxnSpPr>
          <p:cNvPr id="25" name="Straight Connector 24"/>
          <p:cNvCxnSpPr>
            <a:stCxn id="24" idx="3"/>
            <a:endCxn id="26" idx="3"/>
          </p:cNvCxnSpPr>
          <p:nvPr/>
        </p:nvCxnSpPr>
        <p:spPr bwMode="auto">
          <a:xfrm flipV="1">
            <a:off x="3779912" y="2743339"/>
            <a:ext cx="432048" cy="787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26" name="Isosceles Triangle 25"/>
          <p:cNvSpPr/>
          <p:nvPr/>
        </p:nvSpPr>
        <p:spPr bwMode="auto">
          <a:xfrm rot="5400000">
            <a:off x="4311871" y="2224374"/>
            <a:ext cx="838107" cy="1037929"/>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800" b="1" i="0" u="none" strike="noStrike" cap="none" normalizeH="0" baseline="0" dirty="0">
                <a:ln>
                  <a:noFill/>
                </a:ln>
                <a:solidFill>
                  <a:schemeClr val="tx1"/>
                </a:solidFill>
                <a:effectLst/>
                <a:latin typeface="Calibri" pitchFamily="34" charset="0"/>
                <a:ea typeface="宋体" pitchFamily="2" charset="-122"/>
              </a:rPr>
              <a:t> </a:t>
            </a:r>
            <a:r>
              <a:rPr kumimoji="0" lang="en-US" sz="2800" b="1" i="0" u="none" strike="noStrike" cap="none" normalizeH="0" baseline="0" dirty="0" err="1">
                <a:ln>
                  <a:noFill/>
                </a:ln>
                <a:solidFill>
                  <a:schemeClr val="tx1"/>
                </a:solidFill>
                <a:effectLst/>
                <a:latin typeface="Calibri" pitchFamily="34" charset="0"/>
                <a:ea typeface="宋体" pitchFamily="2" charset="-122"/>
              </a:rPr>
              <a:t>isa</a:t>
            </a:r>
            <a:endParaRPr kumimoji="0" lang="en-SG" sz="2800" b="1" i="0" u="none" strike="noStrike" cap="none" normalizeH="0" baseline="0" dirty="0">
              <a:ln>
                <a:noFill/>
              </a:ln>
              <a:solidFill>
                <a:schemeClr val="tx1"/>
              </a:solidFill>
              <a:effectLst/>
              <a:latin typeface="Calibri" pitchFamily="34" charset="0"/>
              <a:ea typeface="宋体" pitchFamily="2" charset="-122"/>
            </a:endParaRPr>
          </a:p>
        </p:txBody>
      </p:sp>
      <p:cxnSp>
        <p:nvCxnSpPr>
          <p:cNvPr id="28" name="Straight Connector 27"/>
          <p:cNvCxnSpPr>
            <a:stCxn id="26" idx="0"/>
          </p:cNvCxnSpPr>
          <p:nvPr/>
        </p:nvCxnSpPr>
        <p:spPr bwMode="auto">
          <a:xfrm flipV="1">
            <a:off x="5249889" y="2053446"/>
            <a:ext cx="474239" cy="689893"/>
          </a:xfrm>
          <a:prstGeom prst="line">
            <a:avLst/>
          </a:prstGeom>
          <a:solidFill>
            <a:schemeClr val="accent1"/>
          </a:solidFill>
          <a:ln w="25400" cap="flat" cmpd="sng" algn="ctr">
            <a:solidFill>
              <a:schemeClr val="tx1"/>
            </a:solidFill>
            <a:prstDash val="solid"/>
            <a:round/>
            <a:headEnd type="none" w="med" len="med"/>
            <a:tailEnd type="none" w="lg" len="lg"/>
          </a:ln>
          <a:effectLst/>
        </p:spPr>
      </p:cxnSp>
      <p:sp>
        <p:nvSpPr>
          <p:cNvPr id="35" name="Oval 25"/>
          <p:cNvSpPr>
            <a:spLocks noChangeArrowheads="1"/>
          </p:cNvSpPr>
          <p:nvPr/>
        </p:nvSpPr>
        <p:spPr bwMode="auto">
          <a:xfrm>
            <a:off x="325335" y="2420888"/>
            <a:ext cx="1942409" cy="571500"/>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dirty="0" err="1">
                <a:latin typeface="Calibri" pitchFamily="34" charset="0"/>
              </a:rPr>
              <a:t>Is_Adoption</a:t>
            </a:r>
            <a:endParaRPr lang="en-US" sz="2800" b="1" dirty="0">
              <a:latin typeface="Calibri" pitchFamily="34" charset="0"/>
            </a:endParaRPr>
          </a:p>
        </p:txBody>
      </p:sp>
      <p:cxnSp>
        <p:nvCxnSpPr>
          <p:cNvPr id="36" name="Straight Connector 35"/>
          <p:cNvCxnSpPr>
            <a:stCxn id="35" idx="6"/>
            <a:endCxn id="24" idx="1"/>
          </p:cNvCxnSpPr>
          <p:nvPr/>
        </p:nvCxnSpPr>
        <p:spPr bwMode="auto">
          <a:xfrm>
            <a:off x="2267744" y="2706638"/>
            <a:ext cx="225152" cy="44574"/>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5265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Which Approach is the Best?</a:t>
            </a:r>
            <a:endParaRPr lang="en-SG" dirty="0"/>
          </a:p>
        </p:txBody>
      </p:sp>
      <p:sp>
        <p:nvSpPr>
          <p:cNvPr id="3" name="Content Placeholder 2"/>
          <p:cNvSpPr>
            <a:spLocks noGrp="1"/>
          </p:cNvSpPr>
          <p:nvPr>
            <p:ph idx="1"/>
          </p:nvPr>
        </p:nvSpPr>
        <p:spPr/>
        <p:txBody>
          <a:bodyPr>
            <a:normAutofit lnSpcReduction="10000"/>
          </a:bodyPr>
          <a:lstStyle/>
          <a:p>
            <a:r>
              <a:rPr lang="en-US" dirty="0"/>
              <a:t>It depends</a:t>
            </a:r>
          </a:p>
          <a:p>
            <a:r>
              <a:rPr lang="en-US" dirty="0"/>
              <a:t>The NULL approach</a:t>
            </a:r>
          </a:p>
          <a:p>
            <a:pPr lvl="1"/>
            <a:r>
              <a:rPr lang="en-US" dirty="0"/>
              <a:t>Advantage: Needs only one relation</a:t>
            </a:r>
          </a:p>
          <a:p>
            <a:pPr lvl="1"/>
            <a:r>
              <a:rPr lang="en-US" dirty="0"/>
              <a:t>Disadvantage: May have many NULL values</a:t>
            </a:r>
          </a:p>
          <a:p>
            <a:r>
              <a:rPr lang="en-US" dirty="0"/>
              <a:t>The OO approach</a:t>
            </a:r>
          </a:p>
          <a:p>
            <a:pPr lvl="1"/>
            <a:r>
              <a:rPr lang="en-US" dirty="0"/>
              <a:t>Advantage: Good for searching subclass combinations</a:t>
            </a:r>
          </a:p>
          <a:p>
            <a:pPr lvl="1"/>
            <a:r>
              <a:rPr lang="en-US" dirty="0"/>
              <a:t>Disadvantage: May have too many tables</a:t>
            </a:r>
            <a:endParaRPr lang="en-SG" dirty="0"/>
          </a:p>
          <a:p>
            <a:r>
              <a:rPr lang="en-US" dirty="0"/>
              <a:t>The ER approach</a:t>
            </a:r>
          </a:p>
          <a:p>
            <a:pPr lvl="1"/>
            <a:r>
              <a:rPr lang="en-US" dirty="0"/>
              <a:t>A middle ground between OO and NULL</a:t>
            </a:r>
            <a:endParaRPr lang="en-SG" dirty="0"/>
          </a:p>
          <a:p>
            <a:pPr lvl="1"/>
            <a:endParaRPr lang="en-SG" dirty="0"/>
          </a:p>
        </p:txBody>
      </p:sp>
    </p:spTree>
    <p:extLst>
      <p:ext uri="{BB962C8B-B14F-4D97-AF65-F5344CB8AC3E}">
        <p14:creationId xmlns:p14="http://schemas.microsoft.com/office/powerpoint/2010/main" val="724528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4535996" y="3116316"/>
            <a:ext cx="1008112"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Orders</a:t>
            </a:r>
          </a:p>
        </p:txBody>
      </p:sp>
      <p:sp>
        <p:nvSpPr>
          <p:cNvPr id="5" name="Oval 25"/>
          <p:cNvSpPr>
            <a:spLocks noChangeArrowheads="1"/>
          </p:cNvSpPr>
          <p:nvPr/>
        </p:nvSpPr>
        <p:spPr bwMode="auto">
          <a:xfrm>
            <a:off x="3599891" y="250136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OID</a:t>
            </a:r>
          </a:p>
        </p:txBody>
      </p:sp>
      <p:sp>
        <p:nvSpPr>
          <p:cNvPr id="8" name="Line 39"/>
          <p:cNvSpPr>
            <a:spLocks noChangeShapeType="1"/>
          </p:cNvSpPr>
          <p:nvPr/>
        </p:nvSpPr>
        <p:spPr bwMode="auto">
          <a:xfrm>
            <a:off x="4139952" y="2924944"/>
            <a:ext cx="432048" cy="2160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9" name="Rectangle 5"/>
          <p:cNvSpPr>
            <a:spLocks noChangeArrowheads="1"/>
          </p:cNvSpPr>
          <p:nvPr/>
        </p:nvSpPr>
        <p:spPr bwMode="auto">
          <a:xfrm>
            <a:off x="1115616" y="3131174"/>
            <a:ext cx="864096"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Parts</a:t>
            </a:r>
          </a:p>
        </p:txBody>
      </p:sp>
      <p:sp>
        <p:nvSpPr>
          <p:cNvPr id="10" name="AutoShape 10"/>
          <p:cNvSpPr>
            <a:spLocks noChangeArrowheads="1"/>
          </p:cNvSpPr>
          <p:nvPr/>
        </p:nvSpPr>
        <p:spPr bwMode="auto">
          <a:xfrm>
            <a:off x="2718369" y="3101644"/>
            <a:ext cx="845519"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In</a:t>
            </a:r>
          </a:p>
        </p:txBody>
      </p:sp>
      <p:sp>
        <p:nvSpPr>
          <p:cNvPr id="13" name="Rectangle 5"/>
          <p:cNvSpPr>
            <a:spLocks noChangeArrowheads="1"/>
          </p:cNvSpPr>
          <p:nvPr/>
        </p:nvSpPr>
        <p:spPr bwMode="auto">
          <a:xfrm>
            <a:off x="4247964" y="1124744"/>
            <a:ext cx="1512168"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Employees</a:t>
            </a:r>
          </a:p>
        </p:txBody>
      </p:sp>
      <p:sp>
        <p:nvSpPr>
          <p:cNvPr id="14" name="Rectangle 5"/>
          <p:cNvSpPr>
            <a:spLocks noChangeArrowheads="1"/>
          </p:cNvSpPr>
          <p:nvPr/>
        </p:nvSpPr>
        <p:spPr bwMode="auto">
          <a:xfrm>
            <a:off x="4283968" y="5085184"/>
            <a:ext cx="1512168"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Customers</a:t>
            </a:r>
          </a:p>
        </p:txBody>
      </p:sp>
      <p:sp>
        <p:nvSpPr>
          <p:cNvPr id="15" name="AutoShape 10"/>
          <p:cNvSpPr>
            <a:spLocks noChangeArrowheads="1"/>
          </p:cNvSpPr>
          <p:nvPr/>
        </p:nvSpPr>
        <p:spPr bwMode="auto">
          <a:xfrm>
            <a:off x="4391980" y="2060848"/>
            <a:ext cx="1214848"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take</a:t>
            </a:r>
          </a:p>
        </p:txBody>
      </p:sp>
      <p:sp>
        <p:nvSpPr>
          <p:cNvPr id="16" name="AutoShape 10"/>
          <p:cNvSpPr>
            <a:spLocks noChangeArrowheads="1"/>
          </p:cNvSpPr>
          <p:nvPr/>
        </p:nvSpPr>
        <p:spPr bwMode="auto">
          <a:xfrm>
            <a:off x="4432628" y="4149080"/>
            <a:ext cx="1214848" cy="486544"/>
          </a:xfrm>
          <a:prstGeom prst="diamond">
            <a:avLst/>
          </a:prstGeom>
          <a:solidFill>
            <a:srgbClr val="CCFF99"/>
          </a:solidFill>
          <a:ln w="25400">
            <a:solidFill>
              <a:schemeClr val="tx1"/>
            </a:solidFill>
            <a:miter lim="800000"/>
            <a:headEnd/>
            <a:tailEnd/>
          </a:ln>
          <a:effectLst/>
        </p:spPr>
        <p:txBody>
          <a:bodyPr wrap="none" anchor="ctr"/>
          <a:lstStyle/>
          <a:p>
            <a:pPr algn="ctr"/>
            <a:r>
              <a:rPr lang="en-US" sz="2400" b="1" dirty="0">
                <a:latin typeface="Calibri" pitchFamily="34" charset="0"/>
              </a:rPr>
              <a:t>make</a:t>
            </a:r>
          </a:p>
        </p:txBody>
      </p:sp>
      <p:sp>
        <p:nvSpPr>
          <p:cNvPr id="17" name="Oval 25"/>
          <p:cNvSpPr>
            <a:spLocks noChangeArrowheads="1"/>
          </p:cNvSpPr>
          <p:nvPr/>
        </p:nvSpPr>
        <p:spPr bwMode="auto">
          <a:xfrm>
            <a:off x="2267744" y="228143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quan</a:t>
            </a:r>
            <a:endParaRPr lang="en-US" sz="2400" b="1" dirty="0">
              <a:latin typeface="Calibri" pitchFamily="34" charset="0"/>
            </a:endParaRPr>
          </a:p>
        </p:txBody>
      </p:sp>
      <p:sp>
        <p:nvSpPr>
          <p:cNvPr id="18" name="Oval 25"/>
          <p:cNvSpPr>
            <a:spLocks noChangeArrowheads="1"/>
          </p:cNvSpPr>
          <p:nvPr/>
        </p:nvSpPr>
        <p:spPr bwMode="auto">
          <a:xfrm>
            <a:off x="2267744" y="3933056"/>
            <a:ext cx="1333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shipdate</a:t>
            </a:r>
            <a:endParaRPr lang="en-US" sz="2400" b="1" dirty="0">
              <a:latin typeface="Calibri" pitchFamily="34" charset="0"/>
            </a:endParaRPr>
          </a:p>
        </p:txBody>
      </p:sp>
      <p:sp>
        <p:nvSpPr>
          <p:cNvPr id="19" name="Line 39"/>
          <p:cNvSpPr>
            <a:spLocks noChangeShapeType="1"/>
          </p:cNvSpPr>
          <p:nvPr/>
        </p:nvSpPr>
        <p:spPr bwMode="auto">
          <a:xfrm flipV="1">
            <a:off x="3527884" y="3344915"/>
            <a:ext cx="1008111" cy="742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0" name="Line 39"/>
          <p:cNvSpPr>
            <a:spLocks noChangeShapeType="1"/>
          </p:cNvSpPr>
          <p:nvPr/>
        </p:nvSpPr>
        <p:spPr bwMode="auto">
          <a:xfrm>
            <a:off x="1979713" y="3359772"/>
            <a:ext cx="782848"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1" name="Line 39"/>
          <p:cNvSpPr>
            <a:spLocks noChangeShapeType="1"/>
          </p:cNvSpPr>
          <p:nvPr/>
        </p:nvSpPr>
        <p:spPr bwMode="auto">
          <a:xfrm>
            <a:off x="2843808" y="2708919"/>
            <a:ext cx="297320" cy="392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2" name="Line 39"/>
          <p:cNvSpPr>
            <a:spLocks noChangeShapeType="1"/>
          </p:cNvSpPr>
          <p:nvPr/>
        </p:nvSpPr>
        <p:spPr bwMode="auto">
          <a:xfrm flipV="1">
            <a:off x="2934296" y="3588188"/>
            <a:ext cx="243792" cy="35524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4" name="Oval 25"/>
          <p:cNvSpPr>
            <a:spLocks noChangeArrowheads="1"/>
          </p:cNvSpPr>
          <p:nvPr/>
        </p:nvSpPr>
        <p:spPr bwMode="auto">
          <a:xfrm>
            <a:off x="1115616" y="206084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PID</a:t>
            </a:r>
          </a:p>
        </p:txBody>
      </p:sp>
      <p:sp>
        <p:nvSpPr>
          <p:cNvPr id="25" name="Line 39"/>
          <p:cNvSpPr>
            <a:spLocks noChangeShapeType="1"/>
          </p:cNvSpPr>
          <p:nvPr/>
        </p:nvSpPr>
        <p:spPr bwMode="auto">
          <a:xfrm>
            <a:off x="1583668" y="2497459"/>
            <a:ext cx="252028" cy="618857"/>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6" name="Oval 25"/>
          <p:cNvSpPr>
            <a:spLocks noChangeArrowheads="1"/>
          </p:cNvSpPr>
          <p:nvPr/>
        </p:nvSpPr>
        <p:spPr bwMode="auto">
          <a:xfrm>
            <a:off x="376255" y="249746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name</a:t>
            </a:r>
          </a:p>
        </p:txBody>
      </p:sp>
      <p:sp>
        <p:nvSpPr>
          <p:cNvPr id="27" name="Line 39"/>
          <p:cNvSpPr>
            <a:spLocks noChangeShapeType="1"/>
          </p:cNvSpPr>
          <p:nvPr/>
        </p:nvSpPr>
        <p:spPr bwMode="auto">
          <a:xfrm flipH="1">
            <a:off x="791580" y="3573016"/>
            <a:ext cx="468052" cy="28803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8" name="Line 39"/>
          <p:cNvSpPr>
            <a:spLocks noChangeShapeType="1"/>
          </p:cNvSpPr>
          <p:nvPr/>
        </p:nvSpPr>
        <p:spPr bwMode="auto">
          <a:xfrm>
            <a:off x="899592" y="2924944"/>
            <a:ext cx="412767" cy="20623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29" name="Oval 28"/>
          <p:cNvSpPr>
            <a:spLocks noChangeArrowheads="1"/>
          </p:cNvSpPr>
          <p:nvPr/>
        </p:nvSpPr>
        <p:spPr bwMode="auto">
          <a:xfrm>
            <a:off x="323528" y="386104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price</a:t>
            </a:r>
          </a:p>
        </p:txBody>
      </p:sp>
      <p:sp>
        <p:nvSpPr>
          <p:cNvPr id="30" name="Oval 29"/>
          <p:cNvSpPr>
            <a:spLocks noChangeArrowheads="1"/>
          </p:cNvSpPr>
          <p:nvPr/>
        </p:nvSpPr>
        <p:spPr bwMode="auto">
          <a:xfrm>
            <a:off x="1187624" y="4293096"/>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stock</a:t>
            </a:r>
          </a:p>
        </p:txBody>
      </p:sp>
      <p:sp>
        <p:nvSpPr>
          <p:cNvPr id="31" name="Line 39"/>
          <p:cNvSpPr>
            <a:spLocks noChangeShapeType="1"/>
          </p:cNvSpPr>
          <p:nvPr/>
        </p:nvSpPr>
        <p:spPr bwMode="auto">
          <a:xfrm flipH="1">
            <a:off x="1583667" y="3593766"/>
            <a:ext cx="195287" cy="69932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38" name="Oval 25"/>
          <p:cNvSpPr>
            <a:spLocks noChangeArrowheads="1"/>
          </p:cNvSpPr>
          <p:nvPr/>
        </p:nvSpPr>
        <p:spPr bwMode="auto">
          <a:xfrm>
            <a:off x="6768244" y="2122678"/>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fname</a:t>
            </a:r>
            <a:endParaRPr lang="en-US" sz="2400" b="1" dirty="0">
              <a:latin typeface="Calibri" pitchFamily="34" charset="0"/>
            </a:endParaRPr>
          </a:p>
        </p:txBody>
      </p:sp>
      <p:sp>
        <p:nvSpPr>
          <p:cNvPr id="39" name="Oval 25"/>
          <p:cNvSpPr>
            <a:spLocks noChangeArrowheads="1"/>
          </p:cNvSpPr>
          <p:nvPr/>
        </p:nvSpPr>
        <p:spPr bwMode="auto">
          <a:xfrm>
            <a:off x="7908703" y="1880503"/>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err="1">
                <a:latin typeface="Calibri" pitchFamily="34" charset="0"/>
              </a:rPr>
              <a:t>lname</a:t>
            </a:r>
            <a:endParaRPr lang="en-US" sz="2400" b="1" dirty="0">
              <a:latin typeface="Calibri" pitchFamily="34" charset="0"/>
            </a:endParaRPr>
          </a:p>
        </p:txBody>
      </p:sp>
      <p:sp>
        <p:nvSpPr>
          <p:cNvPr id="40" name="Line 39"/>
          <p:cNvSpPr>
            <a:spLocks noChangeShapeType="1"/>
          </p:cNvSpPr>
          <p:nvPr/>
        </p:nvSpPr>
        <p:spPr bwMode="auto">
          <a:xfrm flipH="1" flipV="1">
            <a:off x="7416316" y="2547391"/>
            <a:ext cx="492387" cy="45951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1" name="Line 39"/>
          <p:cNvSpPr>
            <a:spLocks noChangeShapeType="1"/>
          </p:cNvSpPr>
          <p:nvPr/>
        </p:nvSpPr>
        <p:spPr bwMode="auto">
          <a:xfrm flipV="1">
            <a:off x="8376755" y="2281436"/>
            <a:ext cx="0" cy="7515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2" name="Oval 25"/>
          <p:cNvSpPr>
            <a:spLocks noChangeArrowheads="1"/>
          </p:cNvSpPr>
          <p:nvPr/>
        </p:nvSpPr>
        <p:spPr bwMode="auto">
          <a:xfrm>
            <a:off x="2699792" y="116531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EID</a:t>
            </a:r>
          </a:p>
        </p:txBody>
      </p:sp>
      <p:sp>
        <p:nvSpPr>
          <p:cNvPr id="43" name="Line 39"/>
          <p:cNvSpPr>
            <a:spLocks noChangeShapeType="1"/>
          </p:cNvSpPr>
          <p:nvPr/>
        </p:nvSpPr>
        <p:spPr bwMode="auto">
          <a:xfrm>
            <a:off x="3633253" y="1379052"/>
            <a:ext cx="61471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4" name="Oval 25"/>
          <p:cNvSpPr>
            <a:spLocks noChangeArrowheads="1"/>
          </p:cNvSpPr>
          <p:nvPr/>
        </p:nvSpPr>
        <p:spPr bwMode="auto">
          <a:xfrm>
            <a:off x="6480212" y="3739753"/>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ZIP</a:t>
            </a:r>
          </a:p>
        </p:txBody>
      </p:sp>
      <p:sp>
        <p:nvSpPr>
          <p:cNvPr id="45" name="Line 39"/>
          <p:cNvSpPr>
            <a:spLocks noChangeShapeType="1"/>
          </p:cNvSpPr>
          <p:nvPr/>
        </p:nvSpPr>
        <p:spPr bwMode="auto">
          <a:xfrm flipV="1">
            <a:off x="7398313" y="3359774"/>
            <a:ext cx="306273" cy="52685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6" name="Oval 25"/>
          <p:cNvSpPr>
            <a:spLocks noChangeArrowheads="1"/>
          </p:cNvSpPr>
          <p:nvPr/>
        </p:nvSpPr>
        <p:spPr bwMode="auto">
          <a:xfrm>
            <a:off x="2627784" y="522920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dirty="0">
                <a:latin typeface="Calibri" pitchFamily="34" charset="0"/>
              </a:rPr>
              <a:t>CID</a:t>
            </a:r>
          </a:p>
        </p:txBody>
      </p:sp>
      <p:sp>
        <p:nvSpPr>
          <p:cNvPr id="47" name="Line 39"/>
          <p:cNvSpPr>
            <a:spLocks noChangeShapeType="1"/>
          </p:cNvSpPr>
          <p:nvPr/>
        </p:nvSpPr>
        <p:spPr bwMode="auto">
          <a:xfrm flipV="1">
            <a:off x="3527884" y="5424692"/>
            <a:ext cx="72008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cxnSp>
        <p:nvCxnSpPr>
          <p:cNvPr id="54" name="Straight Connector 53"/>
          <p:cNvCxnSpPr/>
          <p:nvPr/>
        </p:nvCxnSpPr>
        <p:spPr bwMode="auto">
          <a:xfrm>
            <a:off x="5112060" y="2474427"/>
            <a:ext cx="0" cy="627217"/>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5" name="Line 17"/>
          <p:cNvSpPr>
            <a:spLocks noChangeShapeType="1"/>
          </p:cNvSpPr>
          <p:nvPr/>
        </p:nvSpPr>
        <p:spPr bwMode="auto">
          <a:xfrm flipV="1">
            <a:off x="4981105" y="1581944"/>
            <a:ext cx="0" cy="478904"/>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cxnSp>
        <p:nvCxnSpPr>
          <p:cNvPr id="56" name="Straight Connector 55"/>
          <p:cNvCxnSpPr/>
          <p:nvPr/>
        </p:nvCxnSpPr>
        <p:spPr bwMode="auto">
          <a:xfrm flipV="1">
            <a:off x="4896036" y="2495178"/>
            <a:ext cx="0" cy="606466"/>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57" name="Straight Connector 56"/>
          <p:cNvCxnSpPr/>
          <p:nvPr/>
        </p:nvCxnSpPr>
        <p:spPr bwMode="auto">
          <a:xfrm>
            <a:off x="5112060" y="3573016"/>
            <a:ext cx="0" cy="627217"/>
          </a:xfrm>
          <a:prstGeom prst="line">
            <a:avLst/>
          </a:prstGeom>
          <a:solidFill>
            <a:schemeClr val="accent1"/>
          </a:solidFill>
          <a:ln w="25400" cap="flat" cmpd="sng" algn="ctr">
            <a:solidFill>
              <a:schemeClr val="tx1"/>
            </a:solidFill>
            <a:prstDash val="solid"/>
            <a:round/>
            <a:headEnd type="none" w="lg" len="lg"/>
            <a:tailEnd type="none" w="lg" len="lg"/>
          </a:ln>
          <a:effectLst/>
        </p:spPr>
      </p:cxnSp>
      <p:cxnSp>
        <p:nvCxnSpPr>
          <p:cNvPr id="58" name="Straight Connector 57"/>
          <p:cNvCxnSpPr/>
          <p:nvPr/>
        </p:nvCxnSpPr>
        <p:spPr bwMode="auto">
          <a:xfrm flipV="1">
            <a:off x="4896036" y="3593767"/>
            <a:ext cx="0" cy="606466"/>
          </a:xfrm>
          <a:prstGeom prst="line">
            <a:avLst/>
          </a:prstGeom>
          <a:solidFill>
            <a:schemeClr val="accent1"/>
          </a:solidFill>
          <a:ln w="25400" cap="flat" cmpd="sng" algn="ctr">
            <a:solidFill>
              <a:schemeClr val="tx1"/>
            </a:solidFill>
            <a:prstDash val="solid"/>
            <a:round/>
            <a:headEnd type="none" w="lg" len="lg"/>
            <a:tailEnd type="none" w="lg" len="lg"/>
          </a:ln>
          <a:effectLst/>
        </p:spPr>
      </p:cxnSp>
      <p:sp>
        <p:nvSpPr>
          <p:cNvPr id="59" name="Line 17"/>
          <p:cNvSpPr>
            <a:spLocks noChangeShapeType="1"/>
          </p:cNvSpPr>
          <p:nvPr/>
        </p:nvSpPr>
        <p:spPr bwMode="auto">
          <a:xfrm>
            <a:off x="5040053" y="4635623"/>
            <a:ext cx="0" cy="411027"/>
          </a:xfrm>
          <a:prstGeom prst="line">
            <a:avLst/>
          </a:prstGeom>
          <a:noFill/>
          <a:ln w="3175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600" b="1">
              <a:latin typeface="Calibri" pitchFamily="34" charset="0"/>
            </a:endParaRPr>
          </a:p>
        </p:txBody>
      </p:sp>
      <p:sp>
        <p:nvSpPr>
          <p:cNvPr id="61" name="Isosceles Triangle 60"/>
          <p:cNvSpPr/>
          <p:nvPr/>
        </p:nvSpPr>
        <p:spPr bwMode="auto">
          <a:xfrm rot="5400000">
            <a:off x="6502739" y="2839459"/>
            <a:ext cx="675026" cy="792088"/>
          </a:xfrm>
          <a:prstGeom prst="triangle">
            <a:avLst/>
          </a:prstGeom>
          <a:solidFill>
            <a:srgbClr val="CCFF99"/>
          </a:solidFill>
          <a:ln w="25400" cap="flat" cmpd="sng" algn="ctr">
            <a:solidFill>
              <a:schemeClr val="tx1"/>
            </a:solidFill>
            <a:prstDash val="solid"/>
            <a:round/>
            <a:headEnd type="none" w="med" len="med"/>
            <a:tailEnd type="none" w="med" len="med"/>
          </a:ln>
          <a:effectLst/>
        </p:spPr>
        <p:txBody>
          <a:bodyPr vert="vert270" wrap="none" lIns="0" tIns="0" rIns="0" bIns="0" numCol="1" rtlCol="0" anchor="t" anchorCtr="0" compatLnSpc="1">
            <a:prstTxWarp prst="textNoShape">
              <a:avLst/>
            </a:prstTxWarp>
            <a:noAutofit/>
          </a:bodyPr>
          <a:lstStyle/>
          <a:p>
            <a:pPr marL="0" marR="0" indent="0" defTabSz="914400" rtl="0" eaLnBrk="1" fontAlgn="base" latinLnBrk="0" hangingPunct="1">
              <a:lnSpc>
                <a:spcPct val="100000"/>
              </a:lnSpc>
              <a:spcBef>
                <a:spcPct val="50000"/>
              </a:spcBef>
              <a:spcAft>
                <a:spcPct val="0"/>
              </a:spcAft>
              <a:buClrTx/>
              <a:buSzTx/>
              <a:buFontTx/>
              <a:buNone/>
              <a:tabLst/>
            </a:pPr>
            <a:r>
              <a:rPr kumimoji="0" lang="en-US" sz="2400" b="1" i="0" u="none" strike="noStrike" cap="none" normalizeH="0" baseline="0" dirty="0">
                <a:ln>
                  <a:noFill/>
                </a:ln>
                <a:solidFill>
                  <a:schemeClr val="tx1"/>
                </a:solidFill>
                <a:effectLst/>
                <a:latin typeface="Calibri" pitchFamily="34" charset="0"/>
                <a:ea typeface="宋体" pitchFamily="2" charset="-122"/>
              </a:rPr>
              <a:t> </a:t>
            </a:r>
            <a:r>
              <a:rPr kumimoji="0" lang="en-US" sz="2400" b="1" i="0" u="none" strike="noStrike" cap="none" normalizeH="0" baseline="0" dirty="0" err="1">
                <a:ln>
                  <a:noFill/>
                </a:ln>
                <a:solidFill>
                  <a:schemeClr val="tx1"/>
                </a:solidFill>
                <a:effectLst/>
                <a:latin typeface="Calibri" pitchFamily="34" charset="0"/>
                <a:ea typeface="宋体" pitchFamily="2" charset="-122"/>
              </a:rPr>
              <a:t>isa</a:t>
            </a:r>
            <a:endParaRPr kumimoji="0" lang="en-SG" sz="2400" b="1" i="0" u="none" strike="noStrike" cap="none" normalizeH="0" baseline="0" dirty="0">
              <a:ln>
                <a:noFill/>
              </a:ln>
              <a:solidFill>
                <a:schemeClr val="tx1"/>
              </a:solidFill>
              <a:effectLst/>
              <a:latin typeface="Calibri" pitchFamily="34" charset="0"/>
              <a:ea typeface="宋体" pitchFamily="2" charset="-122"/>
            </a:endParaRPr>
          </a:p>
        </p:txBody>
      </p:sp>
      <p:sp>
        <p:nvSpPr>
          <p:cNvPr id="62" name="Line 39"/>
          <p:cNvSpPr>
            <a:spLocks noChangeShapeType="1"/>
          </p:cNvSpPr>
          <p:nvPr/>
        </p:nvSpPr>
        <p:spPr bwMode="auto">
          <a:xfrm>
            <a:off x="5760131" y="1379051"/>
            <a:ext cx="684077" cy="17619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3" name="Line 39"/>
          <p:cNvSpPr>
            <a:spLocks noChangeShapeType="1"/>
          </p:cNvSpPr>
          <p:nvPr/>
        </p:nvSpPr>
        <p:spPr bwMode="auto">
          <a:xfrm flipV="1">
            <a:off x="5796137" y="3359773"/>
            <a:ext cx="648071" cy="195400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4" name="Rectangle 5"/>
          <p:cNvSpPr>
            <a:spLocks noChangeArrowheads="1"/>
          </p:cNvSpPr>
          <p:nvPr/>
        </p:nvSpPr>
        <p:spPr bwMode="auto">
          <a:xfrm>
            <a:off x="7560332" y="3006903"/>
            <a:ext cx="1260140" cy="457200"/>
          </a:xfrm>
          <a:prstGeom prst="rect">
            <a:avLst/>
          </a:prstGeom>
          <a:solidFill>
            <a:srgbClr val="33CCFF"/>
          </a:solidFill>
          <a:ln w="25400">
            <a:solidFill>
              <a:schemeClr val="tx1"/>
            </a:solidFill>
            <a:miter lim="800000"/>
            <a:headEnd/>
            <a:tailEnd/>
          </a:ln>
          <a:effectLst/>
        </p:spPr>
        <p:txBody>
          <a:bodyPr wrap="none" anchor="ctr"/>
          <a:lstStyle/>
          <a:p>
            <a:pPr algn="ctr"/>
            <a:r>
              <a:rPr lang="en-US" sz="2400" b="1" dirty="0">
                <a:latin typeface="Calibri" pitchFamily="34" charset="0"/>
              </a:rPr>
              <a:t>Persons</a:t>
            </a:r>
          </a:p>
        </p:txBody>
      </p:sp>
      <p:sp>
        <p:nvSpPr>
          <p:cNvPr id="65" name="Line 39"/>
          <p:cNvSpPr>
            <a:spLocks noChangeShapeType="1"/>
          </p:cNvSpPr>
          <p:nvPr/>
        </p:nvSpPr>
        <p:spPr bwMode="auto">
          <a:xfrm>
            <a:off x="7236296" y="3235501"/>
            <a:ext cx="324036"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66" name="Oval 25"/>
          <p:cNvSpPr>
            <a:spLocks noChangeArrowheads="1"/>
          </p:cNvSpPr>
          <p:nvPr/>
        </p:nvSpPr>
        <p:spPr bwMode="auto">
          <a:xfrm>
            <a:off x="7662509" y="4358900"/>
            <a:ext cx="936104" cy="427484"/>
          </a:xfrm>
          <a:prstGeom prst="ellipse">
            <a:avLst/>
          </a:prstGeom>
          <a:solidFill>
            <a:srgbClr val="FFFF99"/>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b="1" u="sng" dirty="0">
                <a:latin typeface="Calibri" pitchFamily="34" charset="0"/>
              </a:rPr>
              <a:t>ID</a:t>
            </a:r>
          </a:p>
        </p:txBody>
      </p:sp>
      <p:sp>
        <p:nvSpPr>
          <p:cNvPr id="67" name="Line 39"/>
          <p:cNvSpPr>
            <a:spLocks noChangeShapeType="1"/>
          </p:cNvSpPr>
          <p:nvPr/>
        </p:nvSpPr>
        <p:spPr bwMode="auto">
          <a:xfrm flipV="1">
            <a:off x="8130560" y="3464103"/>
            <a:ext cx="246195" cy="9282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2400" b="1">
              <a:latin typeface="Calibri" pitchFamily="34" charset="0"/>
            </a:endParaRPr>
          </a:p>
        </p:txBody>
      </p:sp>
      <p:sp>
        <p:nvSpPr>
          <p:cNvPr id="48" name="Title 1"/>
          <p:cNvSpPr>
            <a:spLocks noGrp="1"/>
          </p:cNvSpPr>
          <p:nvPr>
            <p:ph type="title"/>
          </p:nvPr>
        </p:nvSpPr>
        <p:spPr>
          <a:xfrm>
            <a:off x="457200" y="277813"/>
            <a:ext cx="8229600" cy="1139825"/>
          </a:xfrm>
        </p:spPr>
        <p:txBody>
          <a:bodyPr/>
          <a:lstStyle/>
          <a:p>
            <a:r>
              <a:rPr lang="en-US" dirty="0"/>
              <a:t>Exercise</a:t>
            </a:r>
            <a:endParaRPr lang="en-SG" dirty="0"/>
          </a:p>
        </p:txBody>
      </p:sp>
    </p:spTree>
    <p:extLst>
      <p:ext uri="{BB962C8B-B14F-4D97-AF65-F5344CB8AC3E}">
        <p14:creationId xmlns:p14="http://schemas.microsoft.com/office/powerpoint/2010/main" val="31949058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0652916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Persons( </a:t>
            </a:r>
            <a:r>
              <a:rPr lang="en-US" u="sng" dirty="0"/>
              <a:t>ID</a:t>
            </a:r>
            <a:r>
              <a:rPr lang="en-US" dirty="0"/>
              <a:t>, </a:t>
            </a:r>
            <a:r>
              <a:rPr lang="en-US" dirty="0" err="1"/>
              <a:t>lname</a:t>
            </a:r>
            <a:r>
              <a:rPr lang="en-US" dirty="0"/>
              <a:t>, </a:t>
            </a:r>
            <a:r>
              <a:rPr lang="en-US" dirty="0" err="1"/>
              <a:t>fname</a:t>
            </a:r>
            <a:r>
              <a:rPr lang="en-US" dirty="0"/>
              <a:t>, ZIP )</a:t>
            </a:r>
          </a:p>
          <a:p>
            <a:r>
              <a:rPr lang="en-US" dirty="0"/>
              <a:t>Employees( </a:t>
            </a:r>
            <a:r>
              <a:rPr lang="en-US" u="sng" dirty="0"/>
              <a:t>ID</a:t>
            </a:r>
            <a:r>
              <a:rPr lang="en-US" dirty="0"/>
              <a:t>, EID )</a:t>
            </a:r>
          </a:p>
          <a:p>
            <a:r>
              <a:rPr lang="en-US" dirty="0"/>
              <a:t>Customers( </a:t>
            </a:r>
            <a:r>
              <a:rPr lang="en-US" u="sng" dirty="0"/>
              <a:t>ID</a:t>
            </a:r>
            <a:r>
              <a:rPr lang="en-US" dirty="0"/>
              <a:t>, CID )</a:t>
            </a:r>
          </a:p>
          <a:p>
            <a:r>
              <a:rPr lang="en-US" dirty="0"/>
              <a:t>Parts( </a:t>
            </a:r>
            <a:r>
              <a:rPr lang="en-US" u="sng" dirty="0"/>
              <a:t>PID</a:t>
            </a:r>
            <a:r>
              <a:rPr lang="en-US" dirty="0"/>
              <a:t>, name, price, stock )</a:t>
            </a:r>
          </a:p>
          <a:p>
            <a:r>
              <a:rPr lang="en-US" dirty="0"/>
              <a:t>Orders( </a:t>
            </a:r>
            <a:r>
              <a:rPr lang="en-US" u="sng" dirty="0"/>
              <a:t>OID</a:t>
            </a:r>
            <a:r>
              <a:rPr lang="en-US" dirty="0"/>
              <a:t>, ID-E, ID-C )</a:t>
            </a:r>
          </a:p>
          <a:p>
            <a:r>
              <a:rPr lang="en-US" dirty="0" err="1"/>
              <a:t>OrderDetails</a:t>
            </a:r>
            <a:r>
              <a:rPr lang="en-US" dirty="0"/>
              <a:t>( </a:t>
            </a:r>
            <a:r>
              <a:rPr lang="en-US" u="sng" dirty="0"/>
              <a:t>OID</a:t>
            </a:r>
            <a:r>
              <a:rPr lang="en-US" dirty="0"/>
              <a:t>, </a:t>
            </a:r>
            <a:r>
              <a:rPr lang="en-US" u="sng" dirty="0"/>
              <a:t>PID</a:t>
            </a:r>
            <a:r>
              <a:rPr lang="en-US" dirty="0"/>
              <a:t>, quantity, </a:t>
            </a:r>
            <a:r>
              <a:rPr lang="en-US" dirty="0" err="1"/>
              <a:t>shipdate</a:t>
            </a:r>
            <a:r>
              <a:rPr lang="en-US" dirty="0"/>
              <a:t> )</a:t>
            </a:r>
          </a:p>
          <a:p>
            <a:endParaRPr lang="en-US" dirty="0"/>
          </a:p>
          <a:p>
            <a:r>
              <a:rPr lang="en-US" dirty="0"/>
              <a:t>Note: </a:t>
            </a:r>
          </a:p>
          <a:p>
            <a:pPr lvl="1"/>
            <a:r>
              <a:rPr lang="en-US" dirty="0"/>
              <a:t>Orders.ID-E is a foreign key referencing Employees.ID</a:t>
            </a:r>
          </a:p>
          <a:p>
            <a:pPr lvl="1"/>
            <a:r>
              <a:rPr lang="en-US" dirty="0"/>
              <a:t>Orders.ID-C is a foreign key referencing Customer.ID</a:t>
            </a:r>
          </a:p>
          <a:p>
            <a:pPr lvl="1"/>
            <a:endParaRPr lang="en-US" dirty="0"/>
          </a:p>
        </p:txBody>
      </p:sp>
    </p:spTree>
    <p:extLst>
      <p:ext uri="{BB962C8B-B14F-4D97-AF65-F5344CB8AC3E}">
        <p14:creationId xmlns:p14="http://schemas.microsoft.com/office/powerpoint/2010/main" val="3182533545"/>
      </p:ext>
    </p:extLst>
  </p:cSld>
  <p:clrMapOvr>
    <a:masterClrMapping/>
  </p:clrMapOvr>
</p:sld>
</file>

<file path=ppt/theme/theme1.xml><?xml version="1.0" encoding="utf-8"?>
<a:theme xmlns:a="http://schemas.openxmlformats.org/drawingml/2006/main" name="Edge">
  <a:themeElements>
    <a:clrScheme name="Edge 12">
      <a:dk1>
        <a:srgbClr val="000000"/>
      </a:dk1>
      <a:lt1>
        <a:srgbClr val="FFFFFF"/>
      </a:lt1>
      <a:dk2>
        <a:srgbClr val="000000"/>
      </a:dk2>
      <a:lt2>
        <a:srgbClr val="666699"/>
      </a:lt2>
      <a:accent1>
        <a:srgbClr val="3366FF"/>
      </a:accent1>
      <a:accent2>
        <a:srgbClr val="3366FF"/>
      </a:accent2>
      <a:accent3>
        <a:srgbClr val="FFFFFF"/>
      </a:accent3>
      <a:accent4>
        <a:srgbClr val="000000"/>
      </a:accent4>
      <a:accent5>
        <a:srgbClr val="ADB8FF"/>
      </a:accent5>
      <a:accent6>
        <a:srgbClr val="2D5CE7"/>
      </a:accent6>
      <a:hlink>
        <a:srgbClr val="006666"/>
      </a:hlink>
      <a:folHlink>
        <a:srgbClr val="B2B2B2"/>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0">
        <a:dk1>
          <a:srgbClr val="000000"/>
        </a:dk1>
        <a:lt1>
          <a:srgbClr val="FFFFFF"/>
        </a:lt1>
        <a:dk2>
          <a:srgbClr val="000000"/>
        </a:dk2>
        <a:lt2>
          <a:srgbClr val="666699"/>
        </a:lt2>
        <a:accent1>
          <a:srgbClr val="3366FF"/>
        </a:accent1>
        <a:accent2>
          <a:srgbClr val="3366FF"/>
        </a:accent2>
        <a:accent3>
          <a:srgbClr val="FFFFFF"/>
        </a:accent3>
        <a:accent4>
          <a:srgbClr val="000000"/>
        </a:accent4>
        <a:accent5>
          <a:srgbClr val="ADB8FF"/>
        </a:accent5>
        <a:accent6>
          <a:srgbClr val="2D5CE7"/>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1">
        <a:dk1>
          <a:srgbClr val="000000"/>
        </a:dk1>
        <a:lt1>
          <a:srgbClr val="FFFFFF"/>
        </a:lt1>
        <a:dk2>
          <a:srgbClr val="000000"/>
        </a:dk2>
        <a:lt2>
          <a:srgbClr val="666699"/>
        </a:lt2>
        <a:accent1>
          <a:srgbClr val="009999"/>
        </a:accent1>
        <a:accent2>
          <a:srgbClr val="009999"/>
        </a:accent2>
        <a:accent3>
          <a:srgbClr val="FFFFFF"/>
        </a:accent3>
        <a:accent4>
          <a:srgbClr val="000000"/>
        </a:accent4>
        <a:accent5>
          <a:srgbClr val="AACACA"/>
        </a:accent5>
        <a:accent6>
          <a:srgbClr val="008A8A"/>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2">
        <a:dk1>
          <a:srgbClr val="000000"/>
        </a:dk1>
        <a:lt1>
          <a:srgbClr val="FFFFFF"/>
        </a:lt1>
        <a:dk2>
          <a:srgbClr val="000000"/>
        </a:dk2>
        <a:lt2>
          <a:srgbClr val="666699"/>
        </a:lt2>
        <a:accent1>
          <a:srgbClr val="3366FF"/>
        </a:accent1>
        <a:accent2>
          <a:srgbClr val="3366FF"/>
        </a:accent2>
        <a:accent3>
          <a:srgbClr val="FFFFFF"/>
        </a:accent3>
        <a:accent4>
          <a:srgbClr val="000000"/>
        </a:accent4>
        <a:accent5>
          <a:srgbClr val="ADB8FF"/>
        </a:accent5>
        <a:accent6>
          <a:srgbClr val="2D5CE7"/>
        </a:accent6>
        <a:hlink>
          <a:srgbClr val="006666"/>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11</TotalTime>
  <Words>4152</Words>
  <Application>Microsoft Office PowerPoint</Application>
  <PresentationFormat>On-screen Show (4:3)</PresentationFormat>
  <Paragraphs>1033</Paragraphs>
  <Slides>98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98</vt:i4>
      </vt:variant>
    </vt:vector>
  </HeadingPairs>
  <TitlesOfParts>
    <vt:vector size="105" baseType="lpstr">
      <vt:lpstr>宋体</vt:lpstr>
      <vt:lpstr>Arial</vt:lpstr>
      <vt:lpstr>Calibri</vt:lpstr>
      <vt:lpstr>Comic Sans MS</vt:lpstr>
      <vt:lpstr>Garamond</vt:lpstr>
      <vt:lpstr>Wingdings</vt:lpstr>
      <vt:lpstr>Edge</vt:lpstr>
      <vt:lpstr>CS2102 Database Systems</vt:lpstr>
      <vt:lpstr>Recap</vt:lpstr>
      <vt:lpstr>Database Design</vt:lpstr>
      <vt:lpstr>Database Design</vt:lpstr>
      <vt:lpstr>ER Diagrams</vt:lpstr>
      <vt:lpstr>ER Diagram</vt:lpstr>
      <vt:lpstr>ER Diagram</vt:lpstr>
      <vt:lpstr>ER Diagram</vt:lpstr>
      <vt:lpstr>ER Diagram</vt:lpstr>
      <vt:lpstr>ER Diagram</vt:lpstr>
      <vt:lpstr>ER Diagram</vt:lpstr>
      <vt:lpstr>Types of Relationships</vt:lpstr>
      <vt:lpstr>Many-to-Many Relationship</vt:lpstr>
      <vt:lpstr>Many-to-One Relationship</vt:lpstr>
      <vt:lpstr>One-to-One Relationship</vt:lpstr>
      <vt:lpstr>Exercise</vt:lpstr>
      <vt:lpstr>Exercise</vt:lpstr>
      <vt:lpstr>Exercise</vt:lpstr>
      <vt:lpstr>Checkpoint</vt:lpstr>
      <vt:lpstr>Multi-way Relationships</vt:lpstr>
      <vt:lpstr>Multi-way Relationships</vt:lpstr>
      <vt:lpstr>Multi-way Relationships</vt:lpstr>
      <vt:lpstr>From Multi-way to Binary</vt:lpstr>
      <vt:lpstr>Constraints on Relationships</vt:lpstr>
      <vt:lpstr>Participation Constraints</vt:lpstr>
      <vt:lpstr>Participation Constraints</vt:lpstr>
      <vt:lpstr>Participation Constraints</vt:lpstr>
      <vt:lpstr>Exercise</vt:lpstr>
      <vt:lpstr>Exercise</vt:lpstr>
      <vt:lpstr>Participation Constraints</vt:lpstr>
      <vt:lpstr>Exercise</vt:lpstr>
      <vt:lpstr>PowerPoint Presentation</vt:lpstr>
      <vt:lpstr>PowerPoint Presentation</vt:lpstr>
      <vt:lpstr>Checkpoint</vt:lpstr>
      <vt:lpstr>Roles</vt:lpstr>
      <vt:lpstr>Roles</vt:lpstr>
      <vt:lpstr>Roles</vt:lpstr>
      <vt:lpstr>One More Thing about Relationships</vt:lpstr>
      <vt:lpstr>One More Thing about Relationships</vt:lpstr>
      <vt:lpstr>One More Thing about Entity Sets</vt:lpstr>
      <vt:lpstr>PowerPoint Presentation</vt:lpstr>
      <vt:lpstr>PowerPoint Presentation</vt:lpstr>
      <vt:lpstr>Checkpoint</vt:lpstr>
      <vt:lpstr>Weak Entity Sets</vt:lpstr>
      <vt:lpstr>PowerPoint Presentation</vt:lpstr>
      <vt:lpstr>Weak Entity Set (cont.)</vt:lpstr>
      <vt:lpstr>Example</vt:lpstr>
      <vt:lpstr>PowerPoint Presentation</vt:lpstr>
      <vt:lpstr>PowerPoint Presentation</vt:lpstr>
      <vt:lpstr>Checkpoint</vt:lpstr>
      <vt:lpstr>Subclass</vt:lpstr>
      <vt:lpstr>Subclass</vt:lpstr>
      <vt:lpstr>Subclass vs. Weak Entity Sets</vt:lpstr>
      <vt:lpstr>Checkpoint</vt:lpstr>
      <vt:lpstr>From Applications to ER Diagrams</vt:lpstr>
      <vt:lpstr>Design Principle 1: Be Faithful</vt:lpstr>
      <vt:lpstr>Design Principle 2: Avoid Redundancy</vt:lpstr>
      <vt:lpstr>Design Principle 3: Keep It Simple</vt:lpstr>
      <vt:lpstr>Design Principle 3: Keep It Simple</vt:lpstr>
      <vt:lpstr>Design Principle 3: Keep It Simple</vt:lpstr>
      <vt:lpstr>Design Principle 3: Keep It Simple</vt:lpstr>
      <vt:lpstr>Tips: When to Use Subclasses</vt:lpstr>
      <vt:lpstr>Design Principle 4: Don’t Over-use Weak Entity Sets </vt:lpstr>
      <vt:lpstr>Design Principle 4: Don’t Over-use Weak Entity Sets </vt:lpstr>
      <vt:lpstr>ER Diagram Design: Example</vt:lpstr>
      <vt:lpstr>PowerPoint Presentation</vt:lpstr>
      <vt:lpstr>PowerPoint Presentation</vt:lpstr>
      <vt:lpstr>PowerPoint Presentation</vt:lpstr>
      <vt:lpstr>Exercise</vt:lpstr>
      <vt:lpstr>Exercise</vt:lpstr>
      <vt:lpstr>Exercise</vt:lpstr>
      <vt:lpstr>Checkpoint</vt:lpstr>
      <vt:lpstr>Checkpoint</vt:lpstr>
      <vt:lpstr>ER Diagram  Tables</vt:lpstr>
      <vt:lpstr>ER Diagram  Tables</vt:lpstr>
      <vt:lpstr>Entity Set  Table</vt:lpstr>
      <vt:lpstr>Many-to-Many Relationship  Table</vt:lpstr>
      <vt:lpstr>Many-to-Many Relationship  Table</vt:lpstr>
      <vt:lpstr>ER Diagram  Tables</vt:lpstr>
      <vt:lpstr>Many-to-One Relationship  Table</vt:lpstr>
      <vt:lpstr>Many-to-One Relationship  Table</vt:lpstr>
      <vt:lpstr>Many-to-One Relationship  Table</vt:lpstr>
      <vt:lpstr>One-to-One Relationship  Table</vt:lpstr>
      <vt:lpstr>One-to-One Relationship  Table</vt:lpstr>
      <vt:lpstr>One-to-One Relationship  Table</vt:lpstr>
      <vt:lpstr>One-to-One Relationship  Table</vt:lpstr>
      <vt:lpstr>One-to-One Relationship  Table</vt:lpstr>
      <vt:lpstr>One-to-One Relationship  Table</vt:lpstr>
      <vt:lpstr>ER Diagram  Tables</vt:lpstr>
      <vt:lpstr>Weak Entity Set  Table</vt:lpstr>
      <vt:lpstr>Subclass  Relation</vt:lpstr>
      <vt:lpstr>The ER approach</vt:lpstr>
      <vt:lpstr>The OO approach</vt:lpstr>
      <vt:lpstr>The NULL approach</vt:lpstr>
      <vt:lpstr>Which Approach is the Best?</vt:lpstr>
      <vt:lpstr>Exercise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 Preserving Data Publishing</dc:title>
  <dc:creator>xiaokui</dc:creator>
  <cp:lastModifiedBy>Xiaokui XIAO</cp:lastModifiedBy>
  <cp:revision>1141</cp:revision>
  <cp:lastPrinted>2014-09-11T02:14:07Z</cp:lastPrinted>
  <dcterms:created xsi:type="dcterms:W3CDTF">2009-03-02T02:47:37Z</dcterms:created>
  <dcterms:modified xsi:type="dcterms:W3CDTF">2019-06-17T08:22:41Z</dcterms:modified>
</cp:coreProperties>
</file>