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16" r:id="rId1"/>
  </p:sldMasterIdLst>
  <p:notesMasterIdLst>
    <p:notesMasterId r:id="rId73"/>
  </p:notesMasterIdLst>
  <p:handoutMasterIdLst>
    <p:handoutMasterId r:id="rId74"/>
  </p:handoutMasterIdLst>
  <p:sldIdLst>
    <p:sldId id="256" r:id="rId2"/>
    <p:sldId id="525" r:id="rId3"/>
    <p:sldId id="526" r:id="rId4"/>
    <p:sldId id="527" r:id="rId5"/>
    <p:sldId id="537" r:id="rId6"/>
    <p:sldId id="529" r:id="rId7"/>
    <p:sldId id="530" r:id="rId8"/>
    <p:sldId id="534" r:id="rId9"/>
    <p:sldId id="535" r:id="rId10"/>
    <p:sldId id="536" r:id="rId11"/>
    <p:sldId id="538" r:id="rId12"/>
    <p:sldId id="539" r:id="rId13"/>
    <p:sldId id="540" r:id="rId14"/>
    <p:sldId id="541" r:id="rId15"/>
    <p:sldId id="542" r:id="rId16"/>
    <p:sldId id="543" r:id="rId17"/>
    <p:sldId id="544" r:id="rId18"/>
    <p:sldId id="545" r:id="rId19"/>
    <p:sldId id="546" r:id="rId20"/>
    <p:sldId id="547" r:id="rId21"/>
    <p:sldId id="560" r:id="rId22"/>
    <p:sldId id="559" r:id="rId23"/>
    <p:sldId id="549" r:id="rId24"/>
    <p:sldId id="550" r:id="rId25"/>
    <p:sldId id="555" r:id="rId26"/>
    <p:sldId id="556" r:id="rId27"/>
    <p:sldId id="553" r:id="rId28"/>
    <p:sldId id="557" r:id="rId29"/>
    <p:sldId id="558" r:id="rId30"/>
    <p:sldId id="561" r:id="rId31"/>
    <p:sldId id="562" r:id="rId32"/>
    <p:sldId id="564" r:id="rId33"/>
    <p:sldId id="565" r:id="rId34"/>
    <p:sldId id="566" r:id="rId35"/>
    <p:sldId id="567" r:id="rId36"/>
    <p:sldId id="568" r:id="rId37"/>
    <p:sldId id="569" r:id="rId38"/>
    <p:sldId id="570" r:id="rId39"/>
    <p:sldId id="571" r:id="rId40"/>
    <p:sldId id="572" r:id="rId41"/>
    <p:sldId id="576" r:id="rId42"/>
    <p:sldId id="573" r:id="rId43"/>
    <p:sldId id="575" r:id="rId44"/>
    <p:sldId id="574" r:id="rId45"/>
    <p:sldId id="577" r:id="rId46"/>
    <p:sldId id="578" r:id="rId47"/>
    <p:sldId id="579" r:id="rId48"/>
    <p:sldId id="580" r:id="rId49"/>
    <p:sldId id="581" r:id="rId50"/>
    <p:sldId id="582" r:id="rId51"/>
    <p:sldId id="586" r:id="rId52"/>
    <p:sldId id="585" r:id="rId53"/>
    <p:sldId id="587" r:id="rId54"/>
    <p:sldId id="589" r:id="rId55"/>
    <p:sldId id="590" r:id="rId56"/>
    <p:sldId id="591" r:id="rId57"/>
    <p:sldId id="592" r:id="rId58"/>
    <p:sldId id="593" r:id="rId59"/>
    <p:sldId id="594" r:id="rId60"/>
    <p:sldId id="595" r:id="rId61"/>
    <p:sldId id="596" r:id="rId62"/>
    <p:sldId id="597" r:id="rId63"/>
    <p:sldId id="598" r:id="rId64"/>
    <p:sldId id="599" r:id="rId65"/>
    <p:sldId id="600" r:id="rId66"/>
    <p:sldId id="601" r:id="rId67"/>
    <p:sldId id="602" r:id="rId68"/>
    <p:sldId id="603" r:id="rId69"/>
    <p:sldId id="604" r:id="rId70"/>
    <p:sldId id="605" r:id="rId71"/>
    <p:sldId id="606" r:id="rId72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0000FF"/>
    <a:srgbClr val="CC00CC"/>
    <a:srgbClr val="A50021"/>
    <a:srgbClr val="CC3300"/>
    <a:srgbClr val="FF9900"/>
    <a:srgbClr val="33CC33"/>
    <a:srgbClr val="66FF33"/>
    <a:srgbClr val="00CC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1882" autoAdjust="0"/>
  </p:normalViewPr>
  <p:slideViewPr>
    <p:cSldViewPr>
      <p:cViewPr varScale="1">
        <p:scale>
          <a:sx n="111" d="100"/>
          <a:sy n="111" d="100"/>
        </p:scale>
        <p:origin x="1616" y="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1344" y="0"/>
            <a:ext cx="3037840" cy="464820"/>
          </a:xfrm>
          <a:prstGeom prst="rect">
            <a:avLst/>
          </a:prstGeom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>
            <a:lvl1pPr algn="r">
              <a:defRPr smtClean="0"/>
            </a:lvl1pPr>
          </a:lstStyle>
          <a:p>
            <a:pPr>
              <a:defRPr/>
            </a:pPr>
            <a:fld id="{1A395C66-BAC7-4947-A978-17979EC9EE5D}" type="datetimeFigureOut">
              <a:rPr lang="zh-CN" altLang="en-US"/>
              <a:pPr>
                <a:defRPr/>
              </a:pPr>
              <a:t>2019/6/18</a:t>
            </a:fld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429"/>
            <a:ext cx="3037840" cy="464820"/>
          </a:xfrm>
          <a:prstGeom prst="rect">
            <a:avLst/>
          </a:prstGeom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1344" y="8829429"/>
            <a:ext cx="3037840" cy="464820"/>
          </a:xfrm>
          <a:prstGeom prst="rect">
            <a:avLst/>
          </a:prstGeom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r">
              <a:defRPr smtClean="0"/>
            </a:lvl1pPr>
          </a:lstStyle>
          <a:p>
            <a:pPr>
              <a:defRPr/>
            </a:pPr>
            <a:fld id="{4239E3A9-FBC1-4C90-89C7-C86D175BA3F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57083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344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8C874FDD-B067-4E5B-9185-454DDEAB3F7B}" type="datetimeFigureOut">
              <a:rPr lang="zh-CN" altLang="en-US"/>
              <a:pPr>
                <a:defRPr/>
              </a:pPr>
              <a:t>2019/6/18</a:t>
            </a:fld>
            <a:endParaRPr lang="en-US" altLang="zh-CN"/>
          </a:p>
        </p:txBody>
      </p:sp>
      <p:sp>
        <p:nvSpPr>
          <p:cNvPr id="471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5325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040" y="4415790"/>
            <a:ext cx="5608320" cy="4183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368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429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68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344" y="8829429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1A4026A9-F546-4A60-85FC-C280A3E995E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468915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695325"/>
            <a:ext cx="4648200" cy="3486150"/>
          </a:xfrm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938237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4026A9-F546-4A60-85FC-C280A3E995E5}" type="slidenum">
              <a:rPr lang="zh-CN" altLang="en-US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70350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4026A9-F546-4A60-85FC-C280A3E995E5}" type="slidenum">
              <a:rPr lang="zh-CN" altLang="en-US" smtClean="0"/>
              <a:pPr>
                <a:defRPr/>
              </a:pPr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677520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4026A9-F546-4A60-85FC-C280A3E995E5}" type="slidenum">
              <a:rPr lang="zh-CN" altLang="en-US" smtClean="0"/>
              <a:pPr>
                <a:defRPr/>
              </a:pPr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2759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1" y="1524000"/>
            <a:ext cx="7623175" cy="1752600"/>
          </a:xfrm>
        </p:spPr>
        <p:txBody>
          <a:bodyPr/>
          <a:lstStyle>
            <a:lvl1pPr>
              <a:defRPr sz="5000" b="1">
                <a:latin typeface="Calibri" pitchFamily="34" charset="0"/>
                <a:cs typeface="Iskoola Pota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>
                <a:latin typeface="Calibri" pitchFamily="34" charset="0"/>
                <a:cs typeface="Iskoola Pota" pitchFamily="34" charset="0"/>
              </a:defRPr>
            </a:lvl1pPr>
          </a:lstStyle>
          <a:p>
            <a:r>
              <a:rPr lang="en-US" altLang="zh-CN" dirty="0"/>
              <a:t>Click to edit Master subtitle style</a:t>
            </a:r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fld id="{FD6CDC6D-4EE0-4163-813D-9CD3796578B8}" type="datetimeFigureOut">
              <a:rPr lang="zh-CN" altLang="en-US" smtClean="0"/>
              <a:pPr>
                <a:defRPr/>
              </a:pPr>
              <a:t>2019/6/18</a:t>
            </a:fld>
            <a:endParaRPr lang="en-US" altLang="zh-CN"/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fld id="{8FC893D8-0101-4D6A-B8CF-851210C370AF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199" name="Freeform 7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 sz="1200">
              <a:latin typeface="Calibri" pitchFamily="34" charset="0"/>
            </a:endParaRPr>
          </a:p>
        </p:txBody>
      </p:sp>
      <p:sp>
        <p:nvSpPr>
          <p:cNvPr id="8200" name="Line 8"/>
          <p:cNvSpPr>
            <a:spLocks noChangeShapeType="1"/>
          </p:cNvSpPr>
          <p:nvPr/>
        </p:nvSpPr>
        <p:spPr bwMode="auto">
          <a:xfrm>
            <a:off x="1981201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sz="1200" dirty="0">
              <a:latin typeface="Calibri" pitchFamily="34" charset="0"/>
              <a:cs typeface="Iskoola Pota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fld id="{2D1CC542-DA65-4D97-A79C-E6B794CDE341}" type="datetimeFigureOut">
              <a:rPr lang="zh-CN" altLang="en-US" smtClean="0"/>
              <a:pPr>
                <a:defRPr/>
              </a:pPr>
              <a:t>2019/6/18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fld id="{B21C098B-AF64-43D3-8114-98CE067A81C3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/>
          <a:lstStyle>
            <a:lvl1pPr algn="l">
              <a:defRPr sz="4000" b="1" cap="all">
                <a:latin typeface="Calibr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latin typeface="Calibri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fld id="{42868A76-9B69-47BF-9E4A-96902B10A1E7}" type="datetimeFigureOut">
              <a:rPr lang="zh-CN" altLang="en-US" smtClean="0"/>
              <a:pPr>
                <a:defRPr/>
              </a:pPr>
              <a:t>2019/6/18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fld id="{E69D6CF1-B5B0-45CC-A494-C560F80EF87C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30725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30725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fld id="{66193BC6-5129-4551-9A0C-D589C1FA99E0}" type="datetimeFigureOut">
              <a:rPr lang="zh-CN" altLang="en-US" smtClean="0"/>
              <a:pPr>
                <a:defRPr/>
              </a:pPr>
              <a:t>2019/6/18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fld id="{9A794451-DE8C-4F17-A5F8-6E9471C791FF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fld id="{1DD4FC51-53E4-4B4A-8408-0D7C776F0E9B}" type="datetimeFigureOut">
              <a:rPr lang="zh-CN" altLang="en-US" smtClean="0"/>
              <a:pPr>
                <a:defRPr/>
              </a:pPr>
              <a:t>2019/6/18</a:t>
            </a:fld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fld id="{74DCD14B-0E03-45C4-9CB4-EC1BF9DBC28A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fld id="{29D9692D-24FD-4BF2-843F-111947BC32F2}" type="datetimeFigureOut">
              <a:rPr lang="zh-CN" altLang="en-US" smtClean="0"/>
              <a:pPr>
                <a:defRPr/>
              </a:pPr>
              <a:t>2019/6/18</a:t>
            </a:fld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fld id="{B41499DB-596E-406E-A850-ADBBE4ACAF6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07657F-E8DF-42F6-A122-EC46F94251E9}" type="datetimeFigureOut">
              <a:rPr lang="zh-CN" altLang="en-US" smtClean="0"/>
              <a:pPr>
                <a:defRPr/>
              </a:pPr>
              <a:t>2019/6/18</a:t>
            </a:fld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521A6B-41C5-43CE-82EC-EE99A774C93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91453A-18CE-4CCF-8E9D-7173DDA93971}" type="datetimeFigureOut">
              <a:rPr lang="zh-CN" altLang="en-US" smtClean="0"/>
              <a:pPr>
                <a:defRPr/>
              </a:pPr>
              <a:t>2019/6/18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DBB9F9-E069-4585-84F6-CF7DDE5C2DA8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46D232-B991-4B2D-9ABC-E8235D4C177C}" type="datetimeFigureOut">
              <a:rPr lang="zh-CN" altLang="en-US" smtClean="0"/>
              <a:pPr>
                <a:defRPr/>
              </a:pPr>
              <a:t>2019/6/18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2185E5-D22F-4151-B7A0-3D1C0E84A9F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B0466F-4628-4FD0-96E3-BD8917FD5FD0}" type="datetimeFigureOut">
              <a:rPr lang="zh-CN" altLang="en-US" smtClean="0"/>
              <a:pPr>
                <a:defRPr/>
              </a:pPr>
              <a:t>2019/6/18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4B01DE-58FC-4595-BD9C-BE624D0330DD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6B8E33-68C8-450A-AAFD-1D2427969E67}" type="datetimeFigureOut">
              <a:rPr lang="zh-CN" altLang="en-US" smtClean="0"/>
              <a:pPr>
                <a:defRPr/>
              </a:pPr>
              <a:t>2019/6/18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EABE93-1989-44EE-8354-A9E88BBC465A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5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82296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3941763"/>
            <a:ext cx="82296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2F4355-5CB1-4ACF-BDD9-483BD3E683DD}" type="datetimeFigureOut">
              <a:rPr lang="zh-CN" altLang="en-US" smtClean="0"/>
              <a:pPr>
                <a:defRPr/>
              </a:pPr>
              <a:t>2019/6/18</a:t>
            </a:fld>
            <a:endParaRPr lang="en-US" altLang="zh-CN">
              <a:solidFill>
                <a:srgbClr val="045C75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C11BA6-15D4-4D8B-A31B-49D97CB27F55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rgbClr val="045C75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7815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2"/>
            <a:ext cx="40386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2"/>
            <a:ext cx="40386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41763"/>
            <a:ext cx="40386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2F4355-5CB1-4ACF-BDD9-483BD3E683DD}" type="datetimeFigureOut">
              <a:rPr lang="zh-CN" altLang="en-US" smtClean="0"/>
              <a:pPr>
                <a:defRPr/>
              </a:pPr>
              <a:t>2019/6/18</a:t>
            </a:fld>
            <a:endParaRPr lang="en-US" altLang="zh-CN">
              <a:solidFill>
                <a:srgbClr val="045C75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C11BA6-15D4-4D8B-A31B-49D97CB27F55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rgbClr val="045C75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5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2"/>
            <a:ext cx="82296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3941763"/>
            <a:ext cx="82296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2F4355-5CB1-4ACF-BDD9-483BD3E683DD}" type="datetimeFigureOut">
              <a:rPr lang="zh-CN" altLang="en-US" smtClean="0"/>
              <a:pPr>
                <a:defRPr/>
              </a:pPr>
              <a:t>2019/6/18</a:t>
            </a:fld>
            <a:endParaRPr lang="en-US" altLang="zh-CN">
              <a:solidFill>
                <a:srgbClr val="045C75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C11BA6-15D4-4D8B-A31B-49D97CB27F55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rgbClr val="045C75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5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2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2F4355-5CB1-4ACF-BDD9-483BD3E683DD}" type="datetimeFigureOut">
              <a:rPr lang="zh-CN" altLang="en-US" smtClean="0"/>
              <a:pPr>
                <a:defRPr/>
              </a:pPr>
              <a:t>2019/6/18</a:t>
            </a:fld>
            <a:endParaRPr lang="en-US" altLang="zh-CN">
              <a:solidFill>
                <a:srgbClr val="045C75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C11BA6-15D4-4D8B-A31B-49D97CB27F55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rgbClr val="045C75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5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2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200" b="0">
                <a:latin typeface="Calibri" pitchFamily="34" charset="0"/>
              </a:defRPr>
            </a:lvl1pPr>
          </a:lstStyle>
          <a:p>
            <a:pPr>
              <a:defRPr/>
            </a:pPr>
            <a:fld id="{D92F4355-5CB1-4ACF-BDD9-483BD3E683DD}" type="datetimeFigureOut">
              <a:rPr lang="zh-CN" altLang="en-US" smtClean="0"/>
              <a:pPr>
                <a:defRPr/>
              </a:pPr>
              <a:t>2019/6/18</a:t>
            </a:fld>
            <a:endParaRPr lang="en-US" altLang="zh-CN">
              <a:solidFill>
                <a:srgbClr val="045C75"/>
              </a:solidFill>
            </a:endParaRPr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b="0">
                <a:latin typeface="Calibri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="0">
                <a:latin typeface="Calibri" pitchFamily="34" charset="0"/>
              </a:defRPr>
            </a:lvl1pPr>
          </a:lstStyle>
          <a:p>
            <a:pPr>
              <a:defRPr/>
            </a:pPr>
            <a:fld id="{17C11BA6-15D4-4D8B-A31B-49D97CB27F55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rgbClr val="045C75"/>
              </a:solidFill>
            </a:endParaRPr>
          </a:p>
        </p:txBody>
      </p:sp>
      <p:sp>
        <p:nvSpPr>
          <p:cNvPr id="7175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 sz="1200">
              <a:latin typeface="Calibri" pitchFamily="34" charset="0"/>
            </a:endParaRPr>
          </a:p>
        </p:txBody>
      </p:sp>
      <p:sp>
        <p:nvSpPr>
          <p:cNvPr id="7176" name="Line 8"/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sz="120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7" r:id="rId1"/>
    <p:sldLayoutId id="2147484018" r:id="rId2"/>
    <p:sldLayoutId id="2147484019" r:id="rId3"/>
    <p:sldLayoutId id="2147484020" r:id="rId4"/>
    <p:sldLayoutId id="2147484021" r:id="rId5"/>
    <p:sldLayoutId id="2147484022" r:id="rId6"/>
    <p:sldLayoutId id="2147484023" r:id="rId7"/>
    <p:sldLayoutId id="2147484024" r:id="rId8"/>
    <p:sldLayoutId id="2147484025" r:id="rId9"/>
    <p:sldLayoutId id="2147484026" r:id="rId10"/>
    <p:sldLayoutId id="2147484027" r:id="rId11"/>
    <p:sldLayoutId id="2147484028" r:id="rId12"/>
    <p:sldLayoutId id="2147484029" r:id="rId13"/>
    <p:sldLayoutId id="2147484030" r:id="rId14"/>
    <p:sldLayoutId id="2147484031" r:id="rId15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Calibri" pitchFamily="34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200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669925" indent="-325438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800">
          <a:solidFill>
            <a:schemeClr val="tx1"/>
          </a:solidFill>
          <a:latin typeface="Calibri" pitchFamily="34" charset="0"/>
          <a:ea typeface="+mn-ea"/>
        </a:defRPr>
      </a:lvl2pPr>
      <a:lvl3pPr marL="1022350" indent="-35083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Calibri" pitchFamily="34" charset="0"/>
          <a:ea typeface="+mn-ea"/>
        </a:defRPr>
      </a:lvl3pPr>
      <a:lvl4pPr marL="1339850" indent="-31591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200">
          <a:solidFill>
            <a:schemeClr val="tx1"/>
          </a:solidFill>
          <a:latin typeface="Calibri" pitchFamily="34" charset="0"/>
          <a:ea typeface="+mn-ea"/>
        </a:defRPr>
      </a:lvl4pPr>
      <a:lvl5pPr marL="16811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  <a:ea typeface="+mn-ea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CN" sz="4400" dirty="0" smtClean="0"/>
              <a:t>CS2102 </a:t>
            </a:r>
            <a:br>
              <a:rPr lang="en-US" altLang="zh-CN" sz="4400" dirty="0" smtClean="0"/>
            </a:br>
            <a:r>
              <a:rPr lang="en-US" altLang="zh-CN" sz="4400" dirty="0" smtClean="0"/>
              <a:t>Database Systems</a:t>
            </a:r>
            <a:endParaRPr lang="en-US" sz="4400" dirty="0">
              <a:solidFill>
                <a:schemeClr val="tx1"/>
              </a:solidFill>
            </a:endParaRPr>
          </a:p>
        </p:txBody>
      </p:sp>
      <p:sp>
        <p:nvSpPr>
          <p:cNvPr id="13315" name="Subtitle 2"/>
          <p:cNvSpPr>
            <a:spLocks noGrp="1"/>
          </p:cNvSpPr>
          <p:nvPr>
            <p:ph type="subTitle" idx="1"/>
          </p:nvPr>
        </p:nvSpPr>
        <p:spPr>
          <a:xfrm>
            <a:off x="1981200" y="3962400"/>
            <a:ext cx="6553200" cy="2538434"/>
          </a:xfrm>
        </p:spPr>
        <p:txBody>
          <a:bodyPr>
            <a:normAutofit/>
          </a:bodyPr>
          <a:lstStyle/>
          <a:p>
            <a:pPr marL="26988"/>
            <a:endParaRPr lang="en-US" altLang="zh-CN" sz="2600" dirty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Discretionary Access </a:t>
            </a:r>
            <a:r>
              <a:rPr lang="en-US" dirty="0"/>
              <a:t>Control in Commercial Databases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commercial database systems support DAC</a:t>
            </a:r>
          </a:p>
          <a:p>
            <a:r>
              <a:rPr lang="en-US" dirty="0"/>
              <a:t>Current DAC models for relational databases are based on the System R authorization model</a:t>
            </a:r>
          </a:p>
          <a:p>
            <a:pPr lvl="1"/>
            <a:r>
              <a:rPr lang="en-US" dirty="0"/>
              <a:t>P. P. Griffiths and B. W. Wade. An Authorization Mechanism for a Relational Database System. ACM Trans. Database Syst. 1(3): 242 – 255, 1976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3708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R Authorization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Objects to protect:</a:t>
            </a:r>
          </a:p>
          <a:p>
            <a:pPr lvl="1"/>
            <a:r>
              <a:rPr lang="en-US" dirty="0"/>
              <a:t>Tables and views</a:t>
            </a:r>
          </a:p>
          <a:p>
            <a:r>
              <a:rPr lang="en-US" dirty="0"/>
              <a:t>Privileges:</a:t>
            </a:r>
          </a:p>
          <a:p>
            <a:pPr lvl="1"/>
            <a:r>
              <a:rPr lang="en-US" dirty="0"/>
              <a:t>Select, update, insert, delete, drop, index (only for tables), alter (only for tables</a:t>
            </a:r>
            <a:r>
              <a:rPr lang="en-US" dirty="0" smtClean="0"/>
              <a:t>), …</a:t>
            </a:r>
            <a:endParaRPr lang="en-US" dirty="0"/>
          </a:p>
          <a:p>
            <a:r>
              <a:rPr lang="en-US" dirty="0"/>
              <a:t>A user can grant privilege to another user and the latter </a:t>
            </a:r>
            <a:r>
              <a:rPr lang="en-US" dirty="0" smtClean="0"/>
              <a:t>can </a:t>
            </a:r>
            <a:r>
              <a:rPr lang="en-US" dirty="0"/>
              <a:t>grant it to others</a:t>
            </a:r>
          </a:p>
          <a:p>
            <a:pPr lvl="1"/>
            <a:r>
              <a:rPr lang="en-US" dirty="0"/>
              <a:t>This is done via the </a:t>
            </a:r>
            <a:r>
              <a:rPr lang="en-US" i="1" dirty="0"/>
              <a:t>grant option</a:t>
            </a:r>
          </a:p>
        </p:txBody>
      </p:sp>
    </p:spTree>
    <p:extLst>
      <p:ext uri="{BB962C8B-B14F-4D97-AF65-F5344CB8AC3E}">
        <p14:creationId xmlns:p14="http://schemas.microsoft.com/office/powerpoint/2010/main" val="953252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GRANT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GRANT </a:t>
            </a:r>
            <a:r>
              <a:rPr lang="en-US" i="1" dirty="0" err="1"/>
              <a:t>PrivilegeList</a:t>
            </a:r>
            <a:r>
              <a:rPr lang="en-US" i="1" dirty="0"/>
              <a:t> </a:t>
            </a:r>
            <a:r>
              <a:rPr lang="en-US" dirty="0"/>
              <a:t>| ALL PRIVILEGES</a:t>
            </a:r>
          </a:p>
          <a:p>
            <a:pPr marL="0" indent="0">
              <a:buNone/>
            </a:pPr>
            <a:r>
              <a:rPr lang="en-US" dirty="0"/>
              <a:t>ON </a:t>
            </a:r>
            <a:r>
              <a:rPr lang="en-US" i="1" dirty="0"/>
              <a:t>Relation</a:t>
            </a:r>
            <a:r>
              <a:rPr lang="en-US" dirty="0"/>
              <a:t> | </a:t>
            </a:r>
            <a:r>
              <a:rPr lang="en-US" i="1" dirty="0"/>
              <a:t>View</a:t>
            </a:r>
          </a:p>
          <a:p>
            <a:pPr marL="0" indent="0">
              <a:buNone/>
            </a:pPr>
            <a:r>
              <a:rPr lang="en-US" dirty="0"/>
              <a:t>TO </a:t>
            </a:r>
            <a:r>
              <a:rPr lang="en-US" i="1" dirty="0" err="1"/>
              <a:t>UserList</a:t>
            </a:r>
            <a:r>
              <a:rPr lang="en-US" dirty="0"/>
              <a:t> | PUBLIC</a:t>
            </a:r>
          </a:p>
          <a:p>
            <a:pPr marL="0" indent="0">
              <a:buNone/>
            </a:pPr>
            <a:r>
              <a:rPr lang="en-US" dirty="0"/>
              <a:t>[WITH GRANT OPTION]</a:t>
            </a:r>
          </a:p>
          <a:p>
            <a:r>
              <a:rPr lang="en-US" dirty="0"/>
              <a:t>Some possible privileges:</a:t>
            </a:r>
          </a:p>
          <a:p>
            <a:pPr lvl="1"/>
            <a:r>
              <a:rPr lang="en-US" dirty="0"/>
              <a:t>select, insert, update, delete, references, trigger</a:t>
            </a:r>
          </a:p>
          <a:p>
            <a:r>
              <a:rPr lang="en-US" dirty="0"/>
              <a:t>Privileges apply to all tuples in the relations or views</a:t>
            </a:r>
          </a:p>
          <a:p>
            <a:pPr lvl="1"/>
            <a:r>
              <a:rPr lang="en-US" dirty="0"/>
              <a:t>Not possible to specify a subset of tuples</a:t>
            </a:r>
          </a:p>
          <a:p>
            <a:r>
              <a:rPr lang="en-US" dirty="0"/>
              <a:t>For the select, update, and references privileges, one can specify the columns to which they applies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399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GRANT Operation – Example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Bob:</a:t>
            </a:r>
          </a:p>
          <a:p>
            <a:pPr lvl="1"/>
            <a:r>
              <a:rPr lang="en-US" dirty="0"/>
              <a:t>GRANT select, insert ON Employee</a:t>
            </a:r>
            <a:br>
              <a:rPr lang="en-US" dirty="0"/>
            </a:br>
            <a:r>
              <a:rPr lang="en-US" dirty="0"/>
              <a:t>TO Ann</a:t>
            </a:r>
            <a:br>
              <a:rPr lang="en-US" dirty="0"/>
            </a:br>
            <a:r>
              <a:rPr lang="en-US" dirty="0"/>
              <a:t>WITH GRANT OPTION</a:t>
            </a:r>
          </a:p>
          <a:p>
            <a:r>
              <a:rPr lang="en-US" dirty="0"/>
              <a:t>Ann receives (from Bob) select and insert privileges on Employee</a:t>
            </a:r>
          </a:p>
          <a:p>
            <a:r>
              <a:rPr lang="en-US" dirty="0"/>
              <a:t>She may grant these privileges to others</a:t>
            </a:r>
          </a:p>
          <a:p>
            <a:r>
              <a:rPr lang="en-US" dirty="0"/>
              <a:t>Ann:</a:t>
            </a:r>
          </a:p>
          <a:p>
            <a:pPr lvl="1"/>
            <a:r>
              <a:rPr lang="en-US" dirty="0"/>
              <a:t>GRANT select (Name), insert ON Employee</a:t>
            </a:r>
            <a:br>
              <a:rPr lang="en-US" dirty="0"/>
            </a:br>
            <a:r>
              <a:rPr lang="en-US" dirty="0"/>
              <a:t>TO Jim</a:t>
            </a:r>
          </a:p>
          <a:p>
            <a:r>
              <a:rPr lang="en-US" dirty="0"/>
              <a:t>Jim receives (from Ann) select </a:t>
            </a:r>
            <a:r>
              <a:rPr lang="en-US" dirty="0" err="1"/>
              <a:t>Employee.Name</a:t>
            </a:r>
            <a:r>
              <a:rPr lang="en-US" dirty="0"/>
              <a:t> and insert privileges, but cannot grant them to others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766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GRANT Operation – Example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Bob:</a:t>
            </a:r>
          </a:p>
          <a:p>
            <a:pPr lvl="1"/>
            <a:r>
              <a:rPr lang="en-US" dirty="0"/>
              <a:t>GRANT select, insert ON Employee TO Ann</a:t>
            </a:r>
            <a:br>
              <a:rPr lang="en-US" dirty="0"/>
            </a:br>
            <a:r>
              <a:rPr lang="en-US" dirty="0"/>
              <a:t>WITH GRANT OPTION</a:t>
            </a:r>
          </a:p>
          <a:p>
            <a:r>
              <a:rPr lang="en-US" dirty="0"/>
              <a:t>Ann:</a:t>
            </a:r>
          </a:p>
          <a:p>
            <a:pPr lvl="1"/>
            <a:r>
              <a:rPr lang="en-US" dirty="0"/>
              <a:t>GRANT select (Name), insert ON Employee TO Jim</a:t>
            </a:r>
          </a:p>
          <a:p>
            <a:r>
              <a:rPr lang="en-US" dirty="0"/>
              <a:t>Bob:</a:t>
            </a:r>
          </a:p>
          <a:p>
            <a:pPr lvl="1"/>
            <a:r>
              <a:rPr lang="en-US" dirty="0"/>
              <a:t>GRANT select ON Employee TO Jim</a:t>
            </a:r>
            <a:br>
              <a:rPr lang="en-US" dirty="0"/>
            </a:br>
            <a:r>
              <a:rPr lang="en-US" dirty="0"/>
              <a:t>WITH GRANT OPTION</a:t>
            </a:r>
          </a:p>
          <a:p>
            <a:r>
              <a:rPr lang="en-US" dirty="0"/>
              <a:t>Now Jim can grant the select privilege to others, but not the insert privilege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648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GRANT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system has an authorization catalog that keeps track of the privileges that each user can grant</a:t>
            </a:r>
          </a:p>
          <a:p>
            <a:r>
              <a:rPr lang="en-US" dirty="0"/>
              <a:t>Whenever a user executes a GRANT operation, the system checks whether the privilege can indeed be granted</a:t>
            </a:r>
          </a:p>
          <a:p>
            <a:pPr lvl="1"/>
            <a:r>
              <a:rPr lang="en-US" dirty="0"/>
              <a:t>If not, then the corresponding privilege will not be granted</a:t>
            </a:r>
          </a:p>
        </p:txBody>
      </p:sp>
    </p:spTree>
    <p:extLst>
      <p:ext uri="{BB962C8B-B14F-4D97-AF65-F5344CB8AC3E}">
        <p14:creationId xmlns:p14="http://schemas.microsoft.com/office/powerpoint/2010/main" val="1731909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GRANT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9015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Consider the following command sequence, assuming that Bob owns Employee</a:t>
            </a:r>
          </a:p>
          <a:p>
            <a:pPr lvl="1"/>
            <a:r>
              <a:rPr lang="en-US" dirty="0"/>
              <a:t>Bob: GRANT select, insert ON Employee TO Jim WITH GRANT OPTION;</a:t>
            </a:r>
          </a:p>
          <a:p>
            <a:pPr lvl="1"/>
            <a:r>
              <a:rPr lang="en-US" dirty="0"/>
              <a:t>Bob: GRANT select ON Employee TO Ann WITH GRANT OPTION;</a:t>
            </a:r>
          </a:p>
          <a:p>
            <a:pPr lvl="1"/>
            <a:r>
              <a:rPr lang="en-US" dirty="0"/>
              <a:t>Bob: GRANT insert ON Employee TO Ann;</a:t>
            </a:r>
          </a:p>
          <a:p>
            <a:pPr lvl="1"/>
            <a:r>
              <a:rPr lang="en-US" dirty="0"/>
              <a:t>Jim: GRANT update ON Employee TO  Tim WITH GRANT OPTION;</a:t>
            </a:r>
          </a:p>
          <a:p>
            <a:pPr lvl="1"/>
            <a:r>
              <a:rPr lang="en-US" dirty="0"/>
              <a:t>Ann: GRANT select, insert ON Employee TO Tim;</a:t>
            </a:r>
          </a:p>
          <a:p>
            <a:r>
              <a:rPr lang="en-US" dirty="0"/>
              <a:t>What are the results?</a:t>
            </a:r>
          </a:p>
          <a:p>
            <a:r>
              <a:rPr lang="en-US" dirty="0"/>
              <a:t>The first three commands are fully executed</a:t>
            </a:r>
          </a:p>
          <a:p>
            <a:r>
              <a:rPr lang="en-US" dirty="0"/>
              <a:t>The fourth command is not executed</a:t>
            </a:r>
          </a:p>
          <a:p>
            <a:r>
              <a:rPr lang="en-US" dirty="0"/>
              <a:t>The last command is partially executed</a:t>
            </a:r>
          </a:p>
          <a:p>
            <a:pPr lvl="1"/>
            <a:r>
              <a:rPr lang="en-US" dirty="0"/>
              <a:t>Tim only receives the select privilege but not the insert privilege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395536" y="4365104"/>
            <a:ext cx="8291264" cy="165618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58894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GRANT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9015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Consider the following command sequence, assuming that Bob owns Employee</a:t>
            </a:r>
          </a:p>
          <a:p>
            <a:pPr lvl="1"/>
            <a:r>
              <a:rPr lang="en-US" dirty="0"/>
              <a:t>Bob: GRANT select, insert ON Employee TO Jim WITH GRANT OPTION;</a:t>
            </a:r>
          </a:p>
          <a:p>
            <a:pPr lvl="1"/>
            <a:r>
              <a:rPr lang="en-US" dirty="0"/>
              <a:t>Bob: GRANT select ON Employee TO Ann WITH GRANT OPTION;</a:t>
            </a:r>
          </a:p>
          <a:p>
            <a:pPr lvl="1"/>
            <a:r>
              <a:rPr lang="en-US" dirty="0"/>
              <a:t>Bob: GRANT insert ON Employee TO Ann;</a:t>
            </a:r>
          </a:p>
          <a:p>
            <a:pPr lvl="1"/>
            <a:r>
              <a:rPr lang="en-US" dirty="0"/>
              <a:t>Jim: GRANT update ON Employee TO Tim WITH GRANT OPTION;</a:t>
            </a:r>
          </a:p>
          <a:p>
            <a:pPr lvl="1"/>
            <a:r>
              <a:rPr lang="en-US" dirty="0"/>
              <a:t>Ann: GRANT select, insert ON Employee TO Tim;</a:t>
            </a:r>
          </a:p>
          <a:p>
            <a:r>
              <a:rPr lang="en-US" dirty="0"/>
              <a:t>What are the results?</a:t>
            </a:r>
          </a:p>
          <a:p>
            <a:r>
              <a:rPr lang="en-US" dirty="0"/>
              <a:t>The first three commands are fully executed</a:t>
            </a:r>
          </a:p>
          <a:p>
            <a:r>
              <a:rPr lang="en-US" dirty="0"/>
              <a:t>The fourth command is not executed</a:t>
            </a:r>
          </a:p>
          <a:p>
            <a:r>
              <a:rPr lang="en-US" dirty="0"/>
              <a:t>The last command is partially executed</a:t>
            </a:r>
          </a:p>
          <a:p>
            <a:pPr lvl="1"/>
            <a:r>
              <a:rPr lang="en-US" dirty="0"/>
              <a:t>Tim only receives the select privilege but not the insert privilege</a:t>
            </a:r>
          </a:p>
        </p:txBody>
      </p:sp>
    </p:spTree>
    <p:extLst>
      <p:ext uri="{BB962C8B-B14F-4D97-AF65-F5344CB8AC3E}">
        <p14:creationId xmlns:p14="http://schemas.microsoft.com/office/powerpoint/2010/main" val="2628558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REVOKE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REVOKE </a:t>
            </a:r>
            <a:r>
              <a:rPr lang="en-US" i="1" dirty="0" err="1"/>
              <a:t>PrivilegeList</a:t>
            </a:r>
            <a:r>
              <a:rPr lang="en-US" i="1" dirty="0"/>
              <a:t> </a:t>
            </a:r>
            <a:r>
              <a:rPr lang="en-US" dirty="0"/>
              <a:t>| ALL PRIVILEGES</a:t>
            </a:r>
          </a:p>
          <a:p>
            <a:pPr marL="0" indent="0">
              <a:buNone/>
            </a:pPr>
            <a:r>
              <a:rPr lang="en-US" dirty="0"/>
              <a:t>ON </a:t>
            </a:r>
            <a:r>
              <a:rPr lang="en-US" i="1" dirty="0"/>
              <a:t>Relation</a:t>
            </a:r>
            <a:r>
              <a:rPr lang="en-US" dirty="0"/>
              <a:t> | </a:t>
            </a:r>
            <a:r>
              <a:rPr lang="en-US" i="1" dirty="0"/>
              <a:t>View</a:t>
            </a:r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i="1" dirty="0" err="1"/>
              <a:t>UserList</a:t>
            </a:r>
            <a:r>
              <a:rPr lang="en-US" dirty="0"/>
              <a:t> | PUBLIC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Bob:</a:t>
            </a:r>
          </a:p>
          <a:p>
            <a:pPr lvl="2"/>
            <a:r>
              <a:rPr lang="en-US" dirty="0"/>
              <a:t>GRANT select, insert ON Employee TO Ann</a:t>
            </a:r>
            <a:br>
              <a:rPr lang="en-US" dirty="0"/>
            </a:br>
            <a:r>
              <a:rPr lang="en-US" dirty="0"/>
              <a:t>WITH GRANT OPTION</a:t>
            </a:r>
          </a:p>
          <a:p>
            <a:pPr lvl="2"/>
            <a:r>
              <a:rPr lang="en-US" dirty="0"/>
              <a:t>REVOKE select ON Employee FROM Ann</a:t>
            </a:r>
          </a:p>
          <a:p>
            <a:pPr lvl="1"/>
            <a:r>
              <a:rPr lang="en-US" dirty="0"/>
              <a:t>Result: Ann only retains her insert privilege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454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REVOKE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REVOKE </a:t>
            </a:r>
            <a:r>
              <a:rPr lang="en-US" i="1" dirty="0" err="1"/>
              <a:t>PrivilegeList</a:t>
            </a:r>
            <a:r>
              <a:rPr lang="en-US" i="1" dirty="0"/>
              <a:t> </a:t>
            </a:r>
            <a:r>
              <a:rPr lang="en-US" dirty="0"/>
              <a:t>| ALL PRIVILEGES</a:t>
            </a:r>
          </a:p>
          <a:p>
            <a:pPr marL="0" indent="0">
              <a:buNone/>
            </a:pPr>
            <a:r>
              <a:rPr lang="en-US" dirty="0"/>
              <a:t>ON </a:t>
            </a:r>
            <a:r>
              <a:rPr lang="en-US" i="1" dirty="0"/>
              <a:t>Relation</a:t>
            </a:r>
            <a:r>
              <a:rPr lang="en-US" dirty="0"/>
              <a:t> | </a:t>
            </a:r>
            <a:r>
              <a:rPr lang="en-US" i="1" dirty="0"/>
              <a:t>View</a:t>
            </a:r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i="1" dirty="0" err="1"/>
              <a:t>UserList</a:t>
            </a:r>
            <a:r>
              <a:rPr lang="en-US" dirty="0"/>
              <a:t> | PUBLIC</a:t>
            </a:r>
          </a:p>
          <a:p>
            <a:r>
              <a:rPr lang="en-US" dirty="0"/>
              <a:t>In general, revocations can be tricky due to “WITH GRANT OPTION”</a:t>
            </a:r>
          </a:p>
          <a:p>
            <a:r>
              <a:rPr lang="en-US" dirty="0"/>
              <a:t>Why?</a:t>
            </a:r>
          </a:p>
          <a:p>
            <a:pPr lvl="1"/>
            <a:r>
              <a:rPr lang="en-US" dirty="0"/>
              <a:t>Image that Bob grants Ann, and then Ann grants Jim, and then Bob revokes it from Ann…</a:t>
            </a:r>
          </a:p>
          <a:p>
            <a:r>
              <a:rPr lang="en-US" dirty="0"/>
              <a:t>We will discuss this issue in the next few slides</a:t>
            </a:r>
          </a:p>
        </p:txBody>
      </p:sp>
    </p:spTree>
    <p:extLst>
      <p:ext uri="{BB962C8B-B14F-4D97-AF65-F5344CB8AC3E}">
        <p14:creationId xmlns:p14="http://schemas.microsoft.com/office/powerpoint/2010/main" val="3527221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4EC0B-48CD-4A7B-B0C3-BA67FC18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Grants from Multiple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97C78-72F9-4DD9-A265-2BA8A6DFA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1"/>
            <a:ext cx="8229600" cy="2514150"/>
          </a:xfrm>
        </p:spPr>
        <p:txBody>
          <a:bodyPr>
            <a:normAutofit fontScale="85000" lnSpcReduction="20000"/>
          </a:bodyPr>
          <a:lstStyle/>
          <a:p>
            <a:r>
              <a:rPr lang="en-SG" dirty="0"/>
              <a:t>Bob is the owner</a:t>
            </a:r>
          </a:p>
          <a:p>
            <a:r>
              <a:rPr lang="en-SG" dirty="0"/>
              <a:t>Bob grants Ann select WITH GRANT OPTION</a:t>
            </a:r>
          </a:p>
          <a:p>
            <a:r>
              <a:rPr lang="en-SG" dirty="0"/>
              <a:t>Bob grants Jim select WITH GRANT OPTION</a:t>
            </a:r>
          </a:p>
          <a:p>
            <a:r>
              <a:rPr lang="en-SG" dirty="0"/>
              <a:t>Jim grants Ann select WITH GRANT OPTION</a:t>
            </a:r>
          </a:p>
          <a:p>
            <a:r>
              <a:rPr lang="en-SG" dirty="0"/>
              <a:t>Bob revokes select from Ann</a:t>
            </a:r>
          </a:p>
          <a:p>
            <a:r>
              <a:rPr lang="en-SG" dirty="0"/>
              <a:t>What is the result?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46B3121-550B-4E31-9D8A-153B0ADC7469}"/>
              </a:ext>
            </a:extLst>
          </p:cNvPr>
          <p:cNvSpPr/>
          <p:nvPr/>
        </p:nvSpPr>
        <p:spPr bwMode="auto">
          <a:xfrm>
            <a:off x="2843808" y="4869160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Bob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1BEC561-3186-4ACF-A328-F1B78B87C42A}"/>
              </a:ext>
            </a:extLst>
          </p:cNvPr>
          <p:cNvSpPr/>
          <p:nvPr/>
        </p:nvSpPr>
        <p:spPr bwMode="auto">
          <a:xfrm>
            <a:off x="5148064" y="425963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Ann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DD4F422-6D84-4632-BF52-3BF9D383FE56}"/>
              </a:ext>
            </a:extLst>
          </p:cNvPr>
          <p:cNvSpPr/>
          <p:nvPr/>
        </p:nvSpPr>
        <p:spPr bwMode="auto">
          <a:xfrm>
            <a:off x="5148064" y="5589240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Jim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20BB86C-BC7C-407E-9BDA-5A1B716ACA09}"/>
              </a:ext>
            </a:extLst>
          </p:cNvPr>
          <p:cNvCxnSpPr>
            <a:stCxn id="4" idx="3"/>
            <a:endCxn id="5" idx="1"/>
          </p:cNvCxnSpPr>
          <p:nvPr/>
        </p:nvCxnSpPr>
        <p:spPr bwMode="auto">
          <a:xfrm flipV="1">
            <a:off x="3491880" y="4497999"/>
            <a:ext cx="1656184" cy="60952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AE4EBD0-A6AC-405B-A615-0D0D9018F2B4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 bwMode="auto">
          <a:xfrm>
            <a:off x="3491880" y="5107523"/>
            <a:ext cx="1656184" cy="72008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C3C65CC-3A2B-4A06-836A-A625040D88A8}"/>
              </a:ext>
            </a:extLst>
          </p:cNvPr>
          <p:cNvCxnSpPr>
            <a:cxnSpLocks/>
            <a:stCxn id="6" idx="0"/>
            <a:endCxn id="5" idx="2"/>
          </p:cNvCxnSpPr>
          <p:nvPr/>
        </p:nvCxnSpPr>
        <p:spPr bwMode="auto">
          <a:xfrm flipV="1">
            <a:off x="5472100" y="4736362"/>
            <a:ext cx="0" cy="85287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770796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4EC0B-48CD-4A7B-B0C3-BA67FC18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Grants from Multiple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97C78-72F9-4DD9-A265-2BA8A6DFA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2990876"/>
          </a:xfrm>
        </p:spPr>
        <p:txBody>
          <a:bodyPr>
            <a:normAutofit fontScale="85000" lnSpcReduction="20000"/>
          </a:bodyPr>
          <a:lstStyle/>
          <a:p>
            <a:r>
              <a:rPr lang="en-SG" dirty="0"/>
              <a:t>Bob is the owner</a:t>
            </a:r>
          </a:p>
          <a:p>
            <a:r>
              <a:rPr lang="en-SG" dirty="0"/>
              <a:t>Bob grants Ann select WITH GRANT OPTION</a:t>
            </a:r>
          </a:p>
          <a:p>
            <a:r>
              <a:rPr lang="en-SG" dirty="0"/>
              <a:t>Bob grants Jim select WITH GRANT OPTION</a:t>
            </a:r>
          </a:p>
          <a:p>
            <a:r>
              <a:rPr lang="en-SG" dirty="0"/>
              <a:t>Jim grants Ann select WITH GRANT OPTION</a:t>
            </a:r>
          </a:p>
          <a:p>
            <a:r>
              <a:rPr lang="en-SG" dirty="0"/>
              <a:t>Bob revokes select from Ann</a:t>
            </a:r>
          </a:p>
          <a:p>
            <a:r>
              <a:rPr lang="en-SG" dirty="0"/>
              <a:t>What is the result?</a:t>
            </a:r>
          </a:p>
          <a:p>
            <a:r>
              <a:rPr lang="en-SG" dirty="0"/>
              <a:t>Ann still has select, due to Jim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581D3E5-4363-4E0F-BF28-01FAFB143CC1}"/>
              </a:ext>
            </a:extLst>
          </p:cNvPr>
          <p:cNvSpPr/>
          <p:nvPr/>
        </p:nvSpPr>
        <p:spPr bwMode="auto">
          <a:xfrm>
            <a:off x="2843808" y="4869160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Bob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C7D3A7E-0E18-4D7C-ACB3-F6C1918D2BC9}"/>
              </a:ext>
            </a:extLst>
          </p:cNvPr>
          <p:cNvSpPr/>
          <p:nvPr/>
        </p:nvSpPr>
        <p:spPr bwMode="auto">
          <a:xfrm>
            <a:off x="5148064" y="425963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Ann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B8E371-3DDB-4C13-8631-E18646515F00}"/>
              </a:ext>
            </a:extLst>
          </p:cNvPr>
          <p:cNvSpPr/>
          <p:nvPr/>
        </p:nvSpPr>
        <p:spPr bwMode="auto">
          <a:xfrm>
            <a:off x="5148064" y="5589240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Jim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EEE4D48-B5EA-46C7-B73E-DCDF18135178}"/>
              </a:ext>
            </a:extLst>
          </p:cNvPr>
          <p:cNvCxnSpPr>
            <a:cxnSpLocks/>
            <a:stCxn id="10" idx="3"/>
            <a:endCxn id="13" idx="1"/>
          </p:cNvCxnSpPr>
          <p:nvPr/>
        </p:nvCxnSpPr>
        <p:spPr bwMode="auto">
          <a:xfrm>
            <a:off x="3491880" y="5107523"/>
            <a:ext cx="1656184" cy="72008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F93FD6F-4C77-4679-BF9D-19442B51FC5A}"/>
              </a:ext>
            </a:extLst>
          </p:cNvPr>
          <p:cNvCxnSpPr>
            <a:cxnSpLocks/>
            <a:stCxn id="13" idx="0"/>
            <a:endCxn id="11" idx="2"/>
          </p:cNvCxnSpPr>
          <p:nvPr/>
        </p:nvCxnSpPr>
        <p:spPr bwMode="auto">
          <a:xfrm flipV="1">
            <a:off x="5472100" y="4736362"/>
            <a:ext cx="0" cy="85287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3170053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4EC0B-48CD-4A7B-B0C3-BA67FC18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Grants from Multiple Sources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0B9BD29-E3E8-4300-B2BB-7EF84725BD34}"/>
              </a:ext>
            </a:extLst>
          </p:cNvPr>
          <p:cNvSpPr/>
          <p:nvPr/>
        </p:nvSpPr>
        <p:spPr bwMode="auto">
          <a:xfrm>
            <a:off x="2843808" y="4869160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Bob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FDF2B9F-A4D2-4379-8D94-A1C70C57449B}"/>
              </a:ext>
            </a:extLst>
          </p:cNvPr>
          <p:cNvSpPr/>
          <p:nvPr/>
        </p:nvSpPr>
        <p:spPr bwMode="auto">
          <a:xfrm>
            <a:off x="5148064" y="425963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Ann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01FF363-F0CC-4018-9695-868F9FE9E2A5}"/>
              </a:ext>
            </a:extLst>
          </p:cNvPr>
          <p:cNvSpPr/>
          <p:nvPr/>
        </p:nvSpPr>
        <p:spPr bwMode="auto">
          <a:xfrm>
            <a:off x="5148064" y="5589240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Jim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7DFA967-923D-49E1-8FEE-4FDBF06C7F7C}"/>
              </a:ext>
            </a:extLst>
          </p:cNvPr>
          <p:cNvCxnSpPr>
            <a:stCxn id="10" idx="3"/>
            <a:endCxn id="11" idx="1"/>
          </p:cNvCxnSpPr>
          <p:nvPr/>
        </p:nvCxnSpPr>
        <p:spPr bwMode="auto">
          <a:xfrm flipV="1">
            <a:off x="3491880" y="4497999"/>
            <a:ext cx="1656184" cy="60952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58E7876-FFD3-4941-812A-FD005CFDBE4A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 bwMode="auto">
          <a:xfrm>
            <a:off x="5472100" y="4736362"/>
            <a:ext cx="0" cy="85287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7CFDCE3B-B349-4F2C-AD9C-575F35DA3BD0}"/>
              </a:ext>
            </a:extLst>
          </p:cNvPr>
          <p:cNvCxnSpPr>
            <a:stCxn id="13" idx="3"/>
            <a:endCxn id="11" idx="3"/>
          </p:cNvCxnSpPr>
          <p:nvPr/>
        </p:nvCxnSpPr>
        <p:spPr bwMode="auto">
          <a:xfrm flipV="1">
            <a:off x="5796136" y="4497999"/>
            <a:ext cx="12700" cy="1329604"/>
          </a:xfrm>
          <a:prstGeom prst="curvedConnector3">
            <a:avLst>
              <a:gd name="adj1" fmla="val 4989874"/>
            </a:avLst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22F66737-D36C-48B0-9A61-BC4FCE65F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2947463"/>
          </a:xfrm>
        </p:spPr>
        <p:txBody>
          <a:bodyPr>
            <a:normAutofit fontScale="85000" lnSpcReduction="20000"/>
          </a:bodyPr>
          <a:lstStyle/>
          <a:p>
            <a:r>
              <a:rPr lang="en-SG" dirty="0"/>
              <a:t>Bob grants Ann select WITH GRANT OPTION</a:t>
            </a:r>
          </a:p>
          <a:p>
            <a:r>
              <a:rPr lang="en-SG" dirty="0"/>
              <a:t>Ann grants Jim select WITH GRANT OPTION</a:t>
            </a:r>
          </a:p>
          <a:p>
            <a:r>
              <a:rPr lang="en-SG" dirty="0"/>
              <a:t>Jim grants Ann select WITH GRANT OPTION</a:t>
            </a:r>
          </a:p>
          <a:p>
            <a:r>
              <a:rPr lang="en-SG" dirty="0"/>
              <a:t>Bob revokes select from Ann</a:t>
            </a:r>
          </a:p>
          <a:p>
            <a:r>
              <a:rPr lang="en-SG" dirty="0"/>
              <a:t>What is the result?</a:t>
            </a:r>
          </a:p>
          <a:p>
            <a:r>
              <a:rPr lang="en-SG" dirty="0"/>
              <a:t>We know for sure that </a:t>
            </a:r>
            <a:r>
              <a:rPr lang="en-SG" dirty="0" err="1"/>
              <a:t>Bob</a:t>
            </a:r>
            <a:r>
              <a:rPr lang="en-SG" dirty="0" err="1">
                <a:sym typeface="Wingdings" panose="05000000000000000000" pitchFamily="2" charset="2"/>
              </a:rPr>
              <a:t>Ann</a:t>
            </a:r>
            <a:r>
              <a:rPr lang="en-SG" dirty="0">
                <a:sym typeface="Wingdings" panose="05000000000000000000" pitchFamily="2" charset="2"/>
              </a:rPr>
              <a:t> should be removed</a:t>
            </a:r>
          </a:p>
          <a:p>
            <a:pPr marL="0" indent="0">
              <a:buNone/>
            </a:pPr>
            <a:r>
              <a:rPr lang="en-SG" dirty="0">
                <a:sym typeface="Wingdings" panose="05000000000000000000" pitchFamily="2" charset="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14604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4EC0B-48CD-4A7B-B0C3-BA67FC18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Grants from Multiple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97C78-72F9-4DD9-A265-2BA8A6DFA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2947463"/>
          </a:xfrm>
        </p:spPr>
        <p:txBody>
          <a:bodyPr>
            <a:normAutofit fontScale="85000" lnSpcReduction="20000"/>
          </a:bodyPr>
          <a:lstStyle/>
          <a:p>
            <a:r>
              <a:rPr lang="en-SG" dirty="0"/>
              <a:t>Bob grants Ann select WITH GRANT OPTION</a:t>
            </a:r>
          </a:p>
          <a:p>
            <a:r>
              <a:rPr lang="en-SG" dirty="0"/>
              <a:t>Ann grants Jim select WITH GRANT OPTION</a:t>
            </a:r>
          </a:p>
          <a:p>
            <a:r>
              <a:rPr lang="en-SG" dirty="0"/>
              <a:t>Jim grants Ann select WITH GRANT OPTION</a:t>
            </a:r>
          </a:p>
          <a:p>
            <a:r>
              <a:rPr lang="en-SG" dirty="0"/>
              <a:t>Bob revokes select from Ann</a:t>
            </a:r>
          </a:p>
          <a:p>
            <a:r>
              <a:rPr lang="en-SG" dirty="0"/>
              <a:t>What is the result?</a:t>
            </a:r>
          </a:p>
          <a:p>
            <a:r>
              <a:rPr lang="en-SG" dirty="0"/>
              <a:t>We know for sure that </a:t>
            </a:r>
            <a:r>
              <a:rPr lang="en-SG" dirty="0" err="1"/>
              <a:t>Bob</a:t>
            </a:r>
            <a:r>
              <a:rPr lang="en-SG" dirty="0" err="1">
                <a:sym typeface="Wingdings" panose="05000000000000000000" pitchFamily="2" charset="2"/>
              </a:rPr>
              <a:t>Ann</a:t>
            </a:r>
            <a:r>
              <a:rPr lang="en-SG" dirty="0">
                <a:sym typeface="Wingdings" panose="05000000000000000000" pitchFamily="2" charset="2"/>
              </a:rPr>
              <a:t> should be removed</a:t>
            </a:r>
          </a:p>
          <a:p>
            <a:r>
              <a:rPr lang="en-SG" dirty="0">
                <a:sym typeface="Wingdings" panose="05000000000000000000" pitchFamily="2" charset="2"/>
              </a:rPr>
              <a:t>But what about the remaining ones?</a:t>
            </a:r>
            <a:endParaRPr lang="en-SG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0B9BD29-E3E8-4300-B2BB-7EF84725BD34}"/>
              </a:ext>
            </a:extLst>
          </p:cNvPr>
          <p:cNvSpPr/>
          <p:nvPr/>
        </p:nvSpPr>
        <p:spPr bwMode="auto">
          <a:xfrm>
            <a:off x="2843808" y="4869160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Bob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FDF2B9F-A4D2-4379-8D94-A1C70C57449B}"/>
              </a:ext>
            </a:extLst>
          </p:cNvPr>
          <p:cNvSpPr/>
          <p:nvPr/>
        </p:nvSpPr>
        <p:spPr bwMode="auto">
          <a:xfrm>
            <a:off x="5148064" y="425963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Ann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01FF363-F0CC-4018-9695-868F9FE9E2A5}"/>
              </a:ext>
            </a:extLst>
          </p:cNvPr>
          <p:cNvSpPr/>
          <p:nvPr/>
        </p:nvSpPr>
        <p:spPr bwMode="auto">
          <a:xfrm>
            <a:off x="5148064" y="5589240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Jim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58E7876-FFD3-4941-812A-FD005CFDBE4A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 bwMode="auto">
          <a:xfrm>
            <a:off x="5472100" y="4736362"/>
            <a:ext cx="0" cy="85287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7CFDCE3B-B349-4F2C-AD9C-575F35DA3BD0}"/>
              </a:ext>
            </a:extLst>
          </p:cNvPr>
          <p:cNvCxnSpPr>
            <a:stCxn id="13" idx="3"/>
            <a:endCxn id="11" idx="3"/>
          </p:cNvCxnSpPr>
          <p:nvPr/>
        </p:nvCxnSpPr>
        <p:spPr bwMode="auto">
          <a:xfrm flipV="1">
            <a:off x="5796136" y="4497999"/>
            <a:ext cx="12700" cy="1329604"/>
          </a:xfrm>
          <a:prstGeom prst="curvedConnector3">
            <a:avLst>
              <a:gd name="adj1" fmla="val 4989874"/>
            </a:avLst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02BCEDBF-4709-4E51-8787-B989835A3DB9}"/>
              </a:ext>
            </a:extLst>
          </p:cNvPr>
          <p:cNvSpPr/>
          <p:nvPr/>
        </p:nvSpPr>
        <p:spPr bwMode="auto">
          <a:xfrm>
            <a:off x="4517688" y="4038636"/>
            <a:ext cx="2214552" cy="2342692"/>
          </a:xfrm>
          <a:prstGeom prst="ellipse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88521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24D11-48BE-458D-B71B-BD5B4D095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5"/>
            <a:ext cx="8229600" cy="1139825"/>
          </a:xfrm>
        </p:spPr>
        <p:txBody>
          <a:bodyPr>
            <a:normAutofit fontScale="90000"/>
          </a:bodyPr>
          <a:lstStyle/>
          <a:p>
            <a:r>
              <a:rPr lang="en-SG" dirty="0"/>
              <a:t>If we retain Ann and Jim’s privileges…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A274781-CD64-437A-9DBA-862C478F0016}"/>
              </a:ext>
            </a:extLst>
          </p:cNvPr>
          <p:cNvSpPr/>
          <p:nvPr/>
        </p:nvSpPr>
        <p:spPr bwMode="auto">
          <a:xfrm>
            <a:off x="4139952" y="2558774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Ann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25EE660-0DCD-4D36-974D-30A38DD12F74}"/>
              </a:ext>
            </a:extLst>
          </p:cNvPr>
          <p:cNvSpPr/>
          <p:nvPr/>
        </p:nvSpPr>
        <p:spPr bwMode="auto">
          <a:xfrm>
            <a:off x="4139952" y="3888378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Jim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4097932-7D9B-45CF-AC41-B6049238937F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 bwMode="auto">
          <a:xfrm>
            <a:off x="4463988" y="3035500"/>
            <a:ext cx="0" cy="85287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BA5664F6-B7D2-4BFA-B728-114D313262E6}"/>
              </a:ext>
            </a:extLst>
          </p:cNvPr>
          <p:cNvCxnSpPr>
            <a:stCxn id="5" idx="3"/>
            <a:endCxn id="4" idx="3"/>
          </p:cNvCxnSpPr>
          <p:nvPr/>
        </p:nvCxnSpPr>
        <p:spPr bwMode="auto">
          <a:xfrm flipV="1">
            <a:off x="4788024" y="2797137"/>
            <a:ext cx="12700" cy="1329604"/>
          </a:xfrm>
          <a:prstGeom prst="curvedConnector3">
            <a:avLst>
              <a:gd name="adj1" fmla="val 4989874"/>
            </a:avLst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D13EAF9B-31DE-4C73-A1C4-DD7B6A63BA52}"/>
              </a:ext>
            </a:extLst>
          </p:cNvPr>
          <p:cNvSpPr/>
          <p:nvPr/>
        </p:nvSpPr>
        <p:spPr bwMode="auto">
          <a:xfrm>
            <a:off x="755576" y="1268760"/>
            <a:ext cx="2520280" cy="954107"/>
          </a:xfrm>
          <a:prstGeom prst="wedgeRectCallout">
            <a:avLst>
              <a:gd name="adj1" fmla="val 81582"/>
              <a:gd name="adj2" fmla="val 98836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Where did you get the access?</a:t>
            </a:r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C09DF6BC-7B8E-4FEB-A59B-508E6B16F548}"/>
              </a:ext>
            </a:extLst>
          </p:cNvPr>
          <p:cNvSpPr/>
          <p:nvPr/>
        </p:nvSpPr>
        <p:spPr bwMode="auto">
          <a:xfrm>
            <a:off x="1115616" y="4509120"/>
            <a:ext cx="1800200" cy="523220"/>
          </a:xfrm>
          <a:prstGeom prst="wedgeRectCallout">
            <a:avLst>
              <a:gd name="adj1" fmla="val 108954"/>
              <a:gd name="adj2" fmla="val -108254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From</a:t>
            </a:r>
            <a:r>
              <a:rPr kumimoji="0" lang="en-SG" sz="280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 you.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17E923A8-130D-4939-97F9-AE2B705B1613}"/>
              </a:ext>
            </a:extLst>
          </p:cNvPr>
          <p:cNvSpPr/>
          <p:nvPr/>
        </p:nvSpPr>
        <p:spPr bwMode="auto">
          <a:xfrm>
            <a:off x="5796136" y="4509120"/>
            <a:ext cx="3034680" cy="954107"/>
          </a:xfrm>
          <a:prstGeom prst="wedgeRectCallout">
            <a:avLst>
              <a:gd name="adj1" fmla="val -81146"/>
              <a:gd name="adj2" fmla="val -79781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And where did you get the access?</a:t>
            </a:r>
          </a:p>
        </p:txBody>
      </p:sp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52C0D032-910A-4581-A558-7113DA37C3F2}"/>
              </a:ext>
            </a:extLst>
          </p:cNvPr>
          <p:cNvSpPr/>
          <p:nvPr/>
        </p:nvSpPr>
        <p:spPr bwMode="auto">
          <a:xfrm>
            <a:off x="6362961" y="1484203"/>
            <a:ext cx="1901029" cy="523220"/>
          </a:xfrm>
          <a:prstGeom prst="wedgeRectCallout">
            <a:avLst>
              <a:gd name="adj1" fmla="val -130523"/>
              <a:gd name="adj2" fmla="val 183400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From you</a:t>
            </a:r>
            <a:r>
              <a:rPr kumimoji="0" lang="en-SG" sz="280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.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pic>
        <p:nvPicPr>
          <p:cNvPr id="1028" name="Picture 4" descr="Related image">
            <a:extLst>
              <a:ext uri="{FF2B5EF4-FFF2-40B4-BE49-F238E27FC236}">
                <a16:creationId xmlns:a16="http://schemas.microsoft.com/office/drawing/2014/main" id="{E3379F71-C737-4854-8BED-9CB0AE44A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4172" y="1585244"/>
            <a:ext cx="1259632" cy="839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Related image">
            <a:extLst>
              <a:ext uri="{FF2B5EF4-FFF2-40B4-BE49-F238E27FC236}">
                <a16:creationId xmlns:a16="http://schemas.microsoft.com/office/drawing/2014/main" id="{0CFBA6F7-D617-46D2-B600-1DC7A2B4BE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4172" y="4499535"/>
            <a:ext cx="1259632" cy="839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2707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3DF18-AE05-4E37-89F5-EABE57940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What was the problem?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B6A8B-17DC-496E-841D-1374247CC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40"/>
            <a:ext cx="8229600" cy="4713287"/>
          </a:xfrm>
        </p:spPr>
        <p:txBody>
          <a:bodyPr>
            <a:normAutofit fontScale="92500" lnSpcReduction="20000"/>
          </a:bodyPr>
          <a:lstStyle/>
          <a:p>
            <a:r>
              <a:rPr lang="en-SG" dirty="0"/>
              <a:t>Command sequence</a:t>
            </a:r>
          </a:p>
          <a:p>
            <a:pPr lvl="1"/>
            <a:r>
              <a:rPr lang="en-SG" dirty="0"/>
              <a:t>Bob is the owner</a:t>
            </a:r>
          </a:p>
          <a:p>
            <a:pPr lvl="1"/>
            <a:r>
              <a:rPr lang="en-SG" dirty="0"/>
              <a:t>Bob grants Ann select WITH GRANT OPTION</a:t>
            </a:r>
          </a:p>
          <a:p>
            <a:pPr lvl="1"/>
            <a:r>
              <a:rPr lang="en-SG" dirty="0"/>
              <a:t>Ann grants Jim select WITH GRANT OPTION</a:t>
            </a:r>
          </a:p>
          <a:p>
            <a:pPr lvl="1"/>
            <a:r>
              <a:rPr lang="en-SG" dirty="0"/>
              <a:t>Jim grants Ann select WITH GRANT OPTION</a:t>
            </a:r>
          </a:p>
          <a:p>
            <a:pPr lvl="1"/>
            <a:r>
              <a:rPr lang="en-SG" dirty="0"/>
              <a:t>Bob revokes select from Ann</a:t>
            </a:r>
          </a:p>
          <a:p>
            <a:r>
              <a:rPr lang="en-SG" dirty="0"/>
              <a:t>Observe that Jim’s privilege was “derived” from Ann’s privilege</a:t>
            </a:r>
          </a:p>
          <a:p>
            <a:r>
              <a:rPr lang="en-SG" dirty="0"/>
              <a:t>When Bob revokes Ann’s privilege, Jim’s privilege should be also revoked</a:t>
            </a:r>
          </a:p>
          <a:p>
            <a:r>
              <a:rPr lang="en-SG" dirty="0"/>
              <a:t>This is referred to as </a:t>
            </a:r>
            <a:r>
              <a:rPr lang="en-SG" i="1" dirty="0"/>
              <a:t>recursive revocation</a:t>
            </a:r>
          </a:p>
        </p:txBody>
      </p:sp>
    </p:spTree>
    <p:extLst>
      <p:ext uri="{BB962C8B-B14F-4D97-AF65-F5344CB8AC3E}">
        <p14:creationId xmlns:p14="http://schemas.microsoft.com/office/powerpoint/2010/main" val="1544216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DF1FF-75B4-4EBD-8B12-3CBBFC532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/>
              <a:t>Formalization of Recursive Revocation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38E89-E159-458E-90B4-995C1C46E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SG" dirty="0"/>
              <a:t>Let </a:t>
            </a:r>
            <a:r>
              <a:rPr lang="en-SG" i="1" dirty="0"/>
              <a:t>G</a:t>
            </a:r>
            <a:r>
              <a:rPr lang="en-SG" baseline="-25000" dirty="0"/>
              <a:t>1</a:t>
            </a:r>
            <a:r>
              <a:rPr lang="en-SG" dirty="0"/>
              <a:t>, …., </a:t>
            </a:r>
            <a:r>
              <a:rPr lang="en-SG" i="1" dirty="0" err="1"/>
              <a:t>G</a:t>
            </a:r>
            <a:r>
              <a:rPr lang="en-SG" i="1" baseline="-25000" dirty="0" err="1"/>
              <a:t>n</a:t>
            </a:r>
            <a:r>
              <a:rPr lang="en-SG" dirty="0"/>
              <a:t> be a sequence of GRANT operations. </a:t>
            </a:r>
          </a:p>
          <a:p>
            <a:r>
              <a:rPr lang="en-SG" dirty="0"/>
              <a:t>Let </a:t>
            </a:r>
            <a:r>
              <a:rPr lang="en-SG" i="1" dirty="0"/>
              <a:t>R</a:t>
            </a:r>
            <a:r>
              <a:rPr lang="en-SG" i="1" baseline="-25000" dirty="0"/>
              <a:t>i</a:t>
            </a:r>
            <a:r>
              <a:rPr lang="en-SG" dirty="0"/>
              <a:t> be the revoke operation for the privileges granted by operation </a:t>
            </a:r>
            <a:r>
              <a:rPr lang="en-SG" i="1" dirty="0"/>
              <a:t>G</a:t>
            </a:r>
            <a:r>
              <a:rPr lang="en-SG" i="1" baseline="-25000" dirty="0"/>
              <a:t>i</a:t>
            </a:r>
            <a:r>
              <a:rPr lang="en-SG" dirty="0"/>
              <a:t>.</a:t>
            </a:r>
          </a:p>
          <a:p>
            <a:r>
              <a:rPr lang="en-SG" dirty="0"/>
              <a:t>Then, the effect of </a:t>
            </a:r>
            <a:br>
              <a:rPr lang="en-SG" dirty="0"/>
            </a:br>
            <a:r>
              <a:rPr lang="en-SG" dirty="0"/>
              <a:t>	</a:t>
            </a:r>
            <a:r>
              <a:rPr lang="en-SG" i="1" dirty="0"/>
              <a:t>G</a:t>
            </a:r>
            <a:r>
              <a:rPr lang="en-SG" baseline="-25000" dirty="0"/>
              <a:t>1</a:t>
            </a:r>
            <a:r>
              <a:rPr lang="en-SG" dirty="0"/>
              <a:t>, …., </a:t>
            </a:r>
            <a:r>
              <a:rPr lang="en-SG" i="1" dirty="0" err="1"/>
              <a:t>G</a:t>
            </a:r>
            <a:r>
              <a:rPr lang="en-SG" i="1" baseline="-25000" dirty="0" err="1"/>
              <a:t>n</a:t>
            </a:r>
            <a:r>
              <a:rPr lang="en-SG" dirty="0"/>
              <a:t>, </a:t>
            </a:r>
            <a:r>
              <a:rPr lang="en-SG" i="1" dirty="0"/>
              <a:t>R</a:t>
            </a:r>
            <a:r>
              <a:rPr lang="en-SG" i="1" baseline="-25000" dirty="0"/>
              <a:t>i</a:t>
            </a:r>
            <a:br>
              <a:rPr lang="en-SG" i="1" baseline="-25000" dirty="0"/>
            </a:br>
            <a:r>
              <a:rPr lang="en-SG" dirty="0"/>
              <a:t>should be identical to</a:t>
            </a:r>
            <a:br>
              <a:rPr lang="en-SG" dirty="0"/>
            </a:br>
            <a:r>
              <a:rPr lang="en-SG" dirty="0"/>
              <a:t>	</a:t>
            </a:r>
            <a:r>
              <a:rPr lang="en-SG" i="1" dirty="0"/>
              <a:t>G</a:t>
            </a:r>
            <a:r>
              <a:rPr lang="en-SG" baseline="-25000" dirty="0"/>
              <a:t>1</a:t>
            </a:r>
            <a:r>
              <a:rPr lang="en-SG" dirty="0"/>
              <a:t>, …., </a:t>
            </a:r>
            <a:r>
              <a:rPr lang="en-SG" i="1" dirty="0"/>
              <a:t>G</a:t>
            </a:r>
            <a:r>
              <a:rPr lang="en-SG" i="1" baseline="-25000" dirty="0"/>
              <a:t>i</a:t>
            </a:r>
            <a:r>
              <a:rPr lang="en-SG" baseline="-25000" dirty="0"/>
              <a:t>-1</a:t>
            </a:r>
            <a:r>
              <a:rPr lang="en-SG" dirty="0"/>
              <a:t>, </a:t>
            </a:r>
            <a:r>
              <a:rPr lang="en-SG" i="1" dirty="0"/>
              <a:t>G</a:t>
            </a:r>
            <a:r>
              <a:rPr lang="en-SG" i="1" baseline="-25000" dirty="0"/>
              <a:t>i</a:t>
            </a:r>
            <a:r>
              <a:rPr lang="en-SG" baseline="-25000" dirty="0"/>
              <a:t>+1</a:t>
            </a:r>
            <a:r>
              <a:rPr lang="en-SG" dirty="0"/>
              <a:t>, …., </a:t>
            </a:r>
            <a:r>
              <a:rPr lang="en-SG" i="1" dirty="0" err="1"/>
              <a:t>G</a:t>
            </a:r>
            <a:r>
              <a:rPr lang="en-SG" i="1" baseline="-25000" dirty="0" err="1"/>
              <a:t>n</a:t>
            </a:r>
            <a:r>
              <a:rPr lang="en-SG" dirty="0"/>
              <a:t> </a:t>
            </a:r>
          </a:p>
          <a:p>
            <a:r>
              <a:rPr lang="en-SG" dirty="0"/>
              <a:t>In other words, </a:t>
            </a:r>
            <a:r>
              <a:rPr lang="en-SG" i="1" dirty="0"/>
              <a:t>R</a:t>
            </a:r>
            <a:r>
              <a:rPr lang="en-SG" i="1" baseline="-25000" dirty="0"/>
              <a:t>i </a:t>
            </a:r>
            <a:r>
              <a:rPr lang="en-SG" dirty="0"/>
              <a:t>should “erase” </a:t>
            </a:r>
            <a:r>
              <a:rPr lang="en-SG" i="1" dirty="0"/>
              <a:t>G</a:t>
            </a:r>
            <a:r>
              <a:rPr lang="en-SG" i="1" baseline="-25000" dirty="0"/>
              <a:t>i</a:t>
            </a:r>
            <a:r>
              <a:rPr lang="en-SG" i="1" dirty="0"/>
              <a:t> </a:t>
            </a:r>
            <a:r>
              <a:rPr lang="en-SG" dirty="0"/>
              <a:t>from the history</a:t>
            </a:r>
            <a:endParaRPr lang="en-SG" i="1" baseline="-25000" dirty="0"/>
          </a:p>
        </p:txBody>
      </p:sp>
    </p:spTree>
    <p:extLst>
      <p:ext uri="{BB962C8B-B14F-4D97-AF65-F5344CB8AC3E}">
        <p14:creationId xmlns:p14="http://schemas.microsoft.com/office/powerpoint/2010/main" val="2467792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DF1FF-75B4-4EBD-8B12-3CBBFC532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/>
              <a:t>Formalization of Recursive Revocation – Example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38E89-E159-458E-90B4-995C1C46E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SG" dirty="0"/>
              <a:t>Previous example</a:t>
            </a:r>
          </a:p>
          <a:p>
            <a:pPr lvl="1"/>
            <a:r>
              <a:rPr lang="en-SG" dirty="0"/>
              <a:t>Bob is the owner</a:t>
            </a:r>
          </a:p>
          <a:p>
            <a:pPr lvl="1"/>
            <a:r>
              <a:rPr lang="en-SG" dirty="0"/>
              <a:t>Bob grants Ann select WITH GRANT OPTION</a:t>
            </a:r>
          </a:p>
          <a:p>
            <a:pPr lvl="1"/>
            <a:r>
              <a:rPr lang="en-SG" dirty="0"/>
              <a:t>Ann grants Jim select WITH GRANT OPTION</a:t>
            </a:r>
          </a:p>
          <a:p>
            <a:pPr lvl="1"/>
            <a:r>
              <a:rPr lang="en-SG" dirty="0"/>
              <a:t>Jim grants Ann select WITH GRANT OPTION</a:t>
            </a:r>
          </a:p>
          <a:p>
            <a:pPr lvl="1"/>
            <a:r>
              <a:rPr lang="en-SG" dirty="0"/>
              <a:t>Bob revokes select from Ann</a:t>
            </a:r>
          </a:p>
          <a:p>
            <a:r>
              <a:rPr lang="en-SG" dirty="0"/>
              <a:t>Recursive revocation requires that the effect of the above command sequence should be identical to</a:t>
            </a:r>
          </a:p>
          <a:p>
            <a:pPr lvl="1"/>
            <a:r>
              <a:rPr lang="en-SG" dirty="0"/>
              <a:t>Bob is the owner</a:t>
            </a:r>
          </a:p>
          <a:p>
            <a:pPr lvl="1"/>
            <a:r>
              <a:rPr lang="en-SG" dirty="0"/>
              <a:t>Ann grants Jim select WITH GRANT OPTION</a:t>
            </a:r>
          </a:p>
          <a:p>
            <a:pPr lvl="1"/>
            <a:r>
              <a:rPr lang="en-SG" dirty="0"/>
              <a:t>Jim grants Ann select WITH GRANT OPTION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21692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51C41-B18B-461E-95F7-9030AB70E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Another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FC4D6-104E-476E-9A8C-57A0FD9D8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40"/>
            <a:ext cx="3466728" cy="4713287"/>
          </a:xfrm>
        </p:spPr>
        <p:txBody>
          <a:bodyPr>
            <a:normAutofit fontScale="92500" lnSpcReduction="20000"/>
          </a:bodyPr>
          <a:lstStyle/>
          <a:p>
            <a:r>
              <a:rPr lang="en-SG" dirty="0"/>
              <a:t>Bob is the owner</a:t>
            </a:r>
          </a:p>
          <a:p>
            <a:r>
              <a:rPr lang="en-SG" dirty="0"/>
              <a:t>Bob grants Ann</a:t>
            </a:r>
          </a:p>
          <a:p>
            <a:r>
              <a:rPr lang="en-SG" dirty="0"/>
              <a:t>Bob grants Cath</a:t>
            </a:r>
          </a:p>
          <a:p>
            <a:r>
              <a:rPr lang="en-SG" dirty="0"/>
              <a:t>Ann grants Jim</a:t>
            </a:r>
          </a:p>
          <a:p>
            <a:r>
              <a:rPr lang="en-SG" dirty="0"/>
              <a:t>Jim grants Sue</a:t>
            </a:r>
          </a:p>
          <a:p>
            <a:r>
              <a:rPr lang="en-SG" dirty="0"/>
              <a:t>Cath grants Jim</a:t>
            </a:r>
          </a:p>
          <a:p>
            <a:r>
              <a:rPr lang="en-SG" dirty="0"/>
              <a:t>Jim grants Pat</a:t>
            </a:r>
          </a:p>
          <a:p>
            <a:r>
              <a:rPr lang="en-SG" dirty="0"/>
              <a:t>Sue grants Dave</a:t>
            </a:r>
          </a:p>
          <a:p>
            <a:pPr marL="0" indent="0">
              <a:buNone/>
            </a:pPr>
            <a:r>
              <a:rPr lang="en-SG" dirty="0"/>
              <a:t> </a:t>
            </a:r>
          </a:p>
          <a:p>
            <a:pPr marL="0" indent="0">
              <a:buNone/>
            </a:pPr>
            <a:r>
              <a:rPr lang="en-SG" dirty="0"/>
              <a:t> 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9D09DF5-416C-4050-8651-2B6B1079EA02}"/>
              </a:ext>
            </a:extLst>
          </p:cNvPr>
          <p:cNvSpPr/>
          <p:nvPr/>
        </p:nvSpPr>
        <p:spPr bwMode="auto">
          <a:xfrm>
            <a:off x="3989702" y="177281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Bob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BB2DED8-FA3C-4132-A649-0D4E9CD30E85}"/>
              </a:ext>
            </a:extLst>
          </p:cNvPr>
          <p:cNvSpPr/>
          <p:nvPr/>
        </p:nvSpPr>
        <p:spPr bwMode="auto">
          <a:xfrm>
            <a:off x="5040052" y="1118502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Ann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4D4CA32-6499-4518-B09D-6FD2C7EF8F1C}"/>
              </a:ext>
            </a:extLst>
          </p:cNvPr>
          <p:cNvSpPr/>
          <p:nvPr/>
        </p:nvSpPr>
        <p:spPr bwMode="auto">
          <a:xfrm>
            <a:off x="5040052" y="2441346"/>
            <a:ext cx="864096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Cath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89312C8-6691-43B4-9108-0DD751C112EA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 bwMode="auto">
          <a:xfrm>
            <a:off x="4637774" y="2011179"/>
            <a:ext cx="402278" cy="66853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451BDCE-2507-4CE0-A647-EFD563DE115F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 bwMode="auto">
          <a:xfrm flipV="1">
            <a:off x="4637774" y="1356865"/>
            <a:ext cx="402278" cy="65431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93CA7CC-B722-489F-BF71-14D17F05E32B}"/>
              </a:ext>
            </a:extLst>
          </p:cNvPr>
          <p:cNvSpPr/>
          <p:nvPr/>
        </p:nvSpPr>
        <p:spPr bwMode="auto">
          <a:xfrm>
            <a:off x="6084168" y="177281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Jim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61C89C1-87D6-47AF-A4B4-F26BF1419846}"/>
              </a:ext>
            </a:extLst>
          </p:cNvPr>
          <p:cNvSpPr/>
          <p:nvPr/>
        </p:nvSpPr>
        <p:spPr bwMode="auto">
          <a:xfrm>
            <a:off x="6958283" y="1118502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Sue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79B3CF6-131C-432F-995A-87FCEA535338}"/>
              </a:ext>
            </a:extLst>
          </p:cNvPr>
          <p:cNvSpPr/>
          <p:nvPr/>
        </p:nvSpPr>
        <p:spPr bwMode="auto">
          <a:xfrm>
            <a:off x="6958283" y="244134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Pat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BE2DE4B-D5A7-421A-BE08-E9A1A9469D99}"/>
              </a:ext>
            </a:extLst>
          </p:cNvPr>
          <p:cNvSpPr/>
          <p:nvPr/>
        </p:nvSpPr>
        <p:spPr bwMode="auto">
          <a:xfrm>
            <a:off x="8156153" y="1118502"/>
            <a:ext cx="808335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Dave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72AAC69-8D5E-4920-80D9-6920CD0557A2}"/>
              </a:ext>
            </a:extLst>
          </p:cNvPr>
          <p:cNvCxnSpPr>
            <a:cxnSpLocks/>
            <a:stCxn id="11" idx="3"/>
            <a:endCxn id="25" idx="0"/>
          </p:cNvCxnSpPr>
          <p:nvPr/>
        </p:nvCxnSpPr>
        <p:spPr bwMode="auto">
          <a:xfrm>
            <a:off x="5688124" y="1356865"/>
            <a:ext cx="720080" cy="41595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CA6220B-CF44-40B4-8480-DD638BFCC288}"/>
              </a:ext>
            </a:extLst>
          </p:cNvPr>
          <p:cNvCxnSpPr>
            <a:cxnSpLocks/>
            <a:stCxn id="12" idx="3"/>
            <a:endCxn id="25" idx="2"/>
          </p:cNvCxnSpPr>
          <p:nvPr/>
        </p:nvCxnSpPr>
        <p:spPr bwMode="auto">
          <a:xfrm flipV="1">
            <a:off x="5904148" y="2249542"/>
            <a:ext cx="504056" cy="43016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0BEA261-42D1-4BA5-A298-EF0953A6EEAC}"/>
              </a:ext>
            </a:extLst>
          </p:cNvPr>
          <p:cNvCxnSpPr>
            <a:cxnSpLocks/>
            <a:stCxn id="25" idx="3"/>
            <a:endCxn id="26" idx="2"/>
          </p:cNvCxnSpPr>
          <p:nvPr/>
        </p:nvCxnSpPr>
        <p:spPr bwMode="auto">
          <a:xfrm flipV="1">
            <a:off x="6732240" y="1595228"/>
            <a:ext cx="550079" cy="41595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926ED25-1044-4F43-9C42-687320FFF2EB}"/>
              </a:ext>
            </a:extLst>
          </p:cNvPr>
          <p:cNvCxnSpPr>
            <a:cxnSpLocks/>
            <a:stCxn id="25" idx="3"/>
          </p:cNvCxnSpPr>
          <p:nvPr/>
        </p:nvCxnSpPr>
        <p:spPr bwMode="auto">
          <a:xfrm>
            <a:off x="6732240" y="2011179"/>
            <a:ext cx="648072" cy="42473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98E5995-14C6-41FD-AF7F-1A2127E1B448}"/>
              </a:ext>
            </a:extLst>
          </p:cNvPr>
          <p:cNvCxnSpPr>
            <a:cxnSpLocks/>
            <a:stCxn id="26" idx="3"/>
            <a:endCxn id="30" idx="1"/>
          </p:cNvCxnSpPr>
          <p:nvPr/>
        </p:nvCxnSpPr>
        <p:spPr bwMode="auto">
          <a:xfrm>
            <a:off x="7606355" y="1356865"/>
            <a:ext cx="549798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4237949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25" grpId="0" animBg="1"/>
      <p:bldP spid="26" grpId="0" animBg="1"/>
      <p:bldP spid="27" grpId="0" animBg="1"/>
      <p:bldP spid="3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51C41-B18B-461E-95F7-9030AB70E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Another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FC4D6-104E-476E-9A8C-57A0FD9D8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40"/>
            <a:ext cx="3466728" cy="4713287"/>
          </a:xfrm>
        </p:spPr>
        <p:txBody>
          <a:bodyPr>
            <a:normAutofit fontScale="92500" lnSpcReduction="20000"/>
          </a:bodyPr>
          <a:lstStyle/>
          <a:p>
            <a:r>
              <a:rPr lang="en-SG" dirty="0"/>
              <a:t>Bob is the owner</a:t>
            </a:r>
          </a:p>
          <a:p>
            <a:r>
              <a:rPr lang="en-SG" dirty="0"/>
              <a:t>Bob grants Ann</a:t>
            </a:r>
          </a:p>
          <a:p>
            <a:r>
              <a:rPr lang="en-SG" dirty="0"/>
              <a:t>Bob grants Cath</a:t>
            </a:r>
          </a:p>
          <a:p>
            <a:r>
              <a:rPr lang="en-SG" dirty="0"/>
              <a:t>Ann grants Jim</a:t>
            </a:r>
          </a:p>
          <a:p>
            <a:r>
              <a:rPr lang="en-SG" dirty="0"/>
              <a:t>Jim grants Sue</a:t>
            </a:r>
          </a:p>
          <a:p>
            <a:r>
              <a:rPr lang="en-SG" dirty="0"/>
              <a:t>Cath grants Jim</a:t>
            </a:r>
          </a:p>
          <a:p>
            <a:r>
              <a:rPr lang="en-SG" dirty="0"/>
              <a:t>Jim grants Pat</a:t>
            </a:r>
          </a:p>
          <a:p>
            <a:r>
              <a:rPr lang="en-SG" dirty="0"/>
              <a:t>Sue grants Dave</a:t>
            </a:r>
          </a:p>
          <a:p>
            <a:r>
              <a:rPr lang="en-SG" dirty="0"/>
              <a:t>Ann revokes Jim</a:t>
            </a:r>
          </a:p>
          <a:p>
            <a:r>
              <a:rPr lang="en-SG" dirty="0"/>
              <a:t>Results?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9D09DF5-416C-4050-8651-2B6B1079EA02}"/>
              </a:ext>
            </a:extLst>
          </p:cNvPr>
          <p:cNvSpPr/>
          <p:nvPr/>
        </p:nvSpPr>
        <p:spPr bwMode="auto">
          <a:xfrm>
            <a:off x="3989702" y="177281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Bob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BB2DED8-FA3C-4132-A649-0D4E9CD30E85}"/>
              </a:ext>
            </a:extLst>
          </p:cNvPr>
          <p:cNvSpPr/>
          <p:nvPr/>
        </p:nvSpPr>
        <p:spPr bwMode="auto">
          <a:xfrm>
            <a:off x="5040052" y="1118502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Ann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4D4CA32-6499-4518-B09D-6FD2C7EF8F1C}"/>
              </a:ext>
            </a:extLst>
          </p:cNvPr>
          <p:cNvSpPr/>
          <p:nvPr/>
        </p:nvSpPr>
        <p:spPr bwMode="auto">
          <a:xfrm>
            <a:off x="5040052" y="2441346"/>
            <a:ext cx="864096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Cath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89312C8-6691-43B4-9108-0DD751C112EA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 bwMode="auto">
          <a:xfrm>
            <a:off x="4637774" y="2011179"/>
            <a:ext cx="402278" cy="66853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451BDCE-2507-4CE0-A647-EFD563DE115F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 bwMode="auto">
          <a:xfrm flipV="1">
            <a:off x="4637774" y="1356865"/>
            <a:ext cx="402278" cy="65431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93CA7CC-B722-489F-BF71-14D17F05E32B}"/>
              </a:ext>
            </a:extLst>
          </p:cNvPr>
          <p:cNvSpPr/>
          <p:nvPr/>
        </p:nvSpPr>
        <p:spPr bwMode="auto">
          <a:xfrm>
            <a:off x="6084168" y="177281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Jim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61C89C1-87D6-47AF-A4B4-F26BF1419846}"/>
              </a:ext>
            </a:extLst>
          </p:cNvPr>
          <p:cNvSpPr/>
          <p:nvPr/>
        </p:nvSpPr>
        <p:spPr bwMode="auto">
          <a:xfrm>
            <a:off x="6958283" y="1118502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Sue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79B3CF6-131C-432F-995A-87FCEA535338}"/>
              </a:ext>
            </a:extLst>
          </p:cNvPr>
          <p:cNvSpPr/>
          <p:nvPr/>
        </p:nvSpPr>
        <p:spPr bwMode="auto">
          <a:xfrm>
            <a:off x="6958283" y="244134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Pat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BE2DE4B-D5A7-421A-BE08-E9A1A9469D99}"/>
              </a:ext>
            </a:extLst>
          </p:cNvPr>
          <p:cNvSpPr/>
          <p:nvPr/>
        </p:nvSpPr>
        <p:spPr bwMode="auto">
          <a:xfrm>
            <a:off x="8156153" y="1118502"/>
            <a:ext cx="808335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Dave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72AAC69-8D5E-4920-80D9-6920CD0557A2}"/>
              </a:ext>
            </a:extLst>
          </p:cNvPr>
          <p:cNvCxnSpPr>
            <a:cxnSpLocks/>
            <a:stCxn id="11" idx="3"/>
            <a:endCxn id="25" idx="0"/>
          </p:cNvCxnSpPr>
          <p:nvPr/>
        </p:nvCxnSpPr>
        <p:spPr bwMode="auto">
          <a:xfrm>
            <a:off x="5688124" y="1356865"/>
            <a:ext cx="720080" cy="41595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CA6220B-CF44-40B4-8480-DD638BFCC288}"/>
              </a:ext>
            </a:extLst>
          </p:cNvPr>
          <p:cNvCxnSpPr>
            <a:cxnSpLocks/>
            <a:stCxn id="12" idx="3"/>
            <a:endCxn id="25" idx="2"/>
          </p:cNvCxnSpPr>
          <p:nvPr/>
        </p:nvCxnSpPr>
        <p:spPr bwMode="auto">
          <a:xfrm flipV="1">
            <a:off x="5904148" y="2249542"/>
            <a:ext cx="504056" cy="43016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0BEA261-42D1-4BA5-A298-EF0953A6EEAC}"/>
              </a:ext>
            </a:extLst>
          </p:cNvPr>
          <p:cNvCxnSpPr>
            <a:cxnSpLocks/>
            <a:stCxn id="25" idx="3"/>
            <a:endCxn id="26" idx="2"/>
          </p:cNvCxnSpPr>
          <p:nvPr/>
        </p:nvCxnSpPr>
        <p:spPr bwMode="auto">
          <a:xfrm flipV="1">
            <a:off x="6732240" y="1595228"/>
            <a:ext cx="550079" cy="41595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926ED25-1044-4F43-9C42-687320FFF2EB}"/>
              </a:ext>
            </a:extLst>
          </p:cNvPr>
          <p:cNvCxnSpPr>
            <a:cxnSpLocks/>
            <a:stCxn id="25" idx="3"/>
          </p:cNvCxnSpPr>
          <p:nvPr/>
        </p:nvCxnSpPr>
        <p:spPr bwMode="auto">
          <a:xfrm>
            <a:off x="6732240" y="2011179"/>
            <a:ext cx="648072" cy="42473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98E5995-14C6-41FD-AF7F-1A2127E1B448}"/>
              </a:ext>
            </a:extLst>
          </p:cNvPr>
          <p:cNvCxnSpPr>
            <a:cxnSpLocks/>
            <a:stCxn id="26" idx="3"/>
            <a:endCxn id="30" idx="1"/>
          </p:cNvCxnSpPr>
          <p:nvPr/>
        </p:nvCxnSpPr>
        <p:spPr bwMode="auto">
          <a:xfrm>
            <a:off x="7606355" y="1356865"/>
            <a:ext cx="549798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DA964948-DD5E-4DAD-9C8D-36B61159794E}"/>
              </a:ext>
            </a:extLst>
          </p:cNvPr>
          <p:cNvSpPr/>
          <p:nvPr/>
        </p:nvSpPr>
        <p:spPr bwMode="auto">
          <a:xfrm>
            <a:off x="3989702" y="4386038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Bob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6CF32D0A-8B62-4AC1-B053-42E3C303FFA6}"/>
              </a:ext>
            </a:extLst>
          </p:cNvPr>
          <p:cNvSpPr/>
          <p:nvPr/>
        </p:nvSpPr>
        <p:spPr bwMode="auto">
          <a:xfrm>
            <a:off x="5040052" y="3731724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Ann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6D82A97D-9456-4CE1-85F4-D9DF9C131B56}"/>
              </a:ext>
            </a:extLst>
          </p:cNvPr>
          <p:cNvSpPr/>
          <p:nvPr/>
        </p:nvSpPr>
        <p:spPr bwMode="auto">
          <a:xfrm>
            <a:off x="5040052" y="5054568"/>
            <a:ext cx="864096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Cath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90A4533-5FBE-4C62-A752-35DAE744B623}"/>
              </a:ext>
            </a:extLst>
          </p:cNvPr>
          <p:cNvCxnSpPr>
            <a:cxnSpLocks/>
            <a:stCxn id="50" idx="3"/>
            <a:endCxn id="52" idx="1"/>
          </p:cNvCxnSpPr>
          <p:nvPr/>
        </p:nvCxnSpPr>
        <p:spPr bwMode="auto">
          <a:xfrm>
            <a:off x="4637774" y="4624401"/>
            <a:ext cx="402278" cy="66853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7324282-B96C-4B5F-99B1-A5391AD9FA08}"/>
              </a:ext>
            </a:extLst>
          </p:cNvPr>
          <p:cNvCxnSpPr>
            <a:cxnSpLocks/>
            <a:stCxn id="50" idx="3"/>
            <a:endCxn id="51" idx="1"/>
          </p:cNvCxnSpPr>
          <p:nvPr/>
        </p:nvCxnSpPr>
        <p:spPr bwMode="auto">
          <a:xfrm flipV="1">
            <a:off x="4637774" y="3970087"/>
            <a:ext cx="402278" cy="65431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D6BF0855-4E10-482D-915F-D60141AF1193}"/>
              </a:ext>
            </a:extLst>
          </p:cNvPr>
          <p:cNvSpPr/>
          <p:nvPr/>
        </p:nvSpPr>
        <p:spPr bwMode="auto">
          <a:xfrm>
            <a:off x="6084168" y="4386038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Jim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6DF704BE-2F1A-40FA-8016-5BB27BA62DE4}"/>
              </a:ext>
            </a:extLst>
          </p:cNvPr>
          <p:cNvSpPr/>
          <p:nvPr/>
        </p:nvSpPr>
        <p:spPr bwMode="auto">
          <a:xfrm>
            <a:off x="6958283" y="3731724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Sue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43E77420-D3BA-4237-9AAB-3C307ABCDA9F}"/>
              </a:ext>
            </a:extLst>
          </p:cNvPr>
          <p:cNvSpPr/>
          <p:nvPr/>
        </p:nvSpPr>
        <p:spPr bwMode="auto">
          <a:xfrm>
            <a:off x="6958283" y="5054568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Pat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EE0FEC5F-C04F-4572-BA8B-0061F91A0495}"/>
              </a:ext>
            </a:extLst>
          </p:cNvPr>
          <p:cNvSpPr/>
          <p:nvPr/>
        </p:nvSpPr>
        <p:spPr bwMode="auto">
          <a:xfrm>
            <a:off x="8156153" y="3731724"/>
            <a:ext cx="808335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Dave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1AD2739-4AC6-42E8-B724-134EE97B1573}"/>
              </a:ext>
            </a:extLst>
          </p:cNvPr>
          <p:cNvCxnSpPr>
            <a:cxnSpLocks/>
            <a:stCxn id="52" idx="3"/>
            <a:endCxn id="55" idx="2"/>
          </p:cNvCxnSpPr>
          <p:nvPr/>
        </p:nvCxnSpPr>
        <p:spPr bwMode="auto">
          <a:xfrm flipV="1">
            <a:off x="5904148" y="4862764"/>
            <a:ext cx="504056" cy="43016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B034F6F-37A6-4A15-A4FF-3679B1614D8E}"/>
              </a:ext>
            </a:extLst>
          </p:cNvPr>
          <p:cNvCxnSpPr>
            <a:cxnSpLocks/>
            <a:stCxn id="55" idx="3"/>
            <a:endCxn id="56" idx="2"/>
          </p:cNvCxnSpPr>
          <p:nvPr/>
        </p:nvCxnSpPr>
        <p:spPr bwMode="auto">
          <a:xfrm flipV="1">
            <a:off x="6732240" y="4208450"/>
            <a:ext cx="550079" cy="41595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17EBE99-A731-4831-81B5-7E7259B9CE9D}"/>
              </a:ext>
            </a:extLst>
          </p:cNvPr>
          <p:cNvCxnSpPr>
            <a:cxnSpLocks/>
            <a:stCxn id="55" idx="3"/>
          </p:cNvCxnSpPr>
          <p:nvPr/>
        </p:nvCxnSpPr>
        <p:spPr bwMode="auto">
          <a:xfrm>
            <a:off x="6732240" y="4624401"/>
            <a:ext cx="648072" cy="42473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02F01D8E-3591-4AC9-9C91-6FD2B866C042}"/>
              </a:ext>
            </a:extLst>
          </p:cNvPr>
          <p:cNvCxnSpPr>
            <a:cxnSpLocks/>
            <a:stCxn id="56" idx="3"/>
            <a:endCxn id="58" idx="1"/>
          </p:cNvCxnSpPr>
          <p:nvPr/>
        </p:nvCxnSpPr>
        <p:spPr bwMode="auto">
          <a:xfrm>
            <a:off x="7606355" y="3970087"/>
            <a:ext cx="549798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1240228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1" grpId="0" animBg="1"/>
      <p:bldP spid="52" grpId="0" animBg="1"/>
      <p:bldP spid="55" grpId="0" animBg="1"/>
      <p:bldP spid="56" grpId="0" animBg="1"/>
      <p:bldP spid="57" grpId="0" animBg="1"/>
      <p:bldP spid="5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51C41-B18B-461E-95F7-9030AB70E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Another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FC4D6-104E-476E-9A8C-57A0FD9D8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40"/>
            <a:ext cx="3466728" cy="4713287"/>
          </a:xfrm>
        </p:spPr>
        <p:txBody>
          <a:bodyPr>
            <a:normAutofit fontScale="92500" lnSpcReduction="20000"/>
          </a:bodyPr>
          <a:lstStyle/>
          <a:p>
            <a:r>
              <a:rPr lang="en-SG" dirty="0"/>
              <a:t>Bob is the owner</a:t>
            </a:r>
          </a:p>
          <a:p>
            <a:r>
              <a:rPr lang="en-SG" dirty="0"/>
              <a:t>Bob grants Ann</a:t>
            </a:r>
          </a:p>
          <a:p>
            <a:r>
              <a:rPr lang="en-SG" dirty="0"/>
              <a:t>Bob grants Cath</a:t>
            </a:r>
          </a:p>
          <a:p>
            <a:r>
              <a:rPr lang="en-SG" dirty="0"/>
              <a:t>Ann grants Jim</a:t>
            </a:r>
          </a:p>
          <a:p>
            <a:r>
              <a:rPr lang="en-SG" dirty="0"/>
              <a:t>Jim grants Sue</a:t>
            </a:r>
          </a:p>
          <a:p>
            <a:r>
              <a:rPr lang="en-SG" dirty="0"/>
              <a:t>Cath grants Jim</a:t>
            </a:r>
          </a:p>
          <a:p>
            <a:r>
              <a:rPr lang="en-SG" dirty="0"/>
              <a:t>Jim grants Pat</a:t>
            </a:r>
          </a:p>
          <a:p>
            <a:r>
              <a:rPr lang="en-SG" dirty="0"/>
              <a:t>Sue grants Dave</a:t>
            </a:r>
          </a:p>
          <a:p>
            <a:r>
              <a:rPr lang="en-SG" dirty="0"/>
              <a:t>Ann revokes Jim</a:t>
            </a:r>
          </a:p>
          <a:p>
            <a:r>
              <a:rPr lang="en-SG" dirty="0"/>
              <a:t>Results?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9D09DF5-416C-4050-8651-2B6B1079EA02}"/>
              </a:ext>
            </a:extLst>
          </p:cNvPr>
          <p:cNvSpPr/>
          <p:nvPr/>
        </p:nvSpPr>
        <p:spPr bwMode="auto">
          <a:xfrm>
            <a:off x="3989702" y="177281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Bob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BB2DED8-FA3C-4132-A649-0D4E9CD30E85}"/>
              </a:ext>
            </a:extLst>
          </p:cNvPr>
          <p:cNvSpPr/>
          <p:nvPr/>
        </p:nvSpPr>
        <p:spPr bwMode="auto">
          <a:xfrm>
            <a:off x="5040052" y="1118502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Ann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4D4CA32-6499-4518-B09D-6FD2C7EF8F1C}"/>
              </a:ext>
            </a:extLst>
          </p:cNvPr>
          <p:cNvSpPr/>
          <p:nvPr/>
        </p:nvSpPr>
        <p:spPr bwMode="auto">
          <a:xfrm>
            <a:off x="5040052" y="2441346"/>
            <a:ext cx="864096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Cath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89312C8-6691-43B4-9108-0DD751C112EA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 bwMode="auto">
          <a:xfrm>
            <a:off x="4637774" y="2011179"/>
            <a:ext cx="402278" cy="66853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451BDCE-2507-4CE0-A647-EFD563DE115F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 bwMode="auto">
          <a:xfrm flipV="1">
            <a:off x="4637774" y="1356865"/>
            <a:ext cx="402278" cy="65431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93CA7CC-B722-489F-BF71-14D17F05E32B}"/>
              </a:ext>
            </a:extLst>
          </p:cNvPr>
          <p:cNvSpPr/>
          <p:nvPr/>
        </p:nvSpPr>
        <p:spPr bwMode="auto">
          <a:xfrm>
            <a:off x="6084168" y="177281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Jim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61C89C1-87D6-47AF-A4B4-F26BF1419846}"/>
              </a:ext>
            </a:extLst>
          </p:cNvPr>
          <p:cNvSpPr/>
          <p:nvPr/>
        </p:nvSpPr>
        <p:spPr bwMode="auto">
          <a:xfrm>
            <a:off x="6958283" y="1118502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Sue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79B3CF6-131C-432F-995A-87FCEA535338}"/>
              </a:ext>
            </a:extLst>
          </p:cNvPr>
          <p:cNvSpPr/>
          <p:nvPr/>
        </p:nvSpPr>
        <p:spPr bwMode="auto">
          <a:xfrm>
            <a:off x="6958283" y="244134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Pat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BE2DE4B-D5A7-421A-BE08-E9A1A9469D99}"/>
              </a:ext>
            </a:extLst>
          </p:cNvPr>
          <p:cNvSpPr/>
          <p:nvPr/>
        </p:nvSpPr>
        <p:spPr bwMode="auto">
          <a:xfrm>
            <a:off x="8156153" y="1118502"/>
            <a:ext cx="808335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Dave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72AAC69-8D5E-4920-80D9-6920CD0557A2}"/>
              </a:ext>
            </a:extLst>
          </p:cNvPr>
          <p:cNvCxnSpPr>
            <a:cxnSpLocks/>
            <a:stCxn id="11" idx="3"/>
            <a:endCxn id="25" idx="0"/>
          </p:cNvCxnSpPr>
          <p:nvPr/>
        </p:nvCxnSpPr>
        <p:spPr bwMode="auto">
          <a:xfrm>
            <a:off x="5688124" y="1356865"/>
            <a:ext cx="720080" cy="41595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CA6220B-CF44-40B4-8480-DD638BFCC288}"/>
              </a:ext>
            </a:extLst>
          </p:cNvPr>
          <p:cNvCxnSpPr>
            <a:cxnSpLocks/>
            <a:stCxn id="12" idx="3"/>
            <a:endCxn id="25" idx="2"/>
          </p:cNvCxnSpPr>
          <p:nvPr/>
        </p:nvCxnSpPr>
        <p:spPr bwMode="auto">
          <a:xfrm flipV="1">
            <a:off x="5904148" y="2249542"/>
            <a:ext cx="504056" cy="43016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0BEA261-42D1-4BA5-A298-EF0953A6EEAC}"/>
              </a:ext>
            </a:extLst>
          </p:cNvPr>
          <p:cNvCxnSpPr>
            <a:cxnSpLocks/>
            <a:stCxn id="25" idx="3"/>
            <a:endCxn id="26" idx="2"/>
          </p:cNvCxnSpPr>
          <p:nvPr/>
        </p:nvCxnSpPr>
        <p:spPr bwMode="auto">
          <a:xfrm flipV="1">
            <a:off x="6732240" y="1595228"/>
            <a:ext cx="550079" cy="41595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926ED25-1044-4F43-9C42-687320FFF2EB}"/>
              </a:ext>
            </a:extLst>
          </p:cNvPr>
          <p:cNvCxnSpPr>
            <a:cxnSpLocks/>
            <a:stCxn id="25" idx="3"/>
          </p:cNvCxnSpPr>
          <p:nvPr/>
        </p:nvCxnSpPr>
        <p:spPr bwMode="auto">
          <a:xfrm>
            <a:off x="6732240" y="2011179"/>
            <a:ext cx="648072" cy="42473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98E5995-14C6-41FD-AF7F-1A2127E1B448}"/>
              </a:ext>
            </a:extLst>
          </p:cNvPr>
          <p:cNvCxnSpPr>
            <a:cxnSpLocks/>
            <a:stCxn id="26" idx="3"/>
            <a:endCxn id="30" idx="1"/>
          </p:cNvCxnSpPr>
          <p:nvPr/>
        </p:nvCxnSpPr>
        <p:spPr bwMode="auto">
          <a:xfrm>
            <a:off x="7606355" y="1356865"/>
            <a:ext cx="549798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DA964948-DD5E-4DAD-9C8D-36B61159794E}"/>
              </a:ext>
            </a:extLst>
          </p:cNvPr>
          <p:cNvSpPr/>
          <p:nvPr/>
        </p:nvSpPr>
        <p:spPr bwMode="auto">
          <a:xfrm>
            <a:off x="3989702" y="4386038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Bob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6CF32D0A-8B62-4AC1-B053-42E3C303FFA6}"/>
              </a:ext>
            </a:extLst>
          </p:cNvPr>
          <p:cNvSpPr/>
          <p:nvPr/>
        </p:nvSpPr>
        <p:spPr bwMode="auto">
          <a:xfrm>
            <a:off x="5040052" y="3731724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Ann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6D82A97D-9456-4CE1-85F4-D9DF9C131B56}"/>
              </a:ext>
            </a:extLst>
          </p:cNvPr>
          <p:cNvSpPr/>
          <p:nvPr/>
        </p:nvSpPr>
        <p:spPr bwMode="auto">
          <a:xfrm>
            <a:off x="5040052" y="5054568"/>
            <a:ext cx="864096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Cath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90A4533-5FBE-4C62-A752-35DAE744B623}"/>
              </a:ext>
            </a:extLst>
          </p:cNvPr>
          <p:cNvCxnSpPr>
            <a:cxnSpLocks/>
            <a:stCxn id="50" idx="3"/>
            <a:endCxn id="52" idx="1"/>
          </p:cNvCxnSpPr>
          <p:nvPr/>
        </p:nvCxnSpPr>
        <p:spPr bwMode="auto">
          <a:xfrm>
            <a:off x="4637774" y="4624401"/>
            <a:ext cx="402278" cy="66853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7324282-B96C-4B5F-99B1-A5391AD9FA08}"/>
              </a:ext>
            </a:extLst>
          </p:cNvPr>
          <p:cNvCxnSpPr>
            <a:cxnSpLocks/>
            <a:stCxn id="50" idx="3"/>
            <a:endCxn id="51" idx="1"/>
          </p:cNvCxnSpPr>
          <p:nvPr/>
        </p:nvCxnSpPr>
        <p:spPr bwMode="auto">
          <a:xfrm flipV="1">
            <a:off x="4637774" y="3970087"/>
            <a:ext cx="402278" cy="65431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D6BF0855-4E10-482D-915F-D60141AF1193}"/>
              </a:ext>
            </a:extLst>
          </p:cNvPr>
          <p:cNvSpPr/>
          <p:nvPr/>
        </p:nvSpPr>
        <p:spPr bwMode="auto">
          <a:xfrm>
            <a:off x="6084168" y="4386038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Jim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6DF704BE-2F1A-40FA-8016-5BB27BA62DE4}"/>
              </a:ext>
            </a:extLst>
          </p:cNvPr>
          <p:cNvSpPr/>
          <p:nvPr/>
        </p:nvSpPr>
        <p:spPr bwMode="auto">
          <a:xfrm>
            <a:off x="6958283" y="3731724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Sue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43E77420-D3BA-4237-9AAB-3C307ABCDA9F}"/>
              </a:ext>
            </a:extLst>
          </p:cNvPr>
          <p:cNvSpPr/>
          <p:nvPr/>
        </p:nvSpPr>
        <p:spPr bwMode="auto">
          <a:xfrm>
            <a:off x="6958283" y="5054568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Pat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EE0FEC5F-C04F-4572-BA8B-0061F91A0495}"/>
              </a:ext>
            </a:extLst>
          </p:cNvPr>
          <p:cNvSpPr/>
          <p:nvPr/>
        </p:nvSpPr>
        <p:spPr bwMode="auto">
          <a:xfrm>
            <a:off x="8156153" y="3731724"/>
            <a:ext cx="808335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Dave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1AD2739-4AC6-42E8-B724-134EE97B1573}"/>
              </a:ext>
            </a:extLst>
          </p:cNvPr>
          <p:cNvCxnSpPr>
            <a:cxnSpLocks/>
            <a:stCxn id="52" idx="3"/>
            <a:endCxn id="55" idx="2"/>
          </p:cNvCxnSpPr>
          <p:nvPr/>
        </p:nvCxnSpPr>
        <p:spPr bwMode="auto">
          <a:xfrm flipV="1">
            <a:off x="5904148" y="4862764"/>
            <a:ext cx="504056" cy="43016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B034F6F-37A6-4A15-A4FF-3679B1614D8E}"/>
              </a:ext>
            </a:extLst>
          </p:cNvPr>
          <p:cNvCxnSpPr>
            <a:cxnSpLocks/>
            <a:stCxn id="55" idx="3"/>
            <a:endCxn id="56" idx="2"/>
          </p:cNvCxnSpPr>
          <p:nvPr/>
        </p:nvCxnSpPr>
        <p:spPr bwMode="auto">
          <a:xfrm flipV="1">
            <a:off x="6732240" y="4208450"/>
            <a:ext cx="550079" cy="41595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17EBE99-A731-4831-81B5-7E7259B9CE9D}"/>
              </a:ext>
            </a:extLst>
          </p:cNvPr>
          <p:cNvCxnSpPr>
            <a:cxnSpLocks/>
            <a:stCxn id="55" idx="3"/>
          </p:cNvCxnSpPr>
          <p:nvPr/>
        </p:nvCxnSpPr>
        <p:spPr bwMode="auto">
          <a:xfrm>
            <a:off x="6732240" y="4624401"/>
            <a:ext cx="648072" cy="42473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02F01D8E-3591-4AC9-9C91-6FD2B866C042}"/>
              </a:ext>
            </a:extLst>
          </p:cNvPr>
          <p:cNvCxnSpPr>
            <a:cxnSpLocks/>
            <a:stCxn id="56" idx="3"/>
            <a:endCxn id="58" idx="1"/>
          </p:cNvCxnSpPr>
          <p:nvPr/>
        </p:nvCxnSpPr>
        <p:spPr bwMode="auto">
          <a:xfrm>
            <a:off x="7606355" y="3970087"/>
            <a:ext cx="549798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0CF17A7C-4483-4D03-9A67-06DD4D272953}"/>
              </a:ext>
            </a:extLst>
          </p:cNvPr>
          <p:cNvSpPr/>
          <p:nvPr/>
        </p:nvSpPr>
        <p:spPr>
          <a:xfrm>
            <a:off x="7583100" y="4472070"/>
            <a:ext cx="150842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WRONG!</a:t>
            </a:r>
          </a:p>
        </p:txBody>
      </p:sp>
    </p:spTree>
    <p:extLst>
      <p:ext uri="{BB962C8B-B14F-4D97-AF65-F5344CB8AC3E}">
        <p14:creationId xmlns:p14="http://schemas.microsoft.com/office/powerpoint/2010/main" val="239517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51C41-B18B-461E-95F7-9030AB70E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5"/>
            <a:ext cx="1738536" cy="1139825"/>
          </a:xfrm>
        </p:spPr>
        <p:txBody>
          <a:bodyPr/>
          <a:lstStyle/>
          <a:p>
            <a:r>
              <a:rPr lang="en-SG" dirty="0"/>
              <a:t>Why?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FC4D6-104E-476E-9A8C-57A0FD9D8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40"/>
            <a:ext cx="3466728" cy="4713287"/>
          </a:xfrm>
        </p:spPr>
        <p:txBody>
          <a:bodyPr>
            <a:normAutofit fontScale="92500" lnSpcReduction="20000"/>
          </a:bodyPr>
          <a:lstStyle/>
          <a:p>
            <a:r>
              <a:rPr lang="en-SG" dirty="0"/>
              <a:t>Bob is the owner</a:t>
            </a:r>
          </a:p>
          <a:p>
            <a:r>
              <a:rPr lang="en-SG" dirty="0"/>
              <a:t>Bob grants Ann</a:t>
            </a:r>
          </a:p>
          <a:p>
            <a:r>
              <a:rPr lang="en-SG" dirty="0"/>
              <a:t>Bob grants Cath</a:t>
            </a:r>
          </a:p>
          <a:p>
            <a:r>
              <a:rPr lang="en-SG" dirty="0"/>
              <a:t>Ann grants Jim</a:t>
            </a:r>
          </a:p>
          <a:p>
            <a:r>
              <a:rPr lang="en-SG" dirty="0"/>
              <a:t>Jim grants Sue</a:t>
            </a:r>
          </a:p>
          <a:p>
            <a:r>
              <a:rPr lang="en-SG" dirty="0"/>
              <a:t>Cath grants Jim</a:t>
            </a:r>
          </a:p>
          <a:p>
            <a:r>
              <a:rPr lang="en-SG" dirty="0"/>
              <a:t>Jim grants Pat</a:t>
            </a:r>
          </a:p>
          <a:p>
            <a:r>
              <a:rPr lang="en-SG" dirty="0"/>
              <a:t>Sue grants Dave</a:t>
            </a:r>
          </a:p>
          <a:p>
            <a:r>
              <a:rPr lang="en-SG" dirty="0"/>
              <a:t>Ann revokes Jim</a:t>
            </a:r>
          </a:p>
          <a:p>
            <a:r>
              <a:rPr lang="en-SG" dirty="0"/>
              <a:t>Results?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9D09DF5-416C-4050-8651-2B6B1079EA02}"/>
              </a:ext>
            </a:extLst>
          </p:cNvPr>
          <p:cNvSpPr/>
          <p:nvPr/>
        </p:nvSpPr>
        <p:spPr bwMode="auto">
          <a:xfrm>
            <a:off x="3989702" y="177281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Bob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BB2DED8-FA3C-4132-A649-0D4E9CD30E85}"/>
              </a:ext>
            </a:extLst>
          </p:cNvPr>
          <p:cNvSpPr/>
          <p:nvPr/>
        </p:nvSpPr>
        <p:spPr bwMode="auto">
          <a:xfrm>
            <a:off x="5040052" y="1118502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Ann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4D4CA32-6499-4518-B09D-6FD2C7EF8F1C}"/>
              </a:ext>
            </a:extLst>
          </p:cNvPr>
          <p:cNvSpPr/>
          <p:nvPr/>
        </p:nvSpPr>
        <p:spPr bwMode="auto">
          <a:xfrm>
            <a:off x="5040052" y="2441346"/>
            <a:ext cx="864096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Cath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89312C8-6691-43B4-9108-0DD751C112EA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 bwMode="auto">
          <a:xfrm>
            <a:off x="4637774" y="2011179"/>
            <a:ext cx="402278" cy="66853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451BDCE-2507-4CE0-A647-EFD563DE115F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 bwMode="auto">
          <a:xfrm flipV="1">
            <a:off x="4637774" y="1356865"/>
            <a:ext cx="402278" cy="65431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93CA7CC-B722-489F-BF71-14D17F05E32B}"/>
              </a:ext>
            </a:extLst>
          </p:cNvPr>
          <p:cNvSpPr/>
          <p:nvPr/>
        </p:nvSpPr>
        <p:spPr bwMode="auto">
          <a:xfrm>
            <a:off x="6084168" y="177281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Jim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61C89C1-87D6-47AF-A4B4-F26BF1419846}"/>
              </a:ext>
            </a:extLst>
          </p:cNvPr>
          <p:cNvSpPr/>
          <p:nvPr/>
        </p:nvSpPr>
        <p:spPr bwMode="auto">
          <a:xfrm>
            <a:off x="6958283" y="1118502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Sue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79B3CF6-131C-432F-995A-87FCEA535338}"/>
              </a:ext>
            </a:extLst>
          </p:cNvPr>
          <p:cNvSpPr/>
          <p:nvPr/>
        </p:nvSpPr>
        <p:spPr bwMode="auto">
          <a:xfrm>
            <a:off x="6958283" y="244134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Pat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BE2DE4B-D5A7-421A-BE08-E9A1A9469D99}"/>
              </a:ext>
            </a:extLst>
          </p:cNvPr>
          <p:cNvSpPr/>
          <p:nvPr/>
        </p:nvSpPr>
        <p:spPr bwMode="auto">
          <a:xfrm>
            <a:off x="8156153" y="1118502"/>
            <a:ext cx="808335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Dave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72AAC69-8D5E-4920-80D9-6920CD0557A2}"/>
              </a:ext>
            </a:extLst>
          </p:cNvPr>
          <p:cNvCxnSpPr>
            <a:cxnSpLocks/>
            <a:stCxn id="11" idx="3"/>
            <a:endCxn id="25" idx="0"/>
          </p:cNvCxnSpPr>
          <p:nvPr/>
        </p:nvCxnSpPr>
        <p:spPr bwMode="auto">
          <a:xfrm>
            <a:off x="5688124" y="1356865"/>
            <a:ext cx="720080" cy="41595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CA6220B-CF44-40B4-8480-DD638BFCC288}"/>
              </a:ext>
            </a:extLst>
          </p:cNvPr>
          <p:cNvCxnSpPr>
            <a:cxnSpLocks/>
            <a:stCxn id="12" idx="3"/>
            <a:endCxn id="25" idx="2"/>
          </p:cNvCxnSpPr>
          <p:nvPr/>
        </p:nvCxnSpPr>
        <p:spPr bwMode="auto">
          <a:xfrm flipV="1">
            <a:off x="5904148" y="2249542"/>
            <a:ext cx="504056" cy="43016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0BEA261-42D1-4BA5-A298-EF0953A6EEAC}"/>
              </a:ext>
            </a:extLst>
          </p:cNvPr>
          <p:cNvCxnSpPr>
            <a:cxnSpLocks/>
            <a:stCxn id="25" idx="3"/>
            <a:endCxn id="26" idx="2"/>
          </p:cNvCxnSpPr>
          <p:nvPr/>
        </p:nvCxnSpPr>
        <p:spPr bwMode="auto">
          <a:xfrm flipV="1">
            <a:off x="6732240" y="1595228"/>
            <a:ext cx="550079" cy="41595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926ED25-1044-4F43-9C42-687320FFF2EB}"/>
              </a:ext>
            </a:extLst>
          </p:cNvPr>
          <p:cNvCxnSpPr>
            <a:cxnSpLocks/>
            <a:stCxn id="25" idx="3"/>
          </p:cNvCxnSpPr>
          <p:nvPr/>
        </p:nvCxnSpPr>
        <p:spPr bwMode="auto">
          <a:xfrm>
            <a:off x="6732240" y="2011179"/>
            <a:ext cx="648072" cy="42473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98E5995-14C6-41FD-AF7F-1A2127E1B448}"/>
              </a:ext>
            </a:extLst>
          </p:cNvPr>
          <p:cNvCxnSpPr>
            <a:cxnSpLocks/>
            <a:stCxn id="26" idx="3"/>
            <a:endCxn id="30" idx="1"/>
          </p:cNvCxnSpPr>
          <p:nvPr/>
        </p:nvCxnSpPr>
        <p:spPr bwMode="auto">
          <a:xfrm>
            <a:off x="7606355" y="1356865"/>
            <a:ext cx="549798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DA964948-DD5E-4DAD-9C8D-36B61159794E}"/>
              </a:ext>
            </a:extLst>
          </p:cNvPr>
          <p:cNvSpPr/>
          <p:nvPr/>
        </p:nvSpPr>
        <p:spPr bwMode="auto">
          <a:xfrm>
            <a:off x="3989702" y="4386038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Bob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6CF32D0A-8B62-4AC1-B053-42E3C303FFA6}"/>
              </a:ext>
            </a:extLst>
          </p:cNvPr>
          <p:cNvSpPr/>
          <p:nvPr/>
        </p:nvSpPr>
        <p:spPr bwMode="auto">
          <a:xfrm>
            <a:off x="5040052" y="3731724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Ann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6D82A97D-9456-4CE1-85F4-D9DF9C131B56}"/>
              </a:ext>
            </a:extLst>
          </p:cNvPr>
          <p:cNvSpPr/>
          <p:nvPr/>
        </p:nvSpPr>
        <p:spPr bwMode="auto">
          <a:xfrm>
            <a:off x="5040052" y="5054568"/>
            <a:ext cx="864096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Cath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90A4533-5FBE-4C62-A752-35DAE744B623}"/>
              </a:ext>
            </a:extLst>
          </p:cNvPr>
          <p:cNvCxnSpPr>
            <a:cxnSpLocks/>
            <a:stCxn id="50" idx="3"/>
            <a:endCxn id="52" idx="1"/>
          </p:cNvCxnSpPr>
          <p:nvPr/>
        </p:nvCxnSpPr>
        <p:spPr bwMode="auto">
          <a:xfrm>
            <a:off x="4637774" y="4624401"/>
            <a:ext cx="402278" cy="66853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7324282-B96C-4B5F-99B1-A5391AD9FA08}"/>
              </a:ext>
            </a:extLst>
          </p:cNvPr>
          <p:cNvCxnSpPr>
            <a:cxnSpLocks/>
            <a:stCxn id="50" idx="3"/>
            <a:endCxn id="51" idx="1"/>
          </p:cNvCxnSpPr>
          <p:nvPr/>
        </p:nvCxnSpPr>
        <p:spPr bwMode="auto">
          <a:xfrm flipV="1">
            <a:off x="4637774" y="3970087"/>
            <a:ext cx="402278" cy="65431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D6BF0855-4E10-482D-915F-D60141AF1193}"/>
              </a:ext>
            </a:extLst>
          </p:cNvPr>
          <p:cNvSpPr/>
          <p:nvPr/>
        </p:nvSpPr>
        <p:spPr bwMode="auto">
          <a:xfrm>
            <a:off x="6084168" y="4386038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Jim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6DF704BE-2F1A-40FA-8016-5BB27BA62DE4}"/>
              </a:ext>
            </a:extLst>
          </p:cNvPr>
          <p:cNvSpPr/>
          <p:nvPr/>
        </p:nvSpPr>
        <p:spPr bwMode="auto">
          <a:xfrm>
            <a:off x="6958283" y="3731724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Sue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43E77420-D3BA-4237-9AAB-3C307ABCDA9F}"/>
              </a:ext>
            </a:extLst>
          </p:cNvPr>
          <p:cNvSpPr/>
          <p:nvPr/>
        </p:nvSpPr>
        <p:spPr bwMode="auto">
          <a:xfrm>
            <a:off x="6958283" y="5054568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Pat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EE0FEC5F-C04F-4572-BA8B-0061F91A0495}"/>
              </a:ext>
            </a:extLst>
          </p:cNvPr>
          <p:cNvSpPr/>
          <p:nvPr/>
        </p:nvSpPr>
        <p:spPr bwMode="auto">
          <a:xfrm>
            <a:off x="8156153" y="3731724"/>
            <a:ext cx="808335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Dave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1AD2739-4AC6-42E8-B724-134EE97B1573}"/>
              </a:ext>
            </a:extLst>
          </p:cNvPr>
          <p:cNvCxnSpPr>
            <a:cxnSpLocks/>
            <a:stCxn id="52" idx="3"/>
            <a:endCxn id="55" idx="2"/>
          </p:cNvCxnSpPr>
          <p:nvPr/>
        </p:nvCxnSpPr>
        <p:spPr bwMode="auto">
          <a:xfrm flipV="1">
            <a:off x="5904148" y="4862764"/>
            <a:ext cx="504056" cy="43016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B034F6F-37A6-4A15-A4FF-3679B1614D8E}"/>
              </a:ext>
            </a:extLst>
          </p:cNvPr>
          <p:cNvCxnSpPr>
            <a:cxnSpLocks/>
            <a:stCxn id="55" idx="3"/>
            <a:endCxn id="56" idx="2"/>
          </p:cNvCxnSpPr>
          <p:nvPr/>
        </p:nvCxnSpPr>
        <p:spPr bwMode="auto">
          <a:xfrm flipV="1">
            <a:off x="6732240" y="4208450"/>
            <a:ext cx="550079" cy="41595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17EBE99-A731-4831-81B5-7E7259B9CE9D}"/>
              </a:ext>
            </a:extLst>
          </p:cNvPr>
          <p:cNvCxnSpPr>
            <a:cxnSpLocks/>
            <a:stCxn id="55" idx="3"/>
          </p:cNvCxnSpPr>
          <p:nvPr/>
        </p:nvCxnSpPr>
        <p:spPr bwMode="auto">
          <a:xfrm>
            <a:off x="6732240" y="4624401"/>
            <a:ext cx="648072" cy="42473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02F01D8E-3591-4AC9-9C91-6FD2B866C042}"/>
              </a:ext>
            </a:extLst>
          </p:cNvPr>
          <p:cNvCxnSpPr>
            <a:cxnSpLocks/>
            <a:stCxn id="56" idx="3"/>
            <a:endCxn id="58" idx="1"/>
          </p:cNvCxnSpPr>
          <p:nvPr/>
        </p:nvCxnSpPr>
        <p:spPr bwMode="auto">
          <a:xfrm>
            <a:off x="7606355" y="3970087"/>
            <a:ext cx="549798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0CF17A7C-4483-4D03-9A67-06DD4D272953}"/>
              </a:ext>
            </a:extLst>
          </p:cNvPr>
          <p:cNvSpPr/>
          <p:nvPr/>
        </p:nvSpPr>
        <p:spPr>
          <a:xfrm>
            <a:off x="7583100" y="4472070"/>
            <a:ext cx="150842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WRONG!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9A9B60-E374-4767-9296-CD04E72CF575}"/>
              </a:ext>
            </a:extLst>
          </p:cNvPr>
          <p:cNvSpPr/>
          <p:nvPr/>
        </p:nvSpPr>
        <p:spPr>
          <a:xfrm>
            <a:off x="2391318" y="188640"/>
            <a:ext cx="67526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command should be erased from history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B5B34D1-ECD9-41BA-921C-BC4D8CCC9CE8}"/>
              </a:ext>
            </a:extLst>
          </p:cNvPr>
          <p:cNvCxnSpPr>
            <a:cxnSpLocks/>
          </p:cNvCxnSpPr>
          <p:nvPr/>
        </p:nvCxnSpPr>
        <p:spPr bwMode="auto">
          <a:xfrm flipH="1">
            <a:off x="2261511" y="700974"/>
            <a:ext cx="758020" cy="221709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5F69DFB6-6727-40F2-995D-34772D0EBAE0}"/>
              </a:ext>
            </a:extLst>
          </p:cNvPr>
          <p:cNvSpPr/>
          <p:nvPr/>
        </p:nvSpPr>
        <p:spPr>
          <a:xfrm>
            <a:off x="3355899" y="607706"/>
            <a:ext cx="574016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that case, how could Jim grant Sue?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3CD7D41-F1A5-4314-8ABC-7AA47E84A59D}"/>
              </a:ext>
            </a:extLst>
          </p:cNvPr>
          <p:cNvCxnSpPr>
            <a:cxnSpLocks/>
          </p:cNvCxnSpPr>
          <p:nvPr/>
        </p:nvCxnSpPr>
        <p:spPr bwMode="auto">
          <a:xfrm flipH="1">
            <a:off x="2945932" y="1118502"/>
            <a:ext cx="1717000" cy="231049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6FC73822-B5D7-4730-987B-DF976DAC84F8}"/>
              </a:ext>
            </a:extLst>
          </p:cNvPr>
          <p:cNvSpPr/>
          <p:nvPr/>
        </p:nvSpPr>
        <p:spPr bwMode="auto">
          <a:xfrm>
            <a:off x="391426" y="4995290"/>
            <a:ext cx="3202232" cy="476726"/>
          </a:xfrm>
          <a:prstGeom prst="roundRect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3944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5" grpId="0"/>
      <p:bldP spid="5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51C41-B18B-461E-95F7-9030AB70E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5"/>
            <a:ext cx="1738536" cy="1139825"/>
          </a:xfrm>
        </p:spPr>
        <p:txBody>
          <a:bodyPr/>
          <a:lstStyle/>
          <a:p>
            <a:r>
              <a:rPr lang="en-SG" dirty="0"/>
              <a:t>Why?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FC4D6-104E-476E-9A8C-57A0FD9D8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40"/>
            <a:ext cx="3466728" cy="4713287"/>
          </a:xfrm>
        </p:spPr>
        <p:txBody>
          <a:bodyPr>
            <a:normAutofit fontScale="92500" lnSpcReduction="20000"/>
          </a:bodyPr>
          <a:lstStyle/>
          <a:p>
            <a:r>
              <a:rPr lang="en-SG" dirty="0"/>
              <a:t>Bob is the owner</a:t>
            </a:r>
          </a:p>
          <a:p>
            <a:r>
              <a:rPr lang="en-SG" dirty="0"/>
              <a:t>Bob grants Ann</a:t>
            </a:r>
          </a:p>
          <a:p>
            <a:r>
              <a:rPr lang="en-SG" dirty="0"/>
              <a:t>Bob grants Cath</a:t>
            </a:r>
          </a:p>
          <a:p>
            <a:r>
              <a:rPr lang="en-SG" dirty="0"/>
              <a:t>Ann grants Jim</a:t>
            </a:r>
          </a:p>
          <a:p>
            <a:r>
              <a:rPr lang="en-SG" dirty="0"/>
              <a:t>Jim grants Sue</a:t>
            </a:r>
          </a:p>
          <a:p>
            <a:r>
              <a:rPr lang="en-SG" dirty="0"/>
              <a:t>Cath grants Jim</a:t>
            </a:r>
          </a:p>
          <a:p>
            <a:r>
              <a:rPr lang="en-SG" dirty="0"/>
              <a:t>Jim grants Pat</a:t>
            </a:r>
          </a:p>
          <a:p>
            <a:r>
              <a:rPr lang="en-SG" dirty="0"/>
              <a:t>Sue grants Dave</a:t>
            </a:r>
          </a:p>
          <a:p>
            <a:r>
              <a:rPr lang="en-SG" dirty="0"/>
              <a:t>Ann revokes Jim</a:t>
            </a:r>
          </a:p>
          <a:p>
            <a:r>
              <a:rPr lang="en-SG" dirty="0"/>
              <a:t>Results?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9D09DF5-416C-4050-8651-2B6B1079EA02}"/>
              </a:ext>
            </a:extLst>
          </p:cNvPr>
          <p:cNvSpPr/>
          <p:nvPr/>
        </p:nvSpPr>
        <p:spPr bwMode="auto">
          <a:xfrm>
            <a:off x="3989702" y="177281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Bob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BB2DED8-FA3C-4132-A649-0D4E9CD30E85}"/>
              </a:ext>
            </a:extLst>
          </p:cNvPr>
          <p:cNvSpPr/>
          <p:nvPr/>
        </p:nvSpPr>
        <p:spPr bwMode="auto">
          <a:xfrm>
            <a:off x="5040052" y="1118502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Ann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4D4CA32-6499-4518-B09D-6FD2C7EF8F1C}"/>
              </a:ext>
            </a:extLst>
          </p:cNvPr>
          <p:cNvSpPr/>
          <p:nvPr/>
        </p:nvSpPr>
        <p:spPr bwMode="auto">
          <a:xfrm>
            <a:off x="5040052" y="2441346"/>
            <a:ext cx="864096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Cath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89312C8-6691-43B4-9108-0DD751C112EA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 bwMode="auto">
          <a:xfrm>
            <a:off x="4637774" y="2011179"/>
            <a:ext cx="402278" cy="66853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451BDCE-2507-4CE0-A647-EFD563DE115F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 bwMode="auto">
          <a:xfrm flipV="1">
            <a:off x="4637774" y="1356865"/>
            <a:ext cx="402278" cy="65431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93CA7CC-B722-489F-BF71-14D17F05E32B}"/>
              </a:ext>
            </a:extLst>
          </p:cNvPr>
          <p:cNvSpPr/>
          <p:nvPr/>
        </p:nvSpPr>
        <p:spPr bwMode="auto">
          <a:xfrm>
            <a:off x="6084168" y="177281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Jim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61C89C1-87D6-47AF-A4B4-F26BF1419846}"/>
              </a:ext>
            </a:extLst>
          </p:cNvPr>
          <p:cNvSpPr/>
          <p:nvPr/>
        </p:nvSpPr>
        <p:spPr bwMode="auto">
          <a:xfrm>
            <a:off x="6958283" y="1118502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Sue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79B3CF6-131C-432F-995A-87FCEA535338}"/>
              </a:ext>
            </a:extLst>
          </p:cNvPr>
          <p:cNvSpPr/>
          <p:nvPr/>
        </p:nvSpPr>
        <p:spPr bwMode="auto">
          <a:xfrm>
            <a:off x="6958283" y="244134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Pat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BE2DE4B-D5A7-421A-BE08-E9A1A9469D99}"/>
              </a:ext>
            </a:extLst>
          </p:cNvPr>
          <p:cNvSpPr/>
          <p:nvPr/>
        </p:nvSpPr>
        <p:spPr bwMode="auto">
          <a:xfrm>
            <a:off x="8156153" y="1118502"/>
            <a:ext cx="808335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Dave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72AAC69-8D5E-4920-80D9-6920CD0557A2}"/>
              </a:ext>
            </a:extLst>
          </p:cNvPr>
          <p:cNvCxnSpPr>
            <a:cxnSpLocks/>
            <a:stCxn id="11" idx="3"/>
            <a:endCxn id="25" idx="0"/>
          </p:cNvCxnSpPr>
          <p:nvPr/>
        </p:nvCxnSpPr>
        <p:spPr bwMode="auto">
          <a:xfrm>
            <a:off x="5688124" y="1356865"/>
            <a:ext cx="720080" cy="41595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CA6220B-CF44-40B4-8480-DD638BFCC288}"/>
              </a:ext>
            </a:extLst>
          </p:cNvPr>
          <p:cNvCxnSpPr>
            <a:cxnSpLocks/>
            <a:stCxn id="12" idx="3"/>
            <a:endCxn id="25" idx="2"/>
          </p:cNvCxnSpPr>
          <p:nvPr/>
        </p:nvCxnSpPr>
        <p:spPr bwMode="auto">
          <a:xfrm flipV="1">
            <a:off x="5904148" y="2249542"/>
            <a:ext cx="504056" cy="43016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0BEA261-42D1-4BA5-A298-EF0953A6EEAC}"/>
              </a:ext>
            </a:extLst>
          </p:cNvPr>
          <p:cNvCxnSpPr>
            <a:cxnSpLocks/>
            <a:stCxn id="25" idx="3"/>
            <a:endCxn id="26" idx="2"/>
          </p:cNvCxnSpPr>
          <p:nvPr/>
        </p:nvCxnSpPr>
        <p:spPr bwMode="auto">
          <a:xfrm flipV="1">
            <a:off x="6732240" y="1595228"/>
            <a:ext cx="550079" cy="41595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926ED25-1044-4F43-9C42-687320FFF2EB}"/>
              </a:ext>
            </a:extLst>
          </p:cNvPr>
          <p:cNvCxnSpPr>
            <a:cxnSpLocks/>
            <a:stCxn id="25" idx="3"/>
          </p:cNvCxnSpPr>
          <p:nvPr/>
        </p:nvCxnSpPr>
        <p:spPr bwMode="auto">
          <a:xfrm>
            <a:off x="6732240" y="2011179"/>
            <a:ext cx="648072" cy="42473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98E5995-14C6-41FD-AF7F-1A2127E1B448}"/>
              </a:ext>
            </a:extLst>
          </p:cNvPr>
          <p:cNvCxnSpPr>
            <a:cxnSpLocks/>
            <a:stCxn id="26" idx="3"/>
            <a:endCxn id="30" idx="1"/>
          </p:cNvCxnSpPr>
          <p:nvPr/>
        </p:nvCxnSpPr>
        <p:spPr bwMode="auto">
          <a:xfrm>
            <a:off x="7606355" y="1356865"/>
            <a:ext cx="549798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DA964948-DD5E-4DAD-9C8D-36B61159794E}"/>
              </a:ext>
            </a:extLst>
          </p:cNvPr>
          <p:cNvSpPr/>
          <p:nvPr/>
        </p:nvSpPr>
        <p:spPr bwMode="auto">
          <a:xfrm>
            <a:off x="3989702" y="4386038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Bob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6CF32D0A-8B62-4AC1-B053-42E3C303FFA6}"/>
              </a:ext>
            </a:extLst>
          </p:cNvPr>
          <p:cNvSpPr/>
          <p:nvPr/>
        </p:nvSpPr>
        <p:spPr bwMode="auto">
          <a:xfrm>
            <a:off x="5040052" y="3731724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Ann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6D82A97D-9456-4CE1-85F4-D9DF9C131B56}"/>
              </a:ext>
            </a:extLst>
          </p:cNvPr>
          <p:cNvSpPr/>
          <p:nvPr/>
        </p:nvSpPr>
        <p:spPr bwMode="auto">
          <a:xfrm>
            <a:off x="5040052" y="5054568"/>
            <a:ext cx="864096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Cath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90A4533-5FBE-4C62-A752-35DAE744B623}"/>
              </a:ext>
            </a:extLst>
          </p:cNvPr>
          <p:cNvCxnSpPr>
            <a:cxnSpLocks/>
            <a:stCxn id="50" idx="3"/>
            <a:endCxn id="52" idx="1"/>
          </p:cNvCxnSpPr>
          <p:nvPr/>
        </p:nvCxnSpPr>
        <p:spPr bwMode="auto">
          <a:xfrm>
            <a:off x="4637774" y="4624401"/>
            <a:ext cx="402278" cy="66853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7324282-B96C-4B5F-99B1-A5391AD9FA08}"/>
              </a:ext>
            </a:extLst>
          </p:cNvPr>
          <p:cNvCxnSpPr>
            <a:cxnSpLocks/>
            <a:stCxn id="50" idx="3"/>
            <a:endCxn id="51" idx="1"/>
          </p:cNvCxnSpPr>
          <p:nvPr/>
        </p:nvCxnSpPr>
        <p:spPr bwMode="auto">
          <a:xfrm flipV="1">
            <a:off x="4637774" y="3970087"/>
            <a:ext cx="402278" cy="65431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D6BF0855-4E10-482D-915F-D60141AF1193}"/>
              </a:ext>
            </a:extLst>
          </p:cNvPr>
          <p:cNvSpPr/>
          <p:nvPr/>
        </p:nvSpPr>
        <p:spPr bwMode="auto">
          <a:xfrm>
            <a:off x="6084168" y="4386038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Jim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6DF704BE-2F1A-40FA-8016-5BB27BA62DE4}"/>
              </a:ext>
            </a:extLst>
          </p:cNvPr>
          <p:cNvSpPr/>
          <p:nvPr/>
        </p:nvSpPr>
        <p:spPr bwMode="auto">
          <a:xfrm>
            <a:off x="6958283" y="3731724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Sue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43E77420-D3BA-4237-9AAB-3C307ABCDA9F}"/>
              </a:ext>
            </a:extLst>
          </p:cNvPr>
          <p:cNvSpPr/>
          <p:nvPr/>
        </p:nvSpPr>
        <p:spPr bwMode="auto">
          <a:xfrm>
            <a:off x="6958283" y="5054568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Pat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EE0FEC5F-C04F-4572-BA8B-0061F91A0495}"/>
              </a:ext>
            </a:extLst>
          </p:cNvPr>
          <p:cNvSpPr/>
          <p:nvPr/>
        </p:nvSpPr>
        <p:spPr bwMode="auto">
          <a:xfrm>
            <a:off x="8156153" y="3731724"/>
            <a:ext cx="808335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Dave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1AD2739-4AC6-42E8-B724-134EE97B1573}"/>
              </a:ext>
            </a:extLst>
          </p:cNvPr>
          <p:cNvCxnSpPr>
            <a:cxnSpLocks/>
            <a:stCxn id="52" idx="3"/>
            <a:endCxn id="55" idx="2"/>
          </p:cNvCxnSpPr>
          <p:nvPr/>
        </p:nvCxnSpPr>
        <p:spPr bwMode="auto">
          <a:xfrm flipV="1">
            <a:off x="5904148" y="4862764"/>
            <a:ext cx="504056" cy="43016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17EBE99-A731-4831-81B5-7E7259B9CE9D}"/>
              </a:ext>
            </a:extLst>
          </p:cNvPr>
          <p:cNvCxnSpPr>
            <a:cxnSpLocks/>
            <a:stCxn id="55" idx="3"/>
          </p:cNvCxnSpPr>
          <p:nvPr/>
        </p:nvCxnSpPr>
        <p:spPr bwMode="auto">
          <a:xfrm>
            <a:off x="6732240" y="4624401"/>
            <a:ext cx="648072" cy="42473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02F01D8E-3591-4AC9-9C91-6FD2B866C042}"/>
              </a:ext>
            </a:extLst>
          </p:cNvPr>
          <p:cNvCxnSpPr>
            <a:cxnSpLocks/>
            <a:stCxn id="56" idx="3"/>
            <a:endCxn id="58" idx="1"/>
          </p:cNvCxnSpPr>
          <p:nvPr/>
        </p:nvCxnSpPr>
        <p:spPr bwMode="auto">
          <a:xfrm>
            <a:off x="7606355" y="3970087"/>
            <a:ext cx="549798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869A9B60-E374-4767-9296-CD04E72CF575}"/>
              </a:ext>
            </a:extLst>
          </p:cNvPr>
          <p:cNvSpPr/>
          <p:nvPr/>
        </p:nvSpPr>
        <p:spPr>
          <a:xfrm>
            <a:off x="2391318" y="188640"/>
            <a:ext cx="67526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command should be erased from history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B5B34D1-ECD9-41BA-921C-BC4D8CCC9CE8}"/>
              </a:ext>
            </a:extLst>
          </p:cNvPr>
          <p:cNvCxnSpPr>
            <a:cxnSpLocks/>
          </p:cNvCxnSpPr>
          <p:nvPr/>
        </p:nvCxnSpPr>
        <p:spPr bwMode="auto">
          <a:xfrm flipH="1">
            <a:off x="2261511" y="700974"/>
            <a:ext cx="758020" cy="221709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5F69DFB6-6727-40F2-995D-34772D0EBAE0}"/>
              </a:ext>
            </a:extLst>
          </p:cNvPr>
          <p:cNvSpPr/>
          <p:nvPr/>
        </p:nvSpPr>
        <p:spPr>
          <a:xfrm>
            <a:off x="3355899" y="607706"/>
            <a:ext cx="574016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that case, how could Jim grant Sue?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3CD7D41-F1A5-4314-8ABC-7AA47E84A59D}"/>
              </a:ext>
            </a:extLst>
          </p:cNvPr>
          <p:cNvCxnSpPr>
            <a:cxnSpLocks/>
          </p:cNvCxnSpPr>
          <p:nvPr/>
        </p:nvCxnSpPr>
        <p:spPr bwMode="auto">
          <a:xfrm flipH="1">
            <a:off x="2945932" y="1118502"/>
            <a:ext cx="1717000" cy="231049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6FC73822-B5D7-4730-987B-DF976DAC84F8}"/>
              </a:ext>
            </a:extLst>
          </p:cNvPr>
          <p:cNvSpPr/>
          <p:nvPr/>
        </p:nvSpPr>
        <p:spPr bwMode="auto">
          <a:xfrm>
            <a:off x="391426" y="4995290"/>
            <a:ext cx="3202232" cy="476726"/>
          </a:xfrm>
          <a:prstGeom prst="roundRect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94466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51C41-B18B-461E-95F7-9030AB70E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5"/>
            <a:ext cx="1738536" cy="1139825"/>
          </a:xfrm>
        </p:spPr>
        <p:txBody>
          <a:bodyPr/>
          <a:lstStyle/>
          <a:p>
            <a:r>
              <a:rPr lang="en-SG" dirty="0"/>
              <a:t>Why?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FC4D6-104E-476E-9A8C-57A0FD9D8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40"/>
            <a:ext cx="3466728" cy="4713287"/>
          </a:xfrm>
        </p:spPr>
        <p:txBody>
          <a:bodyPr>
            <a:normAutofit fontScale="92500" lnSpcReduction="20000"/>
          </a:bodyPr>
          <a:lstStyle/>
          <a:p>
            <a:r>
              <a:rPr lang="en-SG" dirty="0"/>
              <a:t>Bob is the owner</a:t>
            </a:r>
          </a:p>
          <a:p>
            <a:r>
              <a:rPr lang="en-SG" dirty="0"/>
              <a:t>Bob grants Ann</a:t>
            </a:r>
          </a:p>
          <a:p>
            <a:r>
              <a:rPr lang="en-SG" dirty="0"/>
              <a:t>Bob grants Cath</a:t>
            </a:r>
          </a:p>
          <a:p>
            <a:r>
              <a:rPr lang="en-SG" dirty="0"/>
              <a:t>Ann grants Jim</a:t>
            </a:r>
          </a:p>
          <a:p>
            <a:r>
              <a:rPr lang="en-SG" dirty="0"/>
              <a:t>Jim grants Sue</a:t>
            </a:r>
          </a:p>
          <a:p>
            <a:r>
              <a:rPr lang="en-SG" dirty="0"/>
              <a:t>Cath grants Jim</a:t>
            </a:r>
          </a:p>
          <a:p>
            <a:r>
              <a:rPr lang="en-SG" dirty="0"/>
              <a:t>Jim grants Pat</a:t>
            </a:r>
          </a:p>
          <a:p>
            <a:r>
              <a:rPr lang="en-SG" dirty="0"/>
              <a:t>Sue grants Dave</a:t>
            </a:r>
          </a:p>
          <a:p>
            <a:r>
              <a:rPr lang="en-SG" dirty="0"/>
              <a:t>Ann revokes Jim</a:t>
            </a:r>
          </a:p>
          <a:p>
            <a:r>
              <a:rPr lang="en-SG" dirty="0"/>
              <a:t>Results?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9D09DF5-416C-4050-8651-2B6B1079EA02}"/>
              </a:ext>
            </a:extLst>
          </p:cNvPr>
          <p:cNvSpPr/>
          <p:nvPr/>
        </p:nvSpPr>
        <p:spPr bwMode="auto">
          <a:xfrm>
            <a:off x="3989702" y="177281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Bob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BB2DED8-FA3C-4132-A649-0D4E9CD30E85}"/>
              </a:ext>
            </a:extLst>
          </p:cNvPr>
          <p:cNvSpPr/>
          <p:nvPr/>
        </p:nvSpPr>
        <p:spPr bwMode="auto">
          <a:xfrm>
            <a:off x="5040052" y="1118502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Ann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4D4CA32-6499-4518-B09D-6FD2C7EF8F1C}"/>
              </a:ext>
            </a:extLst>
          </p:cNvPr>
          <p:cNvSpPr/>
          <p:nvPr/>
        </p:nvSpPr>
        <p:spPr bwMode="auto">
          <a:xfrm>
            <a:off x="5040052" y="2441346"/>
            <a:ext cx="864096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Cath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89312C8-6691-43B4-9108-0DD751C112EA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 bwMode="auto">
          <a:xfrm>
            <a:off x="4637774" y="2011179"/>
            <a:ext cx="402278" cy="66853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451BDCE-2507-4CE0-A647-EFD563DE115F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 bwMode="auto">
          <a:xfrm flipV="1">
            <a:off x="4637774" y="1356865"/>
            <a:ext cx="402278" cy="65431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93CA7CC-B722-489F-BF71-14D17F05E32B}"/>
              </a:ext>
            </a:extLst>
          </p:cNvPr>
          <p:cNvSpPr/>
          <p:nvPr/>
        </p:nvSpPr>
        <p:spPr bwMode="auto">
          <a:xfrm>
            <a:off x="6084168" y="177281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Jim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61C89C1-87D6-47AF-A4B4-F26BF1419846}"/>
              </a:ext>
            </a:extLst>
          </p:cNvPr>
          <p:cNvSpPr/>
          <p:nvPr/>
        </p:nvSpPr>
        <p:spPr bwMode="auto">
          <a:xfrm>
            <a:off x="6958283" y="1118502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Sue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79B3CF6-131C-432F-995A-87FCEA535338}"/>
              </a:ext>
            </a:extLst>
          </p:cNvPr>
          <p:cNvSpPr/>
          <p:nvPr/>
        </p:nvSpPr>
        <p:spPr bwMode="auto">
          <a:xfrm>
            <a:off x="6958283" y="244134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Pat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BE2DE4B-D5A7-421A-BE08-E9A1A9469D99}"/>
              </a:ext>
            </a:extLst>
          </p:cNvPr>
          <p:cNvSpPr/>
          <p:nvPr/>
        </p:nvSpPr>
        <p:spPr bwMode="auto">
          <a:xfrm>
            <a:off x="8156153" y="1118502"/>
            <a:ext cx="808335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Dave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72AAC69-8D5E-4920-80D9-6920CD0557A2}"/>
              </a:ext>
            </a:extLst>
          </p:cNvPr>
          <p:cNvCxnSpPr>
            <a:cxnSpLocks/>
            <a:stCxn id="11" idx="3"/>
            <a:endCxn id="25" idx="0"/>
          </p:cNvCxnSpPr>
          <p:nvPr/>
        </p:nvCxnSpPr>
        <p:spPr bwMode="auto">
          <a:xfrm>
            <a:off x="5688124" y="1356865"/>
            <a:ext cx="720080" cy="41595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CA6220B-CF44-40B4-8480-DD638BFCC288}"/>
              </a:ext>
            </a:extLst>
          </p:cNvPr>
          <p:cNvCxnSpPr>
            <a:cxnSpLocks/>
            <a:stCxn id="12" idx="3"/>
            <a:endCxn id="25" idx="2"/>
          </p:cNvCxnSpPr>
          <p:nvPr/>
        </p:nvCxnSpPr>
        <p:spPr bwMode="auto">
          <a:xfrm flipV="1">
            <a:off x="5904148" y="2249542"/>
            <a:ext cx="504056" cy="43016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0BEA261-42D1-4BA5-A298-EF0953A6EEAC}"/>
              </a:ext>
            </a:extLst>
          </p:cNvPr>
          <p:cNvCxnSpPr>
            <a:cxnSpLocks/>
            <a:stCxn id="25" idx="3"/>
            <a:endCxn id="26" idx="2"/>
          </p:cNvCxnSpPr>
          <p:nvPr/>
        </p:nvCxnSpPr>
        <p:spPr bwMode="auto">
          <a:xfrm flipV="1">
            <a:off x="6732240" y="1595228"/>
            <a:ext cx="550079" cy="41595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926ED25-1044-4F43-9C42-687320FFF2EB}"/>
              </a:ext>
            </a:extLst>
          </p:cNvPr>
          <p:cNvCxnSpPr>
            <a:cxnSpLocks/>
            <a:stCxn id="25" idx="3"/>
          </p:cNvCxnSpPr>
          <p:nvPr/>
        </p:nvCxnSpPr>
        <p:spPr bwMode="auto">
          <a:xfrm>
            <a:off x="6732240" y="2011179"/>
            <a:ext cx="648072" cy="42473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98E5995-14C6-41FD-AF7F-1A2127E1B448}"/>
              </a:ext>
            </a:extLst>
          </p:cNvPr>
          <p:cNvCxnSpPr>
            <a:cxnSpLocks/>
            <a:stCxn id="26" idx="3"/>
            <a:endCxn id="30" idx="1"/>
          </p:cNvCxnSpPr>
          <p:nvPr/>
        </p:nvCxnSpPr>
        <p:spPr bwMode="auto">
          <a:xfrm>
            <a:off x="7606355" y="1356865"/>
            <a:ext cx="549798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DA964948-DD5E-4DAD-9C8D-36B61159794E}"/>
              </a:ext>
            </a:extLst>
          </p:cNvPr>
          <p:cNvSpPr/>
          <p:nvPr/>
        </p:nvSpPr>
        <p:spPr bwMode="auto">
          <a:xfrm>
            <a:off x="3989702" y="4386038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Bob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6CF32D0A-8B62-4AC1-B053-42E3C303FFA6}"/>
              </a:ext>
            </a:extLst>
          </p:cNvPr>
          <p:cNvSpPr/>
          <p:nvPr/>
        </p:nvSpPr>
        <p:spPr bwMode="auto">
          <a:xfrm>
            <a:off x="5040052" y="3731724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Ann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6D82A97D-9456-4CE1-85F4-D9DF9C131B56}"/>
              </a:ext>
            </a:extLst>
          </p:cNvPr>
          <p:cNvSpPr/>
          <p:nvPr/>
        </p:nvSpPr>
        <p:spPr bwMode="auto">
          <a:xfrm>
            <a:off x="5040052" y="5054568"/>
            <a:ext cx="864096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Cath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90A4533-5FBE-4C62-A752-35DAE744B623}"/>
              </a:ext>
            </a:extLst>
          </p:cNvPr>
          <p:cNvCxnSpPr>
            <a:cxnSpLocks/>
            <a:stCxn id="50" idx="3"/>
            <a:endCxn id="52" idx="1"/>
          </p:cNvCxnSpPr>
          <p:nvPr/>
        </p:nvCxnSpPr>
        <p:spPr bwMode="auto">
          <a:xfrm>
            <a:off x="4637774" y="4624401"/>
            <a:ext cx="402278" cy="66853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7324282-B96C-4B5F-99B1-A5391AD9FA08}"/>
              </a:ext>
            </a:extLst>
          </p:cNvPr>
          <p:cNvCxnSpPr>
            <a:cxnSpLocks/>
            <a:stCxn id="50" idx="3"/>
            <a:endCxn id="51" idx="1"/>
          </p:cNvCxnSpPr>
          <p:nvPr/>
        </p:nvCxnSpPr>
        <p:spPr bwMode="auto">
          <a:xfrm flipV="1">
            <a:off x="4637774" y="3970087"/>
            <a:ext cx="402278" cy="65431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D6BF0855-4E10-482D-915F-D60141AF1193}"/>
              </a:ext>
            </a:extLst>
          </p:cNvPr>
          <p:cNvSpPr/>
          <p:nvPr/>
        </p:nvSpPr>
        <p:spPr bwMode="auto">
          <a:xfrm>
            <a:off x="6084168" y="4386038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Jim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6DF704BE-2F1A-40FA-8016-5BB27BA62DE4}"/>
              </a:ext>
            </a:extLst>
          </p:cNvPr>
          <p:cNvSpPr/>
          <p:nvPr/>
        </p:nvSpPr>
        <p:spPr bwMode="auto">
          <a:xfrm>
            <a:off x="6958283" y="3731724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Sue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43E77420-D3BA-4237-9AAB-3C307ABCDA9F}"/>
              </a:ext>
            </a:extLst>
          </p:cNvPr>
          <p:cNvSpPr/>
          <p:nvPr/>
        </p:nvSpPr>
        <p:spPr bwMode="auto">
          <a:xfrm>
            <a:off x="6958283" y="5054568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Pat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EE0FEC5F-C04F-4572-BA8B-0061F91A0495}"/>
              </a:ext>
            </a:extLst>
          </p:cNvPr>
          <p:cNvSpPr/>
          <p:nvPr/>
        </p:nvSpPr>
        <p:spPr bwMode="auto">
          <a:xfrm>
            <a:off x="8156153" y="3731724"/>
            <a:ext cx="808335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Dave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1AD2739-4AC6-42E8-B724-134EE97B1573}"/>
              </a:ext>
            </a:extLst>
          </p:cNvPr>
          <p:cNvCxnSpPr>
            <a:cxnSpLocks/>
            <a:stCxn id="52" idx="3"/>
            <a:endCxn id="55" idx="2"/>
          </p:cNvCxnSpPr>
          <p:nvPr/>
        </p:nvCxnSpPr>
        <p:spPr bwMode="auto">
          <a:xfrm flipV="1">
            <a:off x="5904148" y="4862764"/>
            <a:ext cx="504056" cy="43016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17EBE99-A731-4831-81B5-7E7259B9CE9D}"/>
              </a:ext>
            </a:extLst>
          </p:cNvPr>
          <p:cNvCxnSpPr>
            <a:cxnSpLocks/>
            <a:stCxn id="55" idx="3"/>
          </p:cNvCxnSpPr>
          <p:nvPr/>
        </p:nvCxnSpPr>
        <p:spPr bwMode="auto">
          <a:xfrm>
            <a:off x="6732240" y="4624401"/>
            <a:ext cx="648072" cy="42473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02F01D8E-3591-4AC9-9C91-6FD2B866C042}"/>
              </a:ext>
            </a:extLst>
          </p:cNvPr>
          <p:cNvCxnSpPr>
            <a:cxnSpLocks/>
            <a:stCxn id="56" idx="3"/>
            <a:endCxn id="58" idx="1"/>
          </p:cNvCxnSpPr>
          <p:nvPr/>
        </p:nvCxnSpPr>
        <p:spPr bwMode="auto">
          <a:xfrm>
            <a:off x="7606355" y="3970087"/>
            <a:ext cx="549798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869A9B60-E374-4767-9296-CD04E72CF575}"/>
              </a:ext>
            </a:extLst>
          </p:cNvPr>
          <p:cNvSpPr/>
          <p:nvPr/>
        </p:nvSpPr>
        <p:spPr>
          <a:xfrm>
            <a:off x="2391318" y="188640"/>
            <a:ext cx="67526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command should be erased from history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B5B34D1-ECD9-41BA-921C-BC4D8CCC9CE8}"/>
              </a:ext>
            </a:extLst>
          </p:cNvPr>
          <p:cNvCxnSpPr>
            <a:cxnSpLocks/>
          </p:cNvCxnSpPr>
          <p:nvPr/>
        </p:nvCxnSpPr>
        <p:spPr bwMode="auto">
          <a:xfrm flipH="1">
            <a:off x="2261511" y="700974"/>
            <a:ext cx="758020" cy="221709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5F69DFB6-6727-40F2-995D-34772D0EBAE0}"/>
              </a:ext>
            </a:extLst>
          </p:cNvPr>
          <p:cNvSpPr/>
          <p:nvPr/>
        </p:nvSpPr>
        <p:spPr>
          <a:xfrm>
            <a:off x="3355899" y="607706"/>
            <a:ext cx="574016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that case, how could Jim grant Sue?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3CD7D41-F1A5-4314-8ABC-7AA47E84A59D}"/>
              </a:ext>
            </a:extLst>
          </p:cNvPr>
          <p:cNvCxnSpPr>
            <a:cxnSpLocks/>
          </p:cNvCxnSpPr>
          <p:nvPr/>
        </p:nvCxnSpPr>
        <p:spPr bwMode="auto">
          <a:xfrm flipH="1">
            <a:off x="2945932" y="1118502"/>
            <a:ext cx="1717000" cy="231049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6FC73822-B5D7-4730-987B-DF976DAC84F8}"/>
              </a:ext>
            </a:extLst>
          </p:cNvPr>
          <p:cNvSpPr/>
          <p:nvPr/>
        </p:nvSpPr>
        <p:spPr bwMode="auto">
          <a:xfrm>
            <a:off x="391426" y="4995290"/>
            <a:ext cx="3202232" cy="476726"/>
          </a:xfrm>
          <a:prstGeom prst="roundRect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F7D5BA4-7EAE-4C0E-9F85-2D84C6161680}"/>
              </a:ext>
            </a:extLst>
          </p:cNvPr>
          <p:cNvCxnSpPr>
            <a:cxnSpLocks/>
          </p:cNvCxnSpPr>
          <p:nvPr/>
        </p:nvCxnSpPr>
        <p:spPr bwMode="auto">
          <a:xfrm flipH="1">
            <a:off x="3131840" y="1130926"/>
            <a:ext cx="1656184" cy="3493475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1693127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51C41-B18B-461E-95F7-9030AB70E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5"/>
            <a:ext cx="1738536" cy="1139825"/>
          </a:xfrm>
        </p:spPr>
        <p:txBody>
          <a:bodyPr/>
          <a:lstStyle/>
          <a:p>
            <a:r>
              <a:rPr lang="en-SG" dirty="0"/>
              <a:t>Why?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FC4D6-104E-476E-9A8C-57A0FD9D8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40"/>
            <a:ext cx="3466728" cy="4713287"/>
          </a:xfrm>
        </p:spPr>
        <p:txBody>
          <a:bodyPr>
            <a:normAutofit fontScale="92500" lnSpcReduction="20000"/>
          </a:bodyPr>
          <a:lstStyle/>
          <a:p>
            <a:r>
              <a:rPr lang="en-SG" dirty="0"/>
              <a:t>Bob is the owner</a:t>
            </a:r>
          </a:p>
          <a:p>
            <a:r>
              <a:rPr lang="en-SG" dirty="0"/>
              <a:t>Bob grants Ann</a:t>
            </a:r>
          </a:p>
          <a:p>
            <a:r>
              <a:rPr lang="en-SG" dirty="0"/>
              <a:t>Bob grants Cath</a:t>
            </a:r>
          </a:p>
          <a:p>
            <a:r>
              <a:rPr lang="en-SG" dirty="0"/>
              <a:t>Ann grants Jim</a:t>
            </a:r>
          </a:p>
          <a:p>
            <a:r>
              <a:rPr lang="en-SG" dirty="0"/>
              <a:t>Jim grants Sue</a:t>
            </a:r>
          </a:p>
          <a:p>
            <a:r>
              <a:rPr lang="en-SG" dirty="0"/>
              <a:t>Cath grants Jim</a:t>
            </a:r>
          </a:p>
          <a:p>
            <a:r>
              <a:rPr lang="en-SG" dirty="0"/>
              <a:t>Jim grants Pat</a:t>
            </a:r>
          </a:p>
          <a:p>
            <a:r>
              <a:rPr lang="en-SG" dirty="0"/>
              <a:t>Sue grants Dave</a:t>
            </a:r>
          </a:p>
          <a:p>
            <a:r>
              <a:rPr lang="en-SG" dirty="0"/>
              <a:t>Ann revokes Jim</a:t>
            </a:r>
          </a:p>
          <a:p>
            <a:r>
              <a:rPr lang="en-SG" dirty="0"/>
              <a:t>Results?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9D09DF5-416C-4050-8651-2B6B1079EA02}"/>
              </a:ext>
            </a:extLst>
          </p:cNvPr>
          <p:cNvSpPr/>
          <p:nvPr/>
        </p:nvSpPr>
        <p:spPr bwMode="auto">
          <a:xfrm>
            <a:off x="3989702" y="177281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Bob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BB2DED8-FA3C-4132-A649-0D4E9CD30E85}"/>
              </a:ext>
            </a:extLst>
          </p:cNvPr>
          <p:cNvSpPr/>
          <p:nvPr/>
        </p:nvSpPr>
        <p:spPr bwMode="auto">
          <a:xfrm>
            <a:off x="5040052" y="1118502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Ann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4D4CA32-6499-4518-B09D-6FD2C7EF8F1C}"/>
              </a:ext>
            </a:extLst>
          </p:cNvPr>
          <p:cNvSpPr/>
          <p:nvPr/>
        </p:nvSpPr>
        <p:spPr bwMode="auto">
          <a:xfrm>
            <a:off x="5040052" y="2441346"/>
            <a:ext cx="864096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Cath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89312C8-6691-43B4-9108-0DD751C112EA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 bwMode="auto">
          <a:xfrm>
            <a:off x="4637774" y="2011179"/>
            <a:ext cx="402278" cy="66853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451BDCE-2507-4CE0-A647-EFD563DE115F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 bwMode="auto">
          <a:xfrm flipV="1">
            <a:off x="4637774" y="1356865"/>
            <a:ext cx="402278" cy="65431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93CA7CC-B722-489F-BF71-14D17F05E32B}"/>
              </a:ext>
            </a:extLst>
          </p:cNvPr>
          <p:cNvSpPr/>
          <p:nvPr/>
        </p:nvSpPr>
        <p:spPr bwMode="auto">
          <a:xfrm>
            <a:off x="6084168" y="177281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Jim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61C89C1-87D6-47AF-A4B4-F26BF1419846}"/>
              </a:ext>
            </a:extLst>
          </p:cNvPr>
          <p:cNvSpPr/>
          <p:nvPr/>
        </p:nvSpPr>
        <p:spPr bwMode="auto">
          <a:xfrm>
            <a:off x="6958283" y="1118502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Sue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79B3CF6-131C-432F-995A-87FCEA535338}"/>
              </a:ext>
            </a:extLst>
          </p:cNvPr>
          <p:cNvSpPr/>
          <p:nvPr/>
        </p:nvSpPr>
        <p:spPr bwMode="auto">
          <a:xfrm>
            <a:off x="6958283" y="244134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Pat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BE2DE4B-D5A7-421A-BE08-E9A1A9469D99}"/>
              </a:ext>
            </a:extLst>
          </p:cNvPr>
          <p:cNvSpPr/>
          <p:nvPr/>
        </p:nvSpPr>
        <p:spPr bwMode="auto">
          <a:xfrm>
            <a:off x="8156153" y="1118502"/>
            <a:ext cx="808335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Dave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72AAC69-8D5E-4920-80D9-6920CD0557A2}"/>
              </a:ext>
            </a:extLst>
          </p:cNvPr>
          <p:cNvCxnSpPr>
            <a:cxnSpLocks/>
            <a:stCxn id="11" idx="3"/>
            <a:endCxn id="25" idx="0"/>
          </p:cNvCxnSpPr>
          <p:nvPr/>
        </p:nvCxnSpPr>
        <p:spPr bwMode="auto">
          <a:xfrm>
            <a:off x="5688124" y="1356865"/>
            <a:ext cx="720080" cy="41595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CA6220B-CF44-40B4-8480-DD638BFCC288}"/>
              </a:ext>
            </a:extLst>
          </p:cNvPr>
          <p:cNvCxnSpPr>
            <a:cxnSpLocks/>
            <a:stCxn id="12" idx="3"/>
            <a:endCxn id="25" idx="2"/>
          </p:cNvCxnSpPr>
          <p:nvPr/>
        </p:nvCxnSpPr>
        <p:spPr bwMode="auto">
          <a:xfrm flipV="1">
            <a:off x="5904148" y="2249542"/>
            <a:ext cx="504056" cy="43016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0BEA261-42D1-4BA5-A298-EF0953A6EEAC}"/>
              </a:ext>
            </a:extLst>
          </p:cNvPr>
          <p:cNvCxnSpPr>
            <a:cxnSpLocks/>
            <a:stCxn id="25" idx="3"/>
            <a:endCxn id="26" idx="2"/>
          </p:cNvCxnSpPr>
          <p:nvPr/>
        </p:nvCxnSpPr>
        <p:spPr bwMode="auto">
          <a:xfrm flipV="1">
            <a:off x="6732240" y="1595228"/>
            <a:ext cx="550079" cy="41595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926ED25-1044-4F43-9C42-687320FFF2EB}"/>
              </a:ext>
            </a:extLst>
          </p:cNvPr>
          <p:cNvCxnSpPr>
            <a:cxnSpLocks/>
            <a:stCxn id="25" idx="3"/>
          </p:cNvCxnSpPr>
          <p:nvPr/>
        </p:nvCxnSpPr>
        <p:spPr bwMode="auto">
          <a:xfrm>
            <a:off x="6732240" y="2011179"/>
            <a:ext cx="648072" cy="42473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98E5995-14C6-41FD-AF7F-1A2127E1B448}"/>
              </a:ext>
            </a:extLst>
          </p:cNvPr>
          <p:cNvCxnSpPr>
            <a:cxnSpLocks/>
            <a:stCxn id="26" idx="3"/>
            <a:endCxn id="30" idx="1"/>
          </p:cNvCxnSpPr>
          <p:nvPr/>
        </p:nvCxnSpPr>
        <p:spPr bwMode="auto">
          <a:xfrm>
            <a:off x="7606355" y="1356865"/>
            <a:ext cx="549798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DA964948-DD5E-4DAD-9C8D-36B61159794E}"/>
              </a:ext>
            </a:extLst>
          </p:cNvPr>
          <p:cNvSpPr/>
          <p:nvPr/>
        </p:nvSpPr>
        <p:spPr bwMode="auto">
          <a:xfrm>
            <a:off x="3989702" y="4386038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Bob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6CF32D0A-8B62-4AC1-B053-42E3C303FFA6}"/>
              </a:ext>
            </a:extLst>
          </p:cNvPr>
          <p:cNvSpPr/>
          <p:nvPr/>
        </p:nvSpPr>
        <p:spPr bwMode="auto">
          <a:xfrm>
            <a:off x="5040052" y="3731724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Ann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6D82A97D-9456-4CE1-85F4-D9DF9C131B56}"/>
              </a:ext>
            </a:extLst>
          </p:cNvPr>
          <p:cNvSpPr/>
          <p:nvPr/>
        </p:nvSpPr>
        <p:spPr bwMode="auto">
          <a:xfrm>
            <a:off x="5040052" y="5054568"/>
            <a:ext cx="864096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Cath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90A4533-5FBE-4C62-A752-35DAE744B623}"/>
              </a:ext>
            </a:extLst>
          </p:cNvPr>
          <p:cNvCxnSpPr>
            <a:cxnSpLocks/>
            <a:stCxn id="50" idx="3"/>
            <a:endCxn id="52" idx="1"/>
          </p:cNvCxnSpPr>
          <p:nvPr/>
        </p:nvCxnSpPr>
        <p:spPr bwMode="auto">
          <a:xfrm>
            <a:off x="4637774" y="4624401"/>
            <a:ext cx="402278" cy="66853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7324282-B96C-4B5F-99B1-A5391AD9FA08}"/>
              </a:ext>
            </a:extLst>
          </p:cNvPr>
          <p:cNvCxnSpPr>
            <a:cxnSpLocks/>
            <a:stCxn id="50" idx="3"/>
            <a:endCxn id="51" idx="1"/>
          </p:cNvCxnSpPr>
          <p:nvPr/>
        </p:nvCxnSpPr>
        <p:spPr bwMode="auto">
          <a:xfrm flipV="1">
            <a:off x="4637774" y="3970087"/>
            <a:ext cx="402278" cy="65431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D6BF0855-4E10-482D-915F-D60141AF1193}"/>
              </a:ext>
            </a:extLst>
          </p:cNvPr>
          <p:cNvSpPr/>
          <p:nvPr/>
        </p:nvSpPr>
        <p:spPr bwMode="auto">
          <a:xfrm>
            <a:off x="6084168" y="4386038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Jim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6DF704BE-2F1A-40FA-8016-5BB27BA62DE4}"/>
              </a:ext>
            </a:extLst>
          </p:cNvPr>
          <p:cNvSpPr/>
          <p:nvPr/>
        </p:nvSpPr>
        <p:spPr bwMode="auto">
          <a:xfrm>
            <a:off x="6958283" y="3731724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Sue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43E77420-D3BA-4237-9AAB-3C307ABCDA9F}"/>
              </a:ext>
            </a:extLst>
          </p:cNvPr>
          <p:cNvSpPr/>
          <p:nvPr/>
        </p:nvSpPr>
        <p:spPr bwMode="auto">
          <a:xfrm>
            <a:off x="6958283" y="5054568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Pat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EE0FEC5F-C04F-4572-BA8B-0061F91A0495}"/>
              </a:ext>
            </a:extLst>
          </p:cNvPr>
          <p:cNvSpPr/>
          <p:nvPr/>
        </p:nvSpPr>
        <p:spPr bwMode="auto">
          <a:xfrm>
            <a:off x="8156153" y="3731724"/>
            <a:ext cx="808335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Dave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1AD2739-4AC6-42E8-B724-134EE97B1573}"/>
              </a:ext>
            </a:extLst>
          </p:cNvPr>
          <p:cNvCxnSpPr>
            <a:cxnSpLocks/>
            <a:stCxn id="52" idx="3"/>
            <a:endCxn id="55" idx="2"/>
          </p:cNvCxnSpPr>
          <p:nvPr/>
        </p:nvCxnSpPr>
        <p:spPr bwMode="auto">
          <a:xfrm flipV="1">
            <a:off x="5904148" y="4862764"/>
            <a:ext cx="504056" cy="43016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17EBE99-A731-4831-81B5-7E7259B9CE9D}"/>
              </a:ext>
            </a:extLst>
          </p:cNvPr>
          <p:cNvCxnSpPr>
            <a:cxnSpLocks/>
            <a:stCxn id="55" idx="3"/>
          </p:cNvCxnSpPr>
          <p:nvPr/>
        </p:nvCxnSpPr>
        <p:spPr bwMode="auto">
          <a:xfrm>
            <a:off x="6732240" y="4624401"/>
            <a:ext cx="648072" cy="42473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869A9B60-E374-4767-9296-CD04E72CF575}"/>
              </a:ext>
            </a:extLst>
          </p:cNvPr>
          <p:cNvSpPr/>
          <p:nvPr/>
        </p:nvSpPr>
        <p:spPr>
          <a:xfrm>
            <a:off x="2391318" y="188640"/>
            <a:ext cx="67526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command should be erased from history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B5B34D1-ECD9-41BA-921C-BC4D8CCC9CE8}"/>
              </a:ext>
            </a:extLst>
          </p:cNvPr>
          <p:cNvCxnSpPr>
            <a:cxnSpLocks/>
          </p:cNvCxnSpPr>
          <p:nvPr/>
        </p:nvCxnSpPr>
        <p:spPr bwMode="auto">
          <a:xfrm flipH="1">
            <a:off x="2261511" y="700974"/>
            <a:ext cx="758020" cy="221709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5F69DFB6-6727-40F2-995D-34772D0EBAE0}"/>
              </a:ext>
            </a:extLst>
          </p:cNvPr>
          <p:cNvSpPr/>
          <p:nvPr/>
        </p:nvSpPr>
        <p:spPr>
          <a:xfrm>
            <a:off x="3355899" y="607706"/>
            <a:ext cx="574016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that case, how could Jim grant Sue?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3CD7D41-F1A5-4314-8ABC-7AA47E84A59D}"/>
              </a:ext>
            </a:extLst>
          </p:cNvPr>
          <p:cNvCxnSpPr>
            <a:cxnSpLocks/>
          </p:cNvCxnSpPr>
          <p:nvPr/>
        </p:nvCxnSpPr>
        <p:spPr bwMode="auto">
          <a:xfrm flipH="1">
            <a:off x="2945932" y="1118502"/>
            <a:ext cx="1717000" cy="231049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6FC73822-B5D7-4730-987B-DF976DAC84F8}"/>
              </a:ext>
            </a:extLst>
          </p:cNvPr>
          <p:cNvSpPr/>
          <p:nvPr/>
        </p:nvSpPr>
        <p:spPr bwMode="auto">
          <a:xfrm>
            <a:off x="391426" y="4995290"/>
            <a:ext cx="3202232" cy="476726"/>
          </a:xfrm>
          <a:prstGeom prst="roundRect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118C61E-870B-471A-BB63-2A89FE8B829A}"/>
              </a:ext>
            </a:extLst>
          </p:cNvPr>
          <p:cNvCxnSpPr>
            <a:cxnSpLocks/>
          </p:cNvCxnSpPr>
          <p:nvPr/>
        </p:nvCxnSpPr>
        <p:spPr bwMode="auto">
          <a:xfrm flipH="1">
            <a:off x="3131840" y="1130926"/>
            <a:ext cx="1656184" cy="3493475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2053100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51C41-B18B-461E-95F7-9030AB70E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5"/>
            <a:ext cx="1738536" cy="1139825"/>
          </a:xfrm>
        </p:spPr>
        <p:txBody>
          <a:bodyPr/>
          <a:lstStyle/>
          <a:p>
            <a:r>
              <a:rPr lang="en-SG" dirty="0"/>
              <a:t>Why?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FC4D6-104E-476E-9A8C-57A0FD9D8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40"/>
            <a:ext cx="3466728" cy="4713287"/>
          </a:xfrm>
        </p:spPr>
        <p:txBody>
          <a:bodyPr>
            <a:normAutofit fontScale="92500" lnSpcReduction="20000"/>
          </a:bodyPr>
          <a:lstStyle/>
          <a:p>
            <a:r>
              <a:rPr lang="en-SG" dirty="0"/>
              <a:t>Bob is the owner</a:t>
            </a:r>
          </a:p>
          <a:p>
            <a:r>
              <a:rPr lang="en-SG" dirty="0"/>
              <a:t>Bob grants Ann</a:t>
            </a:r>
          </a:p>
          <a:p>
            <a:r>
              <a:rPr lang="en-SG" dirty="0"/>
              <a:t>Bob grants Cath</a:t>
            </a:r>
          </a:p>
          <a:p>
            <a:r>
              <a:rPr lang="en-SG" dirty="0"/>
              <a:t>Ann grants Jim</a:t>
            </a:r>
          </a:p>
          <a:p>
            <a:r>
              <a:rPr lang="en-SG" dirty="0"/>
              <a:t>Jim grants Sue</a:t>
            </a:r>
          </a:p>
          <a:p>
            <a:r>
              <a:rPr lang="en-SG" dirty="0"/>
              <a:t>Cath grants Jim</a:t>
            </a:r>
          </a:p>
          <a:p>
            <a:r>
              <a:rPr lang="en-SG" dirty="0"/>
              <a:t>Jim grants Pat</a:t>
            </a:r>
          </a:p>
          <a:p>
            <a:r>
              <a:rPr lang="en-SG" dirty="0"/>
              <a:t>Sue grants Dave</a:t>
            </a:r>
          </a:p>
          <a:p>
            <a:r>
              <a:rPr lang="en-SG" dirty="0"/>
              <a:t>Ann revokes Jim</a:t>
            </a:r>
          </a:p>
          <a:p>
            <a:r>
              <a:rPr lang="en-SG" dirty="0"/>
              <a:t>Results?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9D09DF5-416C-4050-8651-2B6B1079EA02}"/>
              </a:ext>
            </a:extLst>
          </p:cNvPr>
          <p:cNvSpPr/>
          <p:nvPr/>
        </p:nvSpPr>
        <p:spPr bwMode="auto">
          <a:xfrm>
            <a:off x="3989702" y="177281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Bob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BB2DED8-FA3C-4132-A649-0D4E9CD30E85}"/>
              </a:ext>
            </a:extLst>
          </p:cNvPr>
          <p:cNvSpPr/>
          <p:nvPr/>
        </p:nvSpPr>
        <p:spPr bwMode="auto">
          <a:xfrm>
            <a:off x="5040052" y="1118502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Ann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4D4CA32-6499-4518-B09D-6FD2C7EF8F1C}"/>
              </a:ext>
            </a:extLst>
          </p:cNvPr>
          <p:cNvSpPr/>
          <p:nvPr/>
        </p:nvSpPr>
        <p:spPr bwMode="auto">
          <a:xfrm>
            <a:off x="5040052" y="2441346"/>
            <a:ext cx="864096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Cath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89312C8-6691-43B4-9108-0DD751C112EA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 bwMode="auto">
          <a:xfrm>
            <a:off x="4637774" y="2011179"/>
            <a:ext cx="402278" cy="66853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451BDCE-2507-4CE0-A647-EFD563DE115F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 bwMode="auto">
          <a:xfrm flipV="1">
            <a:off x="4637774" y="1356865"/>
            <a:ext cx="402278" cy="65431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93CA7CC-B722-489F-BF71-14D17F05E32B}"/>
              </a:ext>
            </a:extLst>
          </p:cNvPr>
          <p:cNvSpPr/>
          <p:nvPr/>
        </p:nvSpPr>
        <p:spPr bwMode="auto">
          <a:xfrm>
            <a:off x="6084168" y="177281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Jim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61C89C1-87D6-47AF-A4B4-F26BF1419846}"/>
              </a:ext>
            </a:extLst>
          </p:cNvPr>
          <p:cNvSpPr/>
          <p:nvPr/>
        </p:nvSpPr>
        <p:spPr bwMode="auto">
          <a:xfrm>
            <a:off x="6958283" y="1118502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Sue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79B3CF6-131C-432F-995A-87FCEA535338}"/>
              </a:ext>
            </a:extLst>
          </p:cNvPr>
          <p:cNvSpPr/>
          <p:nvPr/>
        </p:nvSpPr>
        <p:spPr bwMode="auto">
          <a:xfrm>
            <a:off x="6958283" y="244134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Pat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BE2DE4B-D5A7-421A-BE08-E9A1A9469D99}"/>
              </a:ext>
            </a:extLst>
          </p:cNvPr>
          <p:cNvSpPr/>
          <p:nvPr/>
        </p:nvSpPr>
        <p:spPr bwMode="auto">
          <a:xfrm>
            <a:off x="8156153" y="1118502"/>
            <a:ext cx="808335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Dave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72AAC69-8D5E-4920-80D9-6920CD0557A2}"/>
              </a:ext>
            </a:extLst>
          </p:cNvPr>
          <p:cNvCxnSpPr>
            <a:cxnSpLocks/>
            <a:stCxn id="11" idx="3"/>
            <a:endCxn id="25" idx="0"/>
          </p:cNvCxnSpPr>
          <p:nvPr/>
        </p:nvCxnSpPr>
        <p:spPr bwMode="auto">
          <a:xfrm>
            <a:off x="5688124" y="1356865"/>
            <a:ext cx="720080" cy="41595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CA6220B-CF44-40B4-8480-DD638BFCC288}"/>
              </a:ext>
            </a:extLst>
          </p:cNvPr>
          <p:cNvCxnSpPr>
            <a:cxnSpLocks/>
            <a:stCxn id="12" idx="3"/>
            <a:endCxn id="25" idx="2"/>
          </p:cNvCxnSpPr>
          <p:nvPr/>
        </p:nvCxnSpPr>
        <p:spPr bwMode="auto">
          <a:xfrm flipV="1">
            <a:off x="5904148" y="2249542"/>
            <a:ext cx="504056" cy="43016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0BEA261-42D1-4BA5-A298-EF0953A6EEAC}"/>
              </a:ext>
            </a:extLst>
          </p:cNvPr>
          <p:cNvCxnSpPr>
            <a:cxnSpLocks/>
            <a:stCxn id="25" idx="3"/>
            <a:endCxn id="26" idx="2"/>
          </p:cNvCxnSpPr>
          <p:nvPr/>
        </p:nvCxnSpPr>
        <p:spPr bwMode="auto">
          <a:xfrm flipV="1">
            <a:off x="6732240" y="1595228"/>
            <a:ext cx="550079" cy="41595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926ED25-1044-4F43-9C42-687320FFF2EB}"/>
              </a:ext>
            </a:extLst>
          </p:cNvPr>
          <p:cNvCxnSpPr>
            <a:cxnSpLocks/>
            <a:stCxn id="25" idx="3"/>
          </p:cNvCxnSpPr>
          <p:nvPr/>
        </p:nvCxnSpPr>
        <p:spPr bwMode="auto">
          <a:xfrm>
            <a:off x="6732240" y="2011179"/>
            <a:ext cx="648072" cy="42473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98E5995-14C6-41FD-AF7F-1A2127E1B448}"/>
              </a:ext>
            </a:extLst>
          </p:cNvPr>
          <p:cNvCxnSpPr>
            <a:cxnSpLocks/>
            <a:stCxn id="26" idx="3"/>
            <a:endCxn id="30" idx="1"/>
          </p:cNvCxnSpPr>
          <p:nvPr/>
        </p:nvCxnSpPr>
        <p:spPr bwMode="auto">
          <a:xfrm>
            <a:off x="7606355" y="1356865"/>
            <a:ext cx="549798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DA964948-DD5E-4DAD-9C8D-36B61159794E}"/>
              </a:ext>
            </a:extLst>
          </p:cNvPr>
          <p:cNvSpPr/>
          <p:nvPr/>
        </p:nvSpPr>
        <p:spPr bwMode="auto">
          <a:xfrm>
            <a:off x="3989702" y="4386038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Bob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6CF32D0A-8B62-4AC1-B053-42E3C303FFA6}"/>
              </a:ext>
            </a:extLst>
          </p:cNvPr>
          <p:cNvSpPr/>
          <p:nvPr/>
        </p:nvSpPr>
        <p:spPr bwMode="auto">
          <a:xfrm>
            <a:off x="5040052" y="3731724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Ann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6D82A97D-9456-4CE1-85F4-D9DF9C131B56}"/>
              </a:ext>
            </a:extLst>
          </p:cNvPr>
          <p:cNvSpPr/>
          <p:nvPr/>
        </p:nvSpPr>
        <p:spPr bwMode="auto">
          <a:xfrm>
            <a:off x="5040052" y="5054568"/>
            <a:ext cx="864096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Cath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90A4533-5FBE-4C62-A752-35DAE744B623}"/>
              </a:ext>
            </a:extLst>
          </p:cNvPr>
          <p:cNvCxnSpPr>
            <a:cxnSpLocks/>
            <a:stCxn id="50" idx="3"/>
            <a:endCxn id="52" idx="1"/>
          </p:cNvCxnSpPr>
          <p:nvPr/>
        </p:nvCxnSpPr>
        <p:spPr bwMode="auto">
          <a:xfrm>
            <a:off x="4637774" y="4624401"/>
            <a:ext cx="402278" cy="66853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7324282-B96C-4B5F-99B1-A5391AD9FA08}"/>
              </a:ext>
            </a:extLst>
          </p:cNvPr>
          <p:cNvCxnSpPr>
            <a:cxnSpLocks/>
            <a:stCxn id="50" idx="3"/>
            <a:endCxn id="51" idx="1"/>
          </p:cNvCxnSpPr>
          <p:nvPr/>
        </p:nvCxnSpPr>
        <p:spPr bwMode="auto">
          <a:xfrm flipV="1">
            <a:off x="4637774" y="3970087"/>
            <a:ext cx="402278" cy="65431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D6BF0855-4E10-482D-915F-D60141AF1193}"/>
              </a:ext>
            </a:extLst>
          </p:cNvPr>
          <p:cNvSpPr/>
          <p:nvPr/>
        </p:nvSpPr>
        <p:spPr bwMode="auto">
          <a:xfrm>
            <a:off x="6084168" y="4386038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Jim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6DF704BE-2F1A-40FA-8016-5BB27BA62DE4}"/>
              </a:ext>
            </a:extLst>
          </p:cNvPr>
          <p:cNvSpPr/>
          <p:nvPr/>
        </p:nvSpPr>
        <p:spPr bwMode="auto">
          <a:xfrm>
            <a:off x="6958283" y="3731724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Sue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43E77420-D3BA-4237-9AAB-3C307ABCDA9F}"/>
              </a:ext>
            </a:extLst>
          </p:cNvPr>
          <p:cNvSpPr/>
          <p:nvPr/>
        </p:nvSpPr>
        <p:spPr bwMode="auto">
          <a:xfrm>
            <a:off x="6958283" y="5054568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Pat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EE0FEC5F-C04F-4572-BA8B-0061F91A0495}"/>
              </a:ext>
            </a:extLst>
          </p:cNvPr>
          <p:cNvSpPr/>
          <p:nvPr/>
        </p:nvSpPr>
        <p:spPr bwMode="auto">
          <a:xfrm>
            <a:off x="8156153" y="3731724"/>
            <a:ext cx="808335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Dave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1AD2739-4AC6-42E8-B724-134EE97B1573}"/>
              </a:ext>
            </a:extLst>
          </p:cNvPr>
          <p:cNvCxnSpPr>
            <a:cxnSpLocks/>
            <a:stCxn id="52" idx="3"/>
            <a:endCxn id="55" idx="2"/>
          </p:cNvCxnSpPr>
          <p:nvPr/>
        </p:nvCxnSpPr>
        <p:spPr bwMode="auto">
          <a:xfrm flipV="1">
            <a:off x="5904148" y="4862764"/>
            <a:ext cx="504056" cy="43016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17EBE99-A731-4831-81B5-7E7259B9CE9D}"/>
              </a:ext>
            </a:extLst>
          </p:cNvPr>
          <p:cNvCxnSpPr>
            <a:cxnSpLocks/>
            <a:stCxn id="55" idx="3"/>
          </p:cNvCxnSpPr>
          <p:nvPr/>
        </p:nvCxnSpPr>
        <p:spPr bwMode="auto">
          <a:xfrm>
            <a:off x="6732240" y="4624401"/>
            <a:ext cx="648072" cy="42473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CFBC224-87FD-4EE7-AF5B-503E07B7F454}"/>
              </a:ext>
            </a:extLst>
          </p:cNvPr>
          <p:cNvCxnSpPr/>
          <p:nvPr/>
        </p:nvCxnSpPr>
        <p:spPr bwMode="auto">
          <a:xfrm flipH="1">
            <a:off x="457200" y="2996952"/>
            <a:ext cx="2962672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D100B5B-9BCF-4AB9-A3C4-5CEE23E3ED44}"/>
              </a:ext>
            </a:extLst>
          </p:cNvPr>
          <p:cNvCxnSpPr/>
          <p:nvPr/>
        </p:nvCxnSpPr>
        <p:spPr bwMode="auto">
          <a:xfrm flipH="1">
            <a:off x="467544" y="5301208"/>
            <a:ext cx="2962672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F89BB81-4396-4A22-AC94-41DA76BC198B}"/>
              </a:ext>
            </a:extLst>
          </p:cNvPr>
          <p:cNvCxnSpPr/>
          <p:nvPr/>
        </p:nvCxnSpPr>
        <p:spPr bwMode="auto">
          <a:xfrm flipH="1">
            <a:off x="467544" y="3501008"/>
            <a:ext cx="2962672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678D6E9-FED8-4E07-8553-E8796BEA987D}"/>
              </a:ext>
            </a:extLst>
          </p:cNvPr>
          <p:cNvCxnSpPr/>
          <p:nvPr/>
        </p:nvCxnSpPr>
        <p:spPr bwMode="auto">
          <a:xfrm flipH="1">
            <a:off x="457200" y="4846997"/>
            <a:ext cx="2962672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977101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51C41-B18B-461E-95F7-9030AB70E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5"/>
            <a:ext cx="1738536" cy="1139825"/>
          </a:xfrm>
        </p:spPr>
        <p:txBody>
          <a:bodyPr/>
          <a:lstStyle/>
          <a:p>
            <a:r>
              <a:rPr lang="en-SG" dirty="0"/>
              <a:t>Why?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FC4D6-104E-476E-9A8C-57A0FD9D8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40"/>
            <a:ext cx="3466728" cy="4713287"/>
          </a:xfrm>
        </p:spPr>
        <p:txBody>
          <a:bodyPr>
            <a:normAutofit fontScale="92500" lnSpcReduction="20000"/>
          </a:bodyPr>
          <a:lstStyle/>
          <a:p>
            <a:r>
              <a:rPr lang="en-SG" dirty="0"/>
              <a:t>Bob is the owner</a:t>
            </a:r>
          </a:p>
          <a:p>
            <a:r>
              <a:rPr lang="en-SG" dirty="0"/>
              <a:t>Bob grants Ann</a:t>
            </a:r>
          </a:p>
          <a:p>
            <a:r>
              <a:rPr lang="en-SG" dirty="0"/>
              <a:t>Bob grants Cath</a:t>
            </a:r>
          </a:p>
          <a:p>
            <a:r>
              <a:rPr lang="en-SG" dirty="0"/>
              <a:t>Ann grants Jim</a:t>
            </a:r>
          </a:p>
          <a:p>
            <a:r>
              <a:rPr lang="en-SG" dirty="0"/>
              <a:t>Jim grants Sue</a:t>
            </a:r>
          </a:p>
          <a:p>
            <a:r>
              <a:rPr lang="en-SG" dirty="0"/>
              <a:t>Cath grants Jim</a:t>
            </a:r>
          </a:p>
          <a:p>
            <a:r>
              <a:rPr lang="en-SG" dirty="0"/>
              <a:t>Jim grants Pat</a:t>
            </a:r>
          </a:p>
          <a:p>
            <a:r>
              <a:rPr lang="en-SG" dirty="0"/>
              <a:t>Sue grants Dave</a:t>
            </a:r>
          </a:p>
          <a:p>
            <a:r>
              <a:rPr lang="en-SG" dirty="0"/>
              <a:t>Ann revokes Jim</a:t>
            </a:r>
          </a:p>
          <a:p>
            <a:r>
              <a:rPr lang="en-SG" dirty="0"/>
              <a:t>Results?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9D09DF5-416C-4050-8651-2B6B1079EA02}"/>
              </a:ext>
            </a:extLst>
          </p:cNvPr>
          <p:cNvSpPr/>
          <p:nvPr/>
        </p:nvSpPr>
        <p:spPr bwMode="auto">
          <a:xfrm>
            <a:off x="3989702" y="177281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Bob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BB2DED8-FA3C-4132-A649-0D4E9CD30E85}"/>
              </a:ext>
            </a:extLst>
          </p:cNvPr>
          <p:cNvSpPr/>
          <p:nvPr/>
        </p:nvSpPr>
        <p:spPr bwMode="auto">
          <a:xfrm>
            <a:off x="5040052" y="1118502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Ann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4D4CA32-6499-4518-B09D-6FD2C7EF8F1C}"/>
              </a:ext>
            </a:extLst>
          </p:cNvPr>
          <p:cNvSpPr/>
          <p:nvPr/>
        </p:nvSpPr>
        <p:spPr bwMode="auto">
          <a:xfrm>
            <a:off x="5040052" y="2441346"/>
            <a:ext cx="864096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Cath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89312C8-6691-43B4-9108-0DD751C112EA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 bwMode="auto">
          <a:xfrm>
            <a:off x="4637774" y="2011179"/>
            <a:ext cx="402278" cy="66853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451BDCE-2507-4CE0-A647-EFD563DE115F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 bwMode="auto">
          <a:xfrm flipV="1">
            <a:off x="4637774" y="1356865"/>
            <a:ext cx="402278" cy="65431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93CA7CC-B722-489F-BF71-14D17F05E32B}"/>
              </a:ext>
            </a:extLst>
          </p:cNvPr>
          <p:cNvSpPr/>
          <p:nvPr/>
        </p:nvSpPr>
        <p:spPr bwMode="auto">
          <a:xfrm>
            <a:off x="6084168" y="177281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Jim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61C89C1-87D6-47AF-A4B4-F26BF1419846}"/>
              </a:ext>
            </a:extLst>
          </p:cNvPr>
          <p:cNvSpPr/>
          <p:nvPr/>
        </p:nvSpPr>
        <p:spPr bwMode="auto">
          <a:xfrm>
            <a:off x="6958283" y="1118502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Sue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79B3CF6-131C-432F-995A-87FCEA535338}"/>
              </a:ext>
            </a:extLst>
          </p:cNvPr>
          <p:cNvSpPr/>
          <p:nvPr/>
        </p:nvSpPr>
        <p:spPr bwMode="auto">
          <a:xfrm>
            <a:off x="6958283" y="244134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Pat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BE2DE4B-D5A7-421A-BE08-E9A1A9469D99}"/>
              </a:ext>
            </a:extLst>
          </p:cNvPr>
          <p:cNvSpPr/>
          <p:nvPr/>
        </p:nvSpPr>
        <p:spPr bwMode="auto">
          <a:xfrm>
            <a:off x="8156153" y="1118502"/>
            <a:ext cx="808335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Dave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72AAC69-8D5E-4920-80D9-6920CD0557A2}"/>
              </a:ext>
            </a:extLst>
          </p:cNvPr>
          <p:cNvCxnSpPr>
            <a:cxnSpLocks/>
            <a:stCxn id="11" idx="3"/>
            <a:endCxn id="25" idx="0"/>
          </p:cNvCxnSpPr>
          <p:nvPr/>
        </p:nvCxnSpPr>
        <p:spPr bwMode="auto">
          <a:xfrm>
            <a:off x="5688124" y="1356865"/>
            <a:ext cx="720080" cy="41595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CA6220B-CF44-40B4-8480-DD638BFCC288}"/>
              </a:ext>
            </a:extLst>
          </p:cNvPr>
          <p:cNvCxnSpPr>
            <a:cxnSpLocks/>
            <a:stCxn id="12" idx="3"/>
            <a:endCxn id="25" idx="2"/>
          </p:cNvCxnSpPr>
          <p:nvPr/>
        </p:nvCxnSpPr>
        <p:spPr bwMode="auto">
          <a:xfrm flipV="1">
            <a:off x="5904148" y="2249542"/>
            <a:ext cx="504056" cy="43016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0BEA261-42D1-4BA5-A298-EF0953A6EEAC}"/>
              </a:ext>
            </a:extLst>
          </p:cNvPr>
          <p:cNvCxnSpPr>
            <a:cxnSpLocks/>
            <a:stCxn id="25" idx="3"/>
            <a:endCxn id="26" idx="2"/>
          </p:cNvCxnSpPr>
          <p:nvPr/>
        </p:nvCxnSpPr>
        <p:spPr bwMode="auto">
          <a:xfrm flipV="1">
            <a:off x="6732240" y="1595228"/>
            <a:ext cx="550079" cy="41595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926ED25-1044-4F43-9C42-687320FFF2EB}"/>
              </a:ext>
            </a:extLst>
          </p:cNvPr>
          <p:cNvCxnSpPr>
            <a:cxnSpLocks/>
            <a:stCxn id="25" idx="3"/>
          </p:cNvCxnSpPr>
          <p:nvPr/>
        </p:nvCxnSpPr>
        <p:spPr bwMode="auto">
          <a:xfrm>
            <a:off x="6732240" y="2011179"/>
            <a:ext cx="648072" cy="42473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98E5995-14C6-41FD-AF7F-1A2127E1B448}"/>
              </a:ext>
            </a:extLst>
          </p:cNvPr>
          <p:cNvCxnSpPr>
            <a:cxnSpLocks/>
            <a:stCxn id="26" idx="3"/>
            <a:endCxn id="30" idx="1"/>
          </p:cNvCxnSpPr>
          <p:nvPr/>
        </p:nvCxnSpPr>
        <p:spPr bwMode="auto">
          <a:xfrm>
            <a:off x="7606355" y="1356865"/>
            <a:ext cx="549798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DA964948-DD5E-4DAD-9C8D-36B61159794E}"/>
              </a:ext>
            </a:extLst>
          </p:cNvPr>
          <p:cNvSpPr/>
          <p:nvPr/>
        </p:nvSpPr>
        <p:spPr bwMode="auto">
          <a:xfrm>
            <a:off x="3989702" y="4386038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Bob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6CF32D0A-8B62-4AC1-B053-42E3C303FFA6}"/>
              </a:ext>
            </a:extLst>
          </p:cNvPr>
          <p:cNvSpPr/>
          <p:nvPr/>
        </p:nvSpPr>
        <p:spPr bwMode="auto">
          <a:xfrm>
            <a:off x="5040052" y="3731724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Ann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6D82A97D-9456-4CE1-85F4-D9DF9C131B56}"/>
              </a:ext>
            </a:extLst>
          </p:cNvPr>
          <p:cNvSpPr/>
          <p:nvPr/>
        </p:nvSpPr>
        <p:spPr bwMode="auto">
          <a:xfrm>
            <a:off x="5040052" y="5054568"/>
            <a:ext cx="864096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Cath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90A4533-5FBE-4C62-A752-35DAE744B623}"/>
              </a:ext>
            </a:extLst>
          </p:cNvPr>
          <p:cNvCxnSpPr>
            <a:cxnSpLocks/>
            <a:stCxn id="50" idx="3"/>
            <a:endCxn id="52" idx="1"/>
          </p:cNvCxnSpPr>
          <p:nvPr/>
        </p:nvCxnSpPr>
        <p:spPr bwMode="auto">
          <a:xfrm>
            <a:off x="4637774" y="4624401"/>
            <a:ext cx="402278" cy="66853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7324282-B96C-4B5F-99B1-A5391AD9FA08}"/>
              </a:ext>
            </a:extLst>
          </p:cNvPr>
          <p:cNvCxnSpPr>
            <a:cxnSpLocks/>
            <a:stCxn id="50" idx="3"/>
            <a:endCxn id="51" idx="1"/>
          </p:cNvCxnSpPr>
          <p:nvPr/>
        </p:nvCxnSpPr>
        <p:spPr bwMode="auto">
          <a:xfrm flipV="1">
            <a:off x="4637774" y="3970087"/>
            <a:ext cx="402278" cy="65431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D6BF0855-4E10-482D-915F-D60141AF1193}"/>
              </a:ext>
            </a:extLst>
          </p:cNvPr>
          <p:cNvSpPr/>
          <p:nvPr/>
        </p:nvSpPr>
        <p:spPr bwMode="auto">
          <a:xfrm>
            <a:off x="6084168" y="4386038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Jim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6DF704BE-2F1A-40FA-8016-5BB27BA62DE4}"/>
              </a:ext>
            </a:extLst>
          </p:cNvPr>
          <p:cNvSpPr/>
          <p:nvPr/>
        </p:nvSpPr>
        <p:spPr bwMode="auto">
          <a:xfrm>
            <a:off x="6958283" y="3731724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Sue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43E77420-D3BA-4237-9AAB-3C307ABCDA9F}"/>
              </a:ext>
            </a:extLst>
          </p:cNvPr>
          <p:cNvSpPr/>
          <p:nvPr/>
        </p:nvSpPr>
        <p:spPr bwMode="auto">
          <a:xfrm>
            <a:off x="6958283" y="5054568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Pat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EE0FEC5F-C04F-4572-BA8B-0061F91A0495}"/>
              </a:ext>
            </a:extLst>
          </p:cNvPr>
          <p:cNvSpPr/>
          <p:nvPr/>
        </p:nvSpPr>
        <p:spPr bwMode="auto">
          <a:xfrm>
            <a:off x="8156153" y="3731724"/>
            <a:ext cx="808335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Dave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1AD2739-4AC6-42E8-B724-134EE97B1573}"/>
              </a:ext>
            </a:extLst>
          </p:cNvPr>
          <p:cNvCxnSpPr>
            <a:cxnSpLocks/>
            <a:stCxn id="52" idx="3"/>
            <a:endCxn id="55" idx="2"/>
          </p:cNvCxnSpPr>
          <p:nvPr/>
        </p:nvCxnSpPr>
        <p:spPr bwMode="auto">
          <a:xfrm flipV="1">
            <a:off x="5904148" y="4862764"/>
            <a:ext cx="504056" cy="43016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17EBE99-A731-4831-81B5-7E7259B9CE9D}"/>
              </a:ext>
            </a:extLst>
          </p:cNvPr>
          <p:cNvCxnSpPr>
            <a:cxnSpLocks/>
            <a:stCxn id="55" idx="3"/>
          </p:cNvCxnSpPr>
          <p:nvPr/>
        </p:nvCxnSpPr>
        <p:spPr bwMode="auto">
          <a:xfrm>
            <a:off x="6732240" y="4624401"/>
            <a:ext cx="648072" cy="42473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CFBC224-87FD-4EE7-AF5B-503E07B7F454}"/>
              </a:ext>
            </a:extLst>
          </p:cNvPr>
          <p:cNvCxnSpPr/>
          <p:nvPr/>
        </p:nvCxnSpPr>
        <p:spPr bwMode="auto">
          <a:xfrm flipH="1">
            <a:off x="457200" y="2996952"/>
            <a:ext cx="2962672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D100B5B-9BCF-4AB9-A3C4-5CEE23E3ED44}"/>
              </a:ext>
            </a:extLst>
          </p:cNvPr>
          <p:cNvCxnSpPr/>
          <p:nvPr/>
        </p:nvCxnSpPr>
        <p:spPr bwMode="auto">
          <a:xfrm flipH="1">
            <a:off x="467544" y="5301208"/>
            <a:ext cx="2962672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F89BB81-4396-4A22-AC94-41DA76BC198B}"/>
              </a:ext>
            </a:extLst>
          </p:cNvPr>
          <p:cNvCxnSpPr/>
          <p:nvPr/>
        </p:nvCxnSpPr>
        <p:spPr bwMode="auto">
          <a:xfrm flipH="1">
            <a:off x="467544" y="3501008"/>
            <a:ext cx="2962672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678D6E9-FED8-4E07-8553-E8796BEA987D}"/>
              </a:ext>
            </a:extLst>
          </p:cNvPr>
          <p:cNvCxnSpPr/>
          <p:nvPr/>
        </p:nvCxnSpPr>
        <p:spPr bwMode="auto">
          <a:xfrm flipH="1">
            <a:off x="457200" y="4846997"/>
            <a:ext cx="2962672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722F4ED-F231-40EF-956B-788D0A3DBB11}"/>
              </a:ext>
            </a:extLst>
          </p:cNvPr>
          <p:cNvSpPr/>
          <p:nvPr/>
        </p:nvSpPr>
        <p:spPr bwMode="auto">
          <a:xfrm>
            <a:off x="265412" y="4136778"/>
            <a:ext cx="3202232" cy="476726"/>
          </a:xfrm>
          <a:prstGeom prst="roundRect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080D2C-279D-4DB9-A5CD-7D9150018D05}"/>
              </a:ext>
            </a:extLst>
          </p:cNvPr>
          <p:cNvSpPr/>
          <p:nvPr/>
        </p:nvSpPr>
        <p:spPr>
          <a:xfrm>
            <a:off x="3481028" y="3959642"/>
            <a:ext cx="47000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4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en-SG" sz="4800" dirty="0"/>
          </a:p>
        </p:txBody>
      </p:sp>
    </p:spTree>
    <p:extLst>
      <p:ext uri="{BB962C8B-B14F-4D97-AF65-F5344CB8AC3E}">
        <p14:creationId xmlns:p14="http://schemas.microsoft.com/office/powerpoint/2010/main" val="1030571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51C41-B18B-461E-95F7-9030AB70E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5"/>
            <a:ext cx="1738536" cy="1139825"/>
          </a:xfrm>
        </p:spPr>
        <p:txBody>
          <a:bodyPr/>
          <a:lstStyle/>
          <a:p>
            <a:r>
              <a:rPr lang="en-SG" dirty="0"/>
              <a:t>Why?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FC4D6-104E-476E-9A8C-57A0FD9D8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40"/>
            <a:ext cx="3466728" cy="4713287"/>
          </a:xfrm>
        </p:spPr>
        <p:txBody>
          <a:bodyPr>
            <a:normAutofit fontScale="92500" lnSpcReduction="20000"/>
          </a:bodyPr>
          <a:lstStyle/>
          <a:p>
            <a:r>
              <a:rPr lang="en-SG" dirty="0"/>
              <a:t>Bob is the owner</a:t>
            </a:r>
          </a:p>
          <a:p>
            <a:r>
              <a:rPr lang="en-SG" dirty="0"/>
              <a:t>Bob grants Ann</a:t>
            </a:r>
          </a:p>
          <a:p>
            <a:r>
              <a:rPr lang="en-SG" dirty="0"/>
              <a:t>Bob grants Cath</a:t>
            </a:r>
          </a:p>
          <a:p>
            <a:r>
              <a:rPr lang="en-SG" dirty="0"/>
              <a:t>Ann grants Jim</a:t>
            </a:r>
          </a:p>
          <a:p>
            <a:r>
              <a:rPr lang="en-SG" dirty="0"/>
              <a:t>Jim grants Sue</a:t>
            </a:r>
          </a:p>
          <a:p>
            <a:r>
              <a:rPr lang="en-SG" dirty="0"/>
              <a:t>Cath grants Jim</a:t>
            </a:r>
          </a:p>
          <a:p>
            <a:r>
              <a:rPr lang="en-SG" dirty="0"/>
              <a:t>Jim grants Pat</a:t>
            </a:r>
          </a:p>
          <a:p>
            <a:r>
              <a:rPr lang="en-SG" dirty="0"/>
              <a:t>Sue grants Dave</a:t>
            </a:r>
          </a:p>
          <a:p>
            <a:r>
              <a:rPr lang="en-SG" dirty="0"/>
              <a:t>Ann revokes Jim</a:t>
            </a:r>
          </a:p>
          <a:p>
            <a:r>
              <a:rPr lang="en-SG" dirty="0"/>
              <a:t>Results?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9D09DF5-416C-4050-8651-2B6B1079EA02}"/>
              </a:ext>
            </a:extLst>
          </p:cNvPr>
          <p:cNvSpPr/>
          <p:nvPr/>
        </p:nvSpPr>
        <p:spPr bwMode="auto">
          <a:xfrm>
            <a:off x="3989702" y="177281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Bob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BB2DED8-FA3C-4132-A649-0D4E9CD30E85}"/>
              </a:ext>
            </a:extLst>
          </p:cNvPr>
          <p:cNvSpPr/>
          <p:nvPr/>
        </p:nvSpPr>
        <p:spPr bwMode="auto">
          <a:xfrm>
            <a:off x="5040052" y="1118502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Ann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4D4CA32-6499-4518-B09D-6FD2C7EF8F1C}"/>
              </a:ext>
            </a:extLst>
          </p:cNvPr>
          <p:cNvSpPr/>
          <p:nvPr/>
        </p:nvSpPr>
        <p:spPr bwMode="auto">
          <a:xfrm>
            <a:off x="5040052" y="2441346"/>
            <a:ext cx="864096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Cath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89312C8-6691-43B4-9108-0DD751C112EA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 bwMode="auto">
          <a:xfrm>
            <a:off x="4637774" y="2011179"/>
            <a:ext cx="402278" cy="66853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451BDCE-2507-4CE0-A647-EFD563DE115F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 bwMode="auto">
          <a:xfrm flipV="1">
            <a:off x="4637774" y="1356865"/>
            <a:ext cx="402278" cy="65431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93CA7CC-B722-489F-BF71-14D17F05E32B}"/>
              </a:ext>
            </a:extLst>
          </p:cNvPr>
          <p:cNvSpPr/>
          <p:nvPr/>
        </p:nvSpPr>
        <p:spPr bwMode="auto">
          <a:xfrm>
            <a:off x="6084168" y="177281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Jim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61C89C1-87D6-47AF-A4B4-F26BF1419846}"/>
              </a:ext>
            </a:extLst>
          </p:cNvPr>
          <p:cNvSpPr/>
          <p:nvPr/>
        </p:nvSpPr>
        <p:spPr bwMode="auto">
          <a:xfrm>
            <a:off x="6958283" y="1118502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Sue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79B3CF6-131C-432F-995A-87FCEA535338}"/>
              </a:ext>
            </a:extLst>
          </p:cNvPr>
          <p:cNvSpPr/>
          <p:nvPr/>
        </p:nvSpPr>
        <p:spPr bwMode="auto">
          <a:xfrm>
            <a:off x="6958283" y="244134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Pat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BE2DE4B-D5A7-421A-BE08-E9A1A9469D99}"/>
              </a:ext>
            </a:extLst>
          </p:cNvPr>
          <p:cNvSpPr/>
          <p:nvPr/>
        </p:nvSpPr>
        <p:spPr bwMode="auto">
          <a:xfrm>
            <a:off x="8156153" y="1118502"/>
            <a:ext cx="808335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Dave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72AAC69-8D5E-4920-80D9-6920CD0557A2}"/>
              </a:ext>
            </a:extLst>
          </p:cNvPr>
          <p:cNvCxnSpPr>
            <a:cxnSpLocks/>
            <a:stCxn id="11" idx="3"/>
            <a:endCxn id="25" idx="0"/>
          </p:cNvCxnSpPr>
          <p:nvPr/>
        </p:nvCxnSpPr>
        <p:spPr bwMode="auto">
          <a:xfrm>
            <a:off x="5688124" y="1356865"/>
            <a:ext cx="720080" cy="41595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CA6220B-CF44-40B4-8480-DD638BFCC288}"/>
              </a:ext>
            </a:extLst>
          </p:cNvPr>
          <p:cNvCxnSpPr>
            <a:cxnSpLocks/>
            <a:stCxn id="12" idx="3"/>
            <a:endCxn id="25" idx="2"/>
          </p:cNvCxnSpPr>
          <p:nvPr/>
        </p:nvCxnSpPr>
        <p:spPr bwMode="auto">
          <a:xfrm flipV="1">
            <a:off x="5904148" y="2249542"/>
            <a:ext cx="504056" cy="43016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0BEA261-42D1-4BA5-A298-EF0953A6EEAC}"/>
              </a:ext>
            </a:extLst>
          </p:cNvPr>
          <p:cNvCxnSpPr>
            <a:cxnSpLocks/>
            <a:stCxn id="25" idx="3"/>
            <a:endCxn id="26" idx="2"/>
          </p:cNvCxnSpPr>
          <p:nvPr/>
        </p:nvCxnSpPr>
        <p:spPr bwMode="auto">
          <a:xfrm flipV="1">
            <a:off x="6732240" y="1595228"/>
            <a:ext cx="550079" cy="41595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926ED25-1044-4F43-9C42-687320FFF2EB}"/>
              </a:ext>
            </a:extLst>
          </p:cNvPr>
          <p:cNvCxnSpPr>
            <a:cxnSpLocks/>
            <a:stCxn id="25" idx="3"/>
          </p:cNvCxnSpPr>
          <p:nvPr/>
        </p:nvCxnSpPr>
        <p:spPr bwMode="auto">
          <a:xfrm>
            <a:off x="6732240" y="2011179"/>
            <a:ext cx="648072" cy="42473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98E5995-14C6-41FD-AF7F-1A2127E1B448}"/>
              </a:ext>
            </a:extLst>
          </p:cNvPr>
          <p:cNvCxnSpPr>
            <a:cxnSpLocks/>
            <a:stCxn id="26" idx="3"/>
            <a:endCxn id="30" idx="1"/>
          </p:cNvCxnSpPr>
          <p:nvPr/>
        </p:nvCxnSpPr>
        <p:spPr bwMode="auto">
          <a:xfrm>
            <a:off x="7606355" y="1356865"/>
            <a:ext cx="549798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DA964948-DD5E-4DAD-9C8D-36B61159794E}"/>
              </a:ext>
            </a:extLst>
          </p:cNvPr>
          <p:cNvSpPr/>
          <p:nvPr/>
        </p:nvSpPr>
        <p:spPr bwMode="auto">
          <a:xfrm>
            <a:off x="3989702" y="4386038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Bob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6CF32D0A-8B62-4AC1-B053-42E3C303FFA6}"/>
              </a:ext>
            </a:extLst>
          </p:cNvPr>
          <p:cNvSpPr/>
          <p:nvPr/>
        </p:nvSpPr>
        <p:spPr bwMode="auto">
          <a:xfrm>
            <a:off x="5040052" y="3731724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Ann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6D82A97D-9456-4CE1-85F4-D9DF9C131B56}"/>
              </a:ext>
            </a:extLst>
          </p:cNvPr>
          <p:cNvSpPr/>
          <p:nvPr/>
        </p:nvSpPr>
        <p:spPr bwMode="auto">
          <a:xfrm>
            <a:off x="5040052" y="5054568"/>
            <a:ext cx="864096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Cath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90A4533-5FBE-4C62-A752-35DAE744B623}"/>
              </a:ext>
            </a:extLst>
          </p:cNvPr>
          <p:cNvCxnSpPr>
            <a:cxnSpLocks/>
            <a:stCxn id="50" idx="3"/>
            <a:endCxn id="52" idx="1"/>
          </p:cNvCxnSpPr>
          <p:nvPr/>
        </p:nvCxnSpPr>
        <p:spPr bwMode="auto">
          <a:xfrm>
            <a:off x="4637774" y="4624401"/>
            <a:ext cx="402278" cy="66853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7324282-B96C-4B5F-99B1-A5391AD9FA08}"/>
              </a:ext>
            </a:extLst>
          </p:cNvPr>
          <p:cNvCxnSpPr>
            <a:cxnSpLocks/>
            <a:stCxn id="50" idx="3"/>
            <a:endCxn id="51" idx="1"/>
          </p:cNvCxnSpPr>
          <p:nvPr/>
        </p:nvCxnSpPr>
        <p:spPr bwMode="auto">
          <a:xfrm flipV="1">
            <a:off x="4637774" y="3970087"/>
            <a:ext cx="402278" cy="65431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D6BF0855-4E10-482D-915F-D60141AF1193}"/>
              </a:ext>
            </a:extLst>
          </p:cNvPr>
          <p:cNvSpPr/>
          <p:nvPr/>
        </p:nvSpPr>
        <p:spPr bwMode="auto">
          <a:xfrm>
            <a:off x="6084168" y="4386038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Jim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6DF704BE-2F1A-40FA-8016-5BB27BA62DE4}"/>
              </a:ext>
            </a:extLst>
          </p:cNvPr>
          <p:cNvSpPr/>
          <p:nvPr/>
        </p:nvSpPr>
        <p:spPr bwMode="auto">
          <a:xfrm>
            <a:off x="6958283" y="3731724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Sue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43E77420-D3BA-4237-9AAB-3C307ABCDA9F}"/>
              </a:ext>
            </a:extLst>
          </p:cNvPr>
          <p:cNvSpPr/>
          <p:nvPr/>
        </p:nvSpPr>
        <p:spPr bwMode="auto">
          <a:xfrm>
            <a:off x="6958283" y="5054568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Pat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EE0FEC5F-C04F-4572-BA8B-0061F91A0495}"/>
              </a:ext>
            </a:extLst>
          </p:cNvPr>
          <p:cNvSpPr/>
          <p:nvPr/>
        </p:nvSpPr>
        <p:spPr bwMode="auto">
          <a:xfrm>
            <a:off x="8156153" y="3731724"/>
            <a:ext cx="808335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Dave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1AD2739-4AC6-42E8-B724-134EE97B1573}"/>
              </a:ext>
            </a:extLst>
          </p:cNvPr>
          <p:cNvCxnSpPr>
            <a:cxnSpLocks/>
            <a:stCxn id="52" idx="3"/>
            <a:endCxn id="55" idx="2"/>
          </p:cNvCxnSpPr>
          <p:nvPr/>
        </p:nvCxnSpPr>
        <p:spPr bwMode="auto">
          <a:xfrm flipV="1">
            <a:off x="5904148" y="4862764"/>
            <a:ext cx="504056" cy="43016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17EBE99-A731-4831-81B5-7E7259B9CE9D}"/>
              </a:ext>
            </a:extLst>
          </p:cNvPr>
          <p:cNvCxnSpPr>
            <a:cxnSpLocks/>
            <a:stCxn id="55" idx="3"/>
          </p:cNvCxnSpPr>
          <p:nvPr/>
        </p:nvCxnSpPr>
        <p:spPr bwMode="auto">
          <a:xfrm>
            <a:off x="6732240" y="4624401"/>
            <a:ext cx="648072" cy="42473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CFBC224-87FD-4EE7-AF5B-503E07B7F454}"/>
              </a:ext>
            </a:extLst>
          </p:cNvPr>
          <p:cNvCxnSpPr/>
          <p:nvPr/>
        </p:nvCxnSpPr>
        <p:spPr bwMode="auto">
          <a:xfrm flipH="1">
            <a:off x="457200" y="2996952"/>
            <a:ext cx="2962672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D100B5B-9BCF-4AB9-A3C4-5CEE23E3ED44}"/>
              </a:ext>
            </a:extLst>
          </p:cNvPr>
          <p:cNvCxnSpPr/>
          <p:nvPr/>
        </p:nvCxnSpPr>
        <p:spPr bwMode="auto">
          <a:xfrm flipH="1">
            <a:off x="467544" y="5301208"/>
            <a:ext cx="2962672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F89BB81-4396-4A22-AC94-41DA76BC198B}"/>
              </a:ext>
            </a:extLst>
          </p:cNvPr>
          <p:cNvCxnSpPr/>
          <p:nvPr/>
        </p:nvCxnSpPr>
        <p:spPr bwMode="auto">
          <a:xfrm flipH="1">
            <a:off x="467544" y="3501008"/>
            <a:ext cx="2962672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678D6E9-FED8-4E07-8553-E8796BEA987D}"/>
              </a:ext>
            </a:extLst>
          </p:cNvPr>
          <p:cNvCxnSpPr/>
          <p:nvPr/>
        </p:nvCxnSpPr>
        <p:spPr bwMode="auto">
          <a:xfrm flipH="1">
            <a:off x="457200" y="4846997"/>
            <a:ext cx="2962672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722F4ED-F231-40EF-956B-788D0A3DBB11}"/>
              </a:ext>
            </a:extLst>
          </p:cNvPr>
          <p:cNvSpPr/>
          <p:nvPr/>
        </p:nvSpPr>
        <p:spPr bwMode="auto">
          <a:xfrm>
            <a:off x="265412" y="4136778"/>
            <a:ext cx="3202232" cy="476726"/>
          </a:xfrm>
          <a:prstGeom prst="roundRect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080D2C-279D-4DB9-A5CD-7D9150018D05}"/>
              </a:ext>
            </a:extLst>
          </p:cNvPr>
          <p:cNvSpPr/>
          <p:nvPr/>
        </p:nvSpPr>
        <p:spPr>
          <a:xfrm>
            <a:off x="3481028" y="3959642"/>
            <a:ext cx="47000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4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en-SG" sz="48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9BED594-D7F4-46EC-80F8-BA89B4160607}"/>
              </a:ext>
            </a:extLst>
          </p:cNvPr>
          <p:cNvSpPr/>
          <p:nvPr/>
        </p:nvSpPr>
        <p:spPr>
          <a:xfrm>
            <a:off x="2391318" y="188640"/>
            <a:ext cx="675268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is OK because Cath has granted Jim at this point of time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A27F8EF-8DED-46B4-A442-10D37E79AA7E}"/>
              </a:ext>
            </a:extLst>
          </p:cNvPr>
          <p:cNvCxnSpPr>
            <a:cxnSpLocks/>
          </p:cNvCxnSpPr>
          <p:nvPr/>
        </p:nvCxnSpPr>
        <p:spPr bwMode="auto">
          <a:xfrm flipH="1">
            <a:off x="3419872" y="1118502"/>
            <a:ext cx="360040" cy="301827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934951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51C41-B18B-461E-95F7-9030AB70E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5"/>
            <a:ext cx="8147248" cy="1139825"/>
          </a:xfrm>
        </p:spPr>
        <p:txBody>
          <a:bodyPr>
            <a:noAutofit/>
          </a:bodyPr>
          <a:lstStyle/>
          <a:p>
            <a:r>
              <a:rPr lang="en-SG" sz="3600" dirty="0"/>
              <a:t>How can we implement such delicate controls?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FC4D6-104E-476E-9A8C-57A0FD9D8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40"/>
            <a:ext cx="3466728" cy="4713287"/>
          </a:xfrm>
        </p:spPr>
        <p:txBody>
          <a:bodyPr>
            <a:normAutofit fontScale="92500" lnSpcReduction="20000"/>
          </a:bodyPr>
          <a:lstStyle/>
          <a:p>
            <a:r>
              <a:rPr lang="en-SG" dirty="0"/>
              <a:t>Bob is the owner</a:t>
            </a:r>
          </a:p>
          <a:p>
            <a:r>
              <a:rPr lang="en-SG" dirty="0"/>
              <a:t>Bob grants Ann</a:t>
            </a:r>
          </a:p>
          <a:p>
            <a:r>
              <a:rPr lang="en-SG" dirty="0"/>
              <a:t>Bob grants Cath</a:t>
            </a:r>
          </a:p>
          <a:p>
            <a:r>
              <a:rPr lang="en-SG" dirty="0"/>
              <a:t>Ann grants Jim</a:t>
            </a:r>
          </a:p>
          <a:p>
            <a:r>
              <a:rPr lang="en-SG" dirty="0"/>
              <a:t>Jim grants Sue</a:t>
            </a:r>
          </a:p>
          <a:p>
            <a:r>
              <a:rPr lang="en-SG" dirty="0"/>
              <a:t>Cath grants Jim</a:t>
            </a:r>
          </a:p>
          <a:p>
            <a:r>
              <a:rPr lang="en-SG" dirty="0"/>
              <a:t>Jim grants Pat</a:t>
            </a:r>
          </a:p>
          <a:p>
            <a:r>
              <a:rPr lang="en-SG" dirty="0"/>
              <a:t>Sue grants Dave</a:t>
            </a:r>
          </a:p>
          <a:p>
            <a:r>
              <a:rPr lang="en-SG" dirty="0"/>
              <a:t>Ann revokes Jim</a:t>
            </a:r>
          </a:p>
          <a:p>
            <a:r>
              <a:rPr lang="en-SG" dirty="0"/>
              <a:t>Results?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9D09DF5-416C-4050-8651-2B6B1079EA02}"/>
              </a:ext>
            </a:extLst>
          </p:cNvPr>
          <p:cNvSpPr/>
          <p:nvPr/>
        </p:nvSpPr>
        <p:spPr bwMode="auto">
          <a:xfrm>
            <a:off x="3989702" y="177281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Bob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BB2DED8-FA3C-4132-A649-0D4E9CD30E85}"/>
              </a:ext>
            </a:extLst>
          </p:cNvPr>
          <p:cNvSpPr/>
          <p:nvPr/>
        </p:nvSpPr>
        <p:spPr bwMode="auto">
          <a:xfrm>
            <a:off x="5040052" y="1118502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Ann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4D4CA32-6499-4518-B09D-6FD2C7EF8F1C}"/>
              </a:ext>
            </a:extLst>
          </p:cNvPr>
          <p:cNvSpPr/>
          <p:nvPr/>
        </p:nvSpPr>
        <p:spPr bwMode="auto">
          <a:xfrm>
            <a:off x="5040052" y="2441346"/>
            <a:ext cx="864096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Cath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89312C8-6691-43B4-9108-0DD751C112EA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 bwMode="auto">
          <a:xfrm>
            <a:off x="4637774" y="2011179"/>
            <a:ext cx="402278" cy="66853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451BDCE-2507-4CE0-A647-EFD563DE115F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 bwMode="auto">
          <a:xfrm flipV="1">
            <a:off x="4637774" y="1356865"/>
            <a:ext cx="402278" cy="65431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93CA7CC-B722-489F-BF71-14D17F05E32B}"/>
              </a:ext>
            </a:extLst>
          </p:cNvPr>
          <p:cNvSpPr/>
          <p:nvPr/>
        </p:nvSpPr>
        <p:spPr bwMode="auto">
          <a:xfrm>
            <a:off x="6084168" y="177281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Jim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61C89C1-87D6-47AF-A4B4-F26BF1419846}"/>
              </a:ext>
            </a:extLst>
          </p:cNvPr>
          <p:cNvSpPr/>
          <p:nvPr/>
        </p:nvSpPr>
        <p:spPr bwMode="auto">
          <a:xfrm>
            <a:off x="6958283" y="1118502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Sue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79B3CF6-131C-432F-995A-87FCEA535338}"/>
              </a:ext>
            </a:extLst>
          </p:cNvPr>
          <p:cNvSpPr/>
          <p:nvPr/>
        </p:nvSpPr>
        <p:spPr bwMode="auto">
          <a:xfrm>
            <a:off x="6958283" y="244134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Pat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BE2DE4B-D5A7-421A-BE08-E9A1A9469D99}"/>
              </a:ext>
            </a:extLst>
          </p:cNvPr>
          <p:cNvSpPr/>
          <p:nvPr/>
        </p:nvSpPr>
        <p:spPr bwMode="auto">
          <a:xfrm>
            <a:off x="8156153" y="1118502"/>
            <a:ext cx="808335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Dave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72AAC69-8D5E-4920-80D9-6920CD0557A2}"/>
              </a:ext>
            </a:extLst>
          </p:cNvPr>
          <p:cNvCxnSpPr>
            <a:cxnSpLocks/>
            <a:stCxn id="11" idx="3"/>
            <a:endCxn id="25" idx="0"/>
          </p:cNvCxnSpPr>
          <p:nvPr/>
        </p:nvCxnSpPr>
        <p:spPr bwMode="auto">
          <a:xfrm>
            <a:off x="5688124" y="1356865"/>
            <a:ext cx="720080" cy="41595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CA6220B-CF44-40B4-8480-DD638BFCC288}"/>
              </a:ext>
            </a:extLst>
          </p:cNvPr>
          <p:cNvCxnSpPr>
            <a:cxnSpLocks/>
            <a:stCxn id="12" idx="3"/>
            <a:endCxn id="25" idx="2"/>
          </p:cNvCxnSpPr>
          <p:nvPr/>
        </p:nvCxnSpPr>
        <p:spPr bwMode="auto">
          <a:xfrm flipV="1">
            <a:off x="5904148" y="2249542"/>
            <a:ext cx="504056" cy="43016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0BEA261-42D1-4BA5-A298-EF0953A6EEAC}"/>
              </a:ext>
            </a:extLst>
          </p:cNvPr>
          <p:cNvCxnSpPr>
            <a:cxnSpLocks/>
            <a:stCxn id="25" idx="3"/>
            <a:endCxn id="26" idx="2"/>
          </p:cNvCxnSpPr>
          <p:nvPr/>
        </p:nvCxnSpPr>
        <p:spPr bwMode="auto">
          <a:xfrm flipV="1">
            <a:off x="6732240" y="1595228"/>
            <a:ext cx="550079" cy="41595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926ED25-1044-4F43-9C42-687320FFF2EB}"/>
              </a:ext>
            </a:extLst>
          </p:cNvPr>
          <p:cNvCxnSpPr>
            <a:cxnSpLocks/>
            <a:stCxn id="25" idx="3"/>
          </p:cNvCxnSpPr>
          <p:nvPr/>
        </p:nvCxnSpPr>
        <p:spPr bwMode="auto">
          <a:xfrm>
            <a:off x="6732240" y="2011179"/>
            <a:ext cx="648072" cy="42473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98E5995-14C6-41FD-AF7F-1A2127E1B448}"/>
              </a:ext>
            </a:extLst>
          </p:cNvPr>
          <p:cNvCxnSpPr>
            <a:cxnSpLocks/>
            <a:stCxn id="26" idx="3"/>
            <a:endCxn id="30" idx="1"/>
          </p:cNvCxnSpPr>
          <p:nvPr/>
        </p:nvCxnSpPr>
        <p:spPr bwMode="auto">
          <a:xfrm>
            <a:off x="7606355" y="1356865"/>
            <a:ext cx="549798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DA964948-DD5E-4DAD-9C8D-36B61159794E}"/>
              </a:ext>
            </a:extLst>
          </p:cNvPr>
          <p:cNvSpPr/>
          <p:nvPr/>
        </p:nvSpPr>
        <p:spPr bwMode="auto">
          <a:xfrm>
            <a:off x="3989702" y="4386038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Bob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6CF32D0A-8B62-4AC1-B053-42E3C303FFA6}"/>
              </a:ext>
            </a:extLst>
          </p:cNvPr>
          <p:cNvSpPr/>
          <p:nvPr/>
        </p:nvSpPr>
        <p:spPr bwMode="auto">
          <a:xfrm>
            <a:off x="5040052" y="3731724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Ann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6D82A97D-9456-4CE1-85F4-D9DF9C131B56}"/>
              </a:ext>
            </a:extLst>
          </p:cNvPr>
          <p:cNvSpPr/>
          <p:nvPr/>
        </p:nvSpPr>
        <p:spPr bwMode="auto">
          <a:xfrm>
            <a:off x="5040052" y="5054568"/>
            <a:ext cx="864096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Cath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90A4533-5FBE-4C62-A752-35DAE744B623}"/>
              </a:ext>
            </a:extLst>
          </p:cNvPr>
          <p:cNvCxnSpPr>
            <a:cxnSpLocks/>
            <a:stCxn id="50" idx="3"/>
            <a:endCxn id="52" idx="1"/>
          </p:cNvCxnSpPr>
          <p:nvPr/>
        </p:nvCxnSpPr>
        <p:spPr bwMode="auto">
          <a:xfrm>
            <a:off x="4637774" y="4624401"/>
            <a:ext cx="402278" cy="66853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7324282-B96C-4B5F-99B1-A5391AD9FA08}"/>
              </a:ext>
            </a:extLst>
          </p:cNvPr>
          <p:cNvCxnSpPr>
            <a:cxnSpLocks/>
            <a:stCxn id="50" idx="3"/>
            <a:endCxn id="51" idx="1"/>
          </p:cNvCxnSpPr>
          <p:nvPr/>
        </p:nvCxnSpPr>
        <p:spPr bwMode="auto">
          <a:xfrm flipV="1">
            <a:off x="4637774" y="3970087"/>
            <a:ext cx="402278" cy="65431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D6BF0855-4E10-482D-915F-D60141AF1193}"/>
              </a:ext>
            </a:extLst>
          </p:cNvPr>
          <p:cNvSpPr/>
          <p:nvPr/>
        </p:nvSpPr>
        <p:spPr bwMode="auto">
          <a:xfrm>
            <a:off x="6084168" y="4386038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Jim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6DF704BE-2F1A-40FA-8016-5BB27BA62DE4}"/>
              </a:ext>
            </a:extLst>
          </p:cNvPr>
          <p:cNvSpPr/>
          <p:nvPr/>
        </p:nvSpPr>
        <p:spPr bwMode="auto">
          <a:xfrm>
            <a:off x="6958283" y="3731724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Sue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43E77420-D3BA-4237-9AAB-3C307ABCDA9F}"/>
              </a:ext>
            </a:extLst>
          </p:cNvPr>
          <p:cNvSpPr/>
          <p:nvPr/>
        </p:nvSpPr>
        <p:spPr bwMode="auto">
          <a:xfrm>
            <a:off x="6958283" y="5054568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Pat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EE0FEC5F-C04F-4572-BA8B-0061F91A0495}"/>
              </a:ext>
            </a:extLst>
          </p:cNvPr>
          <p:cNvSpPr/>
          <p:nvPr/>
        </p:nvSpPr>
        <p:spPr bwMode="auto">
          <a:xfrm>
            <a:off x="8156153" y="3731724"/>
            <a:ext cx="808335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Dave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1AD2739-4AC6-42E8-B724-134EE97B1573}"/>
              </a:ext>
            </a:extLst>
          </p:cNvPr>
          <p:cNvCxnSpPr>
            <a:cxnSpLocks/>
            <a:stCxn id="52" idx="3"/>
            <a:endCxn id="55" idx="2"/>
          </p:cNvCxnSpPr>
          <p:nvPr/>
        </p:nvCxnSpPr>
        <p:spPr bwMode="auto">
          <a:xfrm flipV="1">
            <a:off x="5904148" y="4862764"/>
            <a:ext cx="504056" cy="43016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17EBE99-A731-4831-81B5-7E7259B9CE9D}"/>
              </a:ext>
            </a:extLst>
          </p:cNvPr>
          <p:cNvCxnSpPr>
            <a:cxnSpLocks/>
            <a:stCxn id="55" idx="3"/>
          </p:cNvCxnSpPr>
          <p:nvPr/>
        </p:nvCxnSpPr>
        <p:spPr bwMode="auto">
          <a:xfrm>
            <a:off x="6732240" y="4624401"/>
            <a:ext cx="648072" cy="42473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CFBC224-87FD-4EE7-AF5B-503E07B7F454}"/>
              </a:ext>
            </a:extLst>
          </p:cNvPr>
          <p:cNvCxnSpPr/>
          <p:nvPr/>
        </p:nvCxnSpPr>
        <p:spPr bwMode="auto">
          <a:xfrm flipH="1">
            <a:off x="457200" y="2996952"/>
            <a:ext cx="2962672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D100B5B-9BCF-4AB9-A3C4-5CEE23E3ED44}"/>
              </a:ext>
            </a:extLst>
          </p:cNvPr>
          <p:cNvCxnSpPr/>
          <p:nvPr/>
        </p:nvCxnSpPr>
        <p:spPr bwMode="auto">
          <a:xfrm flipH="1">
            <a:off x="467544" y="5301208"/>
            <a:ext cx="2962672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F89BB81-4396-4A22-AC94-41DA76BC198B}"/>
              </a:ext>
            </a:extLst>
          </p:cNvPr>
          <p:cNvCxnSpPr/>
          <p:nvPr/>
        </p:nvCxnSpPr>
        <p:spPr bwMode="auto">
          <a:xfrm flipH="1">
            <a:off x="467544" y="3501008"/>
            <a:ext cx="2962672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678D6E9-FED8-4E07-8553-E8796BEA987D}"/>
              </a:ext>
            </a:extLst>
          </p:cNvPr>
          <p:cNvCxnSpPr/>
          <p:nvPr/>
        </p:nvCxnSpPr>
        <p:spPr bwMode="auto">
          <a:xfrm flipH="1">
            <a:off x="457200" y="4846997"/>
            <a:ext cx="2962672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534025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30FDB-CC63-41E2-9617-A53A59344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System R’s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D0FD7-A92A-4E67-A90A-5B45BBE61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Record that </a:t>
            </a:r>
            <a:r>
              <a:rPr lang="en-SG" i="1" dirty="0"/>
              <a:t>timestamp</a:t>
            </a:r>
            <a:r>
              <a:rPr lang="en-SG" dirty="0"/>
              <a:t> that each privilege is granted</a:t>
            </a:r>
          </a:p>
          <a:p>
            <a:r>
              <a:rPr lang="en-SG" dirty="0"/>
              <a:t>When a privilege is revoked, use the timestamps to decide whether recursive revocation is needed</a:t>
            </a:r>
          </a:p>
        </p:txBody>
      </p:sp>
    </p:spTree>
    <p:extLst>
      <p:ext uri="{BB962C8B-B14F-4D97-AF65-F5344CB8AC3E}">
        <p14:creationId xmlns:p14="http://schemas.microsoft.com/office/powerpoint/2010/main" val="125587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51C41-B18B-461E-95F7-9030AB70E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Previous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FC4D6-104E-476E-9A8C-57A0FD9D8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40"/>
            <a:ext cx="3466728" cy="4713287"/>
          </a:xfrm>
        </p:spPr>
        <p:txBody>
          <a:bodyPr>
            <a:normAutofit fontScale="92500" lnSpcReduction="20000"/>
          </a:bodyPr>
          <a:lstStyle/>
          <a:p>
            <a:r>
              <a:rPr lang="en-SG" dirty="0"/>
              <a:t>Bob is the owner</a:t>
            </a:r>
          </a:p>
          <a:p>
            <a:r>
              <a:rPr lang="en-SG" dirty="0"/>
              <a:t>Bob grants Ann</a:t>
            </a:r>
          </a:p>
          <a:p>
            <a:r>
              <a:rPr lang="en-SG" dirty="0"/>
              <a:t>Bob grants Cath</a:t>
            </a:r>
          </a:p>
          <a:p>
            <a:r>
              <a:rPr lang="en-SG" dirty="0"/>
              <a:t>Ann grants Jim</a:t>
            </a:r>
          </a:p>
          <a:p>
            <a:r>
              <a:rPr lang="en-SG" dirty="0"/>
              <a:t>Jim grants Sue</a:t>
            </a:r>
          </a:p>
          <a:p>
            <a:r>
              <a:rPr lang="en-SG" dirty="0"/>
              <a:t>Cath grants Jim</a:t>
            </a:r>
          </a:p>
          <a:p>
            <a:r>
              <a:rPr lang="en-SG" dirty="0"/>
              <a:t>Jim grants Pat</a:t>
            </a:r>
          </a:p>
          <a:p>
            <a:r>
              <a:rPr lang="en-SG" dirty="0"/>
              <a:t>Sue grants Dave</a:t>
            </a:r>
          </a:p>
          <a:p>
            <a:pPr marL="0" indent="0">
              <a:buNone/>
            </a:pPr>
            <a:r>
              <a:rPr lang="en-SG" dirty="0"/>
              <a:t> </a:t>
            </a:r>
          </a:p>
          <a:p>
            <a:pPr marL="0" indent="0">
              <a:buNone/>
            </a:pPr>
            <a:r>
              <a:rPr lang="en-SG" dirty="0"/>
              <a:t> 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9D09DF5-416C-4050-8651-2B6B1079EA02}"/>
              </a:ext>
            </a:extLst>
          </p:cNvPr>
          <p:cNvSpPr/>
          <p:nvPr/>
        </p:nvSpPr>
        <p:spPr bwMode="auto">
          <a:xfrm>
            <a:off x="3989702" y="177281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Bob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BB2DED8-FA3C-4132-A649-0D4E9CD30E85}"/>
              </a:ext>
            </a:extLst>
          </p:cNvPr>
          <p:cNvSpPr/>
          <p:nvPr/>
        </p:nvSpPr>
        <p:spPr bwMode="auto">
          <a:xfrm>
            <a:off x="5040052" y="1118502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Ann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4D4CA32-6499-4518-B09D-6FD2C7EF8F1C}"/>
              </a:ext>
            </a:extLst>
          </p:cNvPr>
          <p:cNvSpPr/>
          <p:nvPr/>
        </p:nvSpPr>
        <p:spPr bwMode="auto">
          <a:xfrm>
            <a:off x="5040052" y="2441346"/>
            <a:ext cx="864096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Cath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89312C8-6691-43B4-9108-0DD751C112EA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 bwMode="auto">
          <a:xfrm>
            <a:off x="4637774" y="2011179"/>
            <a:ext cx="402278" cy="66853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451BDCE-2507-4CE0-A647-EFD563DE115F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 bwMode="auto">
          <a:xfrm flipV="1">
            <a:off x="4637774" y="1356865"/>
            <a:ext cx="402278" cy="65431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93CA7CC-B722-489F-BF71-14D17F05E32B}"/>
              </a:ext>
            </a:extLst>
          </p:cNvPr>
          <p:cNvSpPr/>
          <p:nvPr/>
        </p:nvSpPr>
        <p:spPr bwMode="auto">
          <a:xfrm>
            <a:off x="6084168" y="177281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Jim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61C89C1-87D6-47AF-A4B4-F26BF1419846}"/>
              </a:ext>
            </a:extLst>
          </p:cNvPr>
          <p:cNvSpPr/>
          <p:nvPr/>
        </p:nvSpPr>
        <p:spPr bwMode="auto">
          <a:xfrm>
            <a:off x="6958283" y="1118502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Sue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79B3CF6-131C-432F-995A-87FCEA535338}"/>
              </a:ext>
            </a:extLst>
          </p:cNvPr>
          <p:cNvSpPr/>
          <p:nvPr/>
        </p:nvSpPr>
        <p:spPr bwMode="auto">
          <a:xfrm>
            <a:off x="6958283" y="244134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Pat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BE2DE4B-D5A7-421A-BE08-E9A1A9469D99}"/>
              </a:ext>
            </a:extLst>
          </p:cNvPr>
          <p:cNvSpPr/>
          <p:nvPr/>
        </p:nvSpPr>
        <p:spPr bwMode="auto">
          <a:xfrm>
            <a:off x="8156153" y="1118502"/>
            <a:ext cx="808335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Dave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72AAC69-8D5E-4920-80D9-6920CD0557A2}"/>
              </a:ext>
            </a:extLst>
          </p:cNvPr>
          <p:cNvCxnSpPr>
            <a:cxnSpLocks/>
            <a:stCxn id="11" idx="3"/>
            <a:endCxn id="25" idx="0"/>
          </p:cNvCxnSpPr>
          <p:nvPr/>
        </p:nvCxnSpPr>
        <p:spPr bwMode="auto">
          <a:xfrm>
            <a:off x="5688124" y="1356865"/>
            <a:ext cx="720080" cy="41595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CA6220B-CF44-40B4-8480-DD638BFCC288}"/>
              </a:ext>
            </a:extLst>
          </p:cNvPr>
          <p:cNvCxnSpPr>
            <a:cxnSpLocks/>
            <a:stCxn id="12" idx="3"/>
            <a:endCxn id="25" idx="2"/>
          </p:cNvCxnSpPr>
          <p:nvPr/>
        </p:nvCxnSpPr>
        <p:spPr bwMode="auto">
          <a:xfrm flipV="1">
            <a:off x="5904148" y="2249542"/>
            <a:ext cx="504056" cy="43016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0BEA261-42D1-4BA5-A298-EF0953A6EEAC}"/>
              </a:ext>
            </a:extLst>
          </p:cNvPr>
          <p:cNvCxnSpPr>
            <a:cxnSpLocks/>
            <a:stCxn id="25" idx="3"/>
            <a:endCxn id="26" idx="2"/>
          </p:cNvCxnSpPr>
          <p:nvPr/>
        </p:nvCxnSpPr>
        <p:spPr bwMode="auto">
          <a:xfrm flipV="1">
            <a:off x="6732240" y="1595228"/>
            <a:ext cx="550079" cy="41595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926ED25-1044-4F43-9C42-687320FFF2EB}"/>
              </a:ext>
            </a:extLst>
          </p:cNvPr>
          <p:cNvCxnSpPr>
            <a:cxnSpLocks/>
            <a:stCxn id="25" idx="3"/>
          </p:cNvCxnSpPr>
          <p:nvPr/>
        </p:nvCxnSpPr>
        <p:spPr bwMode="auto">
          <a:xfrm>
            <a:off x="6732240" y="2011179"/>
            <a:ext cx="648072" cy="42473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98E5995-14C6-41FD-AF7F-1A2127E1B448}"/>
              </a:ext>
            </a:extLst>
          </p:cNvPr>
          <p:cNvCxnSpPr>
            <a:cxnSpLocks/>
            <a:stCxn id="26" idx="3"/>
            <a:endCxn id="30" idx="1"/>
          </p:cNvCxnSpPr>
          <p:nvPr/>
        </p:nvCxnSpPr>
        <p:spPr bwMode="auto">
          <a:xfrm>
            <a:off x="7606355" y="1356865"/>
            <a:ext cx="549798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2199240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51C41-B18B-461E-95F7-9030AB70E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Previous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FC4D6-104E-476E-9A8C-57A0FD9D8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40"/>
            <a:ext cx="3466728" cy="4713287"/>
          </a:xfrm>
        </p:spPr>
        <p:txBody>
          <a:bodyPr>
            <a:normAutofit fontScale="92500" lnSpcReduction="20000"/>
          </a:bodyPr>
          <a:lstStyle/>
          <a:p>
            <a:r>
              <a:rPr lang="en-SG" dirty="0"/>
              <a:t>Bob is the owner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Bob grants Ann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Bob grants Cath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Ann grants Jim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Jim grants Sue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Cath grants Jim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Jim grants Pat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Sue grants Dave</a:t>
            </a:r>
          </a:p>
          <a:p>
            <a:pPr marL="0" indent="0">
              <a:buNone/>
            </a:pPr>
            <a:r>
              <a:rPr lang="en-SG" dirty="0"/>
              <a:t> </a:t>
            </a:r>
          </a:p>
          <a:p>
            <a:pPr marL="0" indent="0">
              <a:buNone/>
            </a:pPr>
            <a:r>
              <a:rPr lang="en-SG" dirty="0"/>
              <a:t> 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9D09DF5-416C-4050-8651-2B6B1079EA02}"/>
              </a:ext>
            </a:extLst>
          </p:cNvPr>
          <p:cNvSpPr/>
          <p:nvPr/>
        </p:nvSpPr>
        <p:spPr bwMode="auto">
          <a:xfrm>
            <a:off x="3989702" y="177281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Bob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BB2DED8-FA3C-4132-A649-0D4E9CD30E85}"/>
              </a:ext>
            </a:extLst>
          </p:cNvPr>
          <p:cNvSpPr/>
          <p:nvPr/>
        </p:nvSpPr>
        <p:spPr bwMode="auto">
          <a:xfrm>
            <a:off x="5040052" y="1118502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Ann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4D4CA32-6499-4518-B09D-6FD2C7EF8F1C}"/>
              </a:ext>
            </a:extLst>
          </p:cNvPr>
          <p:cNvSpPr/>
          <p:nvPr/>
        </p:nvSpPr>
        <p:spPr bwMode="auto">
          <a:xfrm>
            <a:off x="5040052" y="2441346"/>
            <a:ext cx="864096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Cath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89312C8-6691-43B4-9108-0DD751C112EA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 bwMode="auto">
          <a:xfrm>
            <a:off x="4637774" y="2011179"/>
            <a:ext cx="402278" cy="66853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451BDCE-2507-4CE0-A647-EFD563DE115F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 bwMode="auto">
          <a:xfrm flipV="1">
            <a:off x="4637774" y="1356865"/>
            <a:ext cx="402278" cy="65431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93CA7CC-B722-489F-BF71-14D17F05E32B}"/>
              </a:ext>
            </a:extLst>
          </p:cNvPr>
          <p:cNvSpPr/>
          <p:nvPr/>
        </p:nvSpPr>
        <p:spPr bwMode="auto">
          <a:xfrm>
            <a:off x="6084168" y="177281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Jim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61C89C1-87D6-47AF-A4B4-F26BF1419846}"/>
              </a:ext>
            </a:extLst>
          </p:cNvPr>
          <p:cNvSpPr/>
          <p:nvPr/>
        </p:nvSpPr>
        <p:spPr bwMode="auto">
          <a:xfrm>
            <a:off x="6958283" y="1118502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Sue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79B3CF6-131C-432F-995A-87FCEA535338}"/>
              </a:ext>
            </a:extLst>
          </p:cNvPr>
          <p:cNvSpPr/>
          <p:nvPr/>
        </p:nvSpPr>
        <p:spPr bwMode="auto">
          <a:xfrm>
            <a:off x="6958283" y="244134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Pat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BE2DE4B-D5A7-421A-BE08-E9A1A9469D99}"/>
              </a:ext>
            </a:extLst>
          </p:cNvPr>
          <p:cNvSpPr/>
          <p:nvPr/>
        </p:nvSpPr>
        <p:spPr bwMode="auto">
          <a:xfrm>
            <a:off x="8156153" y="1118502"/>
            <a:ext cx="808335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Dave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72AAC69-8D5E-4920-80D9-6920CD0557A2}"/>
              </a:ext>
            </a:extLst>
          </p:cNvPr>
          <p:cNvCxnSpPr>
            <a:cxnSpLocks/>
            <a:stCxn id="11" idx="3"/>
            <a:endCxn id="25" idx="0"/>
          </p:cNvCxnSpPr>
          <p:nvPr/>
        </p:nvCxnSpPr>
        <p:spPr bwMode="auto">
          <a:xfrm>
            <a:off x="5688124" y="1356865"/>
            <a:ext cx="720080" cy="41595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CA6220B-CF44-40B4-8480-DD638BFCC288}"/>
              </a:ext>
            </a:extLst>
          </p:cNvPr>
          <p:cNvCxnSpPr>
            <a:cxnSpLocks/>
            <a:stCxn id="12" idx="3"/>
            <a:endCxn id="25" idx="2"/>
          </p:cNvCxnSpPr>
          <p:nvPr/>
        </p:nvCxnSpPr>
        <p:spPr bwMode="auto">
          <a:xfrm flipV="1">
            <a:off x="5904148" y="2249542"/>
            <a:ext cx="504056" cy="43016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0BEA261-42D1-4BA5-A298-EF0953A6EEAC}"/>
              </a:ext>
            </a:extLst>
          </p:cNvPr>
          <p:cNvCxnSpPr>
            <a:cxnSpLocks/>
            <a:stCxn id="25" idx="3"/>
            <a:endCxn id="26" idx="2"/>
          </p:cNvCxnSpPr>
          <p:nvPr/>
        </p:nvCxnSpPr>
        <p:spPr bwMode="auto">
          <a:xfrm flipV="1">
            <a:off x="6732240" y="1595228"/>
            <a:ext cx="550079" cy="41595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926ED25-1044-4F43-9C42-687320FFF2EB}"/>
              </a:ext>
            </a:extLst>
          </p:cNvPr>
          <p:cNvCxnSpPr>
            <a:cxnSpLocks/>
            <a:stCxn id="25" idx="3"/>
          </p:cNvCxnSpPr>
          <p:nvPr/>
        </p:nvCxnSpPr>
        <p:spPr bwMode="auto">
          <a:xfrm>
            <a:off x="6732240" y="2011179"/>
            <a:ext cx="648072" cy="42473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98E5995-14C6-41FD-AF7F-1A2127E1B448}"/>
              </a:ext>
            </a:extLst>
          </p:cNvPr>
          <p:cNvCxnSpPr>
            <a:cxnSpLocks/>
            <a:stCxn id="26" idx="3"/>
            <a:endCxn id="30" idx="1"/>
          </p:cNvCxnSpPr>
          <p:nvPr/>
        </p:nvCxnSpPr>
        <p:spPr bwMode="auto">
          <a:xfrm>
            <a:off x="7606355" y="1356865"/>
            <a:ext cx="549798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2FB4602-AE77-4EF3-A0AB-61E3912ACEA1}"/>
              </a:ext>
            </a:extLst>
          </p:cNvPr>
          <p:cNvSpPr/>
          <p:nvPr/>
        </p:nvSpPr>
        <p:spPr bwMode="auto">
          <a:xfrm rot="5400000">
            <a:off x="-969971" y="3247061"/>
            <a:ext cx="3199520" cy="476726"/>
          </a:xfrm>
          <a:prstGeom prst="roundRect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55B032-E3EE-4420-8FBE-07DAE1C99782}"/>
              </a:ext>
            </a:extLst>
          </p:cNvPr>
          <p:cNvSpPr/>
          <p:nvPr/>
        </p:nvSpPr>
        <p:spPr>
          <a:xfrm>
            <a:off x="457531" y="5558082"/>
            <a:ext cx="194439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timestamps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D4ADEB3-049E-4FD0-A1DE-531BECECA001}"/>
              </a:ext>
            </a:extLst>
          </p:cNvPr>
          <p:cNvCxnSpPr>
            <a:cxnSpLocks/>
            <a:stCxn id="19" idx="0"/>
          </p:cNvCxnSpPr>
          <p:nvPr/>
        </p:nvCxnSpPr>
        <p:spPr bwMode="auto">
          <a:xfrm flipH="1" flipV="1">
            <a:off x="868152" y="5131002"/>
            <a:ext cx="561576" cy="42708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B8ECDDA1-2576-4CC9-B680-2C0A2F6C1168}"/>
              </a:ext>
            </a:extLst>
          </p:cNvPr>
          <p:cNvSpPr/>
          <p:nvPr/>
        </p:nvSpPr>
        <p:spPr>
          <a:xfrm>
            <a:off x="4539781" y="1210044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SG" sz="28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F7F9799-E462-4283-BAD6-71E50D880117}"/>
              </a:ext>
            </a:extLst>
          </p:cNvPr>
          <p:cNvSpPr/>
          <p:nvPr/>
        </p:nvSpPr>
        <p:spPr>
          <a:xfrm>
            <a:off x="4506227" y="2289094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SG" sz="28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73E9591-B9FA-4CAB-A6DC-C219CF199516}"/>
              </a:ext>
            </a:extLst>
          </p:cNvPr>
          <p:cNvSpPr/>
          <p:nvPr/>
        </p:nvSpPr>
        <p:spPr>
          <a:xfrm>
            <a:off x="5875558" y="1041620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SG" sz="28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E260910-D414-4499-BCE7-FDF321515511}"/>
              </a:ext>
            </a:extLst>
          </p:cNvPr>
          <p:cNvSpPr/>
          <p:nvPr/>
        </p:nvSpPr>
        <p:spPr>
          <a:xfrm>
            <a:off x="6595638" y="1356865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en-SG" sz="28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F60C068-C89F-47E3-8191-EA293AE07B22}"/>
              </a:ext>
            </a:extLst>
          </p:cNvPr>
          <p:cNvSpPr/>
          <p:nvPr/>
        </p:nvSpPr>
        <p:spPr>
          <a:xfrm>
            <a:off x="5970114" y="2435915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endParaRPr lang="en-SG" sz="28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28D144-38C1-47C5-A048-E3F97375A95E}"/>
              </a:ext>
            </a:extLst>
          </p:cNvPr>
          <p:cNvSpPr/>
          <p:nvPr/>
        </p:nvSpPr>
        <p:spPr>
          <a:xfrm>
            <a:off x="6683960" y="2057673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endParaRPr lang="en-SG" sz="28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80B9053-E0F0-4A59-8CFE-DEF6770FDD1B}"/>
              </a:ext>
            </a:extLst>
          </p:cNvPr>
          <p:cNvSpPr/>
          <p:nvPr/>
        </p:nvSpPr>
        <p:spPr>
          <a:xfrm>
            <a:off x="7648694" y="817548"/>
            <a:ext cx="3674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  <a:endParaRPr lang="en-SG" sz="2800" dirty="0"/>
          </a:p>
        </p:txBody>
      </p:sp>
    </p:spTree>
    <p:extLst>
      <p:ext uri="{BB962C8B-B14F-4D97-AF65-F5344CB8AC3E}">
        <p14:creationId xmlns:p14="http://schemas.microsoft.com/office/powerpoint/2010/main" val="987484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/>
      <p:bldP spid="8" grpId="0"/>
      <p:bldP spid="28" grpId="0"/>
      <p:bldP spid="29" grpId="0"/>
      <p:bldP spid="31" grpId="0"/>
      <p:bldP spid="33" grpId="0"/>
      <p:bldP spid="34" grpId="0"/>
      <p:bldP spid="3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51C41-B18B-461E-95F7-9030AB70E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Previous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FC4D6-104E-476E-9A8C-57A0FD9D8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40"/>
            <a:ext cx="3466728" cy="4713287"/>
          </a:xfrm>
        </p:spPr>
        <p:txBody>
          <a:bodyPr>
            <a:normAutofit fontScale="92500" lnSpcReduction="20000"/>
          </a:bodyPr>
          <a:lstStyle/>
          <a:p>
            <a:r>
              <a:rPr lang="en-SG" dirty="0"/>
              <a:t>Bob is the owner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Bob grants Ann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Bob grants Cath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Ann grants Jim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Jim grants Sue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Cath grants Jim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Jim grants Pat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Sue grants Dave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Ann revokes Jim</a:t>
            </a:r>
          </a:p>
          <a:p>
            <a:pPr marL="0" indent="0">
              <a:buNone/>
            </a:pPr>
            <a:r>
              <a:rPr lang="en-SG" dirty="0"/>
              <a:t> 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9D09DF5-416C-4050-8651-2B6B1079EA02}"/>
              </a:ext>
            </a:extLst>
          </p:cNvPr>
          <p:cNvSpPr/>
          <p:nvPr/>
        </p:nvSpPr>
        <p:spPr bwMode="auto">
          <a:xfrm>
            <a:off x="3989702" y="177281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Bob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BB2DED8-FA3C-4132-A649-0D4E9CD30E85}"/>
              </a:ext>
            </a:extLst>
          </p:cNvPr>
          <p:cNvSpPr/>
          <p:nvPr/>
        </p:nvSpPr>
        <p:spPr bwMode="auto">
          <a:xfrm>
            <a:off x="5040052" y="1118502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Ann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4D4CA32-6499-4518-B09D-6FD2C7EF8F1C}"/>
              </a:ext>
            </a:extLst>
          </p:cNvPr>
          <p:cNvSpPr/>
          <p:nvPr/>
        </p:nvSpPr>
        <p:spPr bwMode="auto">
          <a:xfrm>
            <a:off x="5040052" y="2441346"/>
            <a:ext cx="864096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Cath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89312C8-6691-43B4-9108-0DD751C112EA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 bwMode="auto">
          <a:xfrm>
            <a:off x="4637774" y="2011179"/>
            <a:ext cx="402278" cy="66853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451BDCE-2507-4CE0-A647-EFD563DE115F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 bwMode="auto">
          <a:xfrm flipV="1">
            <a:off x="4637774" y="1356865"/>
            <a:ext cx="402278" cy="65431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93CA7CC-B722-489F-BF71-14D17F05E32B}"/>
              </a:ext>
            </a:extLst>
          </p:cNvPr>
          <p:cNvSpPr/>
          <p:nvPr/>
        </p:nvSpPr>
        <p:spPr bwMode="auto">
          <a:xfrm>
            <a:off x="6084168" y="177281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Jim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61C89C1-87D6-47AF-A4B4-F26BF1419846}"/>
              </a:ext>
            </a:extLst>
          </p:cNvPr>
          <p:cNvSpPr/>
          <p:nvPr/>
        </p:nvSpPr>
        <p:spPr bwMode="auto">
          <a:xfrm>
            <a:off x="6958283" y="1118502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Sue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79B3CF6-131C-432F-995A-87FCEA535338}"/>
              </a:ext>
            </a:extLst>
          </p:cNvPr>
          <p:cNvSpPr/>
          <p:nvPr/>
        </p:nvSpPr>
        <p:spPr bwMode="auto">
          <a:xfrm>
            <a:off x="6958283" y="244134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Pat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BE2DE4B-D5A7-421A-BE08-E9A1A9469D99}"/>
              </a:ext>
            </a:extLst>
          </p:cNvPr>
          <p:cNvSpPr/>
          <p:nvPr/>
        </p:nvSpPr>
        <p:spPr bwMode="auto">
          <a:xfrm>
            <a:off x="8156153" y="1118502"/>
            <a:ext cx="808335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Dave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72AAC69-8D5E-4920-80D9-6920CD0557A2}"/>
              </a:ext>
            </a:extLst>
          </p:cNvPr>
          <p:cNvCxnSpPr>
            <a:cxnSpLocks/>
            <a:stCxn id="11" idx="3"/>
            <a:endCxn id="25" idx="0"/>
          </p:cNvCxnSpPr>
          <p:nvPr/>
        </p:nvCxnSpPr>
        <p:spPr bwMode="auto">
          <a:xfrm>
            <a:off x="5688124" y="1356865"/>
            <a:ext cx="720080" cy="41595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CA6220B-CF44-40B4-8480-DD638BFCC288}"/>
              </a:ext>
            </a:extLst>
          </p:cNvPr>
          <p:cNvCxnSpPr>
            <a:cxnSpLocks/>
            <a:stCxn id="12" idx="3"/>
            <a:endCxn id="25" idx="2"/>
          </p:cNvCxnSpPr>
          <p:nvPr/>
        </p:nvCxnSpPr>
        <p:spPr bwMode="auto">
          <a:xfrm flipV="1">
            <a:off x="5904148" y="2249542"/>
            <a:ext cx="504056" cy="43016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0BEA261-42D1-4BA5-A298-EF0953A6EEAC}"/>
              </a:ext>
            </a:extLst>
          </p:cNvPr>
          <p:cNvCxnSpPr>
            <a:cxnSpLocks/>
            <a:stCxn id="25" idx="3"/>
            <a:endCxn id="26" idx="2"/>
          </p:cNvCxnSpPr>
          <p:nvPr/>
        </p:nvCxnSpPr>
        <p:spPr bwMode="auto">
          <a:xfrm flipV="1">
            <a:off x="6732240" y="1595228"/>
            <a:ext cx="550079" cy="41595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926ED25-1044-4F43-9C42-687320FFF2EB}"/>
              </a:ext>
            </a:extLst>
          </p:cNvPr>
          <p:cNvCxnSpPr>
            <a:cxnSpLocks/>
            <a:stCxn id="25" idx="3"/>
          </p:cNvCxnSpPr>
          <p:nvPr/>
        </p:nvCxnSpPr>
        <p:spPr bwMode="auto">
          <a:xfrm>
            <a:off x="6732240" y="2011179"/>
            <a:ext cx="648072" cy="42473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98E5995-14C6-41FD-AF7F-1A2127E1B448}"/>
              </a:ext>
            </a:extLst>
          </p:cNvPr>
          <p:cNvCxnSpPr>
            <a:cxnSpLocks/>
            <a:stCxn id="26" idx="3"/>
            <a:endCxn id="30" idx="1"/>
          </p:cNvCxnSpPr>
          <p:nvPr/>
        </p:nvCxnSpPr>
        <p:spPr bwMode="auto">
          <a:xfrm>
            <a:off x="7606355" y="1356865"/>
            <a:ext cx="549798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B8ECDDA1-2576-4CC9-B680-2C0A2F6C1168}"/>
              </a:ext>
            </a:extLst>
          </p:cNvPr>
          <p:cNvSpPr/>
          <p:nvPr/>
        </p:nvSpPr>
        <p:spPr>
          <a:xfrm>
            <a:off x="4539781" y="1210044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SG" sz="28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F7F9799-E462-4283-BAD6-71E50D880117}"/>
              </a:ext>
            </a:extLst>
          </p:cNvPr>
          <p:cNvSpPr/>
          <p:nvPr/>
        </p:nvSpPr>
        <p:spPr>
          <a:xfrm>
            <a:off x="4506227" y="2289094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SG" sz="28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73E9591-B9FA-4CAB-A6DC-C219CF199516}"/>
              </a:ext>
            </a:extLst>
          </p:cNvPr>
          <p:cNvSpPr/>
          <p:nvPr/>
        </p:nvSpPr>
        <p:spPr>
          <a:xfrm>
            <a:off x="5875558" y="1041620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SG" sz="28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E260910-D414-4499-BCE7-FDF321515511}"/>
              </a:ext>
            </a:extLst>
          </p:cNvPr>
          <p:cNvSpPr/>
          <p:nvPr/>
        </p:nvSpPr>
        <p:spPr>
          <a:xfrm>
            <a:off x="6595638" y="1356865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en-SG" sz="28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F60C068-C89F-47E3-8191-EA293AE07B22}"/>
              </a:ext>
            </a:extLst>
          </p:cNvPr>
          <p:cNvSpPr/>
          <p:nvPr/>
        </p:nvSpPr>
        <p:spPr>
          <a:xfrm>
            <a:off x="5970114" y="2435915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endParaRPr lang="en-SG" sz="28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28D144-38C1-47C5-A048-E3F97375A95E}"/>
              </a:ext>
            </a:extLst>
          </p:cNvPr>
          <p:cNvSpPr/>
          <p:nvPr/>
        </p:nvSpPr>
        <p:spPr>
          <a:xfrm>
            <a:off x="6683960" y="2057673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endParaRPr lang="en-SG" sz="28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80B9053-E0F0-4A59-8CFE-DEF6770FDD1B}"/>
              </a:ext>
            </a:extLst>
          </p:cNvPr>
          <p:cNvSpPr/>
          <p:nvPr/>
        </p:nvSpPr>
        <p:spPr>
          <a:xfrm>
            <a:off x="7648694" y="817548"/>
            <a:ext cx="3674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  <a:endParaRPr lang="en-SG" sz="28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FF2876E-4FD7-4250-807D-B32D843B4E85}"/>
              </a:ext>
            </a:extLst>
          </p:cNvPr>
          <p:cNvSpPr/>
          <p:nvPr/>
        </p:nvSpPr>
        <p:spPr bwMode="auto">
          <a:xfrm>
            <a:off x="4777826" y="404664"/>
            <a:ext cx="3238276" cy="3024336"/>
          </a:xfrm>
          <a:prstGeom prst="ellipse">
            <a:avLst/>
          </a:prstGeom>
          <a:noFill/>
          <a:ln w="63500" cap="flat" cmpd="sng" algn="ctr">
            <a:solidFill>
              <a:srgbClr val="CC00C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5F1E5998-CBD2-4E4C-96EE-4B1A55B30CA2}"/>
              </a:ext>
            </a:extLst>
          </p:cNvPr>
          <p:cNvSpPr txBox="1">
            <a:spLocks/>
          </p:cNvSpPr>
          <p:nvPr/>
        </p:nvSpPr>
        <p:spPr bwMode="auto">
          <a:xfrm>
            <a:off x="3989702" y="3501008"/>
            <a:ext cx="4830770" cy="27114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77500" lnSpcReduction="20000"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Calibri" pitchFamily="34" charset="0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Calibri" pitchFamily="34" charset="0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SG" kern="0" dirty="0"/>
              <a:t>Jim receives privileges only from Ann and Cath, at timestamps 3 and 5, respectively</a:t>
            </a:r>
            <a:endParaRPr lang="en-SG" kern="0" dirty="0">
              <a:sym typeface="Wingdings" panose="05000000000000000000" pitchFamily="2" charset="2"/>
            </a:endParaRPr>
          </a:p>
          <a:p>
            <a:r>
              <a:rPr lang="en-SG" kern="0" dirty="0">
                <a:sym typeface="Wingdings" panose="05000000000000000000" pitchFamily="2" charset="2"/>
              </a:rPr>
              <a:t>Since Ann revokes, the privileges that Jim grants in [3, 5) must be revoked</a:t>
            </a:r>
          </a:p>
          <a:p>
            <a:r>
              <a:rPr lang="en-SG" kern="0" dirty="0">
                <a:sym typeface="Wingdings" panose="05000000000000000000" pitchFamily="2" charset="2"/>
              </a:rPr>
              <a:t>Hence, </a:t>
            </a:r>
            <a:r>
              <a:rPr lang="en-SG" kern="0" dirty="0" err="1">
                <a:sym typeface="Wingdings" panose="05000000000000000000" pitchFamily="2" charset="2"/>
              </a:rPr>
              <a:t>JimSue</a:t>
            </a:r>
            <a:r>
              <a:rPr lang="en-SG" kern="0" dirty="0">
                <a:sym typeface="Wingdings" panose="05000000000000000000" pitchFamily="2" charset="2"/>
              </a:rPr>
              <a:t> should be removed</a:t>
            </a:r>
            <a:endParaRPr lang="en-SG" kern="0" dirty="0"/>
          </a:p>
        </p:txBody>
      </p:sp>
    </p:spTree>
    <p:extLst>
      <p:ext uri="{BB962C8B-B14F-4D97-AF65-F5344CB8AC3E}">
        <p14:creationId xmlns:p14="http://schemas.microsoft.com/office/powerpoint/2010/main" val="3611958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51C41-B18B-461E-95F7-9030AB70E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Previous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FC4D6-104E-476E-9A8C-57A0FD9D8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40"/>
            <a:ext cx="3466728" cy="4713287"/>
          </a:xfrm>
        </p:spPr>
        <p:txBody>
          <a:bodyPr>
            <a:normAutofit fontScale="92500" lnSpcReduction="20000"/>
          </a:bodyPr>
          <a:lstStyle/>
          <a:p>
            <a:r>
              <a:rPr lang="en-SG" dirty="0"/>
              <a:t>Bob is the owner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Bob grants Ann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Bob grants Cath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Ann grants Jim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Jim grants Sue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Cath grants Jim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Jim grants Pat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Sue grants Dave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Ann revokes Jim</a:t>
            </a:r>
          </a:p>
          <a:p>
            <a:pPr marL="0" indent="0">
              <a:buNone/>
            </a:pPr>
            <a:r>
              <a:rPr lang="en-SG" dirty="0"/>
              <a:t> 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9D09DF5-416C-4050-8651-2B6B1079EA02}"/>
              </a:ext>
            </a:extLst>
          </p:cNvPr>
          <p:cNvSpPr/>
          <p:nvPr/>
        </p:nvSpPr>
        <p:spPr bwMode="auto">
          <a:xfrm>
            <a:off x="3989702" y="177281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Bob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BB2DED8-FA3C-4132-A649-0D4E9CD30E85}"/>
              </a:ext>
            </a:extLst>
          </p:cNvPr>
          <p:cNvSpPr/>
          <p:nvPr/>
        </p:nvSpPr>
        <p:spPr bwMode="auto">
          <a:xfrm>
            <a:off x="5040052" y="1118502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Ann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4D4CA32-6499-4518-B09D-6FD2C7EF8F1C}"/>
              </a:ext>
            </a:extLst>
          </p:cNvPr>
          <p:cNvSpPr/>
          <p:nvPr/>
        </p:nvSpPr>
        <p:spPr bwMode="auto">
          <a:xfrm>
            <a:off x="5040052" y="2441346"/>
            <a:ext cx="864096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Cath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89312C8-6691-43B4-9108-0DD751C112EA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 bwMode="auto">
          <a:xfrm>
            <a:off x="4637774" y="2011179"/>
            <a:ext cx="402278" cy="66853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451BDCE-2507-4CE0-A647-EFD563DE115F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 bwMode="auto">
          <a:xfrm flipV="1">
            <a:off x="4637774" y="1356865"/>
            <a:ext cx="402278" cy="65431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93CA7CC-B722-489F-BF71-14D17F05E32B}"/>
              </a:ext>
            </a:extLst>
          </p:cNvPr>
          <p:cNvSpPr/>
          <p:nvPr/>
        </p:nvSpPr>
        <p:spPr bwMode="auto">
          <a:xfrm>
            <a:off x="6084168" y="177281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Jim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61C89C1-87D6-47AF-A4B4-F26BF1419846}"/>
              </a:ext>
            </a:extLst>
          </p:cNvPr>
          <p:cNvSpPr/>
          <p:nvPr/>
        </p:nvSpPr>
        <p:spPr bwMode="auto">
          <a:xfrm>
            <a:off x="6958283" y="1118502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Sue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79B3CF6-131C-432F-995A-87FCEA535338}"/>
              </a:ext>
            </a:extLst>
          </p:cNvPr>
          <p:cNvSpPr/>
          <p:nvPr/>
        </p:nvSpPr>
        <p:spPr bwMode="auto">
          <a:xfrm>
            <a:off x="6958283" y="244134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Pat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BE2DE4B-D5A7-421A-BE08-E9A1A9469D99}"/>
              </a:ext>
            </a:extLst>
          </p:cNvPr>
          <p:cNvSpPr/>
          <p:nvPr/>
        </p:nvSpPr>
        <p:spPr bwMode="auto">
          <a:xfrm>
            <a:off x="8156153" y="1118502"/>
            <a:ext cx="808335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Dave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72AAC69-8D5E-4920-80D9-6920CD0557A2}"/>
              </a:ext>
            </a:extLst>
          </p:cNvPr>
          <p:cNvCxnSpPr>
            <a:cxnSpLocks/>
            <a:stCxn id="11" idx="3"/>
            <a:endCxn id="25" idx="0"/>
          </p:cNvCxnSpPr>
          <p:nvPr/>
        </p:nvCxnSpPr>
        <p:spPr bwMode="auto">
          <a:xfrm>
            <a:off x="5688124" y="1356865"/>
            <a:ext cx="720080" cy="41595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CA6220B-CF44-40B4-8480-DD638BFCC288}"/>
              </a:ext>
            </a:extLst>
          </p:cNvPr>
          <p:cNvCxnSpPr>
            <a:cxnSpLocks/>
            <a:stCxn id="12" idx="3"/>
            <a:endCxn id="25" idx="2"/>
          </p:cNvCxnSpPr>
          <p:nvPr/>
        </p:nvCxnSpPr>
        <p:spPr bwMode="auto">
          <a:xfrm flipV="1">
            <a:off x="5904148" y="2249542"/>
            <a:ext cx="504056" cy="43016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0BEA261-42D1-4BA5-A298-EF0953A6EEAC}"/>
              </a:ext>
            </a:extLst>
          </p:cNvPr>
          <p:cNvCxnSpPr>
            <a:cxnSpLocks/>
            <a:stCxn id="25" idx="3"/>
            <a:endCxn id="26" idx="2"/>
          </p:cNvCxnSpPr>
          <p:nvPr/>
        </p:nvCxnSpPr>
        <p:spPr bwMode="auto">
          <a:xfrm flipV="1">
            <a:off x="6732240" y="1595228"/>
            <a:ext cx="550079" cy="41595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926ED25-1044-4F43-9C42-687320FFF2EB}"/>
              </a:ext>
            </a:extLst>
          </p:cNvPr>
          <p:cNvCxnSpPr>
            <a:cxnSpLocks/>
            <a:stCxn id="25" idx="3"/>
          </p:cNvCxnSpPr>
          <p:nvPr/>
        </p:nvCxnSpPr>
        <p:spPr bwMode="auto">
          <a:xfrm>
            <a:off x="6732240" y="2011179"/>
            <a:ext cx="648072" cy="42473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98E5995-14C6-41FD-AF7F-1A2127E1B448}"/>
              </a:ext>
            </a:extLst>
          </p:cNvPr>
          <p:cNvCxnSpPr>
            <a:cxnSpLocks/>
            <a:stCxn id="26" idx="3"/>
            <a:endCxn id="30" idx="1"/>
          </p:cNvCxnSpPr>
          <p:nvPr/>
        </p:nvCxnSpPr>
        <p:spPr bwMode="auto">
          <a:xfrm>
            <a:off x="7606355" y="1356865"/>
            <a:ext cx="549798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B8ECDDA1-2576-4CC9-B680-2C0A2F6C1168}"/>
              </a:ext>
            </a:extLst>
          </p:cNvPr>
          <p:cNvSpPr/>
          <p:nvPr/>
        </p:nvSpPr>
        <p:spPr>
          <a:xfrm>
            <a:off x="4539781" y="1210044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SG" sz="28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F7F9799-E462-4283-BAD6-71E50D880117}"/>
              </a:ext>
            </a:extLst>
          </p:cNvPr>
          <p:cNvSpPr/>
          <p:nvPr/>
        </p:nvSpPr>
        <p:spPr>
          <a:xfrm>
            <a:off x="4506227" y="2289094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SG" sz="28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73E9591-B9FA-4CAB-A6DC-C219CF199516}"/>
              </a:ext>
            </a:extLst>
          </p:cNvPr>
          <p:cNvSpPr/>
          <p:nvPr/>
        </p:nvSpPr>
        <p:spPr>
          <a:xfrm>
            <a:off x="5875558" y="1041620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SG" sz="28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E260910-D414-4499-BCE7-FDF321515511}"/>
              </a:ext>
            </a:extLst>
          </p:cNvPr>
          <p:cNvSpPr/>
          <p:nvPr/>
        </p:nvSpPr>
        <p:spPr>
          <a:xfrm>
            <a:off x="6595638" y="1356865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en-SG" sz="28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F60C068-C89F-47E3-8191-EA293AE07B22}"/>
              </a:ext>
            </a:extLst>
          </p:cNvPr>
          <p:cNvSpPr/>
          <p:nvPr/>
        </p:nvSpPr>
        <p:spPr>
          <a:xfrm>
            <a:off x="5970114" y="2435915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endParaRPr lang="en-SG" sz="28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28D144-38C1-47C5-A048-E3F97375A95E}"/>
              </a:ext>
            </a:extLst>
          </p:cNvPr>
          <p:cNvSpPr/>
          <p:nvPr/>
        </p:nvSpPr>
        <p:spPr>
          <a:xfrm>
            <a:off x="6683960" y="2057673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endParaRPr lang="en-SG" sz="28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80B9053-E0F0-4A59-8CFE-DEF6770FDD1B}"/>
              </a:ext>
            </a:extLst>
          </p:cNvPr>
          <p:cNvSpPr/>
          <p:nvPr/>
        </p:nvSpPr>
        <p:spPr>
          <a:xfrm>
            <a:off x="7648694" y="817548"/>
            <a:ext cx="3674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  <a:endParaRPr lang="en-SG" sz="28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FF2876E-4FD7-4250-807D-B32D843B4E85}"/>
              </a:ext>
            </a:extLst>
          </p:cNvPr>
          <p:cNvSpPr/>
          <p:nvPr/>
        </p:nvSpPr>
        <p:spPr bwMode="auto">
          <a:xfrm>
            <a:off x="6308932" y="548680"/>
            <a:ext cx="2079492" cy="1740414"/>
          </a:xfrm>
          <a:prstGeom prst="ellipse">
            <a:avLst/>
          </a:prstGeom>
          <a:noFill/>
          <a:ln w="63500" cap="flat" cmpd="sng" algn="ctr">
            <a:solidFill>
              <a:srgbClr val="CC00C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5F1E5998-CBD2-4E4C-96EE-4B1A55B30CA2}"/>
              </a:ext>
            </a:extLst>
          </p:cNvPr>
          <p:cNvSpPr txBox="1">
            <a:spLocks/>
          </p:cNvSpPr>
          <p:nvPr/>
        </p:nvSpPr>
        <p:spPr bwMode="auto">
          <a:xfrm>
            <a:off x="3989702" y="3501008"/>
            <a:ext cx="4830770" cy="27114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Calibri" pitchFamily="34" charset="0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Calibri" pitchFamily="34" charset="0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SG" kern="0" dirty="0"/>
              <a:t>Sue receives privilege only from Jim</a:t>
            </a:r>
          </a:p>
          <a:p>
            <a:r>
              <a:rPr lang="en-SG" kern="0" dirty="0"/>
              <a:t>Since </a:t>
            </a:r>
            <a:r>
              <a:rPr lang="en-SG" kern="0" dirty="0" err="1"/>
              <a:t>Jim</a:t>
            </a:r>
            <a:r>
              <a:rPr lang="en-SG" kern="0" dirty="0" err="1">
                <a:sym typeface="Wingdings" panose="05000000000000000000" pitchFamily="2" charset="2"/>
              </a:rPr>
              <a:t>Sue</a:t>
            </a:r>
            <a:r>
              <a:rPr lang="en-SG" kern="0" dirty="0">
                <a:sym typeface="Wingdings" panose="05000000000000000000" pitchFamily="2" charset="2"/>
              </a:rPr>
              <a:t> is removed, </a:t>
            </a:r>
            <a:r>
              <a:rPr lang="en-SG" kern="0" dirty="0" err="1">
                <a:sym typeface="Wingdings" panose="05000000000000000000" pitchFamily="2" charset="2"/>
              </a:rPr>
              <a:t>SueDave</a:t>
            </a:r>
            <a:r>
              <a:rPr lang="en-SG" kern="0" dirty="0">
                <a:sym typeface="Wingdings" panose="05000000000000000000" pitchFamily="2" charset="2"/>
              </a:rPr>
              <a:t> should also be removed</a:t>
            </a:r>
            <a:endParaRPr lang="en-SG" kern="0" dirty="0"/>
          </a:p>
        </p:txBody>
      </p:sp>
    </p:spTree>
    <p:extLst>
      <p:ext uri="{BB962C8B-B14F-4D97-AF65-F5344CB8AC3E}">
        <p14:creationId xmlns:p14="http://schemas.microsoft.com/office/powerpoint/2010/main" val="4132378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517D4-587B-4EFE-BB76-8A8EF3E2B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/>
              <a:t>Drawbacks of Recursive Revocation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311BA-06CA-463F-9F06-7FF3E60AB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It could be rather disruptive</a:t>
            </a:r>
          </a:p>
          <a:p>
            <a:pPr lvl="1"/>
            <a:r>
              <a:rPr lang="en-SG" dirty="0"/>
              <a:t>The system needs to carefully revoke a potentially long list of privileges, which could incur considerable overheads</a:t>
            </a:r>
          </a:p>
          <a:p>
            <a:pPr lvl="1"/>
            <a:r>
              <a:rPr lang="en-SG" dirty="0"/>
              <a:t>The revocations may invalidate a large number of applications, disrupting the services replying upon those applications.</a:t>
            </a:r>
          </a:p>
          <a:p>
            <a:r>
              <a:rPr lang="en-SG" dirty="0"/>
              <a:t>This motivates the </a:t>
            </a:r>
            <a:r>
              <a:rPr lang="en-SG" i="1" dirty="0"/>
              <a:t>non-cascading revocation</a:t>
            </a:r>
            <a:r>
              <a:rPr lang="en-SG" dirty="0"/>
              <a:t> approach</a:t>
            </a:r>
          </a:p>
        </p:txBody>
      </p:sp>
    </p:spTree>
    <p:extLst>
      <p:ext uri="{BB962C8B-B14F-4D97-AF65-F5344CB8AC3E}">
        <p14:creationId xmlns:p14="http://schemas.microsoft.com/office/powerpoint/2010/main" val="418207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0CBFA-8920-4647-842B-97A13C820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Non-Cascading Revocation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B3D9D-DE55-4B40-B61D-73023641F8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2"/>
            <a:ext cx="8229600" cy="4530725"/>
          </a:xfrm>
        </p:spPr>
        <p:txBody>
          <a:bodyPr/>
          <a:lstStyle/>
          <a:p>
            <a:r>
              <a:rPr lang="en-SG" dirty="0"/>
              <a:t>When a user A revokes a privilege from another user B, the relevant privileges that B grants to others are restated as if they are granted by user A</a:t>
            </a:r>
          </a:p>
          <a:p>
            <a:r>
              <a:rPr lang="en-SG" dirty="0"/>
              <a:t>Example: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6626E04-D4B3-4493-A7AE-C9F2D65D6EAB}"/>
              </a:ext>
            </a:extLst>
          </p:cNvPr>
          <p:cNvSpPr/>
          <p:nvPr/>
        </p:nvSpPr>
        <p:spPr bwMode="auto">
          <a:xfrm>
            <a:off x="611560" y="5112514"/>
            <a:ext cx="504056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A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9C67ED1-D29E-4E12-826B-74DD8EE7B08E}"/>
              </a:ext>
            </a:extLst>
          </p:cNvPr>
          <p:cNvSpPr/>
          <p:nvPr/>
        </p:nvSpPr>
        <p:spPr bwMode="auto">
          <a:xfrm>
            <a:off x="1661910" y="4458200"/>
            <a:ext cx="533826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B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FA99130-FD31-4C71-A963-6271971F49E4}"/>
              </a:ext>
            </a:extLst>
          </p:cNvPr>
          <p:cNvSpPr/>
          <p:nvPr/>
        </p:nvSpPr>
        <p:spPr bwMode="auto">
          <a:xfrm>
            <a:off x="2706026" y="5112514"/>
            <a:ext cx="504056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C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C006249-1440-4E5E-90BA-2D63E2023D6E}"/>
              </a:ext>
            </a:extLst>
          </p:cNvPr>
          <p:cNvCxnSpPr>
            <a:cxnSpLocks/>
            <a:stCxn id="4" idx="0"/>
            <a:endCxn id="5" idx="1"/>
          </p:cNvCxnSpPr>
          <p:nvPr/>
        </p:nvCxnSpPr>
        <p:spPr bwMode="auto">
          <a:xfrm flipV="1">
            <a:off x="863588" y="4696563"/>
            <a:ext cx="798322" cy="41595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68C6946-D657-4237-9618-2046AEF40687}"/>
              </a:ext>
            </a:extLst>
          </p:cNvPr>
          <p:cNvCxnSpPr>
            <a:cxnSpLocks/>
            <a:stCxn id="5" idx="3"/>
            <a:endCxn id="6" idx="0"/>
          </p:cNvCxnSpPr>
          <p:nvPr/>
        </p:nvCxnSpPr>
        <p:spPr bwMode="auto">
          <a:xfrm>
            <a:off x="2195736" y="4696563"/>
            <a:ext cx="762318" cy="41595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2809D77-8821-4567-99B1-BDCC95AE34E8}"/>
              </a:ext>
            </a:extLst>
          </p:cNvPr>
          <p:cNvCxnSpPr/>
          <p:nvPr/>
        </p:nvCxnSpPr>
        <p:spPr bwMode="auto">
          <a:xfrm>
            <a:off x="1115616" y="4696563"/>
            <a:ext cx="360040" cy="36004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848A72C-C58F-4289-9C04-A10674601858}"/>
              </a:ext>
            </a:extLst>
          </p:cNvPr>
          <p:cNvCxnSpPr>
            <a:cxnSpLocks/>
          </p:cNvCxnSpPr>
          <p:nvPr/>
        </p:nvCxnSpPr>
        <p:spPr bwMode="auto">
          <a:xfrm flipV="1">
            <a:off x="1115616" y="4696563"/>
            <a:ext cx="360040" cy="36004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CC307F63-FB08-43D4-8257-B2CD5D086A29}"/>
              </a:ext>
            </a:extLst>
          </p:cNvPr>
          <p:cNvSpPr/>
          <p:nvPr/>
        </p:nvSpPr>
        <p:spPr bwMode="auto">
          <a:xfrm>
            <a:off x="3491880" y="4696563"/>
            <a:ext cx="2088232" cy="415951"/>
          </a:xfrm>
          <a:prstGeom prst="rightArrow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BAD8435-C333-4528-AEAC-BFA185041375}"/>
              </a:ext>
            </a:extLst>
          </p:cNvPr>
          <p:cNvSpPr/>
          <p:nvPr/>
        </p:nvSpPr>
        <p:spPr bwMode="auto">
          <a:xfrm>
            <a:off x="5864945" y="5112514"/>
            <a:ext cx="504056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A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98EF864-2FCA-4899-A75F-989BB6227C60}"/>
              </a:ext>
            </a:extLst>
          </p:cNvPr>
          <p:cNvSpPr/>
          <p:nvPr/>
        </p:nvSpPr>
        <p:spPr bwMode="auto">
          <a:xfrm>
            <a:off x="6915295" y="4458200"/>
            <a:ext cx="533826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B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DF754A1-E979-47F2-9183-09B73ABDB50E}"/>
              </a:ext>
            </a:extLst>
          </p:cNvPr>
          <p:cNvSpPr/>
          <p:nvPr/>
        </p:nvSpPr>
        <p:spPr bwMode="auto">
          <a:xfrm>
            <a:off x="7959411" y="5112514"/>
            <a:ext cx="504056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C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871E83F-7A04-4BE4-9FC3-D0DF0DDD15F5}"/>
              </a:ext>
            </a:extLst>
          </p:cNvPr>
          <p:cNvCxnSpPr>
            <a:cxnSpLocks/>
            <a:stCxn id="21" idx="3"/>
            <a:endCxn id="23" idx="1"/>
          </p:cNvCxnSpPr>
          <p:nvPr/>
        </p:nvCxnSpPr>
        <p:spPr bwMode="auto">
          <a:xfrm>
            <a:off x="6369001" y="5350877"/>
            <a:ext cx="159041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3765414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0CBFA-8920-4647-842B-97A13C820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Non-Cascading Revocation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B3D9D-DE55-4B40-B61D-73023641F8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2"/>
            <a:ext cx="8229600" cy="4530725"/>
          </a:xfrm>
        </p:spPr>
        <p:txBody>
          <a:bodyPr/>
          <a:lstStyle/>
          <a:p>
            <a:r>
              <a:rPr lang="en-SG" dirty="0"/>
              <a:t>How to implement non-cascading revocation?</a:t>
            </a:r>
          </a:p>
          <a:p>
            <a:r>
              <a:rPr lang="en-SG" dirty="0"/>
              <a:t>We can still use timestamps.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6626E04-D4B3-4493-A7AE-C9F2D65D6EAB}"/>
              </a:ext>
            </a:extLst>
          </p:cNvPr>
          <p:cNvSpPr/>
          <p:nvPr/>
        </p:nvSpPr>
        <p:spPr bwMode="auto">
          <a:xfrm>
            <a:off x="611560" y="5112514"/>
            <a:ext cx="504056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A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9C67ED1-D29E-4E12-826B-74DD8EE7B08E}"/>
              </a:ext>
            </a:extLst>
          </p:cNvPr>
          <p:cNvSpPr/>
          <p:nvPr/>
        </p:nvSpPr>
        <p:spPr bwMode="auto">
          <a:xfrm>
            <a:off x="1661910" y="4458200"/>
            <a:ext cx="533826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B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FA99130-FD31-4C71-A963-6271971F49E4}"/>
              </a:ext>
            </a:extLst>
          </p:cNvPr>
          <p:cNvSpPr/>
          <p:nvPr/>
        </p:nvSpPr>
        <p:spPr bwMode="auto">
          <a:xfrm>
            <a:off x="2706026" y="5112514"/>
            <a:ext cx="504056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C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C006249-1440-4E5E-90BA-2D63E2023D6E}"/>
              </a:ext>
            </a:extLst>
          </p:cNvPr>
          <p:cNvCxnSpPr>
            <a:cxnSpLocks/>
            <a:stCxn id="4" idx="0"/>
            <a:endCxn id="5" idx="1"/>
          </p:cNvCxnSpPr>
          <p:nvPr/>
        </p:nvCxnSpPr>
        <p:spPr bwMode="auto">
          <a:xfrm flipV="1">
            <a:off x="863588" y="4696563"/>
            <a:ext cx="798322" cy="41595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68C6946-D657-4237-9618-2046AEF40687}"/>
              </a:ext>
            </a:extLst>
          </p:cNvPr>
          <p:cNvCxnSpPr>
            <a:cxnSpLocks/>
            <a:stCxn id="5" idx="3"/>
            <a:endCxn id="6" idx="0"/>
          </p:cNvCxnSpPr>
          <p:nvPr/>
        </p:nvCxnSpPr>
        <p:spPr bwMode="auto">
          <a:xfrm>
            <a:off x="2195736" y="4696563"/>
            <a:ext cx="762318" cy="41595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2809D77-8821-4567-99B1-BDCC95AE34E8}"/>
              </a:ext>
            </a:extLst>
          </p:cNvPr>
          <p:cNvCxnSpPr/>
          <p:nvPr/>
        </p:nvCxnSpPr>
        <p:spPr bwMode="auto">
          <a:xfrm>
            <a:off x="1115616" y="4696563"/>
            <a:ext cx="360040" cy="36004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848A72C-C58F-4289-9C04-A10674601858}"/>
              </a:ext>
            </a:extLst>
          </p:cNvPr>
          <p:cNvCxnSpPr>
            <a:cxnSpLocks/>
          </p:cNvCxnSpPr>
          <p:nvPr/>
        </p:nvCxnSpPr>
        <p:spPr bwMode="auto">
          <a:xfrm flipV="1">
            <a:off x="1115616" y="4696563"/>
            <a:ext cx="360040" cy="36004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CC307F63-FB08-43D4-8257-B2CD5D086A29}"/>
              </a:ext>
            </a:extLst>
          </p:cNvPr>
          <p:cNvSpPr/>
          <p:nvPr/>
        </p:nvSpPr>
        <p:spPr bwMode="auto">
          <a:xfrm>
            <a:off x="3491880" y="4696563"/>
            <a:ext cx="2088232" cy="415951"/>
          </a:xfrm>
          <a:prstGeom prst="rightArrow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BAD8435-C333-4528-AEAC-BFA185041375}"/>
              </a:ext>
            </a:extLst>
          </p:cNvPr>
          <p:cNvSpPr/>
          <p:nvPr/>
        </p:nvSpPr>
        <p:spPr bwMode="auto">
          <a:xfrm>
            <a:off x="5864945" y="5112514"/>
            <a:ext cx="504056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A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98EF864-2FCA-4899-A75F-989BB6227C60}"/>
              </a:ext>
            </a:extLst>
          </p:cNvPr>
          <p:cNvSpPr/>
          <p:nvPr/>
        </p:nvSpPr>
        <p:spPr bwMode="auto">
          <a:xfrm>
            <a:off x="6915295" y="4458200"/>
            <a:ext cx="533826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B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DF754A1-E979-47F2-9183-09B73ABDB50E}"/>
              </a:ext>
            </a:extLst>
          </p:cNvPr>
          <p:cNvSpPr/>
          <p:nvPr/>
        </p:nvSpPr>
        <p:spPr bwMode="auto">
          <a:xfrm>
            <a:off x="7959411" y="5112514"/>
            <a:ext cx="504056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C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871E83F-7A04-4BE4-9FC3-D0DF0DDD15F5}"/>
              </a:ext>
            </a:extLst>
          </p:cNvPr>
          <p:cNvCxnSpPr>
            <a:cxnSpLocks/>
            <a:stCxn id="21" idx="3"/>
            <a:endCxn id="23" idx="1"/>
          </p:cNvCxnSpPr>
          <p:nvPr/>
        </p:nvCxnSpPr>
        <p:spPr bwMode="auto">
          <a:xfrm>
            <a:off x="6369001" y="5350877"/>
            <a:ext cx="159041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2923560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51C41-B18B-461E-95F7-9030AB70E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Previous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FC4D6-104E-476E-9A8C-57A0FD9D8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40"/>
            <a:ext cx="3466728" cy="4713287"/>
          </a:xfrm>
        </p:spPr>
        <p:txBody>
          <a:bodyPr>
            <a:normAutofit fontScale="92500" lnSpcReduction="20000"/>
          </a:bodyPr>
          <a:lstStyle/>
          <a:p>
            <a:r>
              <a:rPr lang="en-SG" dirty="0"/>
              <a:t>Bob is the owner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Bob grants Ann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Bob grants Cath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Ann grants Jim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Jim grants Sue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Cath grants Jim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Jim grants Pat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Sue grants Dave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Ann revokes Jim</a:t>
            </a:r>
          </a:p>
          <a:p>
            <a:pPr marL="0" indent="0">
              <a:buNone/>
            </a:pPr>
            <a:r>
              <a:rPr lang="en-SG" dirty="0"/>
              <a:t> 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9D09DF5-416C-4050-8651-2B6B1079EA02}"/>
              </a:ext>
            </a:extLst>
          </p:cNvPr>
          <p:cNvSpPr/>
          <p:nvPr/>
        </p:nvSpPr>
        <p:spPr bwMode="auto">
          <a:xfrm>
            <a:off x="3989702" y="177281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Bob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BB2DED8-FA3C-4132-A649-0D4E9CD30E85}"/>
              </a:ext>
            </a:extLst>
          </p:cNvPr>
          <p:cNvSpPr/>
          <p:nvPr/>
        </p:nvSpPr>
        <p:spPr bwMode="auto">
          <a:xfrm>
            <a:off x="5040052" y="1118502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Ann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4D4CA32-6499-4518-B09D-6FD2C7EF8F1C}"/>
              </a:ext>
            </a:extLst>
          </p:cNvPr>
          <p:cNvSpPr/>
          <p:nvPr/>
        </p:nvSpPr>
        <p:spPr bwMode="auto">
          <a:xfrm>
            <a:off x="5040052" y="2441346"/>
            <a:ext cx="864096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Cath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89312C8-6691-43B4-9108-0DD751C112EA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 bwMode="auto">
          <a:xfrm>
            <a:off x="4637774" y="2011179"/>
            <a:ext cx="402278" cy="66853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451BDCE-2507-4CE0-A647-EFD563DE115F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 bwMode="auto">
          <a:xfrm flipV="1">
            <a:off x="4637774" y="1356865"/>
            <a:ext cx="402278" cy="65431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93CA7CC-B722-489F-BF71-14D17F05E32B}"/>
              </a:ext>
            </a:extLst>
          </p:cNvPr>
          <p:cNvSpPr/>
          <p:nvPr/>
        </p:nvSpPr>
        <p:spPr bwMode="auto">
          <a:xfrm>
            <a:off x="6084168" y="177281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Jim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61C89C1-87D6-47AF-A4B4-F26BF1419846}"/>
              </a:ext>
            </a:extLst>
          </p:cNvPr>
          <p:cNvSpPr/>
          <p:nvPr/>
        </p:nvSpPr>
        <p:spPr bwMode="auto">
          <a:xfrm>
            <a:off x="6958283" y="1118502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Sue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79B3CF6-131C-432F-995A-87FCEA535338}"/>
              </a:ext>
            </a:extLst>
          </p:cNvPr>
          <p:cNvSpPr/>
          <p:nvPr/>
        </p:nvSpPr>
        <p:spPr bwMode="auto">
          <a:xfrm>
            <a:off x="6958283" y="244134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Pat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BE2DE4B-D5A7-421A-BE08-E9A1A9469D99}"/>
              </a:ext>
            </a:extLst>
          </p:cNvPr>
          <p:cNvSpPr/>
          <p:nvPr/>
        </p:nvSpPr>
        <p:spPr bwMode="auto">
          <a:xfrm>
            <a:off x="8156153" y="1118502"/>
            <a:ext cx="808335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Dave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72AAC69-8D5E-4920-80D9-6920CD0557A2}"/>
              </a:ext>
            </a:extLst>
          </p:cNvPr>
          <p:cNvCxnSpPr>
            <a:cxnSpLocks/>
            <a:stCxn id="11" idx="3"/>
            <a:endCxn id="25" idx="0"/>
          </p:cNvCxnSpPr>
          <p:nvPr/>
        </p:nvCxnSpPr>
        <p:spPr bwMode="auto">
          <a:xfrm>
            <a:off x="5688124" y="1356865"/>
            <a:ext cx="720080" cy="41595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CA6220B-CF44-40B4-8480-DD638BFCC288}"/>
              </a:ext>
            </a:extLst>
          </p:cNvPr>
          <p:cNvCxnSpPr>
            <a:cxnSpLocks/>
            <a:stCxn id="12" idx="3"/>
            <a:endCxn id="25" idx="2"/>
          </p:cNvCxnSpPr>
          <p:nvPr/>
        </p:nvCxnSpPr>
        <p:spPr bwMode="auto">
          <a:xfrm flipV="1">
            <a:off x="5904148" y="2249542"/>
            <a:ext cx="504056" cy="43016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0BEA261-42D1-4BA5-A298-EF0953A6EEAC}"/>
              </a:ext>
            </a:extLst>
          </p:cNvPr>
          <p:cNvCxnSpPr>
            <a:cxnSpLocks/>
            <a:stCxn id="25" idx="3"/>
            <a:endCxn id="26" idx="2"/>
          </p:cNvCxnSpPr>
          <p:nvPr/>
        </p:nvCxnSpPr>
        <p:spPr bwMode="auto">
          <a:xfrm flipV="1">
            <a:off x="6732240" y="1595228"/>
            <a:ext cx="550079" cy="41595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926ED25-1044-4F43-9C42-687320FFF2EB}"/>
              </a:ext>
            </a:extLst>
          </p:cNvPr>
          <p:cNvCxnSpPr>
            <a:cxnSpLocks/>
            <a:stCxn id="25" idx="3"/>
          </p:cNvCxnSpPr>
          <p:nvPr/>
        </p:nvCxnSpPr>
        <p:spPr bwMode="auto">
          <a:xfrm>
            <a:off x="6732240" y="2011179"/>
            <a:ext cx="648072" cy="42473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98E5995-14C6-41FD-AF7F-1A2127E1B448}"/>
              </a:ext>
            </a:extLst>
          </p:cNvPr>
          <p:cNvCxnSpPr>
            <a:cxnSpLocks/>
            <a:stCxn id="26" idx="3"/>
            <a:endCxn id="30" idx="1"/>
          </p:cNvCxnSpPr>
          <p:nvPr/>
        </p:nvCxnSpPr>
        <p:spPr bwMode="auto">
          <a:xfrm>
            <a:off x="7606355" y="1356865"/>
            <a:ext cx="549798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B8ECDDA1-2576-4CC9-B680-2C0A2F6C1168}"/>
              </a:ext>
            </a:extLst>
          </p:cNvPr>
          <p:cNvSpPr/>
          <p:nvPr/>
        </p:nvSpPr>
        <p:spPr>
          <a:xfrm>
            <a:off x="4539781" y="1210044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SG" sz="28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F7F9799-E462-4283-BAD6-71E50D880117}"/>
              </a:ext>
            </a:extLst>
          </p:cNvPr>
          <p:cNvSpPr/>
          <p:nvPr/>
        </p:nvSpPr>
        <p:spPr>
          <a:xfrm>
            <a:off x="4506227" y="2289094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SG" sz="28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73E9591-B9FA-4CAB-A6DC-C219CF199516}"/>
              </a:ext>
            </a:extLst>
          </p:cNvPr>
          <p:cNvSpPr/>
          <p:nvPr/>
        </p:nvSpPr>
        <p:spPr>
          <a:xfrm>
            <a:off x="5875558" y="1041620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SG" sz="28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E260910-D414-4499-BCE7-FDF321515511}"/>
              </a:ext>
            </a:extLst>
          </p:cNvPr>
          <p:cNvSpPr/>
          <p:nvPr/>
        </p:nvSpPr>
        <p:spPr>
          <a:xfrm>
            <a:off x="6595638" y="1356865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en-SG" sz="28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F60C068-C89F-47E3-8191-EA293AE07B22}"/>
              </a:ext>
            </a:extLst>
          </p:cNvPr>
          <p:cNvSpPr/>
          <p:nvPr/>
        </p:nvSpPr>
        <p:spPr>
          <a:xfrm>
            <a:off x="5970114" y="2435915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endParaRPr lang="en-SG" sz="28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28D144-38C1-47C5-A048-E3F97375A95E}"/>
              </a:ext>
            </a:extLst>
          </p:cNvPr>
          <p:cNvSpPr/>
          <p:nvPr/>
        </p:nvSpPr>
        <p:spPr>
          <a:xfrm>
            <a:off x="6683960" y="2057673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endParaRPr lang="en-SG" sz="28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80B9053-E0F0-4A59-8CFE-DEF6770FDD1B}"/>
              </a:ext>
            </a:extLst>
          </p:cNvPr>
          <p:cNvSpPr/>
          <p:nvPr/>
        </p:nvSpPr>
        <p:spPr>
          <a:xfrm>
            <a:off x="7648694" y="817548"/>
            <a:ext cx="3674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  <a:endParaRPr lang="en-SG" sz="2800" dirty="0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53C931AA-2D5A-4669-9585-0417DCDA1300}"/>
              </a:ext>
            </a:extLst>
          </p:cNvPr>
          <p:cNvSpPr/>
          <p:nvPr/>
        </p:nvSpPr>
        <p:spPr bwMode="auto">
          <a:xfrm>
            <a:off x="3995936" y="445627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Bob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5255E9CB-7F20-4E35-ACD0-C750A2769E3E}"/>
              </a:ext>
            </a:extLst>
          </p:cNvPr>
          <p:cNvSpPr/>
          <p:nvPr/>
        </p:nvSpPr>
        <p:spPr bwMode="auto">
          <a:xfrm>
            <a:off x="5046286" y="3801962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Ann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99176F22-5E55-4DBA-94A5-1022D685F039}"/>
              </a:ext>
            </a:extLst>
          </p:cNvPr>
          <p:cNvSpPr/>
          <p:nvPr/>
        </p:nvSpPr>
        <p:spPr bwMode="auto">
          <a:xfrm>
            <a:off x="5046286" y="5124806"/>
            <a:ext cx="864096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Cath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35A5514-84CD-44F8-BAA9-C17A614007F2}"/>
              </a:ext>
            </a:extLst>
          </p:cNvPr>
          <p:cNvCxnSpPr>
            <a:cxnSpLocks/>
            <a:stCxn id="38" idx="3"/>
            <a:endCxn id="40" idx="1"/>
          </p:cNvCxnSpPr>
          <p:nvPr/>
        </p:nvCxnSpPr>
        <p:spPr bwMode="auto">
          <a:xfrm>
            <a:off x="4644008" y="4694639"/>
            <a:ext cx="402278" cy="66853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8BD32B1-3A22-4492-99CC-5C47BAAF3129}"/>
              </a:ext>
            </a:extLst>
          </p:cNvPr>
          <p:cNvCxnSpPr>
            <a:cxnSpLocks/>
            <a:stCxn id="38" idx="3"/>
            <a:endCxn id="39" idx="1"/>
          </p:cNvCxnSpPr>
          <p:nvPr/>
        </p:nvCxnSpPr>
        <p:spPr bwMode="auto">
          <a:xfrm flipV="1">
            <a:off x="4644008" y="4040325"/>
            <a:ext cx="402278" cy="65431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AA49223B-3A82-4823-83FB-78FDA541B8E1}"/>
              </a:ext>
            </a:extLst>
          </p:cNvPr>
          <p:cNvSpPr/>
          <p:nvPr/>
        </p:nvSpPr>
        <p:spPr bwMode="auto">
          <a:xfrm>
            <a:off x="6090402" y="445627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Jim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258790DF-5480-4C4D-9693-B8B0315280EE}"/>
              </a:ext>
            </a:extLst>
          </p:cNvPr>
          <p:cNvSpPr/>
          <p:nvPr/>
        </p:nvSpPr>
        <p:spPr bwMode="auto">
          <a:xfrm>
            <a:off x="6964517" y="3801962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Sue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4D8086A7-E810-46E6-908E-D49AE27C93ED}"/>
              </a:ext>
            </a:extLst>
          </p:cNvPr>
          <p:cNvSpPr/>
          <p:nvPr/>
        </p:nvSpPr>
        <p:spPr bwMode="auto">
          <a:xfrm>
            <a:off x="6964517" y="512480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Pat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B3613566-2CA6-4C22-9D02-4BD589921188}"/>
              </a:ext>
            </a:extLst>
          </p:cNvPr>
          <p:cNvSpPr/>
          <p:nvPr/>
        </p:nvSpPr>
        <p:spPr bwMode="auto">
          <a:xfrm>
            <a:off x="8162387" y="3801962"/>
            <a:ext cx="808335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Dave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DBF538D-0C93-473B-9338-426A14541E53}"/>
              </a:ext>
            </a:extLst>
          </p:cNvPr>
          <p:cNvCxnSpPr>
            <a:cxnSpLocks/>
            <a:stCxn id="40" idx="3"/>
            <a:endCxn id="45" idx="2"/>
          </p:cNvCxnSpPr>
          <p:nvPr/>
        </p:nvCxnSpPr>
        <p:spPr bwMode="auto">
          <a:xfrm flipV="1">
            <a:off x="5910382" y="4933002"/>
            <a:ext cx="504056" cy="43016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4DEDC72-EC47-40BE-A7C6-9473AF714D07}"/>
              </a:ext>
            </a:extLst>
          </p:cNvPr>
          <p:cNvCxnSpPr>
            <a:cxnSpLocks/>
            <a:stCxn id="45" idx="3"/>
            <a:endCxn id="46" idx="2"/>
          </p:cNvCxnSpPr>
          <p:nvPr/>
        </p:nvCxnSpPr>
        <p:spPr bwMode="auto">
          <a:xfrm flipV="1">
            <a:off x="6738474" y="4278688"/>
            <a:ext cx="550079" cy="41595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D09436A-D64A-4D03-AD3D-781CBCB209BD}"/>
              </a:ext>
            </a:extLst>
          </p:cNvPr>
          <p:cNvCxnSpPr>
            <a:cxnSpLocks/>
            <a:stCxn id="45" idx="3"/>
          </p:cNvCxnSpPr>
          <p:nvPr/>
        </p:nvCxnSpPr>
        <p:spPr bwMode="auto">
          <a:xfrm>
            <a:off x="6738474" y="4694639"/>
            <a:ext cx="648072" cy="42473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6746DCC-DB4E-4FEA-9256-3C153D25CAE6}"/>
              </a:ext>
            </a:extLst>
          </p:cNvPr>
          <p:cNvCxnSpPr>
            <a:cxnSpLocks/>
            <a:stCxn id="46" idx="3"/>
            <a:endCxn id="49" idx="1"/>
          </p:cNvCxnSpPr>
          <p:nvPr/>
        </p:nvCxnSpPr>
        <p:spPr bwMode="auto">
          <a:xfrm>
            <a:off x="7612589" y="4040325"/>
            <a:ext cx="549798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746EC548-D8A5-459E-9321-85515B2522E5}"/>
              </a:ext>
            </a:extLst>
          </p:cNvPr>
          <p:cNvSpPr/>
          <p:nvPr/>
        </p:nvSpPr>
        <p:spPr>
          <a:xfrm>
            <a:off x="4546015" y="3893504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SG" sz="280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9D8C35E-5811-4E73-B51C-5A0958D1A6E2}"/>
              </a:ext>
            </a:extLst>
          </p:cNvPr>
          <p:cNvSpPr/>
          <p:nvPr/>
        </p:nvSpPr>
        <p:spPr>
          <a:xfrm>
            <a:off x="4512461" y="4972554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SG" sz="280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1746DDD-E0BB-491F-90D5-0BE1193C8A9E}"/>
              </a:ext>
            </a:extLst>
          </p:cNvPr>
          <p:cNvSpPr/>
          <p:nvPr/>
        </p:nvSpPr>
        <p:spPr>
          <a:xfrm>
            <a:off x="6601872" y="4040325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en-SG" sz="2800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543D626-634F-43BE-86F5-D91A11E34272}"/>
              </a:ext>
            </a:extLst>
          </p:cNvPr>
          <p:cNvSpPr/>
          <p:nvPr/>
        </p:nvSpPr>
        <p:spPr>
          <a:xfrm>
            <a:off x="5976348" y="5119375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endParaRPr lang="en-SG" sz="280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9FDF4BF-0845-4C7C-B2FD-E7265DB97EB9}"/>
              </a:ext>
            </a:extLst>
          </p:cNvPr>
          <p:cNvSpPr/>
          <p:nvPr/>
        </p:nvSpPr>
        <p:spPr>
          <a:xfrm>
            <a:off x="6690194" y="4741133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endParaRPr lang="en-SG" sz="2800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3EFFDBD-FFB8-4982-9D27-D370AC9BEF30}"/>
              </a:ext>
            </a:extLst>
          </p:cNvPr>
          <p:cNvSpPr/>
          <p:nvPr/>
        </p:nvSpPr>
        <p:spPr>
          <a:xfrm>
            <a:off x="7654928" y="3501008"/>
            <a:ext cx="3674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  <a:endParaRPr lang="en-SG" sz="2800" dirty="0"/>
          </a:p>
        </p:txBody>
      </p:sp>
    </p:spTree>
    <p:extLst>
      <p:ext uri="{BB962C8B-B14F-4D97-AF65-F5344CB8AC3E}">
        <p14:creationId xmlns:p14="http://schemas.microsoft.com/office/powerpoint/2010/main" val="2823097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5" grpId="0" animBg="1"/>
      <p:bldP spid="46" grpId="0" animBg="1"/>
      <p:bldP spid="48" grpId="0" animBg="1"/>
      <p:bldP spid="49" grpId="0" animBg="1"/>
      <p:bldP spid="55" grpId="0"/>
      <p:bldP spid="56" grpId="0"/>
      <p:bldP spid="58" grpId="0"/>
      <p:bldP spid="59" grpId="0"/>
      <p:bldP spid="60" grpId="0"/>
      <p:bldP spid="6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51C41-B18B-461E-95F7-9030AB70E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Previous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FC4D6-104E-476E-9A8C-57A0FD9D8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40"/>
            <a:ext cx="3466728" cy="4713287"/>
          </a:xfrm>
        </p:spPr>
        <p:txBody>
          <a:bodyPr>
            <a:normAutofit fontScale="92500" lnSpcReduction="20000"/>
          </a:bodyPr>
          <a:lstStyle/>
          <a:p>
            <a:r>
              <a:rPr lang="en-SG" dirty="0"/>
              <a:t>Bob is the owner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Bob grants Ann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Bob grants Cath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Ann grants Jim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Jim grants Sue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Cath grants Jim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Jim grants Pat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Sue grants Dave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Ann revokes Jim</a:t>
            </a:r>
          </a:p>
          <a:p>
            <a:pPr marL="0" indent="0">
              <a:buNone/>
            </a:pPr>
            <a:r>
              <a:rPr lang="en-SG" dirty="0"/>
              <a:t> 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9D09DF5-416C-4050-8651-2B6B1079EA02}"/>
              </a:ext>
            </a:extLst>
          </p:cNvPr>
          <p:cNvSpPr/>
          <p:nvPr/>
        </p:nvSpPr>
        <p:spPr bwMode="auto">
          <a:xfrm>
            <a:off x="3989702" y="177281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Bob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BB2DED8-FA3C-4132-A649-0D4E9CD30E85}"/>
              </a:ext>
            </a:extLst>
          </p:cNvPr>
          <p:cNvSpPr/>
          <p:nvPr/>
        </p:nvSpPr>
        <p:spPr bwMode="auto">
          <a:xfrm>
            <a:off x="5040052" y="1118502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Ann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4D4CA32-6499-4518-B09D-6FD2C7EF8F1C}"/>
              </a:ext>
            </a:extLst>
          </p:cNvPr>
          <p:cNvSpPr/>
          <p:nvPr/>
        </p:nvSpPr>
        <p:spPr bwMode="auto">
          <a:xfrm>
            <a:off x="5040052" y="2441346"/>
            <a:ext cx="864096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Cath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89312C8-6691-43B4-9108-0DD751C112EA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 bwMode="auto">
          <a:xfrm>
            <a:off x="4637774" y="2011179"/>
            <a:ext cx="402278" cy="66853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451BDCE-2507-4CE0-A647-EFD563DE115F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 bwMode="auto">
          <a:xfrm flipV="1">
            <a:off x="4637774" y="1356865"/>
            <a:ext cx="402278" cy="65431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93CA7CC-B722-489F-BF71-14D17F05E32B}"/>
              </a:ext>
            </a:extLst>
          </p:cNvPr>
          <p:cNvSpPr/>
          <p:nvPr/>
        </p:nvSpPr>
        <p:spPr bwMode="auto">
          <a:xfrm>
            <a:off x="6084168" y="177281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Jim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61C89C1-87D6-47AF-A4B4-F26BF1419846}"/>
              </a:ext>
            </a:extLst>
          </p:cNvPr>
          <p:cNvSpPr/>
          <p:nvPr/>
        </p:nvSpPr>
        <p:spPr bwMode="auto">
          <a:xfrm>
            <a:off x="6958283" y="1118502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Sue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79B3CF6-131C-432F-995A-87FCEA535338}"/>
              </a:ext>
            </a:extLst>
          </p:cNvPr>
          <p:cNvSpPr/>
          <p:nvPr/>
        </p:nvSpPr>
        <p:spPr bwMode="auto">
          <a:xfrm>
            <a:off x="6958283" y="244134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Pat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BE2DE4B-D5A7-421A-BE08-E9A1A9469D99}"/>
              </a:ext>
            </a:extLst>
          </p:cNvPr>
          <p:cNvSpPr/>
          <p:nvPr/>
        </p:nvSpPr>
        <p:spPr bwMode="auto">
          <a:xfrm>
            <a:off x="8156153" y="1118502"/>
            <a:ext cx="808335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Dave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72AAC69-8D5E-4920-80D9-6920CD0557A2}"/>
              </a:ext>
            </a:extLst>
          </p:cNvPr>
          <p:cNvCxnSpPr>
            <a:cxnSpLocks/>
            <a:stCxn id="11" idx="3"/>
            <a:endCxn id="25" idx="0"/>
          </p:cNvCxnSpPr>
          <p:nvPr/>
        </p:nvCxnSpPr>
        <p:spPr bwMode="auto">
          <a:xfrm>
            <a:off x="5688124" y="1356865"/>
            <a:ext cx="720080" cy="41595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CA6220B-CF44-40B4-8480-DD638BFCC288}"/>
              </a:ext>
            </a:extLst>
          </p:cNvPr>
          <p:cNvCxnSpPr>
            <a:cxnSpLocks/>
            <a:stCxn id="12" idx="3"/>
            <a:endCxn id="25" idx="2"/>
          </p:cNvCxnSpPr>
          <p:nvPr/>
        </p:nvCxnSpPr>
        <p:spPr bwMode="auto">
          <a:xfrm flipV="1">
            <a:off x="5904148" y="2249542"/>
            <a:ext cx="504056" cy="43016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0BEA261-42D1-4BA5-A298-EF0953A6EEAC}"/>
              </a:ext>
            </a:extLst>
          </p:cNvPr>
          <p:cNvCxnSpPr>
            <a:cxnSpLocks/>
            <a:stCxn id="25" idx="3"/>
            <a:endCxn id="26" idx="2"/>
          </p:cNvCxnSpPr>
          <p:nvPr/>
        </p:nvCxnSpPr>
        <p:spPr bwMode="auto">
          <a:xfrm flipV="1">
            <a:off x="6732240" y="1595228"/>
            <a:ext cx="550079" cy="41595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926ED25-1044-4F43-9C42-687320FFF2EB}"/>
              </a:ext>
            </a:extLst>
          </p:cNvPr>
          <p:cNvCxnSpPr>
            <a:cxnSpLocks/>
            <a:stCxn id="25" idx="3"/>
          </p:cNvCxnSpPr>
          <p:nvPr/>
        </p:nvCxnSpPr>
        <p:spPr bwMode="auto">
          <a:xfrm>
            <a:off x="6732240" y="2011179"/>
            <a:ext cx="648072" cy="42473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98E5995-14C6-41FD-AF7F-1A2127E1B448}"/>
              </a:ext>
            </a:extLst>
          </p:cNvPr>
          <p:cNvCxnSpPr>
            <a:cxnSpLocks/>
            <a:stCxn id="26" idx="3"/>
            <a:endCxn id="30" idx="1"/>
          </p:cNvCxnSpPr>
          <p:nvPr/>
        </p:nvCxnSpPr>
        <p:spPr bwMode="auto">
          <a:xfrm>
            <a:off x="7606355" y="1356865"/>
            <a:ext cx="549798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B8ECDDA1-2576-4CC9-B680-2C0A2F6C1168}"/>
              </a:ext>
            </a:extLst>
          </p:cNvPr>
          <p:cNvSpPr/>
          <p:nvPr/>
        </p:nvSpPr>
        <p:spPr>
          <a:xfrm>
            <a:off x="4539781" y="1210044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SG" sz="28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F7F9799-E462-4283-BAD6-71E50D880117}"/>
              </a:ext>
            </a:extLst>
          </p:cNvPr>
          <p:cNvSpPr/>
          <p:nvPr/>
        </p:nvSpPr>
        <p:spPr>
          <a:xfrm>
            <a:off x="4506227" y="2289094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SG" sz="28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73E9591-B9FA-4CAB-A6DC-C219CF199516}"/>
              </a:ext>
            </a:extLst>
          </p:cNvPr>
          <p:cNvSpPr/>
          <p:nvPr/>
        </p:nvSpPr>
        <p:spPr>
          <a:xfrm>
            <a:off x="5875558" y="1041620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SG" sz="28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E260910-D414-4499-BCE7-FDF321515511}"/>
              </a:ext>
            </a:extLst>
          </p:cNvPr>
          <p:cNvSpPr/>
          <p:nvPr/>
        </p:nvSpPr>
        <p:spPr>
          <a:xfrm>
            <a:off x="6595638" y="1356865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en-SG" sz="28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F60C068-C89F-47E3-8191-EA293AE07B22}"/>
              </a:ext>
            </a:extLst>
          </p:cNvPr>
          <p:cNvSpPr/>
          <p:nvPr/>
        </p:nvSpPr>
        <p:spPr>
          <a:xfrm>
            <a:off x="5970114" y="2435915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endParaRPr lang="en-SG" sz="28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28D144-38C1-47C5-A048-E3F97375A95E}"/>
              </a:ext>
            </a:extLst>
          </p:cNvPr>
          <p:cNvSpPr/>
          <p:nvPr/>
        </p:nvSpPr>
        <p:spPr>
          <a:xfrm>
            <a:off x="6683960" y="2057673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endParaRPr lang="en-SG" sz="28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80B9053-E0F0-4A59-8CFE-DEF6770FDD1B}"/>
              </a:ext>
            </a:extLst>
          </p:cNvPr>
          <p:cNvSpPr/>
          <p:nvPr/>
        </p:nvSpPr>
        <p:spPr>
          <a:xfrm>
            <a:off x="7648694" y="817548"/>
            <a:ext cx="3674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  <a:endParaRPr lang="en-SG" sz="2800" dirty="0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53C931AA-2D5A-4669-9585-0417DCDA1300}"/>
              </a:ext>
            </a:extLst>
          </p:cNvPr>
          <p:cNvSpPr/>
          <p:nvPr/>
        </p:nvSpPr>
        <p:spPr bwMode="auto">
          <a:xfrm>
            <a:off x="3995936" y="445627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Bob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5255E9CB-7F20-4E35-ACD0-C750A2769E3E}"/>
              </a:ext>
            </a:extLst>
          </p:cNvPr>
          <p:cNvSpPr/>
          <p:nvPr/>
        </p:nvSpPr>
        <p:spPr bwMode="auto">
          <a:xfrm>
            <a:off x="5046286" y="3801962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Ann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99176F22-5E55-4DBA-94A5-1022D685F039}"/>
              </a:ext>
            </a:extLst>
          </p:cNvPr>
          <p:cNvSpPr/>
          <p:nvPr/>
        </p:nvSpPr>
        <p:spPr bwMode="auto">
          <a:xfrm>
            <a:off x="5046286" y="5124806"/>
            <a:ext cx="864096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Cath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35A5514-84CD-44F8-BAA9-C17A614007F2}"/>
              </a:ext>
            </a:extLst>
          </p:cNvPr>
          <p:cNvCxnSpPr>
            <a:cxnSpLocks/>
            <a:stCxn id="38" idx="3"/>
            <a:endCxn id="40" idx="1"/>
          </p:cNvCxnSpPr>
          <p:nvPr/>
        </p:nvCxnSpPr>
        <p:spPr bwMode="auto">
          <a:xfrm>
            <a:off x="4644008" y="4694639"/>
            <a:ext cx="402278" cy="66853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8BD32B1-3A22-4492-99CC-5C47BAAF3129}"/>
              </a:ext>
            </a:extLst>
          </p:cNvPr>
          <p:cNvCxnSpPr>
            <a:cxnSpLocks/>
            <a:stCxn id="38" idx="3"/>
            <a:endCxn id="39" idx="1"/>
          </p:cNvCxnSpPr>
          <p:nvPr/>
        </p:nvCxnSpPr>
        <p:spPr bwMode="auto">
          <a:xfrm flipV="1">
            <a:off x="4644008" y="4040325"/>
            <a:ext cx="402278" cy="65431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AA49223B-3A82-4823-83FB-78FDA541B8E1}"/>
              </a:ext>
            </a:extLst>
          </p:cNvPr>
          <p:cNvSpPr/>
          <p:nvPr/>
        </p:nvSpPr>
        <p:spPr bwMode="auto">
          <a:xfrm>
            <a:off x="6090402" y="445627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Jim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258790DF-5480-4C4D-9693-B8B0315280EE}"/>
              </a:ext>
            </a:extLst>
          </p:cNvPr>
          <p:cNvSpPr/>
          <p:nvPr/>
        </p:nvSpPr>
        <p:spPr bwMode="auto">
          <a:xfrm>
            <a:off x="6964517" y="3801962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Sue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4D8086A7-E810-46E6-908E-D49AE27C93ED}"/>
              </a:ext>
            </a:extLst>
          </p:cNvPr>
          <p:cNvSpPr/>
          <p:nvPr/>
        </p:nvSpPr>
        <p:spPr bwMode="auto">
          <a:xfrm>
            <a:off x="6964517" y="512480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Pat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B3613566-2CA6-4C22-9D02-4BD589921188}"/>
              </a:ext>
            </a:extLst>
          </p:cNvPr>
          <p:cNvSpPr/>
          <p:nvPr/>
        </p:nvSpPr>
        <p:spPr bwMode="auto">
          <a:xfrm>
            <a:off x="8162387" y="3801962"/>
            <a:ext cx="808335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Dave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DBF538D-0C93-473B-9338-426A14541E53}"/>
              </a:ext>
            </a:extLst>
          </p:cNvPr>
          <p:cNvCxnSpPr>
            <a:cxnSpLocks/>
            <a:stCxn id="40" idx="3"/>
            <a:endCxn id="45" idx="2"/>
          </p:cNvCxnSpPr>
          <p:nvPr/>
        </p:nvCxnSpPr>
        <p:spPr bwMode="auto">
          <a:xfrm flipV="1">
            <a:off x="5910382" y="4933002"/>
            <a:ext cx="504056" cy="43016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4DEDC72-EC47-40BE-A7C6-9473AF714D07}"/>
              </a:ext>
            </a:extLst>
          </p:cNvPr>
          <p:cNvCxnSpPr>
            <a:cxnSpLocks/>
            <a:stCxn id="39" idx="3"/>
            <a:endCxn id="46" idx="1"/>
          </p:cNvCxnSpPr>
          <p:nvPr/>
        </p:nvCxnSpPr>
        <p:spPr bwMode="auto">
          <a:xfrm>
            <a:off x="5694358" y="4040325"/>
            <a:ext cx="1270159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D09436A-D64A-4D03-AD3D-781CBCB209BD}"/>
              </a:ext>
            </a:extLst>
          </p:cNvPr>
          <p:cNvCxnSpPr>
            <a:cxnSpLocks/>
            <a:stCxn id="45" idx="3"/>
          </p:cNvCxnSpPr>
          <p:nvPr/>
        </p:nvCxnSpPr>
        <p:spPr bwMode="auto">
          <a:xfrm>
            <a:off x="6738474" y="4694639"/>
            <a:ext cx="648072" cy="42473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6746DCC-DB4E-4FEA-9256-3C153D25CAE6}"/>
              </a:ext>
            </a:extLst>
          </p:cNvPr>
          <p:cNvCxnSpPr>
            <a:cxnSpLocks/>
            <a:stCxn id="46" idx="3"/>
            <a:endCxn id="49" idx="1"/>
          </p:cNvCxnSpPr>
          <p:nvPr/>
        </p:nvCxnSpPr>
        <p:spPr bwMode="auto">
          <a:xfrm>
            <a:off x="7612589" y="4040325"/>
            <a:ext cx="549798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746EC548-D8A5-459E-9321-85515B2522E5}"/>
              </a:ext>
            </a:extLst>
          </p:cNvPr>
          <p:cNvSpPr/>
          <p:nvPr/>
        </p:nvSpPr>
        <p:spPr>
          <a:xfrm>
            <a:off x="4546015" y="3893504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SG" sz="280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9D8C35E-5811-4E73-B51C-5A0958D1A6E2}"/>
              </a:ext>
            </a:extLst>
          </p:cNvPr>
          <p:cNvSpPr/>
          <p:nvPr/>
        </p:nvSpPr>
        <p:spPr>
          <a:xfrm>
            <a:off x="4512461" y="4972554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SG" sz="280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1746DDD-E0BB-491F-90D5-0BE1193C8A9E}"/>
              </a:ext>
            </a:extLst>
          </p:cNvPr>
          <p:cNvSpPr/>
          <p:nvPr/>
        </p:nvSpPr>
        <p:spPr>
          <a:xfrm>
            <a:off x="6114417" y="3540352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en-SG" sz="2800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543D626-634F-43BE-86F5-D91A11E34272}"/>
              </a:ext>
            </a:extLst>
          </p:cNvPr>
          <p:cNvSpPr/>
          <p:nvPr/>
        </p:nvSpPr>
        <p:spPr>
          <a:xfrm>
            <a:off x="5976348" y="5119375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endParaRPr lang="en-SG" sz="280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9FDF4BF-0845-4C7C-B2FD-E7265DB97EB9}"/>
              </a:ext>
            </a:extLst>
          </p:cNvPr>
          <p:cNvSpPr/>
          <p:nvPr/>
        </p:nvSpPr>
        <p:spPr>
          <a:xfrm>
            <a:off x="6690194" y="4741133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endParaRPr lang="en-SG" sz="2800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3EFFDBD-FFB8-4982-9D27-D370AC9BEF30}"/>
              </a:ext>
            </a:extLst>
          </p:cNvPr>
          <p:cNvSpPr/>
          <p:nvPr/>
        </p:nvSpPr>
        <p:spPr>
          <a:xfrm>
            <a:off x="7654928" y="3501008"/>
            <a:ext cx="3674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  <a:endParaRPr lang="en-SG" sz="2800" dirty="0"/>
          </a:p>
        </p:txBody>
      </p:sp>
    </p:spTree>
    <p:extLst>
      <p:ext uri="{BB962C8B-B14F-4D97-AF65-F5344CB8AC3E}">
        <p14:creationId xmlns:p14="http://schemas.microsoft.com/office/powerpoint/2010/main" val="742838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51C41-B18B-461E-95F7-9030AB70E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Previous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FC4D6-104E-476E-9A8C-57A0FD9D8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40"/>
            <a:ext cx="3466728" cy="4713287"/>
          </a:xfrm>
        </p:spPr>
        <p:txBody>
          <a:bodyPr>
            <a:normAutofit fontScale="92500" lnSpcReduction="20000"/>
          </a:bodyPr>
          <a:lstStyle/>
          <a:p>
            <a:r>
              <a:rPr lang="en-SG" dirty="0"/>
              <a:t>Bob is the owner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Bob grants Ann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Bob grants Cath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Ann grants Jim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Jim grants Sue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Cath grants Jim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Jim grants Pat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Sue grants Dave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Ann revokes Jim</a:t>
            </a:r>
          </a:p>
          <a:p>
            <a:pPr marL="0" indent="0">
              <a:buNone/>
            </a:pPr>
            <a:r>
              <a:rPr lang="en-SG" dirty="0"/>
              <a:t> 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9D09DF5-416C-4050-8651-2B6B1079EA02}"/>
              </a:ext>
            </a:extLst>
          </p:cNvPr>
          <p:cNvSpPr/>
          <p:nvPr/>
        </p:nvSpPr>
        <p:spPr bwMode="auto">
          <a:xfrm>
            <a:off x="3989702" y="177281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Bob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BB2DED8-FA3C-4132-A649-0D4E9CD30E85}"/>
              </a:ext>
            </a:extLst>
          </p:cNvPr>
          <p:cNvSpPr/>
          <p:nvPr/>
        </p:nvSpPr>
        <p:spPr bwMode="auto">
          <a:xfrm>
            <a:off x="5040052" y="1118502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Ann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4D4CA32-6499-4518-B09D-6FD2C7EF8F1C}"/>
              </a:ext>
            </a:extLst>
          </p:cNvPr>
          <p:cNvSpPr/>
          <p:nvPr/>
        </p:nvSpPr>
        <p:spPr bwMode="auto">
          <a:xfrm>
            <a:off x="5040052" y="2441346"/>
            <a:ext cx="864096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Cath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89312C8-6691-43B4-9108-0DD751C112EA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 bwMode="auto">
          <a:xfrm>
            <a:off x="4637774" y="2011179"/>
            <a:ext cx="402278" cy="66853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451BDCE-2507-4CE0-A647-EFD563DE115F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 bwMode="auto">
          <a:xfrm flipV="1">
            <a:off x="4637774" y="1356865"/>
            <a:ext cx="402278" cy="65431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93CA7CC-B722-489F-BF71-14D17F05E32B}"/>
              </a:ext>
            </a:extLst>
          </p:cNvPr>
          <p:cNvSpPr/>
          <p:nvPr/>
        </p:nvSpPr>
        <p:spPr bwMode="auto">
          <a:xfrm>
            <a:off x="6084168" y="177281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Jim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61C89C1-87D6-47AF-A4B4-F26BF1419846}"/>
              </a:ext>
            </a:extLst>
          </p:cNvPr>
          <p:cNvSpPr/>
          <p:nvPr/>
        </p:nvSpPr>
        <p:spPr bwMode="auto">
          <a:xfrm>
            <a:off x="6958283" y="1118502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Sue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79B3CF6-131C-432F-995A-87FCEA535338}"/>
              </a:ext>
            </a:extLst>
          </p:cNvPr>
          <p:cNvSpPr/>
          <p:nvPr/>
        </p:nvSpPr>
        <p:spPr bwMode="auto">
          <a:xfrm>
            <a:off x="6958283" y="244134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Pat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BE2DE4B-D5A7-421A-BE08-E9A1A9469D99}"/>
              </a:ext>
            </a:extLst>
          </p:cNvPr>
          <p:cNvSpPr/>
          <p:nvPr/>
        </p:nvSpPr>
        <p:spPr bwMode="auto">
          <a:xfrm>
            <a:off x="8156153" y="1118502"/>
            <a:ext cx="808335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Dave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72AAC69-8D5E-4920-80D9-6920CD0557A2}"/>
              </a:ext>
            </a:extLst>
          </p:cNvPr>
          <p:cNvCxnSpPr>
            <a:cxnSpLocks/>
            <a:stCxn id="11" idx="3"/>
            <a:endCxn id="25" idx="0"/>
          </p:cNvCxnSpPr>
          <p:nvPr/>
        </p:nvCxnSpPr>
        <p:spPr bwMode="auto">
          <a:xfrm>
            <a:off x="5688124" y="1356865"/>
            <a:ext cx="720080" cy="41595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CA6220B-CF44-40B4-8480-DD638BFCC288}"/>
              </a:ext>
            </a:extLst>
          </p:cNvPr>
          <p:cNvCxnSpPr>
            <a:cxnSpLocks/>
            <a:stCxn id="12" idx="3"/>
            <a:endCxn id="25" idx="2"/>
          </p:cNvCxnSpPr>
          <p:nvPr/>
        </p:nvCxnSpPr>
        <p:spPr bwMode="auto">
          <a:xfrm flipV="1">
            <a:off x="5904148" y="2249542"/>
            <a:ext cx="504056" cy="43016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0BEA261-42D1-4BA5-A298-EF0953A6EEAC}"/>
              </a:ext>
            </a:extLst>
          </p:cNvPr>
          <p:cNvCxnSpPr>
            <a:cxnSpLocks/>
            <a:stCxn id="25" idx="3"/>
            <a:endCxn id="26" idx="2"/>
          </p:cNvCxnSpPr>
          <p:nvPr/>
        </p:nvCxnSpPr>
        <p:spPr bwMode="auto">
          <a:xfrm flipV="1">
            <a:off x="6732240" y="1595228"/>
            <a:ext cx="550079" cy="41595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926ED25-1044-4F43-9C42-687320FFF2EB}"/>
              </a:ext>
            </a:extLst>
          </p:cNvPr>
          <p:cNvCxnSpPr>
            <a:cxnSpLocks/>
            <a:stCxn id="25" idx="3"/>
          </p:cNvCxnSpPr>
          <p:nvPr/>
        </p:nvCxnSpPr>
        <p:spPr bwMode="auto">
          <a:xfrm>
            <a:off x="6732240" y="2011179"/>
            <a:ext cx="648072" cy="42473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98E5995-14C6-41FD-AF7F-1A2127E1B448}"/>
              </a:ext>
            </a:extLst>
          </p:cNvPr>
          <p:cNvCxnSpPr>
            <a:cxnSpLocks/>
            <a:stCxn id="26" idx="3"/>
            <a:endCxn id="30" idx="1"/>
          </p:cNvCxnSpPr>
          <p:nvPr/>
        </p:nvCxnSpPr>
        <p:spPr bwMode="auto">
          <a:xfrm>
            <a:off x="7606355" y="1356865"/>
            <a:ext cx="549798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B8ECDDA1-2576-4CC9-B680-2C0A2F6C1168}"/>
              </a:ext>
            </a:extLst>
          </p:cNvPr>
          <p:cNvSpPr/>
          <p:nvPr/>
        </p:nvSpPr>
        <p:spPr>
          <a:xfrm>
            <a:off x="4539781" y="1210044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SG" sz="28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F7F9799-E462-4283-BAD6-71E50D880117}"/>
              </a:ext>
            </a:extLst>
          </p:cNvPr>
          <p:cNvSpPr/>
          <p:nvPr/>
        </p:nvSpPr>
        <p:spPr>
          <a:xfrm>
            <a:off x="4506227" y="2289094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SG" sz="28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73E9591-B9FA-4CAB-A6DC-C219CF199516}"/>
              </a:ext>
            </a:extLst>
          </p:cNvPr>
          <p:cNvSpPr/>
          <p:nvPr/>
        </p:nvSpPr>
        <p:spPr>
          <a:xfrm>
            <a:off x="5875558" y="1041620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SG" sz="28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E260910-D414-4499-BCE7-FDF321515511}"/>
              </a:ext>
            </a:extLst>
          </p:cNvPr>
          <p:cNvSpPr/>
          <p:nvPr/>
        </p:nvSpPr>
        <p:spPr>
          <a:xfrm>
            <a:off x="6595638" y="1356865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en-SG" sz="28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F60C068-C89F-47E3-8191-EA293AE07B22}"/>
              </a:ext>
            </a:extLst>
          </p:cNvPr>
          <p:cNvSpPr/>
          <p:nvPr/>
        </p:nvSpPr>
        <p:spPr>
          <a:xfrm>
            <a:off x="5970114" y="2435915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endParaRPr lang="en-SG" sz="28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28D144-38C1-47C5-A048-E3F97375A95E}"/>
              </a:ext>
            </a:extLst>
          </p:cNvPr>
          <p:cNvSpPr/>
          <p:nvPr/>
        </p:nvSpPr>
        <p:spPr>
          <a:xfrm>
            <a:off x="6683960" y="2057673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endParaRPr lang="en-SG" sz="28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80B9053-E0F0-4A59-8CFE-DEF6770FDD1B}"/>
              </a:ext>
            </a:extLst>
          </p:cNvPr>
          <p:cNvSpPr/>
          <p:nvPr/>
        </p:nvSpPr>
        <p:spPr>
          <a:xfrm>
            <a:off x="7648694" y="817548"/>
            <a:ext cx="3674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  <a:endParaRPr lang="en-SG" sz="2800" dirty="0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53C931AA-2D5A-4669-9585-0417DCDA1300}"/>
              </a:ext>
            </a:extLst>
          </p:cNvPr>
          <p:cNvSpPr/>
          <p:nvPr/>
        </p:nvSpPr>
        <p:spPr bwMode="auto">
          <a:xfrm>
            <a:off x="3995936" y="445627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Bob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5255E9CB-7F20-4E35-ACD0-C750A2769E3E}"/>
              </a:ext>
            </a:extLst>
          </p:cNvPr>
          <p:cNvSpPr/>
          <p:nvPr/>
        </p:nvSpPr>
        <p:spPr bwMode="auto">
          <a:xfrm>
            <a:off x="5046286" y="3801962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Ann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99176F22-5E55-4DBA-94A5-1022D685F039}"/>
              </a:ext>
            </a:extLst>
          </p:cNvPr>
          <p:cNvSpPr/>
          <p:nvPr/>
        </p:nvSpPr>
        <p:spPr bwMode="auto">
          <a:xfrm>
            <a:off x="5046286" y="5124806"/>
            <a:ext cx="864096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Cath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35A5514-84CD-44F8-BAA9-C17A614007F2}"/>
              </a:ext>
            </a:extLst>
          </p:cNvPr>
          <p:cNvCxnSpPr>
            <a:cxnSpLocks/>
            <a:stCxn id="38" idx="3"/>
            <a:endCxn id="40" idx="1"/>
          </p:cNvCxnSpPr>
          <p:nvPr/>
        </p:nvCxnSpPr>
        <p:spPr bwMode="auto">
          <a:xfrm>
            <a:off x="4644008" y="4694639"/>
            <a:ext cx="402278" cy="66853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8BD32B1-3A22-4492-99CC-5C47BAAF3129}"/>
              </a:ext>
            </a:extLst>
          </p:cNvPr>
          <p:cNvCxnSpPr>
            <a:cxnSpLocks/>
            <a:stCxn id="38" idx="3"/>
            <a:endCxn id="39" idx="1"/>
          </p:cNvCxnSpPr>
          <p:nvPr/>
        </p:nvCxnSpPr>
        <p:spPr bwMode="auto">
          <a:xfrm flipV="1">
            <a:off x="4644008" y="4040325"/>
            <a:ext cx="402278" cy="65431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AA49223B-3A82-4823-83FB-78FDA541B8E1}"/>
              </a:ext>
            </a:extLst>
          </p:cNvPr>
          <p:cNvSpPr/>
          <p:nvPr/>
        </p:nvSpPr>
        <p:spPr bwMode="auto">
          <a:xfrm>
            <a:off x="6090402" y="445627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Jim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258790DF-5480-4C4D-9693-B8B0315280EE}"/>
              </a:ext>
            </a:extLst>
          </p:cNvPr>
          <p:cNvSpPr/>
          <p:nvPr/>
        </p:nvSpPr>
        <p:spPr bwMode="auto">
          <a:xfrm>
            <a:off x="6964517" y="3801962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Sue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4D8086A7-E810-46E6-908E-D49AE27C93ED}"/>
              </a:ext>
            </a:extLst>
          </p:cNvPr>
          <p:cNvSpPr/>
          <p:nvPr/>
        </p:nvSpPr>
        <p:spPr bwMode="auto">
          <a:xfrm>
            <a:off x="6964517" y="512480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Pat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B3613566-2CA6-4C22-9D02-4BD589921188}"/>
              </a:ext>
            </a:extLst>
          </p:cNvPr>
          <p:cNvSpPr/>
          <p:nvPr/>
        </p:nvSpPr>
        <p:spPr bwMode="auto">
          <a:xfrm>
            <a:off x="8162387" y="3801962"/>
            <a:ext cx="808335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Dave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DBF538D-0C93-473B-9338-426A14541E53}"/>
              </a:ext>
            </a:extLst>
          </p:cNvPr>
          <p:cNvCxnSpPr>
            <a:cxnSpLocks/>
            <a:stCxn id="40" idx="3"/>
            <a:endCxn id="45" idx="2"/>
          </p:cNvCxnSpPr>
          <p:nvPr/>
        </p:nvCxnSpPr>
        <p:spPr bwMode="auto">
          <a:xfrm flipV="1">
            <a:off x="5910382" y="4933002"/>
            <a:ext cx="504056" cy="43016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4DEDC72-EC47-40BE-A7C6-9473AF714D07}"/>
              </a:ext>
            </a:extLst>
          </p:cNvPr>
          <p:cNvCxnSpPr>
            <a:cxnSpLocks/>
            <a:stCxn id="39" idx="3"/>
            <a:endCxn id="46" idx="1"/>
          </p:cNvCxnSpPr>
          <p:nvPr/>
        </p:nvCxnSpPr>
        <p:spPr bwMode="auto">
          <a:xfrm>
            <a:off x="5694358" y="4040325"/>
            <a:ext cx="1270159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D09436A-D64A-4D03-AD3D-781CBCB209BD}"/>
              </a:ext>
            </a:extLst>
          </p:cNvPr>
          <p:cNvCxnSpPr>
            <a:cxnSpLocks/>
            <a:stCxn id="45" idx="3"/>
          </p:cNvCxnSpPr>
          <p:nvPr/>
        </p:nvCxnSpPr>
        <p:spPr bwMode="auto">
          <a:xfrm>
            <a:off x="6738474" y="4694639"/>
            <a:ext cx="648072" cy="42473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6746DCC-DB4E-4FEA-9256-3C153D25CAE6}"/>
              </a:ext>
            </a:extLst>
          </p:cNvPr>
          <p:cNvCxnSpPr>
            <a:cxnSpLocks/>
            <a:stCxn id="46" idx="3"/>
            <a:endCxn id="49" idx="1"/>
          </p:cNvCxnSpPr>
          <p:nvPr/>
        </p:nvCxnSpPr>
        <p:spPr bwMode="auto">
          <a:xfrm>
            <a:off x="7612589" y="4040325"/>
            <a:ext cx="549798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746EC548-D8A5-459E-9321-85515B2522E5}"/>
              </a:ext>
            </a:extLst>
          </p:cNvPr>
          <p:cNvSpPr/>
          <p:nvPr/>
        </p:nvSpPr>
        <p:spPr>
          <a:xfrm>
            <a:off x="4546015" y="3893504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SG" sz="280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9D8C35E-5811-4E73-B51C-5A0958D1A6E2}"/>
              </a:ext>
            </a:extLst>
          </p:cNvPr>
          <p:cNvSpPr/>
          <p:nvPr/>
        </p:nvSpPr>
        <p:spPr>
          <a:xfrm>
            <a:off x="4512461" y="4972554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SG" sz="280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1746DDD-E0BB-491F-90D5-0BE1193C8A9E}"/>
              </a:ext>
            </a:extLst>
          </p:cNvPr>
          <p:cNvSpPr/>
          <p:nvPr/>
        </p:nvSpPr>
        <p:spPr>
          <a:xfrm>
            <a:off x="6114417" y="3540352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en-SG" sz="2800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543D626-634F-43BE-86F5-D91A11E34272}"/>
              </a:ext>
            </a:extLst>
          </p:cNvPr>
          <p:cNvSpPr/>
          <p:nvPr/>
        </p:nvSpPr>
        <p:spPr>
          <a:xfrm>
            <a:off x="5976348" y="5119375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endParaRPr lang="en-SG" sz="280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9FDF4BF-0845-4C7C-B2FD-E7265DB97EB9}"/>
              </a:ext>
            </a:extLst>
          </p:cNvPr>
          <p:cNvSpPr/>
          <p:nvPr/>
        </p:nvSpPr>
        <p:spPr>
          <a:xfrm>
            <a:off x="6690194" y="4741133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endParaRPr lang="en-SG" sz="2800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3EFFDBD-FFB8-4982-9D27-D370AC9BEF30}"/>
              </a:ext>
            </a:extLst>
          </p:cNvPr>
          <p:cNvSpPr/>
          <p:nvPr/>
        </p:nvSpPr>
        <p:spPr>
          <a:xfrm>
            <a:off x="7654928" y="3501008"/>
            <a:ext cx="3674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  <a:endParaRPr lang="en-SG" sz="2800" dirty="0"/>
          </a:p>
        </p:txBody>
      </p:sp>
      <p:cxnSp>
        <p:nvCxnSpPr>
          <p:cNvPr id="5" name="Connector: Curved 4">
            <a:extLst>
              <a:ext uri="{FF2B5EF4-FFF2-40B4-BE49-F238E27FC236}">
                <a16:creationId xmlns:a16="http://schemas.microsoft.com/office/drawing/2014/main" id="{A28FEB20-87D0-4784-8C74-82DF8843991B}"/>
              </a:ext>
            </a:extLst>
          </p:cNvPr>
          <p:cNvCxnSpPr>
            <a:cxnSpLocks/>
            <a:endCxn id="48" idx="3"/>
          </p:cNvCxnSpPr>
          <p:nvPr/>
        </p:nvCxnSpPr>
        <p:spPr bwMode="auto">
          <a:xfrm>
            <a:off x="5688124" y="4221088"/>
            <a:ext cx="1924465" cy="1142081"/>
          </a:xfrm>
          <a:prstGeom prst="curvedConnector3">
            <a:avLst>
              <a:gd name="adj1" fmla="val 111879"/>
            </a:avLst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910E1E3F-B43C-4219-98EB-2302D2E43D9B}"/>
              </a:ext>
            </a:extLst>
          </p:cNvPr>
          <p:cNvSpPr/>
          <p:nvPr/>
        </p:nvSpPr>
        <p:spPr>
          <a:xfrm>
            <a:off x="7832398" y="4433029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endParaRPr lang="en-SG" sz="2800" dirty="0"/>
          </a:p>
        </p:txBody>
      </p:sp>
    </p:spTree>
    <p:extLst>
      <p:ext uri="{BB962C8B-B14F-4D97-AF65-F5344CB8AC3E}">
        <p14:creationId xmlns:p14="http://schemas.microsoft.com/office/powerpoint/2010/main" val="246171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51C41-B18B-461E-95F7-9030AB70E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Previous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FC4D6-104E-476E-9A8C-57A0FD9D8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40"/>
            <a:ext cx="3466728" cy="4713287"/>
          </a:xfrm>
        </p:spPr>
        <p:txBody>
          <a:bodyPr>
            <a:normAutofit fontScale="92500" lnSpcReduction="20000"/>
          </a:bodyPr>
          <a:lstStyle/>
          <a:p>
            <a:r>
              <a:rPr lang="en-SG" dirty="0"/>
              <a:t>Bob is the owner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Bob grants Ann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Bob grants Cath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Ann grants Jim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Jim grants Sue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Cath grants Jim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Jim grants Pat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Sue grants Dave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Ann revokes Jim</a:t>
            </a:r>
          </a:p>
          <a:p>
            <a:pPr marL="0" indent="0">
              <a:buNone/>
            </a:pPr>
            <a:r>
              <a:rPr lang="en-SG" dirty="0"/>
              <a:t> 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9D09DF5-416C-4050-8651-2B6B1079EA02}"/>
              </a:ext>
            </a:extLst>
          </p:cNvPr>
          <p:cNvSpPr/>
          <p:nvPr/>
        </p:nvSpPr>
        <p:spPr bwMode="auto">
          <a:xfrm>
            <a:off x="3989702" y="177281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Bob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BB2DED8-FA3C-4132-A649-0D4E9CD30E85}"/>
              </a:ext>
            </a:extLst>
          </p:cNvPr>
          <p:cNvSpPr/>
          <p:nvPr/>
        </p:nvSpPr>
        <p:spPr bwMode="auto">
          <a:xfrm>
            <a:off x="5040052" y="1118502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Ann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4D4CA32-6499-4518-B09D-6FD2C7EF8F1C}"/>
              </a:ext>
            </a:extLst>
          </p:cNvPr>
          <p:cNvSpPr/>
          <p:nvPr/>
        </p:nvSpPr>
        <p:spPr bwMode="auto">
          <a:xfrm>
            <a:off x="5040052" y="2441346"/>
            <a:ext cx="864096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Cath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89312C8-6691-43B4-9108-0DD751C112EA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 bwMode="auto">
          <a:xfrm>
            <a:off x="4637774" y="2011179"/>
            <a:ext cx="402278" cy="66853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451BDCE-2507-4CE0-A647-EFD563DE115F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 bwMode="auto">
          <a:xfrm flipV="1">
            <a:off x="4637774" y="1356865"/>
            <a:ext cx="402278" cy="65431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93CA7CC-B722-489F-BF71-14D17F05E32B}"/>
              </a:ext>
            </a:extLst>
          </p:cNvPr>
          <p:cNvSpPr/>
          <p:nvPr/>
        </p:nvSpPr>
        <p:spPr bwMode="auto">
          <a:xfrm>
            <a:off x="6084168" y="177281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Jim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61C89C1-87D6-47AF-A4B4-F26BF1419846}"/>
              </a:ext>
            </a:extLst>
          </p:cNvPr>
          <p:cNvSpPr/>
          <p:nvPr/>
        </p:nvSpPr>
        <p:spPr bwMode="auto">
          <a:xfrm>
            <a:off x="6958283" y="1118502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Sue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79B3CF6-131C-432F-995A-87FCEA535338}"/>
              </a:ext>
            </a:extLst>
          </p:cNvPr>
          <p:cNvSpPr/>
          <p:nvPr/>
        </p:nvSpPr>
        <p:spPr bwMode="auto">
          <a:xfrm>
            <a:off x="6958283" y="244134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Pat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BE2DE4B-D5A7-421A-BE08-E9A1A9469D99}"/>
              </a:ext>
            </a:extLst>
          </p:cNvPr>
          <p:cNvSpPr/>
          <p:nvPr/>
        </p:nvSpPr>
        <p:spPr bwMode="auto">
          <a:xfrm>
            <a:off x="8156153" y="1118502"/>
            <a:ext cx="808335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Dave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72AAC69-8D5E-4920-80D9-6920CD0557A2}"/>
              </a:ext>
            </a:extLst>
          </p:cNvPr>
          <p:cNvCxnSpPr>
            <a:cxnSpLocks/>
            <a:stCxn id="11" idx="3"/>
            <a:endCxn id="25" idx="0"/>
          </p:cNvCxnSpPr>
          <p:nvPr/>
        </p:nvCxnSpPr>
        <p:spPr bwMode="auto">
          <a:xfrm>
            <a:off x="5688124" y="1356865"/>
            <a:ext cx="720080" cy="41595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CA6220B-CF44-40B4-8480-DD638BFCC288}"/>
              </a:ext>
            </a:extLst>
          </p:cNvPr>
          <p:cNvCxnSpPr>
            <a:cxnSpLocks/>
            <a:stCxn id="12" idx="3"/>
            <a:endCxn id="25" idx="2"/>
          </p:cNvCxnSpPr>
          <p:nvPr/>
        </p:nvCxnSpPr>
        <p:spPr bwMode="auto">
          <a:xfrm flipV="1">
            <a:off x="5904148" y="2249542"/>
            <a:ext cx="504056" cy="43016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0BEA261-42D1-4BA5-A298-EF0953A6EEAC}"/>
              </a:ext>
            </a:extLst>
          </p:cNvPr>
          <p:cNvCxnSpPr>
            <a:cxnSpLocks/>
            <a:stCxn id="25" idx="3"/>
            <a:endCxn id="26" idx="2"/>
          </p:cNvCxnSpPr>
          <p:nvPr/>
        </p:nvCxnSpPr>
        <p:spPr bwMode="auto">
          <a:xfrm flipV="1">
            <a:off x="6732240" y="1595228"/>
            <a:ext cx="550079" cy="41595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926ED25-1044-4F43-9C42-687320FFF2EB}"/>
              </a:ext>
            </a:extLst>
          </p:cNvPr>
          <p:cNvCxnSpPr>
            <a:cxnSpLocks/>
            <a:stCxn id="25" idx="3"/>
          </p:cNvCxnSpPr>
          <p:nvPr/>
        </p:nvCxnSpPr>
        <p:spPr bwMode="auto">
          <a:xfrm>
            <a:off x="6732240" y="2011179"/>
            <a:ext cx="648072" cy="42473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98E5995-14C6-41FD-AF7F-1A2127E1B448}"/>
              </a:ext>
            </a:extLst>
          </p:cNvPr>
          <p:cNvCxnSpPr>
            <a:cxnSpLocks/>
            <a:stCxn id="26" idx="3"/>
            <a:endCxn id="30" idx="1"/>
          </p:cNvCxnSpPr>
          <p:nvPr/>
        </p:nvCxnSpPr>
        <p:spPr bwMode="auto">
          <a:xfrm>
            <a:off x="7606355" y="1356865"/>
            <a:ext cx="549798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B8ECDDA1-2576-4CC9-B680-2C0A2F6C1168}"/>
              </a:ext>
            </a:extLst>
          </p:cNvPr>
          <p:cNvSpPr/>
          <p:nvPr/>
        </p:nvSpPr>
        <p:spPr>
          <a:xfrm>
            <a:off x="4539781" y="1210044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SG" sz="28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F7F9799-E462-4283-BAD6-71E50D880117}"/>
              </a:ext>
            </a:extLst>
          </p:cNvPr>
          <p:cNvSpPr/>
          <p:nvPr/>
        </p:nvSpPr>
        <p:spPr>
          <a:xfrm>
            <a:off x="4506227" y="2289094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SG" sz="28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73E9591-B9FA-4CAB-A6DC-C219CF199516}"/>
              </a:ext>
            </a:extLst>
          </p:cNvPr>
          <p:cNvSpPr/>
          <p:nvPr/>
        </p:nvSpPr>
        <p:spPr>
          <a:xfrm>
            <a:off x="5875558" y="1041620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SG" sz="28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E260910-D414-4499-BCE7-FDF321515511}"/>
              </a:ext>
            </a:extLst>
          </p:cNvPr>
          <p:cNvSpPr/>
          <p:nvPr/>
        </p:nvSpPr>
        <p:spPr>
          <a:xfrm>
            <a:off x="6595638" y="1356865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en-SG" sz="28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F60C068-C89F-47E3-8191-EA293AE07B22}"/>
              </a:ext>
            </a:extLst>
          </p:cNvPr>
          <p:cNvSpPr/>
          <p:nvPr/>
        </p:nvSpPr>
        <p:spPr>
          <a:xfrm>
            <a:off x="5970114" y="2435915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endParaRPr lang="en-SG" sz="28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28D144-38C1-47C5-A048-E3F97375A95E}"/>
              </a:ext>
            </a:extLst>
          </p:cNvPr>
          <p:cNvSpPr/>
          <p:nvPr/>
        </p:nvSpPr>
        <p:spPr>
          <a:xfrm>
            <a:off x="6683960" y="2057673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endParaRPr lang="en-SG" sz="28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80B9053-E0F0-4A59-8CFE-DEF6770FDD1B}"/>
              </a:ext>
            </a:extLst>
          </p:cNvPr>
          <p:cNvSpPr/>
          <p:nvPr/>
        </p:nvSpPr>
        <p:spPr>
          <a:xfrm>
            <a:off x="7648694" y="817548"/>
            <a:ext cx="3674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  <a:endParaRPr lang="en-SG" sz="2800" dirty="0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53C931AA-2D5A-4669-9585-0417DCDA1300}"/>
              </a:ext>
            </a:extLst>
          </p:cNvPr>
          <p:cNvSpPr/>
          <p:nvPr/>
        </p:nvSpPr>
        <p:spPr bwMode="auto">
          <a:xfrm>
            <a:off x="3995936" y="445627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Bob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5255E9CB-7F20-4E35-ACD0-C750A2769E3E}"/>
              </a:ext>
            </a:extLst>
          </p:cNvPr>
          <p:cNvSpPr/>
          <p:nvPr/>
        </p:nvSpPr>
        <p:spPr bwMode="auto">
          <a:xfrm>
            <a:off x="5046286" y="3801962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Ann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99176F22-5E55-4DBA-94A5-1022D685F039}"/>
              </a:ext>
            </a:extLst>
          </p:cNvPr>
          <p:cNvSpPr/>
          <p:nvPr/>
        </p:nvSpPr>
        <p:spPr bwMode="auto">
          <a:xfrm>
            <a:off x="5046286" y="5124806"/>
            <a:ext cx="864096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Cath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35A5514-84CD-44F8-BAA9-C17A614007F2}"/>
              </a:ext>
            </a:extLst>
          </p:cNvPr>
          <p:cNvCxnSpPr>
            <a:cxnSpLocks/>
            <a:stCxn id="38" idx="3"/>
            <a:endCxn id="40" idx="1"/>
          </p:cNvCxnSpPr>
          <p:nvPr/>
        </p:nvCxnSpPr>
        <p:spPr bwMode="auto">
          <a:xfrm>
            <a:off x="4644008" y="4694639"/>
            <a:ext cx="402278" cy="66853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8BD32B1-3A22-4492-99CC-5C47BAAF3129}"/>
              </a:ext>
            </a:extLst>
          </p:cNvPr>
          <p:cNvCxnSpPr>
            <a:cxnSpLocks/>
            <a:stCxn id="38" idx="3"/>
            <a:endCxn id="39" idx="1"/>
          </p:cNvCxnSpPr>
          <p:nvPr/>
        </p:nvCxnSpPr>
        <p:spPr bwMode="auto">
          <a:xfrm flipV="1">
            <a:off x="4644008" y="4040325"/>
            <a:ext cx="402278" cy="65431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AA49223B-3A82-4823-83FB-78FDA541B8E1}"/>
              </a:ext>
            </a:extLst>
          </p:cNvPr>
          <p:cNvSpPr/>
          <p:nvPr/>
        </p:nvSpPr>
        <p:spPr bwMode="auto">
          <a:xfrm>
            <a:off x="6090402" y="445627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Jim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258790DF-5480-4C4D-9693-B8B0315280EE}"/>
              </a:ext>
            </a:extLst>
          </p:cNvPr>
          <p:cNvSpPr/>
          <p:nvPr/>
        </p:nvSpPr>
        <p:spPr bwMode="auto">
          <a:xfrm>
            <a:off x="6964517" y="3801962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Sue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4D8086A7-E810-46E6-908E-D49AE27C93ED}"/>
              </a:ext>
            </a:extLst>
          </p:cNvPr>
          <p:cNvSpPr/>
          <p:nvPr/>
        </p:nvSpPr>
        <p:spPr bwMode="auto">
          <a:xfrm>
            <a:off x="6964517" y="512480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Pat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B3613566-2CA6-4C22-9D02-4BD589921188}"/>
              </a:ext>
            </a:extLst>
          </p:cNvPr>
          <p:cNvSpPr/>
          <p:nvPr/>
        </p:nvSpPr>
        <p:spPr bwMode="auto">
          <a:xfrm>
            <a:off x="8162387" y="3801962"/>
            <a:ext cx="808335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Dave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DBF538D-0C93-473B-9338-426A14541E53}"/>
              </a:ext>
            </a:extLst>
          </p:cNvPr>
          <p:cNvCxnSpPr>
            <a:cxnSpLocks/>
            <a:stCxn id="40" idx="3"/>
            <a:endCxn id="45" idx="2"/>
          </p:cNvCxnSpPr>
          <p:nvPr/>
        </p:nvCxnSpPr>
        <p:spPr bwMode="auto">
          <a:xfrm flipV="1">
            <a:off x="5910382" y="4933002"/>
            <a:ext cx="504056" cy="43016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4DEDC72-EC47-40BE-A7C6-9473AF714D07}"/>
              </a:ext>
            </a:extLst>
          </p:cNvPr>
          <p:cNvCxnSpPr>
            <a:cxnSpLocks/>
            <a:stCxn id="39" idx="3"/>
            <a:endCxn id="46" idx="1"/>
          </p:cNvCxnSpPr>
          <p:nvPr/>
        </p:nvCxnSpPr>
        <p:spPr bwMode="auto">
          <a:xfrm>
            <a:off x="5694358" y="4040325"/>
            <a:ext cx="1270159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D09436A-D64A-4D03-AD3D-781CBCB209BD}"/>
              </a:ext>
            </a:extLst>
          </p:cNvPr>
          <p:cNvCxnSpPr>
            <a:cxnSpLocks/>
            <a:stCxn id="45" idx="3"/>
          </p:cNvCxnSpPr>
          <p:nvPr/>
        </p:nvCxnSpPr>
        <p:spPr bwMode="auto">
          <a:xfrm>
            <a:off x="6738474" y="4694639"/>
            <a:ext cx="648072" cy="42473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6746DCC-DB4E-4FEA-9256-3C153D25CAE6}"/>
              </a:ext>
            </a:extLst>
          </p:cNvPr>
          <p:cNvCxnSpPr>
            <a:cxnSpLocks/>
            <a:stCxn id="46" idx="3"/>
            <a:endCxn id="49" idx="1"/>
          </p:cNvCxnSpPr>
          <p:nvPr/>
        </p:nvCxnSpPr>
        <p:spPr bwMode="auto">
          <a:xfrm>
            <a:off x="7612589" y="4040325"/>
            <a:ext cx="549798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746EC548-D8A5-459E-9321-85515B2522E5}"/>
              </a:ext>
            </a:extLst>
          </p:cNvPr>
          <p:cNvSpPr/>
          <p:nvPr/>
        </p:nvSpPr>
        <p:spPr>
          <a:xfrm>
            <a:off x="4546015" y="3893504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SG" sz="280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9D8C35E-5811-4E73-B51C-5A0958D1A6E2}"/>
              </a:ext>
            </a:extLst>
          </p:cNvPr>
          <p:cNvSpPr/>
          <p:nvPr/>
        </p:nvSpPr>
        <p:spPr>
          <a:xfrm>
            <a:off x="4512461" y="4972554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SG" sz="280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1746DDD-E0BB-491F-90D5-0BE1193C8A9E}"/>
              </a:ext>
            </a:extLst>
          </p:cNvPr>
          <p:cNvSpPr/>
          <p:nvPr/>
        </p:nvSpPr>
        <p:spPr>
          <a:xfrm>
            <a:off x="6114417" y="3540352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en-SG" sz="2800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543D626-634F-43BE-86F5-D91A11E34272}"/>
              </a:ext>
            </a:extLst>
          </p:cNvPr>
          <p:cNvSpPr/>
          <p:nvPr/>
        </p:nvSpPr>
        <p:spPr>
          <a:xfrm>
            <a:off x="5976348" y="5119375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endParaRPr lang="en-SG" sz="280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9FDF4BF-0845-4C7C-B2FD-E7265DB97EB9}"/>
              </a:ext>
            </a:extLst>
          </p:cNvPr>
          <p:cNvSpPr/>
          <p:nvPr/>
        </p:nvSpPr>
        <p:spPr>
          <a:xfrm>
            <a:off x="6690194" y="4741133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endParaRPr lang="en-SG" sz="2800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3EFFDBD-FFB8-4982-9D27-D370AC9BEF30}"/>
              </a:ext>
            </a:extLst>
          </p:cNvPr>
          <p:cNvSpPr/>
          <p:nvPr/>
        </p:nvSpPr>
        <p:spPr>
          <a:xfrm>
            <a:off x="7654928" y="3501008"/>
            <a:ext cx="3674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  <a:endParaRPr lang="en-SG" sz="2800" dirty="0"/>
          </a:p>
        </p:txBody>
      </p:sp>
      <p:cxnSp>
        <p:nvCxnSpPr>
          <p:cNvPr id="5" name="Connector: Curved 4">
            <a:extLst>
              <a:ext uri="{FF2B5EF4-FFF2-40B4-BE49-F238E27FC236}">
                <a16:creationId xmlns:a16="http://schemas.microsoft.com/office/drawing/2014/main" id="{A28FEB20-87D0-4784-8C74-82DF8843991B}"/>
              </a:ext>
            </a:extLst>
          </p:cNvPr>
          <p:cNvCxnSpPr>
            <a:cxnSpLocks/>
            <a:endCxn id="48" idx="3"/>
          </p:cNvCxnSpPr>
          <p:nvPr/>
        </p:nvCxnSpPr>
        <p:spPr bwMode="auto">
          <a:xfrm>
            <a:off x="5688124" y="4221088"/>
            <a:ext cx="1924465" cy="1142081"/>
          </a:xfrm>
          <a:prstGeom prst="curvedConnector3">
            <a:avLst>
              <a:gd name="adj1" fmla="val 111879"/>
            </a:avLst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910E1E3F-B43C-4219-98EB-2302D2E43D9B}"/>
              </a:ext>
            </a:extLst>
          </p:cNvPr>
          <p:cNvSpPr/>
          <p:nvPr/>
        </p:nvSpPr>
        <p:spPr>
          <a:xfrm>
            <a:off x="7832398" y="4433029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endParaRPr lang="en-SG" sz="2800" dirty="0"/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3064A348-9BEC-45C6-9430-D08523FA1161}"/>
              </a:ext>
            </a:extLst>
          </p:cNvPr>
          <p:cNvSpPr/>
          <p:nvPr/>
        </p:nvSpPr>
        <p:spPr bwMode="auto">
          <a:xfrm>
            <a:off x="539552" y="1041620"/>
            <a:ext cx="5913602" cy="2183354"/>
          </a:xfrm>
          <a:prstGeom prst="wedgeRectCallout">
            <a:avLst>
              <a:gd name="adj1" fmla="val 52959"/>
              <a:gd name="adj2" fmla="val 95412"/>
            </a:avLst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45720" rIns="14400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This privilege is added since </a:t>
            </a:r>
            <a:r>
              <a:rPr kumimoji="0" lang="en-SG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Jim</a:t>
            </a:r>
            <a:r>
              <a:rPr kumimoji="0" lang="en-SG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sym typeface="Wingdings" panose="05000000000000000000" pitchFamily="2" charset="2"/>
              </a:rPr>
              <a:t>Pat</a:t>
            </a: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sym typeface="Wingdings" panose="05000000000000000000" pitchFamily="2" charset="2"/>
              </a:rPr>
              <a:t> at timestamp 6 is relevant to </a:t>
            </a:r>
            <a:r>
              <a:rPr kumimoji="0" lang="en-SG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sym typeface="Wingdings" panose="05000000000000000000" pitchFamily="2" charset="2"/>
              </a:rPr>
              <a:t>AnnJim</a:t>
            </a: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sym typeface="Wingdings" panose="05000000000000000000" pitchFamily="2" charset="2"/>
              </a:rPr>
              <a:t> at timestamp 3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66181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51C41-B18B-461E-95F7-9030AB70E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Another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FC4D6-104E-476E-9A8C-57A0FD9D8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40"/>
            <a:ext cx="3466728" cy="4713287"/>
          </a:xfrm>
        </p:spPr>
        <p:txBody>
          <a:bodyPr>
            <a:normAutofit fontScale="92500" lnSpcReduction="20000"/>
          </a:bodyPr>
          <a:lstStyle/>
          <a:p>
            <a:r>
              <a:rPr lang="en-SG" dirty="0"/>
              <a:t>Bob is the owner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Bob grants Ann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Bob grants Cath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Ann grants Jim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Jim grants Sue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Cath grants Jim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Jim grants Pat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Sue grants Dave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Cath revokes Jim</a:t>
            </a:r>
          </a:p>
          <a:p>
            <a:pPr marL="0" indent="0">
              <a:buNone/>
            </a:pPr>
            <a:r>
              <a:rPr lang="en-SG" dirty="0"/>
              <a:t> 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9D09DF5-416C-4050-8651-2B6B1079EA02}"/>
              </a:ext>
            </a:extLst>
          </p:cNvPr>
          <p:cNvSpPr/>
          <p:nvPr/>
        </p:nvSpPr>
        <p:spPr bwMode="auto">
          <a:xfrm>
            <a:off x="3989702" y="177281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Bob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BB2DED8-FA3C-4132-A649-0D4E9CD30E85}"/>
              </a:ext>
            </a:extLst>
          </p:cNvPr>
          <p:cNvSpPr/>
          <p:nvPr/>
        </p:nvSpPr>
        <p:spPr bwMode="auto">
          <a:xfrm>
            <a:off x="5040052" y="1118502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Ann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4D4CA32-6499-4518-B09D-6FD2C7EF8F1C}"/>
              </a:ext>
            </a:extLst>
          </p:cNvPr>
          <p:cNvSpPr/>
          <p:nvPr/>
        </p:nvSpPr>
        <p:spPr bwMode="auto">
          <a:xfrm>
            <a:off x="5040052" y="2441346"/>
            <a:ext cx="864096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Cath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89312C8-6691-43B4-9108-0DD751C112EA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 bwMode="auto">
          <a:xfrm>
            <a:off x="4637774" y="2011179"/>
            <a:ext cx="402278" cy="66853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451BDCE-2507-4CE0-A647-EFD563DE115F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 bwMode="auto">
          <a:xfrm flipV="1">
            <a:off x="4637774" y="1356865"/>
            <a:ext cx="402278" cy="65431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93CA7CC-B722-489F-BF71-14D17F05E32B}"/>
              </a:ext>
            </a:extLst>
          </p:cNvPr>
          <p:cNvSpPr/>
          <p:nvPr/>
        </p:nvSpPr>
        <p:spPr bwMode="auto">
          <a:xfrm>
            <a:off x="6084168" y="177281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Jim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61C89C1-87D6-47AF-A4B4-F26BF1419846}"/>
              </a:ext>
            </a:extLst>
          </p:cNvPr>
          <p:cNvSpPr/>
          <p:nvPr/>
        </p:nvSpPr>
        <p:spPr bwMode="auto">
          <a:xfrm>
            <a:off x="6958283" y="1118502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Sue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79B3CF6-131C-432F-995A-87FCEA535338}"/>
              </a:ext>
            </a:extLst>
          </p:cNvPr>
          <p:cNvSpPr/>
          <p:nvPr/>
        </p:nvSpPr>
        <p:spPr bwMode="auto">
          <a:xfrm>
            <a:off x="6958283" y="244134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Pat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BE2DE4B-D5A7-421A-BE08-E9A1A9469D99}"/>
              </a:ext>
            </a:extLst>
          </p:cNvPr>
          <p:cNvSpPr/>
          <p:nvPr/>
        </p:nvSpPr>
        <p:spPr bwMode="auto">
          <a:xfrm>
            <a:off x="8156153" y="1118502"/>
            <a:ext cx="808335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Dave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72AAC69-8D5E-4920-80D9-6920CD0557A2}"/>
              </a:ext>
            </a:extLst>
          </p:cNvPr>
          <p:cNvCxnSpPr>
            <a:cxnSpLocks/>
            <a:stCxn id="11" idx="3"/>
            <a:endCxn id="25" idx="0"/>
          </p:cNvCxnSpPr>
          <p:nvPr/>
        </p:nvCxnSpPr>
        <p:spPr bwMode="auto">
          <a:xfrm>
            <a:off x="5688124" y="1356865"/>
            <a:ext cx="720080" cy="41595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CA6220B-CF44-40B4-8480-DD638BFCC288}"/>
              </a:ext>
            </a:extLst>
          </p:cNvPr>
          <p:cNvCxnSpPr>
            <a:cxnSpLocks/>
            <a:stCxn id="12" idx="3"/>
            <a:endCxn id="25" idx="2"/>
          </p:cNvCxnSpPr>
          <p:nvPr/>
        </p:nvCxnSpPr>
        <p:spPr bwMode="auto">
          <a:xfrm flipV="1">
            <a:off x="5904148" y="2249542"/>
            <a:ext cx="504056" cy="43016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0BEA261-42D1-4BA5-A298-EF0953A6EEAC}"/>
              </a:ext>
            </a:extLst>
          </p:cNvPr>
          <p:cNvCxnSpPr>
            <a:cxnSpLocks/>
            <a:stCxn id="25" idx="3"/>
            <a:endCxn id="26" idx="2"/>
          </p:cNvCxnSpPr>
          <p:nvPr/>
        </p:nvCxnSpPr>
        <p:spPr bwMode="auto">
          <a:xfrm flipV="1">
            <a:off x="6732240" y="1595228"/>
            <a:ext cx="550079" cy="41595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926ED25-1044-4F43-9C42-687320FFF2EB}"/>
              </a:ext>
            </a:extLst>
          </p:cNvPr>
          <p:cNvCxnSpPr>
            <a:cxnSpLocks/>
            <a:stCxn id="25" idx="3"/>
          </p:cNvCxnSpPr>
          <p:nvPr/>
        </p:nvCxnSpPr>
        <p:spPr bwMode="auto">
          <a:xfrm>
            <a:off x="6732240" y="2011179"/>
            <a:ext cx="648072" cy="42473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98E5995-14C6-41FD-AF7F-1A2127E1B448}"/>
              </a:ext>
            </a:extLst>
          </p:cNvPr>
          <p:cNvCxnSpPr>
            <a:cxnSpLocks/>
            <a:stCxn id="26" idx="3"/>
            <a:endCxn id="30" idx="1"/>
          </p:cNvCxnSpPr>
          <p:nvPr/>
        </p:nvCxnSpPr>
        <p:spPr bwMode="auto">
          <a:xfrm>
            <a:off x="7606355" y="1356865"/>
            <a:ext cx="549798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B8ECDDA1-2576-4CC9-B680-2C0A2F6C1168}"/>
              </a:ext>
            </a:extLst>
          </p:cNvPr>
          <p:cNvSpPr/>
          <p:nvPr/>
        </p:nvSpPr>
        <p:spPr>
          <a:xfrm>
            <a:off x="4539781" y="1210044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SG" sz="28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F7F9799-E462-4283-BAD6-71E50D880117}"/>
              </a:ext>
            </a:extLst>
          </p:cNvPr>
          <p:cNvSpPr/>
          <p:nvPr/>
        </p:nvSpPr>
        <p:spPr>
          <a:xfrm>
            <a:off x="4506227" y="2289094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SG" sz="28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73E9591-B9FA-4CAB-A6DC-C219CF199516}"/>
              </a:ext>
            </a:extLst>
          </p:cNvPr>
          <p:cNvSpPr/>
          <p:nvPr/>
        </p:nvSpPr>
        <p:spPr>
          <a:xfrm>
            <a:off x="5875558" y="1041620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SG" sz="28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E260910-D414-4499-BCE7-FDF321515511}"/>
              </a:ext>
            </a:extLst>
          </p:cNvPr>
          <p:cNvSpPr/>
          <p:nvPr/>
        </p:nvSpPr>
        <p:spPr>
          <a:xfrm>
            <a:off x="6595638" y="1356865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en-SG" sz="28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F60C068-C89F-47E3-8191-EA293AE07B22}"/>
              </a:ext>
            </a:extLst>
          </p:cNvPr>
          <p:cNvSpPr/>
          <p:nvPr/>
        </p:nvSpPr>
        <p:spPr>
          <a:xfrm>
            <a:off x="5970114" y="2435915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endParaRPr lang="en-SG" sz="28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28D144-38C1-47C5-A048-E3F97375A95E}"/>
              </a:ext>
            </a:extLst>
          </p:cNvPr>
          <p:cNvSpPr/>
          <p:nvPr/>
        </p:nvSpPr>
        <p:spPr>
          <a:xfrm>
            <a:off x="6683960" y="2057673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endParaRPr lang="en-SG" sz="28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80B9053-E0F0-4A59-8CFE-DEF6770FDD1B}"/>
              </a:ext>
            </a:extLst>
          </p:cNvPr>
          <p:cNvSpPr/>
          <p:nvPr/>
        </p:nvSpPr>
        <p:spPr>
          <a:xfrm>
            <a:off x="7648694" y="817548"/>
            <a:ext cx="3674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  <a:endParaRPr lang="en-SG" sz="2800" dirty="0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53C931AA-2D5A-4669-9585-0417DCDA1300}"/>
              </a:ext>
            </a:extLst>
          </p:cNvPr>
          <p:cNvSpPr/>
          <p:nvPr/>
        </p:nvSpPr>
        <p:spPr bwMode="auto">
          <a:xfrm>
            <a:off x="3995936" y="445627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Bob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5255E9CB-7F20-4E35-ACD0-C750A2769E3E}"/>
              </a:ext>
            </a:extLst>
          </p:cNvPr>
          <p:cNvSpPr/>
          <p:nvPr/>
        </p:nvSpPr>
        <p:spPr bwMode="auto">
          <a:xfrm>
            <a:off x="5046286" y="3801962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Ann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99176F22-5E55-4DBA-94A5-1022D685F039}"/>
              </a:ext>
            </a:extLst>
          </p:cNvPr>
          <p:cNvSpPr/>
          <p:nvPr/>
        </p:nvSpPr>
        <p:spPr bwMode="auto">
          <a:xfrm>
            <a:off x="5046286" y="5124806"/>
            <a:ext cx="864096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Cath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35A5514-84CD-44F8-BAA9-C17A614007F2}"/>
              </a:ext>
            </a:extLst>
          </p:cNvPr>
          <p:cNvCxnSpPr>
            <a:cxnSpLocks/>
            <a:stCxn id="38" idx="3"/>
            <a:endCxn id="40" idx="1"/>
          </p:cNvCxnSpPr>
          <p:nvPr/>
        </p:nvCxnSpPr>
        <p:spPr bwMode="auto">
          <a:xfrm>
            <a:off x="4644008" y="4694639"/>
            <a:ext cx="402278" cy="66853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8BD32B1-3A22-4492-99CC-5C47BAAF3129}"/>
              </a:ext>
            </a:extLst>
          </p:cNvPr>
          <p:cNvCxnSpPr>
            <a:cxnSpLocks/>
            <a:stCxn id="38" idx="3"/>
            <a:endCxn id="39" idx="1"/>
          </p:cNvCxnSpPr>
          <p:nvPr/>
        </p:nvCxnSpPr>
        <p:spPr bwMode="auto">
          <a:xfrm flipV="1">
            <a:off x="4644008" y="4040325"/>
            <a:ext cx="402278" cy="65431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AA49223B-3A82-4823-83FB-78FDA541B8E1}"/>
              </a:ext>
            </a:extLst>
          </p:cNvPr>
          <p:cNvSpPr/>
          <p:nvPr/>
        </p:nvSpPr>
        <p:spPr bwMode="auto">
          <a:xfrm>
            <a:off x="6090402" y="445627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Jim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258790DF-5480-4C4D-9693-B8B0315280EE}"/>
              </a:ext>
            </a:extLst>
          </p:cNvPr>
          <p:cNvSpPr/>
          <p:nvPr/>
        </p:nvSpPr>
        <p:spPr bwMode="auto">
          <a:xfrm>
            <a:off x="6964517" y="3801962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Sue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4D8086A7-E810-46E6-908E-D49AE27C93ED}"/>
              </a:ext>
            </a:extLst>
          </p:cNvPr>
          <p:cNvSpPr/>
          <p:nvPr/>
        </p:nvSpPr>
        <p:spPr bwMode="auto">
          <a:xfrm>
            <a:off x="6964517" y="512480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Pat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B3613566-2CA6-4C22-9D02-4BD589921188}"/>
              </a:ext>
            </a:extLst>
          </p:cNvPr>
          <p:cNvSpPr/>
          <p:nvPr/>
        </p:nvSpPr>
        <p:spPr bwMode="auto">
          <a:xfrm>
            <a:off x="8162387" y="3801962"/>
            <a:ext cx="808335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Dave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4DEDC72-EC47-40BE-A7C6-9473AF714D07}"/>
              </a:ext>
            </a:extLst>
          </p:cNvPr>
          <p:cNvCxnSpPr>
            <a:cxnSpLocks/>
            <a:stCxn id="45" idx="3"/>
            <a:endCxn id="46" idx="2"/>
          </p:cNvCxnSpPr>
          <p:nvPr/>
        </p:nvCxnSpPr>
        <p:spPr bwMode="auto">
          <a:xfrm flipV="1">
            <a:off x="6738474" y="4278688"/>
            <a:ext cx="550079" cy="41595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D09436A-D64A-4D03-AD3D-781CBCB209BD}"/>
              </a:ext>
            </a:extLst>
          </p:cNvPr>
          <p:cNvCxnSpPr>
            <a:cxnSpLocks/>
            <a:stCxn id="45" idx="3"/>
          </p:cNvCxnSpPr>
          <p:nvPr/>
        </p:nvCxnSpPr>
        <p:spPr bwMode="auto">
          <a:xfrm>
            <a:off x="6738474" y="4694639"/>
            <a:ext cx="648072" cy="42473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6746DCC-DB4E-4FEA-9256-3C153D25CAE6}"/>
              </a:ext>
            </a:extLst>
          </p:cNvPr>
          <p:cNvCxnSpPr>
            <a:cxnSpLocks/>
            <a:stCxn id="46" idx="3"/>
            <a:endCxn id="49" idx="1"/>
          </p:cNvCxnSpPr>
          <p:nvPr/>
        </p:nvCxnSpPr>
        <p:spPr bwMode="auto">
          <a:xfrm>
            <a:off x="7612589" y="4040325"/>
            <a:ext cx="549798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746EC548-D8A5-459E-9321-85515B2522E5}"/>
              </a:ext>
            </a:extLst>
          </p:cNvPr>
          <p:cNvSpPr/>
          <p:nvPr/>
        </p:nvSpPr>
        <p:spPr>
          <a:xfrm>
            <a:off x="4546015" y="3893504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SG" sz="280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9D8C35E-5811-4E73-B51C-5A0958D1A6E2}"/>
              </a:ext>
            </a:extLst>
          </p:cNvPr>
          <p:cNvSpPr/>
          <p:nvPr/>
        </p:nvSpPr>
        <p:spPr>
          <a:xfrm>
            <a:off x="4512461" y="4972554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SG" sz="280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1746DDD-E0BB-491F-90D5-0BE1193C8A9E}"/>
              </a:ext>
            </a:extLst>
          </p:cNvPr>
          <p:cNvSpPr/>
          <p:nvPr/>
        </p:nvSpPr>
        <p:spPr>
          <a:xfrm>
            <a:off x="6601872" y="4040325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en-SG" sz="280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9FDF4BF-0845-4C7C-B2FD-E7265DB97EB9}"/>
              </a:ext>
            </a:extLst>
          </p:cNvPr>
          <p:cNvSpPr/>
          <p:nvPr/>
        </p:nvSpPr>
        <p:spPr>
          <a:xfrm>
            <a:off x="6690194" y="4741133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endParaRPr lang="en-SG" sz="2800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3EFFDBD-FFB8-4982-9D27-D370AC9BEF30}"/>
              </a:ext>
            </a:extLst>
          </p:cNvPr>
          <p:cNvSpPr/>
          <p:nvPr/>
        </p:nvSpPr>
        <p:spPr>
          <a:xfrm>
            <a:off x="7654928" y="3501008"/>
            <a:ext cx="3674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  <a:endParaRPr lang="en-SG" sz="2800" dirty="0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F660909-636B-4E59-9F6B-23F38A5F643C}"/>
              </a:ext>
            </a:extLst>
          </p:cNvPr>
          <p:cNvCxnSpPr>
            <a:cxnSpLocks/>
            <a:stCxn id="39" idx="3"/>
            <a:endCxn id="45" idx="0"/>
          </p:cNvCxnSpPr>
          <p:nvPr/>
        </p:nvCxnSpPr>
        <p:spPr bwMode="auto">
          <a:xfrm>
            <a:off x="5694358" y="4040325"/>
            <a:ext cx="720080" cy="41595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9DB308D2-449A-43E0-9683-0732A1177D68}"/>
              </a:ext>
            </a:extLst>
          </p:cNvPr>
          <p:cNvSpPr/>
          <p:nvPr/>
        </p:nvSpPr>
        <p:spPr>
          <a:xfrm>
            <a:off x="5980735" y="3752149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SG" sz="2800" dirty="0"/>
          </a:p>
        </p:txBody>
      </p:sp>
    </p:spTree>
    <p:extLst>
      <p:ext uri="{BB962C8B-B14F-4D97-AF65-F5344CB8AC3E}">
        <p14:creationId xmlns:p14="http://schemas.microsoft.com/office/powerpoint/2010/main" val="364841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5" grpId="0" animBg="1"/>
      <p:bldP spid="46" grpId="0" animBg="1"/>
      <p:bldP spid="48" grpId="0" animBg="1"/>
      <p:bldP spid="49" grpId="0" animBg="1"/>
      <p:bldP spid="55" grpId="0"/>
      <p:bldP spid="56" grpId="0"/>
      <p:bldP spid="58" grpId="0"/>
      <p:bldP spid="60" grpId="0"/>
      <p:bldP spid="61" grpId="0"/>
      <p:bldP spid="5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51C41-B18B-461E-95F7-9030AB70E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Another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FC4D6-104E-476E-9A8C-57A0FD9D8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40"/>
            <a:ext cx="3466728" cy="4713287"/>
          </a:xfrm>
        </p:spPr>
        <p:txBody>
          <a:bodyPr>
            <a:normAutofit fontScale="92500" lnSpcReduction="20000"/>
          </a:bodyPr>
          <a:lstStyle/>
          <a:p>
            <a:r>
              <a:rPr lang="en-SG" dirty="0"/>
              <a:t>Bob is the owner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Bob grants Ann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Bob grants Cath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Ann grants Jim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Jim grants Sue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Cath grants Jim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Jim grants Pat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Sue grants Dave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Cath revokes Jim</a:t>
            </a:r>
          </a:p>
          <a:p>
            <a:pPr marL="0" indent="0">
              <a:buNone/>
            </a:pPr>
            <a:r>
              <a:rPr lang="en-SG" dirty="0"/>
              <a:t> 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9D09DF5-416C-4050-8651-2B6B1079EA02}"/>
              </a:ext>
            </a:extLst>
          </p:cNvPr>
          <p:cNvSpPr/>
          <p:nvPr/>
        </p:nvSpPr>
        <p:spPr bwMode="auto">
          <a:xfrm>
            <a:off x="3989702" y="177281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Bob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BB2DED8-FA3C-4132-A649-0D4E9CD30E85}"/>
              </a:ext>
            </a:extLst>
          </p:cNvPr>
          <p:cNvSpPr/>
          <p:nvPr/>
        </p:nvSpPr>
        <p:spPr bwMode="auto">
          <a:xfrm>
            <a:off x="5040052" y="1118502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Ann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4D4CA32-6499-4518-B09D-6FD2C7EF8F1C}"/>
              </a:ext>
            </a:extLst>
          </p:cNvPr>
          <p:cNvSpPr/>
          <p:nvPr/>
        </p:nvSpPr>
        <p:spPr bwMode="auto">
          <a:xfrm>
            <a:off x="5040052" y="2441346"/>
            <a:ext cx="864096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Cath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89312C8-6691-43B4-9108-0DD751C112EA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 bwMode="auto">
          <a:xfrm>
            <a:off x="4637774" y="2011179"/>
            <a:ext cx="402278" cy="66853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451BDCE-2507-4CE0-A647-EFD563DE115F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 bwMode="auto">
          <a:xfrm flipV="1">
            <a:off x="4637774" y="1356865"/>
            <a:ext cx="402278" cy="65431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93CA7CC-B722-489F-BF71-14D17F05E32B}"/>
              </a:ext>
            </a:extLst>
          </p:cNvPr>
          <p:cNvSpPr/>
          <p:nvPr/>
        </p:nvSpPr>
        <p:spPr bwMode="auto">
          <a:xfrm>
            <a:off x="6084168" y="177281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Jim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61C89C1-87D6-47AF-A4B4-F26BF1419846}"/>
              </a:ext>
            </a:extLst>
          </p:cNvPr>
          <p:cNvSpPr/>
          <p:nvPr/>
        </p:nvSpPr>
        <p:spPr bwMode="auto">
          <a:xfrm>
            <a:off x="6958283" y="1118502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Sue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79B3CF6-131C-432F-995A-87FCEA535338}"/>
              </a:ext>
            </a:extLst>
          </p:cNvPr>
          <p:cNvSpPr/>
          <p:nvPr/>
        </p:nvSpPr>
        <p:spPr bwMode="auto">
          <a:xfrm>
            <a:off x="6958283" y="244134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Pat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BE2DE4B-D5A7-421A-BE08-E9A1A9469D99}"/>
              </a:ext>
            </a:extLst>
          </p:cNvPr>
          <p:cNvSpPr/>
          <p:nvPr/>
        </p:nvSpPr>
        <p:spPr bwMode="auto">
          <a:xfrm>
            <a:off x="8156153" y="1118502"/>
            <a:ext cx="808335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Dave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72AAC69-8D5E-4920-80D9-6920CD0557A2}"/>
              </a:ext>
            </a:extLst>
          </p:cNvPr>
          <p:cNvCxnSpPr>
            <a:cxnSpLocks/>
            <a:stCxn id="11" idx="3"/>
            <a:endCxn id="25" idx="0"/>
          </p:cNvCxnSpPr>
          <p:nvPr/>
        </p:nvCxnSpPr>
        <p:spPr bwMode="auto">
          <a:xfrm>
            <a:off x="5688124" y="1356865"/>
            <a:ext cx="720080" cy="41595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CA6220B-CF44-40B4-8480-DD638BFCC288}"/>
              </a:ext>
            </a:extLst>
          </p:cNvPr>
          <p:cNvCxnSpPr>
            <a:cxnSpLocks/>
            <a:stCxn id="12" idx="3"/>
            <a:endCxn id="25" idx="2"/>
          </p:cNvCxnSpPr>
          <p:nvPr/>
        </p:nvCxnSpPr>
        <p:spPr bwMode="auto">
          <a:xfrm flipV="1">
            <a:off x="5904148" y="2249542"/>
            <a:ext cx="504056" cy="43016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0BEA261-42D1-4BA5-A298-EF0953A6EEAC}"/>
              </a:ext>
            </a:extLst>
          </p:cNvPr>
          <p:cNvCxnSpPr>
            <a:cxnSpLocks/>
            <a:stCxn id="25" idx="3"/>
            <a:endCxn id="26" idx="2"/>
          </p:cNvCxnSpPr>
          <p:nvPr/>
        </p:nvCxnSpPr>
        <p:spPr bwMode="auto">
          <a:xfrm flipV="1">
            <a:off x="6732240" y="1595228"/>
            <a:ext cx="550079" cy="41595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926ED25-1044-4F43-9C42-687320FFF2EB}"/>
              </a:ext>
            </a:extLst>
          </p:cNvPr>
          <p:cNvCxnSpPr>
            <a:cxnSpLocks/>
            <a:stCxn id="25" idx="3"/>
          </p:cNvCxnSpPr>
          <p:nvPr/>
        </p:nvCxnSpPr>
        <p:spPr bwMode="auto">
          <a:xfrm>
            <a:off x="6732240" y="2011179"/>
            <a:ext cx="648072" cy="42473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98E5995-14C6-41FD-AF7F-1A2127E1B448}"/>
              </a:ext>
            </a:extLst>
          </p:cNvPr>
          <p:cNvCxnSpPr>
            <a:cxnSpLocks/>
            <a:stCxn id="26" idx="3"/>
            <a:endCxn id="30" idx="1"/>
          </p:cNvCxnSpPr>
          <p:nvPr/>
        </p:nvCxnSpPr>
        <p:spPr bwMode="auto">
          <a:xfrm>
            <a:off x="7606355" y="1356865"/>
            <a:ext cx="549798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B8ECDDA1-2576-4CC9-B680-2C0A2F6C1168}"/>
              </a:ext>
            </a:extLst>
          </p:cNvPr>
          <p:cNvSpPr/>
          <p:nvPr/>
        </p:nvSpPr>
        <p:spPr>
          <a:xfrm>
            <a:off x="4539781" y="1210044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SG" sz="28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F7F9799-E462-4283-BAD6-71E50D880117}"/>
              </a:ext>
            </a:extLst>
          </p:cNvPr>
          <p:cNvSpPr/>
          <p:nvPr/>
        </p:nvSpPr>
        <p:spPr>
          <a:xfrm>
            <a:off x="4506227" y="2289094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SG" sz="28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73E9591-B9FA-4CAB-A6DC-C219CF199516}"/>
              </a:ext>
            </a:extLst>
          </p:cNvPr>
          <p:cNvSpPr/>
          <p:nvPr/>
        </p:nvSpPr>
        <p:spPr>
          <a:xfrm>
            <a:off x="5875558" y="1041620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SG" sz="28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E260910-D414-4499-BCE7-FDF321515511}"/>
              </a:ext>
            </a:extLst>
          </p:cNvPr>
          <p:cNvSpPr/>
          <p:nvPr/>
        </p:nvSpPr>
        <p:spPr>
          <a:xfrm>
            <a:off x="6595638" y="1356865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en-SG" sz="28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F60C068-C89F-47E3-8191-EA293AE07B22}"/>
              </a:ext>
            </a:extLst>
          </p:cNvPr>
          <p:cNvSpPr/>
          <p:nvPr/>
        </p:nvSpPr>
        <p:spPr>
          <a:xfrm>
            <a:off x="5970114" y="2435915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endParaRPr lang="en-SG" sz="28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28D144-38C1-47C5-A048-E3F97375A95E}"/>
              </a:ext>
            </a:extLst>
          </p:cNvPr>
          <p:cNvSpPr/>
          <p:nvPr/>
        </p:nvSpPr>
        <p:spPr>
          <a:xfrm>
            <a:off x="6683960" y="2057673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endParaRPr lang="en-SG" sz="28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80B9053-E0F0-4A59-8CFE-DEF6770FDD1B}"/>
              </a:ext>
            </a:extLst>
          </p:cNvPr>
          <p:cNvSpPr/>
          <p:nvPr/>
        </p:nvSpPr>
        <p:spPr>
          <a:xfrm>
            <a:off x="7648694" y="817548"/>
            <a:ext cx="3674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  <a:endParaRPr lang="en-SG" sz="2800" dirty="0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53C931AA-2D5A-4669-9585-0417DCDA1300}"/>
              </a:ext>
            </a:extLst>
          </p:cNvPr>
          <p:cNvSpPr/>
          <p:nvPr/>
        </p:nvSpPr>
        <p:spPr bwMode="auto">
          <a:xfrm>
            <a:off x="3995936" y="445627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Bob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5255E9CB-7F20-4E35-ACD0-C750A2769E3E}"/>
              </a:ext>
            </a:extLst>
          </p:cNvPr>
          <p:cNvSpPr/>
          <p:nvPr/>
        </p:nvSpPr>
        <p:spPr bwMode="auto">
          <a:xfrm>
            <a:off x="5046286" y="3801962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Ann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99176F22-5E55-4DBA-94A5-1022D685F039}"/>
              </a:ext>
            </a:extLst>
          </p:cNvPr>
          <p:cNvSpPr/>
          <p:nvPr/>
        </p:nvSpPr>
        <p:spPr bwMode="auto">
          <a:xfrm>
            <a:off x="5046286" y="5124806"/>
            <a:ext cx="864096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Cath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35A5514-84CD-44F8-BAA9-C17A614007F2}"/>
              </a:ext>
            </a:extLst>
          </p:cNvPr>
          <p:cNvCxnSpPr>
            <a:cxnSpLocks/>
            <a:stCxn id="38" idx="3"/>
            <a:endCxn id="40" idx="1"/>
          </p:cNvCxnSpPr>
          <p:nvPr/>
        </p:nvCxnSpPr>
        <p:spPr bwMode="auto">
          <a:xfrm>
            <a:off x="4644008" y="4694639"/>
            <a:ext cx="402278" cy="66853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8BD32B1-3A22-4492-99CC-5C47BAAF3129}"/>
              </a:ext>
            </a:extLst>
          </p:cNvPr>
          <p:cNvCxnSpPr>
            <a:cxnSpLocks/>
            <a:stCxn id="38" idx="3"/>
            <a:endCxn id="39" idx="1"/>
          </p:cNvCxnSpPr>
          <p:nvPr/>
        </p:nvCxnSpPr>
        <p:spPr bwMode="auto">
          <a:xfrm flipV="1">
            <a:off x="4644008" y="4040325"/>
            <a:ext cx="402278" cy="65431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AA49223B-3A82-4823-83FB-78FDA541B8E1}"/>
              </a:ext>
            </a:extLst>
          </p:cNvPr>
          <p:cNvSpPr/>
          <p:nvPr/>
        </p:nvSpPr>
        <p:spPr bwMode="auto">
          <a:xfrm>
            <a:off x="6090402" y="445627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Jim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258790DF-5480-4C4D-9693-B8B0315280EE}"/>
              </a:ext>
            </a:extLst>
          </p:cNvPr>
          <p:cNvSpPr/>
          <p:nvPr/>
        </p:nvSpPr>
        <p:spPr bwMode="auto">
          <a:xfrm>
            <a:off x="6964517" y="3801962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Sue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4D8086A7-E810-46E6-908E-D49AE27C93ED}"/>
              </a:ext>
            </a:extLst>
          </p:cNvPr>
          <p:cNvSpPr/>
          <p:nvPr/>
        </p:nvSpPr>
        <p:spPr bwMode="auto">
          <a:xfrm>
            <a:off x="6964517" y="512480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Pat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B3613566-2CA6-4C22-9D02-4BD589921188}"/>
              </a:ext>
            </a:extLst>
          </p:cNvPr>
          <p:cNvSpPr/>
          <p:nvPr/>
        </p:nvSpPr>
        <p:spPr bwMode="auto">
          <a:xfrm>
            <a:off x="8162387" y="3801962"/>
            <a:ext cx="808335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Dave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4DEDC72-EC47-40BE-A7C6-9473AF714D07}"/>
              </a:ext>
            </a:extLst>
          </p:cNvPr>
          <p:cNvCxnSpPr>
            <a:cxnSpLocks/>
            <a:stCxn id="45" idx="3"/>
            <a:endCxn id="46" idx="2"/>
          </p:cNvCxnSpPr>
          <p:nvPr/>
        </p:nvCxnSpPr>
        <p:spPr bwMode="auto">
          <a:xfrm flipV="1">
            <a:off x="6738474" y="4278688"/>
            <a:ext cx="550079" cy="41595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D09436A-D64A-4D03-AD3D-781CBCB209BD}"/>
              </a:ext>
            </a:extLst>
          </p:cNvPr>
          <p:cNvCxnSpPr>
            <a:cxnSpLocks/>
            <a:stCxn id="45" idx="3"/>
          </p:cNvCxnSpPr>
          <p:nvPr/>
        </p:nvCxnSpPr>
        <p:spPr bwMode="auto">
          <a:xfrm>
            <a:off x="6738474" y="4694639"/>
            <a:ext cx="648072" cy="42473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6746DCC-DB4E-4FEA-9256-3C153D25CAE6}"/>
              </a:ext>
            </a:extLst>
          </p:cNvPr>
          <p:cNvCxnSpPr>
            <a:cxnSpLocks/>
            <a:stCxn id="46" idx="3"/>
            <a:endCxn id="49" idx="1"/>
          </p:cNvCxnSpPr>
          <p:nvPr/>
        </p:nvCxnSpPr>
        <p:spPr bwMode="auto">
          <a:xfrm>
            <a:off x="7612589" y="4040325"/>
            <a:ext cx="549798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746EC548-D8A5-459E-9321-85515B2522E5}"/>
              </a:ext>
            </a:extLst>
          </p:cNvPr>
          <p:cNvSpPr/>
          <p:nvPr/>
        </p:nvSpPr>
        <p:spPr>
          <a:xfrm>
            <a:off x="4546015" y="3893504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SG" sz="280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9D8C35E-5811-4E73-B51C-5A0958D1A6E2}"/>
              </a:ext>
            </a:extLst>
          </p:cNvPr>
          <p:cNvSpPr/>
          <p:nvPr/>
        </p:nvSpPr>
        <p:spPr>
          <a:xfrm>
            <a:off x="4512461" y="4972554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SG" sz="280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1746DDD-E0BB-491F-90D5-0BE1193C8A9E}"/>
              </a:ext>
            </a:extLst>
          </p:cNvPr>
          <p:cNvSpPr/>
          <p:nvPr/>
        </p:nvSpPr>
        <p:spPr>
          <a:xfrm>
            <a:off x="6601872" y="4040325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en-SG" sz="280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9FDF4BF-0845-4C7C-B2FD-E7265DB97EB9}"/>
              </a:ext>
            </a:extLst>
          </p:cNvPr>
          <p:cNvSpPr/>
          <p:nvPr/>
        </p:nvSpPr>
        <p:spPr>
          <a:xfrm>
            <a:off x="6690194" y="4741133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endParaRPr lang="en-SG" sz="2800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3EFFDBD-FFB8-4982-9D27-D370AC9BEF30}"/>
              </a:ext>
            </a:extLst>
          </p:cNvPr>
          <p:cNvSpPr/>
          <p:nvPr/>
        </p:nvSpPr>
        <p:spPr>
          <a:xfrm>
            <a:off x="7654928" y="3501008"/>
            <a:ext cx="3674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  <a:endParaRPr lang="en-SG" sz="2800" dirty="0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F660909-636B-4E59-9F6B-23F38A5F643C}"/>
              </a:ext>
            </a:extLst>
          </p:cNvPr>
          <p:cNvCxnSpPr>
            <a:cxnSpLocks/>
            <a:stCxn id="39" idx="3"/>
            <a:endCxn id="45" idx="0"/>
          </p:cNvCxnSpPr>
          <p:nvPr/>
        </p:nvCxnSpPr>
        <p:spPr bwMode="auto">
          <a:xfrm>
            <a:off x="5694358" y="4040325"/>
            <a:ext cx="720080" cy="41595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9DB308D2-449A-43E0-9683-0732A1177D68}"/>
              </a:ext>
            </a:extLst>
          </p:cNvPr>
          <p:cNvSpPr/>
          <p:nvPr/>
        </p:nvSpPr>
        <p:spPr>
          <a:xfrm>
            <a:off x="5980735" y="3752149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SG" sz="2800" dirty="0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A2B8FB4D-306E-4C41-86FC-DB0289EFB7D9}"/>
              </a:ext>
            </a:extLst>
          </p:cNvPr>
          <p:cNvCxnSpPr>
            <a:cxnSpLocks/>
            <a:stCxn id="40" idx="3"/>
            <a:endCxn id="48" idx="1"/>
          </p:cNvCxnSpPr>
          <p:nvPr/>
        </p:nvCxnSpPr>
        <p:spPr bwMode="auto">
          <a:xfrm>
            <a:off x="5910382" y="5363169"/>
            <a:ext cx="1054135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E52C60B3-3116-4312-86D2-8B9E97F084C8}"/>
              </a:ext>
            </a:extLst>
          </p:cNvPr>
          <p:cNvSpPr/>
          <p:nvPr/>
        </p:nvSpPr>
        <p:spPr>
          <a:xfrm>
            <a:off x="6164439" y="5331674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endParaRPr lang="en-SG" sz="2800" dirty="0"/>
          </a:p>
        </p:txBody>
      </p:sp>
    </p:spTree>
    <p:extLst>
      <p:ext uri="{BB962C8B-B14F-4D97-AF65-F5344CB8AC3E}">
        <p14:creationId xmlns:p14="http://schemas.microsoft.com/office/powerpoint/2010/main" val="1419179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51C41-B18B-461E-95F7-9030AB70E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Another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FC4D6-104E-476E-9A8C-57A0FD9D8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40"/>
            <a:ext cx="3466728" cy="4713287"/>
          </a:xfrm>
        </p:spPr>
        <p:txBody>
          <a:bodyPr>
            <a:normAutofit fontScale="92500" lnSpcReduction="20000"/>
          </a:bodyPr>
          <a:lstStyle/>
          <a:p>
            <a:r>
              <a:rPr lang="en-SG" dirty="0"/>
              <a:t>Bob is the owner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Bob grants Ann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Bob grants Cath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Ann grants Jim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Jim grants Sue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Cath grants Jim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Jim grants Pat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Sue grants Dave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Cath revokes Jim</a:t>
            </a:r>
          </a:p>
          <a:p>
            <a:pPr marL="0" indent="0">
              <a:buNone/>
            </a:pPr>
            <a:r>
              <a:rPr lang="en-SG" dirty="0"/>
              <a:t> 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9D09DF5-416C-4050-8651-2B6B1079EA02}"/>
              </a:ext>
            </a:extLst>
          </p:cNvPr>
          <p:cNvSpPr/>
          <p:nvPr/>
        </p:nvSpPr>
        <p:spPr bwMode="auto">
          <a:xfrm>
            <a:off x="3989702" y="177281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Bob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BB2DED8-FA3C-4132-A649-0D4E9CD30E85}"/>
              </a:ext>
            </a:extLst>
          </p:cNvPr>
          <p:cNvSpPr/>
          <p:nvPr/>
        </p:nvSpPr>
        <p:spPr bwMode="auto">
          <a:xfrm>
            <a:off x="5040052" y="1118502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Ann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4D4CA32-6499-4518-B09D-6FD2C7EF8F1C}"/>
              </a:ext>
            </a:extLst>
          </p:cNvPr>
          <p:cNvSpPr/>
          <p:nvPr/>
        </p:nvSpPr>
        <p:spPr bwMode="auto">
          <a:xfrm>
            <a:off x="5040052" y="2441346"/>
            <a:ext cx="864096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Cath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89312C8-6691-43B4-9108-0DD751C112EA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 bwMode="auto">
          <a:xfrm>
            <a:off x="4637774" y="2011179"/>
            <a:ext cx="402278" cy="66853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451BDCE-2507-4CE0-A647-EFD563DE115F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 bwMode="auto">
          <a:xfrm flipV="1">
            <a:off x="4637774" y="1356865"/>
            <a:ext cx="402278" cy="65431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93CA7CC-B722-489F-BF71-14D17F05E32B}"/>
              </a:ext>
            </a:extLst>
          </p:cNvPr>
          <p:cNvSpPr/>
          <p:nvPr/>
        </p:nvSpPr>
        <p:spPr bwMode="auto">
          <a:xfrm>
            <a:off x="6084168" y="177281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Jim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61C89C1-87D6-47AF-A4B4-F26BF1419846}"/>
              </a:ext>
            </a:extLst>
          </p:cNvPr>
          <p:cNvSpPr/>
          <p:nvPr/>
        </p:nvSpPr>
        <p:spPr bwMode="auto">
          <a:xfrm>
            <a:off x="6958283" y="1118502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Sue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79B3CF6-131C-432F-995A-87FCEA535338}"/>
              </a:ext>
            </a:extLst>
          </p:cNvPr>
          <p:cNvSpPr/>
          <p:nvPr/>
        </p:nvSpPr>
        <p:spPr bwMode="auto">
          <a:xfrm>
            <a:off x="6958283" y="244134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Pat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BE2DE4B-D5A7-421A-BE08-E9A1A9469D99}"/>
              </a:ext>
            </a:extLst>
          </p:cNvPr>
          <p:cNvSpPr/>
          <p:nvPr/>
        </p:nvSpPr>
        <p:spPr bwMode="auto">
          <a:xfrm>
            <a:off x="8156153" y="1118502"/>
            <a:ext cx="808335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Dave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72AAC69-8D5E-4920-80D9-6920CD0557A2}"/>
              </a:ext>
            </a:extLst>
          </p:cNvPr>
          <p:cNvCxnSpPr>
            <a:cxnSpLocks/>
            <a:stCxn id="11" idx="3"/>
            <a:endCxn id="25" idx="0"/>
          </p:cNvCxnSpPr>
          <p:nvPr/>
        </p:nvCxnSpPr>
        <p:spPr bwMode="auto">
          <a:xfrm>
            <a:off x="5688124" y="1356865"/>
            <a:ext cx="720080" cy="41595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CA6220B-CF44-40B4-8480-DD638BFCC288}"/>
              </a:ext>
            </a:extLst>
          </p:cNvPr>
          <p:cNvCxnSpPr>
            <a:cxnSpLocks/>
            <a:stCxn id="12" idx="3"/>
            <a:endCxn id="25" idx="2"/>
          </p:cNvCxnSpPr>
          <p:nvPr/>
        </p:nvCxnSpPr>
        <p:spPr bwMode="auto">
          <a:xfrm flipV="1">
            <a:off x="5904148" y="2249542"/>
            <a:ext cx="504056" cy="43016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0BEA261-42D1-4BA5-A298-EF0953A6EEAC}"/>
              </a:ext>
            </a:extLst>
          </p:cNvPr>
          <p:cNvCxnSpPr>
            <a:cxnSpLocks/>
            <a:stCxn id="25" idx="3"/>
            <a:endCxn id="26" idx="2"/>
          </p:cNvCxnSpPr>
          <p:nvPr/>
        </p:nvCxnSpPr>
        <p:spPr bwMode="auto">
          <a:xfrm flipV="1">
            <a:off x="6732240" y="1595228"/>
            <a:ext cx="550079" cy="41595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926ED25-1044-4F43-9C42-687320FFF2EB}"/>
              </a:ext>
            </a:extLst>
          </p:cNvPr>
          <p:cNvCxnSpPr>
            <a:cxnSpLocks/>
            <a:stCxn id="25" idx="3"/>
          </p:cNvCxnSpPr>
          <p:nvPr/>
        </p:nvCxnSpPr>
        <p:spPr bwMode="auto">
          <a:xfrm>
            <a:off x="6732240" y="2011179"/>
            <a:ext cx="648072" cy="42473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98E5995-14C6-41FD-AF7F-1A2127E1B448}"/>
              </a:ext>
            </a:extLst>
          </p:cNvPr>
          <p:cNvCxnSpPr>
            <a:cxnSpLocks/>
            <a:stCxn id="26" idx="3"/>
            <a:endCxn id="30" idx="1"/>
          </p:cNvCxnSpPr>
          <p:nvPr/>
        </p:nvCxnSpPr>
        <p:spPr bwMode="auto">
          <a:xfrm>
            <a:off x="7606355" y="1356865"/>
            <a:ext cx="549798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B8ECDDA1-2576-4CC9-B680-2C0A2F6C1168}"/>
              </a:ext>
            </a:extLst>
          </p:cNvPr>
          <p:cNvSpPr/>
          <p:nvPr/>
        </p:nvSpPr>
        <p:spPr>
          <a:xfrm>
            <a:off x="4539781" y="1210044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SG" sz="28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F7F9799-E462-4283-BAD6-71E50D880117}"/>
              </a:ext>
            </a:extLst>
          </p:cNvPr>
          <p:cNvSpPr/>
          <p:nvPr/>
        </p:nvSpPr>
        <p:spPr>
          <a:xfrm>
            <a:off x="4506227" y="2289094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SG" sz="28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73E9591-B9FA-4CAB-A6DC-C219CF199516}"/>
              </a:ext>
            </a:extLst>
          </p:cNvPr>
          <p:cNvSpPr/>
          <p:nvPr/>
        </p:nvSpPr>
        <p:spPr>
          <a:xfrm>
            <a:off x="5875558" y="1041620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SG" sz="28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E260910-D414-4499-BCE7-FDF321515511}"/>
              </a:ext>
            </a:extLst>
          </p:cNvPr>
          <p:cNvSpPr/>
          <p:nvPr/>
        </p:nvSpPr>
        <p:spPr>
          <a:xfrm>
            <a:off x="6595638" y="1356865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en-SG" sz="28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F60C068-C89F-47E3-8191-EA293AE07B22}"/>
              </a:ext>
            </a:extLst>
          </p:cNvPr>
          <p:cNvSpPr/>
          <p:nvPr/>
        </p:nvSpPr>
        <p:spPr>
          <a:xfrm>
            <a:off x="5970114" y="2435915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endParaRPr lang="en-SG" sz="28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28D144-38C1-47C5-A048-E3F97375A95E}"/>
              </a:ext>
            </a:extLst>
          </p:cNvPr>
          <p:cNvSpPr/>
          <p:nvPr/>
        </p:nvSpPr>
        <p:spPr>
          <a:xfrm>
            <a:off x="6683960" y="2057673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endParaRPr lang="en-SG" sz="28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80B9053-E0F0-4A59-8CFE-DEF6770FDD1B}"/>
              </a:ext>
            </a:extLst>
          </p:cNvPr>
          <p:cNvSpPr/>
          <p:nvPr/>
        </p:nvSpPr>
        <p:spPr>
          <a:xfrm>
            <a:off x="7648694" y="817548"/>
            <a:ext cx="3674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  <a:endParaRPr lang="en-SG" sz="2800" dirty="0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53C931AA-2D5A-4669-9585-0417DCDA1300}"/>
              </a:ext>
            </a:extLst>
          </p:cNvPr>
          <p:cNvSpPr/>
          <p:nvPr/>
        </p:nvSpPr>
        <p:spPr bwMode="auto">
          <a:xfrm>
            <a:off x="3995936" y="445627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Bob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5255E9CB-7F20-4E35-ACD0-C750A2769E3E}"/>
              </a:ext>
            </a:extLst>
          </p:cNvPr>
          <p:cNvSpPr/>
          <p:nvPr/>
        </p:nvSpPr>
        <p:spPr bwMode="auto">
          <a:xfrm>
            <a:off x="5046286" y="3801962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Ann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99176F22-5E55-4DBA-94A5-1022D685F039}"/>
              </a:ext>
            </a:extLst>
          </p:cNvPr>
          <p:cNvSpPr/>
          <p:nvPr/>
        </p:nvSpPr>
        <p:spPr bwMode="auto">
          <a:xfrm>
            <a:off x="5046286" y="5124806"/>
            <a:ext cx="864096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Cath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35A5514-84CD-44F8-BAA9-C17A614007F2}"/>
              </a:ext>
            </a:extLst>
          </p:cNvPr>
          <p:cNvCxnSpPr>
            <a:cxnSpLocks/>
            <a:stCxn id="38" idx="3"/>
            <a:endCxn id="40" idx="1"/>
          </p:cNvCxnSpPr>
          <p:nvPr/>
        </p:nvCxnSpPr>
        <p:spPr bwMode="auto">
          <a:xfrm>
            <a:off x="4644008" y="4694639"/>
            <a:ext cx="402278" cy="66853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8BD32B1-3A22-4492-99CC-5C47BAAF3129}"/>
              </a:ext>
            </a:extLst>
          </p:cNvPr>
          <p:cNvCxnSpPr>
            <a:cxnSpLocks/>
            <a:stCxn id="38" idx="3"/>
            <a:endCxn id="39" idx="1"/>
          </p:cNvCxnSpPr>
          <p:nvPr/>
        </p:nvCxnSpPr>
        <p:spPr bwMode="auto">
          <a:xfrm flipV="1">
            <a:off x="4644008" y="4040325"/>
            <a:ext cx="402278" cy="65431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AA49223B-3A82-4823-83FB-78FDA541B8E1}"/>
              </a:ext>
            </a:extLst>
          </p:cNvPr>
          <p:cNvSpPr/>
          <p:nvPr/>
        </p:nvSpPr>
        <p:spPr bwMode="auto">
          <a:xfrm>
            <a:off x="6090402" y="445627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Jim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258790DF-5480-4C4D-9693-B8B0315280EE}"/>
              </a:ext>
            </a:extLst>
          </p:cNvPr>
          <p:cNvSpPr/>
          <p:nvPr/>
        </p:nvSpPr>
        <p:spPr bwMode="auto">
          <a:xfrm>
            <a:off x="6964517" y="3801962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Sue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4D8086A7-E810-46E6-908E-D49AE27C93ED}"/>
              </a:ext>
            </a:extLst>
          </p:cNvPr>
          <p:cNvSpPr/>
          <p:nvPr/>
        </p:nvSpPr>
        <p:spPr bwMode="auto">
          <a:xfrm>
            <a:off x="6964517" y="5124806"/>
            <a:ext cx="648072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SG" sz="28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Pat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B3613566-2CA6-4C22-9D02-4BD589921188}"/>
              </a:ext>
            </a:extLst>
          </p:cNvPr>
          <p:cNvSpPr/>
          <p:nvPr/>
        </p:nvSpPr>
        <p:spPr bwMode="auto">
          <a:xfrm>
            <a:off x="8162387" y="3801962"/>
            <a:ext cx="808335" cy="476726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Dave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4DEDC72-EC47-40BE-A7C6-9473AF714D07}"/>
              </a:ext>
            </a:extLst>
          </p:cNvPr>
          <p:cNvCxnSpPr>
            <a:cxnSpLocks/>
            <a:stCxn id="45" idx="3"/>
            <a:endCxn id="46" idx="2"/>
          </p:cNvCxnSpPr>
          <p:nvPr/>
        </p:nvCxnSpPr>
        <p:spPr bwMode="auto">
          <a:xfrm flipV="1">
            <a:off x="6738474" y="4278688"/>
            <a:ext cx="550079" cy="41595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D09436A-D64A-4D03-AD3D-781CBCB209BD}"/>
              </a:ext>
            </a:extLst>
          </p:cNvPr>
          <p:cNvCxnSpPr>
            <a:cxnSpLocks/>
            <a:stCxn id="45" idx="3"/>
          </p:cNvCxnSpPr>
          <p:nvPr/>
        </p:nvCxnSpPr>
        <p:spPr bwMode="auto">
          <a:xfrm>
            <a:off x="6738474" y="4694639"/>
            <a:ext cx="648072" cy="42473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6746DCC-DB4E-4FEA-9256-3C153D25CAE6}"/>
              </a:ext>
            </a:extLst>
          </p:cNvPr>
          <p:cNvCxnSpPr>
            <a:cxnSpLocks/>
            <a:stCxn id="46" idx="3"/>
            <a:endCxn id="49" idx="1"/>
          </p:cNvCxnSpPr>
          <p:nvPr/>
        </p:nvCxnSpPr>
        <p:spPr bwMode="auto">
          <a:xfrm>
            <a:off x="7612589" y="4040325"/>
            <a:ext cx="549798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746EC548-D8A5-459E-9321-85515B2522E5}"/>
              </a:ext>
            </a:extLst>
          </p:cNvPr>
          <p:cNvSpPr/>
          <p:nvPr/>
        </p:nvSpPr>
        <p:spPr>
          <a:xfrm>
            <a:off x="4546015" y="3893504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SG" sz="280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9D8C35E-5811-4E73-B51C-5A0958D1A6E2}"/>
              </a:ext>
            </a:extLst>
          </p:cNvPr>
          <p:cNvSpPr/>
          <p:nvPr/>
        </p:nvSpPr>
        <p:spPr>
          <a:xfrm>
            <a:off x="4512461" y="4972554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SG" sz="280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1746DDD-E0BB-491F-90D5-0BE1193C8A9E}"/>
              </a:ext>
            </a:extLst>
          </p:cNvPr>
          <p:cNvSpPr/>
          <p:nvPr/>
        </p:nvSpPr>
        <p:spPr>
          <a:xfrm>
            <a:off x="6601872" y="4040325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en-SG" sz="280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9FDF4BF-0845-4C7C-B2FD-E7265DB97EB9}"/>
              </a:ext>
            </a:extLst>
          </p:cNvPr>
          <p:cNvSpPr/>
          <p:nvPr/>
        </p:nvSpPr>
        <p:spPr>
          <a:xfrm>
            <a:off x="6690194" y="4741133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endParaRPr lang="en-SG" sz="2800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3EFFDBD-FFB8-4982-9D27-D370AC9BEF30}"/>
              </a:ext>
            </a:extLst>
          </p:cNvPr>
          <p:cNvSpPr/>
          <p:nvPr/>
        </p:nvSpPr>
        <p:spPr>
          <a:xfrm>
            <a:off x="7654928" y="3501008"/>
            <a:ext cx="3674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  <a:endParaRPr lang="en-SG" sz="2800" dirty="0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F660909-636B-4E59-9F6B-23F38A5F643C}"/>
              </a:ext>
            </a:extLst>
          </p:cNvPr>
          <p:cNvCxnSpPr>
            <a:cxnSpLocks/>
            <a:stCxn id="39" idx="3"/>
            <a:endCxn id="45" idx="0"/>
          </p:cNvCxnSpPr>
          <p:nvPr/>
        </p:nvCxnSpPr>
        <p:spPr bwMode="auto">
          <a:xfrm>
            <a:off x="5694358" y="4040325"/>
            <a:ext cx="720080" cy="41595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9DB308D2-449A-43E0-9683-0732A1177D68}"/>
              </a:ext>
            </a:extLst>
          </p:cNvPr>
          <p:cNvSpPr/>
          <p:nvPr/>
        </p:nvSpPr>
        <p:spPr>
          <a:xfrm>
            <a:off x="5980735" y="3752149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SG" sz="2800" dirty="0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A2B8FB4D-306E-4C41-86FC-DB0289EFB7D9}"/>
              </a:ext>
            </a:extLst>
          </p:cNvPr>
          <p:cNvCxnSpPr>
            <a:cxnSpLocks/>
            <a:stCxn id="40" idx="3"/>
            <a:endCxn id="48" idx="1"/>
          </p:cNvCxnSpPr>
          <p:nvPr/>
        </p:nvCxnSpPr>
        <p:spPr bwMode="auto">
          <a:xfrm>
            <a:off x="5910382" y="5363169"/>
            <a:ext cx="1054135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E52C60B3-3116-4312-86D2-8B9E97F084C8}"/>
              </a:ext>
            </a:extLst>
          </p:cNvPr>
          <p:cNvSpPr/>
          <p:nvPr/>
        </p:nvSpPr>
        <p:spPr>
          <a:xfrm>
            <a:off x="6164439" y="5331674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800" dirty="0">
                <a:solidFill>
                  <a:srgbClr val="A500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endParaRPr lang="en-SG" sz="2800" dirty="0"/>
          </a:p>
        </p:txBody>
      </p:sp>
      <p:sp>
        <p:nvSpPr>
          <p:cNvPr id="51" name="Speech Bubble: Rectangle 50">
            <a:extLst>
              <a:ext uri="{FF2B5EF4-FFF2-40B4-BE49-F238E27FC236}">
                <a16:creationId xmlns:a16="http://schemas.microsoft.com/office/drawing/2014/main" id="{F12804FD-6F7A-4E01-BF3C-9CA8EC63925D}"/>
              </a:ext>
            </a:extLst>
          </p:cNvPr>
          <p:cNvSpPr/>
          <p:nvPr/>
        </p:nvSpPr>
        <p:spPr bwMode="auto">
          <a:xfrm>
            <a:off x="539552" y="1041620"/>
            <a:ext cx="6192688" cy="2183354"/>
          </a:xfrm>
          <a:prstGeom prst="wedgeRectCallout">
            <a:avLst>
              <a:gd name="adj1" fmla="val 29791"/>
              <a:gd name="adj2" fmla="val 131991"/>
            </a:avLst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45720" rIns="14400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We do not add </a:t>
            </a:r>
            <a:r>
              <a:rPr kumimoji="0" lang="en-SG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Cath</a:t>
            </a:r>
            <a:r>
              <a:rPr kumimoji="0" lang="en-SG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sym typeface="Wingdings" panose="05000000000000000000" pitchFamily="2" charset="2"/>
              </a:rPr>
              <a:t>Sue</a:t>
            </a: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sym typeface="Wingdings" panose="05000000000000000000" pitchFamily="2" charset="2"/>
              </a:rPr>
              <a:t>, since </a:t>
            </a:r>
            <a:r>
              <a:rPr kumimoji="0" lang="en-SG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sym typeface="Wingdings" panose="05000000000000000000" pitchFamily="2" charset="2"/>
              </a:rPr>
              <a:t>JimSue</a:t>
            </a: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sym typeface="Wingdings" panose="05000000000000000000" pitchFamily="2" charset="2"/>
              </a:rPr>
              <a:t> at timestamp 4 is </a:t>
            </a:r>
            <a:r>
              <a:rPr kumimoji="0" lang="en-SG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sym typeface="Wingdings" panose="05000000000000000000" pitchFamily="2" charset="2"/>
              </a:rPr>
              <a:t>irrelevant </a:t>
            </a: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sym typeface="Wingdings" panose="05000000000000000000" pitchFamily="2" charset="2"/>
              </a:rPr>
              <a:t>to </a:t>
            </a:r>
            <a:r>
              <a:rPr kumimoji="0" lang="en-SG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sym typeface="Wingdings" panose="05000000000000000000" pitchFamily="2" charset="2"/>
              </a:rPr>
              <a:t>CathJim</a:t>
            </a:r>
            <a:r>
              <a:rPr kumimoji="0" lang="en-SG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sym typeface="Wingdings" panose="05000000000000000000" pitchFamily="2" charset="2"/>
              </a:rPr>
              <a:t> at timestamp 5</a:t>
            </a:r>
            <a:endParaRPr kumimoji="0" lang="en-SG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02463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25E89-6110-4E4C-ACBA-9F7DD051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altLang="en-US" dirty="0"/>
              <a:t>Views / Content-Based Authorization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7C12F-EB0A-4831-9E09-F98211A0F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G" dirty="0"/>
              <a:t>Views are commonly used to support content-based access control in RDBMS</a:t>
            </a:r>
          </a:p>
          <a:p>
            <a:pPr lvl="1"/>
            <a:r>
              <a:rPr lang="en-SG" dirty="0"/>
              <a:t>Define a view containing the predicates to select the tuples (or statistics) that a subject S is allowed to access</a:t>
            </a:r>
          </a:p>
          <a:p>
            <a:pPr lvl="1"/>
            <a:r>
              <a:rPr lang="en-SG" dirty="0"/>
              <a:t>Grant S the select/insert/update privileges on the view, and not on the underlying table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41903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B574F-107A-4B08-92C8-4FCEAAD18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CF7D0-F68C-4004-9D7D-C9C71EC0A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CREATE VIEW </a:t>
            </a:r>
            <a:r>
              <a:rPr lang="en-SG" dirty="0" err="1"/>
              <a:t>Vemp</a:t>
            </a:r>
            <a:r>
              <a:rPr lang="en-SG" dirty="0"/>
              <a:t> AS</a:t>
            </a:r>
            <a:br>
              <a:rPr lang="en-SG" dirty="0"/>
            </a:br>
            <a:r>
              <a:rPr lang="en-SG" dirty="0"/>
              <a:t>SELECT * FROM Employee </a:t>
            </a:r>
            <a:br>
              <a:rPr lang="en-SG" dirty="0"/>
            </a:br>
            <a:r>
              <a:rPr lang="en-SG" dirty="0"/>
              <a:t>WHERE Salary &lt; 20000;</a:t>
            </a:r>
          </a:p>
          <a:p>
            <a:r>
              <a:rPr lang="en-SG" dirty="0"/>
              <a:t>GRANT Select ON </a:t>
            </a:r>
            <a:r>
              <a:rPr lang="en-SG" dirty="0" err="1"/>
              <a:t>Vemp</a:t>
            </a:r>
            <a:r>
              <a:rPr lang="en-SG" dirty="0"/>
              <a:t> TO Ann;</a:t>
            </a:r>
          </a:p>
          <a:p>
            <a:endParaRPr lang="en-SG" dirty="0"/>
          </a:p>
          <a:p>
            <a:r>
              <a:rPr lang="en-SG" dirty="0"/>
              <a:t>Ann can only see employees whose salary is lower than 20000</a:t>
            </a:r>
          </a:p>
        </p:txBody>
      </p:sp>
    </p:spTree>
    <p:extLst>
      <p:ext uri="{BB962C8B-B14F-4D97-AF65-F5344CB8AC3E}">
        <p14:creationId xmlns:p14="http://schemas.microsoft.com/office/powerpoint/2010/main" val="2966328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A28D0-CF4E-4C05-9F92-A29AC2026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altLang="en-US" dirty="0"/>
              <a:t>Views / Content-Based Authorization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603F5-50AE-486F-BA28-59D3A3CC5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Queries on views are transformed through view composition into queries on base tables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FAD056F-0D5F-46CE-AD68-E5BD411CED0B}"/>
              </a:ext>
            </a:extLst>
          </p:cNvPr>
          <p:cNvSpPr txBox="1">
            <a:spLocks/>
          </p:cNvSpPr>
          <p:nvPr/>
        </p:nvSpPr>
        <p:spPr bwMode="auto">
          <a:xfrm>
            <a:off x="467544" y="2996952"/>
            <a:ext cx="3456384" cy="30905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Calibri" pitchFamily="34" charset="0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Calibri" pitchFamily="34" charset="0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SG" sz="2400" kern="0" dirty="0"/>
              <a:t>CREATE VIEW </a:t>
            </a:r>
            <a:r>
              <a:rPr lang="en-SG" sz="2400" kern="0" dirty="0" err="1"/>
              <a:t>Vemp</a:t>
            </a:r>
            <a:r>
              <a:rPr lang="en-SG" sz="2400" kern="0" dirty="0"/>
              <a:t> AS</a:t>
            </a:r>
            <a:br>
              <a:rPr lang="en-SG" sz="2400" kern="0" dirty="0"/>
            </a:br>
            <a:r>
              <a:rPr lang="en-SG" sz="2400" kern="0" dirty="0"/>
              <a:t>SELECT * FROM Employee </a:t>
            </a:r>
            <a:br>
              <a:rPr lang="en-SG" sz="2400" kern="0" dirty="0"/>
            </a:br>
            <a:r>
              <a:rPr lang="en-SG" sz="2400" kern="0" dirty="0"/>
              <a:t>WHERE Salary &lt; 20000;</a:t>
            </a:r>
          </a:p>
          <a:p>
            <a:endParaRPr lang="en-SG" sz="2400" kern="0" dirty="0"/>
          </a:p>
          <a:p>
            <a:r>
              <a:rPr lang="en-SG" sz="2400" kern="0" dirty="0"/>
              <a:t>GRANT Select ON </a:t>
            </a:r>
            <a:r>
              <a:rPr lang="en-SG" sz="2400" kern="0" dirty="0" err="1"/>
              <a:t>Vemp</a:t>
            </a:r>
            <a:r>
              <a:rPr lang="en-SG" sz="2400" kern="0" dirty="0"/>
              <a:t> TO Ann;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B5630D4-5BDE-4F14-956D-1FA00B41733F}"/>
              </a:ext>
            </a:extLst>
          </p:cNvPr>
          <p:cNvSpPr txBox="1">
            <a:spLocks/>
          </p:cNvSpPr>
          <p:nvPr/>
        </p:nvSpPr>
        <p:spPr bwMode="auto">
          <a:xfrm>
            <a:off x="4355976" y="2996952"/>
            <a:ext cx="4320480" cy="3085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Calibri" pitchFamily="34" charset="0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Calibri" pitchFamily="34" charset="0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SG" sz="2400" kern="0" dirty="0"/>
              <a:t>Ann:</a:t>
            </a:r>
            <a:br>
              <a:rPr lang="en-SG" sz="2400" kern="0" dirty="0"/>
            </a:br>
            <a:r>
              <a:rPr lang="en-SG" sz="2400" kern="0" dirty="0"/>
              <a:t>SELECT * FROM </a:t>
            </a:r>
            <a:r>
              <a:rPr lang="en-SG" sz="2400" kern="0" dirty="0" err="1"/>
              <a:t>Vemp</a:t>
            </a:r>
            <a:r>
              <a:rPr lang="en-SG" sz="2400" kern="0" dirty="0"/>
              <a:t> WHERE Job = ‘Programmer’;</a:t>
            </a:r>
          </a:p>
          <a:p>
            <a:endParaRPr lang="it-IT" altLang="en-US" sz="2400" dirty="0"/>
          </a:p>
          <a:p>
            <a:r>
              <a:rPr lang="it-IT" altLang="en-US" sz="2400" dirty="0"/>
              <a:t>Query after view composition:</a:t>
            </a:r>
          </a:p>
          <a:p>
            <a:r>
              <a:rPr lang="en-SG" altLang="en-US" sz="2400" dirty="0"/>
              <a:t>SELECT * FROM Employee WHERE Salary &lt; 20000 AND Job = ‘Programmer’;</a:t>
            </a:r>
          </a:p>
          <a:p>
            <a:endParaRPr lang="it-IT" altLang="en-US" sz="2400" dirty="0"/>
          </a:p>
          <a:p>
            <a:endParaRPr lang="en-SG" sz="2400" kern="0" dirty="0"/>
          </a:p>
        </p:txBody>
      </p:sp>
    </p:spTree>
    <p:extLst>
      <p:ext uri="{BB962C8B-B14F-4D97-AF65-F5344CB8AC3E}">
        <p14:creationId xmlns:p14="http://schemas.microsoft.com/office/powerpoint/2010/main" val="2918212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9A68D-42EA-4A0F-8E1D-29F45DD9D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Steps in Query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B2149-7348-42F0-AE97-599C38E37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SG" dirty="0"/>
              <a:t>Query parsing</a:t>
            </a:r>
          </a:p>
          <a:p>
            <a:r>
              <a:rPr lang="en-SG" dirty="0" err="1"/>
              <a:t>Catalog</a:t>
            </a:r>
            <a:r>
              <a:rPr lang="en-SG" dirty="0"/>
              <a:t> lookup</a:t>
            </a:r>
          </a:p>
          <a:p>
            <a:r>
              <a:rPr lang="en-SG" dirty="0"/>
              <a:t>Authorization checking</a:t>
            </a:r>
          </a:p>
          <a:p>
            <a:r>
              <a:rPr lang="en-SG" dirty="0"/>
              <a:t>View Composition</a:t>
            </a:r>
          </a:p>
          <a:p>
            <a:r>
              <a:rPr lang="en-SG" dirty="0"/>
              <a:t>Query optimization</a:t>
            </a:r>
          </a:p>
          <a:p>
            <a:endParaRPr lang="en-SG" dirty="0"/>
          </a:p>
          <a:p>
            <a:r>
              <a:rPr lang="en-SG" dirty="0"/>
              <a:t>Note that authorization is performed before view composition; therefore, authorization checking is against the views used in the query and not against the base tables used in these views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92879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A49B1-2D07-46BA-AC59-4DE3B1C8B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Authorizations on Views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463FE-3AF5-438D-B0A6-C7CD8DFD8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SG" dirty="0"/>
              <a:t>The user creating a view is called the view definer</a:t>
            </a:r>
          </a:p>
          <a:p>
            <a:r>
              <a:rPr lang="en-SG" dirty="0"/>
              <a:t>The privileges that the view definer gets on the view depend on:</a:t>
            </a:r>
          </a:p>
          <a:p>
            <a:pPr lvl="1"/>
            <a:r>
              <a:rPr lang="en-SG" dirty="0"/>
              <a:t>The authorizations that the definers has on the base table(s)</a:t>
            </a:r>
          </a:p>
          <a:p>
            <a:pPr lvl="1"/>
            <a:r>
              <a:rPr lang="en-SG" dirty="0"/>
              <a:t>The view semantics, that is, its definition in terms of the base relation(s)</a:t>
            </a:r>
          </a:p>
          <a:p>
            <a:r>
              <a:rPr lang="en-SG" dirty="0"/>
              <a:t>The view definer does not receive privileges corresponding to operations that cannot be executed on the view</a:t>
            </a:r>
          </a:p>
          <a:p>
            <a:pPr lvl="1"/>
            <a:r>
              <a:rPr lang="en-SG" dirty="0"/>
              <a:t>e.g., alter and index do not apply to views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8730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16EC3-712A-4940-AC62-7B79E4F27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altLang="en-US" dirty="0"/>
              <a:t>Authorizations on Views – Example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DA59C-FB99-49C6-897B-5C9AC0E29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SG" dirty="0"/>
              <a:t>Suppose that Bob is the owner of Employee</a:t>
            </a:r>
          </a:p>
          <a:p>
            <a:r>
              <a:rPr lang="en-SG" dirty="0"/>
              <a:t>Consider the following view</a:t>
            </a:r>
          </a:p>
          <a:p>
            <a:pPr lvl="1"/>
            <a:r>
              <a:rPr lang="en-SG" dirty="0"/>
              <a:t>Bob: 	CREATE VIEW V1 (Emp#, Sal)</a:t>
            </a:r>
            <a:br>
              <a:rPr lang="en-SG" dirty="0"/>
            </a:br>
            <a:r>
              <a:rPr lang="en-SG" dirty="0"/>
              <a:t>		AS SELECT Emp#, Salary</a:t>
            </a:r>
            <a:br>
              <a:rPr lang="en-SG" dirty="0"/>
            </a:br>
            <a:r>
              <a:rPr lang="en-SG" dirty="0"/>
              <a:t>		FROM Employee WHERE </a:t>
            </a:r>
            <a:br>
              <a:rPr lang="en-SG" dirty="0"/>
            </a:br>
            <a:r>
              <a:rPr lang="en-SG" dirty="0"/>
              <a:t>		Job =‘Programmer’;</a:t>
            </a:r>
          </a:p>
          <a:p>
            <a:endParaRPr lang="en-SG" dirty="0"/>
          </a:p>
          <a:p>
            <a:r>
              <a:rPr lang="en-SG" dirty="0"/>
              <a:t>Bob has rights to update both Emp# and Sal on V1, since he has rights to update Emp# and Salary on Employee</a:t>
            </a:r>
          </a:p>
          <a:p>
            <a:pPr marL="0" indent="0">
              <a:buNone/>
            </a:pPr>
            <a:r>
              <a:rPr lang="en-SG" dirty="0"/>
              <a:t> 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02301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16EC3-712A-4940-AC62-7B79E4F27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altLang="en-US" dirty="0"/>
              <a:t>Authorizations on Views – Example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DA59C-FB99-49C6-897B-5C9AC0E29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SG" dirty="0"/>
              <a:t>Suppose that Bob is the owner of Employee</a:t>
            </a:r>
          </a:p>
          <a:p>
            <a:r>
              <a:rPr lang="en-SG" dirty="0"/>
              <a:t>Consider the following view</a:t>
            </a:r>
          </a:p>
          <a:p>
            <a:pPr lvl="1"/>
            <a:r>
              <a:rPr lang="en-SG" dirty="0"/>
              <a:t>Bob: 	CREATE VIEW V1 (Emp#, </a:t>
            </a:r>
            <a:r>
              <a:rPr lang="en-SG" dirty="0" err="1"/>
              <a:t>Total_Sal</a:t>
            </a:r>
            <a:r>
              <a:rPr lang="en-SG" dirty="0"/>
              <a:t>)</a:t>
            </a:r>
            <a:br>
              <a:rPr lang="en-SG" dirty="0"/>
            </a:br>
            <a:r>
              <a:rPr lang="en-SG" dirty="0"/>
              <a:t>		AS SELECT Emp#, Salary + Bonus</a:t>
            </a:r>
            <a:br>
              <a:rPr lang="en-SG" dirty="0"/>
            </a:br>
            <a:r>
              <a:rPr lang="en-SG" dirty="0"/>
              <a:t>		FROM Employee WHERE </a:t>
            </a:r>
            <a:br>
              <a:rPr lang="en-SG" dirty="0"/>
            </a:br>
            <a:r>
              <a:rPr lang="en-SG" dirty="0"/>
              <a:t>		Job =‘Programmer’;</a:t>
            </a:r>
          </a:p>
          <a:p>
            <a:endParaRPr lang="en-SG" dirty="0"/>
          </a:p>
          <a:p>
            <a:r>
              <a:rPr lang="en-SG" dirty="0"/>
              <a:t>The update operation is not defined on column </a:t>
            </a:r>
            <a:r>
              <a:rPr lang="en-SG" dirty="0" err="1"/>
              <a:t>Total_Sal</a:t>
            </a:r>
            <a:r>
              <a:rPr lang="en-SG" dirty="0"/>
              <a:t> of the view</a:t>
            </a:r>
          </a:p>
          <a:p>
            <a:r>
              <a:rPr lang="en-SG" dirty="0"/>
              <a:t>Therefore, Bob will not have the update authorization on the </a:t>
            </a:r>
            <a:r>
              <a:rPr lang="en-SG" dirty="0" err="1"/>
              <a:t>Total_Sal</a:t>
            </a:r>
            <a:r>
              <a:rPr lang="en-SG" dirty="0"/>
              <a:t> column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44604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C7C95-1821-496F-914C-68005C6A8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altLang="en-US" dirty="0"/>
              <a:t>Authorizations on Views – Example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A75A3-DE8D-427D-A1B8-A89386B0FF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8191"/>
          </a:xfrm>
        </p:spPr>
        <p:txBody>
          <a:bodyPr>
            <a:normAutofit fontScale="77500" lnSpcReduction="20000"/>
          </a:bodyPr>
          <a:lstStyle/>
          <a:p>
            <a:r>
              <a:rPr lang="en-SG" dirty="0"/>
              <a:t>Suppose that Bob is the owner of Employee</a:t>
            </a:r>
          </a:p>
          <a:p>
            <a:r>
              <a:rPr lang="en-SG" dirty="0"/>
              <a:t>Consider the following sequence of commands:</a:t>
            </a:r>
          </a:p>
          <a:p>
            <a:pPr lvl="1"/>
            <a:r>
              <a:rPr lang="en-SG" dirty="0"/>
              <a:t>Bob: GRANT Select, Update ON Employee to Tim;</a:t>
            </a:r>
          </a:p>
          <a:p>
            <a:pPr lvl="1"/>
            <a:r>
              <a:rPr lang="en-SG" dirty="0"/>
              <a:t>Tim: CREATE VIEW V1 AS SELECT Emp#, Salary FROM Employee;</a:t>
            </a:r>
          </a:p>
          <a:p>
            <a:pPr lvl="1"/>
            <a:r>
              <a:rPr lang="en-SG" dirty="0"/>
              <a:t>Tim: CREATE VIEW V2 (Emp#, </a:t>
            </a:r>
            <a:r>
              <a:rPr lang="en-SG" dirty="0" err="1"/>
              <a:t>Annual_Salary</a:t>
            </a:r>
            <a:r>
              <a:rPr lang="en-SG" dirty="0"/>
              <a:t>) AS SELECT Emp#, Salary*12 FROM Employee; </a:t>
            </a:r>
          </a:p>
          <a:p>
            <a:endParaRPr lang="en-SG" dirty="0"/>
          </a:p>
          <a:p>
            <a:r>
              <a:rPr lang="en-SG" dirty="0"/>
              <a:t>Tim can exercise on V1 all privileges he has on relation Employee, that is, Select, Update</a:t>
            </a:r>
          </a:p>
          <a:p>
            <a:r>
              <a:rPr lang="en-SG" dirty="0"/>
              <a:t>However, Tim can exercise on V2 only the privileges of Select, and Update on column Emp#; </a:t>
            </a:r>
          </a:p>
          <a:p>
            <a:pPr lvl="1"/>
            <a:r>
              <a:rPr lang="en-SG" dirty="0"/>
              <a:t>Update operation is not defined on column </a:t>
            </a:r>
            <a:r>
              <a:rPr lang="en-SG" dirty="0" err="1"/>
              <a:t>Annual_Sal</a:t>
            </a:r>
            <a:r>
              <a:rPr lang="en-SG" dirty="0"/>
              <a:t> of V2</a:t>
            </a:r>
          </a:p>
          <a:p>
            <a:pPr marL="0" indent="0">
              <a:buNone/>
            </a:pPr>
            <a:r>
              <a:rPr lang="en-SG" dirty="0"/>
              <a:t> 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70127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C7C95-1821-496F-914C-68005C6A8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altLang="en-US" dirty="0"/>
              <a:t>Authorizations on Views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A75A3-DE8D-427D-A1B8-A89386B0FF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8191"/>
          </a:xfrm>
        </p:spPr>
        <p:txBody>
          <a:bodyPr>
            <a:normAutofit fontScale="77500" lnSpcReduction="20000"/>
          </a:bodyPr>
          <a:lstStyle/>
          <a:p>
            <a:r>
              <a:rPr lang="en-SG" dirty="0"/>
              <a:t>Suppose that Bob is the owner of Employee</a:t>
            </a:r>
          </a:p>
          <a:p>
            <a:r>
              <a:rPr lang="en-SG" dirty="0"/>
              <a:t>Consider the following sequence of commands:</a:t>
            </a:r>
          </a:p>
          <a:p>
            <a:pPr lvl="1"/>
            <a:r>
              <a:rPr lang="en-SG" dirty="0"/>
              <a:t>Bob: GRANT Select, Update ON Employee to Tim;</a:t>
            </a:r>
          </a:p>
          <a:p>
            <a:pPr lvl="1"/>
            <a:r>
              <a:rPr lang="en-SG" dirty="0"/>
              <a:t>Tim: CREATE VIEW V1 AS SELECT Emp#, Salary FROM Employee;</a:t>
            </a:r>
          </a:p>
          <a:p>
            <a:pPr lvl="1"/>
            <a:r>
              <a:rPr lang="en-SG" dirty="0"/>
              <a:t>Tim: CREATE VIEW V2 (Emp#, </a:t>
            </a:r>
            <a:r>
              <a:rPr lang="en-SG" dirty="0" err="1"/>
              <a:t>Annual_Salary</a:t>
            </a:r>
            <a:r>
              <a:rPr lang="en-SG" dirty="0"/>
              <a:t>) AS SELECT Emp#, Salary*12 FROM Employee; </a:t>
            </a:r>
          </a:p>
          <a:p>
            <a:endParaRPr lang="en-SG" dirty="0"/>
          </a:p>
          <a:p>
            <a:r>
              <a:rPr lang="en-SG" dirty="0"/>
              <a:t>It is possible to grant authorizations on a view</a:t>
            </a:r>
          </a:p>
          <a:p>
            <a:pPr lvl="1"/>
            <a:r>
              <a:rPr lang="en-SG" dirty="0"/>
              <a:t>The privileges that a user can grant are those that he/she owns with grant option on the base tables</a:t>
            </a:r>
          </a:p>
          <a:p>
            <a:r>
              <a:rPr lang="en-SG" dirty="0"/>
              <a:t>Tim cannot grant any authorization on views V1 and V2 he has defined</a:t>
            </a:r>
          </a:p>
          <a:p>
            <a:pPr lvl="1"/>
            <a:r>
              <a:rPr lang="en-SG" dirty="0"/>
              <a:t>Because he does not have the authorizations with grant option on the base table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09571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C7C95-1821-496F-914C-68005C6A8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altLang="en-US" dirty="0"/>
              <a:t>Authorizations on Views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A75A3-DE8D-427D-A1B8-A89386B0FF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90159"/>
          </a:xfrm>
        </p:spPr>
        <p:txBody>
          <a:bodyPr>
            <a:normAutofit lnSpcReduction="10000"/>
          </a:bodyPr>
          <a:lstStyle/>
          <a:p>
            <a:r>
              <a:rPr lang="en-SG" dirty="0"/>
              <a:t>Consider the following sequence of commands:</a:t>
            </a:r>
          </a:p>
          <a:p>
            <a:pPr lvl="1"/>
            <a:r>
              <a:rPr lang="en-SG" dirty="0"/>
              <a:t>Bob: GRANT Select ON Employee TO Tim WITH GRANT OPTION;</a:t>
            </a:r>
          </a:p>
          <a:p>
            <a:pPr lvl="1"/>
            <a:r>
              <a:rPr lang="en-SG" dirty="0"/>
              <a:t>Bob: GRANT Update, Insert ON Employee TO Tim;</a:t>
            </a:r>
          </a:p>
          <a:p>
            <a:pPr lvl="1"/>
            <a:r>
              <a:rPr lang="en-SG" dirty="0"/>
              <a:t>Tim: CREATE VIEW V4 AS SELECT Emp#, Salary FROM Employee;</a:t>
            </a:r>
          </a:p>
          <a:p>
            <a:r>
              <a:rPr lang="en-SG" dirty="0"/>
              <a:t>Authorizations of Tim on V4:</a:t>
            </a:r>
          </a:p>
          <a:p>
            <a:pPr lvl="1"/>
            <a:r>
              <a:rPr lang="en-SG" dirty="0"/>
              <a:t>Select with Grant Option;</a:t>
            </a:r>
          </a:p>
          <a:p>
            <a:pPr lvl="1"/>
            <a:r>
              <a:rPr lang="en-SG" dirty="0"/>
              <a:t>Update, Insert without Grant Option; 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03252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DAC 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Consider the following two GRANT statements on a table T with 4 attributes A, B, C, D. Assume that Bob owns T.</a:t>
            </a:r>
          </a:p>
          <a:p>
            <a:pPr lvl="1"/>
            <a:r>
              <a:rPr lang="en-US" dirty="0" smtClean="0"/>
              <a:t>Bob: GRANT update ON T TO Cath</a:t>
            </a:r>
          </a:p>
          <a:p>
            <a:pPr lvl="1"/>
            <a:r>
              <a:rPr lang="en-US" dirty="0" smtClean="0"/>
              <a:t>Bob: GRANT update (A, B, C, D) ON T TO Cath</a:t>
            </a:r>
          </a:p>
          <a:p>
            <a:r>
              <a:rPr lang="en-US" dirty="0" smtClean="0"/>
              <a:t>Is there any difference between these two statements?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 </a:t>
            </a:r>
            <a:br>
              <a:rPr lang="en-US" dirty="0" smtClean="0"/>
            </a:b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929967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DAC 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Consider the following two GRANT statements on a table T with 4 attributes A, B, C, D. Assume that Bob owns T.</a:t>
            </a:r>
          </a:p>
          <a:p>
            <a:pPr lvl="1"/>
            <a:r>
              <a:rPr lang="en-US" dirty="0" smtClean="0"/>
              <a:t>Bob: GRANT update ON T TO Cath</a:t>
            </a:r>
          </a:p>
          <a:p>
            <a:pPr lvl="1"/>
            <a:r>
              <a:rPr lang="en-US" dirty="0" smtClean="0"/>
              <a:t>Bob: GRANT update </a:t>
            </a:r>
            <a:r>
              <a:rPr lang="en-US" dirty="0"/>
              <a:t>(A, B, C, D) ON </a:t>
            </a:r>
            <a:r>
              <a:rPr lang="en-US" dirty="0" smtClean="0"/>
              <a:t>T TO Cath</a:t>
            </a:r>
          </a:p>
          <a:p>
            <a:r>
              <a:rPr lang="en-US" dirty="0" smtClean="0"/>
              <a:t>Is there any difference between these two statements?</a:t>
            </a:r>
          </a:p>
          <a:p>
            <a:r>
              <a:rPr lang="en-US" dirty="0" smtClean="0"/>
              <a:t>Yes. </a:t>
            </a:r>
          </a:p>
          <a:p>
            <a:pPr lvl="1"/>
            <a:r>
              <a:rPr lang="en-US" dirty="0" smtClean="0"/>
              <a:t>If Bob adds a new attribute E to T, then the first statement would allow Cath to update E, whereas the second one does not allow this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7689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DAC 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Suppose </a:t>
            </a:r>
            <a:r>
              <a:rPr lang="en-US" altLang="zh-CN" dirty="0" smtClean="0"/>
              <a:t>that Bob owns a Boats table that contains an attribute bid, which represents the ids of boats.</a:t>
            </a:r>
            <a:endParaRPr lang="en-US" dirty="0" smtClean="0"/>
          </a:p>
          <a:p>
            <a:r>
              <a:rPr lang="en-US" dirty="0" smtClean="0"/>
              <a:t>Bob: GRANT select ON Boats TO Cath</a:t>
            </a:r>
          </a:p>
          <a:p>
            <a:r>
              <a:rPr lang="en-US" dirty="0" smtClean="0"/>
              <a:t>Cath: CREATE TABLE Reserves(</a:t>
            </a:r>
            <a:br>
              <a:rPr lang="en-US" dirty="0" smtClean="0"/>
            </a:br>
            <a:r>
              <a:rPr lang="en-US" dirty="0" smtClean="0"/>
              <a:t>		</a:t>
            </a:r>
            <a:r>
              <a:rPr lang="en-US" dirty="0" err="1" smtClean="0"/>
              <a:t>sid</a:t>
            </a:r>
            <a:r>
              <a:rPr lang="en-US" dirty="0" smtClean="0"/>
              <a:t> INT, bid INT, day DATE,</a:t>
            </a:r>
            <a:br>
              <a:rPr lang="en-US" dirty="0" smtClean="0"/>
            </a:br>
            <a:r>
              <a:rPr lang="en-US" dirty="0" smtClean="0"/>
              <a:t>		PRIMARY KEY (bid, day),</a:t>
            </a:r>
            <a:br>
              <a:rPr lang="en-US" dirty="0" smtClean="0"/>
            </a:br>
            <a:r>
              <a:rPr lang="en-US" dirty="0" smtClean="0"/>
              <a:t>		FOREIGN KEY (bid) REFERENCES Boats(bid)</a:t>
            </a:r>
            <a:br>
              <a:rPr lang="en-US" dirty="0" smtClean="0"/>
            </a:br>
            <a:r>
              <a:rPr lang="en-US" dirty="0" smtClean="0"/>
              <a:t>		)</a:t>
            </a:r>
          </a:p>
          <a:p>
            <a:r>
              <a:rPr lang="en-US" dirty="0" smtClean="0"/>
              <a:t>Is this OK?</a:t>
            </a:r>
          </a:p>
          <a:p>
            <a:pPr marL="0" indent="0">
              <a:buNone/>
            </a:pPr>
            <a:r>
              <a:rPr lang="en-US" dirty="0"/>
              <a:t>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475348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DAC 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Suppose </a:t>
            </a:r>
            <a:r>
              <a:rPr lang="en-US" altLang="zh-CN" dirty="0" smtClean="0"/>
              <a:t>that Bob owns a Boats table that contains an attribute bid, which represents the ids of boats.</a:t>
            </a:r>
            <a:endParaRPr lang="en-US" dirty="0" smtClean="0"/>
          </a:p>
          <a:p>
            <a:r>
              <a:rPr lang="en-US" dirty="0" smtClean="0"/>
              <a:t>Bob: GRANT select ON Boats TO Cath</a:t>
            </a:r>
          </a:p>
          <a:p>
            <a:r>
              <a:rPr lang="en-US" dirty="0" smtClean="0"/>
              <a:t>Cath: CREATE TABLE Reserves(</a:t>
            </a:r>
            <a:br>
              <a:rPr lang="en-US" dirty="0" smtClean="0"/>
            </a:br>
            <a:r>
              <a:rPr lang="en-US" dirty="0" smtClean="0"/>
              <a:t>		</a:t>
            </a:r>
            <a:r>
              <a:rPr lang="en-US" dirty="0" err="1" smtClean="0"/>
              <a:t>sid</a:t>
            </a:r>
            <a:r>
              <a:rPr lang="en-US" dirty="0" smtClean="0"/>
              <a:t> INT, bid INT, day DATE,</a:t>
            </a:r>
            <a:br>
              <a:rPr lang="en-US" dirty="0" smtClean="0"/>
            </a:br>
            <a:r>
              <a:rPr lang="en-US" dirty="0" smtClean="0"/>
              <a:t>		PRIMARY KEY (bid, day),</a:t>
            </a:r>
            <a:br>
              <a:rPr lang="en-US" dirty="0" smtClean="0"/>
            </a:br>
            <a:r>
              <a:rPr lang="en-US" dirty="0" smtClean="0"/>
              <a:t>		FOREIGN KEY (bid) REFERENCES Boats(bid)</a:t>
            </a:r>
            <a:br>
              <a:rPr lang="en-US" dirty="0" smtClean="0"/>
            </a:br>
            <a:r>
              <a:rPr lang="en-US" dirty="0" smtClean="0"/>
              <a:t>		)</a:t>
            </a:r>
          </a:p>
          <a:p>
            <a:r>
              <a:rPr lang="en-US" dirty="0" smtClean="0"/>
              <a:t>Is this OK?</a:t>
            </a:r>
          </a:p>
          <a:p>
            <a:r>
              <a:rPr lang="en-US" dirty="0" smtClean="0"/>
              <a:t>No.</a:t>
            </a:r>
          </a:p>
          <a:p>
            <a:pPr lvl="1"/>
            <a:r>
              <a:rPr lang="en-US" dirty="0" smtClean="0"/>
              <a:t>Because Cath does not have the right to reference Boats(bid)</a:t>
            </a:r>
          </a:p>
        </p:txBody>
      </p:sp>
    </p:spTree>
    <p:extLst>
      <p:ext uri="{BB962C8B-B14F-4D97-AF65-F5344CB8AC3E}">
        <p14:creationId xmlns:p14="http://schemas.microsoft.com/office/powerpoint/2010/main" val="2600618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DAC 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Suppose </a:t>
            </a:r>
            <a:r>
              <a:rPr lang="en-US" altLang="zh-CN" dirty="0" smtClean="0"/>
              <a:t>that Bob owns a Boats table that contains an attribute bid, which represents the ids of boats.</a:t>
            </a:r>
            <a:endParaRPr lang="en-US" dirty="0" smtClean="0"/>
          </a:p>
          <a:p>
            <a:r>
              <a:rPr lang="en-US" dirty="0" smtClean="0"/>
              <a:t>Bob: GRANT select, </a:t>
            </a:r>
            <a:r>
              <a:rPr lang="en-US" dirty="0" smtClean="0">
                <a:solidFill>
                  <a:srgbClr val="C00000"/>
                </a:solidFill>
              </a:rPr>
              <a:t>references(bid)</a:t>
            </a:r>
            <a:r>
              <a:rPr lang="en-US" dirty="0" smtClean="0"/>
              <a:t> ON Boats TO Cath</a:t>
            </a:r>
          </a:p>
          <a:p>
            <a:r>
              <a:rPr lang="en-US" dirty="0" smtClean="0"/>
              <a:t>Cath: CREATE TABLE Reserves(</a:t>
            </a:r>
            <a:br>
              <a:rPr lang="en-US" dirty="0" smtClean="0"/>
            </a:br>
            <a:r>
              <a:rPr lang="en-US" dirty="0" smtClean="0"/>
              <a:t>		</a:t>
            </a:r>
            <a:r>
              <a:rPr lang="en-US" dirty="0" err="1" smtClean="0"/>
              <a:t>sid</a:t>
            </a:r>
            <a:r>
              <a:rPr lang="en-US" dirty="0" smtClean="0"/>
              <a:t> INT, bid INT, day DATE,</a:t>
            </a:r>
            <a:br>
              <a:rPr lang="en-US" dirty="0" smtClean="0"/>
            </a:br>
            <a:r>
              <a:rPr lang="en-US" dirty="0" smtClean="0"/>
              <a:t>		PRIMARY KEY (bid, day),</a:t>
            </a:r>
            <a:br>
              <a:rPr lang="en-US" dirty="0" smtClean="0"/>
            </a:br>
            <a:r>
              <a:rPr lang="en-US" dirty="0" smtClean="0"/>
              <a:t>		FOREIGN KEY (bid) REFERENCES Boats(bid)</a:t>
            </a:r>
            <a:br>
              <a:rPr lang="en-US" dirty="0" smtClean="0"/>
            </a:br>
            <a:r>
              <a:rPr lang="en-US" dirty="0" smtClean="0"/>
              <a:t>		)</a:t>
            </a:r>
          </a:p>
          <a:p>
            <a:r>
              <a:rPr lang="en-US" dirty="0" smtClean="0"/>
              <a:t>Is this OK?</a:t>
            </a:r>
          </a:p>
          <a:p>
            <a:r>
              <a:rPr lang="en-US" dirty="0" smtClean="0"/>
              <a:t>Now it is OK</a:t>
            </a:r>
          </a:p>
          <a:p>
            <a:pPr marL="0" indent="0">
              <a:buNone/>
            </a:pPr>
            <a:r>
              <a:rPr lang="en-US" dirty="0"/>
              <a:t>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027926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DAC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Suppose </a:t>
            </a:r>
            <a:r>
              <a:rPr lang="en-US" altLang="zh-CN" dirty="0"/>
              <a:t>that Bob owns </a:t>
            </a:r>
            <a:r>
              <a:rPr lang="en-US" altLang="zh-CN" dirty="0" smtClean="0"/>
              <a:t>the following table:</a:t>
            </a:r>
          </a:p>
          <a:p>
            <a:pPr lvl="1"/>
            <a:r>
              <a:rPr lang="en-US" altLang="zh-CN" dirty="0" smtClean="0"/>
              <a:t>Restaurant( rid, name, address, rating )</a:t>
            </a:r>
          </a:p>
          <a:p>
            <a:r>
              <a:rPr lang="en-US" dirty="0" smtClean="0"/>
              <a:t>Bob: </a:t>
            </a:r>
          </a:p>
          <a:p>
            <a:pPr lvl="1"/>
            <a:r>
              <a:rPr lang="en-US" dirty="0" smtClean="0"/>
              <a:t>GRANT update(rating) ON Restaurant TO Cath</a:t>
            </a:r>
          </a:p>
          <a:p>
            <a:r>
              <a:rPr lang="en-US" dirty="0" smtClean="0"/>
              <a:t>Cath:</a:t>
            </a:r>
          </a:p>
          <a:p>
            <a:pPr lvl="1"/>
            <a:r>
              <a:rPr lang="en-US" dirty="0" smtClean="0"/>
              <a:t>UPDATE Restaurant R </a:t>
            </a:r>
            <a:br>
              <a:rPr lang="en-US" dirty="0" smtClean="0"/>
            </a:br>
            <a:r>
              <a:rPr lang="en-US" dirty="0" smtClean="0"/>
              <a:t>SET </a:t>
            </a:r>
            <a:r>
              <a:rPr lang="en-US" dirty="0" err="1" smtClean="0"/>
              <a:t>R.rating</a:t>
            </a:r>
            <a:r>
              <a:rPr lang="en-US" dirty="0" smtClean="0"/>
              <a:t> = 3</a:t>
            </a:r>
            <a:br>
              <a:rPr lang="en-US" dirty="0" smtClean="0"/>
            </a:br>
            <a:r>
              <a:rPr lang="en-US" dirty="0" smtClean="0"/>
              <a:t>WHERE </a:t>
            </a:r>
            <a:r>
              <a:rPr lang="en-US" dirty="0" err="1" smtClean="0"/>
              <a:t>R.rid</a:t>
            </a:r>
            <a:r>
              <a:rPr lang="en-US" dirty="0" smtClean="0"/>
              <a:t> = 1</a:t>
            </a:r>
          </a:p>
          <a:p>
            <a:r>
              <a:rPr lang="en-US" dirty="0" smtClean="0"/>
              <a:t>Is this OK?</a:t>
            </a:r>
          </a:p>
          <a:p>
            <a:pPr marL="0" indent="0">
              <a:buNone/>
            </a:pPr>
            <a:r>
              <a:rPr lang="en-US" dirty="0"/>
              <a:t>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49535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DAC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Suppose </a:t>
            </a:r>
            <a:r>
              <a:rPr lang="en-US" altLang="zh-CN" dirty="0"/>
              <a:t>that Bob owns </a:t>
            </a:r>
            <a:r>
              <a:rPr lang="en-US" altLang="zh-CN" dirty="0" smtClean="0"/>
              <a:t>the following table:</a:t>
            </a:r>
          </a:p>
          <a:p>
            <a:pPr lvl="1"/>
            <a:r>
              <a:rPr lang="en-US" altLang="zh-CN" dirty="0" smtClean="0"/>
              <a:t>Restaurant( rid, name, address, rating )</a:t>
            </a:r>
          </a:p>
          <a:p>
            <a:r>
              <a:rPr lang="en-US" dirty="0" smtClean="0"/>
              <a:t>Bob: </a:t>
            </a:r>
          </a:p>
          <a:p>
            <a:pPr lvl="1"/>
            <a:r>
              <a:rPr lang="en-US" dirty="0" smtClean="0"/>
              <a:t>GRANT update(rating) ON Restaurant TO Cath</a:t>
            </a:r>
          </a:p>
          <a:p>
            <a:r>
              <a:rPr lang="en-US" dirty="0" smtClean="0"/>
              <a:t>Cath:</a:t>
            </a:r>
          </a:p>
          <a:p>
            <a:pPr lvl="1"/>
            <a:r>
              <a:rPr lang="en-US" dirty="0" smtClean="0"/>
              <a:t>UPDATE Restaurant R </a:t>
            </a:r>
            <a:br>
              <a:rPr lang="en-US" dirty="0" smtClean="0"/>
            </a:br>
            <a:r>
              <a:rPr lang="en-US" dirty="0" smtClean="0"/>
              <a:t>SET </a:t>
            </a:r>
            <a:r>
              <a:rPr lang="en-US" dirty="0" err="1" smtClean="0"/>
              <a:t>R.rating</a:t>
            </a:r>
            <a:r>
              <a:rPr lang="en-US" dirty="0" smtClean="0"/>
              <a:t> = 3</a:t>
            </a:r>
            <a:br>
              <a:rPr lang="en-US" dirty="0" smtClean="0"/>
            </a:br>
            <a:r>
              <a:rPr lang="en-US" dirty="0" smtClean="0"/>
              <a:t>WHERE </a:t>
            </a:r>
            <a:r>
              <a:rPr lang="en-US" dirty="0" err="1" smtClean="0"/>
              <a:t>R.rid</a:t>
            </a:r>
            <a:r>
              <a:rPr lang="en-US" dirty="0" smtClean="0"/>
              <a:t> = 1</a:t>
            </a:r>
          </a:p>
          <a:p>
            <a:r>
              <a:rPr lang="en-US" dirty="0" smtClean="0"/>
              <a:t>Is this OK?</a:t>
            </a:r>
          </a:p>
          <a:p>
            <a:r>
              <a:rPr lang="en-US" dirty="0" smtClean="0"/>
              <a:t>No.</a:t>
            </a:r>
          </a:p>
          <a:p>
            <a:pPr lvl="1"/>
            <a:r>
              <a:rPr lang="en-US" dirty="0" smtClean="0"/>
              <a:t>Because Cath does not have select (i.e., read) right on Restaurant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882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DAC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Suppose </a:t>
            </a:r>
            <a:r>
              <a:rPr lang="en-US" altLang="zh-CN" dirty="0"/>
              <a:t>that Bob owns </a:t>
            </a:r>
            <a:r>
              <a:rPr lang="en-US" altLang="zh-CN" dirty="0" smtClean="0"/>
              <a:t>the following table:</a:t>
            </a:r>
          </a:p>
          <a:p>
            <a:pPr lvl="1"/>
            <a:r>
              <a:rPr lang="en-US" altLang="zh-CN" dirty="0" smtClean="0"/>
              <a:t>Restaurant( rid, name, address, rating )</a:t>
            </a:r>
          </a:p>
          <a:p>
            <a:r>
              <a:rPr lang="en-US" dirty="0" smtClean="0"/>
              <a:t>Bob: </a:t>
            </a:r>
          </a:p>
          <a:p>
            <a:pPr lvl="1"/>
            <a:r>
              <a:rPr lang="en-US" dirty="0" smtClean="0"/>
              <a:t>GRANT </a:t>
            </a:r>
            <a:r>
              <a:rPr lang="en-US" dirty="0" smtClean="0">
                <a:solidFill>
                  <a:srgbClr val="C00000"/>
                </a:solidFill>
              </a:rPr>
              <a:t>select, </a:t>
            </a:r>
            <a:r>
              <a:rPr lang="en-US" dirty="0" smtClean="0"/>
              <a:t>update(rating) ON Restaurant TO Cath</a:t>
            </a:r>
          </a:p>
          <a:p>
            <a:r>
              <a:rPr lang="en-US" dirty="0" smtClean="0"/>
              <a:t>Cath:</a:t>
            </a:r>
          </a:p>
          <a:p>
            <a:pPr lvl="1"/>
            <a:r>
              <a:rPr lang="en-US" dirty="0" smtClean="0"/>
              <a:t>UPDATE Restaurant R </a:t>
            </a:r>
            <a:br>
              <a:rPr lang="en-US" dirty="0" smtClean="0"/>
            </a:br>
            <a:r>
              <a:rPr lang="en-US" dirty="0" smtClean="0"/>
              <a:t>SET </a:t>
            </a:r>
            <a:r>
              <a:rPr lang="en-US" dirty="0" err="1" smtClean="0"/>
              <a:t>R.rating</a:t>
            </a:r>
            <a:r>
              <a:rPr lang="en-US" dirty="0" smtClean="0"/>
              <a:t> = 3</a:t>
            </a:r>
            <a:br>
              <a:rPr lang="en-US" dirty="0" smtClean="0"/>
            </a:br>
            <a:r>
              <a:rPr lang="en-US" dirty="0" smtClean="0"/>
              <a:t>WHERE </a:t>
            </a:r>
            <a:r>
              <a:rPr lang="en-US" dirty="0" err="1" smtClean="0"/>
              <a:t>R.rid</a:t>
            </a:r>
            <a:r>
              <a:rPr lang="en-US" dirty="0" smtClean="0"/>
              <a:t> = 1</a:t>
            </a:r>
          </a:p>
          <a:p>
            <a:r>
              <a:rPr lang="en-US" dirty="0" smtClean="0"/>
              <a:t>Now it is OK</a:t>
            </a:r>
          </a:p>
          <a:p>
            <a:pPr marL="0" indent="0">
              <a:buNone/>
            </a:pPr>
            <a:r>
              <a:rPr lang="en-US" dirty="0"/>
              <a:t>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337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DAC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Suppose </a:t>
            </a:r>
            <a:r>
              <a:rPr lang="en-US" altLang="zh-CN" dirty="0"/>
              <a:t>that Bob owns </a:t>
            </a:r>
            <a:r>
              <a:rPr lang="en-US" altLang="zh-CN" dirty="0" smtClean="0"/>
              <a:t>the following table:</a:t>
            </a:r>
          </a:p>
          <a:p>
            <a:pPr lvl="1"/>
            <a:r>
              <a:rPr lang="en-US" altLang="zh-CN" dirty="0" smtClean="0"/>
              <a:t>Restaurant( rid, name, address, rating )</a:t>
            </a:r>
          </a:p>
          <a:p>
            <a:r>
              <a:rPr lang="en-US" dirty="0" smtClean="0"/>
              <a:t>Bob: </a:t>
            </a:r>
          </a:p>
          <a:p>
            <a:pPr lvl="1"/>
            <a:r>
              <a:rPr lang="en-US" dirty="0" smtClean="0"/>
              <a:t>GRANT update(rating) ON Restaurant TO Cath</a:t>
            </a:r>
          </a:p>
          <a:p>
            <a:r>
              <a:rPr lang="en-US" dirty="0" smtClean="0"/>
              <a:t>Cath:</a:t>
            </a:r>
          </a:p>
          <a:p>
            <a:pPr lvl="1"/>
            <a:r>
              <a:rPr lang="en-US" dirty="0" smtClean="0"/>
              <a:t>UPDATE Restaurant R </a:t>
            </a:r>
            <a:br>
              <a:rPr lang="en-US" dirty="0" smtClean="0"/>
            </a:br>
            <a:r>
              <a:rPr lang="en-US" dirty="0" smtClean="0"/>
              <a:t>SET </a:t>
            </a:r>
            <a:r>
              <a:rPr lang="en-US" dirty="0" err="1" smtClean="0"/>
              <a:t>R.rating</a:t>
            </a:r>
            <a:r>
              <a:rPr lang="en-US" dirty="0" smtClean="0"/>
              <a:t> = 3</a:t>
            </a:r>
          </a:p>
          <a:p>
            <a:r>
              <a:rPr lang="en-US" dirty="0" smtClean="0"/>
              <a:t>Is this OK?</a:t>
            </a:r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93513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DAC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Suppose </a:t>
            </a:r>
            <a:r>
              <a:rPr lang="en-US" altLang="zh-CN" dirty="0"/>
              <a:t>that Bob owns </a:t>
            </a:r>
            <a:r>
              <a:rPr lang="en-US" altLang="zh-CN" dirty="0" smtClean="0"/>
              <a:t>the following table:</a:t>
            </a:r>
          </a:p>
          <a:p>
            <a:pPr lvl="1"/>
            <a:r>
              <a:rPr lang="en-US" altLang="zh-CN" dirty="0" smtClean="0"/>
              <a:t>Restaurant( rid, name, address, rating )</a:t>
            </a:r>
          </a:p>
          <a:p>
            <a:r>
              <a:rPr lang="en-US" dirty="0" smtClean="0"/>
              <a:t>Bob: </a:t>
            </a:r>
          </a:p>
          <a:p>
            <a:pPr lvl="1"/>
            <a:r>
              <a:rPr lang="en-US" dirty="0" smtClean="0"/>
              <a:t>GRANT update(rating) ON Restaurant TO Cath</a:t>
            </a:r>
          </a:p>
          <a:p>
            <a:r>
              <a:rPr lang="en-US" dirty="0" smtClean="0"/>
              <a:t>Cath:</a:t>
            </a:r>
          </a:p>
          <a:p>
            <a:pPr lvl="1"/>
            <a:r>
              <a:rPr lang="en-US" dirty="0" smtClean="0"/>
              <a:t>UPDATE Restaurant R </a:t>
            </a:r>
            <a:br>
              <a:rPr lang="en-US" dirty="0" smtClean="0"/>
            </a:br>
            <a:r>
              <a:rPr lang="en-US" dirty="0" smtClean="0"/>
              <a:t>SET </a:t>
            </a:r>
            <a:r>
              <a:rPr lang="en-US" dirty="0" err="1" smtClean="0"/>
              <a:t>R.rating</a:t>
            </a:r>
            <a:r>
              <a:rPr lang="en-US" dirty="0" smtClean="0"/>
              <a:t> = 3</a:t>
            </a:r>
          </a:p>
          <a:p>
            <a:r>
              <a:rPr lang="en-US" dirty="0" smtClean="0"/>
              <a:t>Is this OK?</a:t>
            </a:r>
            <a:endParaRPr lang="en-US" dirty="0"/>
          </a:p>
          <a:p>
            <a:r>
              <a:rPr lang="en-US" dirty="0" smtClean="0"/>
              <a:t>Yes</a:t>
            </a:r>
          </a:p>
          <a:p>
            <a:pPr lvl="1"/>
            <a:r>
              <a:rPr lang="en-US" dirty="0" smtClean="0"/>
              <a:t>Because the update does not read from the Restaurant table; it directly writes on it</a:t>
            </a:r>
          </a:p>
        </p:txBody>
      </p:sp>
    </p:spTree>
    <p:extLst>
      <p:ext uri="{BB962C8B-B14F-4D97-AF65-F5344CB8AC3E}">
        <p14:creationId xmlns:p14="http://schemas.microsoft.com/office/powerpoint/2010/main" val="2392196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DAC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Suppose </a:t>
            </a:r>
            <a:r>
              <a:rPr lang="en-US" altLang="zh-CN" dirty="0"/>
              <a:t>that Bob owns </a:t>
            </a:r>
            <a:r>
              <a:rPr lang="en-US" altLang="zh-CN" dirty="0" smtClean="0"/>
              <a:t>the following table:</a:t>
            </a:r>
          </a:p>
          <a:p>
            <a:pPr lvl="1"/>
            <a:r>
              <a:rPr lang="en-US" altLang="zh-CN" dirty="0" smtClean="0"/>
              <a:t>Restaurant( rid, name, address, rating )</a:t>
            </a:r>
          </a:p>
          <a:p>
            <a:r>
              <a:rPr lang="en-US" dirty="0" smtClean="0"/>
              <a:t>Bob: </a:t>
            </a:r>
          </a:p>
          <a:p>
            <a:pPr lvl="1"/>
            <a:r>
              <a:rPr lang="en-US" dirty="0" smtClean="0"/>
              <a:t>GRANT update(rating) ON Restaurant TO Cath</a:t>
            </a:r>
          </a:p>
          <a:p>
            <a:r>
              <a:rPr lang="en-US" dirty="0" smtClean="0"/>
              <a:t>Cath:</a:t>
            </a:r>
          </a:p>
          <a:p>
            <a:pPr lvl="1"/>
            <a:r>
              <a:rPr lang="en-US" dirty="0" smtClean="0"/>
              <a:t>UPDATE Restaurant R </a:t>
            </a:r>
            <a:br>
              <a:rPr lang="en-US" dirty="0" smtClean="0"/>
            </a:br>
            <a:r>
              <a:rPr lang="en-US" dirty="0" smtClean="0"/>
              <a:t>SET </a:t>
            </a:r>
            <a:r>
              <a:rPr lang="en-US" dirty="0" err="1" smtClean="0"/>
              <a:t>R.rating</a:t>
            </a:r>
            <a:r>
              <a:rPr lang="en-US" dirty="0" smtClean="0"/>
              <a:t> = </a:t>
            </a:r>
            <a:r>
              <a:rPr lang="en-US" dirty="0" err="1" smtClean="0"/>
              <a:t>R.rating</a:t>
            </a:r>
            <a:r>
              <a:rPr lang="en-US" dirty="0" smtClean="0"/>
              <a:t> + 1</a:t>
            </a:r>
          </a:p>
          <a:p>
            <a:r>
              <a:rPr lang="en-US" dirty="0" smtClean="0"/>
              <a:t>Is this OK?</a:t>
            </a:r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13239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DAC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Suppose </a:t>
            </a:r>
            <a:r>
              <a:rPr lang="en-US" altLang="zh-CN" dirty="0"/>
              <a:t>that Bob owns </a:t>
            </a:r>
            <a:r>
              <a:rPr lang="en-US" altLang="zh-CN" dirty="0" smtClean="0"/>
              <a:t>the following table:</a:t>
            </a:r>
          </a:p>
          <a:p>
            <a:pPr lvl="1"/>
            <a:r>
              <a:rPr lang="en-US" altLang="zh-CN" dirty="0" smtClean="0"/>
              <a:t>Restaurant( rid, name, address, rating )</a:t>
            </a:r>
          </a:p>
          <a:p>
            <a:r>
              <a:rPr lang="en-US" dirty="0" smtClean="0"/>
              <a:t>Bob: </a:t>
            </a:r>
          </a:p>
          <a:p>
            <a:pPr lvl="1"/>
            <a:r>
              <a:rPr lang="en-US" dirty="0" smtClean="0"/>
              <a:t>GRANT update(rating) ON Restaurant TO Cath</a:t>
            </a:r>
          </a:p>
          <a:p>
            <a:r>
              <a:rPr lang="en-US" dirty="0" smtClean="0"/>
              <a:t>Cath:</a:t>
            </a:r>
          </a:p>
          <a:p>
            <a:pPr lvl="1"/>
            <a:r>
              <a:rPr lang="en-US" dirty="0" smtClean="0"/>
              <a:t>UPDATE Restaurant R </a:t>
            </a:r>
            <a:br>
              <a:rPr lang="en-US" dirty="0" smtClean="0"/>
            </a:br>
            <a:r>
              <a:rPr lang="en-US" dirty="0" smtClean="0"/>
              <a:t>SET </a:t>
            </a:r>
            <a:r>
              <a:rPr lang="en-US" dirty="0" err="1" smtClean="0"/>
              <a:t>R.rating</a:t>
            </a:r>
            <a:r>
              <a:rPr lang="en-US" dirty="0" smtClean="0"/>
              <a:t> = </a:t>
            </a:r>
            <a:r>
              <a:rPr lang="en-US" dirty="0" err="1" smtClean="0"/>
              <a:t>R.rating</a:t>
            </a:r>
            <a:r>
              <a:rPr lang="en-US" dirty="0" smtClean="0"/>
              <a:t> + 1</a:t>
            </a:r>
          </a:p>
          <a:p>
            <a:r>
              <a:rPr lang="en-US" dirty="0" smtClean="0"/>
              <a:t>Is this OK?</a:t>
            </a:r>
            <a:endParaRPr lang="en-US" dirty="0"/>
          </a:p>
          <a:p>
            <a:r>
              <a:rPr lang="en-US" dirty="0" smtClean="0"/>
              <a:t>No</a:t>
            </a:r>
          </a:p>
          <a:p>
            <a:pPr lvl="1"/>
            <a:r>
              <a:rPr lang="en-US" dirty="0" err="1"/>
              <a:t>R.rating</a:t>
            </a:r>
            <a:r>
              <a:rPr lang="en-US" dirty="0"/>
              <a:t> = </a:t>
            </a:r>
            <a:r>
              <a:rPr lang="en-US" dirty="0" err="1"/>
              <a:t>R.rating</a:t>
            </a:r>
            <a:r>
              <a:rPr lang="en-US" dirty="0"/>
              <a:t> + </a:t>
            </a:r>
            <a:r>
              <a:rPr lang="en-US" dirty="0" smtClean="0"/>
              <a:t>1 cannot be done without reading </a:t>
            </a:r>
            <a:r>
              <a:rPr lang="en-US" dirty="0" err="1" smtClean="0"/>
              <a:t>R.rating</a:t>
            </a:r>
            <a:endParaRPr lang="en-US" dirty="0"/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190876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DAC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34175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Suppose </a:t>
            </a:r>
            <a:r>
              <a:rPr lang="en-US" altLang="zh-CN" dirty="0"/>
              <a:t>that Bob owns </a:t>
            </a:r>
            <a:r>
              <a:rPr lang="en-US" altLang="zh-CN" dirty="0" smtClean="0"/>
              <a:t>the following table:</a:t>
            </a:r>
          </a:p>
          <a:p>
            <a:pPr lvl="1"/>
            <a:r>
              <a:rPr lang="en-US" altLang="zh-CN" dirty="0" smtClean="0"/>
              <a:t>Restaurant( rid, name, address, rating )</a:t>
            </a:r>
          </a:p>
          <a:p>
            <a:r>
              <a:rPr lang="en-US" dirty="0" smtClean="0"/>
              <a:t>Bob: </a:t>
            </a:r>
          </a:p>
          <a:p>
            <a:pPr lvl="1"/>
            <a:r>
              <a:rPr lang="en-US" dirty="0" smtClean="0"/>
              <a:t>GRANT select </a:t>
            </a:r>
            <a:r>
              <a:rPr lang="en-US" dirty="0"/>
              <a:t>ON </a:t>
            </a:r>
            <a:r>
              <a:rPr lang="en-US" dirty="0" smtClean="0"/>
              <a:t>Restaurant </a:t>
            </a:r>
            <a:r>
              <a:rPr lang="en-US" dirty="0"/>
              <a:t>TO </a:t>
            </a:r>
            <a:r>
              <a:rPr lang="en-US" dirty="0" smtClean="0"/>
              <a:t>Cath </a:t>
            </a:r>
            <a:r>
              <a:rPr lang="en-US" dirty="0"/>
              <a:t>with GRANT </a:t>
            </a:r>
            <a:r>
              <a:rPr lang="en-US" dirty="0" smtClean="0"/>
              <a:t>OPTION</a:t>
            </a:r>
          </a:p>
          <a:p>
            <a:r>
              <a:rPr lang="en-US" dirty="0" smtClean="0"/>
              <a:t>Cath:</a:t>
            </a:r>
          </a:p>
          <a:p>
            <a:pPr lvl="1"/>
            <a:r>
              <a:rPr lang="en-US" dirty="0" smtClean="0"/>
              <a:t>CREATE VIEW </a:t>
            </a:r>
            <a:r>
              <a:rPr lang="en-US" dirty="0" err="1" smtClean="0"/>
              <a:t>BadRestaurant</a:t>
            </a:r>
            <a:r>
              <a:rPr lang="en-US" dirty="0" smtClean="0"/>
              <a:t>( rid, name, address ) AS </a:t>
            </a:r>
            <a:br>
              <a:rPr lang="en-US" dirty="0" smtClean="0"/>
            </a:br>
            <a:r>
              <a:rPr lang="en-US" dirty="0" smtClean="0"/>
              <a:t>SELECT </a:t>
            </a:r>
            <a:r>
              <a:rPr lang="en-US" dirty="0" err="1" smtClean="0"/>
              <a:t>R.rid</a:t>
            </a:r>
            <a:r>
              <a:rPr lang="en-US" dirty="0" smtClean="0"/>
              <a:t>, R.name, </a:t>
            </a:r>
            <a:r>
              <a:rPr lang="en-US" dirty="0" err="1" smtClean="0"/>
              <a:t>R.address</a:t>
            </a:r>
            <a:r>
              <a:rPr lang="en-US" dirty="0" smtClean="0"/>
              <a:t> FROM Restaurant</a:t>
            </a:r>
            <a:br>
              <a:rPr lang="en-US" dirty="0" smtClean="0"/>
            </a:br>
            <a:r>
              <a:rPr lang="en-US" dirty="0" smtClean="0"/>
              <a:t>WHERE </a:t>
            </a:r>
            <a:r>
              <a:rPr lang="en-US" dirty="0" err="1" smtClean="0"/>
              <a:t>R.rating</a:t>
            </a:r>
            <a:r>
              <a:rPr lang="en-US" dirty="0" smtClean="0"/>
              <a:t> &lt; 3</a:t>
            </a:r>
          </a:p>
          <a:p>
            <a:pPr lvl="1"/>
            <a:r>
              <a:rPr lang="en-US" dirty="0" smtClean="0"/>
              <a:t>GRANT select ON </a:t>
            </a:r>
            <a:r>
              <a:rPr lang="en-US" dirty="0" err="1" smtClean="0"/>
              <a:t>BadRestaurant</a:t>
            </a:r>
            <a:r>
              <a:rPr lang="en-US" dirty="0" smtClean="0"/>
              <a:t> TO Dave</a:t>
            </a:r>
          </a:p>
          <a:p>
            <a:r>
              <a:rPr lang="en-US" dirty="0" smtClean="0"/>
              <a:t>Dave:</a:t>
            </a:r>
          </a:p>
          <a:p>
            <a:pPr lvl="1"/>
            <a:r>
              <a:rPr lang="en-US" dirty="0" smtClean="0"/>
              <a:t>CREATE VIEW </a:t>
            </a:r>
            <a:r>
              <a:rPr lang="en-US" dirty="0" err="1" smtClean="0"/>
              <a:t>BadLocalRestaurant</a:t>
            </a:r>
            <a:r>
              <a:rPr lang="en-US" dirty="0" smtClean="0"/>
              <a:t>( rid, name, address ) AS </a:t>
            </a:r>
            <a:br>
              <a:rPr lang="en-US" dirty="0" smtClean="0"/>
            </a:br>
            <a:r>
              <a:rPr lang="en-US" dirty="0" smtClean="0"/>
              <a:t>SELECT </a:t>
            </a:r>
            <a:r>
              <a:rPr lang="en-US" dirty="0" err="1" smtClean="0"/>
              <a:t>R.rid</a:t>
            </a:r>
            <a:r>
              <a:rPr lang="en-US" dirty="0" smtClean="0"/>
              <a:t>, R.name, </a:t>
            </a:r>
            <a:r>
              <a:rPr lang="en-US" dirty="0" err="1" smtClean="0"/>
              <a:t>R.address</a:t>
            </a:r>
            <a:r>
              <a:rPr lang="en-US" dirty="0"/>
              <a:t> </a:t>
            </a:r>
            <a:r>
              <a:rPr lang="en-US" dirty="0" smtClean="0"/>
              <a:t>FROM </a:t>
            </a:r>
            <a:r>
              <a:rPr lang="en-US" dirty="0" err="1" smtClean="0"/>
              <a:t>BadRestaurant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WHERE </a:t>
            </a:r>
            <a:r>
              <a:rPr lang="en-US" dirty="0" err="1" smtClean="0"/>
              <a:t>R.address</a:t>
            </a:r>
            <a:r>
              <a:rPr lang="en-US" dirty="0" smtClean="0"/>
              <a:t> LIKE ‘%Singapore’</a:t>
            </a:r>
          </a:p>
          <a:p>
            <a:r>
              <a:rPr lang="en-US" dirty="0" smtClean="0"/>
              <a:t>What happens if Bob revokes the select privilege on Restaurant from Cath?</a:t>
            </a:r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223946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DAC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34175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Suppose </a:t>
            </a:r>
            <a:r>
              <a:rPr lang="en-US" altLang="zh-CN" dirty="0"/>
              <a:t>that Bob owns </a:t>
            </a:r>
            <a:r>
              <a:rPr lang="en-US" altLang="zh-CN" dirty="0" smtClean="0"/>
              <a:t>the following table:</a:t>
            </a:r>
          </a:p>
          <a:p>
            <a:pPr lvl="1"/>
            <a:r>
              <a:rPr lang="en-US" altLang="zh-CN" dirty="0" smtClean="0"/>
              <a:t>Restaurant( rid, name, address, rating )</a:t>
            </a:r>
          </a:p>
          <a:p>
            <a:r>
              <a:rPr lang="en-US" dirty="0" smtClean="0"/>
              <a:t>Bob: </a:t>
            </a:r>
          </a:p>
          <a:p>
            <a:pPr lvl="1"/>
            <a:r>
              <a:rPr lang="en-US" dirty="0" smtClean="0"/>
              <a:t>GRANT select </a:t>
            </a:r>
            <a:r>
              <a:rPr lang="en-US" dirty="0"/>
              <a:t>ON </a:t>
            </a:r>
            <a:r>
              <a:rPr lang="en-US" dirty="0" smtClean="0"/>
              <a:t>Restaurant </a:t>
            </a:r>
            <a:r>
              <a:rPr lang="en-US" dirty="0"/>
              <a:t>TO </a:t>
            </a:r>
            <a:r>
              <a:rPr lang="en-US" dirty="0" smtClean="0"/>
              <a:t>Cath </a:t>
            </a:r>
            <a:r>
              <a:rPr lang="en-US" dirty="0"/>
              <a:t>with GRANT </a:t>
            </a:r>
            <a:r>
              <a:rPr lang="en-US" dirty="0" smtClean="0"/>
              <a:t>OPTION</a:t>
            </a:r>
          </a:p>
          <a:p>
            <a:r>
              <a:rPr lang="en-US" dirty="0" smtClean="0"/>
              <a:t>Cath:</a:t>
            </a:r>
          </a:p>
          <a:p>
            <a:pPr lvl="1"/>
            <a:r>
              <a:rPr lang="en-US" dirty="0" smtClean="0"/>
              <a:t>CREATE VIEW </a:t>
            </a:r>
            <a:r>
              <a:rPr lang="en-US" dirty="0" err="1" smtClean="0"/>
              <a:t>BadRestaurant</a:t>
            </a:r>
            <a:r>
              <a:rPr lang="en-US" dirty="0" smtClean="0"/>
              <a:t>( rid, name, address ) AS </a:t>
            </a:r>
            <a:br>
              <a:rPr lang="en-US" dirty="0" smtClean="0"/>
            </a:br>
            <a:r>
              <a:rPr lang="en-US" dirty="0" smtClean="0"/>
              <a:t>SELECT </a:t>
            </a:r>
            <a:r>
              <a:rPr lang="en-US" dirty="0" err="1" smtClean="0"/>
              <a:t>R.rid</a:t>
            </a:r>
            <a:r>
              <a:rPr lang="en-US" dirty="0" smtClean="0"/>
              <a:t>, R.name, </a:t>
            </a:r>
            <a:r>
              <a:rPr lang="en-US" dirty="0" err="1" smtClean="0"/>
              <a:t>R.address</a:t>
            </a:r>
            <a:r>
              <a:rPr lang="en-US" dirty="0" smtClean="0"/>
              <a:t> FROM Restaurant</a:t>
            </a:r>
            <a:br>
              <a:rPr lang="en-US" dirty="0" smtClean="0"/>
            </a:br>
            <a:r>
              <a:rPr lang="en-US" dirty="0" smtClean="0"/>
              <a:t>WHERE </a:t>
            </a:r>
            <a:r>
              <a:rPr lang="en-US" dirty="0" err="1" smtClean="0"/>
              <a:t>R.rating</a:t>
            </a:r>
            <a:r>
              <a:rPr lang="en-US" dirty="0" smtClean="0"/>
              <a:t> &lt; 3</a:t>
            </a:r>
          </a:p>
          <a:p>
            <a:pPr lvl="1"/>
            <a:r>
              <a:rPr lang="en-US" dirty="0" smtClean="0"/>
              <a:t>GRANT select ON </a:t>
            </a:r>
            <a:r>
              <a:rPr lang="en-US" dirty="0" err="1" smtClean="0"/>
              <a:t>BadRestaurant</a:t>
            </a:r>
            <a:r>
              <a:rPr lang="en-US" dirty="0" smtClean="0"/>
              <a:t> TO Dave</a:t>
            </a:r>
          </a:p>
          <a:p>
            <a:r>
              <a:rPr lang="en-US" dirty="0" smtClean="0"/>
              <a:t>Dave:</a:t>
            </a:r>
          </a:p>
          <a:p>
            <a:pPr lvl="1"/>
            <a:r>
              <a:rPr lang="en-US" dirty="0" smtClean="0"/>
              <a:t>CREATE VIEW </a:t>
            </a:r>
            <a:r>
              <a:rPr lang="en-US" dirty="0" err="1" smtClean="0"/>
              <a:t>BadLocalRestaurant</a:t>
            </a:r>
            <a:r>
              <a:rPr lang="en-US" dirty="0" smtClean="0"/>
              <a:t>( rid, name, address ) AS </a:t>
            </a:r>
            <a:br>
              <a:rPr lang="en-US" dirty="0" smtClean="0"/>
            </a:br>
            <a:r>
              <a:rPr lang="en-US" dirty="0" smtClean="0"/>
              <a:t>SELECT </a:t>
            </a:r>
            <a:r>
              <a:rPr lang="en-US" dirty="0" err="1" smtClean="0"/>
              <a:t>R.rid</a:t>
            </a:r>
            <a:r>
              <a:rPr lang="en-US" dirty="0" smtClean="0"/>
              <a:t>, R.name, </a:t>
            </a:r>
            <a:r>
              <a:rPr lang="en-US" dirty="0" err="1" smtClean="0"/>
              <a:t>R.address</a:t>
            </a:r>
            <a:r>
              <a:rPr lang="en-US" dirty="0"/>
              <a:t> </a:t>
            </a:r>
            <a:r>
              <a:rPr lang="en-US" dirty="0" smtClean="0"/>
              <a:t>FROM </a:t>
            </a:r>
            <a:r>
              <a:rPr lang="en-US" dirty="0" err="1" smtClean="0"/>
              <a:t>BadRestaurant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WHERE </a:t>
            </a:r>
            <a:r>
              <a:rPr lang="en-US" dirty="0" err="1" smtClean="0"/>
              <a:t>R.address</a:t>
            </a:r>
            <a:r>
              <a:rPr lang="en-US" dirty="0" smtClean="0"/>
              <a:t> LIKE ‘%Singapore’</a:t>
            </a:r>
          </a:p>
          <a:p>
            <a:r>
              <a:rPr lang="en-US" dirty="0" smtClean="0"/>
              <a:t>What happens if Bob revokes the select privilege on Restaurant from Cath? (Assuming recursive revocation.)</a:t>
            </a:r>
          </a:p>
          <a:p>
            <a:r>
              <a:rPr lang="en-US" dirty="0" err="1" smtClean="0"/>
              <a:t>BadRestaurant</a:t>
            </a:r>
            <a:r>
              <a:rPr lang="en-US" dirty="0" smtClean="0"/>
              <a:t> will be removed; same for </a:t>
            </a:r>
            <a:r>
              <a:rPr lang="en-US" dirty="0" err="1" smtClean="0"/>
              <a:t>BadLocalRestaurant</a:t>
            </a:r>
            <a:endParaRPr lang="en-US" dirty="0"/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782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DAC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8191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Suppose </a:t>
            </a:r>
            <a:r>
              <a:rPr lang="en-US" altLang="zh-CN" dirty="0"/>
              <a:t>that Bob owns </a:t>
            </a:r>
            <a:r>
              <a:rPr lang="en-US" altLang="zh-CN" dirty="0" smtClean="0"/>
              <a:t>the following table:</a:t>
            </a:r>
          </a:p>
          <a:p>
            <a:pPr lvl="1"/>
            <a:r>
              <a:rPr lang="en-US" altLang="zh-CN" dirty="0" smtClean="0"/>
              <a:t>Restaurant( rid, name, address, rating )</a:t>
            </a:r>
          </a:p>
          <a:p>
            <a:r>
              <a:rPr lang="en-US" dirty="0" smtClean="0"/>
              <a:t>Bob: </a:t>
            </a:r>
          </a:p>
          <a:p>
            <a:pPr lvl="1"/>
            <a:r>
              <a:rPr lang="en-US" dirty="0" smtClean="0"/>
              <a:t>GRANT select </a:t>
            </a:r>
            <a:r>
              <a:rPr lang="en-US" dirty="0"/>
              <a:t>ON </a:t>
            </a:r>
            <a:r>
              <a:rPr lang="en-US" dirty="0" smtClean="0"/>
              <a:t>Restaurant </a:t>
            </a:r>
            <a:r>
              <a:rPr lang="en-US" dirty="0"/>
              <a:t>TO </a:t>
            </a:r>
            <a:r>
              <a:rPr lang="en-US" dirty="0" smtClean="0"/>
              <a:t>Cath </a:t>
            </a:r>
            <a:r>
              <a:rPr lang="en-US" dirty="0"/>
              <a:t>with GRANT </a:t>
            </a:r>
            <a:r>
              <a:rPr lang="en-US" dirty="0" smtClean="0"/>
              <a:t>OPTION</a:t>
            </a:r>
          </a:p>
          <a:p>
            <a:r>
              <a:rPr lang="en-US" dirty="0" smtClean="0"/>
              <a:t>Cath:</a:t>
            </a:r>
          </a:p>
          <a:p>
            <a:pPr lvl="1"/>
            <a:r>
              <a:rPr lang="en-US" dirty="0" smtClean="0"/>
              <a:t>CREATE VIEW </a:t>
            </a:r>
            <a:r>
              <a:rPr lang="en-US" dirty="0" err="1" smtClean="0"/>
              <a:t>BadRestaurant</a:t>
            </a:r>
            <a:r>
              <a:rPr lang="en-US" dirty="0" smtClean="0"/>
              <a:t>( rid, name, address ) AS </a:t>
            </a:r>
            <a:br>
              <a:rPr lang="en-US" dirty="0" smtClean="0"/>
            </a:br>
            <a:r>
              <a:rPr lang="en-US" dirty="0" smtClean="0"/>
              <a:t>SELECT </a:t>
            </a:r>
            <a:r>
              <a:rPr lang="en-US" dirty="0" err="1" smtClean="0"/>
              <a:t>R.rid</a:t>
            </a:r>
            <a:r>
              <a:rPr lang="en-US" dirty="0" smtClean="0"/>
              <a:t>, R.name, </a:t>
            </a:r>
            <a:r>
              <a:rPr lang="en-US" dirty="0" err="1" smtClean="0"/>
              <a:t>R.address</a:t>
            </a:r>
            <a:r>
              <a:rPr lang="en-US" dirty="0" smtClean="0"/>
              <a:t> FROM Restaurant</a:t>
            </a:r>
            <a:br>
              <a:rPr lang="en-US" dirty="0" smtClean="0"/>
            </a:br>
            <a:r>
              <a:rPr lang="en-US" dirty="0" smtClean="0"/>
              <a:t>WHERE </a:t>
            </a:r>
            <a:r>
              <a:rPr lang="en-US" dirty="0" err="1" smtClean="0"/>
              <a:t>R.rating</a:t>
            </a:r>
            <a:r>
              <a:rPr lang="en-US" dirty="0" smtClean="0"/>
              <a:t> &lt; 3</a:t>
            </a:r>
          </a:p>
          <a:p>
            <a:pPr lvl="1"/>
            <a:r>
              <a:rPr lang="en-US" dirty="0" smtClean="0"/>
              <a:t>GRANT select ON </a:t>
            </a:r>
            <a:r>
              <a:rPr lang="en-US" dirty="0" err="1" smtClean="0"/>
              <a:t>BadRestaurant</a:t>
            </a:r>
            <a:r>
              <a:rPr lang="en-US" dirty="0" smtClean="0"/>
              <a:t> TO Dave</a:t>
            </a:r>
          </a:p>
          <a:p>
            <a:r>
              <a:rPr lang="en-US" dirty="0"/>
              <a:t>Bob:</a:t>
            </a:r>
            <a:endParaRPr lang="en-US" dirty="0" smtClean="0"/>
          </a:p>
          <a:p>
            <a:pPr lvl="1"/>
            <a:r>
              <a:rPr lang="en-US" dirty="0"/>
              <a:t>GRANT </a:t>
            </a:r>
            <a:r>
              <a:rPr lang="en-US" dirty="0" smtClean="0"/>
              <a:t>update </a:t>
            </a:r>
            <a:r>
              <a:rPr lang="en-US" dirty="0"/>
              <a:t>ON Restaurant TO Cath with GRANT OPTION</a:t>
            </a:r>
            <a:endParaRPr lang="en-US" dirty="0" smtClean="0"/>
          </a:p>
          <a:p>
            <a:r>
              <a:rPr lang="en-US" dirty="0" smtClean="0"/>
              <a:t>What </a:t>
            </a:r>
            <a:r>
              <a:rPr lang="en-US" dirty="0"/>
              <a:t>privileges on </a:t>
            </a:r>
            <a:r>
              <a:rPr lang="en-US" dirty="0" err="1"/>
              <a:t>BadRestaurant</a:t>
            </a:r>
            <a:r>
              <a:rPr lang="en-US" dirty="0"/>
              <a:t> do Cath and Dave have now</a:t>
            </a:r>
            <a:r>
              <a:rPr lang="en-US" dirty="0" smtClean="0"/>
              <a:t>?</a:t>
            </a:r>
          </a:p>
          <a:p>
            <a:pPr marL="344487" lvl="1" indent="0">
              <a:buNone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47215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DAC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8191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Suppose </a:t>
            </a:r>
            <a:r>
              <a:rPr lang="en-US" altLang="zh-CN" dirty="0"/>
              <a:t>that Bob owns </a:t>
            </a:r>
            <a:r>
              <a:rPr lang="en-US" altLang="zh-CN" dirty="0" smtClean="0"/>
              <a:t>the following table:</a:t>
            </a:r>
          </a:p>
          <a:p>
            <a:pPr lvl="1"/>
            <a:r>
              <a:rPr lang="en-US" altLang="zh-CN" dirty="0" smtClean="0"/>
              <a:t>Restaurant( rid, name, address, rating )</a:t>
            </a:r>
          </a:p>
          <a:p>
            <a:r>
              <a:rPr lang="en-US" dirty="0" smtClean="0"/>
              <a:t>Bob: </a:t>
            </a:r>
          </a:p>
          <a:p>
            <a:pPr lvl="1"/>
            <a:r>
              <a:rPr lang="en-US" dirty="0" smtClean="0"/>
              <a:t>GRANT select </a:t>
            </a:r>
            <a:r>
              <a:rPr lang="en-US" dirty="0"/>
              <a:t>ON </a:t>
            </a:r>
            <a:r>
              <a:rPr lang="en-US" dirty="0" smtClean="0"/>
              <a:t>Restaurant </a:t>
            </a:r>
            <a:r>
              <a:rPr lang="en-US" dirty="0"/>
              <a:t>TO </a:t>
            </a:r>
            <a:r>
              <a:rPr lang="en-US" dirty="0" smtClean="0"/>
              <a:t>Cath </a:t>
            </a:r>
            <a:r>
              <a:rPr lang="en-US" dirty="0"/>
              <a:t>with GRANT </a:t>
            </a:r>
            <a:r>
              <a:rPr lang="en-US" dirty="0" smtClean="0"/>
              <a:t>OPTION</a:t>
            </a:r>
          </a:p>
          <a:p>
            <a:r>
              <a:rPr lang="en-US" dirty="0" smtClean="0"/>
              <a:t>Cath:</a:t>
            </a:r>
          </a:p>
          <a:p>
            <a:pPr lvl="1"/>
            <a:r>
              <a:rPr lang="en-US" dirty="0" smtClean="0"/>
              <a:t>CREATE VIEW </a:t>
            </a:r>
            <a:r>
              <a:rPr lang="en-US" dirty="0" err="1" smtClean="0"/>
              <a:t>BadRestaurant</a:t>
            </a:r>
            <a:r>
              <a:rPr lang="en-US" dirty="0" smtClean="0"/>
              <a:t>( rid, name, address ) AS </a:t>
            </a:r>
            <a:br>
              <a:rPr lang="en-US" dirty="0" smtClean="0"/>
            </a:br>
            <a:r>
              <a:rPr lang="en-US" dirty="0" smtClean="0"/>
              <a:t>SELECT </a:t>
            </a:r>
            <a:r>
              <a:rPr lang="en-US" dirty="0" err="1" smtClean="0"/>
              <a:t>R.rid</a:t>
            </a:r>
            <a:r>
              <a:rPr lang="en-US" dirty="0" smtClean="0"/>
              <a:t>, R.name, </a:t>
            </a:r>
            <a:r>
              <a:rPr lang="en-US" dirty="0" err="1" smtClean="0"/>
              <a:t>R.address</a:t>
            </a:r>
            <a:r>
              <a:rPr lang="en-US" dirty="0" smtClean="0"/>
              <a:t> FROM Restaurant</a:t>
            </a:r>
            <a:br>
              <a:rPr lang="en-US" dirty="0" smtClean="0"/>
            </a:br>
            <a:r>
              <a:rPr lang="en-US" dirty="0" smtClean="0"/>
              <a:t>WHERE </a:t>
            </a:r>
            <a:r>
              <a:rPr lang="en-US" dirty="0" err="1" smtClean="0"/>
              <a:t>R.rating</a:t>
            </a:r>
            <a:r>
              <a:rPr lang="en-US" dirty="0" smtClean="0"/>
              <a:t> &lt; 3</a:t>
            </a:r>
          </a:p>
          <a:p>
            <a:pPr lvl="1"/>
            <a:r>
              <a:rPr lang="en-US" dirty="0" smtClean="0"/>
              <a:t>GRANT select ON </a:t>
            </a:r>
            <a:r>
              <a:rPr lang="en-US" dirty="0" err="1" smtClean="0"/>
              <a:t>BadRestaurant</a:t>
            </a:r>
            <a:r>
              <a:rPr lang="en-US" dirty="0" smtClean="0"/>
              <a:t> TO Dave</a:t>
            </a:r>
          </a:p>
          <a:p>
            <a:r>
              <a:rPr lang="en-US" dirty="0"/>
              <a:t>Bob:</a:t>
            </a:r>
            <a:endParaRPr lang="en-US" dirty="0" smtClean="0"/>
          </a:p>
          <a:p>
            <a:pPr lvl="1"/>
            <a:r>
              <a:rPr lang="en-US" dirty="0"/>
              <a:t>GRANT </a:t>
            </a:r>
            <a:r>
              <a:rPr lang="en-US" dirty="0" smtClean="0"/>
              <a:t>update </a:t>
            </a:r>
            <a:r>
              <a:rPr lang="en-US" dirty="0"/>
              <a:t>ON Restaurant TO Cath with GRANT OPTION</a:t>
            </a:r>
            <a:endParaRPr lang="en-US" dirty="0" smtClean="0"/>
          </a:p>
          <a:p>
            <a:r>
              <a:rPr lang="en-US" dirty="0" smtClean="0"/>
              <a:t>What privileges on </a:t>
            </a:r>
            <a:r>
              <a:rPr lang="en-US" dirty="0" err="1" smtClean="0"/>
              <a:t>BadRestaurant</a:t>
            </a:r>
            <a:r>
              <a:rPr lang="en-US" dirty="0"/>
              <a:t> do Cath and Dave have now</a:t>
            </a:r>
            <a:r>
              <a:rPr lang="en-US" dirty="0" smtClean="0"/>
              <a:t>?</a:t>
            </a:r>
          </a:p>
          <a:p>
            <a:pPr lvl="1"/>
            <a:r>
              <a:rPr lang="en-US" dirty="0" smtClean="0"/>
              <a:t>Cath has select and update privileges</a:t>
            </a:r>
          </a:p>
          <a:p>
            <a:pPr lvl="1"/>
            <a:r>
              <a:rPr lang="en-US" dirty="0" smtClean="0"/>
              <a:t>Dave has only select privilege</a:t>
            </a:r>
          </a:p>
          <a:p>
            <a:r>
              <a:rPr lang="en-US" dirty="0" smtClean="0"/>
              <a:t>Why?</a:t>
            </a:r>
          </a:p>
          <a:p>
            <a:pPr lvl="1"/>
            <a:r>
              <a:rPr lang="en-US" dirty="0" smtClean="0"/>
              <a:t>As the view creator, Cath’s privileges on the view equal her privileges on the base table</a:t>
            </a:r>
          </a:p>
          <a:p>
            <a:pPr lvl="1"/>
            <a:r>
              <a:rPr lang="en-US" dirty="0" smtClean="0"/>
              <a:t>Dave is not the view creator; his privilege is as granted by Cath</a:t>
            </a:r>
          </a:p>
        </p:txBody>
      </p:sp>
    </p:spTree>
    <p:extLst>
      <p:ext uri="{BB962C8B-B14F-4D97-AF65-F5344CB8AC3E}">
        <p14:creationId xmlns:p14="http://schemas.microsoft.com/office/powerpoint/2010/main" val="979526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Edge">
  <a:themeElements>
    <a:clrScheme name="Edge 12">
      <a:dk1>
        <a:srgbClr val="000000"/>
      </a:dk1>
      <a:lt1>
        <a:srgbClr val="FFFFFF"/>
      </a:lt1>
      <a:dk2>
        <a:srgbClr val="000000"/>
      </a:dk2>
      <a:lt2>
        <a:srgbClr val="666699"/>
      </a:lt2>
      <a:accent1>
        <a:srgbClr val="3366FF"/>
      </a:accent1>
      <a:accent2>
        <a:srgbClr val="3366FF"/>
      </a:accent2>
      <a:accent3>
        <a:srgbClr val="FFFFFF"/>
      </a:accent3>
      <a:accent4>
        <a:srgbClr val="000000"/>
      </a:accent4>
      <a:accent5>
        <a:srgbClr val="ADB8FF"/>
      </a:accent5>
      <a:accent6>
        <a:srgbClr val="2D5CE7"/>
      </a:accent6>
      <a:hlink>
        <a:srgbClr val="006666"/>
      </a:hlink>
      <a:folHlink>
        <a:srgbClr val="B2B2B2"/>
      </a:folHlink>
    </a:clrScheme>
    <a:fontScheme name="Edge">
      <a:majorFont>
        <a:latin typeface="Garamond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10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3366FF"/>
        </a:accent1>
        <a:accent2>
          <a:srgbClr val="3366FF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2D5CE7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11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009999"/>
        </a:accent1>
        <a:accent2>
          <a:srgbClr val="009999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008A8A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12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3366FF"/>
        </a:accent1>
        <a:accent2>
          <a:srgbClr val="3366FF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2D5CE7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182</TotalTime>
  <Words>3605</Words>
  <Application>Microsoft Office PowerPoint</Application>
  <PresentationFormat>On-screen Show (4:3)</PresentationFormat>
  <Paragraphs>1075</Paragraphs>
  <Slides>71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8" baseType="lpstr">
      <vt:lpstr>Iskoola Pota</vt:lpstr>
      <vt:lpstr>宋体</vt:lpstr>
      <vt:lpstr>Arial</vt:lpstr>
      <vt:lpstr>Calibri</vt:lpstr>
      <vt:lpstr>Garamond</vt:lpstr>
      <vt:lpstr>Wingdings</vt:lpstr>
      <vt:lpstr>Edge</vt:lpstr>
      <vt:lpstr>CS2102  Database Systems</vt:lpstr>
      <vt:lpstr>Discretionary Access Control in Commercial Databases</vt:lpstr>
      <vt:lpstr>System R Authorization Model</vt:lpstr>
      <vt:lpstr>GRANT Operation</vt:lpstr>
      <vt:lpstr>GRANT Operation – Example </vt:lpstr>
      <vt:lpstr>GRANT Operation – Example </vt:lpstr>
      <vt:lpstr>Checking GRANT Operation</vt:lpstr>
      <vt:lpstr>Checking GRANT Operation</vt:lpstr>
      <vt:lpstr>Checking GRANT Operation</vt:lpstr>
      <vt:lpstr>REVOKE Operation</vt:lpstr>
      <vt:lpstr>REVOKE Operation</vt:lpstr>
      <vt:lpstr>Grants from Multiple Sources</vt:lpstr>
      <vt:lpstr>Grants from Multiple Sources</vt:lpstr>
      <vt:lpstr>Grants from Multiple Sources</vt:lpstr>
      <vt:lpstr>Grants from Multiple Sources</vt:lpstr>
      <vt:lpstr>If we retain Ann and Jim’s privileges…</vt:lpstr>
      <vt:lpstr>What was the problem?</vt:lpstr>
      <vt:lpstr>Formalization of Recursive Revocation</vt:lpstr>
      <vt:lpstr>Formalization of Recursive Revocation – Example </vt:lpstr>
      <vt:lpstr>Another Example</vt:lpstr>
      <vt:lpstr>Another Example</vt:lpstr>
      <vt:lpstr>Another Example</vt:lpstr>
      <vt:lpstr>Why?</vt:lpstr>
      <vt:lpstr>Why?</vt:lpstr>
      <vt:lpstr>Why?</vt:lpstr>
      <vt:lpstr>Why?</vt:lpstr>
      <vt:lpstr>Why?</vt:lpstr>
      <vt:lpstr>Why?</vt:lpstr>
      <vt:lpstr>Why?</vt:lpstr>
      <vt:lpstr>How can we implement such delicate controls?</vt:lpstr>
      <vt:lpstr>System R’s Implementation</vt:lpstr>
      <vt:lpstr>Previous Example</vt:lpstr>
      <vt:lpstr>Previous Example</vt:lpstr>
      <vt:lpstr>Previous Example</vt:lpstr>
      <vt:lpstr>Previous Example</vt:lpstr>
      <vt:lpstr>Drawbacks of Recursive Revocation</vt:lpstr>
      <vt:lpstr>Non-Cascading Revocation </vt:lpstr>
      <vt:lpstr>Non-Cascading Revocation </vt:lpstr>
      <vt:lpstr>Previous Example</vt:lpstr>
      <vt:lpstr>Previous Example</vt:lpstr>
      <vt:lpstr>Previous Example</vt:lpstr>
      <vt:lpstr>Previous Example</vt:lpstr>
      <vt:lpstr>Another Example</vt:lpstr>
      <vt:lpstr>Another Example</vt:lpstr>
      <vt:lpstr>Another Example</vt:lpstr>
      <vt:lpstr>Views / Content-Based Authorization</vt:lpstr>
      <vt:lpstr>Example</vt:lpstr>
      <vt:lpstr>Views / Content-Based Authorization</vt:lpstr>
      <vt:lpstr>Steps in Query Processing</vt:lpstr>
      <vt:lpstr>Authorizations on Views</vt:lpstr>
      <vt:lpstr>Authorizations on Views – Example</vt:lpstr>
      <vt:lpstr>Authorizations on Views – Example</vt:lpstr>
      <vt:lpstr>Authorizations on Views – Example</vt:lpstr>
      <vt:lpstr>Authorizations on Views</vt:lpstr>
      <vt:lpstr>Authorizations on Views</vt:lpstr>
      <vt:lpstr>DAC Exercise</vt:lpstr>
      <vt:lpstr>DAC Exercise</vt:lpstr>
      <vt:lpstr>DAC Exercise</vt:lpstr>
      <vt:lpstr>DAC Exercise</vt:lpstr>
      <vt:lpstr>DAC Exercise</vt:lpstr>
      <vt:lpstr>DAC Exercise</vt:lpstr>
      <vt:lpstr>DAC Exercise</vt:lpstr>
      <vt:lpstr>DAC Exercise</vt:lpstr>
      <vt:lpstr>DAC Exercise</vt:lpstr>
      <vt:lpstr>DAC Exercise</vt:lpstr>
      <vt:lpstr>DAC Exercise</vt:lpstr>
      <vt:lpstr>DAC Exercise</vt:lpstr>
      <vt:lpstr>DAC Exercise</vt:lpstr>
      <vt:lpstr>DAC Exercise</vt:lpstr>
      <vt:lpstr>DAC Exercise</vt:lpstr>
      <vt:lpstr>DAC Exercise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Privacy Preserving Data Publishing</dc:title>
  <dc:creator>xiaokui</dc:creator>
  <cp:lastModifiedBy>Xiaokui XIAO</cp:lastModifiedBy>
  <cp:revision>1149</cp:revision>
  <cp:lastPrinted>2018-08-15T10:18:22Z</cp:lastPrinted>
  <dcterms:created xsi:type="dcterms:W3CDTF">2009-03-02T02:47:37Z</dcterms:created>
  <dcterms:modified xsi:type="dcterms:W3CDTF">2019-06-18T06:56:43Z</dcterms:modified>
</cp:coreProperties>
</file>