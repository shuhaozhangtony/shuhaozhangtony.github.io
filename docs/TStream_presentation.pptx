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350" r:id="rId2"/>
    <p:sldId id="372" r:id="rId3"/>
    <p:sldId id="444" r:id="rId4"/>
    <p:sldId id="373" r:id="rId5"/>
    <p:sldId id="374" r:id="rId6"/>
    <p:sldId id="424" r:id="rId7"/>
    <p:sldId id="426" r:id="rId8"/>
    <p:sldId id="425" r:id="rId9"/>
    <p:sldId id="443" r:id="rId10"/>
    <p:sldId id="446" r:id="rId11"/>
    <p:sldId id="401" r:id="rId12"/>
    <p:sldId id="427" r:id="rId13"/>
    <p:sldId id="404" r:id="rId14"/>
    <p:sldId id="377" r:id="rId15"/>
    <p:sldId id="445" r:id="rId16"/>
    <p:sldId id="406" r:id="rId17"/>
    <p:sldId id="380" r:id="rId18"/>
    <p:sldId id="410" r:id="rId19"/>
    <p:sldId id="383" r:id="rId20"/>
    <p:sldId id="412" r:id="rId21"/>
    <p:sldId id="400" r:id="rId22"/>
    <p:sldId id="301" r:id="rId23"/>
    <p:sldId id="411" r:id="rId24"/>
    <p:sldId id="414" r:id="rId25"/>
    <p:sldId id="428" r:id="rId26"/>
  </p:sldIdLst>
  <p:sldSz cx="10152063" cy="7596188"/>
  <p:notesSz cx="7596188" cy="101520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2F1C10-A3C0-864F-B861-0073B918F641}">
          <p14:sldIdLst>
            <p14:sldId id="350"/>
            <p14:sldId id="372"/>
            <p14:sldId id="444"/>
            <p14:sldId id="373"/>
            <p14:sldId id="374"/>
            <p14:sldId id="424"/>
            <p14:sldId id="426"/>
            <p14:sldId id="425"/>
            <p14:sldId id="443"/>
            <p14:sldId id="446"/>
            <p14:sldId id="401"/>
            <p14:sldId id="427"/>
            <p14:sldId id="404"/>
            <p14:sldId id="377"/>
            <p14:sldId id="445"/>
            <p14:sldId id="406"/>
            <p14:sldId id="380"/>
            <p14:sldId id="410"/>
            <p14:sldId id="383"/>
            <p14:sldId id="412"/>
            <p14:sldId id="400"/>
            <p14:sldId id="301"/>
          </p14:sldIdLst>
        </p14:section>
        <p14:section name="backup" id="{CA083527-CEDB-4E4E-B6F8-ADB939C56A78}">
          <p14:sldIdLst>
            <p14:sldId id="411"/>
            <p14:sldId id="414"/>
            <p14:sldId id="4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00"/>
    <a:srgbClr val="FF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 autoAdjust="0"/>
    <p:restoredTop sz="70738"/>
  </p:normalViewPr>
  <p:slideViewPr>
    <p:cSldViewPr>
      <p:cViewPr varScale="1">
        <p:scale>
          <a:sx n="86" d="100"/>
          <a:sy n="86" d="100"/>
        </p:scale>
        <p:origin x="1424" y="200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EA2A1E-D03B-A94E-A24B-72A0562D9783}" type="doc">
      <dgm:prSet loTypeId="urn:microsoft.com/office/officeart/2005/8/layout/chevron2" loCatId="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en-GB"/>
        </a:p>
      </dgm:t>
    </dgm:pt>
    <dgm:pt modelId="{FB57F1ED-AF51-9F48-A598-917B849262F9}">
      <dgm:prSet phldrT="[Text]"/>
      <dgm:spPr/>
      <dgm:t>
        <a:bodyPr/>
        <a:lstStyle/>
        <a:p>
          <a:r>
            <a:rPr lang="en-GB"/>
            <a:t>PreProcess</a:t>
          </a:r>
          <a:endParaRPr lang="en-GB" dirty="0"/>
        </a:p>
      </dgm:t>
    </dgm:pt>
    <dgm:pt modelId="{D2F8F6B6-7633-E647-BA27-BAA6C4A36BA1}" type="parTrans" cxnId="{3D4BE4A1-16BE-5147-B8EA-9A32FC248543}">
      <dgm:prSet/>
      <dgm:spPr/>
      <dgm:t>
        <a:bodyPr/>
        <a:lstStyle/>
        <a:p>
          <a:endParaRPr lang="en-GB"/>
        </a:p>
      </dgm:t>
    </dgm:pt>
    <dgm:pt modelId="{B00166AE-8187-764A-B57E-505853820A18}" type="sibTrans" cxnId="{3D4BE4A1-16BE-5147-B8EA-9A32FC248543}">
      <dgm:prSet/>
      <dgm:spPr/>
      <dgm:t>
        <a:bodyPr/>
        <a:lstStyle/>
        <a:p>
          <a:endParaRPr lang="en-GB"/>
        </a:p>
      </dgm:t>
    </dgm:pt>
    <dgm:pt modelId="{8135D5B2-8F79-0646-8232-CEB4D0FAD8D6}">
      <dgm:prSet phldrT="[Text]"/>
      <dgm:spPr/>
      <dgm:t>
        <a:bodyPr/>
        <a:lstStyle/>
        <a:p>
          <a:r>
            <a:rPr lang="en-GB" dirty="0"/>
            <a:t>Initial process on an input event</a:t>
          </a:r>
        </a:p>
      </dgm:t>
    </dgm:pt>
    <dgm:pt modelId="{DD97E0E1-3F08-874F-B402-A2E2D485CA74}" type="parTrans" cxnId="{2A3157DF-D376-354E-BF2B-6F1898322997}">
      <dgm:prSet/>
      <dgm:spPr/>
      <dgm:t>
        <a:bodyPr/>
        <a:lstStyle/>
        <a:p>
          <a:endParaRPr lang="en-GB"/>
        </a:p>
      </dgm:t>
    </dgm:pt>
    <dgm:pt modelId="{C013B2CA-7EA3-5C4D-90A5-10F21EB1C8F3}" type="sibTrans" cxnId="{2A3157DF-D376-354E-BF2B-6F1898322997}">
      <dgm:prSet/>
      <dgm:spPr/>
      <dgm:t>
        <a:bodyPr/>
        <a:lstStyle/>
        <a:p>
          <a:endParaRPr lang="en-GB"/>
        </a:p>
      </dgm:t>
    </dgm:pt>
    <dgm:pt modelId="{4F4CDE73-D1A7-DA49-A807-18ACAD6689F0}">
      <dgm:prSet phldrT="[Text]"/>
      <dgm:spPr/>
      <dgm:t>
        <a:bodyPr/>
        <a:lstStyle/>
        <a:p>
          <a:r>
            <a:rPr lang="en-GB"/>
            <a:t>StateAccess</a:t>
          </a:r>
          <a:endParaRPr lang="en-GB" dirty="0"/>
        </a:p>
      </dgm:t>
    </dgm:pt>
    <dgm:pt modelId="{BC9D8225-39ED-1547-BC70-0DB9BED47407}" type="parTrans" cxnId="{90EBC9D7-566C-0E4F-B7AE-B6E394CE5FC1}">
      <dgm:prSet/>
      <dgm:spPr/>
      <dgm:t>
        <a:bodyPr/>
        <a:lstStyle/>
        <a:p>
          <a:endParaRPr lang="en-GB"/>
        </a:p>
      </dgm:t>
    </dgm:pt>
    <dgm:pt modelId="{F02D9AB6-EB57-6F4C-87EC-6E3049866560}" type="sibTrans" cxnId="{90EBC9D7-566C-0E4F-B7AE-B6E394CE5FC1}">
      <dgm:prSet/>
      <dgm:spPr/>
      <dgm:t>
        <a:bodyPr/>
        <a:lstStyle/>
        <a:p>
          <a:endParaRPr lang="en-GB"/>
        </a:p>
      </dgm:t>
    </dgm:pt>
    <dgm:pt modelId="{AD456B44-2BD4-AB4B-90F2-4EAF2CD32CCA}">
      <dgm:prSet phldrT="[Text]"/>
      <dgm:spPr/>
      <dgm:t>
        <a:bodyPr/>
        <a:lstStyle/>
        <a:p>
          <a:r>
            <a:rPr lang="en-GB" dirty="0"/>
            <a:t>Access to shared states</a:t>
          </a:r>
        </a:p>
      </dgm:t>
    </dgm:pt>
    <dgm:pt modelId="{9D91942B-2741-8340-845C-837FCC85CC34}" type="parTrans" cxnId="{3283B6D9-B7ED-054D-B88E-265DC99E25D4}">
      <dgm:prSet/>
      <dgm:spPr/>
      <dgm:t>
        <a:bodyPr/>
        <a:lstStyle/>
        <a:p>
          <a:endParaRPr lang="en-GB"/>
        </a:p>
      </dgm:t>
    </dgm:pt>
    <dgm:pt modelId="{E8C0D71D-362C-B54A-B991-A924967015B5}" type="sibTrans" cxnId="{3283B6D9-B7ED-054D-B88E-265DC99E25D4}">
      <dgm:prSet/>
      <dgm:spPr/>
      <dgm:t>
        <a:bodyPr/>
        <a:lstStyle/>
        <a:p>
          <a:endParaRPr lang="en-GB"/>
        </a:p>
      </dgm:t>
    </dgm:pt>
    <dgm:pt modelId="{B5A4D746-EB70-AB42-8954-0B180C0ADC07}">
      <dgm:prSet phldrT="[Text]"/>
      <dgm:spPr/>
      <dgm:t>
        <a:bodyPr/>
        <a:lstStyle/>
        <a:p>
          <a:r>
            <a:rPr lang="en-GB" dirty="0" err="1"/>
            <a:t>PostProcess</a:t>
          </a:r>
          <a:endParaRPr lang="en-GB" dirty="0"/>
        </a:p>
      </dgm:t>
    </dgm:pt>
    <dgm:pt modelId="{8684DB80-A573-554B-B6B3-9B5B1E694837}" type="parTrans" cxnId="{8BB4DE5A-0B12-7B49-A586-080C0AC9E113}">
      <dgm:prSet/>
      <dgm:spPr/>
      <dgm:t>
        <a:bodyPr/>
        <a:lstStyle/>
        <a:p>
          <a:endParaRPr lang="en-GB"/>
        </a:p>
      </dgm:t>
    </dgm:pt>
    <dgm:pt modelId="{CC38B973-C29B-644D-AE39-C77A2381A602}" type="sibTrans" cxnId="{8BB4DE5A-0B12-7B49-A586-080C0AC9E113}">
      <dgm:prSet/>
      <dgm:spPr/>
      <dgm:t>
        <a:bodyPr/>
        <a:lstStyle/>
        <a:p>
          <a:endParaRPr lang="en-GB"/>
        </a:p>
      </dgm:t>
    </dgm:pt>
    <dgm:pt modelId="{A21FB839-780D-9F4D-9AF2-80DC9CB81514}">
      <dgm:prSet phldrT="[Text]"/>
      <dgm:spPr/>
      <dgm:t>
        <a:bodyPr/>
        <a:lstStyle/>
        <a:p>
          <a:r>
            <a:rPr lang="en-GB" dirty="0"/>
            <a:t>Process on an input event with reference to obtained state values</a:t>
          </a:r>
        </a:p>
      </dgm:t>
    </dgm:pt>
    <dgm:pt modelId="{94F50B2D-DEEB-B144-8D25-D684F6812688}" type="parTrans" cxnId="{E481D6B3-088A-ED41-8EFB-7D8D1FDA5AB4}">
      <dgm:prSet/>
      <dgm:spPr/>
      <dgm:t>
        <a:bodyPr/>
        <a:lstStyle/>
        <a:p>
          <a:endParaRPr lang="en-GB"/>
        </a:p>
      </dgm:t>
    </dgm:pt>
    <dgm:pt modelId="{609F3AAE-997D-874C-86AF-1B3AC05B45A0}" type="sibTrans" cxnId="{E481D6B3-088A-ED41-8EFB-7D8D1FDA5AB4}">
      <dgm:prSet/>
      <dgm:spPr/>
      <dgm:t>
        <a:bodyPr/>
        <a:lstStyle/>
        <a:p>
          <a:endParaRPr lang="en-GB"/>
        </a:p>
      </dgm:t>
    </dgm:pt>
    <dgm:pt modelId="{0E57F4E0-307A-7943-B489-41C0F1A348E2}" type="pres">
      <dgm:prSet presAssocID="{B9EA2A1E-D03B-A94E-A24B-72A0562D9783}" presName="linearFlow" presStyleCnt="0">
        <dgm:presLayoutVars>
          <dgm:dir/>
          <dgm:animLvl val="lvl"/>
          <dgm:resizeHandles val="exact"/>
        </dgm:presLayoutVars>
      </dgm:prSet>
      <dgm:spPr/>
    </dgm:pt>
    <dgm:pt modelId="{CF303F60-F42B-7E49-9368-475ADA324DEF}" type="pres">
      <dgm:prSet presAssocID="{FB57F1ED-AF51-9F48-A598-917B849262F9}" presName="composite" presStyleCnt="0"/>
      <dgm:spPr/>
    </dgm:pt>
    <dgm:pt modelId="{0B588D37-24C5-E146-ABE5-2DE6711CE7E2}" type="pres">
      <dgm:prSet presAssocID="{FB57F1ED-AF51-9F48-A598-917B849262F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A1C67DB0-0A98-F04B-B173-C3EB7B27144D}" type="pres">
      <dgm:prSet presAssocID="{FB57F1ED-AF51-9F48-A598-917B849262F9}" presName="descendantText" presStyleLbl="alignAcc1" presStyleIdx="0" presStyleCnt="3">
        <dgm:presLayoutVars>
          <dgm:bulletEnabled val="1"/>
        </dgm:presLayoutVars>
      </dgm:prSet>
      <dgm:spPr/>
    </dgm:pt>
    <dgm:pt modelId="{AEA6A702-4750-BA45-8C7C-C2C0745224D7}" type="pres">
      <dgm:prSet presAssocID="{B00166AE-8187-764A-B57E-505853820A18}" presName="sp" presStyleCnt="0"/>
      <dgm:spPr/>
    </dgm:pt>
    <dgm:pt modelId="{5E6C45CF-978C-1346-A27F-439555AE6412}" type="pres">
      <dgm:prSet presAssocID="{4F4CDE73-D1A7-DA49-A807-18ACAD6689F0}" presName="composite" presStyleCnt="0"/>
      <dgm:spPr/>
    </dgm:pt>
    <dgm:pt modelId="{6B287E8E-4E2E-A248-AC0E-A4411643793E}" type="pres">
      <dgm:prSet presAssocID="{4F4CDE73-D1A7-DA49-A807-18ACAD6689F0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5D19B537-A087-0945-9434-238329C9E44D}" type="pres">
      <dgm:prSet presAssocID="{4F4CDE73-D1A7-DA49-A807-18ACAD6689F0}" presName="descendantText" presStyleLbl="alignAcc1" presStyleIdx="1" presStyleCnt="3">
        <dgm:presLayoutVars>
          <dgm:bulletEnabled val="1"/>
        </dgm:presLayoutVars>
      </dgm:prSet>
      <dgm:spPr/>
    </dgm:pt>
    <dgm:pt modelId="{11734650-4293-584E-9DF8-D09406808596}" type="pres">
      <dgm:prSet presAssocID="{F02D9AB6-EB57-6F4C-87EC-6E3049866560}" presName="sp" presStyleCnt="0"/>
      <dgm:spPr/>
    </dgm:pt>
    <dgm:pt modelId="{B011931E-683E-DF41-815D-4A30A8C8C66E}" type="pres">
      <dgm:prSet presAssocID="{B5A4D746-EB70-AB42-8954-0B180C0ADC07}" presName="composite" presStyleCnt="0"/>
      <dgm:spPr/>
    </dgm:pt>
    <dgm:pt modelId="{33ECF643-46A6-CF45-934F-497A2CED91D6}" type="pres">
      <dgm:prSet presAssocID="{B5A4D746-EB70-AB42-8954-0B180C0ADC0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9C55C942-4406-FC4A-BA2D-14DC80C26609}" type="pres">
      <dgm:prSet presAssocID="{B5A4D746-EB70-AB42-8954-0B180C0ADC0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C6699B05-9B26-9245-B724-BA9B319663BB}" type="presOf" srcId="{AD456B44-2BD4-AB4B-90F2-4EAF2CD32CCA}" destId="{5D19B537-A087-0945-9434-238329C9E44D}" srcOrd="0" destOrd="0" presId="urn:microsoft.com/office/officeart/2005/8/layout/chevron2"/>
    <dgm:cxn modelId="{7A294C32-B7D4-4F4A-ACA3-791063872A7D}" type="presOf" srcId="{4F4CDE73-D1A7-DA49-A807-18ACAD6689F0}" destId="{6B287E8E-4E2E-A248-AC0E-A4411643793E}" srcOrd="0" destOrd="0" presId="urn:microsoft.com/office/officeart/2005/8/layout/chevron2"/>
    <dgm:cxn modelId="{8BB4DE5A-0B12-7B49-A586-080C0AC9E113}" srcId="{B9EA2A1E-D03B-A94E-A24B-72A0562D9783}" destId="{B5A4D746-EB70-AB42-8954-0B180C0ADC07}" srcOrd="2" destOrd="0" parTransId="{8684DB80-A573-554B-B6B3-9B5B1E694837}" sibTransId="{CC38B973-C29B-644D-AE39-C77A2381A602}"/>
    <dgm:cxn modelId="{8E30EA5C-E5E9-6244-927C-1CD152F83FA8}" type="presOf" srcId="{FB57F1ED-AF51-9F48-A598-917B849262F9}" destId="{0B588D37-24C5-E146-ABE5-2DE6711CE7E2}" srcOrd="0" destOrd="0" presId="urn:microsoft.com/office/officeart/2005/8/layout/chevron2"/>
    <dgm:cxn modelId="{DFD7F164-6B23-5341-8FD5-A7174FEF4A4B}" type="presOf" srcId="{8135D5B2-8F79-0646-8232-CEB4D0FAD8D6}" destId="{A1C67DB0-0A98-F04B-B173-C3EB7B27144D}" srcOrd="0" destOrd="0" presId="urn:microsoft.com/office/officeart/2005/8/layout/chevron2"/>
    <dgm:cxn modelId="{A436B89D-427B-BE4B-A08D-E7F205C34BA3}" type="presOf" srcId="{B5A4D746-EB70-AB42-8954-0B180C0ADC07}" destId="{33ECF643-46A6-CF45-934F-497A2CED91D6}" srcOrd="0" destOrd="0" presId="urn:microsoft.com/office/officeart/2005/8/layout/chevron2"/>
    <dgm:cxn modelId="{3D4BE4A1-16BE-5147-B8EA-9A32FC248543}" srcId="{B9EA2A1E-D03B-A94E-A24B-72A0562D9783}" destId="{FB57F1ED-AF51-9F48-A598-917B849262F9}" srcOrd="0" destOrd="0" parTransId="{D2F8F6B6-7633-E647-BA27-BAA6C4A36BA1}" sibTransId="{B00166AE-8187-764A-B57E-505853820A18}"/>
    <dgm:cxn modelId="{E481D6B3-088A-ED41-8EFB-7D8D1FDA5AB4}" srcId="{B5A4D746-EB70-AB42-8954-0B180C0ADC07}" destId="{A21FB839-780D-9F4D-9AF2-80DC9CB81514}" srcOrd="0" destOrd="0" parTransId="{94F50B2D-DEEB-B144-8D25-D684F6812688}" sibTransId="{609F3AAE-997D-874C-86AF-1B3AC05B45A0}"/>
    <dgm:cxn modelId="{A37EF7D1-D30D-C34B-A4C2-007EA73699CE}" type="presOf" srcId="{B9EA2A1E-D03B-A94E-A24B-72A0562D9783}" destId="{0E57F4E0-307A-7943-B489-41C0F1A348E2}" srcOrd="0" destOrd="0" presId="urn:microsoft.com/office/officeart/2005/8/layout/chevron2"/>
    <dgm:cxn modelId="{90EBC9D7-566C-0E4F-B7AE-B6E394CE5FC1}" srcId="{B9EA2A1E-D03B-A94E-A24B-72A0562D9783}" destId="{4F4CDE73-D1A7-DA49-A807-18ACAD6689F0}" srcOrd="1" destOrd="0" parTransId="{BC9D8225-39ED-1547-BC70-0DB9BED47407}" sibTransId="{F02D9AB6-EB57-6F4C-87EC-6E3049866560}"/>
    <dgm:cxn modelId="{3283B6D9-B7ED-054D-B88E-265DC99E25D4}" srcId="{4F4CDE73-D1A7-DA49-A807-18ACAD6689F0}" destId="{AD456B44-2BD4-AB4B-90F2-4EAF2CD32CCA}" srcOrd="0" destOrd="0" parTransId="{9D91942B-2741-8340-845C-837FCC85CC34}" sibTransId="{E8C0D71D-362C-B54A-B991-A924967015B5}"/>
    <dgm:cxn modelId="{2A3157DF-D376-354E-BF2B-6F1898322997}" srcId="{FB57F1ED-AF51-9F48-A598-917B849262F9}" destId="{8135D5B2-8F79-0646-8232-CEB4D0FAD8D6}" srcOrd="0" destOrd="0" parTransId="{DD97E0E1-3F08-874F-B402-A2E2D485CA74}" sibTransId="{C013B2CA-7EA3-5C4D-90A5-10F21EB1C8F3}"/>
    <dgm:cxn modelId="{51DD22F1-F968-DB40-AB6D-E0D05AD7FB61}" type="presOf" srcId="{A21FB839-780D-9F4D-9AF2-80DC9CB81514}" destId="{9C55C942-4406-FC4A-BA2D-14DC80C26609}" srcOrd="0" destOrd="0" presId="urn:microsoft.com/office/officeart/2005/8/layout/chevron2"/>
    <dgm:cxn modelId="{6112EBB0-3284-C54A-89B4-B70D0470BAB8}" type="presParOf" srcId="{0E57F4E0-307A-7943-B489-41C0F1A348E2}" destId="{CF303F60-F42B-7E49-9368-475ADA324DEF}" srcOrd="0" destOrd="0" presId="urn:microsoft.com/office/officeart/2005/8/layout/chevron2"/>
    <dgm:cxn modelId="{2575678C-E4D7-EB4A-A0B6-6B28CB9CA783}" type="presParOf" srcId="{CF303F60-F42B-7E49-9368-475ADA324DEF}" destId="{0B588D37-24C5-E146-ABE5-2DE6711CE7E2}" srcOrd="0" destOrd="0" presId="urn:microsoft.com/office/officeart/2005/8/layout/chevron2"/>
    <dgm:cxn modelId="{F9FC25EA-8DA4-7747-A97A-5D009E5D3EE4}" type="presParOf" srcId="{CF303F60-F42B-7E49-9368-475ADA324DEF}" destId="{A1C67DB0-0A98-F04B-B173-C3EB7B27144D}" srcOrd="1" destOrd="0" presId="urn:microsoft.com/office/officeart/2005/8/layout/chevron2"/>
    <dgm:cxn modelId="{1926C925-5DA8-C247-863F-BE14202B4BC6}" type="presParOf" srcId="{0E57F4E0-307A-7943-B489-41C0F1A348E2}" destId="{AEA6A702-4750-BA45-8C7C-C2C0745224D7}" srcOrd="1" destOrd="0" presId="urn:microsoft.com/office/officeart/2005/8/layout/chevron2"/>
    <dgm:cxn modelId="{B09CF34D-06BC-754E-88B9-B7D9E88C7B36}" type="presParOf" srcId="{0E57F4E0-307A-7943-B489-41C0F1A348E2}" destId="{5E6C45CF-978C-1346-A27F-439555AE6412}" srcOrd="2" destOrd="0" presId="urn:microsoft.com/office/officeart/2005/8/layout/chevron2"/>
    <dgm:cxn modelId="{702B0602-0553-8946-A839-9F868D6DC121}" type="presParOf" srcId="{5E6C45CF-978C-1346-A27F-439555AE6412}" destId="{6B287E8E-4E2E-A248-AC0E-A4411643793E}" srcOrd="0" destOrd="0" presId="urn:microsoft.com/office/officeart/2005/8/layout/chevron2"/>
    <dgm:cxn modelId="{8F8B6AF8-01A8-8F4F-B492-39F52CBDE084}" type="presParOf" srcId="{5E6C45CF-978C-1346-A27F-439555AE6412}" destId="{5D19B537-A087-0945-9434-238329C9E44D}" srcOrd="1" destOrd="0" presId="urn:microsoft.com/office/officeart/2005/8/layout/chevron2"/>
    <dgm:cxn modelId="{6798959F-FD90-7B4C-9150-BB23F42297B5}" type="presParOf" srcId="{0E57F4E0-307A-7943-B489-41C0F1A348E2}" destId="{11734650-4293-584E-9DF8-D09406808596}" srcOrd="3" destOrd="0" presId="urn:microsoft.com/office/officeart/2005/8/layout/chevron2"/>
    <dgm:cxn modelId="{E83B51BE-8077-8548-99D8-FBEC3A020987}" type="presParOf" srcId="{0E57F4E0-307A-7943-B489-41C0F1A348E2}" destId="{B011931E-683E-DF41-815D-4A30A8C8C66E}" srcOrd="4" destOrd="0" presId="urn:microsoft.com/office/officeart/2005/8/layout/chevron2"/>
    <dgm:cxn modelId="{1894D2D0-FC63-5E49-ACDC-D5469BD7CD6A}" type="presParOf" srcId="{B011931E-683E-DF41-815D-4A30A8C8C66E}" destId="{33ECF643-46A6-CF45-934F-497A2CED91D6}" srcOrd="0" destOrd="0" presId="urn:microsoft.com/office/officeart/2005/8/layout/chevron2"/>
    <dgm:cxn modelId="{59E74197-6508-724A-83F5-1E48F4FEE2A9}" type="presParOf" srcId="{B011931E-683E-DF41-815D-4A30A8C8C66E}" destId="{9C55C942-4406-FC4A-BA2D-14DC80C2660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88D37-24C5-E146-ABE5-2DE6711CE7E2}">
      <dsp:nvSpPr>
        <dsp:cNvPr id="0" name=""/>
        <dsp:cNvSpPr/>
      </dsp:nvSpPr>
      <dsp:spPr>
        <a:xfrm rot="5400000">
          <a:off x="-252972" y="253428"/>
          <a:ext cx="1686484" cy="1180539"/>
        </a:xfrm>
        <a:prstGeom prst="chevron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PreProcess</a:t>
          </a:r>
          <a:endParaRPr lang="en-GB" sz="1800" kern="1200" dirty="0"/>
        </a:p>
      </dsp:txBody>
      <dsp:txXfrm rot="-5400000">
        <a:off x="1" y="590726"/>
        <a:ext cx="1180539" cy="505945"/>
      </dsp:txXfrm>
    </dsp:sp>
    <dsp:sp modelId="{A1C67DB0-0A98-F04B-B173-C3EB7B27144D}">
      <dsp:nvSpPr>
        <dsp:cNvPr id="0" name=""/>
        <dsp:cNvSpPr/>
      </dsp:nvSpPr>
      <dsp:spPr>
        <a:xfrm rot="5400000">
          <a:off x="2233441" y="-1052445"/>
          <a:ext cx="1096215" cy="32020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Initial process on an input event</a:t>
          </a:r>
        </a:p>
      </dsp:txBody>
      <dsp:txXfrm rot="-5400000">
        <a:off x="1180540" y="53969"/>
        <a:ext cx="3148505" cy="989189"/>
      </dsp:txXfrm>
    </dsp:sp>
    <dsp:sp modelId="{6B287E8E-4E2E-A248-AC0E-A4411643793E}">
      <dsp:nvSpPr>
        <dsp:cNvPr id="0" name=""/>
        <dsp:cNvSpPr/>
      </dsp:nvSpPr>
      <dsp:spPr>
        <a:xfrm rot="5400000">
          <a:off x="-252972" y="1746618"/>
          <a:ext cx="1686484" cy="1180539"/>
        </a:xfrm>
        <a:prstGeom prst="chevron">
          <a:avLst/>
        </a:prstGeom>
        <a:solidFill>
          <a:schemeClr val="accent4">
            <a:shade val="50000"/>
            <a:hueOff val="0"/>
            <a:satOff val="0"/>
            <a:lumOff val="46761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467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StateAccess</a:t>
          </a:r>
          <a:endParaRPr lang="en-GB" sz="1800" kern="1200" dirty="0"/>
        </a:p>
      </dsp:txBody>
      <dsp:txXfrm rot="-5400000">
        <a:off x="1" y="2083916"/>
        <a:ext cx="1180539" cy="505945"/>
      </dsp:txXfrm>
    </dsp:sp>
    <dsp:sp modelId="{5D19B537-A087-0945-9434-238329C9E44D}">
      <dsp:nvSpPr>
        <dsp:cNvPr id="0" name=""/>
        <dsp:cNvSpPr/>
      </dsp:nvSpPr>
      <dsp:spPr>
        <a:xfrm rot="5400000">
          <a:off x="2233441" y="440744"/>
          <a:ext cx="1096215" cy="32020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467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Access to shared states</a:t>
          </a:r>
        </a:p>
      </dsp:txBody>
      <dsp:txXfrm rot="-5400000">
        <a:off x="1180540" y="1547159"/>
        <a:ext cx="3148505" cy="989189"/>
      </dsp:txXfrm>
    </dsp:sp>
    <dsp:sp modelId="{33ECF643-46A6-CF45-934F-497A2CED91D6}">
      <dsp:nvSpPr>
        <dsp:cNvPr id="0" name=""/>
        <dsp:cNvSpPr/>
      </dsp:nvSpPr>
      <dsp:spPr>
        <a:xfrm rot="5400000">
          <a:off x="-252972" y="3239809"/>
          <a:ext cx="1686484" cy="1180539"/>
        </a:xfrm>
        <a:prstGeom prst="chevron">
          <a:avLst/>
        </a:prstGeom>
        <a:solidFill>
          <a:schemeClr val="accent4">
            <a:shade val="50000"/>
            <a:hueOff val="0"/>
            <a:satOff val="0"/>
            <a:lumOff val="46761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467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PostProcess</a:t>
          </a:r>
          <a:endParaRPr lang="en-GB" sz="1800" kern="1200" dirty="0"/>
        </a:p>
      </dsp:txBody>
      <dsp:txXfrm rot="-5400000">
        <a:off x="1" y="3577107"/>
        <a:ext cx="1180539" cy="505945"/>
      </dsp:txXfrm>
    </dsp:sp>
    <dsp:sp modelId="{9C55C942-4406-FC4A-BA2D-14DC80C26609}">
      <dsp:nvSpPr>
        <dsp:cNvPr id="0" name=""/>
        <dsp:cNvSpPr/>
      </dsp:nvSpPr>
      <dsp:spPr>
        <a:xfrm rot="5400000">
          <a:off x="2233441" y="1933934"/>
          <a:ext cx="1096215" cy="320201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50000"/>
              <a:hueOff val="0"/>
              <a:satOff val="0"/>
              <a:lumOff val="467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Process on an input event with reference to obtained state values</a:t>
          </a:r>
        </a:p>
      </dsp:txBody>
      <dsp:txXfrm rot="-5400000">
        <a:off x="1180540" y="3040349"/>
        <a:ext cx="3148505" cy="989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302125" y="0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4C648-3956-3440-B661-357F8557CBF6}" type="datetimeFigureOut">
              <a:rPr lang="en-US" smtClean="0"/>
              <a:t>6/18/20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8125" y="1268413"/>
            <a:ext cx="4581525" cy="3427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60413" y="4886325"/>
            <a:ext cx="6076950" cy="39973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642475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302125" y="9642475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2E60E-8848-2F49-BBBA-7F27067E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everyone, I’m shuhao, I’m going to present my very recent work on designing new system to support concurrent stateful stream processing on multicores.</a:t>
            </a:r>
          </a:p>
          <a:p>
            <a:r>
              <a:rPr lang="en-US" dirty="0"/>
              <a:t>This work was done when I was a </a:t>
            </a:r>
            <a:r>
              <a:rPr lang="en-US" dirty="0" err="1"/>
              <a:t>phd</a:t>
            </a:r>
            <a:r>
              <a:rPr lang="en-US" dirty="0"/>
              <a:t> student at NUS </a:t>
            </a:r>
            <a:r>
              <a:rPr lang="en-US" dirty="0" err="1"/>
              <a:t>Xtra</a:t>
            </a:r>
            <a:r>
              <a:rPr lang="en-US" dirty="0"/>
              <a:t> Computing Group, lead by professor </a:t>
            </a:r>
            <a:r>
              <a:rPr lang="en-US" dirty="0" err="1"/>
              <a:t>Bingsheng</a:t>
            </a:r>
            <a:r>
              <a:rPr lang="en-US" dirty="0"/>
              <a:t> 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37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1200" b="0" dirty="0"/>
              <a:t>Recent efforts have demonstrated ultra-fast stream processing on large-scale multicore architectures.</a:t>
            </a:r>
          </a:p>
          <a:p>
            <a:endParaRPr lang="en-US" dirty="0"/>
          </a:p>
          <a:p>
            <a:r>
              <a:rPr lang="en-US" dirty="0"/>
              <a:t>[click] However, one weakness of today’s systems is the inadequate support of consistent stateful stream processing. </a:t>
            </a:r>
          </a:p>
          <a:p>
            <a:endParaRPr lang="en-US" dirty="0"/>
          </a:p>
          <a:p>
            <a:r>
              <a:rPr lang="en-US" dirty="0"/>
              <a:t>What do I mean by that?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68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let me illustrate it with an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74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Let’s consider the toll processing query, which aims at computing toll of each vehicle based on the current road congestion status.</a:t>
            </a:r>
          </a:p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In the figure, each cycle denotes a stream operator and the edge denotes the data flow among operators.</a:t>
            </a:r>
          </a:p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[click] Position report of each vehicle is continuously passed into the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3600" b="0" i="1" dirty="0">
                <a:solidFill>
                  <a:srgbClr val="FF0000"/>
                </a:solidFill>
              </a:rPr>
              <a:t>[click] </a:t>
            </a:r>
            <a:r>
              <a:rPr lang="en-SG" sz="3600" dirty="0"/>
              <a:t>Road Speed </a:t>
            </a:r>
            <a:r>
              <a:rPr lang="en-SG" sz="3600" b="0" dirty="0"/>
              <a:t>and </a:t>
            </a:r>
            <a:r>
              <a:rPr lang="en-SG" sz="3600" dirty="0"/>
              <a:t>Vehicle </a:t>
            </a:r>
            <a:r>
              <a:rPr lang="en-SG" sz="3600" dirty="0" err="1"/>
              <a:t>Cnt</a:t>
            </a:r>
            <a:r>
              <a:rPr lang="en-SG" sz="3600" dirty="0"/>
              <a:t> </a:t>
            </a:r>
            <a:r>
              <a:rPr lang="en-SG" sz="3600" b="0" dirty="0"/>
              <a:t>maintain and update </a:t>
            </a:r>
            <a:r>
              <a:rPr lang="en-SG" sz="3600" b="0" u="sng" dirty="0"/>
              <a:t>road congestion status</a:t>
            </a:r>
            <a:r>
              <a:rPr lang="en-SG" sz="3600" b="0" u="none" dirty="0"/>
              <a:t> of different road segments.</a:t>
            </a:r>
            <a:endParaRPr lang="en-SG" sz="36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3600" b="0" dirty="0"/>
              <a:t>[click] Toll notification computes “toll” of each vehicle depends on road congestion status.</a:t>
            </a:r>
            <a:endParaRPr lang="en-SG" sz="3600" b="0" i="1" dirty="0">
              <a:solidFill>
                <a:srgbClr val="FF0000"/>
              </a:solidFill>
            </a:endParaRPr>
          </a:p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[click You may now notice that road congestion status </a:t>
            </a:r>
            <a:r>
              <a:rPr lang="en-SG" sz="3600" b="0" i="1" dirty="0">
                <a:solidFill>
                  <a:schemeClr val="accent2"/>
                </a:solidFill>
              </a:rPr>
              <a:t>is </a:t>
            </a:r>
            <a:r>
              <a:rPr lang="en-SG" sz="3600" b="0" i="1" dirty="0">
                <a:solidFill>
                  <a:srgbClr val="FF0000"/>
                </a:solidFill>
              </a:rPr>
              <a:t>shared </a:t>
            </a:r>
            <a:r>
              <a:rPr lang="en-SG" sz="3600" b="0" i="1" dirty="0">
                <a:solidFill>
                  <a:schemeClr val="accent2"/>
                </a:solidFill>
              </a:rPr>
              <a:t>intuitively among different streaming operators. </a:t>
            </a:r>
          </a:p>
          <a:p>
            <a:pPr eaLnBrk="1" hangingPunct="1"/>
            <a:r>
              <a:rPr lang="en-SG" altLang="zh-CN" sz="3600" b="0" i="1" dirty="0">
                <a:solidFill>
                  <a:schemeClr val="accent2"/>
                </a:solidFill>
              </a:rPr>
              <a:t>[click] Consistent stateful stream processing requires such shared states to be maintained consistently.</a:t>
            </a:r>
            <a:endParaRPr lang="zh-CN" alt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22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Let’s now take a look how most existing systems handle it.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[click] Let’s recall the common designs of stream system including pipelined processing with message passing and on-demand data parallelism.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SG" sz="2800" dirty="0"/>
              <a:t>That means, </a:t>
            </a:r>
          </a:p>
          <a:p>
            <a:r>
              <a:rPr lang="en-SG" sz="2800" dirty="0"/>
              <a:t>[click] each operator may be replicated into multiple instances, or called executors and running concurrently.</a:t>
            </a:r>
          </a:p>
          <a:p>
            <a:r>
              <a:rPr lang="en-SG" sz="2900" b="0" dirty="0"/>
              <a:t>Then, [click] to </a:t>
            </a:r>
            <a:r>
              <a:rPr lang="en-SG" sz="2900" dirty="0"/>
              <a:t>ensure consistency of the logically shared application state, developers often apply key-based stream partition so that each operator instance only maintain a disjoint subset of application states.</a:t>
            </a:r>
          </a:p>
          <a:p>
            <a:r>
              <a:rPr lang="en-SG" sz="2900" dirty="0"/>
              <a:t>In the next slides, I will show you the limitation of this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00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dirty="0"/>
              <a:t>Suppose there are two concurrent running executors, one for handling reports of road 1, and the other for handling position reports of road 2.</a:t>
            </a:r>
          </a:p>
          <a:p>
            <a:r>
              <a:rPr lang="en-SG" sz="1200" b="0" dirty="0"/>
              <a:t>In this way, each executor only maintains either [click] road 1 status or [click] road 2 status and [click] there’s no conflict among them.</a:t>
            </a:r>
          </a:p>
          <a:p>
            <a:r>
              <a:rPr lang="en-SG" sz="1200" b="0" dirty="0"/>
              <a:t>[click] Now, suppose the processing of reports of road 2 also reference to status of road 1. For example, charge driver on road 2 higher if road 1 is empty.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dirty="0"/>
              <a:t>[click] To achieve that, we have to either broadcast the status of road 1 from executor1 to executor 2 or, replicate reports of road 1 to executor 2 as well and maintain a replicate state of road 1 there.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b="0" dirty="0"/>
              <a:t>Obviously, both approaches are very costly involving synchronization and extra communication overhead. </a:t>
            </a:r>
          </a:p>
          <a:p>
            <a:endParaRPr lang="en-SG" sz="1200" b="0" dirty="0"/>
          </a:p>
          <a:p>
            <a:r>
              <a:rPr lang="en-SG" sz="1200" b="0" dirty="0"/>
              <a:t>[click] So, key-based stream partition cannot efficiently handle such cases.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49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dirty="0"/>
              <a:t>An alternative is to let different executors to share states.</a:t>
            </a:r>
          </a:p>
          <a:p>
            <a:r>
              <a:rPr lang="en-SG" sz="1200" dirty="0"/>
              <a:t>In this example, both executors can read or write to status of different roads.</a:t>
            </a:r>
          </a:p>
          <a:p>
            <a:r>
              <a:rPr lang="en-SG" sz="1200" dirty="0"/>
              <a:t>However, it may cause state inconsistency as they may concurrently read and write to the same state. </a:t>
            </a:r>
          </a:p>
          <a:p>
            <a:r>
              <a:rPr lang="en-SG" sz="1200" dirty="0"/>
              <a:t>Current solution rely on [click] locks, where only one instance is allowed to acquire the lock, which </a:t>
            </a:r>
          </a:p>
          <a:p>
            <a:r>
              <a:rPr lang="en-SG" sz="1200" dirty="0"/>
              <a:t>[click] leads to poor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16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2900" b="0" dirty="0"/>
              <a:t>Besides the issue of potential state access conflict, we also need to guarantee access ordering, </a:t>
            </a:r>
          </a:p>
          <a:p>
            <a:r>
              <a:rPr lang="en-SG" sz="2900" b="0" dirty="0"/>
              <a:t>For example, </a:t>
            </a:r>
            <a:r>
              <a:rPr lang="en-SG" sz="2800" dirty="0"/>
              <a:t>A toll should based on </a:t>
            </a:r>
            <a:r>
              <a:rPr lang="en-SG" sz="2800" dirty="0">
                <a:solidFill>
                  <a:srgbClr val="FF0000"/>
                </a:solidFill>
              </a:rPr>
              <a:t>exactly current</a:t>
            </a:r>
            <a:r>
              <a:rPr lang="en-SG" sz="2800" dirty="0"/>
              <a:t> road condition.</a:t>
            </a:r>
            <a:endParaRPr lang="en-SG" sz="2900" b="0" dirty="0"/>
          </a:p>
          <a:p>
            <a:r>
              <a:rPr lang="en-SG" sz="2900" b="0" dirty="0"/>
              <a:t>Otherwise</a:t>
            </a:r>
            <a:r>
              <a:rPr lang="en-SG" sz="2900" b="0" dirty="0">
                <a:solidFill>
                  <a:schemeClr val="accent2"/>
                </a:solidFill>
              </a:rPr>
              <a:t>, think about you are charged more of today simply because there were more serious road congestions yesterday, which makes nonsense.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01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2900" b="0" dirty="0">
                <a:solidFill>
                  <a:schemeClr val="accent2"/>
                </a:solidFill>
              </a:rPr>
              <a:t>Today, existing systems often achieve access ordering by using </a:t>
            </a:r>
          </a:p>
          <a:p>
            <a:endParaRPr lang="en-SG" sz="2900" b="0" dirty="0">
              <a:solidFill>
                <a:schemeClr val="accent2"/>
              </a:solidFill>
            </a:endParaRPr>
          </a:p>
          <a:p>
            <a:r>
              <a:rPr lang="en-SG" sz="2900" b="0" dirty="0">
                <a:solidFill>
                  <a:schemeClr val="accent2"/>
                </a:solidFill>
              </a:rPr>
              <a:t>[click] buffering and sorting, which is again </a:t>
            </a:r>
          </a:p>
          <a:p>
            <a:endParaRPr lang="en-SG" sz="2900" b="0" dirty="0">
              <a:solidFill>
                <a:schemeClr val="accent2"/>
              </a:solidFill>
            </a:endParaRPr>
          </a:p>
          <a:p>
            <a:r>
              <a:rPr lang="en-SG" sz="2900" b="0" dirty="0">
                <a:solidFill>
                  <a:schemeClr val="accent2"/>
                </a:solidFill>
              </a:rPr>
              <a:t>[click] obviously problematic. </a:t>
            </a:r>
          </a:p>
          <a:p>
            <a:r>
              <a:rPr lang="en-SG" sz="2900" b="0" dirty="0"/>
              <a:t>So, how can we better handle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88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now review the state-of-the-art.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49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Several prior works proposed to employ transactional schematics on managing shared states. </a:t>
            </a:r>
          </a:p>
          <a:p>
            <a:r>
              <a:rPr lang="en-US" dirty="0"/>
              <a:t>So, here all operators and their executors are allowed to access shared table of records and </a:t>
            </a:r>
          </a:p>
          <a:p>
            <a:r>
              <a:rPr lang="en-US" dirty="0"/>
              <a:t>[click] the state access is modelled as transactions.</a:t>
            </a:r>
          </a:p>
          <a:p>
            <a:r>
              <a:rPr lang="en-US" dirty="0"/>
              <a:t>[click] For example, at 10 am, there is one update to the count of unique vehicle on road 1; </a:t>
            </a:r>
          </a:p>
          <a:p>
            <a:r>
              <a:rPr lang="en-US" dirty="0"/>
              <a:t>[click] 5 mins later, there is a read to the count of road 1 to compute the toll.</a:t>
            </a:r>
          </a:p>
          <a:p>
            <a:r>
              <a:rPr lang="en-US" dirty="0"/>
              <a:t>[click[ A correct schedule must ensure all state accesses are performed as if they are executed sequentially according to their timestamp, this ensures the status being read is up-to-date.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77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Unfortunately, prior solutions explored very limited parallelism opportunities. </a:t>
            </a:r>
          </a:p>
          <a:p>
            <a:r>
              <a:rPr lang="en-US" dirty="0"/>
              <a:t>This figure shows the results of using an existing partition-based approach on handling the toll processing query.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[click] As the number of cores used increases, the overhead of accessing shared states quickly dominates other operations due to 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[click] serious lock contention. 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[click] Therefore, we need a new solution for scaling concurrent state access in the stream system.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55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build a new stream processing system called </a:t>
            </a:r>
            <a:r>
              <a:rPr lang="en-US" sz="1200" dirty="0"/>
              <a:t>TStream to handle concurrent stateful stream processing on modern multicores.</a:t>
            </a:r>
          </a:p>
          <a:p>
            <a:r>
              <a:rPr lang="en-US" sz="1200" dirty="0"/>
              <a:t>In the following, I will discuss how we design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27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We introduce two designs to our system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[click] First, the dual-mode scheduling design aims at exposing parallelism opportunities to the system.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[click] Second, the </a:t>
            </a:r>
            <a:r>
              <a:rPr lang="en-SG" sz="3200" dirty="0"/>
              <a:t>dynamic restructuring execution design aims at exploiting the parallelism opportunities.</a:t>
            </a:r>
            <a:endParaRPr lang="en-US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Put them together, our system achieves up to 4.8 times higher throughput with similar or even lower processing latency compare to the state-of-the-art.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55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abstract the process of one input event as three steps.</a:t>
            </a:r>
          </a:p>
          <a:p>
            <a:r>
              <a:rPr lang="en-US" altLang="zh-CN" dirty="0"/>
              <a:t>[click] the preprocess step is for performing some initial process on the input event, for example, filtering,</a:t>
            </a:r>
          </a:p>
          <a:p>
            <a:r>
              <a:rPr lang="en-US" altLang="zh-CN" dirty="0"/>
              <a:t>[click] state access for accessing shared application states. For example, read to the road congestion status.</a:t>
            </a:r>
          </a:p>
          <a:p>
            <a:r>
              <a:rPr lang="en-US" altLang="zh-CN" dirty="0"/>
              <a:t>and </a:t>
            </a:r>
            <a:br>
              <a:rPr lang="en-US" altLang="zh-CN" dirty="0"/>
            </a:br>
            <a:r>
              <a:rPr lang="en-US" altLang="zh-CN" dirty="0"/>
              <a:t>[click] post-process for performing other process that depends on state access results. For example, computes the toll</a:t>
            </a:r>
          </a:p>
          <a:p>
            <a:endParaRPr lang="en-US" altLang="zh-CN" dirty="0"/>
          </a:p>
          <a:p>
            <a:r>
              <a:rPr lang="en-US" altLang="zh-CN" dirty="0"/>
              <a:t>Under existing algorithms, these three steps are performed contiguously in one thread. </a:t>
            </a:r>
            <a:endParaRPr lang="en-US" dirty="0"/>
          </a:p>
          <a:p>
            <a:r>
              <a:rPr lang="en-US" dirty="0"/>
              <a:t>However, state access is often the bottleneck, and it </a:t>
            </a:r>
            <a:r>
              <a:rPr lang="en-US" i="1" dirty="0"/>
              <a:t>unnecessarily</a:t>
            </a:r>
            <a:r>
              <a:rPr lang="en-US" dirty="0"/>
              <a:t> blocks all subsequent processes.</a:t>
            </a:r>
            <a:endParaRPr lang="en-US" altLang="zh-CN" dirty="0"/>
          </a:p>
          <a:p>
            <a:r>
              <a:rPr lang="en-US" altLang="zh-CN" dirty="0"/>
              <a:t>[click] We hence decouple the process of it to be evaluated later. </a:t>
            </a:r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626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illustrate it with an example, where we consider two executors running concurrently.</a:t>
            </a:r>
          </a:p>
          <a:p>
            <a:endParaRPr lang="en-US" dirty="0"/>
          </a:p>
          <a:p>
            <a:r>
              <a:rPr lang="en-US" dirty="0"/>
              <a:t>Each executor process input events without handling the state access requests.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[click] after a while, it pause the handling of further input events, and start to actually evaluate the postponed state transactions.</a:t>
            </a:r>
          </a:p>
          <a:p>
            <a:r>
              <a:rPr lang="en-US" dirty="0"/>
              <a:t>[click] next, when postponed state transactions are fully processed, the operators can start the post-process step.</a:t>
            </a:r>
          </a:p>
          <a:p>
            <a:r>
              <a:rPr lang="en-US" dirty="0"/>
              <a:t>[click] </a:t>
            </a:r>
            <a:r>
              <a:rPr lang="en-US" dirty="0" err="1"/>
              <a:t>finially</a:t>
            </a:r>
            <a:r>
              <a:rPr lang="en-US" dirty="0"/>
              <a:t>, operators are resumed to process further input events.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[click] Now you can see there are two modes, a compute mode and a state access mode.</a:t>
            </a:r>
          </a:p>
          <a:p>
            <a:r>
              <a:rPr lang="en-US" altLang="zh-CN" dirty="0"/>
              <a:t>These two modes are switched to each other periodically controlled by </a:t>
            </a:r>
            <a:r>
              <a:rPr lang="en-US" altLang="zh-CN" dirty="0" err="1"/>
              <a:t>punction</a:t>
            </a:r>
            <a:r>
              <a:rPr lang="en-US" altLang="zh-CN" dirty="0"/>
              <a:t> signals.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advantage of this type of design is that it enlarges inter-event parallelism opportunists. As you can imaging, multiple state transactions from multiple events are going to be evaluated as a batch.</a:t>
            </a:r>
          </a:p>
          <a:p>
            <a:r>
              <a:rPr lang="en-US" dirty="0"/>
              <a:t>The disadvantage is that it needs to handle ``on-the-fly” events to ensure processing correctness. Please find the detail in our paper to see how we handle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75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 state transaction process turns out to be a performance bottleneck, we propose a fine-grained parallelism approach to speed up the processing of postponed state transactions.</a:t>
            </a:r>
          </a:p>
          <a:p>
            <a:r>
              <a:rPr lang="en-US" altLang="zh-CN" dirty="0"/>
              <a:t>[click] The key idea is to decompose each state transaction into atomic operations and regroup them to avoid conflict before actual parallel evaluation is applied.</a:t>
            </a:r>
          </a:p>
          <a:p>
            <a:r>
              <a:rPr lang="en-US" altLang="zh-CN" dirty="0"/>
              <a:t>[click] In this example, executor 1 decomposes transaction t1 into operations O1 and O2; and executor 2 decomposes transaction t2 into operation O3, </a:t>
            </a:r>
          </a:p>
          <a:p>
            <a:r>
              <a:rPr lang="en-US" altLang="zh-CN" dirty="0"/>
              <a:t>[click[ where operation 1 stands for read of road 1, operation 2 stands for update to road 2 and operation 3 strands for read of road 2. </a:t>
            </a:r>
          </a:p>
          <a:p>
            <a:r>
              <a:rPr lang="en-US" altLang="zh-CN" dirty="0"/>
              <a:t>[click] Those operations will in inserted into the so-called operation chains data structure </a:t>
            </a:r>
          </a:p>
          <a:p>
            <a:r>
              <a:rPr lang="en-US" altLang="zh-CN" dirty="0"/>
              <a:t>[click] where operations in each chain target at the same application state and they are automatically sorted according to their timestamps.</a:t>
            </a:r>
          </a:p>
          <a:p>
            <a:r>
              <a:rPr lang="en-US" altLang="zh-CN" dirty="0"/>
              <a:t>[click] subsequently, when all transactions are decomposed and inserted into those operations chains, we can evaluate those operations chains in parallel without any state access conflict.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56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I’ll jump to experimental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46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four applications in experiments including grep sum, streaming ledger, online bidding, and toll processing.</a:t>
            </a:r>
          </a:p>
          <a:p>
            <a:endParaRPr lang="en-US" dirty="0"/>
          </a:p>
          <a:p>
            <a:r>
              <a:rPr lang="en-US" dirty="0"/>
              <a:t>[click] They cover different runtime characteristics such as </a:t>
            </a:r>
          </a:p>
          <a:p>
            <a:r>
              <a:rPr lang="en-US" dirty="0"/>
              <a:t>[click] varying compute/state access ratio.</a:t>
            </a:r>
          </a:p>
          <a:p>
            <a:r>
              <a:rPr lang="en-US" dirty="0"/>
              <a:t>[click] different types of state transactions such as read-only, write-only.</a:t>
            </a:r>
          </a:p>
          <a:p>
            <a:r>
              <a:rPr lang="en-US" dirty="0">
                <a:solidFill>
                  <a:srgbClr val="FF0000"/>
                </a:solidFill>
              </a:rPr>
              <a:t>[click] different data dependencies in the workload, where data dependency stands for, for example,</a:t>
            </a:r>
          </a:p>
          <a:p>
            <a:r>
              <a:rPr lang="en-US" dirty="0">
                <a:solidFill>
                  <a:srgbClr val="FF0000"/>
                </a:solidFill>
              </a:rPr>
              <a:t>[click] different ratio of multi-partition transactions.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[click] we conduct the experiment on a 4-socket intel </a:t>
            </a:r>
            <a:r>
              <a:rPr lang="en-US" dirty="0" err="1">
                <a:solidFill>
                  <a:srgbClr val="FF0000"/>
                </a:solidFill>
              </a:rPr>
              <a:t>xeon</a:t>
            </a:r>
            <a:r>
              <a:rPr lang="en-US" dirty="0">
                <a:solidFill>
                  <a:srgbClr val="FF0000"/>
                </a:solidFill>
              </a:rPr>
              <a:t>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9248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 all state-of-the-art solutions in the same system including</a:t>
            </a:r>
          </a:p>
          <a:p>
            <a:r>
              <a:rPr lang="en-US" dirty="0"/>
              <a:t>[click] Lock based,</a:t>
            </a:r>
          </a:p>
          <a:p>
            <a:r>
              <a:rPr lang="en-US" dirty="0"/>
              <a:t>[click] multiversion lock based,</a:t>
            </a:r>
          </a:p>
          <a:p>
            <a:r>
              <a:rPr lang="en-US" dirty="0"/>
              <a:t>[click] partition based, which is essentially S-Store scheme.</a:t>
            </a:r>
          </a:p>
          <a:p>
            <a:r>
              <a:rPr lang="en-US" dirty="0"/>
              <a:t>[click] In addition, we compare our solution with no consistency guarantee by removing locks from LOCK scheme, which represents the performance upper bound</a:t>
            </a:r>
            <a:r>
              <a:rPr lang="zh-CN" altLang="en-US" dirty="0"/>
              <a:t> </a:t>
            </a:r>
            <a:r>
              <a:rPr lang="en-US" altLang="zh-CN" dirty="0"/>
              <a:t>of the system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Let's see the overall performance comparison.</a:t>
            </a:r>
          </a:p>
          <a:p>
            <a:r>
              <a:rPr lang="en-US" dirty="0"/>
              <a:t>There are three major observations.</a:t>
            </a:r>
          </a:p>
          <a:p>
            <a:r>
              <a:rPr lang="en-US" dirty="0"/>
              <a:t>[click] First, TStream significantly outperforms other consistent guarantee schemes at large core counts.</a:t>
            </a:r>
          </a:p>
          <a:p>
            <a:r>
              <a:rPr lang="en-US" dirty="0"/>
              <a:t>[click] Second, It still performs slightly better when data dependency is heavily presented.</a:t>
            </a:r>
          </a:p>
          <a:p>
            <a:r>
              <a:rPr lang="en-US" dirty="0"/>
              <a:t>[click] Finally, we need to note that there is still large room for further improvement as indicated by the no-lock scheme.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527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200" b="0" dirty="0"/>
              <a:t>Now, let’s do a recap.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dirty="0"/>
              <a:t>[click] TStream adopts an non-conventional </a:t>
            </a:r>
            <a:r>
              <a:rPr lang="en-US" sz="1200" b="0" dirty="0">
                <a:solidFill>
                  <a:srgbClr val="FF0000"/>
                </a:solidFill>
              </a:rPr>
              <a:t>dual mode scheduling and transaction restructuring execution strategy</a:t>
            </a:r>
            <a:r>
              <a:rPr lang="en-US" sz="1200" b="0" dirty="0"/>
              <a:t> for scaling consistent stateful stream processing on multicores.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dirty="0"/>
              <a:t>[click] We demonstrated that TStream performs constantly better than prior solutions.</a:t>
            </a:r>
            <a:r>
              <a:rPr lang="en-SG" sz="1200" b="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12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arising Internet of Things (IoT) are adding further pressure on current stream processing systems.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SG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 now a postdoc in the team of </a:t>
            </a:r>
            <a:r>
              <a:rPr lang="en-US" sz="2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NebulaStream</a:t>
            </a: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 TU berlin,  </a:t>
            </a:r>
            <a:r>
              <a:rPr lang="en-SG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we are building the next generation IoT data Management Platform leading by professor Volker </a:t>
            </a:r>
            <a:r>
              <a:rPr lang="en-SG" sz="2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markl</a:t>
            </a:r>
            <a:r>
              <a:rPr lang="en-SG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many exciting open questions remain to be solved, stay tuned.</a:t>
            </a:r>
          </a:p>
          <a:p>
            <a:endParaRPr lang="en-US" dirty="0"/>
          </a:p>
          <a:p>
            <a:r>
              <a:rPr lang="en-US" dirty="0"/>
              <a:t>[click] if you have further question, do not hesitate to contact me!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299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 all state-of-the-art solutions in the same system.</a:t>
            </a:r>
          </a:p>
          <a:p>
            <a:r>
              <a:rPr lang="en-US" dirty="0"/>
              <a:t>[click] Lock based,</a:t>
            </a:r>
          </a:p>
          <a:p>
            <a:r>
              <a:rPr lang="en-US" dirty="0"/>
              <a:t>[click] </a:t>
            </a:r>
            <a:r>
              <a:rPr lang="en-US" dirty="0" err="1"/>
              <a:t>multiversion</a:t>
            </a:r>
            <a:r>
              <a:rPr lang="en-US" dirty="0"/>
              <a:t> lock based,</a:t>
            </a:r>
          </a:p>
          <a:p>
            <a:r>
              <a:rPr lang="en-US" dirty="0"/>
              <a:t>[click] partition based, which is essentially S-Store scheme.</a:t>
            </a:r>
          </a:p>
          <a:p>
            <a:r>
              <a:rPr lang="en-US" dirty="0"/>
              <a:t>[click] In addition, we compare our solution with no consistency guarantee by </a:t>
            </a:r>
          </a:p>
          <a:p>
            <a:r>
              <a:rPr lang="en-US" dirty="0"/>
              <a:t>[click] removing locks from LOCK scheme, which </a:t>
            </a:r>
          </a:p>
          <a:p>
            <a:r>
              <a:rPr lang="en-US" dirty="0"/>
              <a:t>[click] represents the performance upper bound</a:t>
            </a:r>
            <a:r>
              <a:rPr lang="zh-CN" altLang="en-US" dirty="0"/>
              <a:t> </a:t>
            </a:r>
            <a:r>
              <a:rPr lang="en-US" altLang="zh-CN" dirty="0"/>
              <a:t>of the system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492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I show a detailed execution time breakdown during transaction processing comparing different algorithms.</a:t>
            </a:r>
          </a:p>
          <a:p>
            <a:r>
              <a:rPr lang="en-US" dirty="0"/>
              <a:t>[click] Useful stands for actual time in transaction processing;</a:t>
            </a:r>
          </a:p>
          <a:p>
            <a:r>
              <a:rPr lang="en-US" dirty="0"/>
              <a:t>[click] Lock stands for time spend due to lock insertion;</a:t>
            </a:r>
          </a:p>
          <a:p>
            <a:r>
              <a:rPr lang="en-US" dirty="0"/>
              <a:t>[click] Sync stands for synchronization time due to ordering waiting or punctuation interval;</a:t>
            </a:r>
          </a:p>
          <a:p>
            <a:r>
              <a:rPr lang="en-US" dirty="0"/>
              <a:t>[click] RMA stands for remote memory access overhead;</a:t>
            </a:r>
          </a:p>
          <a:p>
            <a:r>
              <a:rPr lang="en-US" dirty="0"/>
              <a:t>[click] Others stands for all other overhead such as indexing look up, context switching.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There are three major observations.</a:t>
            </a:r>
          </a:p>
          <a:p>
            <a:r>
              <a:rPr lang="en-US" dirty="0"/>
              <a:t>[click] First, No-lock scheme spends more than 60% of the time in others mainly due to index look up. we defer it as future work and focus on concurrency control in this work.</a:t>
            </a:r>
          </a:p>
          <a:p>
            <a:r>
              <a:rPr lang="en-US" dirty="0"/>
              <a:t>[click] Second, synchronization overhead dominates in all prior solutions regardless of the NUMA effect.</a:t>
            </a:r>
          </a:p>
          <a:p>
            <a:r>
              <a:rPr lang="en-US" dirty="0"/>
              <a:t>[click] Third, TStream has an unavoidable data shuffling operation during transaction decomposition, which involves high NUMA overhead. We apply multiple NUMA-aware optimization techniques, detailed in our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758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Stream transactions may need to be aborted. E.g., one that leaves the average speed of a road to become negative.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Currently, TStream has its drawback on efficiently handling transaction abort.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It’s hard to efficiently abort one transaction that is </a:t>
            </a:r>
            <a:r>
              <a:rPr lang="en-US" sz="1200" i="1" dirty="0"/>
              <a:t>decomposed</a:t>
            </a:r>
            <a:r>
              <a:rPr lang="en-US" sz="1200" dirty="0"/>
              <a:t> and </a:t>
            </a:r>
            <a:r>
              <a:rPr lang="en-US" sz="1200" i="1" dirty="0"/>
              <a:t>partially</a:t>
            </a:r>
            <a:r>
              <a:rPr lang="en-US" sz="1200" dirty="0"/>
              <a:t> evaluated.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9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10">
            <a:extLst>
              <a:ext uri="{FF2B5EF4-FFF2-40B4-BE49-F238E27FC236}">
                <a16:creationId xmlns:a16="http://schemas.microsoft.com/office/drawing/2014/main" id="{13632A84-2EFE-6245-8D70-F2C33B5DF1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B9BF6E0C-2EA0-4443-B965-4F8BE9A3AD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85EE094C-2F97-FA4E-86FE-7403D94624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altLang="en-US" noProof="0"/>
              <a:t>Click to edit Master title style</a:t>
            </a:r>
          </a:p>
        </p:txBody>
      </p:sp>
      <p:pic>
        <p:nvPicPr>
          <p:cNvPr id="8205" name="Picture 13">
            <a:extLst>
              <a:ext uri="{FF2B5EF4-FFF2-40B4-BE49-F238E27FC236}">
                <a16:creationId xmlns:a16="http://schemas.microsoft.com/office/drawing/2014/main" id="{44A49738-30F3-B34D-A3B0-29A3555C51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D5558-3D16-BF46-910C-1397B5AAF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50167-F2B1-D54B-8A33-99560460A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3600A-AFBD-C14A-AECE-EACCB018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7908A-DD82-1A44-AF97-275E02852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9AD3FC-6ACF-244F-BF01-C89461EF6431}" type="slidenum">
              <a:rPr lang="en-GB" altLang="en-US" smtClean="0"/>
              <a:pPr/>
              <a:t>‹#›</a:t>
            </a:fld>
            <a:endParaRPr lang="en-GB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A3AF-EBBF-7F44-A342-A3EEE786A0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584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AD71-8987-394A-A163-250FD01C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50" y="1893888"/>
            <a:ext cx="8756650" cy="31591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94760-C3BE-A04C-A490-8B1276D17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50" y="5083175"/>
            <a:ext cx="8756650" cy="166211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FF1E2-4A8E-DD47-B58B-159324C0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96EDB-0646-FD4D-A11F-AB86F28FEC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7551EE1-C970-B842-8CC3-34317DF1BCEF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6BFF-2F26-344F-A3EC-4D273680BA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7134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70F8-6E06-B541-8F1A-649B361F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2EA62-786E-4148-81D9-BC373ABE1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2193925"/>
            <a:ext cx="4237037" cy="4740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DDF32-4F84-B448-9563-2196337E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0625" y="2193925"/>
            <a:ext cx="4238625" cy="4740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15265-1B4D-A043-AC5E-3B864DA5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BCAC-1D0D-4145-B10A-88D16E69D9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802E8F9-045D-C24C-9E3B-0275377A48C9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EFEB68-B2A7-8B45-B671-3235B5FD17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4436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A626-0D84-884F-B4AB-8E6F191D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404813"/>
            <a:ext cx="8756650" cy="14684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29A2A-BF3B-C341-88B5-C1F254079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500" y="1862138"/>
            <a:ext cx="4295775" cy="9128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23C43-2BAB-1644-A0BD-A824FA9DF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8500" y="2774950"/>
            <a:ext cx="4295775" cy="40814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B9140-FAD5-DB46-8A3B-5ABF45163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38738" y="1862138"/>
            <a:ext cx="4316412" cy="9128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2083C-A173-5046-85B0-E92070CB6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38738" y="2774950"/>
            <a:ext cx="4316412" cy="40814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798595-E88C-7D48-8740-1148725E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206AA-0AE6-0D4A-B919-C796AC996C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C7B917-6AEA-0F4E-A9BC-B450258C4C9F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460B81-45CA-E142-A0B9-1D37C900F8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620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1B77-CE72-5445-B16C-0E045D74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957D0-B39B-5A48-BB51-0AFC2D2A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E00CC-637F-5548-A86C-531ED3CA46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AB98FE-9B44-8F4F-955D-F7EF3C7C350C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48597-AF98-3148-A773-041F7A66D7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968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BF8E1-C0F4-284E-B0BE-1D298B97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9DC78-96C4-1E4C-8A73-2352EAC640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467FBF-22C3-BD4A-99C3-C4C824D7D4CA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24E89-1EE0-224F-90F2-DC3B1CEFF8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8920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C004-D4C6-8A4E-A997-1860721C2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506413"/>
            <a:ext cx="3275013" cy="17732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6D277-9D6E-974B-A3C9-F717BEB95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13" y="1093788"/>
            <a:ext cx="5138737" cy="53975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A7F2E-D130-5440-8E71-22E84BA5B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500" y="2279650"/>
            <a:ext cx="3275013" cy="4221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F32F5-E885-AB45-A8FC-DE6231A7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F824C-7D1D-FF4B-8455-7BB4204FF6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B9967C-9C61-F447-A014-8276EA034E41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F6414E-D3F5-1E45-AFA7-22BAD00EE6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6474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D619-CDC5-9945-8E7F-9FB9D827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506413"/>
            <a:ext cx="3275013" cy="17732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B36BC-64E4-9C43-94F9-626D021A6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6413" y="1093788"/>
            <a:ext cx="5138737" cy="5397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FCA58-A70C-E14D-A60F-4B092279C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500" y="2279650"/>
            <a:ext cx="3275013" cy="4221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75B58-3308-FD4C-ACAC-3C96FC0A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04447-BEA0-6543-8C5B-A12DC8EA86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93B4EB-5218-214B-A7E4-9FD6B3B3D6B8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3C73C6B-B77D-4842-9B05-C250BDCBC1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1344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C907-1D48-4548-9D03-55C381EE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F97F9-B809-FC4D-BA86-F820B2067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B9C3C-EB29-4247-BA89-65C0D8E0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9035C-44FD-A042-99F0-214A54AB85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0054CE-B890-364A-8F1D-626584633B8F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BCE1F-3FEB-5D49-9883-0E672E449DE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928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D4C49-B5C0-E543-B10A-386F48307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3425" y="914400"/>
            <a:ext cx="2155825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20068-3DA7-2A4F-93DD-1D81B6DDC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914400"/>
            <a:ext cx="6319837" cy="6019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2A4C0-7C48-A145-8BF1-9A05906A4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B6E34-DAEF-FF46-AF94-DBDD18C73D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1A353E-482F-D749-BBA7-40D74F324ADC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3D45A-7DD1-884E-ACD5-9F5119F355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311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470930E-94F0-B94A-A946-633A0D994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914400"/>
            <a:ext cx="7237412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3EFC19C-D7CC-B946-89FB-7743B6CB2A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2193925"/>
            <a:ext cx="8628062" cy="474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9186BC-0D3B-F14C-A693-654D6590D6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defTabSz="1014413">
              <a:defRPr sz="1000">
                <a:solidFill>
                  <a:srgbClr val="003399"/>
                </a:solidFill>
              </a:defRPr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BE49660-58EF-214D-A4DE-AE6D871AC8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defTabSz="1014413">
              <a:defRPr sz="1800">
                <a:solidFill>
                  <a:srgbClr val="003399"/>
                </a:solidFill>
              </a:defRPr>
            </a:lvl1pPr>
          </a:lstStyle>
          <a:p>
            <a:fld id="{449B3359-DFE4-E44C-A902-F69E8F948C1D}" type="slidenum">
              <a:rPr lang="en-GB" altLang="en-US" smtClean="0"/>
              <a:pPr/>
              <a:t>‹#›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DADEA5D-87B5-F345-AB69-5403D39DA3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0669B70-4207-CF41-A827-17E603EFCD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ADA1DCB7-B23B-6F4A-BE3C-04B5E973F8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31800"/>
            <a:ext cx="1612900" cy="78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Text Box 11">
            <a:extLst>
              <a:ext uri="{FF2B5EF4-FFF2-40B4-BE49-F238E27FC236}">
                <a16:creationId xmlns:a16="http://schemas.microsoft.com/office/drawing/2014/main" id="{1B90F14A-3DD6-5348-80E7-C5B33D2A5C1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1188" y="358775"/>
            <a:ext cx="72390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500" dirty="0">
                <a:solidFill>
                  <a:srgbClr val="003399"/>
                </a:solidFill>
                <a:latin typeface="Times New Roman" panose="02020603050405020304" pitchFamily="18" charset="0"/>
              </a:rPr>
              <a:t>Towards Concurrent Stateful Stream Processing on Multicore Processors</a:t>
            </a:r>
            <a:endParaRPr lang="en-GB" altLang="en-US" sz="1500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34FFBE9C-0D53-034D-A444-FAB0E681E65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7016750"/>
            <a:ext cx="3214688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ctr" defTabSz="1014413">
              <a:defRPr sz="1600"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1014413" rtl="0" fontAlgn="base">
        <a:spcBef>
          <a:spcPct val="0"/>
        </a:spcBef>
        <a:spcAft>
          <a:spcPct val="0"/>
        </a:spcAft>
        <a:defRPr sz="3500" kern="1200">
          <a:solidFill>
            <a:srgbClr val="FF6600"/>
          </a:solidFill>
          <a:latin typeface="+mj-lt"/>
          <a:ea typeface="+mj-ea"/>
          <a:cs typeface="+mj-cs"/>
        </a:defRPr>
      </a:lvl1pPr>
      <a:lvl2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2pPr>
      <a:lvl3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3pPr>
      <a:lvl4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4pPr>
      <a:lvl5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9pPr>
    </p:titleStyle>
    <p:bodyStyle>
      <a:lvl1pPr algn="l" defTabSz="1014413" rtl="0" fontAlgn="base">
        <a:spcBef>
          <a:spcPct val="20000"/>
        </a:spcBef>
        <a:spcAft>
          <a:spcPct val="0"/>
        </a:spcAft>
        <a:defRPr sz="2500" b="1" kern="1200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fontAlgn="base">
        <a:spcBef>
          <a:spcPct val="20000"/>
        </a:spcBef>
        <a:spcAft>
          <a:spcPct val="0"/>
        </a:spcAft>
        <a:defRPr sz="2600" kern="1200">
          <a:solidFill>
            <a:srgbClr val="003399"/>
          </a:solidFill>
          <a:latin typeface="+mn-lt"/>
          <a:ea typeface="+mn-ea"/>
          <a:cs typeface="+mn-cs"/>
        </a:defRPr>
      </a:lvl2pPr>
      <a:lvl3pPr marL="755650" algn="l" defTabSz="1014413" rtl="0" fontAlgn="base">
        <a:spcBef>
          <a:spcPct val="20000"/>
        </a:spcBef>
        <a:spcAft>
          <a:spcPct val="0"/>
        </a:spcAft>
        <a:defRPr sz="2200" b="1" kern="1200">
          <a:solidFill>
            <a:srgbClr val="FF6600"/>
          </a:solidFill>
          <a:latin typeface="+mn-lt"/>
          <a:ea typeface="+mn-ea"/>
          <a:cs typeface="+mn-cs"/>
        </a:defRPr>
      </a:lvl3pPr>
      <a:lvl4pPr marL="1143000" indent="6350" algn="l" defTabSz="1014413" rtl="0" fontAlgn="base">
        <a:spcBef>
          <a:spcPct val="20000"/>
        </a:spcBef>
        <a:spcAft>
          <a:spcPct val="0"/>
        </a:spcAft>
        <a:defRPr sz="2200" i="1" kern="1200">
          <a:solidFill>
            <a:srgbClr val="003399"/>
          </a:solidFill>
          <a:latin typeface="+mn-lt"/>
          <a:ea typeface="+mn-ea"/>
          <a:cs typeface="+mn-cs"/>
        </a:defRPr>
      </a:lvl4pPr>
      <a:lvl5pPr marL="1524000" algn="l" defTabSz="1014413" rtl="0" fontAlgn="base">
        <a:spcBef>
          <a:spcPct val="20000"/>
        </a:spcBef>
        <a:spcAft>
          <a:spcPct val="0"/>
        </a:spcAft>
        <a:defRPr sz="2000" kern="1200">
          <a:solidFill>
            <a:srgbClr val="00339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iff"/><Relationship Id="rId4" Type="http://schemas.openxmlformats.org/officeDocument/2006/relationships/image" Target="../media/image15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tra-Computing/briskstream/tree/TStrea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nebula.stream/" TargetMode="Externa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EF1C5C-FB8D-9E4D-A237-4053EAD62B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2065" name="Rectangle 17">
            <a:extLst>
              <a:ext uri="{FF2B5EF4-FFF2-40B4-BE49-F238E27FC236}">
                <a16:creationId xmlns:a16="http://schemas.microsoft.com/office/drawing/2014/main" id="{44CBE188-49FF-854B-8E05-7E0B4B195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66" name="Text Box 18">
            <a:extLst>
              <a:ext uri="{FF2B5EF4-FFF2-40B4-BE49-F238E27FC236}">
                <a16:creationId xmlns:a16="http://schemas.microsoft.com/office/drawing/2014/main" id="{E6983B4C-3483-5B4A-97BD-12221A923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" y="1447800"/>
            <a:ext cx="96774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4400" dirty="0">
                <a:solidFill>
                  <a:schemeClr val="bg1"/>
                </a:solidFill>
                <a:latin typeface="+mj-lt"/>
              </a:rPr>
              <a:t>Towards Concurrent Stateful Stream Processing on Multicore Processors</a:t>
            </a:r>
            <a:endParaRPr lang="en-GB" alt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67" name="Rectangle 19">
            <a:extLst>
              <a:ext uri="{FF2B5EF4-FFF2-40B4-BE49-F238E27FC236}">
                <a16:creationId xmlns:a16="http://schemas.microsoft.com/office/drawing/2014/main" id="{3C31D1F6-A717-B74B-8AEE-4A2CA62D5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D6F4A-046B-FC4B-B030-C68FE243FF76}"/>
              </a:ext>
            </a:extLst>
          </p:cNvPr>
          <p:cNvSpPr/>
          <p:nvPr/>
        </p:nvSpPr>
        <p:spPr>
          <a:xfrm>
            <a:off x="6719887" y="3474928"/>
            <a:ext cx="3309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Shuhao Zhang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60E53FC3-1A2B-0E4B-ADB7-745F994607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19476" r="12821" b="21317"/>
          <a:stretch/>
        </p:blipFill>
        <p:spPr bwMode="auto">
          <a:xfrm>
            <a:off x="3019321" y="5711825"/>
            <a:ext cx="3279325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798D4-10E7-E948-83F5-3A95280A5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831" y="5654365"/>
            <a:ext cx="711200" cy="7112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FFBEFD0-6A76-3042-994C-BBAE3D46D707}"/>
              </a:ext>
            </a:extLst>
          </p:cNvPr>
          <p:cNvSpPr/>
          <p:nvPr/>
        </p:nvSpPr>
        <p:spPr>
          <a:xfrm>
            <a:off x="7124299" y="6362144"/>
            <a:ext cx="3027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 err="1">
                <a:solidFill>
                  <a:srgbClr val="24292E"/>
                </a:solidFill>
                <a:latin typeface="-apple-system"/>
              </a:rPr>
              <a:t>Xtra</a:t>
            </a:r>
            <a:r>
              <a:rPr lang="en-SG" dirty="0">
                <a:solidFill>
                  <a:srgbClr val="24292E"/>
                </a:solidFill>
                <a:latin typeface="-apple-system"/>
              </a:rPr>
              <a:t> Computing Group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7EA96A-52DD-B24A-896F-10F508AA3A63}"/>
              </a:ext>
            </a:extLst>
          </p:cNvPr>
          <p:cNvSpPr/>
          <p:nvPr/>
        </p:nvSpPr>
        <p:spPr>
          <a:xfrm>
            <a:off x="6480864" y="6862675"/>
            <a:ext cx="36711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lead by Prof. </a:t>
            </a:r>
            <a:r>
              <a:rPr lang="en-US" dirty="0" err="1"/>
              <a:t>Bingsheng</a:t>
            </a:r>
            <a:r>
              <a:rPr lang="en-US" dirty="0"/>
              <a:t> He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6ECDEC-13E7-AF4B-A38C-B711F5FE99CB}"/>
              </a:ext>
            </a:extLst>
          </p:cNvPr>
          <p:cNvSpPr/>
          <p:nvPr/>
        </p:nvSpPr>
        <p:spPr>
          <a:xfrm>
            <a:off x="1647031" y="4320262"/>
            <a:ext cx="821071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co-author: </a:t>
            </a:r>
            <a:r>
              <a:rPr lang="en-US" sz="3200" dirty="0" err="1">
                <a:solidFill>
                  <a:schemeClr val="bg1"/>
                </a:solidFill>
              </a:rPr>
              <a:t>Yingjun</a:t>
            </a:r>
            <a:r>
              <a:rPr lang="en-US" sz="3200" dirty="0">
                <a:solidFill>
                  <a:schemeClr val="bg1"/>
                </a:solidFill>
              </a:rPr>
              <a:t> Wu (</a:t>
            </a:r>
            <a:r>
              <a:rPr lang="en-US" dirty="0">
                <a:solidFill>
                  <a:schemeClr val="bg1"/>
                </a:solidFill>
              </a:rPr>
              <a:t>AWS</a:t>
            </a:r>
            <a:r>
              <a:rPr lang="en-US" sz="3200" dirty="0">
                <a:solidFill>
                  <a:schemeClr val="bg1"/>
                </a:solidFill>
              </a:rPr>
              <a:t>), </a:t>
            </a:r>
            <a:r>
              <a:rPr lang="en-US" sz="3200" dirty="0" err="1">
                <a:solidFill>
                  <a:schemeClr val="bg1"/>
                </a:solidFill>
              </a:rPr>
              <a:t>Fengzhang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SG" dirty="0">
                <a:solidFill>
                  <a:schemeClr val="bg1"/>
                </a:solidFill>
              </a:rPr>
              <a:t>Renmin University of China</a:t>
            </a:r>
            <a:r>
              <a:rPr lang="en-US" dirty="0">
                <a:solidFill>
                  <a:schemeClr val="bg1"/>
                </a:solidFill>
              </a:rPr>
              <a:t>)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Bingsheng</a:t>
            </a:r>
            <a:r>
              <a:rPr lang="en-US" sz="3200" dirty="0">
                <a:solidFill>
                  <a:schemeClr val="bg1"/>
                </a:solidFill>
              </a:rPr>
              <a:t> He</a:t>
            </a:r>
          </a:p>
        </p:txBody>
      </p:sp>
    </p:spTree>
    <p:extLst>
      <p:ext uri="{BB962C8B-B14F-4D97-AF65-F5344CB8AC3E}">
        <p14:creationId xmlns:p14="http://schemas.microsoft.com/office/powerpoint/2010/main" val="74991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Stream Processing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E529F-4380-3241-A900-F1B47DA70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4000" b="0" dirty="0"/>
              <a:t>[Available] Fast stream processing on large-scale multicore architectures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SG" sz="3600" dirty="0"/>
              <a:t>E.g., BriskStream</a:t>
            </a:r>
            <a:r>
              <a:rPr lang="en-SG" sz="3600" baseline="30000" dirty="0"/>
              <a:t>1</a:t>
            </a:r>
            <a:r>
              <a:rPr lang="en-SG" sz="3600" dirty="0"/>
              <a:t>, StreamBox</a:t>
            </a:r>
            <a:r>
              <a:rPr lang="en-SG" sz="3600" baseline="30000" dirty="0"/>
              <a:t>2</a:t>
            </a:r>
            <a:r>
              <a:rPr lang="en-SG" sz="3600" dirty="0"/>
              <a:t>, Grizzly</a:t>
            </a:r>
            <a:r>
              <a:rPr lang="en-SG" sz="3600" baseline="30000" dirty="0"/>
              <a:t>3</a:t>
            </a:r>
            <a:r>
              <a:rPr lang="en-SG" sz="36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3900" b="0" dirty="0"/>
              <a:t>[Inadequate] Support of </a:t>
            </a:r>
            <a:r>
              <a:rPr lang="en-SG" sz="3900" b="0" i="1" dirty="0">
                <a:solidFill>
                  <a:srgbClr val="FF0000"/>
                </a:solidFill>
              </a:rPr>
              <a:t>consistent stateful stream processing</a:t>
            </a:r>
            <a:endParaRPr lang="en-SG" sz="3900" b="0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45C5198-2AEF-F24E-9BA4-ECA25BBED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2A3825-66AA-434B-9359-0F95C9E0D720}"/>
              </a:ext>
            </a:extLst>
          </p:cNvPr>
          <p:cNvSpPr/>
          <p:nvPr/>
        </p:nvSpPr>
        <p:spPr>
          <a:xfrm>
            <a:off x="848519" y="6342408"/>
            <a:ext cx="8153399" cy="76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buAutoNum type="arabicPeriod"/>
            </a:pPr>
            <a:r>
              <a:rPr lang="en-SG" sz="1400" i="1" dirty="0"/>
              <a:t>BriskStream: Scaling Data Stream Processing on Shared-Memory Multicore Architectures, SIGMOD’19</a:t>
            </a:r>
          </a:p>
          <a:p>
            <a:pPr marL="342900" indent="-342900">
              <a:buAutoNum type="arabicPeriod"/>
            </a:pPr>
            <a:r>
              <a:rPr lang="en-US" sz="1400" i="1" dirty="0" err="1"/>
              <a:t>StreamBox</a:t>
            </a:r>
            <a:r>
              <a:rPr lang="en-US" sz="1400" i="1" dirty="0"/>
              <a:t>: Modern Stream Processing on a Multicore Machine, ATC’19</a:t>
            </a:r>
          </a:p>
          <a:p>
            <a:pPr marL="342900" indent="-342900">
              <a:buAutoNum type="arabicPeriod"/>
            </a:pPr>
            <a:r>
              <a:rPr lang="en-US" sz="1400" i="1" dirty="0"/>
              <a:t>Grizzly: Efficient Stream Processing Through Adaptive Query Compilation, SIGMOD’20</a:t>
            </a:r>
          </a:p>
        </p:txBody>
      </p:sp>
    </p:spTree>
    <p:extLst>
      <p:ext uri="{BB962C8B-B14F-4D97-AF65-F5344CB8AC3E}">
        <p14:creationId xmlns:p14="http://schemas.microsoft.com/office/powerpoint/2010/main" val="88595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08C40F7-9281-8A43-9285-1E68E97E87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7B85D8F9-2B91-ED47-B4F1-78197046B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GB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E153C3C-1718-7747-AED1-F46255C2D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/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State-of-the-art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Our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Experimental 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526B02-53F8-8247-A8A5-537510186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3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945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Motivation Example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FF2BF7A-AC5D-5D44-A3DC-71835C0A8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4248" b="54136"/>
          <a:stretch/>
        </p:blipFill>
        <p:spPr>
          <a:xfrm>
            <a:off x="245234" y="2742949"/>
            <a:ext cx="4399757" cy="1997869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32D739E-26CC-474D-9EEF-BE9C75A0725B}"/>
              </a:ext>
            </a:extLst>
          </p:cNvPr>
          <p:cNvSpPr txBox="1">
            <a:spLocks/>
          </p:cNvSpPr>
          <p:nvPr/>
        </p:nvSpPr>
        <p:spPr bwMode="auto">
          <a:xfrm>
            <a:off x="4644991" y="2290512"/>
            <a:ext cx="5460240" cy="4860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SG" sz="3600" b="0" i="1" dirty="0">
                <a:solidFill>
                  <a:schemeClr val="accent2"/>
                </a:solidFill>
              </a:rPr>
              <a:t>Road congestion status is </a:t>
            </a:r>
            <a:r>
              <a:rPr lang="en-SG" sz="3600" b="0" i="1" dirty="0">
                <a:solidFill>
                  <a:srgbClr val="FF0000"/>
                </a:solidFill>
              </a:rPr>
              <a:t>shared </a:t>
            </a:r>
            <a:r>
              <a:rPr lang="en-SG" sz="3600" b="0" i="1" dirty="0">
                <a:solidFill>
                  <a:schemeClr val="accent2"/>
                </a:solidFill>
              </a:rPr>
              <a:t>among different streaming operators</a:t>
            </a:r>
          </a:p>
          <a:p>
            <a:pPr marL="831850" lvl="1" indent="-457200" eaLnBrk="1" hangingPunct="1">
              <a:buFont typeface="Arial" panose="020B0604020202020204" pitchFamily="34" charset="0"/>
              <a:buChar char="•"/>
            </a:pPr>
            <a:r>
              <a:rPr lang="en-SG" sz="3700" b="0" i="1" dirty="0">
                <a:solidFill>
                  <a:schemeClr val="accent2"/>
                </a:solidFill>
              </a:rPr>
              <a:t>Its consistency needs to be preserved</a:t>
            </a:r>
            <a:endParaRPr lang="en-SG" sz="2900" b="0" i="1" dirty="0">
              <a:solidFill>
                <a:schemeClr val="accent2"/>
              </a:solidFill>
              <a:latin typeface="Helvetica" pitchFamily="2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CFBF69-0E17-134A-87AB-22388702D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4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F7C115-9A15-BE4B-BEB3-9CA784736B79}"/>
              </a:ext>
            </a:extLst>
          </p:cNvPr>
          <p:cNvSpPr/>
          <p:nvPr/>
        </p:nvSpPr>
        <p:spPr>
          <a:xfrm>
            <a:off x="523875" y="4878484"/>
            <a:ext cx="4552156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Toll Processing: </a:t>
            </a:r>
            <a:r>
              <a:rPr lang="en-SG" sz="3600" dirty="0"/>
              <a:t>computes toll based on the road congestion status</a:t>
            </a:r>
          </a:p>
          <a:p>
            <a:endParaRPr lang="en-US" sz="28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964ED4-7D3E-2C4C-B638-D37316A7084C}"/>
              </a:ext>
            </a:extLst>
          </p:cNvPr>
          <p:cNvSpPr/>
          <p:nvPr/>
        </p:nvSpPr>
        <p:spPr bwMode="auto">
          <a:xfrm>
            <a:off x="1724387" y="2755950"/>
            <a:ext cx="1219200" cy="914400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7DC4BA-B612-4B44-84FB-F406DE3224C2}"/>
              </a:ext>
            </a:extLst>
          </p:cNvPr>
          <p:cNvSpPr/>
          <p:nvPr/>
        </p:nvSpPr>
        <p:spPr bwMode="auto">
          <a:xfrm>
            <a:off x="2668955" y="4131218"/>
            <a:ext cx="1219200" cy="556695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C11D0AF-6778-5B44-B2FB-2DC9E2D23836}"/>
              </a:ext>
            </a:extLst>
          </p:cNvPr>
          <p:cNvSpPr/>
          <p:nvPr/>
        </p:nvSpPr>
        <p:spPr bwMode="auto">
          <a:xfrm>
            <a:off x="241257" y="3514465"/>
            <a:ext cx="1053515" cy="1254731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47764E9-7A78-4C42-AD38-3B3A7C940106}"/>
              </a:ext>
            </a:extLst>
          </p:cNvPr>
          <p:cNvGrpSpPr/>
          <p:nvPr/>
        </p:nvGrpSpPr>
        <p:grpSpPr>
          <a:xfrm>
            <a:off x="1693901" y="3198788"/>
            <a:ext cx="2535993" cy="3483000"/>
            <a:chOff x="1693901" y="3198788"/>
            <a:chExt cx="2535993" cy="34830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C6E4943-2715-CC4F-B967-281779643243}"/>
                </a:ext>
              </a:extLst>
            </p:cNvPr>
            <p:cNvGrpSpPr/>
            <p:nvPr/>
          </p:nvGrpSpPr>
          <p:grpSpPr>
            <a:xfrm>
              <a:off x="1693901" y="3198788"/>
              <a:ext cx="1934330" cy="3483000"/>
              <a:chOff x="1693901" y="3198788"/>
              <a:chExt cx="1934330" cy="34830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0D5B27A-6E46-FA42-B1F5-156749984766}"/>
                  </a:ext>
                </a:extLst>
              </p:cNvPr>
              <p:cNvGrpSpPr/>
              <p:nvPr/>
            </p:nvGrpSpPr>
            <p:grpSpPr>
              <a:xfrm>
                <a:off x="2180431" y="3198788"/>
                <a:ext cx="1098124" cy="1877742"/>
                <a:chOff x="2180431" y="3198788"/>
                <a:chExt cx="1098124" cy="1877742"/>
              </a:xfrm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04B3A5D8-4B58-364B-861D-5CB38063C6CD}"/>
                    </a:ext>
                  </a:extLst>
                </p:cNvPr>
                <p:cNvCxnSpPr/>
                <p:nvPr/>
              </p:nvCxnSpPr>
              <p:spPr bwMode="auto">
                <a:xfrm>
                  <a:off x="2180431" y="3670350"/>
                  <a:ext cx="386132" cy="1406180"/>
                </a:xfrm>
                <a:prstGeom prst="straightConnector1">
                  <a:avLst/>
                </a:prstGeom>
                <a:solidFill>
                  <a:schemeClr val="accent1"/>
                </a:solidFill>
                <a:ln w="57150" cap="flat" cmpd="sng" algn="ctr">
                  <a:solidFill>
                    <a:srgbClr val="FF0000"/>
                  </a:solidFill>
                  <a:prstDash val="sysDot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6D5819E9-D8AA-194D-9237-423CCF2377D9}"/>
                    </a:ext>
                  </a:extLst>
                </p:cNvPr>
                <p:cNvCxnSpPr>
                  <a:stCxn id="13" idx="2"/>
                </p:cNvCxnSpPr>
                <p:nvPr/>
              </p:nvCxnSpPr>
              <p:spPr bwMode="auto">
                <a:xfrm flipH="1">
                  <a:off x="2566563" y="4687913"/>
                  <a:ext cx="711992" cy="388617"/>
                </a:xfrm>
                <a:prstGeom prst="straightConnector1">
                  <a:avLst/>
                </a:prstGeom>
                <a:solidFill>
                  <a:schemeClr val="accent1"/>
                </a:solidFill>
                <a:ln w="57150" cap="flat" cmpd="sng" algn="ctr">
                  <a:solidFill>
                    <a:srgbClr val="FF0000"/>
                  </a:solidFill>
                  <a:prstDash val="sysDot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1C7556DB-382F-0D44-A194-FE8C38A82605}"/>
                    </a:ext>
                  </a:extLst>
                </p:cNvPr>
                <p:cNvCxnSpPr/>
                <p:nvPr/>
              </p:nvCxnSpPr>
              <p:spPr bwMode="auto">
                <a:xfrm>
                  <a:off x="2333987" y="3198788"/>
                  <a:ext cx="228600" cy="1877742"/>
                </a:xfrm>
                <a:prstGeom prst="straightConnector1">
                  <a:avLst/>
                </a:prstGeom>
                <a:solidFill>
                  <a:schemeClr val="accent1"/>
                </a:solidFill>
                <a:ln w="57150" cap="flat" cmpd="sng" algn="ctr">
                  <a:solidFill>
                    <a:srgbClr val="FF0000"/>
                  </a:solidFill>
                  <a:prstDash val="sysDot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6" name="Can 25">
                <a:extLst>
                  <a:ext uri="{FF2B5EF4-FFF2-40B4-BE49-F238E27FC236}">
                    <a16:creationId xmlns:a16="http://schemas.microsoft.com/office/drawing/2014/main" id="{4E5D229F-62AE-D942-BA29-722112FC4051}"/>
                  </a:ext>
                </a:extLst>
              </p:cNvPr>
              <p:cNvSpPr/>
              <p:nvPr/>
            </p:nvSpPr>
            <p:spPr bwMode="auto">
              <a:xfrm>
                <a:off x="1693901" y="5068766"/>
                <a:ext cx="1934330" cy="1613022"/>
              </a:xfrm>
              <a:prstGeom prst="can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en-US" sz="36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pitchFamily="2" charset="0"/>
                </a:endParaRPr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973FB38-C303-B84D-B510-8AD639A3B2E1}"/>
                </a:ext>
              </a:extLst>
            </p:cNvPr>
            <p:cNvSpPr/>
            <p:nvPr/>
          </p:nvSpPr>
          <p:spPr>
            <a:xfrm>
              <a:off x="1882892" y="5390765"/>
              <a:ext cx="2347002" cy="1200329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en-US" sz="2800" i="1" dirty="0">
                  <a:solidFill>
                    <a:srgbClr val="FF0000"/>
                  </a:solidFill>
                  <a:latin typeface="Helvetica" pitchFamily="2" charset="0"/>
                </a:rPr>
                <a:t>road congestion status</a:t>
              </a:r>
              <a:endParaRPr lang="en-US" sz="3600" i="1" dirty="0">
                <a:solidFill>
                  <a:srgbClr val="FF0000"/>
                </a:solidFill>
                <a:latin typeface="Helvetica" pitchFamily="2" charset="0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95D704F-9348-BB46-B09B-607B8451A70C}"/>
              </a:ext>
            </a:extLst>
          </p:cNvPr>
          <p:cNvSpPr/>
          <p:nvPr/>
        </p:nvSpPr>
        <p:spPr>
          <a:xfrm>
            <a:off x="6981031" y="5170314"/>
            <a:ext cx="3124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i="1" dirty="0">
                <a:solidFill>
                  <a:srgbClr val="FF0000"/>
                </a:solidFill>
              </a:rPr>
              <a:t>-- consistent stateful stream processing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9101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5" grpId="1" animBg="1"/>
      <p:bldP spid="13" grpId="0" animBg="1"/>
      <p:bldP spid="13" grpId="1" animBg="1"/>
      <p:bldP spid="25" grpId="0" animBg="1"/>
      <p:bldP spid="25" grpId="1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/>
              <a:t>The Current Common System Design</a:t>
            </a:r>
            <a:endParaRPr lang="en-US" sz="3987" u="sn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7C482C-0798-4241-B44D-2DF0CF7EEB6E}"/>
              </a:ext>
            </a:extLst>
          </p:cNvPr>
          <p:cNvSpPr/>
          <p:nvPr/>
        </p:nvSpPr>
        <p:spPr>
          <a:xfrm>
            <a:off x="552448" y="5385534"/>
            <a:ext cx="904716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158294"/>
            <a:r>
              <a:rPr lang="en-US" altLang="zh-CN" sz="3600" i="1" dirty="0"/>
              <a:t>Common designs:</a:t>
            </a:r>
          </a:p>
          <a:p>
            <a:pPr marL="678702" lvl="2" indent="-379796">
              <a:buAutoNum type="alphaLcParenR"/>
            </a:pPr>
            <a:r>
              <a:rPr lang="en-US" altLang="zh-CN" sz="3200" b="1" i="1" dirty="0"/>
              <a:t> Pipelined processing with message passing </a:t>
            </a:r>
          </a:p>
          <a:p>
            <a:pPr marL="678702" lvl="2" indent="-379796">
              <a:buAutoNum type="alphaLcParenR"/>
            </a:pPr>
            <a:r>
              <a:rPr lang="en-US" altLang="zh-CN" sz="3200" b="1" i="1" dirty="0"/>
              <a:t> On-demand data parallelism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A30F4-012D-BF41-994C-F6F09E9BE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5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45179-5D61-C640-9AF5-FBC8175C3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009" y="2183787"/>
            <a:ext cx="7970043" cy="315480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F3D1A0-DE03-474F-87F2-20744FCFBBAC}"/>
              </a:ext>
            </a:extLst>
          </p:cNvPr>
          <p:cNvSpPr/>
          <p:nvPr/>
        </p:nvSpPr>
        <p:spPr bwMode="auto">
          <a:xfrm>
            <a:off x="1951831" y="3264693"/>
            <a:ext cx="1371600" cy="838201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C65113-613D-524B-BBDB-56244DB65F92}"/>
              </a:ext>
            </a:extLst>
          </p:cNvPr>
          <p:cNvSpPr/>
          <p:nvPr/>
        </p:nvSpPr>
        <p:spPr bwMode="auto">
          <a:xfrm>
            <a:off x="2637631" y="2063468"/>
            <a:ext cx="6553200" cy="2496626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E11F03E-D29E-D74A-9352-ED95047335E5}"/>
              </a:ext>
            </a:extLst>
          </p:cNvPr>
          <p:cNvSpPr/>
          <p:nvPr/>
        </p:nvSpPr>
        <p:spPr bwMode="auto">
          <a:xfrm>
            <a:off x="2485231" y="4179094"/>
            <a:ext cx="1371600" cy="655909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99E9E62-3DC2-CC41-8B4A-22D7AC77128D}"/>
              </a:ext>
            </a:extLst>
          </p:cNvPr>
          <p:cNvSpPr/>
          <p:nvPr/>
        </p:nvSpPr>
        <p:spPr bwMode="auto">
          <a:xfrm>
            <a:off x="4408615" y="4706156"/>
            <a:ext cx="1371600" cy="655909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E78A3-538E-0A49-8ABB-61C33FCF5B58}"/>
              </a:ext>
            </a:extLst>
          </p:cNvPr>
          <p:cNvSpPr/>
          <p:nvPr/>
        </p:nvSpPr>
        <p:spPr>
          <a:xfrm>
            <a:off x="7952624" y="4572445"/>
            <a:ext cx="1952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/>
              <a:t>disjoint subset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F04125-510C-3543-B804-CBDDC8B5F6AA}"/>
              </a:ext>
            </a:extLst>
          </p:cNvPr>
          <p:cNvSpPr/>
          <p:nvPr/>
        </p:nvSpPr>
        <p:spPr>
          <a:xfrm>
            <a:off x="5094415" y="5360970"/>
            <a:ext cx="2650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/>
              <a:t>operator parallelism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50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8" grpId="1" animBg="1"/>
      <p:bldP spid="10" grpId="0" animBg="1"/>
      <p:bldP spid="11" grpId="0" animBg="1"/>
      <p:bldP spid="11" grpId="1" animBg="1"/>
      <p:bldP spid="12" grpId="0" animBg="1"/>
      <p:bldP spid="12" grpId="1" animBg="1"/>
      <p:bldP spid="4" grpId="0"/>
      <p:bldP spid="13" grpId="0"/>
      <p:bldP spid="1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54C2-D8BF-474B-87D8-F11102CB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3600" dirty="0"/>
              <a:t>Key-based Stream Partition</a:t>
            </a:r>
            <a:endParaRPr lang="en-US" dirty="0"/>
          </a:p>
        </p:txBody>
      </p:sp>
      <p:sp>
        <p:nvSpPr>
          <p:cNvPr id="13" name="Document 12">
            <a:extLst>
              <a:ext uri="{FF2B5EF4-FFF2-40B4-BE49-F238E27FC236}">
                <a16:creationId xmlns:a16="http://schemas.microsoft.com/office/drawing/2014/main" id="{D6BA120C-D365-F942-9972-542A5111BD27}"/>
              </a:ext>
            </a:extLst>
          </p:cNvPr>
          <p:cNvSpPr/>
          <p:nvPr/>
        </p:nvSpPr>
        <p:spPr bwMode="auto">
          <a:xfrm>
            <a:off x="924016" y="4371997"/>
            <a:ext cx="962576" cy="91097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PIE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C43AB7AA-2A88-D340-BBA3-BF1D9D396980}"/>
              </a:ext>
            </a:extLst>
          </p:cNvPr>
          <p:cNvSpPr/>
          <p:nvPr/>
        </p:nvSpPr>
        <p:spPr bwMode="auto">
          <a:xfrm>
            <a:off x="924016" y="2505809"/>
            <a:ext cx="962576" cy="910976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AYE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7BBD99-DBA5-3F4C-B498-379D76946ED5}"/>
              </a:ext>
            </a:extLst>
          </p:cNvPr>
          <p:cNvSpPr/>
          <p:nvPr/>
        </p:nvSpPr>
        <p:spPr bwMode="auto">
          <a:xfrm>
            <a:off x="3944277" y="4376529"/>
            <a:ext cx="2321533" cy="90644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executor</a:t>
            </a:r>
            <a:r>
              <a:rPr kumimoji="0" lang="en-US" sz="2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2</a:t>
            </a:r>
          </a:p>
        </p:txBody>
      </p:sp>
      <p:sp>
        <p:nvSpPr>
          <p:cNvPr id="7" name="Document 6">
            <a:extLst>
              <a:ext uri="{FF2B5EF4-FFF2-40B4-BE49-F238E27FC236}">
                <a16:creationId xmlns:a16="http://schemas.microsoft.com/office/drawing/2014/main" id="{A4C5BF16-BBFE-2D41-A22E-A55FE40DAAEE}"/>
              </a:ext>
            </a:extLst>
          </p:cNvPr>
          <p:cNvSpPr/>
          <p:nvPr/>
        </p:nvSpPr>
        <p:spPr bwMode="auto">
          <a:xfrm>
            <a:off x="763587" y="2279198"/>
            <a:ext cx="962576" cy="910976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Road 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C9D56436-B588-8A47-A487-EFB0B2811E22}"/>
              </a:ext>
            </a:extLst>
          </p:cNvPr>
          <p:cNvSpPr/>
          <p:nvPr/>
        </p:nvSpPr>
        <p:spPr bwMode="auto">
          <a:xfrm>
            <a:off x="763587" y="4145386"/>
            <a:ext cx="962576" cy="91097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/>
              <a:t>Road 2</a:t>
            </a:r>
            <a:endParaRPr lang="en-US" sz="2000" dirty="0">
              <a:solidFill>
                <a:schemeClr val="tx1"/>
              </a:solidFill>
              <a:latin typeface="Times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12E44A-95B5-994B-B4D0-5CEC3A3B0896}"/>
              </a:ext>
            </a:extLst>
          </p:cNvPr>
          <p:cNvCxnSpPr>
            <a:cxnSpLocks/>
          </p:cNvCxnSpPr>
          <p:nvPr/>
        </p:nvCxnSpPr>
        <p:spPr bwMode="auto">
          <a:xfrm>
            <a:off x="2110941" y="2734686"/>
            <a:ext cx="142757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C5C2BF-89FE-8B41-954B-76BA91EAA6F5}"/>
              </a:ext>
            </a:extLst>
          </p:cNvPr>
          <p:cNvCxnSpPr>
            <a:cxnSpLocks/>
          </p:cNvCxnSpPr>
          <p:nvPr/>
        </p:nvCxnSpPr>
        <p:spPr bwMode="auto">
          <a:xfrm>
            <a:off x="2119924" y="4827485"/>
            <a:ext cx="14185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D450152-A348-554D-88BE-93B513ED8DBD}"/>
              </a:ext>
            </a:extLst>
          </p:cNvPr>
          <p:cNvSpPr/>
          <p:nvPr/>
        </p:nvSpPr>
        <p:spPr bwMode="auto">
          <a:xfrm>
            <a:off x="3930122" y="2279198"/>
            <a:ext cx="2335689" cy="90644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executor</a:t>
            </a:r>
            <a:r>
              <a:rPr kumimoji="0" lang="en-US" sz="2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1</a:t>
            </a:r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343DCF82-75B3-5F4A-9471-65F7702B97A7}"/>
              </a:ext>
            </a:extLst>
          </p:cNvPr>
          <p:cNvSpPr/>
          <p:nvPr/>
        </p:nvSpPr>
        <p:spPr bwMode="auto">
          <a:xfrm>
            <a:off x="5857360" y="2732420"/>
            <a:ext cx="962576" cy="871132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/>
              <a:t>Road1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8B0A857E-084F-0244-B74B-5C5CA5F56420}"/>
              </a:ext>
            </a:extLst>
          </p:cNvPr>
          <p:cNvSpPr/>
          <p:nvPr/>
        </p:nvSpPr>
        <p:spPr bwMode="auto">
          <a:xfrm>
            <a:off x="5857360" y="4906372"/>
            <a:ext cx="962576" cy="871132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/>
              <a:t>Road2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1C876D7-FC15-7346-A8F5-AF2CA9D7F065}"/>
              </a:ext>
            </a:extLst>
          </p:cNvPr>
          <p:cNvGrpSpPr/>
          <p:nvPr/>
        </p:nvGrpSpPr>
        <p:grpSpPr>
          <a:xfrm>
            <a:off x="6957269" y="2961297"/>
            <a:ext cx="3452762" cy="2475420"/>
            <a:chOff x="6804870" y="2841489"/>
            <a:chExt cx="3452762" cy="2475420"/>
          </a:xfrm>
        </p:grpSpPr>
        <p:sp>
          <p:nvSpPr>
            <p:cNvPr id="27" name="Curved Left Arrow 26">
              <a:extLst>
                <a:ext uri="{FF2B5EF4-FFF2-40B4-BE49-F238E27FC236}">
                  <a16:creationId xmlns:a16="http://schemas.microsoft.com/office/drawing/2014/main" id="{54A20DA9-A94A-5F44-AF3A-677736EA61A4}"/>
                </a:ext>
              </a:extLst>
            </p:cNvPr>
            <p:cNvSpPr/>
            <p:nvPr/>
          </p:nvSpPr>
          <p:spPr bwMode="auto">
            <a:xfrm rot="10800000" flipH="1">
              <a:off x="6804870" y="2841489"/>
              <a:ext cx="587728" cy="2250449"/>
            </a:xfrm>
            <a:prstGeom prst="curved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dirty="0">
                <a:ln>
                  <a:noFill/>
                </a:ln>
                <a:solidFill>
                  <a:srgbClr val="FF7000"/>
                </a:solidFill>
                <a:effectLst/>
                <a:latin typeface="Times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1AA0920-64FA-4C49-91CE-33910F8E6E81}"/>
                </a:ext>
              </a:extLst>
            </p:cNvPr>
            <p:cNvSpPr txBox="1"/>
            <p:nvPr/>
          </p:nvSpPr>
          <p:spPr>
            <a:xfrm>
              <a:off x="7628442" y="3931914"/>
              <a:ext cx="262919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Pay extra penalty if road1 is empty!</a:t>
              </a:r>
            </a:p>
          </p:txBody>
        </p:sp>
      </p:grpSp>
      <p:sp>
        <p:nvSpPr>
          <p:cNvPr id="29" name="Down Arrow 28">
            <a:extLst>
              <a:ext uri="{FF2B5EF4-FFF2-40B4-BE49-F238E27FC236}">
                <a16:creationId xmlns:a16="http://schemas.microsoft.com/office/drawing/2014/main" id="{A370DBDB-73D4-D14B-BFD9-A3CBB1499EBF}"/>
              </a:ext>
            </a:extLst>
          </p:cNvPr>
          <p:cNvSpPr/>
          <p:nvPr/>
        </p:nvSpPr>
        <p:spPr bwMode="auto">
          <a:xfrm>
            <a:off x="5870491" y="3819772"/>
            <a:ext cx="1293895" cy="904178"/>
          </a:xfrm>
          <a:prstGeom prst="downArrow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normalizeH="0" baseline="0" dirty="0">
                <a:latin typeface="Times" pitchFamily="2" charset="0"/>
              </a:rPr>
              <a:t>copy</a:t>
            </a:r>
            <a:endParaRPr kumimoji="0" lang="en-US" sz="1600" i="0" u="none" strike="noStrike" normalizeH="0" baseline="0" dirty="0">
              <a:latin typeface="Times" pitchFamily="2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B68428-787C-C949-8167-B1B70B737AD3}"/>
              </a:ext>
            </a:extLst>
          </p:cNvPr>
          <p:cNvCxnSpPr>
            <a:cxnSpLocks/>
          </p:cNvCxnSpPr>
          <p:nvPr/>
        </p:nvCxnSpPr>
        <p:spPr bwMode="auto">
          <a:xfrm>
            <a:off x="2119924" y="3141371"/>
            <a:ext cx="1690148" cy="135710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Can 32">
            <a:extLst>
              <a:ext uri="{FF2B5EF4-FFF2-40B4-BE49-F238E27FC236}">
                <a16:creationId xmlns:a16="http://schemas.microsoft.com/office/drawing/2014/main" id="{886FC4B3-2816-C344-B3CF-391D00766DC4}"/>
              </a:ext>
            </a:extLst>
          </p:cNvPr>
          <p:cNvSpPr/>
          <p:nvPr/>
        </p:nvSpPr>
        <p:spPr bwMode="auto">
          <a:xfrm>
            <a:off x="5857360" y="5746362"/>
            <a:ext cx="962576" cy="871132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/>
              <a:t>Road1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1A39C8D4-5D31-B047-8F2D-839B35E57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6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67D636-60C0-874E-B109-153C900F60B3}"/>
              </a:ext>
            </a:extLst>
          </p:cNvPr>
          <p:cNvSpPr/>
          <p:nvPr/>
        </p:nvSpPr>
        <p:spPr>
          <a:xfrm>
            <a:off x="611188" y="6638718"/>
            <a:ext cx="74302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158750" eaLnBrk="1" hangingPunct="1"/>
            <a:r>
              <a:rPr lang="en-SG" sz="3600" i="1" dirty="0">
                <a:solidFill>
                  <a:srgbClr val="FF0000"/>
                </a:solidFill>
                <a:latin typeface="+mn-lt"/>
              </a:rPr>
              <a:t>Can not efficiently handle general case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18EF53-42C2-E047-8CDC-834091B47BD7}"/>
              </a:ext>
            </a:extLst>
          </p:cNvPr>
          <p:cNvSpPr txBox="1"/>
          <p:nvPr/>
        </p:nvSpPr>
        <p:spPr>
          <a:xfrm>
            <a:off x="7730331" y="2389496"/>
            <a:ext cx="2484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No Conflict!</a:t>
            </a:r>
            <a:r>
              <a:rPr lang="en-US" sz="2800" dirty="0">
                <a:solidFill>
                  <a:srgbClr val="FF0000"/>
                </a:solidFill>
                <a:sym typeface="Wingdings" pitchFamily="2" charset="2"/>
              </a:rPr>
              <a:t>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72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9" grpId="0" animBg="1"/>
      <p:bldP spid="29" grpId="1" animBg="1"/>
      <p:bldP spid="33" grpId="0" animBg="1"/>
      <p:bldP spid="39" grpId="0"/>
      <p:bldP spid="40" grpId="0"/>
      <p:bldP spid="4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9A98-FECB-0B48-9A10-38CEA7931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Lock-based State Sharing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B9838-4FC8-C94E-BBB6-3BD2AC4CB6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5F5555E-AE98-2243-A126-946673EE9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7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6" name="Document 5">
            <a:extLst>
              <a:ext uri="{FF2B5EF4-FFF2-40B4-BE49-F238E27FC236}">
                <a16:creationId xmlns:a16="http://schemas.microsoft.com/office/drawing/2014/main" id="{B6964F01-C163-5648-88F2-0091C2BABC2C}"/>
              </a:ext>
            </a:extLst>
          </p:cNvPr>
          <p:cNvSpPr/>
          <p:nvPr/>
        </p:nvSpPr>
        <p:spPr bwMode="auto">
          <a:xfrm>
            <a:off x="1000217" y="4472673"/>
            <a:ext cx="962576" cy="91097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PIE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7" name="Document 6">
            <a:extLst>
              <a:ext uri="{FF2B5EF4-FFF2-40B4-BE49-F238E27FC236}">
                <a16:creationId xmlns:a16="http://schemas.microsoft.com/office/drawing/2014/main" id="{3F1D4E67-43D3-624A-B0F8-C37182F259F2}"/>
              </a:ext>
            </a:extLst>
          </p:cNvPr>
          <p:cNvSpPr/>
          <p:nvPr/>
        </p:nvSpPr>
        <p:spPr bwMode="auto">
          <a:xfrm>
            <a:off x="1000217" y="2606485"/>
            <a:ext cx="962576" cy="910976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AYE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F26829-2A92-7B4D-B6A2-BFA3035FC7FB}"/>
              </a:ext>
            </a:extLst>
          </p:cNvPr>
          <p:cNvSpPr/>
          <p:nvPr/>
        </p:nvSpPr>
        <p:spPr bwMode="auto">
          <a:xfrm>
            <a:off x="4020478" y="4477205"/>
            <a:ext cx="2321533" cy="90644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" pitchFamily="2" charset="0"/>
              </a:rPr>
              <a:t>executor</a:t>
            </a:r>
            <a:r>
              <a:rPr lang="en-US" sz="2800" baseline="-25000" dirty="0">
                <a:solidFill>
                  <a:schemeClr val="tx1"/>
                </a:solidFill>
                <a:latin typeface="Times" pitchFamily="2" charset="0"/>
              </a:rPr>
              <a:t>2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F992DD3B-AC86-D248-9D1F-2AC0480EFFA0}"/>
              </a:ext>
            </a:extLst>
          </p:cNvPr>
          <p:cNvSpPr/>
          <p:nvPr/>
        </p:nvSpPr>
        <p:spPr bwMode="auto">
          <a:xfrm>
            <a:off x="839788" y="2379874"/>
            <a:ext cx="962576" cy="910976"/>
          </a:xfrm>
          <a:prstGeom prst="flowChartDocumen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Road1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883C7621-6120-ED4A-B5BF-D4964D2113B0}"/>
              </a:ext>
            </a:extLst>
          </p:cNvPr>
          <p:cNvSpPr/>
          <p:nvPr/>
        </p:nvSpPr>
        <p:spPr bwMode="auto">
          <a:xfrm>
            <a:off x="839788" y="4246062"/>
            <a:ext cx="962576" cy="910976"/>
          </a:xfrm>
          <a:prstGeom prst="flowChartDocumen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Road 2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7BF112-8836-7340-8787-24EBFB401831}"/>
              </a:ext>
            </a:extLst>
          </p:cNvPr>
          <p:cNvCxnSpPr>
            <a:cxnSpLocks/>
          </p:cNvCxnSpPr>
          <p:nvPr/>
        </p:nvCxnSpPr>
        <p:spPr bwMode="auto">
          <a:xfrm>
            <a:off x="2187142" y="2835362"/>
            <a:ext cx="142757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BFF97C-22EA-794B-8235-E764AF828C52}"/>
              </a:ext>
            </a:extLst>
          </p:cNvPr>
          <p:cNvCxnSpPr>
            <a:cxnSpLocks/>
          </p:cNvCxnSpPr>
          <p:nvPr/>
        </p:nvCxnSpPr>
        <p:spPr bwMode="auto">
          <a:xfrm>
            <a:off x="2196125" y="4928161"/>
            <a:ext cx="141858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C8E39D8-1FB7-3C41-872B-B09B87968251}"/>
              </a:ext>
            </a:extLst>
          </p:cNvPr>
          <p:cNvSpPr/>
          <p:nvPr/>
        </p:nvSpPr>
        <p:spPr bwMode="auto">
          <a:xfrm>
            <a:off x="4006323" y="2379874"/>
            <a:ext cx="2335689" cy="90644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800" dirty="0"/>
              <a:t>executor</a:t>
            </a:r>
            <a:r>
              <a:rPr lang="en-US" sz="2800" baseline="-25000" dirty="0"/>
              <a:t>1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14549FB8-4729-4A45-AF3A-198EA1A660DE}"/>
              </a:ext>
            </a:extLst>
          </p:cNvPr>
          <p:cNvSpPr/>
          <p:nvPr/>
        </p:nvSpPr>
        <p:spPr bwMode="auto">
          <a:xfrm>
            <a:off x="6523831" y="3493294"/>
            <a:ext cx="2163847" cy="752768"/>
          </a:xfrm>
          <a:prstGeom prst="can">
            <a:avLst>
              <a:gd name="adj" fmla="val 35718"/>
            </a:avLst>
          </a:prstGeom>
          <a:solidFill>
            <a:srgbClr val="FFC000"/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rPr>
              <a:t>Road1,2,3…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A3AB69-FA0C-A648-A559-B5FAB34899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725" b="13636"/>
          <a:stretch/>
        </p:blipFill>
        <p:spPr>
          <a:xfrm>
            <a:off x="6563276" y="2469437"/>
            <a:ext cx="730250" cy="10858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3D3ADA2-6245-BF4F-9F2E-A36D5752A5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b="13636"/>
          <a:stretch/>
        </p:blipFill>
        <p:spPr>
          <a:xfrm>
            <a:off x="6513131" y="4426419"/>
            <a:ext cx="806450" cy="10858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44ADE02-1EAF-2F43-9EE2-A3AF53D2597B}"/>
              </a:ext>
            </a:extLst>
          </p:cNvPr>
          <p:cNvSpPr/>
          <p:nvPr/>
        </p:nvSpPr>
        <p:spPr>
          <a:xfrm>
            <a:off x="931405" y="6561263"/>
            <a:ext cx="50449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158750" eaLnBrk="1" hangingPunct="1"/>
            <a:r>
              <a:rPr lang="en-SG" sz="3600" i="1" dirty="0">
                <a:solidFill>
                  <a:srgbClr val="FF0000"/>
                </a:solidFill>
                <a:latin typeface="+mn-lt"/>
              </a:rPr>
              <a:t>Lead to poor performance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D3ADDA-25A2-A449-A1A7-3971E06A4CC4}"/>
              </a:ext>
            </a:extLst>
          </p:cNvPr>
          <p:cNvCxnSpPr>
            <a:cxnSpLocks/>
            <a:stCxn id="8" idx="7"/>
            <a:endCxn id="14" idx="3"/>
          </p:cNvCxnSpPr>
          <p:nvPr/>
        </p:nvCxnSpPr>
        <p:spPr bwMode="auto">
          <a:xfrm flipV="1">
            <a:off x="6002030" y="4246062"/>
            <a:ext cx="1603725" cy="36388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5D5DEF4-EC2E-554A-810D-CE7A48F05308}"/>
              </a:ext>
            </a:extLst>
          </p:cNvPr>
          <p:cNvCxnSpPr>
            <a:cxnSpLocks/>
            <a:stCxn id="13" idx="5"/>
            <a:endCxn id="14" idx="1"/>
          </p:cNvCxnSpPr>
          <p:nvPr/>
        </p:nvCxnSpPr>
        <p:spPr bwMode="auto">
          <a:xfrm>
            <a:off x="5999958" y="3153572"/>
            <a:ext cx="1605797" cy="33972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5637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000" dirty="0"/>
              <a:t>Access Ordering</a:t>
            </a:r>
            <a:endParaRPr lang="en-US" sz="3987" u="sng" dirty="0"/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68EF7A03-D0BC-FF4A-B4CE-C30C5A505C99}"/>
              </a:ext>
            </a:extLst>
          </p:cNvPr>
          <p:cNvSpPr txBox="1">
            <a:spLocks/>
          </p:cNvSpPr>
          <p:nvPr/>
        </p:nvSpPr>
        <p:spPr bwMode="auto">
          <a:xfrm>
            <a:off x="611188" y="2181225"/>
            <a:ext cx="9743678" cy="498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buFont typeface="Wingdings" pitchFamily="2" charset="2"/>
              <a:buChar char="Ø"/>
            </a:pPr>
            <a:r>
              <a:rPr lang="en-SG" sz="3200" dirty="0"/>
              <a:t>A toll should based on </a:t>
            </a:r>
            <a:r>
              <a:rPr lang="en-SG" sz="3200" dirty="0">
                <a:solidFill>
                  <a:srgbClr val="FF0000"/>
                </a:solidFill>
              </a:rPr>
              <a:t>exactly current</a:t>
            </a:r>
            <a:r>
              <a:rPr lang="en-SG" sz="3200" dirty="0"/>
              <a:t> road condition, otherwise..</a:t>
            </a:r>
            <a:endParaRPr lang="en-SG" sz="2400" b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A30F4-012D-BF41-994C-F6F09E9BE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8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19EEE-5A97-CB4D-96C2-A1E56D6BF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289" y="3453506"/>
            <a:ext cx="5539475" cy="358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9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000" dirty="0"/>
              <a:t>Access Ordering</a:t>
            </a:r>
            <a:endParaRPr lang="en-US" sz="3987" u="sng" dirty="0"/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68EF7A03-D0BC-FF4A-B4CE-C30C5A505C99}"/>
              </a:ext>
            </a:extLst>
          </p:cNvPr>
          <p:cNvSpPr txBox="1">
            <a:spLocks/>
          </p:cNvSpPr>
          <p:nvPr/>
        </p:nvSpPr>
        <p:spPr bwMode="auto">
          <a:xfrm>
            <a:off x="611187" y="5697984"/>
            <a:ext cx="8884443" cy="1180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ct val="0"/>
              </a:spcBef>
            </a:pPr>
            <a:r>
              <a:rPr lang="en-SG" sz="3200" i="1" dirty="0">
                <a:solidFill>
                  <a:schemeClr val="tx1"/>
                </a:solidFill>
                <a:latin typeface="Times" pitchFamily="2" charset="0"/>
              </a:rPr>
              <a:t>Common workaround:</a:t>
            </a:r>
          </a:p>
          <a:p>
            <a:pPr marL="838200" lvl="2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SG" sz="2800" i="1" dirty="0">
                <a:solidFill>
                  <a:schemeClr val="tx1"/>
                </a:solidFill>
                <a:latin typeface="Times" pitchFamily="2" charset="0"/>
              </a:rPr>
              <a:t>Buffer and sort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4A30F4-012D-BF41-994C-F6F09E9BE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9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A324F2-FC95-D649-8A1E-6E7D52D8C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8" y="2181225"/>
            <a:ext cx="8884443" cy="351675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E5A341B-327D-7040-AE3F-E2E7310037CE}"/>
              </a:ext>
            </a:extLst>
          </p:cNvPr>
          <p:cNvSpPr/>
          <p:nvPr/>
        </p:nvSpPr>
        <p:spPr bwMode="auto">
          <a:xfrm>
            <a:off x="4466431" y="5000549"/>
            <a:ext cx="874541" cy="483183"/>
          </a:xfrm>
          <a:prstGeom prst="ellipse">
            <a:avLst/>
          </a:prstGeom>
          <a:noFill/>
          <a:ln w="69850" cap="flat" cmpd="sng" algn="ctr">
            <a:solidFill>
              <a:srgbClr val="FF7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07EFE4-D112-F24A-834A-37A3402C14FA}"/>
              </a:ext>
            </a:extLst>
          </p:cNvPr>
          <p:cNvSpPr/>
          <p:nvPr/>
        </p:nvSpPr>
        <p:spPr>
          <a:xfrm>
            <a:off x="611186" y="6693584"/>
            <a:ext cx="45079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158750" eaLnBrk="1" hangingPunct="1"/>
            <a:r>
              <a:rPr lang="en-SG" sz="3200" i="1" dirty="0">
                <a:solidFill>
                  <a:srgbClr val="FF0000"/>
                </a:solidFill>
                <a:latin typeface="+mn-lt"/>
              </a:rPr>
              <a:t>Lead to poor performance</a:t>
            </a:r>
          </a:p>
        </p:txBody>
      </p:sp>
    </p:spTree>
    <p:extLst>
      <p:ext uri="{BB962C8B-B14F-4D97-AF65-F5344CB8AC3E}">
        <p14:creationId xmlns:p14="http://schemas.microsoft.com/office/powerpoint/2010/main" val="151171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3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08C40F7-9281-8A43-9285-1E68E97E87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7B85D8F9-2B91-ED47-B4F1-78197046B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GB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E153C3C-1718-7747-AED1-F46255C2D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/>
              <a:t>State-of-the-art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Our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Experimental 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526B02-53F8-8247-A8A5-537510186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10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395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140C-2EB4-834E-826E-C92CE66D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Consistent Stateful Stream Processing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BF624-ECEC-5842-AB8A-04952B4492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FE1F61-51F6-784A-B10B-F43943A40AE1}"/>
                  </a:ext>
                </a:extLst>
              </p:cNvPr>
              <p:cNvSpPr/>
              <p:nvPr/>
            </p:nvSpPr>
            <p:spPr>
              <a:xfrm>
                <a:off x="668336" y="4741912"/>
                <a:ext cx="8903493" cy="22867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defTabSz="1014413">
                  <a:spcBef>
                    <a:spcPct val="20000"/>
                  </a:spcBef>
                </a:pPr>
                <a:r>
                  <a:rPr lang="en-US" altLang="zh-CN" sz="2500" b="1" dirty="0">
                    <a:solidFill>
                      <a:srgbClr val="003399"/>
                    </a:solidFill>
                    <a:latin typeface="+mn-lt"/>
                  </a:rPr>
                  <a:t>Employing </a:t>
                </a:r>
                <a:r>
                  <a:rPr lang="en-US" altLang="zh-CN" sz="2500" b="1" u="sng" dirty="0">
                    <a:solidFill>
                      <a:srgbClr val="003399"/>
                    </a:solidFill>
                    <a:latin typeface="+mn-lt"/>
                  </a:rPr>
                  <a:t>transactional schematics</a:t>
                </a:r>
                <a:r>
                  <a:rPr lang="en-US" altLang="zh-CN" sz="2500" b="1" dirty="0">
                    <a:solidFill>
                      <a:srgbClr val="003399"/>
                    </a:solidFill>
                    <a:latin typeface="+mn-lt"/>
                  </a:rPr>
                  <a:t>. </a:t>
                </a:r>
              </a:p>
              <a:p>
                <a:pPr marL="298906" lvl="1" indent="-457200" defTabSz="1014413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500" dirty="0">
                    <a:solidFill>
                      <a:srgbClr val="FF0000"/>
                    </a:solidFill>
                    <a:latin typeface="+mn-lt"/>
                  </a:rPr>
                  <a:t>State transaction </a:t>
                </a:r>
                <a:r>
                  <a:rPr lang="en-US" altLang="zh-CN" sz="2500" dirty="0">
                    <a:solidFill>
                      <a:srgbClr val="003399"/>
                    </a:solidFill>
                    <a:latin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5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𝑡𝑥𝑛</m:t>
                    </m:r>
                    <m:r>
                      <a:rPr lang="en-US" altLang="zh-CN" sz="2500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𝑡𝑠</m:t>
                    </m:r>
                  </m:oMath>
                </a14:m>
                <a:r>
                  <a:rPr lang="en-US" altLang="zh-CN" sz="2500" dirty="0">
                    <a:solidFill>
                      <a:srgbClr val="003399"/>
                    </a:solidFill>
                    <a:latin typeface="+mn-lt"/>
                  </a:rPr>
                  <a:t>): </a:t>
                </a:r>
              </a:p>
              <a:p>
                <a:pPr marL="756106" lvl="2" indent="-457200" defTabSz="1014413">
                  <a:spcBef>
                    <a:spcPct val="20000"/>
                  </a:spcBef>
                  <a:buFont typeface="+mj-lt"/>
                  <a:buAutoNum type="arabicPeriod"/>
                </a:pPr>
                <a:r>
                  <a:rPr lang="en-US" altLang="zh-CN" dirty="0">
                    <a:solidFill>
                      <a:srgbClr val="003399"/>
                    </a:solidFill>
                    <a:latin typeface="+mn-lt"/>
                  </a:rPr>
                  <a:t>txn</a:t>
                </a:r>
                <a:r>
                  <a:rPr lang="en-US" altLang="zh-CN" baseline="-25000" dirty="0">
                    <a:solidFill>
                      <a:srgbClr val="003399"/>
                    </a:solidFill>
                    <a:latin typeface="+mn-lt"/>
                  </a:rPr>
                  <a:t>t1</a:t>
                </a:r>
                <a:r>
                  <a:rPr lang="en-US" altLang="zh-CN" dirty="0">
                    <a:solidFill>
                      <a:srgbClr val="003399"/>
                    </a:solidFill>
                    <a:latin typeface="+mn-lt"/>
                  </a:rPr>
                  <a:t>{</a:t>
                </a:r>
                <a:r>
                  <a:rPr lang="en-US" altLang="zh-CN" i="1" dirty="0">
                    <a:solidFill>
                      <a:srgbClr val="003399"/>
                    </a:solidFill>
                    <a:latin typeface="+mn-lt"/>
                  </a:rPr>
                  <a:t>Update Road1 </a:t>
                </a:r>
                <a:r>
                  <a:rPr lang="en-US" altLang="zh-CN" i="1" dirty="0" err="1">
                    <a:solidFill>
                      <a:srgbClr val="003399"/>
                    </a:solidFill>
                    <a:latin typeface="+mn-lt"/>
                  </a:rPr>
                  <a:t>Cnt</a:t>
                </a:r>
                <a:r>
                  <a:rPr lang="en-US" altLang="zh-CN" i="1" dirty="0">
                    <a:solidFill>
                      <a:srgbClr val="003399"/>
                    </a:solidFill>
                    <a:latin typeface="+mn-lt"/>
                  </a:rPr>
                  <a:t>, update </a:t>
                </a:r>
                <a:r>
                  <a:rPr lang="en-US" altLang="zh-CN" i="1" dirty="0" err="1">
                    <a:solidFill>
                      <a:srgbClr val="003399"/>
                    </a:solidFill>
                    <a:latin typeface="+mn-lt"/>
                  </a:rPr>
                  <a:t>Roadx</a:t>
                </a:r>
                <a:r>
                  <a:rPr lang="en-US" altLang="zh-CN" i="1" dirty="0">
                    <a:solidFill>
                      <a:srgbClr val="003399"/>
                    </a:solidFill>
                    <a:latin typeface="+mn-lt"/>
                  </a:rPr>
                  <a:t>…</a:t>
                </a:r>
                <a:r>
                  <a:rPr lang="en-US" altLang="zh-CN" dirty="0">
                    <a:solidFill>
                      <a:srgbClr val="003399"/>
                    </a:solidFill>
                    <a:latin typeface="+mn-lt"/>
                  </a:rPr>
                  <a:t>} @ 10:00; </a:t>
                </a:r>
              </a:p>
              <a:p>
                <a:pPr marL="756106" lvl="2" indent="-457200" defTabSz="1014413">
                  <a:spcBef>
                    <a:spcPct val="20000"/>
                  </a:spcBef>
                  <a:buFont typeface="+mj-lt"/>
                  <a:buAutoNum type="arabicPeriod"/>
                </a:pPr>
                <a:r>
                  <a:rPr lang="en-US" altLang="zh-CN" dirty="0">
                    <a:solidFill>
                      <a:srgbClr val="003399"/>
                    </a:solidFill>
                  </a:rPr>
                  <a:t>txn</a:t>
                </a:r>
                <a:r>
                  <a:rPr lang="en-US" altLang="zh-CN" baseline="-25000" dirty="0">
                    <a:solidFill>
                      <a:srgbClr val="003399"/>
                    </a:solidFill>
                  </a:rPr>
                  <a:t>t2</a:t>
                </a:r>
                <a:r>
                  <a:rPr lang="en-US" altLang="zh-CN" dirty="0">
                    <a:solidFill>
                      <a:srgbClr val="003399"/>
                    </a:solidFill>
                  </a:rPr>
                  <a:t> {Read Road1 </a:t>
                </a:r>
                <a:r>
                  <a:rPr lang="en-US" altLang="zh-CN" dirty="0" err="1">
                    <a:solidFill>
                      <a:srgbClr val="003399"/>
                    </a:solidFill>
                  </a:rPr>
                  <a:t>Cnt</a:t>
                </a:r>
                <a:r>
                  <a:rPr lang="en-US" altLang="zh-CN" dirty="0">
                    <a:solidFill>
                      <a:srgbClr val="003399"/>
                    </a:solidFill>
                  </a:rPr>
                  <a:t>,…} @ 10:05</a:t>
                </a:r>
                <a:endParaRPr lang="en-US" altLang="zh-CN" dirty="0">
                  <a:solidFill>
                    <a:srgbClr val="003399"/>
                  </a:solidFill>
                  <a:latin typeface="+mn-lt"/>
                </a:endParaRPr>
              </a:p>
              <a:p>
                <a:pPr marL="298906" lvl="1" indent="-457200" defTabSz="1014413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500" dirty="0">
                    <a:solidFill>
                      <a:srgbClr val="FF0000"/>
                    </a:solidFill>
                    <a:latin typeface="+mn-lt"/>
                  </a:rPr>
                  <a:t>Correct schedule</a:t>
                </a:r>
                <a:r>
                  <a:rPr lang="en-US" altLang="zh-CN" sz="2500" dirty="0">
                    <a:solidFill>
                      <a:srgbClr val="003399"/>
                    </a:solidFill>
                    <a:latin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500" i="1" dirty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𝑡𝑥𝑛</m:t>
                    </m:r>
                    <m:r>
                      <a:rPr lang="en-US" altLang="zh-CN" sz="2500" b="0" i="1" baseline="-25000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500" b="0" i="1" baseline="-25000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500" dirty="0">
                    <a:solidFill>
                      <a:srgbClr val="003399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i="1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</m:oMath>
                </a14:m>
                <a:r>
                  <a:rPr lang="en-US" altLang="zh-CN" sz="2500" dirty="0">
                    <a:solidFill>
                      <a:srgbClr val="00339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i="1" dirty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𝑡𝑥𝑛</m:t>
                    </m:r>
                    <m:r>
                      <a:rPr lang="en-US" altLang="zh-CN" sz="2500" b="0" i="1" baseline="-25000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500" b="0" i="1" baseline="-25000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500" dirty="0">
                    <a:solidFill>
                      <a:srgbClr val="00339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i="1" dirty="0">
                        <a:solidFill>
                          <a:srgbClr val="0033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</m:oMath>
                </a14:m>
                <a:r>
                  <a:rPr lang="en-US" altLang="zh-CN" sz="2500" dirty="0">
                    <a:solidFill>
                      <a:srgbClr val="003399"/>
                    </a:solidFill>
                    <a:latin typeface="+mn-lt"/>
                  </a:rPr>
                  <a:t>…</a:t>
                </a:r>
                <a:r>
                  <a:rPr lang="en-US" altLang="zh-CN" sz="2500" dirty="0">
                    <a:solidFill>
                      <a:srgbClr val="00339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i="1" dirty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𝑡𝑥𝑛</m:t>
                    </m:r>
                    <m:r>
                      <a:rPr lang="en-US" altLang="zh-CN" sz="2500" b="0" i="1" baseline="-25000" dirty="0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𝑡𝑛</m:t>
                    </m:r>
                  </m:oMath>
                </a14:m>
                <a:endParaRPr lang="en-US" altLang="zh-CN" sz="2500" baseline="-25000" dirty="0">
                  <a:solidFill>
                    <a:srgbClr val="003399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FE1F61-51F6-784A-B10B-F43943A40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36" y="4741912"/>
                <a:ext cx="8903493" cy="2286780"/>
              </a:xfrm>
              <a:prstGeom prst="rect">
                <a:avLst/>
              </a:prstGeom>
              <a:blipFill>
                <a:blip r:embed="rId3"/>
                <a:stretch>
                  <a:fillRect l="-1140" t="-1657" b="-4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">
            <a:extLst>
              <a:ext uri="{FF2B5EF4-FFF2-40B4-BE49-F238E27FC236}">
                <a16:creationId xmlns:a16="http://schemas.microsoft.com/office/drawing/2014/main" id="{112D6F6F-90C3-934F-983F-9F831E532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11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FE1789-C409-F745-B574-B81761A91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098" y="2181225"/>
            <a:ext cx="6389970" cy="25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E3264-B4DF-FE47-B5FB-2EB0EDF1B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3600" dirty="0"/>
              <a:t>Existing Solutions Revisited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A10AA-BFC9-5E4C-94DF-1470A6934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3370" y="2852068"/>
            <a:ext cx="4610894" cy="838200"/>
          </a:xfrm>
        </p:spPr>
        <p:txBody>
          <a:bodyPr/>
          <a:lstStyle/>
          <a:p>
            <a:r>
              <a:rPr lang="en-US" sz="3200" dirty="0"/>
              <a:t>What if we use existing design[1]?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dirty="0"/>
              <a:t>Severe lock contention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15123-BC2F-1B47-86D1-E902B3B5A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8" y="2263775"/>
            <a:ext cx="5111750" cy="33099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A53055E-BFB8-0D43-B69C-0C02DA9DE742}"/>
              </a:ext>
            </a:extLst>
          </p:cNvPr>
          <p:cNvSpPr/>
          <p:nvPr/>
        </p:nvSpPr>
        <p:spPr>
          <a:xfrm>
            <a:off x="979883" y="5436507"/>
            <a:ext cx="8192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4150" eaLnBrk="1" hangingPunct="1"/>
            <a:r>
              <a:rPr lang="en-US" sz="3600" i="1" dirty="0">
                <a:solidFill>
                  <a:srgbClr val="FF0000"/>
                </a:solidFill>
                <a:latin typeface="+mn-lt"/>
              </a:rPr>
              <a:t>A new solution for scaling concurrent state access is needed!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5FE045A-E742-4440-88EF-5D28F8DB5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12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4" name="Striped Right Arrow 3">
            <a:extLst>
              <a:ext uri="{FF2B5EF4-FFF2-40B4-BE49-F238E27FC236}">
                <a16:creationId xmlns:a16="http://schemas.microsoft.com/office/drawing/2014/main" id="{AD77E7A8-36CA-9646-96E0-9F93D871B3E2}"/>
              </a:ext>
            </a:extLst>
          </p:cNvPr>
          <p:cNvSpPr/>
          <p:nvPr/>
        </p:nvSpPr>
        <p:spPr bwMode="auto">
          <a:xfrm rot="430755">
            <a:off x="2048684" y="3567924"/>
            <a:ext cx="2971800" cy="664277"/>
          </a:xfrm>
          <a:prstGeom prst="striped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C764F9-9193-EB44-B843-E51E98E76508}"/>
              </a:ext>
            </a:extLst>
          </p:cNvPr>
          <p:cNvSpPr/>
          <p:nvPr/>
        </p:nvSpPr>
        <p:spPr>
          <a:xfrm>
            <a:off x="999330" y="6803386"/>
            <a:ext cx="8153399" cy="42672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GB" altLang="en-US" sz="2000" dirty="0">
                <a:latin typeface="Helvetica" pitchFamily="2" charset="0"/>
              </a:rPr>
              <a:t>[1] </a:t>
            </a:r>
            <a:r>
              <a:rPr lang="en-SG" sz="2000" dirty="0">
                <a:latin typeface="Helvetica" pitchFamily="2" charset="0"/>
              </a:rPr>
              <a:t>S-Store: Streaming Meets Transaction Processing, VLDB’15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89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08C40F7-9281-8A43-9285-1E68E97E87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7B85D8F9-2B91-ED47-B4F1-78197046B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GB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E153C3C-1718-7747-AED1-F46255C2D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State-of-the-art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/>
              <a:t>Our Approach: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GB" altLang="en-US" sz="2900" dirty="0"/>
              <a:t>TStream (An extension of BriskStream[2])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Experimental 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526B02-53F8-8247-A8A5-537510186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13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DA14D-6162-7848-B854-6D81BFE2DCD9}"/>
              </a:ext>
            </a:extLst>
          </p:cNvPr>
          <p:cNvSpPr/>
          <p:nvPr/>
        </p:nvSpPr>
        <p:spPr>
          <a:xfrm>
            <a:off x="848519" y="6247025"/>
            <a:ext cx="8153399" cy="7697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GB" altLang="en-US" sz="2000" dirty="0">
                <a:latin typeface="Helvetica" pitchFamily="2" charset="0"/>
              </a:rPr>
              <a:t>[2] </a:t>
            </a:r>
            <a:r>
              <a:rPr lang="en-SG" sz="2000" dirty="0">
                <a:latin typeface="Helvetica" pitchFamily="2" charset="0"/>
              </a:rPr>
              <a:t>BriskStream: Scaling Data Stream Processing on Shared-Memory Multicore Architectures, SIGMOD’19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146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Overview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EFDAAA11-F46B-F74E-B18C-50A5DE9A2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7" y="2193925"/>
            <a:ext cx="9189243" cy="47402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800" dirty="0"/>
              <a:t>Design 1) Dual-Mode Scheduling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SG" sz="3200" dirty="0"/>
              <a:t>Exposing Parallelism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800" dirty="0"/>
              <a:t>Design 2) Dynamic Restructuring Execution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SG" sz="3200" dirty="0"/>
              <a:t>Exploiting Parallelism. </a:t>
            </a:r>
            <a:endParaRPr lang="en-SG" sz="4000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69DA407-5A66-8542-AD8B-7344F337D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14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8A30C01-89E4-B245-A249-C1406E70F785}"/>
              </a:ext>
            </a:extLst>
          </p:cNvPr>
          <p:cNvSpPr txBox="1">
            <a:spLocks/>
          </p:cNvSpPr>
          <p:nvPr/>
        </p:nvSpPr>
        <p:spPr bwMode="auto">
          <a:xfrm>
            <a:off x="611187" y="5714208"/>
            <a:ext cx="9265443" cy="1302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Up to 4.8 times higher throughput with similar or even lower processing latency!</a:t>
            </a:r>
            <a:endParaRPr lang="en-SG" sz="3600" b="0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11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Design1) Dual-Mode Scheduling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58485B09-C485-C548-988B-FA8491E0F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15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87C0A-AB68-D945-A0AC-AD6788E34FBC}"/>
              </a:ext>
            </a:extLst>
          </p:cNvPr>
          <p:cNvSpPr txBox="1"/>
          <p:nvPr/>
        </p:nvSpPr>
        <p:spPr>
          <a:xfrm>
            <a:off x="5348683" y="2342973"/>
            <a:ext cx="46950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State access is often the bottleneck.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It </a:t>
            </a:r>
            <a:r>
              <a:rPr lang="en-US" sz="3200" i="1" dirty="0"/>
              <a:t>unnecessarily</a:t>
            </a:r>
            <a:r>
              <a:rPr lang="en-US" sz="3200" dirty="0"/>
              <a:t> blocks all subsequent processes.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752EAC1C-3EE7-DD42-82E0-17DFBA3BF647}"/>
              </a:ext>
            </a:extLst>
          </p:cNvPr>
          <p:cNvSpPr txBox="1">
            <a:spLocks/>
          </p:cNvSpPr>
          <p:nvPr/>
        </p:nvSpPr>
        <p:spPr bwMode="auto">
          <a:xfrm>
            <a:off x="5938440" y="5277138"/>
            <a:ext cx="3820319" cy="67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SG" sz="3600" b="0" i="1" dirty="0">
                <a:solidFill>
                  <a:srgbClr val="FF0000"/>
                </a:solidFill>
              </a:rPr>
              <a:t>Let’s postpone it.</a:t>
            </a:r>
            <a:endParaRPr lang="en-SG" sz="3600" b="0" i="1" dirty="0">
              <a:solidFill>
                <a:schemeClr val="accent2"/>
              </a:solidFill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B19158C1-83C8-FB41-AD17-A6FA425217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704199"/>
              </p:ext>
            </p:extLst>
          </p:nvPr>
        </p:nvGraphicFramePr>
        <p:xfrm>
          <a:off x="845873" y="2342973"/>
          <a:ext cx="4382558" cy="4673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Explosion 2 4">
            <a:extLst>
              <a:ext uri="{FF2B5EF4-FFF2-40B4-BE49-F238E27FC236}">
                <a16:creationId xmlns:a16="http://schemas.microsoft.com/office/drawing/2014/main" id="{D84D9923-234A-3F42-8F87-5A6D2C06D5CA}"/>
              </a:ext>
            </a:extLst>
          </p:cNvPr>
          <p:cNvSpPr/>
          <p:nvPr/>
        </p:nvSpPr>
        <p:spPr bwMode="auto">
          <a:xfrm>
            <a:off x="611187" y="4026694"/>
            <a:ext cx="1721643" cy="1266825"/>
          </a:xfrm>
          <a:prstGeom prst="irregularSeal2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3D21C2-0A9B-8A44-BD73-EEC02C303891}"/>
              </a:ext>
            </a:extLst>
          </p:cNvPr>
          <p:cNvSpPr/>
          <p:nvPr/>
        </p:nvSpPr>
        <p:spPr bwMode="auto">
          <a:xfrm>
            <a:off x="845873" y="2705845"/>
            <a:ext cx="1182158" cy="914400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CC4DBFD-AF6A-3244-B049-888BE5D33B50}"/>
              </a:ext>
            </a:extLst>
          </p:cNvPr>
          <p:cNvSpPr/>
          <p:nvPr/>
        </p:nvSpPr>
        <p:spPr bwMode="auto">
          <a:xfrm>
            <a:off x="880929" y="4222661"/>
            <a:ext cx="1182158" cy="914400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5D4C98-DBD0-4E48-88F9-E00365FD635A}"/>
              </a:ext>
            </a:extLst>
          </p:cNvPr>
          <p:cNvSpPr/>
          <p:nvPr/>
        </p:nvSpPr>
        <p:spPr bwMode="auto">
          <a:xfrm>
            <a:off x="845873" y="5748856"/>
            <a:ext cx="1182158" cy="914400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89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0" grpId="0"/>
      <p:bldP spid="5" grpId="0" animBg="1"/>
      <p:bldP spid="9" grpId="0" animBg="1"/>
      <p:bldP spid="9" grpId="1" animBg="1"/>
      <p:bldP spid="18" grpId="0" animBg="1"/>
      <p:bldP spid="18" grpId="1" animBg="1"/>
      <p:bldP spid="20" grpId="0" animBg="1"/>
      <p:bldP spid="2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F63E958C-E830-2C42-A038-DCF30F339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515" y="2621479"/>
            <a:ext cx="10029031" cy="17838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1) Dual-Mode Scheduling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55E04-FDF6-A340-971C-E6067FB5047A}"/>
              </a:ext>
            </a:extLst>
          </p:cNvPr>
          <p:cNvSpPr txBox="1"/>
          <p:nvPr/>
        </p:nvSpPr>
        <p:spPr>
          <a:xfrm>
            <a:off x="611188" y="6254931"/>
            <a:ext cx="6781344" cy="90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14413">
              <a:spcBef>
                <a:spcPct val="20000"/>
              </a:spcBef>
            </a:pPr>
            <a:r>
              <a:rPr lang="en-US" b="1" dirty="0">
                <a:solidFill>
                  <a:srgbClr val="003399"/>
                </a:solidFill>
                <a:latin typeface="+mn-lt"/>
              </a:rPr>
              <a:t>Pros: </a:t>
            </a:r>
            <a:r>
              <a:rPr lang="en-US" dirty="0">
                <a:solidFill>
                  <a:srgbClr val="003399"/>
                </a:solidFill>
                <a:latin typeface="+mn-lt"/>
              </a:rPr>
              <a:t>Enlarging inter-event parallelism opportunities.</a:t>
            </a:r>
          </a:p>
          <a:p>
            <a:pPr defTabSz="1014413">
              <a:spcBef>
                <a:spcPct val="20000"/>
              </a:spcBef>
            </a:pPr>
            <a:r>
              <a:rPr lang="en-US" b="1" dirty="0">
                <a:solidFill>
                  <a:srgbClr val="003399"/>
                </a:solidFill>
              </a:rPr>
              <a:t>Cons: </a:t>
            </a:r>
            <a:r>
              <a:rPr lang="en-US" dirty="0">
                <a:solidFill>
                  <a:srgbClr val="003399"/>
                </a:solidFill>
              </a:rPr>
              <a:t>Need to handle ``on-the-fly” events.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917D08C-0C22-3F4F-B754-4EB3D7689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16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19E9DB60-825C-9241-BF40-555917D8E4FC}"/>
              </a:ext>
            </a:extLst>
          </p:cNvPr>
          <p:cNvSpPr/>
          <p:nvPr/>
        </p:nvSpPr>
        <p:spPr bwMode="auto">
          <a:xfrm rot="5400000">
            <a:off x="604902" y="4250183"/>
            <a:ext cx="304800" cy="1514603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70B73-1C3A-E24F-9ADB-CE9C4AADF6AF}"/>
              </a:ext>
            </a:extLst>
          </p:cNvPr>
          <p:cNvSpPr txBox="1"/>
          <p:nvPr/>
        </p:nvSpPr>
        <p:spPr>
          <a:xfrm>
            <a:off x="4085" y="5206808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Mode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689B8B94-5E2A-FC47-9575-7AB7FFB395E1}"/>
              </a:ext>
            </a:extLst>
          </p:cNvPr>
          <p:cNvSpPr/>
          <p:nvPr/>
        </p:nvSpPr>
        <p:spPr bwMode="auto">
          <a:xfrm rot="5400000">
            <a:off x="6952856" y="3706394"/>
            <a:ext cx="304800" cy="2686855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3B1FC-80C0-CE4A-8161-32B51D48D9CF}"/>
              </a:ext>
            </a:extLst>
          </p:cNvPr>
          <p:cNvSpPr txBox="1"/>
          <p:nvPr/>
        </p:nvSpPr>
        <p:spPr>
          <a:xfrm>
            <a:off x="6051924" y="5206808"/>
            <a:ext cx="2106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 Mode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0596252A-92FE-8B4E-BE06-A71996299A3E}"/>
              </a:ext>
            </a:extLst>
          </p:cNvPr>
          <p:cNvSpPr/>
          <p:nvPr/>
        </p:nvSpPr>
        <p:spPr bwMode="auto">
          <a:xfrm rot="5400000">
            <a:off x="3350430" y="4250183"/>
            <a:ext cx="304800" cy="1514603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D5512E-FCAD-3548-9E6A-F9DC76958FF8}"/>
              </a:ext>
            </a:extLst>
          </p:cNvPr>
          <p:cNvSpPr txBox="1"/>
          <p:nvPr/>
        </p:nvSpPr>
        <p:spPr>
          <a:xfrm>
            <a:off x="2358346" y="5206808"/>
            <a:ext cx="2525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Access Mode</a:t>
            </a:r>
          </a:p>
        </p:txBody>
      </p:sp>
      <p:sp>
        <p:nvSpPr>
          <p:cNvPr id="20" name="Curved Down Arrow 19">
            <a:extLst>
              <a:ext uri="{FF2B5EF4-FFF2-40B4-BE49-F238E27FC236}">
                <a16:creationId xmlns:a16="http://schemas.microsoft.com/office/drawing/2014/main" id="{87A81B85-2C67-C141-99E4-9389BF701BD4}"/>
              </a:ext>
            </a:extLst>
          </p:cNvPr>
          <p:cNvSpPr/>
          <p:nvPr/>
        </p:nvSpPr>
        <p:spPr bwMode="auto">
          <a:xfrm rot="10800000">
            <a:off x="665653" y="5660706"/>
            <a:ext cx="6647632" cy="591151"/>
          </a:xfrm>
          <a:prstGeom prst="curvedDownArrow">
            <a:avLst>
              <a:gd name="adj1" fmla="val 18655"/>
              <a:gd name="adj2" fmla="val 50000"/>
              <a:gd name="adj3" fmla="val 250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F39F54-6224-324B-B7E6-C11456778511}"/>
              </a:ext>
            </a:extLst>
          </p:cNvPr>
          <p:cNvSpPr txBox="1"/>
          <p:nvPr/>
        </p:nvSpPr>
        <p:spPr>
          <a:xfrm>
            <a:off x="478134" y="4446614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  <a:r>
              <a:rPr lang="en-US" dirty="0" err="1"/>
              <a:t>PreProcess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8BA91D-424E-4545-8D8C-D32F2C8D3D96}"/>
              </a:ext>
            </a:extLst>
          </p:cNvPr>
          <p:cNvSpPr txBox="1"/>
          <p:nvPr/>
        </p:nvSpPr>
        <p:spPr>
          <a:xfrm>
            <a:off x="2539565" y="4446614"/>
            <a:ext cx="2029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  <a:r>
              <a:rPr lang="en-US" dirty="0" err="1"/>
              <a:t>StateAccess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6D7F9A-9883-C141-886C-30877C2B0789}"/>
              </a:ext>
            </a:extLst>
          </p:cNvPr>
          <p:cNvSpPr txBox="1"/>
          <p:nvPr/>
        </p:nvSpPr>
        <p:spPr>
          <a:xfrm>
            <a:off x="5053092" y="4459486"/>
            <a:ext cx="199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</a:t>
            </a:r>
            <a:r>
              <a:rPr lang="en-US" dirty="0" err="1"/>
              <a:t>PostProcess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147E14-98D5-8846-A00D-B5AF1EC5EDB3}"/>
              </a:ext>
            </a:extLst>
          </p:cNvPr>
          <p:cNvSpPr txBox="1"/>
          <p:nvPr/>
        </p:nvSpPr>
        <p:spPr>
          <a:xfrm>
            <a:off x="7805939" y="4401639"/>
            <a:ext cx="1895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(d)</a:t>
            </a:r>
            <a:r>
              <a:rPr lang="en-US" dirty="0" err="1"/>
              <a:t>PreProcess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88CC44-5036-C240-ADDE-B59937C5E4CB}"/>
              </a:ext>
            </a:extLst>
          </p:cNvPr>
          <p:cNvSpPr/>
          <p:nvPr/>
        </p:nvSpPr>
        <p:spPr bwMode="auto">
          <a:xfrm>
            <a:off x="4837425" y="1989411"/>
            <a:ext cx="6868006" cy="2820885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4BB6C5-7DE0-9746-97A4-399D2BAEAD0C}"/>
              </a:ext>
            </a:extLst>
          </p:cNvPr>
          <p:cNvSpPr/>
          <p:nvPr/>
        </p:nvSpPr>
        <p:spPr bwMode="auto">
          <a:xfrm>
            <a:off x="7047225" y="1981646"/>
            <a:ext cx="6868006" cy="2883248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CA2221E-9CCE-8644-B082-5839FE305566}"/>
              </a:ext>
            </a:extLst>
          </p:cNvPr>
          <p:cNvSpPr/>
          <p:nvPr/>
        </p:nvSpPr>
        <p:spPr bwMode="auto">
          <a:xfrm>
            <a:off x="2446594" y="1993998"/>
            <a:ext cx="7915811" cy="2819261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49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7" grpId="1" animBg="1"/>
      <p:bldP spid="7" grpId="2" animBg="1"/>
      <p:bldP spid="8" grpId="0" animBg="1"/>
      <p:bldP spid="8" grpId="1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2) Dynamic Restructuring Execution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F93D8A-68F9-734F-BD97-8FEE42AFC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17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3914D07C-92E8-FF4F-B042-9CC019AFCE01}"/>
              </a:ext>
            </a:extLst>
          </p:cNvPr>
          <p:cNvSpPr txBox="1">
            <a:spLocks/>
          </p:cNvSpPr>
          <p:nvPr/>
        </p:nvSpPr>
        <p:spPr bwMode="auto">
          <a:xfrm>
            <a:off x="611188" y="2332038"/>
            <a:ext cx="9199562" cy="1466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2800" dirty="0"/>
              <a:t>For each state transaction: </a:t>
            </a:r>
          </a:p>
          <a:p>
            <a:pPr lvl="1" eaLnBrk="1" hangingPunct="1"/>
            <a:r>
              <a:rPr lang="en-US" sz="2800" dirty="0"/>
              <a:t>Dynamically </a:t>
            </a:r>
            <a:r>
              <a:rPr lang="en-US" sz="2800" u="sng" dirty="0"/>
              <a:t>decompose</a:t>
            </a:r>
            <a:r>
              <a:rPr lang="en-US" sz="2800" dirty="0"/>
              <a:t> and </a:t>
            </a:r>
            <a:r>
              <a:rPr lang="en-US" sz="2800" u="sng" dirty="0"/>
              <a:t>regroup</a:t>
            </a:r>
            <a:r>
              <a:rPr lang="en-US" sz="2800" dirty="0"/>
              <a:t> operations to </a:t>
            </a:r>
            <a:r>
              <a:rPr lang="en-US" sz="2800" b="1" i="1" dirty="0"/>
              <a:t>avoid</a:t>
            </a:r>
            <a:r>
              <a:rPr lang="en-US" sz="2800" dirty="0"/>
              <a:t> conflict before actual parallel evaluation is applied.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D48B16D-85CB-E549-8C75-D4F03BC84243}"/>
              </a:ext>
            </a:extLst>
          </p:cNvPr>
          <p:cNvSpPr/>
          <p:nvPr/>
        </p:nvSpPr>
        <p:spPr>
          <a:xfrm>
            <a:off x="1312936" y="4111048"/>
            <a:ext cx="1447800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executor</a:t>
            </a:r>
            <a:r>
              <a:rPr lang="en-US" baseline="-25000" dirty="0">
                <a:latin typeface="Helvetica" pitchFamily="2" charset="0"/>
              </a:rPr>
              <a:t>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E44284-9A17-E846-953D-82ED25218A3D}"/>
              </a:ext>
            </a:extLst>
          </p:cNvPr>
          <p:cNvSpPr/>
          <p:nvPr/>
        </p:nvSpPr>
        <p:spPr>
          <a:xfrm>
            <a:off x="3859527" y="4111048"/>
            <a:ext cx="1447800" cy="369332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executor</a:t>
            </a:r>
            <a:r>
              <a:rPr lang="en-US" baseline="-25000" dirty="0">
                <a:latin typeface="Helvetica" pitchFamily="2" charset="0"/>
              </a:rPr>
              <a:t>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30E34A-7495-AA40-883F-9F251403571C}"/>
              </a:ext>
            </a:extLst>
          </p:cNvPr>
          <p:cNvCxnSpPr>
            <a:endCxn id="47" idx="1"/>
          </p:cNvCxnSpPr>
          <p:nvPr/>
        </p:nvCxnSpPr>
        <p:spPr bwMode="auto">
          <a:xfrm>
            <a:off x="855736" y="4295714"/>
            <a:ext cx="4572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6457FB-DD06-2841-BA1A-F5F623CDB220}"/>
              </a:ext>
            </a:extLst>
          </p:cNvPr>
          <p:cNvCxnSpPr>
            <a:endCxn id="48" idx="1"/>
          </p:cNvCxnSpPr>
          <p:nvPr/>
        </p:nvCxnSpPr>
        <p:spPr bwMode="auto">
          <a:xfrm>
            <a:off x="3372164" y="4295714"/>
            <a:ext cx="48736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DABEE08-C781-EB4C-B050-9098E0A7FDEB}"/>
              </a:ext>
            </a:extLst>
          </p:cNvPr>
          <p:cNvSpPr txBox="1"/>
          <p:nvPr/>
        </p:nvSpPr>
        <p:spPr>
          <a:xfrm>
            <a:off x="855736" y="3895604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e</a:t>
            </a:r>
            <a:r>
              <a:rPr lang="en-US" sz="2000" baseline="-25000" dirty="0">
                <a:latin typeface="Helvetica" pitchFamily="2" charset="0"/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FA59A0-A403-8942-9A54-960A248778D1}"/>
              </a:ext>
            </a:extLst>
          </p:cNvPr>
          <p:cNvSpPr txBox="1"/>
          <p:nvPr/>
        </p:nvSpPr>
        <p:spPr>
          <a:xfrm>
            <a:off x="533045" y="3895604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e</a:t>
            </a:r>
            <a:r>
              <a:rPr lang="en-US" sz="2000" baseline="-25000" dirty="0">
                <a:latin typeface="Helvetica" pitchFamily="2" charset="0"/>
              </a:rPr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A838C4-6454-EF41-8D3A-DFC7D3EBECB1}"/>
              </a:ext>
            </a:extLst>
          </p:cNvPr>
          <p:cNvSpPr txBox="1"/>
          <p:nvPr/>
        </p:nvSpPr>
        <p:spPr>
          <a:xfrm>
            <a:off x="3372164" y="3895604"/>
            <a:ext cx="421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e</a:t>
            </a:r>
            <a:r>
              <a:rPr lang="en-US" sz="2000" baseline="-25000" dirty="0">
                <a:latin typeface="Helvetica" pitchFamily="2" charset="0"/>
              </a:rPr>
              <a:t>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1D5BF38-9B6C-8444-AC35-EE0832AB9E40}"/>
              </a:ext>
            </a:extLst>
          </p:cNvPr>
          <p:cNvSpPr/>
          <p:nvPr/>
        </p:nvSpPr>
        <p:spPr>
          <a:xfrm>
            <a:off x="4290674" y="4971349"/>
            <a:ext cx="64357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0" tIns="0" rIns="0" bIns="0">
            <a:noAutofit/>
          </a:bodyPr>
          <a:lstStyle/>
          <a:p>
            <a:r>
              <a:rPr lang="en-US" dirty="0">
                <a:latin typeface="Helvetica" pitchFamily="2" charset="0"/>
              </a:rPr>
              <a:t>txn</a:t>
            </a:r>
            <a:r>
              <a:rPr lang="en-US" baseline="-25000" dirty="0">
                <a:latin typeface="Helvetica" pitchFamily="2" charset="0"/>
              </a:rPr>
              <a:t>t2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4E653A-2478-0440-9D5E-4DEBB5BFE19F}"/>
              </a:ext>
            </a:extLst>
          </p:cNvPr>
          <p:cNvSpPr/>
          <p:nvPr/>
        </p:nvSpPr>
        <p:spPr>
          <a:xfrm>
            <a:off x="1713696" y="4975604"/>
            <a:ext cx="64357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 lIns="0" tIns="0" rIns="0" bIns="0">
            <a:noAutofit/>
          </a:bodyPr>
          <a:lstStyle/>
          <a:p>
            <a:r>
              <a:rPr lang="en-US" dirty="0">
                <a:latin typeface="Helvetica" pitchFamily="2" charset="0"/>
              </a:rPr>
              <a:t>txn</a:t>
            </a:r>
            <a:r>
              <a:rPr lang="en-US" baseline="-25000" dirty="0">
                <a:latin typeface="Helvetica" pitchFamily="2" charset="0"/>
              </a:rPr>
              <a:t>t1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C2A29D1-E8EA-C943-99C2-344F0DE7A8AD}"/>
              </a:ext>
            </a:extLst>
          </p:cNvPr>
          <p:cNvCxnSpPr>
            <a:cxnSpLocks/>
            <a:stCxn id="47" idx="2"/>
          </p:cNvCxnSpPr>
          <p:nvPr/>
        </p:nvCxnSpPr>
        <p:spPr bwMode="auto">
          <a:xfrm flipH="1">
            <a:off x="2035485" y="4480380"/>
            <a:ext cx="1351" cy="4842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A67EA86-7B88-8E48-8572-7840B928F4F8}"/>
              </a:ext>
            </a:extLst>
          </p:cNvPr>
          <p:cNvCxnSpPr/>
          <p:nvPr/>
        </p:nvCxnSpPr>
        <p:spPr bwMode="auto">
          <a:xfrm flipH="1">
            <a:off x="4605098" y="4491216"/>
            <a:ext cx="1351" cy="4842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99B2E4F-F5CA-2C4E-860B-75A0DF0EF04F}"/>
              </a:ext>
            </a:extLst>
          </p:cNvPr>
          <p:cNvSpPr txBox="1"/>
          <p:nvPr/>
        </p:nvSpPr>
        <p:spPr>
          <a:xfrm>
            <a:off x="6645578" y="4480380"/>
            <a:ext cx="2884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ctr" hangingPunct="1"/>
            <a:r>
              <a:rPr lang="en-US" b="1" dirty="0">
                <a:solidFill>
                  <a:srgbClr val="002060"/>
                </a:solidFill>
              </a:rPr>
              <a:t>txn</a:t>
            </a:r>
            <a:r>
              <a:rPr lang="en-US" b="1" baseline="-25000" dirty="0">
                <a:solidFill>
                  <a:srgbClr val="002060"/>
                </a:solidFill>
              </a:rPr>
              <a:t>t1</a:t>
            </a:r>
            <a:r>
              <a:rPr lang="en-SG" dirty="0">
                <a:solidFill>
                  <a:srgbClr val="002060"/>
                </a:solidFill>
              </a:rPr>
              <a:t>: {</a:t>
            </a:r>
            <a:r>
              <a:rPr lang="en-US" b="1" dirty="0">
                <a:solidFill>
                  <a:srgbClr val="002060"/>
                </a:solidFill>
              </a:rPr>
              <a:t>O</a:t>
            </a:r>
            <a:r>
              <a:rPr lang="en-US" b="1" baseline="-25000" dirty="0">
                <a:solidFill>
                  <a:srgbClr val="002060"/>
                </a:solidFill>
              </a:rPr>
              <a:t>1</a:t>
            </a:r>
            <a:r>
              <a:rPr lang="en-US" b="1" dirty="0">
                <a:solidFill>
                  <a:srgbClr val="002060"/>
                </a:solidFill>
              </a:rPr>
              <a:t>, O</a:t>
            </a:r>
            <a:r>
              <a:rPr lang="en-US" b="1" baseline="-25000" dirty="0">
                <a:solidFill>
                  <a:srgbClr val="002060"/>
                </a:solidFill>
              </a:rPr>
              <a:t>2</a:t>
            </a:r>
            <a:r>
              <a:rPr lang="en-US" b="1" dirty="0">
                <a:solidFill>
                  <a:srgbClr val="002060"/>
                </a:solidFill>
              </a:rPr>
              <a:t>}</a:t>
            </a:r>
            <a:endParaRPr lang="en-SG" dirty="0">
              <a:solidFill>
                <a:srgbClr val="002060"/>
              </a:solidFill>
            </a:endParaRPr>
          </a:p>
          <a:p>
            <a:pPr eaLnBrk="1" fontAlgn="ctr" hangingPunct="1"/>
            <a:r>
              <a:rPr lang="en-US" b="1" dirty="0">
                <a:solidFill>
                  <a:srgbClr val="002060"/>
                </a:solidFill>
              </a:rPr>
              <a:t>txn</a:t>
            </a:r>
            <a:r>
              <a:rPr lang="en-US" b="1" baseline="-25000" dirty="0">
                <a:solidFill>
                  <a:srgbClr val="002060"/>
                </a:solidFill>
              </a:rPr>
              <a:t>2</a:t>
            </a:r>
            <a:r>
              <a:rPr lang="en-SG" dirty="0">
                <a:solidFill>
                  <a:srgbClr val="002060"/>
                </a:solidFill>
              </a:rPr>
              <a:t>: {</a:t>
            </a:r>
            <a:r>
              <a:rPr lang="en-US" b="1" dirty="0">
                <a:solidFill>
                  <a:srgbClr val="002060"/>
                </a:solidFill>
              </a:rPr>
              <a:t>O</a:t>
            </a:r>
            <a:r>
              <a:rPr lang="en-US" b="1" baseline="-25000" dirty="0">
                <a:solidFill>
                  <a:srgbClr val="002060"/>
                </a:solidFill>
              </a:rPr>
              <a:t>3</a:t>
            </a:r>
            <a:r>
              <a:rPr lang="en-US" b="1" dirty="0">
                <a:solidFill>
                  <a:srgbClr val="002060"/>
                </a:solidFill>
              </a:rPr>
              <a:t>}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E0BD9FD-E463-E249-A28F-DFF7A0D99DBF}"/>
              </a:ext>
            </a:extLst>
          </p:cNvPr>
          <p:cNvSpPr txBox="1"/>
          <p:nvPr/>
        </p:nvSpPr>
        <p:spPr>
          <a:xfrm>
            <a:off x="6650294" y="5563899"/>
            <a:ext cx="2939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ctr" hangingPunct="1"/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O</a:t>
            </a:r>
            <a:r>
              <a:rPr lang="en-US" b="1" baseline="-250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1 </a:t>
            </a:r>
            <a:r>
              <a:rPr lang="en-SG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Read of Road 1</a:t>
            </a:r>
            <a:endParaRPr lang="en-SG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fontAlgn="ctr" hangingPunct="1"/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O</a:t>
            </a:r>
            <a:r>
              <a:rPr lang="en-US" b="1" baseline="-250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2 </a:t>
            </a:r>
            <a:r>
              <a:rPr lang="en-SG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Update to Road 2</a:t>
            </a:r>
          </a:p>
          <a:p>
            <a:pPr eaLnBrk="1" fontAlgn="ctr" hangingPunct="1"/>
            <a:r>
              <a:rPr lang="en-US" b="1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O</a:t>
            </a:r>
            <a:r>
              <a:rPr lang="en-US" b="1" baseline="-25000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3 </a:t>
            </a:r>
            <a:r>
              <a:rPr lang="en-SG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: </a:t>
            </a:r>
            <a:r>
              <a:rPr lang="en-US" dirty="0">
                <a:solidFill>
                  <a:schemeClr val="accent4">
                    <a:lumMod val="75000"/>
                    <a:lumOff val="25000"/>
                  </a:schemeClr>
                </a:solidFill>
              </a:rPr>
              <a:t>Read of Road 2</a:t>
            </a:r>
            <a:endParaRPr lang="en-SG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D6B2C6E-7508-C34F-958C-B56DE031C85C}"/>
              </a:ext>
            </a:extLst>
          </p:cNvPr>
          <p:cNvGrpSpPr/>
          <p:nvPr/>
        </p:nvGrpSpPr>
        <p:grpSpPr>
          <a:xfrm>
            <a:off x="62755" y="5149289"/>
            <a:ext cx="4871496" cy="2021043"/>
            <a:chOff x="62755" y="5149289"/>
            <a:chExt cx="4871496" cy="2021043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41223789-44A8-CA4E-921E-B6FD2E65FB1F}"/>
                </a:ext>
              </a:extLst>
            </p:cNvPr>
            <p:cNvGrpSpPr/>
            <p:nvPr/>
          </p:nvGrpSpPr>
          <p:grpSpPr>
            <a:xfrm>
              <a:off x="62755" y="5149289"/>
              <a:ext cx="4871496" cy="2021043"/>
              <a:chOff x="62755" y="5149289"/>
              <a:chExt cx="4871496" cy="2021043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18F8154-F7FE-5243-9548-12FEC914429F}"/>
                  </a:ext>
                </a:extLst>
              </p:cNvPr>
              <p:cNvSpPr txBox="1"/>
              <p:nvPr/>
            </p:nvSpPr>
            <p:spPr>
              <a:xfrm>
                <a:off x="3286139" y="6060594"/>
                <a:ext cx="3978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…</a:t>
                </a: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DA543400-3014-6D4D-819E-82BDCB972AE5}"/>
                  </a:ext>
                </a:extLst>
              </p:cNvPr>
              <p:cNvGrpSpPr/>
              <p:nvPr/>
            </p:nvGrpSpPr>
            <p:grpSpPr>
              <a:xfrm>
                <a:off x="62755" y="5149289"/>
                <a:ext cx="4871496" cy="2021043"/>
                <a:chOff x="62755" y="5149289"/>
                <a:chExt cx="4871496" cy="2021043"/>
              </a:xfrm>
            </p:grpSpPr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650610C9-C53B-304B-8297-DFFF2E32E044}"/>
                    </a:ext>
                  </a:extLst>
                </p:cNvPr>
                <p:cNvSpPr txBox="1"/>
                <p:nvPr/>
              </p:nvSpPr>
              <p:spPr>
                <a:xfrm>
                  <a:off x="62755" y="6131024"/>
                  <a:ext cx="236154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Operation chains:</a:t>
                  </a:r>
                </a:p>
              </p:txBody>
            </p: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D5088965-CA25-E845-A136-C1DEE0E1068D}"/>
                    </a:ext>
                  </a:extLst>
                </p:cNvPr>
                <p:cNvGrpSpPr/>
                <p:nvPr/>
              </p:nvGrpSpPr>
              <p:grpSpPr>
                <a:xfrm>
                  <a:off x="2357273" y="5149289"/>
                  <a:ext cx="2576978" cy="2021043"/>
                  <a:chOff x="2357273" y="5149289"/>
                  <a:chExt cx="2576978" cy="2021043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8E8F56-8222-F943-9870-ED53771E1BF1}"/>
                      </a:ext>
                    </a:extLst>
                  </p:cNvPr>
                  <p:cNvGrpSpPr/>
                  <p:nvPr/>
                </p:nvGrpSpPr>
                <p:grpSpPr>
                  <a:xfrm>
                    <a:off x="3312129" y="5550694"/>
                    <a:ext cx="1086974" cy="1619638"/>
                    <a:chOff x="-77421" y="1085331"/>
                    <a:chExt cx="485052" cy="738867"/>
                  </a:xfrm>
                </p:grpSpPr>
                <p:sp>
                  <p:nvSpPr>
                    <p:cNvPr id="64" name="Rounded Rectangle 63">
                      <a:extLst>
                        <a:ext uri="{FF2B5EF4-FFF2-40B4-BE49-F238E27FC236}">
                          <a16:creationId xmlns:a16="http://schemas.microsoft.com/office/drawing/2014/main" id="{40EA51AD-768D-D544-BF14-643F19ACAB2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-43910" y="1279653"/>
                      <a:ext cx="615892" cy="287190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sz="4400"/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198E06AB-38BF-424E-8993-C88A394BF3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9363" y="1171056"/>
                      <a:ext cx="239777" cy="21060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latin typeface="Helvetica" charset="0"/>
                          <a:ea typeface="Helvetica" charset="0"/>
                          <a:cs typeface="Helvetica" charset="0"/>
                        </a:rPr>
                        <a:t>O</a:t>
                      </a:r>
                      <a:r>
                        <a:rPr lang="en-US" baseline="-250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3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6" name="Rectangle 65">
                          <a:extLst>
                            <a:ext uri="{FF2B5EF4-FFF2-40B4-BE49-F238E27FC236}">
                              <a16:creationId xmlns:a16="http://schemas.microsoft.com/office/drawing/2014/main" id="{42A892EC-49C7-2D41-8B53-CA0E999BE22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-220286" y="1228196"/>
                          <a:ext cx="738867" cy="453137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US" baseline="-25000" dirty="0">
                            <a:latin typeface="Helvetica" charset="0"/>
                            <a:ea typeface="Helvetica" charset="0"/>
                            <a:cs typeface="Helvetica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6" name="Rectangle 65">
                          <a:extLst>
                            <a:ext uri="{FF2B5EF4-FFF2-40B4-BE49-F238E27FC236}">
                              <a16:creationId xmlns:a16="http://schemas.microsoft.com/office/drawing/2014/main" id="{42A892EC-49C7-2D41-8B53-CA0E999BE227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 rot="5400000">
                          <a:off x="-220286" y="1228196"/>
                          <a:ext cx="738867" cy="453137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F79FDC96-1FEA-F647-93A1-A28A597541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0642" y="1508771"/>
                      <a:ext cx="239777" cy="21060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latin typeface="Helvetica" charset="0"/>
                          <a:ea typeface="Helvetica" charset="0"/>
                          <a:cs typeface="Helvetica" charset="0"/>
                        </a:rPr>
                        <a:t>O</a:t>
                      </a:r>
                      <a:r>
                        <a:rPr lang="en-US" baseline="-250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2</a:t>
                      </a:r>
                    </a:p>
                  </p:txBody>
                </p:sp>
              </p:grpSp>
              <p:grpSp>
                <p:nvGrpSpPr>
                  <p:cNvPr id="68" name="Group 67">
                    <a:extLst>
                      <a:ext uri="{FF2B5EF4-FFF2-40B4-BE49-F238E27FC236}">
                        <a16:creationId xmlns:a16="http://schemas.microsoft.com/office/drawing/2014/main" id="{3C5B740B-BA2D-2B4B-956D-4CB8DF477577}"/>
                      </a:ext>
                    </a:extLst>
                  </p:cNvPr>
                  <p:cNvGrpSpPr/>
                  <p:nvPr/>
                </p:nvGrpSpPr>
                <p:grpSpPr>
                  <a:xfrm>
                    <a:off x="2526956" y="5616392"/>
                    <a:ext cx="748524" cy="1350070"/>
                    <a:chOff x="73609" y="1115302"/>
                    <a:chExt cx="334022" cy="615892"/>
                  </a:xfrm>
                </p:grpSpPr>
                <p:sp>
                  <p:nvSpPr>
                    <p:cNvPr id="69" name="Rounded Rectangle 68">
                      <a:extLst>
                        <a:ext uri="{FF2B5EF4-FFF2-40B4-BE49-F238E27FC236}">
                          <a16:creationId xmlns:a16="http://schemas.microsoft.com/office/drawing/2014/main" id="{C8098BA9-2AE2-C44B-8DDC-F1BA71F43FA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-43910" y="1279653"/>
                      <a:ext cx="615892" cy="287190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en-US" sz="4400"/>
                    </a:p>
                  </p:txBody>
                </p:sp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5BEAA5AA-8BFF-AB45-802E-15354777F07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07012" y="1379225"/>
                      <a:ext cx="84272" cy="15107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endParaRPr lang="en-US" baseline="-25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p:txBody>
                </p:sp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FB80BC6A-5183-0442-A06C-1E7526ABCB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0642" y="1508771"/>
                      <a:ext cx="239777" cy="21060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en-US" dirty="0">
                          <a:latin typeface="Helvetica" charset="0"/>
                          <a:ea typeface="Helvetica" charset="0"/>
                          <a:cs typeface="Helvetica" charset="0"/>
                        </a:rPr>
                        <a:t>O</a:t>
                      </a:r>
                      <a:r>
                        <a:rPr lang="en-US" baseline="-250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1</a:t>
                      </a:r>
                    </a:p>
                  </p:txBody>
                </p:sp>
              </p:grpSp>
              <p:cxnSp>
                <p:nvCxnSpPr>
                  <p:cNvPr id="73" name="Curved Connector 72">
                    <a:extLst>
                      <a:ext uri="{FF2B5EF4-FFF2-40B4-BE49-F238E27FC236}">
                        <a16:creationId xmlns:a16="http://schemas.microsoft.com/office/drawing/2014/main" id="{8236EC2A-4B68-AD40-906C-A9F1C2FB47EE}"/>
                      </a:ext>
                    </a:extLst>
                  </p:cNvPr>
                  <p:cNvCxnSpPr>
                    <a:cxnSpLocks/>
                    <a:endCxn id="69" idx="1"/>
                  </p:cNvCxnSpPr>
                  <p:nvPr/>
                </p:nvCxnSpPr>
                <p:spPr>
                  <a:xfrm>
                    <a:off x="2357273" y="5149289"/>
                    <a:ext cx="596419" cy="467103"/>
                  </a:xfrm>
                  <a:prstGeom prst="curvedConnector2">
                    <a:avLst/>
                  </a:prstGeom>
                  <a:ln w="57150">
                    <a:solidFill>
                      <a:srgbClr val="00206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Curved Connector 89">
                    <a:extLst>
                      <a:ext uri="{FF2B5EF4-FFF2-40B4-BE49-F238E27FC236}">
                        <a16:creationId xmlns:a16="http://schemas.microsoft.com/office/drawing/2014/main" id="{0225CC12-B016-5A47-AFB8-2701B24B9296}"/>
                      </a:ext>
                    </a:extLst>
                  </p:cNvPr>
                  <p:cNvCxnSpPr>
                    <a:cxnSpLocks/>
                    <a:stCxn id="62" idx="3"/>
                    <a:endCxn id="64" idx="1"/>
                  </p:cNvCxnSpPr>
                  <p:nvPr/>
                </p:nvCxnSpPr>
                <p:spPr>
                  <a:xfrm>
                    <a:off x="2357273" y="5160270"/>
                    <a:ext cx="1720042" cy="456122"/>
                  </a:xfrm>
                  <a:prstGeom prst="curvedConnector2">
                    <a:avLst/>
                  </a:prstGeom>
                  <a:ln w="57150">
                    <a:solidFill>
                      <a:srgbClr val="00206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Curved Connector 92">
                    <a:extLst>
                      <a:ext uri="{FF2B5EF4-FFF2-40B4-BE49-F238E27FC236}">
                        <a16:creationId xmlns:a16="http://schemas.microsoft.com/office/drawing/2014/main" id="{B69A6F80-6BA1-034C-9FB0-48D7E5646730}"/>
                      </a:ext>
                    </a:extLst>
                  </p:cNvPr>
                  <p:cNvCxnSpPr>
                    <a:cxnSpLocks/>
                    <a:stCxn id="57" idx="3"/>
                    <a:endCxn id="64" idx="0"/>
                  </p:cNvCxnSpPr>
                  <p:nvPr/>
                </p:nvCxnSpPr>
                <p:spPr>
                  <a:xfrm flipH="1">
                    <a:off x="4399103" y="5156015"/>
                    <a:ext cx="535148" cy="1135412"/>
                  </a:xfrm>
                  <a:prstGeom prst="curvedConnector3">
                    <a:avLst>
                      <a:gd name="adj1" fmla="val -42717"/>
                    </a:avLst>
                  </a:prstGeom>
                  <a:ln w="57150">
                    <a:solidFill>
                      <a:srgbClr val="00206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A64B5403-3EE8-6243-B114-A194AD50D27E}"/>
                </a:ext>
              </a:extLst>
            </p:cNvPr>
            <p:cNvSpPr/>
            <p:nvPr/>
          </p:nvSpPr>
          <p:spPr bwMode="auto">
            <a:xfrm>
              <a:off x="2460127" y="5478066"/>
              <a:ext cx="2361544" cy="1619637"/>
            </a:xfrm>
            <a:prstGeom prst="roundRect">
              <a:avLst/>
            </a:prstGeom>
            <a:noFill/>
            <a:ln w="57150" cap="flat" cmpd="sng" algn="ctr">
              <a:solidFill>
                <a:srgbClr val="FF0000"/>
              </a:solidFill>
              <a:prstDash val="dash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itchFamily="2" charset="0"/>
              </a:endParaRPr>
            </a:p>
          </p:txBody>
        </p:sp>
      </p:grpSp>
      <p:pic>
        <p:nvPicPr>
          <p:cNvPr id="100" name="Picture 99">
            <a:extLst>
              <a:ext uri="{FF2B5EF4-FFF2-40B4-BE49-F238E27FC236}">
                <a16:creationId xmlns:a16="http://schemas.microsoft.com/office/drawing/2014/main" id="{FC9864BE-FAEE-D446-B854-3012297CE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241" y="4841882"/>
            <a:ext cx="425880" cy="140024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307E0D15-F1D9-0449-A273-A180D132F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459" y="4841881"/>
            <a:ext cx="422325" cy="138855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7BA54E52-D84F-D840-979B-7046C6579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944" y="6573818"/>
            <a:ext cx="150995" cy="694516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07F8C9DA-BBCC-C140-8D14-24FDBCC80D0A}"/>
              </a:ext>
            </a:extLst>
          </p:cNvPr>
          <p:cNvSpPr txBox="1"/>
          <p:nvPr/>
        </p:nvSpPr>
        <p:spPr>
          <a:xfrm>
            <a:off x="5202784" y="6681788"/>
            <a:ext cx="1380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A thread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1F077B4-A0F4-7342-8892-DD1076A09939}"/>
              </a:ext>
            </a:extLst>
          </p:cNvPr>
          <p:cNvGrpSpPr/>
          <p:nvPr/>
        </p:nvGrpSpPr>
        <p:grpSpPr>
          <a:xfrm>
            <a:off x="2460127" y="6969735"/>
            <a:ext cx="2222498" cy="464334"/>
            <a:chOff x="2460127" y="6969735"/>
            <a:chExt cx="2222498" cy="464334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1CBC567-0055-E14E-B798-7BB4712788B7}"/>
                </a:ext>
              </a:extLst>
            </p:cNvPr>
            <p:cNvSpPr/>
            <p:nvPr/>
          </p:nvSpPr>
          <p:spPr>
            <a:xfrm>
              <a:off x="2460127" y="6972404"/>
              <a:ext cx="10647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4">
                      <a:lumMod val="75000"/>
                      <a:lumOff val="25000"/>
                    </a:schemeClr>
                  </a:solidFill>
                </a:rPr>
                <a:t>Road 1</a:t>
              </a:r>
              <a:endParaRPr lang="en-US" dirty="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E348324-07E0-D940-BDA1-B4CCC383629B}"/>
                </a:ext>
              </a:extLst>
            </p:cNvPr>
            <p:cNvSpPr/>
            <p:nvPr/>
          </p:nvSpPr>
          <p:spPr>
            <a:xfrm>
              <a:off x="3617910" y="6969735"/>
              <a:ext cx="106471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4">
                      <a:lumMod val="75000"/>
                      <a:lumOff val="25000"/>
                    </a:schemeClr>
                  </a:solidFill>
                </a:rPr>
                <a:t>Road 2</a:t>
              </a:r>
              <a:endParaRPr lang="en-US" dirty="0"/>
            </a:p>
          </p:txBody>
        </p: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084A61A-3EEC-0B43-801C-67402FC28A0C}"/>
              </a:ext>
            </a:extLst>
          </p:cNvPr>
          <p:cNvSpPr/>
          <p:nvPr/>
        </p:nvSpPr>
        <p:spPr bwMode="auto">
          <a:xfrm>
            <a:off x="0" y="3935478"/>
            <a:ext cx="9419431" cy="333285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8" grpId="0"/>
      <p:bldP spid="103" grpId="0"/>
      <p:bldP spid="10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08C40F7-9281-8A43-9285-1E68E97E87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7B85D8F9-2B91-ED47-B4F1-78197046B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altLang="en-US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E153C3C-1718-7747-AED1-F46255C2D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State-of-the-art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>
                <a:solidFill>
                  <a:schemeClr val="bg2">
                    <a:lumMod val="75000"/>
                  </a:schemeClr>
                </a:solidFill>
              </a:rPr>
              <a:t>Our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en-US" sz="2800" dirty="0"/>
              <a:t>Experimental Results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EDCCF1-26F3-3745-ABF2-57394BB98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18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026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Workloads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EF9655D-A460-C64E-BB4D-071CDC0CC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19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7BA55-BDA1-E441-BD64-A0FC88260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Four applications: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/>
              <a:t>Grep Sum (GS); Streaming Ledger (SL); Online Bidding (OB); Toll Processing (TP).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Diverse characteristics: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/>
              <a:t>Varying compute/state access ratio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/>
              <a:t>Varying state transaction types: read-only, write-only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/>
              <a:t>Varying data dependencies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/>
              <a:t>Varying multi-partition transactions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993A7-81D6-4544-ABDF-4F0DEEF19E17}"/>
              </a:ext>
            </a:extLst>
          </p:cNvPr>
          <p:cNvSpPr/>
          <p:nvPr/>
        </p:nvSpPr>
        <p:spPr>
          <a:xfrm>
            <a:off x="1113630" y="6144478"/>
            <a:ext cx="64008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>
                <a:latin typeface="NimbusRomNo9L"/>
              </a:rPr>
              <a:t>Experiments conducted on a 4-socket Intel Xeon E7- 4820 server with 128 GB DRAM.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01864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AE87-E59D-B844-A337-07E6B441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Performance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E23325-ADA0-6B4A-9E6D-3F5BFCCE6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0400" y="2184559"/>
            <a:ext cx="6469599" cy="48355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3E596B-F239-524A-BB66-6E097749FA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4450A-AF40-7144-A5FF-E6FD40FBECF9}"/>
              </a:ext>
            </a:extLst>
          </p:cNvPr>
          <p:cNvSpPr txBox="1"/>
          <p:nvPr/>
        </p:nvSpPr>
        <p:spPr>
          <a:xfrm>
            <a:off x="6739999" y="2181225"/>
            <a:ext cx="32351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) In general, TStream performs well at large core counts.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(ii) TStream performs slightly better when data dependency is heavily presented (SL).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(iii) Large room for further improvement.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113AD9-6179-894D-A961-5558A280B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20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8A4C81-2E6A-CF40-A23F-3E132FC0F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031" y="2731294"/>
            <a:ext cx="562404" cy="552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58BC84-620B-5D45-8786-1A0E5F7DC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64" y="5093494"/>
            <a:ext cx="562404" cy="552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9839F1-D01D-F747-A838-48A6C8CC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631" y="5093494"/>
            <a:ext cx="562404" cy="552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9BDB97-6A36-4E4B-8350-A63BE46A1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008" y="2619317"/>
            <a:ext cx="635794" cy="635794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3C48078-7CA5-654A-BFE0-E9F68448395D}"/>
              </a:ext>
            </a:extLst>
          </p:cNvPr>
          <p:cNvSpPr/>
          <p:nvPr/>
        </p:nvSpPr>
        <p:spPr bwMode="auto">
          <a:xfrm>
            <a:off x="732631" y="2181225"/>
            <a:ext cx="1219200" cy="321469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40439A-53B5-0C4C-A22A-372EE9208446}"/>
              </a:ext>
            </a:extLst>
          </p:cNvPr>
          <p:cNvCxnSpPr/>
          <p:nvPr/>
        </p:nvCxnSpPr>
        <p:spPr bwMode="auto">
          <a:xfrm>
            <a:off x="1951831" y="2552431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E33885-DD4F-E847-8B09-A1F681CD15A7}"/>
              </a:ext>
            </a:extLst>
          </p:cNvPr>
          <p:cNvCxnSpPr/>
          <p:nvPr/>
        </p:nvCxnSpPr>
        <p:spPr bwMode="auto">
          <a:xfrm>
            <a:off x="2968474" y="2562923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830834-5B43-7C46-9252-A44A63203FEB}"/>
              </a:ext>
            </a:extLst>
          </p:cNvPr>
          <p:cNvCxnSpPr/>
          <p:nvPr/>
        </p:nvCxnSpPr>
        <p:spPr bwMode="auto">
          <a:xfrm>
            <a:off x="3933031" y="2552431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8C7B4F-3E77-714F-961B-ADFA946D873B}"/>
              </a:ext>
            </a:extLst>
          </p:cNvPr>
          <p:cNvCxnSpPr/>
          <p:nvPr/>
        </p:nvCxnSpPr>
        <p:spPr bwMode="auto">
          <a:xfrm>
            <a:off x="842875" y="2552431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2376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0" dirty="0"/>
              <a:t>[Key Designs] 1) dual-mode scheduling, 2) transaction restructuring</a:t>
            </a:r>
            <a:endParaRPr lang="en-US" sz="28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b="0" dirty="0"/>
              <a:t>[Results] TStream performs constantly better than prior solutions under varying workloads.</a:t>
            </a:r>
            <a:r>
              <a:rPr lang="en-SG" sz="3600" b="0" dirty="0"/>
              <a:t>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CD6AEA-A251-C740-B725-93C95A875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21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48BC8-ABDB-5148-A7E4-DC11F94F6E12}"/>
              </a:ext>
            </a:extLst>
          </p:cNvPr>
          <p:cNvSpPr/>
          <p:nvPr/>
        </p:nvSpPr>
        <p:spPr>
          <a:xfrm>
            <a:off x="912813" y="6450955"/>
            <a:ext cx="85066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i="1" dirty="0">
                <a:solidFill>
                  <a:srgbClr val="0070C0"/>
                </a:solidFill>
                <a:latin typeface="Helvetica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https://github.com/Xtra-Computing/briskstream/tree/TStream</a:t>
            </a:r>
            <a:endParaRPr lang="en-SG" i="1" dirty="0">
              <a:solidFill>
                <a:srgbClr val="0070C0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8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01D2B73C-ED0B-7E45-8F75-D43DD6E03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22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62A294-0279-824B-9C96-73DE09CC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914400"/>
            <a:ext cx="7237412" cy="1266825"/>
          </a:xfrm>
        </p:spPr>
        <p:txBody>
          <a:bodyPr/>
          <a:lstStyle/>
          <a:p>
            <a:r>
              <a:rPr lang="en-US" altLang="zh-CN" dirty="0"/>
              <a:t>Current Work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B68367-40EE-454A-99DE-6B478F869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131" y="2259518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3D94DF9-6114-CB4F-B5E1-5EB8C9779E0B}"/>
              </a:ext>
            </a:extLst>
          </p:cNvPr>
          <p:cNvSpPr/>
          <p:nvPr/>
        </p:nvSpPr>
        <p:spPr>
          <a:xfrm>
            <a:off x="1342231" y="4966223"/>
            <a:ext cx="35210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14413">
              <a:spcBef>
                <a:spcPct val="20000"/>
              </a:spcBef>
            </a:pPr>
            <a:r>
              <a:rPr lang="en-SG" sz="2000" dirty="0">
                <a:solidFill>
                  <a:srgbClr val="003399"/>
                </a:solidFill>
                <a:latin typeface="Helvetica" pitchFamily="2" charset="0"/>
              </a:rPr>
              <a:t>Next Generation IoT Data Management Platform </a:t>
            </a:r>
          </a:p>
          <a:p>
            <a:pPr defTabSz="1014413">
              <a:spcBef>
                <a:spcPct val="20000"/>
              </a:spcBef>
            </a:pPr>
            <a:r>
              <a:rPr lang="en-SG" sz="2000" dirty="0">
                <a:solidFill>
                  <a:srgbClr val="003399"/>
                </a:solidFill>
                <a:latin typeface="Helvetica" pitchFamily="2" charset="0"/>
              </a:rPr>
              <a:t>(lead by Prof. Volker </a:t>
            </a:r>
            <a:r>
              <a:rPr lang="en-SG" sz="2000" dirty="0" err="1">
                <a:solidFill>
                  <a:srgbClr val="003399"/>
                </a:solidFill>
                <a:latin typeface="Helvetica" pitchFamily="2" charset="0"/>
              </a:rPr>
              <a:t>Markl</a:t>
            </a:r>
            <a:r>
              <a:rPr lang="en-SG" sz="2000" dirty="0">
                <a:solidFill>
                  <a:srgbClr val="003399"/>
                </a:solidFill>
                <a:latin typeface="Helvetica" pitchFamily="2" charset="0"/>
              </a:rPr>
              <a:t>) 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CF5E13F-1DC2-F249-9577-8D2B0E77F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131" y="2551618"/>
            <a:ext cx="20828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12F116E-55A2-674D-88C1-DAC561E9E3DC}"/>
              </a:ext>
            </a:extLst>
          </p:cNvPr>
          <p:cNvSpPr/>
          <p:nvPr/>
        </p:nvSpPr>
        <p:spPr>
          <a:xfrm>
            <a:off x="6142831" y="4926518"/>
            <a:ext cx="2819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SG" sz="2000" dirty="0">
                <a:solidFill>
                  <a:srgbClr val="003399"/>
                </a:solidFill>
                <a:latin typeface="Helvetica" pitchFamily="2" charset="0"/>
              </a:rPr>
              <a:t>visit us @ </a:t>
            </a:r>
            <a:r>
              <a:rPr lang="en-SG" b="1" u="sng" dirty="0">
                <a:solidFill>
                  <a:srgbClr val="0000FF"/>
                </a:solidFill>
                <a:latin typeface="Calibri" panose="020F0502020204030204" pitchFamily="34" charset="0"/>
                <a:hlinkClick r:id="rId5"/>
              </a:rPr>
              <a:t>www.nebula.stream</a:t>
            </a:r>
            <a:endParaRPr lang="en-SG" dirty="0">
              <a:solidFill>
                <a:srgbClr val="000000"/>
              </a:solidFill>
            </a:endParaRPr>
          </a:p>
          <a:p>
            <a:br>
              <a:rPr lang="en-SG" dirty="0"/>
            </a:br>
            <a:br>
              <a:rPr lang="en-SG" dirty="0"/>
            </a:b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40A3EE-464E-CD4C-8057-79E7B11E9C53}"/>
              </a:ext>
            </a:extLst>
          </p:cNvPr>
          <p:cNvSpPr/>
          <p:nvPr/>
        </p:nvSpPr>
        <p:spPr>
          <a:xfrm>
            <a:off x="3407144" y="6228984"/>
            <a:ext cx="3337773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solidFill>
                  <a:srgbClr val="003399"/>
                </a:solidFill>
                <a:latin typeface="Helvetica" pitchFamily="2" charset="0"/>
              </a:rPr>
              <a:t>Thank you!</a:t>
            </a:r>
          </a:p>
          <a:p>
            <a:r>
              <a:rPr lang="en-US" sz="2000" dirty="0" err="1">
                <a:solidFill>
                  <a:srgbClr val="003399"/>
                </a:solidFill>
                <a:latin typeface="Helvetica" pitchFamily="2" charset="0"/>
              </a:rPr>
              <a:t>shuhao.zhang@tu-berlin.de</a:t>
            </a:r>
            <a:endParaRPr lang="en-GB" sz="2000" dirty="0">
              <a:solidFill>
                <a:srgbClr val="003399"/>
              </a:solidFill>
              <a:latin typeface="Helvetica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C171AA-38D9-B449-A95A-2F0AD637293D}"/>
              </a:ext>
            </a:extLst>
          </p:cNvPr>
          <p:cNvSpPr/>
          <p:nvPr/>
        </p:nvSpPr>
        <p:spPr>
          <a:xfrm>
            <a:off x="6019419" y="5581776"/>
            <a:ext cx="30662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 err="1"/>
              <a:t>Twitter@nebulastream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502D-9A9A-8745-809F-604354B8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 Schemes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3FD22-D613-5145-A2D2-9613643E1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ea"/>
              <a:buAutoNum type="circleNumDbPlain"/>
            </a:pPr>
            <a:r>
              <a:rPr lang="en-US" sz="3200" b="0" dirty="0"/>
              <a:t>Ordering-lock-based approach (LOCK).</a:t>
            </a:r>
          </a:p>
          <a:p>
            <a:pPr marL="514350" indent="-514350">
              <a:buFont typeface="+mj-ea"/>
              <a:buAutoNum type="circleNumDbPlain"/>
            </a:pPr>
            <a:r>
              <a:rPr lang="en-US" sz="3200" b="0" dirty="0"/>
              <a:t>Multi-versioning-based approach (MVLK).</a:t>
            </a:r>
          </a:p>
          <a:p>
            <a:pPr marL="514350" indent="-514350">
              <a:buFont typeface="+mj-ea"/>
              <a:buAutoNum type="circleNumDbPlain"/>
            </a:pPr>
            <a:r>
              <a:rPr lang="en-US" sz="3200" b="0" dirty="0"/>
              <a:t>Static-partition-based approach (PAT).</a:t>
            </a:r>
          </a:p>
          <a:p>
            <a:pPr marL="889000" lvl="1" indent="-514350">
              <a:buFont typeface="Arial" panose="020B0604020202020204" pitchFamily="34" charset="0"/>
              <a:buChar char="•"/>
            </a:pPr>
            <a:r>
              <a:rPr lang="en-US" sz="3200" dirty="0"/>
              <a:t>S-Store</a:t>
            </a:r>
          </a:p>
          <a:p>
            <a:pPr marL="514350" indent="-514350">
              <a:buFont typeface="+mj-lt"/>
              <a:buAutoNum type="circleNumDbPlain"/>
            </a:pPr>
            <a:r>
              <a:rPr lang="en-US" sz="3200" b="0" dirty="0">
                <a:solidFill>
                  <a:schemeClr val="bg2">
                    <a:lumMod val="75000"/>
                  </a:schemeClr>
                </a:solidFill>
              </a:rPr>
              <a:t>No Consistency Guarantee (No-Lock).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Remove locks from LOCK scheme.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Represent the performance upper bound.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54275-9624-2846-94F4-9FDCC28BA8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714468-74BE-E846-9A59-ECF3163D4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23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43F7C-029B-FC43-B10A-F9160A2C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Breakdown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595EF5-5391-D74D-82EB-0464A1C24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1188" y="2181225"/>
            <a:ext cx="8732043" cy="286590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A7C31-719A-A346-9466-F90F4E9369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7F2B7-C706-5A44-9715-F77F0E7B40CA}"/>
              </a:ext>
            </a:extLst>
          </p:cNvPr>
          <p:cNvSpPr txBox="1"/>
          <p:nvPr/>
        </p:nvSpPr>
        <p:spPr>
          <a:xfrm>
            <a:off x="611188" y="5047126"/>
            <a:ext cx="87320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(a) No-Lock scheme spends more than 60% in others mainly due to </a:t>
            </a:r>
            <a:r>
              <a:rPr lang="en-US" dirty="0">
                <a:solidFill>
                  <a:srgbClr val="FF0000"/>
                </a:solidFill>
              </a:rPr>
              <a:t>index look up</a:t>
            </a:r>
            <a:r>
              <a:rPr lang="en-US" dirty="0"/>
              <a:t>.  </a:t>
            </a:r>
          </a:p>
          <a:p>
            <a:r>
              <a:rPr lang="en-US" dirty="0">
                <a:solidFill>
                  <a:srgbClr val="002060"/>
                </a:solidFill>
              </a:rPr>
              <a:t>(b) Synchronization overhead dominates in all prior solutions regardless of NUMA effect.</a:t>
            </a:r>
          </a:p>
          <a:p>
            <a:r>
              <a:rPr lang="en-US" dirty="0">
                <a:solidFill>
                  <a:srgbClr val="002060"/>
                </a:solidFill>
              </a:rPr>
              <a:t>(c) TStream involves high RMA overhead.</a:t>
            </a:r>
            <a:r>
              <a:rPr lang="zh-CN" altLang="en-US" dirty="0">
                <a:solidFill>
                  <a:srgbClr val="002060"/>
                </a:solidFill>
              </a:rPr>
              <a:t> 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en-US" altLang="zh-CN" dirty="0">
                <a:solidFill>
                  <a:srgbClr val="002060"/>
                </a:solidFill>
              </a:rPr>
              <a:t>	</a:t>
            </a:r>
            <a:r>
              <a:rPr lang="en-US" altLang="zh-CN" dirty="0">
                <a:solidFill>
                  <a:srgbClr val="FF0000"/>
                </a:solidFill>
              </a:rPr>
              <a:t>NUMA-aware optimization detailed in our paper.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56A199-777E-284F-850B-75434A8FF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24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C1EC5B-4216-5F41-AEED-8F2A0EC5CE96}"/>
              </a:ext>
            </a:extLst>
          </p:cNvPr>
          <p:cNvCxnSpPr/>
          <p:nvPr/>
        </p:nvCxnSpPr>
        <p:spPr bwMode="auto">
          <a:xfrm>
            <a:off x="6523831" y="2578894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2EA0F2-BCDA-1D43-8D17-79EC77050F25}"/>
              </a:ext>
            </a:extLst>
          </p:cNvPr>
          <p:cNvCxnSpPr/>
          <p:nvPr/>
        </p:nvCxnSpPr>
        <p:spPr bwMode="auto">
          <a:xfrm>
            <a:off x="5380831" y="2578894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C8166B-797A-B54F-BF73-1745AE12C88E}"/>
              </a:ext>
            </a:extLst>
          </p:cNvPr>
          <p:cNvCxnSpPr/>
          <p:nvPr/>
        </p:nvCxnSpPr>
        <p:spPr bwMode="auto">
          <a:xfrm>
            <a:off x="3323431" y="2578894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F0D1FF-4CAC-D141-AB0F-DD151DBF8950}"/>
              </a:ext>
            </a:extLst>
          </p:cNvPr>
          <p:cNvCxnSpPr/>
          <p:nvPr/>
        </p:nvCxnSpPr>
        <p:spPr bwMode="auto">
          <a:xfrm>
            <a:off x="4314031" y="2578894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454F3B-DC88-3840-96CE-E51F0FBDE5B2}"/>
              </a:ext>
            </a:extLst>
          </p:cNvPr>
          <p:cNvCxnSpPr/>
          <p:nvPr/>
        </p:nvCxnSpPr>
        <p:spPr bwMode="auto">
          <a:xfrm>
            <a:off x="2180431" y="2566988"/>
            <a:ext cx="914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0570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7F11-CA7E-E544-9DE0-98972476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free lunch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C9A55-AC85-344C-A654-189064CA10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F512F2-F03D-E64D-BBC8-D67D642A3DA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11188" y="2193925"/>
            <a:ext cx="8628062" cy="2306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Currently, TStream has its drawback on efficiently handling transaction abort. </a:t>
            </a:r>
          </a:p>
          <a:p>
            <a:pPr marL="831850" lvl="1" indent="-457200">
              <a:buFont typeface="Arial" panose="020B0604020202020204" pitchFamily="34" charset="0"/>
              <a:buChar char="•"/>
            </a:pPr>
            <a:r>
              <a:rPr lang="en-US" sz="3600" dirty="0"/>
              <a:t>E.g., one that leaves the average speed of a road to become negative.</a:t>
            </a:r>
            <a:endParaRPr lang="en-US" sz="3300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28B566EA-A4F7-6C45-A552-FC59D8676E63}"/>
              </a:ext>
            </a:extLst>
          </p:cNvPr>
          <p:cNvSpPr txBox="1">
            <a:spLocks/>
          </p:cNvSpPr>
          <p:nvPr/>
        </p:nvSpPr>
        <p:spPr bwMode="auto">
          <a:xfrm>
            <a:off x="2676525" y="6509941"/>
            <a:ext cx="4497388" cy="760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l" defTabSz="1014413" rtl="0" fontAlgn="base">
              <a:spcBef>
                <a:spcPct val="20000"/>
              </a:spcBef>
              <a:spcAft>
                <a:spcPct val="0"/>
              </a:spcAft>
              <a:defRPr sz="25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74650" indent="6350" algn="l" defTabSz="1014413" rtl="0" fontAlgn="base">
              <a:spcBef>
                <a:spcPct val="20000"/>
              </a:spcBef>
              <a:spcAft>
                <a:spcPct val="0"/>
              </a:spcAft>
              <a:defRPr sz="2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2pPr>
            <a:lvl3pPr marL="755650" algn="l" defTabSz="1014413" rtl="0" fontAlgn="base">
              <a:spcBef>
                <a:spcPct val="20000"/>
              </a:spcBef>
              <a:spcAft>
                <a:spcPct val="0"/>
              </a:spcAft>
              <a:defRPr sz="2200" b="1" kern="1200">
                <a:solidFill>
                  <a:srgbClr val="FF6600"/>
                </a:solidFill>
                <a:latin typeface="+mn-lt"/>
                <a:ea typeface="+mn-ea"/>
                <a:cs typeface="+mn-cs"/>
              </a:defRPr>
            </a:lvl3pPr>
            <a:lvl4pPr marL="1143000" indent="6350" algn="l" defTabSz="1014413" rtl="0" fontAlgn="base">
              <a:spcBef>
                <a:spcPct val="20000"/>
              </a:spcBef>
              <a:spcAft>
                <a:spcPct val="0"/>
              </a:spcAft>
              <a:defRPr sz="2200" i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4pPr>
            <a:lvl5pPr marL="1524000" algn="l" defTabSz="1014413" rtl="0" fontAlgn="base"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SG" sz="3200" b="0" i="1" dirty="0">
                <a:solidFill>
                  <a:srgbClr val="FF0000"/>
                </a:solidFill>
              </a:rPr>
              <a:t>Stay tuned for future work</a:t>
            </a:r>
            <a:endParaRPr lang="en-SG" sz="3200" b="0" i="1" dirty="0">
              <a:solidFill>
                <a:schemeClr val="accent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9E9D11-ACE9-FC48-9916-F0B458103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1014413" rtl="0" eaLnBrk="0" fontAlgn="base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3399"/>
                </a:solidFill>
                <a:latin typeface="Times" pitchFamily="2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pitchFamily="2" charset="0"/>
                <a:ea typeface="+mn-ea"/>
                <a:cs typeface="+mn-cs"/>
              </a:defRPr>
            </a:lvl9pPr>
          </a:lstStyle>
          <a:p>
            <a:fld id="{449B3359-DFE4-E44C-A902-F69E8F948C1D}" type="slidenum">
              <a:rPr lang="en-GB" altLang="en-US" smtClean="0"/>
              <a:pPr/>
              <a:t>25</a:t>
            </a:fld>
            <a:endParaRPr lang="en-GB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92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2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141414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27919</TotalTime>
  <Words>2892</Words>
  <Application>Microsoft Macintosh PowerPoint</Application>
  <PresentationFormat>Custom</PresentationFormat>
  <Paragraphs>372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-apple-system</vt:lpstr>
      <vt:lpstr>NimbusRomNo9L</vt:lpstr>
      <vt:lpstr>Arial</vt:lpstr>
      <vt:lpstr>Calibri</vt:lpstr>
      <vt:lpstr>Cambria Math</vt:lpstr>
      <vt:lpstr>Helvetica</vt:lpstr>
      <vt:lpstr>Times</vt:lpstr>
      <vt:lpstr>Times New Roman</vt:lpstr>
      <vt:lpstr>Wingdings</vt:lpstr>
      <vt:lpstr>Blank</vt:lpstr>
      <vt:lpstr>PowerPoint Presentation</vt:lpstr>
      <vt:lpstr>Data Stream Processing Systems</vt:lpstr>
      <vt:lpstr>Outline</vt:lpstr>
      <vt:lpstr>Motivation Example</vt:lpstr>
      <vt:lpstr>The Current Common System Design</vt:lpstr>
      <vt:lpstr>Key-based Stream Partition</vt:lpstr>
      <vt:lpstr>Lock-based State Sharing </vt:lpstr>
      <vt:lpstr>Access Ordering</vt:lpstr>
      <vt:lpstr>Access Ordering</vt:lpstr>
      <vt:lpstr>Outline</vt:lpstr>
      <vt:lpstr>Consistent Stateful Stream Processing</vt:lpstr>
      <vt:lpstr>Existing Solutions Revisited </vt:lpstr>
      <vt:lpstr>Outline</vt:lpstr>
      <vt:lpstr>Design Overview</vt:lpstr>
      <vt:lpstr>Design1) Dual-Mode Scheduling</vt:lpstr>
      <vt:lpstr>Design 1) Dual-Mode Scheduling</vt:lpstr>
      <vt:lpstr>Design 2) Dynamic Restructuring Execution </vt:lpstr>
      <vt:lpstr>Outline</vt:lpstr>
      <vt:lpstr>Benchmark Workloads</vt:lpstr>
      <vt:lpstr>Overall Performance Comparison</vt:lpstr>
      <vt:lpstr>Recap</vt:lpstr>
      <vt:lpstr>Current Work</vt:lpstr>
      <vt:lpstr>Competitor Schemes</vt:lpstr>
      <vt:lpstr>Runtime Breakdown</vt:lpstr>
      <vt:lpstr>No free lunch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PowerPoint presentation template</dc:subject>
  <dc:creator>PowerPC</dc:creator>
  <cp:keywords>PowerPoint presentation template; ppt presentation template</cp:keywords>
  <cp:lastModifiedBy>Zhang Shuhao</cp:lastModifiedBy>
  <cp:revision>724</cp:revision>
  <cp:lastPrinted>2002-11-20T02:08:40Z</cp:lastPrinted>
  <dcterms:created xsi:type="dcterms:W3CDTF">2001-10-04T11:39:11Z</dcterms:created>
  <dcterms:modified xsi:type="dcterms:W3CDTF">2020-06-19T14:44:18Z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1002903848</vt:i4>
  </property>
  <property fmtid="{D5CDD505-2E9C-101B-9397-08002B2CF9AE}" pid="3" name="_EmailSubject">
    <vt:lpwstr>Corporate Identity - Powerpoint Template</vt:lpwstr>
  </property>
  <property fmtid="{D5CDD505-2E9C-101B-9397-08002B2CF9AE}" pid="4" name="_AuthorEmail">
    <vt:lpwstr>ocrseahm@nus.edu.sg</vt:lpwstr>
  </property>
  <property fmtid="{D5CDD505-2E9C-101B-9397-08002B2CF9AE}" pid="5" name="_AuthorEmailDisplayName">
    <vt:lpwstr>Matthew Seah</vt:lpwstr>
  </property>
</Properties>
</file>