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60" r:id="rId2"/>
    <p:sldId id="261" r:id="rId3"/>
    <p:sldId id="262" r:id="rId4"/>
    <p:sldId id="265" r:id="rId5"/>
    <p:sldId id="280" r:id="rId6"/>
    <p:sldId id="281" r:id="rId7"/>
    <p:sldId id="283" r:id="rId8"/>
    <p:sldId id="284" r:id="rId9"/>
    <p:sldId id="282" r:id="rId10"/>
    <p:sldId id="266" r:id="rId11"/>
    <p:sldId id="285" r:id="rId12"/>
    <p:sldId id="267" r:id="rId13"/>
    <p:sldId id="256" r:id="rId14"/>
    <p:sldId id="257" r:id="rId15"/>
    <p:sldId id="258" r:id="rId16"/>
    <p:sldId id="269" r:id="rId17"/>
    <p:sldId id="272" r:id="rId18"/>
    <p:sldId id="273" r:id="rId19"/>
    <p:sldId id="274" r:id="rId20"/>
    <p:sldId id="270" r:id="rId21"/>
    <p:sldId id="275" r:id="rId22"/>
    <p:sldId id="276" r:id="rId23"/>
    <p:sldId id="277" r:id="rId24"/>
    <p:sldId id="259" r:id="rId25"/>
    <p:sldId id="26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4" d="100"/>
          <a:sy n="84" d="100"/>
        </p:scale>
        <p:origin x="90"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25B2A-5794-4958-AB0A-2DAF5C4CCA2B}" type="datetimeFigureOut">
              <a:rPr lang="en-ZA" smtClean="0"/>
              <a:t>2017/03/27</a:t>
            </a:fld>
            <a:endParaRPr lang="en-Z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6C6FD7-27F5-4C15-AC98-DA981EFA8700}" type="slidenum">
              <a:rPr lang="en-ZA" smtClean="0"/>
              <a:t>‹N°›</a:t>
            </a:fld>
            <a:endParaRPr lang="en-ZA"/>
          </a:p>
        </p:txBody>
      </p:sp>
    </p:spTree>
    <p:extLst>
      <p:ext uri="{BB962C8B-B14F-4D97-AF65-F5344CB8AC3E}">
        <p14:creationId xmlns:p14="http://schemas.microsoft.com/office/powerpoint/2010/main" val="1058475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Thus, it motivates us to develop a declarative optimization engine. Particularly, we have developed a declarative programming language extended from Prolog.  </a:t>
            </a:r>
            <a:r>
              <a:rPr lang="en-US" baseline="0" dirty="0" err="1" smtClean="0"/>
              <a:t>Wlog</a:t>
            </a:r>
            <a:r>
              <a:rPr lang="en-US" baseline="0" dirty="0" smtClean="0"/>
              <a:t> has the following three features. First, we have developed a probabilistic notions for performance/cost to capture cloud dynamics. Rather than predicting the actual value, we model the performance (for example, network bandwidth) as a distribution. Thus, we use the distribution to perform the performance/cost optimization.</a:t>
            </a:r>
          </a:p>
          <a:p>
            <a:r>
              <a:rPr lang="en-US" baseline="0" dirty="0" smtClean="0"/>
              <a:t>The second extension is to allow users to specify the goals, constraints and optimization variables.</a:t>
            </a:r>
          </a:p>
          <a:p>
            <a:r>
              <a:rPr lang="en-US" baseline="0" dirty="0" smtClean="0"/>
              <a:t>Lastly, we offer workflow and cloud-specific facts for import into the system.</a:t>
            </a:r>
          </a:p>
          <a:p>
            <a:endParaRPr lang="en-US" baseline="0" dirty="0" smtClean="0"/>
          </a:p>
          <a:p>
            <a:r>
              <a:rPr lang="en-US" baseline="0" dirty="0" smtClean="0"/>
              <a:t>The optimization space is large when considering all VM types and probabilistic calculations. We tame the large search space issue in two techniques. First, we formulate the search problem as an A*search strategy to prune the unnecessary solution space.  Second, we use GPU accelerations to reduce the overhead. </a:t>
            </a:r>
          </a:p>
          <a:p>
            <a:endParaRPr lang="en-US" baseline="0" dirty="0" smtClean="0"/>
          </a:p>
          <a:p>
            <a:r>
              <a:rPr lang="en-US" sz="1200" dirty="0" smtClean="0">
                <a:solidFill>
                  <a:schemeClr val="tx1"/>
                </a:solidFill>
              </a:rPr>
              <a:t>as a user-defined scheduler</a:t>
            </a:r>
            <a:endParaRPr lang="en-US" dirty="0"/>
          </a:p>
        </p:txBody>
      </p:sp>
      <p:sp>
        <p:nvSpPr>
          <p:cNvPr id="4" name="Slide Number Placeholder 3"/>
          <p:cNvSpPr>
            <a:spLocks noGrp="1"/>
          </p:cNvSpPr>
          <p:nvPr>
            <p:ph type="sldNum" sz="quarter" idx="10"/>
          </p:nvPr>
        </p:nvSpPr>
        <p:spPr/>
        <p:txBody>
          <a:bodyPr/>
          <a:lstStyle/>
          <a:p>
            <a:fld id="{DE1CBB54-35F6-45AB-9F89-63230646EA67}" type="slidenum">
              <a:rPr lang="en-SG" smtClean="0"/>
              <a:t>8</a:t>
            </a:fld>
            <a:endParaRPr lang="en-SG"/>
          </a:p>
        </p:txBody>
      </p:sp>
    </p:spTree>
    <p:extLst>
      <p:ext uri="{BB962C8B-B14F-4D97-AF65-F5344CB8AC3E}">
        <p14:creationId xmlns:p14="http://schemas.microsoft.com/office/powerpoint/2010/main" val="1242569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Thus, it motivates us to develop a declarative optimization engine. Particularly, we have developed a declarative programming language extended from Prolog.  </a:t>
            </a:r>
            <a:r>
              <a:rPr lang="en-US" baseline="0" dirty="0" err="1" smtClean="0"/>
              <a:t>Wlog</a:t>
            </a:r>
            <a:r>
              <a:rPr lang="en-US" baseline="0" dirty="0" smtClean="0"/>
              <a:t> has the following three features. First, we have developed a probabilistic notions for performance/cost to capture cloud dynamics. Rather than predicting the actual value, we model the performance (for example, network bandwidth) as a distribution. Thus, we use the distribution to perform the performance/cost optimization.</a:t>
            </a:r>
          </a:p>
          <a:p>
            <a:r>
              <a:rPr lang="en-US" baseline="0" dirty="0" smtClean="0"/>
              <a:t>The second extension is to allow users to specify the goals, constraints and optimization variables.</a:t>
            </a:r>
          </a:p>
          <a:p>
            <a:r>
              <a:rPr lang="en-US" baseline="0" dirty="0" smtClean="0"/>
              <a:t>Lastly, we offer workflow and cloud-specific facts for import into the system.</a:t>
            </a:r>
          </a:p>
          <a:p>
            <a:endParaRPr lang="en-US" baseline="0" dirty="0" smtClean="0"/>
          </a:p>
          <a:p>
            <a:r>
              <a:rPr lang="en-US" baseline="0" dirty="0" smtClean="0"/>
              <a:t>The optimization space is large when considering all VM types and probabilistic calculations. We tame the large search space issue in two techniques. First, we formulate the search problem as an A*search strategy to prune the unnecessary solution space.  Second, we use GPU accelerations to reduce the overhead. </a:t>
            </a:r>
          </a:p>
          <a:p>
            <a:endParaRPr lang="en-US" baseline="0" dirty="0" smtClean="0"/>
          </a:p>
          <a:p>
            <a:r>
              <a:rPr lang="en-US" sz="1200" dirty="0" smtClean="0">
                <a:solidFill>
                  <a:schemeClr val="tx1"/>
                </a:solidFill>
              </a:rPr>
              <a:t>as a user-defined scheduler</a:t>
            </a:r>
            <a:endParaRPr lang="en-US" dirty="0"/>
          </a:p>
        </p:txBody>
      </p:sp>
      <p:sp>
        <p:nvSpPr>
          <p:cNvPr id="4" name="Slide Number Placeholder 3"/>
          <p:cNvSpPr>
            <a:spLocks noGrp="1"/>
          </p:cNvSpPr>
          <p:nvPr>
            <p:ph type="sldNum" sz="quarter" idx="10"/>
          </p:nvPr>
        </p:nvSpPr>
        <p:spPr/>
        <p:txBody>
          <a:bodyPr/>
          <a:lstStyle/>
          <a:p>
            <a:fld id="{DE1CBB54-35F6-45AB-9F89-63230646EA67}" type="slidenum">
              <a:rPr lang="en-SG" smtClean="0"/>
              <a:t>9</a:t>
            </a:fld>
            <a:endParaRPr lang="en-SG"/>
          </a:p>
        </p:txBody>
      </p:sp>
    </p:spTree>
    <p:extLst>
      <p:ext uri="{BB962C8B-B14F-4D97-AF65-F5344CB8AC3E}">
        <p14:creationId xmlns:p14="http://schemas.microsoft.com/office/powerpoint/2010/main" val="3841418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en-Z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ZA"/>
          </a:p>
        </p:txBody>
      </p:sp>
      <p:sp>
        <p:nvSpPr>
          <p:cNvPr id="4" name="Espace réservé de la date 3"/>
          <p:cNvSpPr>
            <a:spLocks noGrp="1"/>
          </p:cNvSpPr>
          <p:nvPr>
            <p:ph type="dt" sz="half" idx="10"/>
          </p:nvPr>
        </p:nvSpPr>
        <p:spPr/>
        <p:txBody>
          <a:bodyPr/>
          <a:lstStyle/>
          <a:p>
            <a:fld id="{FD8FA62B-61EE-40F8-9B20-A16959C61AD3}" type="datetime1">
              <a:rPr lang="en-ZA" smtClean="0"/>
              <a:t>2017/03/27</a:t>
            </a:fld>
            <a:endParaRPr lang="en-ZA"/>
          </a:p>
        </p:txBody>
      </p:sp>
      <p:sp>
        <p:nvSpPr>
          <p:cNvPr id="5" name="Espace réservé du pied de page 4"/>
          <p:cNvSpPr>
            <a:spLocks noGrp="1"/>
          </p:cNvSpPr>
          <p:nvPr>
            <p:ph type="ftr" sz="quarter" idx="11"/>
          </p:nvPr>
        </p:nvSpPr>
        <p:spPr/>
        <p:txBody>
          <a:bodyPr/>
          <a:lstStyle/>
          <a:p>
            <a:endParaRPr lang="en-ZA"/>
          </a:p>
        </p:txBody>
      </p:sp>
      <p:sp>
        <p:nvSpPr>
          <p:cNvPr id="6" name="Espace réservé du numéro de diapositive 5"/>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3422963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ZA"/>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4" name="Espace réservé de la date 3"/>
          <p:cNvSpPr>
            <a:spLocks noGrp="1"/>
          </p:cNvSpPr>
          <p:nvPr>
            <p:ph type="dt" sz="half" idx="10"/>
          </p:nvPr>
        </p:nvSpPr>
        <p:spPr/>
        <p:txBody>
          <a:bodyPr/>
          <a:lstStyle/>
          <a:p>
            <a:fld id="{B1A4C9BB-67B7-4981-8650-BEED39DD4AFB}" type="datetime1">
              <a:rPr lang="en-ZA" smtClean="0"/>
              <a:t>2017/03/27</a:t>
            </a:fld>
            <a:endParaRPr lang="en-ZA"/>
          </a:p>
        </p:txBody>
      </p:sp>
      <p:sp>
        <p:nvSpPr>
          <p:cNvPr id="5" name="Espace réservé du pied de page 4"/>
          <p:cNvSpPr>
            <a:spLocks noGrp="1"/>
          </p:cNvSpPr>
          <p:nvPr>
            <p:ph type="ftr" sz="quarter" idx="11"/>
          </p:nvPr>
        </p:nvSpPr>
        <p:spPr/>
        <p:txBody>
          <a:bodyPr/>
          <a:lstStyle/>
          <a:p>
            <a:endParaRPr lang="en-ZA"/>
          </a:p>
        </p:txBody>
      </p:sp>
      <p:sp>
        <p:nvSpPr>
          <p:cNvPr id="6" name="Espace réservé du numéro de diapositive 5"/>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365153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en-Z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A91EF37D-3F18-4480-8ECD-53733054DB2C}" type="datetime1">
              <a:rPr lang="en-ZA" smtClean="0"/>
              <a:t>2017/03/27</a:t>
            </a:fld>
            <a:endParaRPr lang="en-ZA"/>
          </a:p>
        </p:txBody>
      </p:sp>
      <p:sp>
        <p:nvSpPr>
          <p:cNvPr id="5" name="Espace réservé du pied de page 4"/>
          <p:cNvSpPr>
            <a:spLocks noGrp="1"/>
          </p:cNvSpPr>
          <p:nvPr>
            <p:ph type="ftr" sz="quarter" idx="11"/>
          </p:nvPr>
        </p:nvSpPr>
        <p:spPr/>
        <p:txBody>
          <a:bodyPr/>
          <a:lstStyle/>
          <a:p>
            <a:endParaRPr lang="en-ZA"/>
          </a:p>
        </p:txBody>
      </p:sp>
      <p:sp>
        <p:nvSpPr>
          <p:cNvPr id="6" name="Espace réservé du numéro de diapositive 5"/>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4222541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ZA"/>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5" name="Espace réservé de la date 4"/>
          <p:cNvSpPr>
            <a:spLocks noGrp="1"/>
          </p:cNvSpPr>
          <p:nvPr>
            <p:ph type="dt" sz="half" idx="10"/>
          </p:nvPr>
        </p:nvSpPr>
        <p:spPr/>
        <p:txBody>
          <a:bodyPr/>
          <a:lstStyle/>
          <a:p>
            <a:fld id="{279B1EF6-EEC4-4FAC-B622-993AC7ABFB18}" type="datetime1">
              <a:rPr lang="en-ZA" smtClean="0"/>
              <a:t>2017/03/27</a:t>
            </a:fld>
            <a:endParaRPr lang="en-ZA"/>
          </a:p>
        </p:txBody>
      </p:sp>
      <p:sp>
        <p:nvSpPr>
          <p:cNvPr id="6" name="Espace réservé du pied de page 5"/>
          <p:cNvSpPr>
            <a:spLocks noGrp="1"/>
          </p:cNvSpPr>
          <p:nvPr>
            <p:ph type="ftr" sz="quarter" idx="11"/>
          </p:nvPr>
        </p:nvSpPr>
        <p:spPr/>
        <p:txBody>
          <a:bodyPr/>
          <a:lstStyle/>
          <a:p>
            <a:endParaRPr lang="en-ZA"/>
          </a:p>
        </p:txBody>
      </p:sp>
      <p:sp>
        <p:nvSpPr>
          <p:cNvPr id="7" name="Espace réservé du numéro de diapositive 6"/>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1952984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en-Z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7" name="Espace réservé de la date 6"/>
          <p:cNvSpPr>
            <a:spLocks noGrp="1"/>
          </p:cNvSpPr>
          <p:nvPr>
            <p:ph type="dt" sz="half" idx="10"/>
          </p:nvPr>
        </p:nvSpPr>
        <p:spPr/>
        <p:txBody>
          <a:bodyPr/>
          <a:lstStyle/>
          <a:p>
            <a:fld id="{1CA05E14-98B0-4EA4-920F-D0C1703629B6}" type="datetime1">
              <a:rPr lang="en-ZA" smtClean="0"/>
              <a:t>2017/03/27</a:t>
            </a:fld>
            <a:endParaRPr lang="en-ZA"/>
          </a:p>
        </p:txBody>
      </p:sp>
      <p:sp>
        <p:nvSpPr>
          <p:cNvPr id="8" name="Espace réservé du pied de page 7"/>
          <p:cNvSpPr>
            <a:spLocks noGrp="1"/>
          </p:cNvSpPr>
          <p:nvPr>
            <p:ph type="ftr" sz="quarter" idx="11"/>
          </p:nvPr>
        </p:nvSpPr>
        <p:spPr/>
        <p:txBody>
          <a:bodyPr/>
          <a:lstStyle/>
          <a:p>
            <a:endParaRPr lang="en-ZA"/>
          </a:p>
        </p:txBody>
      </p:sp>
      <p:sp>
        <p:nvSpPr>
          <p:cNvPr id="9" name="Espace réservé du numéro de diapositive 8"/>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2729430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ZA"/>
          </a:p>
        </p:txBody>
      </p:sp>
      <p:sp>
        <p:nvSpPr>
          <p:cNvPr id="3" name="Espace réservé de la date 2"/>
          <p:cNvSpPr>
            <a:spLocks noGrp="1"/>
          </p:cNvSpPr>
          <p:nvPr>
            <p:ph type="dt" sz="half" idx="10"/>
          </p:nvPr>
        </p:nvSpPr>
        <p:spPr/>
        <p:txBody>
          <a:bodyPr/>
          <a:lstStyle/>
          <a:p>
            <a:fld id="{C6DC8FCE-CBD7-4446-8234-DAE93451FFA5}" type="datetime1">
              <a:rPr lang="en-ZA" smtClean="0"/>
              <a:t>2017/03/27</a:t>
            </a:fld>
            <a:endParaRPr lang="en-ZA"/>
          </a:p>
        </p:txBody>
      </p:sp>
      <p:sp>
        <p:nvSpPr>
          <p:cNvPr id="4" name="Espace réservé du pied de page 3"/>
          <p:cNvSpPr>
            <a:spLocks noGrp="1"/>
          </p:cNvSpPr>
          <p:nvPr>
            <p:ph type="ftr" sz="quarter" idx="11"/>
          </p:nvPr>
        </p:nvSpPr>
        <p:spPr/>
        <p:txBody>
          <a:bodyPr/>
          <a:lstStyle/>
          <a:p>
            <a:endParaRPr lang="en-ZA"/>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3298308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B0D8B7E-7E9C-44C7-8E42-B777D4240DEE}" type="datetime1">
              <a:rPr lang="en-ZA" smtClean="0"/>
              <a:t>2017/03/27</a:t>
            </a:fld>
            <a:endParaRPr lang="en-ZA"/>
          </a:p>
        </p:txBody>
      </p:sp>
      <p:sp>
        <p:nvSpPr>
          <p:cNvPr id="3" name="Espace réservé du pied de page 2"/>
          <p:cNvSpPr>
            <a:spLocks noGrp="1"/>
          </p:cNvSpPr>
          <p:nvPr>
            <p:ph type="ftr" sz="quarter" idx="11"/>
          </p:nvPr>
        </p:nvSpPr>
        <p:spPr/>
        <p:txBody>
          <a:bodyPr/>
          <a:lstStyle/>
          <a:p>
            <a:endParaRPr lang="en-ZA"/>
          </a:p>
        </p:txBody>
      </p:sp>
      <p:sp>
        <p:nvSpPr>
          <p:cNvPr id="4" name="Espace réservé du numéro de diapositive 3"/>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3809403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en-Z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A0699C6-27B6-4591-B821-48A0D9082FB3}" type="datetime1">
              <a:rPr lang="en-ZA" smtClean="0"/>
              <a:t>2017/03/27</a:t>
            </a:fld>
            <a:endParaRPr lang="en-ZA"/>
          </a:p>
        </p:txBody>
      </p:sp>
      <p:sp>
        <p:nvSpPr>
          <p:cNvPr id="6" name="Espace réservé du pied de page 5"/>
          <p:cNvSpPr>
            <a:spLocks noGrp="1"/>
          </p:cNvSpPr>
          <p:nvPr>
            <p:ph type="ftr" sz="quarter" idx="11"/>
          </p:nvPr>
        </p:nvSpPr>
        <p:spPr/>
        <p:txBody>
          <a:bodyPr/>
          <a:lstStyle/>
          <a:p>
            <a:endParaRPr lang="en-ZA"/>
          </a:p>
        </p:txBody>
      </p:sp>
      <p:sp>
        <p:nvSpPr>
          <p:cNvPr id="7" name="Espace réservé du numéro de diapositive 6"/>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2346210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en-Z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EB26EF27-F0B3-40DE-954A-693750B50325}" type="datetime1">
              <a:rPr lang="en-ZA" smtClean="0"/>
              <a:t>2017/03/27</a:t>
            </a:fld>
            <a:endParaRPr lang="en-ZA"/>
          </a:p>
        </p:txBody>
      </p:sp>
      <p:sp>
        <p:nvSpPr>
          <p:cNvPr id="6" name="Espace réservé du pied de page 5"/>
          <p:cNvSpPr>
            <a:spLocks noGrp="1"/>
          </p:cNvSpPr>
          <p:nvPr>
            <p:ph type="ftr" sz="quarter" idx="11"/>
          </p:nvPr>
        </p:nvSpPr>
        <p:spPr/>
        <p:txBody>
          <a:bodyPr/>
          <a:lstStyle/>
          <a:p>
            <a:endParaRPr lang="en-ZA"/>
          </a:p>
        </p:txBody>
      </p:sp>
      <p:sp>
        <p:nvSpPr>
          <p:cNvPr id="7" name="Espace réservé du numéro de diapositive 6"/>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454961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ZA"/>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4" name="Espace réservé de la date 3"/>
          <p:cNvSpPr>
            <a:spLocks noGrp="1"/>
          </p:cNvSpPr>
          <p:nvPr>
            <p:ph type="dt" sz="half" idx="10"/>
          </p:nvPr>
        </p:nvSpPr>
        <p:spPr/>
        <p:txBody>
          <a:bodyPr/>
          <a:lstStyle/>
          <a:p>
            <a:fld id="{8D986CDA-2790-4644-B772-A801FD3164DC}" type="datetime1">
              <a:rPr lang="en-ZA" smtClean="0"/>
              <a:t>2017/03/27</a:t>
            </a:fld>
            <a:endParaRPr lang="en-ZA"/>
          </a:p>
        </p:txBody>
      </p:sp>
      <p:sp>
        <p:nvSpPr>
          <p:cNvPr id="5" name="Espace réservé du pied de page 4"/>
          <p:cNvSpPr>
            <a:spLocks noGrp="1"/>
          </p:cNvSpPr>
          <p:nvPr>
            <p:ph type="ftr" sz="quarter" idx="11"/>
          </p:nvPr>
        </p:nvSpPr>
        <p:spPr/>
        <p:txBody>
          <a:bodyPr/>
          <a:lstStyle/>
          <a:p>
            <a:endParaRPr lang="en-ZA"/>
          </a:p>
        </p:txBody>
      </p:sp>
      <p:sp>
        <p:nvSpPr>
          <p:cNvPr id="6" name="Espace réservé du numéro de diapositive 5"/>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2744026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en-Z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4" name="Espace réservé de la date 3"/>
          <p:cNvSpPr>
            <a:spLocks noGrp="1"/>
          </p:cNvSpPr>
          <p:nvPr>
            <p:ph type="dt" sz="half" idx="10"/>
          </p:nvPr>
        </p:nvSpPr>
        <p:spPr/>
        <p:txBody>
          <a:bodyPr/>
          <a:lstStyle/>
          <a:p>
            <a:fld id="{9DACB772-942D-4646-9047-7715FB4B97A1}" type="datetime1">
              <a:rPr lang="en-ZA" smtClean="0"/>
              <a:t>2017/03/27</a:t>
            </a:fld>
            <a:endParaRPr lang="en-ZA"/>
          </a:p>
        </p:txBody>
      </p:sp>
      <p:sp>
        <p:nvSpPr>
          <p:cNvPr id="5" name="Espace réservé du pied de page 4"/>
          <p:cNvSpPr>
            <a:spLocks noGrp="1"/>
          </p:cNvSpPr>
          <p:nvPr>
            <p:ph type="ftr" sz="quarter" idx="11"/>
          </p:nvPr>
        </p:nvSpPr>
        <p:spPr/>
        <p:txBody>
          <a:bodyPr/>
          <a:lstStyle/>
          <a:p>
            <a:endParaRPr lang="en-ZA"/>
          </a:p>
        </p:txBody>
      </p:sp>
      <p:sp>
        <p:nvSpPr>
          <p:cNvPr id="6" name="Espace réservé du numéro de diapositive 5"/>
          <p:cNvSpPr>
            <a:spLocks noGrp="1"/>
          </p:cNvSpPr>
          <p:nvPr>
            <p:ph type="sldNum" sz="quarter" idx="12"/>
          </p:nvPr>
        </p:nvSpPr>
        <p:spPr/>
        <p:txBody>
          <a:bodyPr/>
          <a:lstStyle/>
          <a:p>
            <a:fld id="{BBF3D8CE-58F1-40DD-970B-B96FBB2BDA32}" type="slidenum">
              <a:rPr lang="en-ZA" smtClean="0"/>
              <a:t>‹N°›</a:t>
            </a:fld>
            <a:endParaRPr lang="en-ZA"/>
          </a:p>
        </p:txBody>
      </p:sp>
    </p:spTree>
    <p:extLst>
      <p:ext uri="{BB962C8B-B14F-4D97-AF65-F5344CB8AC3E}">
        <p14:creationId xmlns:p14="http://schemas.microsoft.com/office/powerpoint/2010/main" val="4075052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en-Z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Z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B143DD-3584-4A14-9C04-65F97FB96423}" type="datetime1">
              <a:rPr lang="en-ZA" smtClean="0"/>
              <a:t>2017/03/27</a:t>
            </a:fld>
            <a:endParaRPr lang="en-Z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F3D8CE-58F1-40DD-970B-B96FBB2BDA32}" type="slidenum">
              <a:rPr lang="en-ZA" smtClean="0"/>
              <a:t>‹N°›</a:t>
            </a:fld>
            <a:endParaRPr lang="en-ZA"/>
          </a:p>
        </p:txBody>
      </p:sp>
    </p:spTree>
    <p:extLst>
      <p:ext uri="{BB962C8B-B14F-4D97-AF65-F5344CB8AC3E}">
        <p14:creationId xmlns:p14="http://schemas.microsoft.com/office/powerpoint/2010/main" val="1883486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zh-CN" altLang="en-US" dirty="0"/>
              <a:t>科</a:t>
            </a:r>
            <a:r>
              <a:rPr lang="zh-CN" altLang="en-US" dirty="0" smtClean="0"/>
              <a:t>研总结及汇报</a:t>
            </a:r>
            <a:endParaRPr lang="en-ZA" dirty="0"/>
          </a:p>
        </p:txBody>
      </p:sp>
      <p:sp>
        <p:nvSpPr>
          <p:cNvPr id="3" name="Sous-titre 2"/>
          <p:cNvSpPr>
            <a:spLocks noGrp="1"/>
          </p:cNvSpPr>
          <p:nvPr>
            <p:ph type="subTitle" idx="1"/>
          </p:nvPr>
        </p:nvSpPr>
        <p:spPr/>
        <p:txBody>
          <a:bodyPr/>
          <a:lstStyle/>
          <a:p>
            <a:r>
              <a:rPr lang="en-US" altLang="zh-CN" dirty="0" smtClean="0"/>
              <a:t>Presenter: </a:t>
            </a:r>
            <a:r>
              <a:rPr lang="zh-CN" altLang="en-US" dirty="0" smtClean="0"/>
              <a:t>周池 </a:t>
            </a:r>
            <a:r>
              <a:rPr lang="en-US" altLang="zh-CN" dirty="0" smtClean="0"/>
              <a:t>(Amelie)</a:t>
            </a:r>
          </a:p>
          <a:p>
            <a:r>
              <a:rPr lang="en-US" dirty="0" smtClean="0"/>
              <a:t>2017 Mar 27</a:t>
            </a:r>
            <a:endParaRPr lang="en-ZA"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1</a:t>
            </a:fld>
            <a:endParaRPr lang="en-ZA"/>
          </a:p>
        </p:txBody>
      </p:sp>
    </p:spTree>
    <p:extLst>
      <p:ext uri="{BB962C8B-B14F-4D97-AF65-F5344CB8AC3E}">
        <p14:creationId xmlns:p14="http://schemas.microsoft.com/office/powerpoint/2010/main" val="25247465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zh-CN" altLang="en-US" dirty="0"/>
              <a:t>个</a:t>
            </a:r>
            <a:r>
              <a:rPr lang="zh-CN" altLang="en-US" dirty="0" smtClean="0"/>
              <a:t>人情况</a:t>
            </a:r>
            <a:endParaRPr lang="en-ZA" dirty="0"/>
          </a:p>
        </p:txBody>
      </p:sp>
      <p:sp>
        <p:nvSpPr>
          <p:cNvPr id="3" name="Espace réservé du contenu 2"/>
          <p:cNvSpPr>
            <a:spLocks noGrp="1"/>
          </p:cNvSpPr>
          <p:nvPr>
            <p:ph idx="1"/>
          </p:nvPr>
        </p:nvSpPr>
        <p:spPr/>
        <p:txBody>
          <a:bodyPr/>
          <a:lstStyle/>
          <a:p>
            <a:r>
              <a:rPr lang="en-US" altLang="zh-CN" dirty="0" smtClean="0"/>
              <a:t>2016.5 – 2017.8    </a:t>
            </a:r>
            <a:r>
              <a:rPr lang="zh-CN" altLang="en-US" dirty="0" smtClean="0"/>
              <a:t>法国国家信息与自动化研究所</a:t>
            </a:r>
            <a:r>
              <a:rPr lang="en-US" altLang="zh-CN" dirty="0" smtClean="0"/>
              <a:t>     </a:t>
            </a:r>
            <a:r>
              <a:rPr lang="zh-CN" altLang="en-US" dirty="0" smtClean="0"/>
              <a:t>博士后</a:t>
            </a:r>
            <a:endParaRPr lang="en-US" altLang="zh-CN" dirty="0" smtClean="0"/>
          </a:p>
          <a:p>
            <a:r>
              <a:rPr lang="en-US" altLang="zh-CN" dirty="0" smtClean="0"/>
              <a:t>2015.8 – 2016.4    </a:t>
            </a:r>
            <a:r>
              <a:rPr lang="zh-CN" altLang="en-US" dirty="0" smtClean="0"/>
              <a:t>南洋理工大学                                    助理研究员</a:t>
            </a:r>
            <a:endParaRPr lang="en-US" altLang="zh-CN" dirty="0" smtClean="0"/>
          </a:p>
          <a:p>
            <a:r>
              <a:rPr lang="en-US" altLang="zh-CN" dirty="0" smtClean="0"/>
              <a:t>2011.8 – 2015.7    </a:t>
            </a:r>
            <a:r>
              <a:rPr lang="zh-CN" altLang="en-US" dirty="0" smtClean="0"/>
              <a:t>南洋理工大学                                    博士</a:t>
            </a:r>
            <a:endParaRPr lang="en-US" altLang="zh-CN" dirty="0" smtClean="0"/>
          </a:p>
          <a:p>
            <a:r>
              <a:rPr lang="en-US" altLang="zh-CN" dirty="0" smtClean="0"/>
              <a:t>2009</a:t>
            </a:r>
            <a:r>
              <a:rPr lang="en-US" altLang="zh-CN" dirty="0" smtClean="0"/>
              <a:t>.9</a:t>
            </a:r>
            <a:r>
              <a:rPr lang="en-US" altLang="zh-CN" dirty="0" smtClean="0"/>
              <a:t> – 2011.7 </a:t>
            </a:r>
            <a:r>
              <a:rPr lang="zh-CN" altLang="en-US" dirty="0"/>
              <a:t> </a:t>
            </a:r>
            <a:r>
              <a:rPr lang="zh-CN" altLang="en-US" dirty="0" smtClean="0"/>
              <a:t>  </a:t>
            </a:r>
            <a:r>
              <a:rPr lang="zh-CN" altLang="en-US" dirty="0" smtClean="0"/>
              <a:t>北京航空航天大学                           </a:t>
            </a:r>
            <a:r>
              <a:rPr lang="zh-CN" altLang="en-US" dirty="0" smtClean="0"/>
              <a:t>硕</a:t>
            </a:r>
            <a:r>
              <a:rPr lang="zh-CN" altLang="en-US" dirty="0"/>
              <a:t>士</a:t>
            </a:r>
            <a:endParaRPr lang="en-US" altLang="zh-CN" dirty="0" smtClean="0"/>
          </a:p>
          <a:p>
            <a:r>
              <a:rPr lang="en-US" altLang="zh-CN" dirty="0" smtClean="0"/>
              <a:t>2005.9 – 2009.7    </a:t>
            </a:r>
            <a:r>
              <a:rPr lang="zh-CN" altLang="en-US" dirty="0" smtClean="0"/>
              <a:t>北京航空航天大学                           本科</a:t>
            </a:r>
            <a:endParaRPr lang="en-ZA"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2</a:t>
            </a:fld>
            <a:endParaRPr lang="en-ZA"/>
          </a:p>
        </p:txBody>
      </p:sp>
    </p:spTree>
    <p:extLst>
      <p:ext uri="{BB962C8B-B14F-4D97-AF65-F5344CB8AC3E}">
        <p14:creationId xmlns:p14="http://schemas.microsoft.com/office/powerpoint/2010/main" val="312375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zh-CN" altLang="en-US" dirty="0" smtClean="0"/>
              <a:t>研究方向</a:t>
            </a:r>
            <a:endParaRPr lang="en-ZA" dirty="0"/>
          </a:p>
        </p:txBody>
      </p:sp>
      <p:sp>
        <p:nvSpPr>
          <p:cNvPr id="3" name="Espace réservé du contenu 2"/>
          <p:cNvSpPr>
            <a:spLocks noGrp="1"/>
          </p:cNvSpPr>
          <p:nvPr>
            <p:ph idx="1"/>
          </p:nvPr>
        </p:nvSpPr>
        <p:spPr/>
        <p:txBody>
          <a:bodyPr>
            <a:normAutofit/>
          </a:bodyPr>
          <a:lstStyle/>
          <a:p>
            <a:r>
              <a:rPr lang="zh-CN" altLang="en-US" dirty="0" smtClean="0"/>
              <a:t>关键词：云计算平台，大数据应用</a:t>
            </a:r>
            <a:endParaRPr lang="en-US" altLang="zh-CN" dirty="0" smtClean="0"/>
          </a:p>
          <a:p>
            <a:r>
              <a:rPr lang="zh-CN" altLang="en-US" dirty="0" smtClean="0"/>
              <a:t>云计算平台</a:t>
            </a:r>
            <a:endParaRPr lang="en-US" altLang="zh-CN" dirty="0" smtClean="0"/>
          </a:p>
          <a:p>
            <a:pPr lvl="1"/>
            <a:r>
              <a:rPr lang="zh-CN" altLang="en-US" dirty="0" smtClean="0"/>
              <a:t>资源调度：考虑不同的资源类型，不同的优化目标</a:t>
            </a:r>
            <a:endParaRPr lang="en-US" altLang="zh-CN" dirty="0" smtClean="0"/>
          </a:p>
          <a:p>
            <a:pPr lvl="1"/>
            <a:r>
              <a:rPr lang="zh-CN" altLang="en-US" dirty="0" smtClean="0"/>
              <a:t>性能不稳定性：考虑性能的概率分布</a:t>
            </a:r>
            <a:endParaRPr lang="en-US" altLang="zh-CN" dirty="0" smtClean="0"/>
          </a:p>
          <a:p>
            <a:r>
              <a:rPr lang="zh-CN" altLang="en-US" dirty="0"/>
              <a:t>大数</a:t>
            </a:r>
            <a:r>
              <a:rPr lang="zh-CN" altLang="en-US" dirty="0" smtClean="0"/>
              <a:t>据应用</a:t>
            </a:r>
            <a:endParaRPr lang="en-US" altLang="zh-CN" dirty="0" smtClean="0"/>
          </a:p>
          <a:p>
            <a:pPr lvl="1"/>
            <a:r>
              <a:rPr lang="zh-CN" altLang="en-US" dirty="0" smtClean="0"/>
              <a:t>科学计算数据流</a:t>
            </a:r>
            <a:r>
              <a:rPr lang="en-US" altLang="zh-CN" dirty="0" smtClean="0"/>
              <a:t>(scientific workflow)</a:t>
            </a:r>
          </a:p>
          <a:p>
            <a:pPr lvl="2"/>
            <a:r>
              <a:rPr lang="en-US" altLang="zh-CN" dirty="0" smtClean="0"/>
              <a:t>Loosely coupled </a:t>
            </a:r>
          </a:p>
          <a:p>
            <a:pPr lvl="2"/>
            <a:r>
              <a:rPr lang="en-US" altLang="zh-CN" dirty="0" smtClean="0"/>
              <a:t>Modeled as DAG</a:t>
            </a:r>
          </a:p>
          <a:p>
            <a:pPr lvl="2"/>
            <a:r>
              <a:rPr lang="en-US" altLang="zh-CN" dirty="0" smtClean="0"/>
              <a:t>Tasks have different behaviors.</a:t>
            </a:r>
            <a:endParaRPr lang="en-US" altLang="zh-CN" dirty="0"/>
          </a:p>
          <a:p>
            <a:pPr lvl="1"/>
            <a:r>
              <a:rPr lang="zh-CN" altLang="en-US" dirty="0" smtClean="0"/>
              <a:t>图处理</a:t>
            </a:r>
            <a:r>
              <a:rPr lang="en-US" altLang="zh-CN" dirty="0" smtClean="0"/>
              <a:t>(graph processing)</a:t>
            </a:r>
            <a:endParaRPr lang="en-ZA" dirty="0"/>
          </a:p>
        </p:txBody>
      </p:sp>
      <p:pic>
        <p:nvPicPr>
          <p:cNvPr id="5" name="Picture 1" descr="C:\Users\CZHOU_000\AppData\Roaming\Tencent\Users\174319179\QQ\WinTemp\RichOle\H~FE1LG9%7LEP)KD`GC~JZ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1095" y="4441587"/>
            <a:ext cx="1123043" cy="11292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4"/>
          <p:cNvSpPr txBox="1"/>
          <p:nvPr/>
        </p:nvSpPr>
        <p:spPr>
          <a:xfrm>
            <a:off x="5422944" y="5551882"/>
            <a:ext cx="1350532" cy="307777"/>
          </a:xfrm>
          <a:prstGeom prst="rect">
            <a:avLst/>
          </a:prstGeom>
          <a:noFill/>
        </p:spPr>
        <p:txBody>
          <a:bodyPr wrap="square" rtlCol="0">
            <a:spAutoFit/>
          </a:bodyPr>
          <a:lstStyle/>
          <a:p>
            <a:r>
              <a:rPr lang="en-US" sz="1400" dirty="0" smtClean="0"/>
              <a:t>Montage</a:t>
            </a:r>
            <a:endParaRPr lang="en-US" sz="1400" dirty="0"/>
          </a:p>
        </p:txBody>
      </p:sp>
      <p:pic>
        <p:nvPicPr>
          <p:cNvPr id="7" name="Picture 2" descr="C:\Users\CZHOU_000\AppData\Roaming\Tencent\Users\174319179\QQ\WinTemp\RichOle\385$$3WVD37ALDNUE3O5D@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2314" y="4556022"/>
            <a:ext cx="1845565" cy="85414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486163" y="5435894"/>
            <a:ext cx="749277" cy="307777"/>
          </a:xfrm>
          <a:prstGeom prst="rect">
            <a:avLst/>
          </a:prstGeom>
          <a:noFill/>
        </p:spPr>
        <p:txBody>
          <a:bodyPr wrap="square" rtlCol="0">
            <a:spAutoFit/>
          </a:bodyPr>
          <a:lstStyle/>
          <a:p>
            <a:r>
              <a:rPr lang="en-US" sz="1400" dirty="0" err="1" smtClean="0"/>
              <a:t>Ligo</a:t>
            </a:r>
            <a:endParaRPr lang="en-US" sz="1400" dirty="0"/>
          </a:p>
        </p:txBody>
      </p:sp>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6288" y="4218599"/>
            <a:ext cx="1340791" cy="1472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3670" y="4246969"/>
            <a:ext cx="1122045" cy="1537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Espace réservé du numéro de diapositive 10"/>
          <p:cNvSpPr>
            <a:spLocks noGrp="1"/>
          </p:cNvSpPr>
          <p:nvPr>
            <p:ph type="sldNum" sz="quarter" idx="12"/>
          </p:nvPr>
        </p:nvSpPr>
        <p:spPr/>
        <p:txBody>
          <a:bodyPr/>
          <a:lstStyle/>
          <a:p>
            <a:fld id="{BBF3D8CE-58F1-40DD-970B-B96FBB2BDA32}" type="slidenum">
              <a:rPr lang="en-ZA" smtClean="0"/>
              <a:t>3</a:t>
            </a:fld>
            <a:endParaRPr lang="en-ZA"/>
          </a:p>
        </p:txBody>
      </p:sp>
    </p:spTree>
    <p:extLst>
      <p:ext uri="{BB962C8B-B14F-4D97-AF65-F5344CB8AC3E}">
        <p14:creationId xmlns:p14="http://schemas.microsoft.com/office/powerpoint/2010/main" val="34299827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zh-CN" altLang="en-US" dirty="0"/>
              <a:t>云平</a:t>
            </a:r>
            <a:r>
              <a:rPr lang="zh-CN" altLang="en-US" dirty="0" smtClean="0"/>
              <a:t>台上针对科学数据流的资源调度</a:t>
            </a:r>
            <a:endParaRPr lang="en-ZA" dirty="0"/>
          </a:p>
        </p:txBody>
      </p:sp>
      <p:sp>
        <p:nvSpPr>
          <p:cNvPr id="3" name="Espace réservé du contenu 2"/>
          <p:cNvSpPr>
            <a:spLocks noGrp="1"/>
          </p:cNvSpPr>
          <p:nvPr>
            <p:ph idx="1"/>
          </p:nvPr>
        </p:nvSpPr>
        <p:spPr/>
        <p:txBody>
          <a:bodyPr/>
          <a:lstStyle/>
          <a:p>
            <a:r>
              <a:rPr lang="en-ZA" b="1" dirty="0" err="1" smtClean="0"/>
              <a:t>ToF</a:t>
            </a:r>
            <a:r>
              <a:rPr lang="en-ZA" b="1" dirty="0"/>
              <a:t> </a:t>
            </a:r>
            <a:r>
              <a:rPr lang="en-US" b="1" dirty="0" smtClean="0"/>
              <a:t>(IEEE TCC)</a:t>
            </a:r>
            <a:endParaRPr lang="en-ZA" b="1" dirty="0" smtClean="0"/>
          </a:p>
          <a:p>
            <a:pPr lvl="1"/>
            <a:r>
              <a:rPr lang="zh-CN" altLang="en-US" dirty="0" smtClean="0"/>
              <a:t>通用的数据流结构转换模型</a:t>
            </a:r>
            <a:endParaRPr lang="en-US" altLang="zh-CN" dirty="0" smtClean="0"/>
          </a:p>
          <a:p>
            <a:pPr lvl="1"/>
            <a:r>
              <a:rPr lang="zh-CN" altLang="en-US" dirty="0" smtClean="0"/>
              <a:t>兼顾性能及成本的优化目标</a:t>
            </a:r>
            <a:endParaRPr lang="en-ZA" dirty="0" smtClean="0"/>
          </a:p>
          <a:p>
            <a:endParaRPr lang="en-ZA" dirty="0" smtClean="0"/>
          </a:p>
          <a:p>
            <a:r>
              <a:rPr lang="en-ZA" dirty="0" smtClean="0"/>
              <a:t>Deco (HPDC 2015)</a:t>
            </a:r>
          </a:p>
          <a:p>
            <a:pPr lvl="1"/>
            <a:r>
              <a:rPr lang="zh-CN" altLang="en-US" dirty="0" smtClean="0"/>
              <a:t>用</a:t>
            </a:r>
            <a:r>
              <a:rPr lang="zh-CN" altLang="en-US" dirty="0"/>
              <a:t>于</a:t>
            </a:r>
            <a:r>
              <a:rPr lang="zh-CN" altLang="en-US" dirty="0" smtClean="0"/>
              <a:t>描述数据流优化问题的申诉式语言</a:t>
            </a:r>
            <a:endParaRPr lang="en-ZA" dirty="0" smtClean="0"/>
          </a:p>
          <a:p>
            <a:pPr lvl="1"/>
            <a:r>
              <a:rPr lang="zh-CN" altLang="en-US" dirty="0"/>
              <a:t>考</a:t>
            </a:r>
            <a:r>
              <a:rPr lang="zh-CN" altLang="en-US" dirty="0" smtClean="0"/>
              <a:t>虑了云性能不稳定对优化结果的影响</a:t>
            </a:r>
            <a:endParaRPr lang="en-ZA" dirty="0" smtClean="0"/>
          </a:p>
          <a:p>
            <a:endParaRPr lang="en-ZA"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4</a:t>
            </a:fld>
            <a:endParaRPr lang="en-ZA"/>
          </a:p>
        </p:txBody>
      </p:sp>
    </p:spTree>
    <p:extLst>
      <p:ext uri="{BB962C8B-B14F-4D97-AF65-F5344CB8AC3E}">
        <p14:creationId xmlns:p14="http://schemas.microsoft.com/office/powerpoint/2010/main" val="27348238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274638"/>
            <a:ext cx="10751820" cy="1143000"/>
          </a:xfrm>
        </p:spPr>
        <p:txBody>
          <a:bodyPr>
            <a:noAutofit/>
          </a:bodyPr>
          <a:lstStyle/>
          <a:p>
            <a:r>
              <a:rPr lang="en-US" altLang="zh-CN" dirty="0"/>
              <a:t>ToF: A Transformation-based Optimization Framework</a:t>
            </a:r>
            <a:endParaRPr lang="zh-CN" altLang="en-US" dirty="0"/>
          </a:p>
        </p:txBody>
      </p:sp>
      <p:sp>
        <p:nvSpPr>
          <p:cNvPr id="6" name="文本占位符 5"/>
          <p:cNvSpPr>
            <a:spLocks noGrp="1"/>
          </p:cNvSpPr>
          <p:nvPr>
            <p:ph idx="1"/>
          </p:nvPr>
        </p:nvSpPr>
        <p:spPr>
          <a:xfrm>
            <a:off x="1062990" y="1626379"/>
            <a:ext cx="10218420" cy="4648691"/>
          </a:xfrm>
        </p:spPr>
        <p:txBody>
          <a:bodyPr>
            <a:normAutofit/>
          </a:bodyPr>
          <a:lstStyle/>
          <a:p>
            <a:pPr>
              <a:lnSpc>
                <a:spcPct val="125000"/>
              </a:lnSpc>
            </a:pPr>
            <a:r>
              <a:rPr lang="en-US" dirty="0" smtClean="0"/>
              <a:t>Core </a:t>
            </a:r>
            <a:r>
              <a:rPr lang="en-US" dirty="0" smtClean="0"/>
              <a:t>design ideas</a:t>
            </a:r>
          </a:p>
          <a:p>
            <a:pPr lvl="1">
              <a:spcBef>
                <a:spcPts val="0"/>
              </a:spcBef>
            </a:pPr>
            <a:r>
              <a:rPr lang="en-US" dirty="0" smtClean="0"/>
              <a:t>A </a:t>
            </a:r>
            <a:r>
              <a:rPr lang="en-US" dirty="0"/>
              <a:t>series of common transformations for the performance and cost optimizations of </a:t>
            </a:r>
            <a:r>
              <a:rPr lang="en-US" dirty="0" smtClean="0"/>
              <a:t>workflows</a:t>
            </a:r>
          </a:p>
          <a:p>
            <a:pPr lvl="2">
              <a:spcBef>
                <a:spcPts val="0"/>
              </a:spcBef>
            </a:pPr>
            <a:r>
              <a:rPr lang="en-US" dirty="0"/>
              <a:t>Main schemes: reduce cost</a:t>
            </a:r>
          </a:p>
          <a:p>
            <a:pPr lvl="2">
              <a:spcBef>
                <a:spcPts val="0"/>
              </a:spcBef>
            </a:pPr>
            <a:r>
              <a:rPr lang="en-US" dirty="0"/>
              <a:t>Auxiliary schemes: help main schemes to reduce </a:t>
            </a:r>
            <a:r>
              <a:rPr lang="en-US" dirty="0" smtClean="0"/>
              <a:t>cost</a:t>
            </a:r>
          </a:p>
          <a:p>
            <a:pPr lvl="2"/>
            <a:endParaRPr lang="en-US" dirty="0"/>
          </a:p>
          <a:p>
            <a:pPr lvl="2"/>
            <a:endParaRPr lang="en-US" dirty="0" smtClean="0"/>
          </a:p>
          <a:p>
            <a:pPr lvl="2"/>
            <a:endParaRPr lang="en-US" dirty="0"/>
          </a:p>
          <a:p>
            <a:pPr lvl="1"/>
            <a:endParaRPr lang="en-US" dirty="0" smtClean="0"/>
          </a:p>
          <a:p>
            <a:pPr lvl="1"/>
            <a:endParaRPr lang="en-US" dirty="0" smtClean="0"/>
          </a:p>
          <a:p>
            <a:pPr lvl="1"/>
            <a:r>
              <a:rPr lang="en-US" dirty="0" smtClean="0"/>
              <a:t>A </a:t>
            </a:r>
            <a:r>
              <a:rPr lang="en-US" dirty="0"/>
              <a:t>light-weight optimizer to guide the transformation process.</a:t>
            </a:r>
          </a:p>
          <a:p>
            <a:pPr lvl="1">
              <a:lnSpc>
                <a:spcPct val="125000"/>
              </a:lnSpc>
            </a:pPr>
            <a:endParaRPr lang="zh-CN" altLang="en-US" dirty="0"/>
          </a:p>
        </p:txBody>
      </p:sp>
      <mc:AlternateContent xmlns:mc="http://schemas.openxmlformats.org/markup-compatibility/2006">
        <mc:Choice xmlns:a14="http://schemas.microsoft.com/office/drawing/2010/main" Requires="a14">
          <p:sp>
            <p:nvSpPr>
              <p:cNvPr id="7" name="TextBox 6"/>
              <p:cNvSpPr txBox="1"/>
              <p:nvPr/>
            </p:nvSpPr>
            <p:spPr>
              <a:xfrm>
                <a:off x="3734962" y="4784735"/>
                <a:ext cx="6678889" cy="369332"/>
              </a:xfrm>
              <a:prstGeom prst="rect">
                <a:avLst/>
              </a:prstGeom>
              <a:noFill/>
            </p:spPr>
            <p:txBody>
              <a:bodyPr wrap="square" rtlCol="0">
                <a:spAutoFit/>
              </a:bodyPr>
              <a:lstStyle/>
              <a:p>
                <a:r>
                  <a:rPr lang="en-US" dirty="0"/>
                  <a:t>Charging hours: </a:t>
                </a:r>
                <a14:m>
                  <m:oMath xmlns:m="http://schemas.openxmlformats.org/officeDocument/2006/math">
                    <m:r>
                      <a:rPr lang="en-US" b="1" i="1">
                        <a:latin typeface="Cambria Math"/>
                      </a:rPr>
                      <m:t>𝟏</m:t>
                    </m:r>
                    <m:r>
                      <a:rPr lang="en-US" b="1" i="1">
                        <a:latin typeface="Cambria Math"/>
                      </a:rPr>
                      <m:t>+</m:t>
                    </m:r>
                    <m:r>
                      <a:rPr lang="en-US" b="1" i="1">
                        <a:latin typeface="Cambria Math"/>
                      </a:rPr>
                      <m:t>𝟏</m:t>
                    </m:r>
                    <m:r>
                      <a:rPr lang="en-US" b="1" i="1">
                        <a:latin typeface="Cambria Math"/>
                      </a:rPr>
                      <m:t>+</m:t>
                    </m:r>
                    <m:r>
                      <a:rPr lang="en-US" b="1" i="1">
                        <a:latin typeface="Cambria Math"/>
                      </a:rPr>
                      <m:t>𝟏</m:t>
                    </m:r>
                    <m:r>
                      <a:rPr lang="en-US" b="1" i="1">
                        <a:latin typeface="Cambria Math"/>
                      </a:rPr>
                      <m:t>=</m:t>
                    </m:r>
                    <m:r>
                      <a:rPr lang="en-US" b="1" i="1">
                        <a:latin typeface="Cambria Math"/>
                      </a:rPr>
                      <m:t>𝟑</m:t>
                    </m:r>
                  </m:oMath>
                </a14:m>
                <a:r>
                  <a:rPr lang="en-US" dirty="0"/>
                  <a:t> </a:t>
                </a:r>
                <a:r>
                  <a:rPr lang="en-US" dirty="0">
                    <a:sym typeface="Wingdings" pitchFamily="2" charset="2"/>
                  </a:rPr>
                  <a:t></a:t>
                </a:r>
                <a14:m>
                  <m:oMath xmlns:m="http://schemas.openxmlformats.org/officeDocument/2006/math">
                    <m:d>
                      <m:dPr>
                        <m:begChr m:val="⌈"/>
                        <m:endChr m:val="⌉"/>
                        <m:ctrlPr>
                          <a:rPr lang="en-US" i="1">
                            <a:latin typeface="Cambria Math" panose="02040503050406030204" pitchFamily="18" charset="0"/>
                            <a:sym typeface="Wingdings" pitchFamily="2" charset="2"/>
                          </a:rPr>
                        </m:ctrlPr>
                      </m:dPr>
                      <m:e>
                        <m:r>
                          <a:rPr lang="en-US" b="1" i="1">
                            <a:latin typeface="Cambria Math"/>
                            <a:sym typeface="Wingdings" pitchFamily="2" charset="2"/>
                          </a:rPr>
                          <m:t>(</m:t>
                        </m:r>
                        <m:r>
                          <a:rPr lang="en-US" b="1" i="1">
                            <a:latin typeface="Cambria Math"/>
                            <a:sym typeface="Wingdings" pitchFamily="2" charset="2"/>
                          </a:rPr>
                          <m:t>𝟑𝟎</m:t>
                        </m:r>
                        <m:r>
                          <a:rPr lang="en-US" b="1" i="1">
                            <a:latin typeface="Cambria Math"/>
                            <a:sym typeface="Wingdings" pitchFamily="2" charset="2"/>
                          </a:rPr>
                          <m:t>+</m:t>
                        </m:r>
                        <m:r>
                          <a:rPr lang="en-US" b="1" i="1">
                            <a:latin typeface="Cambria Math"/>
                            <a:sym typeface="Wingdings" pitchFamily="2" charset="2"/>
                          </a:rPr>
                          <m:t>𝟒𝟎</m:t>
                        </m:r>
                        <m:r>
                          <a:rPr lang="en-US" b="1" i="1">
                            <a:latin typeface="Cambria Math"/>
                            <a:sym typeface="Wingdings" pitchFamily="2" charset="2"/>
                          </a:rPr>
                          <m:t>+</m:t>
                        </m:r>
                        <m:r>
                          <a:rPr lang="en-US" b="1" i="1">
                            <a:latin typeface="Cambria Math"/>
                            <a:sym typeface="Wingdings" pitchFamily="2" charset="2"/>
                          </a:rPr>
                          <m:t>𝟒𝟎</m:t>
                        </m:r>
                        <m:r>
                          <a:rPr lang="en-US" b="1" i="1">
                            <a:latin typeface="Cambria Math"/>
                            <a:sym typeface="Wingdings" pitchFamily="2" charset="2"/>
                          </a:rPr>
                          <m:t>)/</m:t>
                        </m:r>
                        <m:r>
                          <a:rPr lang="en-US" b="1" i="1">
                            <a:latin typeface="Cambria Math"/>
                            <a:sym typeface="Wingdings" pitchFamily="2" charset="2"/>
                          </a:rPr>
                          <m:t>𝟔𝟎</m:t>
                        </m:r>
                      </m:e>
                    </m:d>
                    <m:r>
                      <a:rPr lang="en-US" b="1" i="1">
                        <a:latin typeface="Cambria Math"/>
                        <a:sym typeface="Wingdings" pitchFamily="2" charset="2"/>
                      </a:rPr>
                      <m:t>=</m:t>
                    </m:r>
                    <m:r>
                      <a:rPr lang="en-US" b="1" i="1">
                        <a:latin typeface="Cambria Math"/>
                        <a:sym typeface="Wingdings" pitchFamily="2" charset="2"/>
                      </a:rPr>
                      <m:t>𝟐</m:t>
                    </m:r>
                  </m:oMath>
                </a14:m>
                <a:endParaRPr lang="en-SG" dirty="0"/>
              </a:p>
            </p:txBody>
          </p:sp>
        </mc:Choice>
        <mc:Fallback>
          <p:sp>
            <p:nvSpPr>
              <p:cNvPr id="7" name="TextBox 6"/>
              <p:cNvSpPr txBox="1">
                <a:spLocks noRot="1" noChangeAspect="1" noMove="1" noResize="1" noEditPoints="1" noAdjustHandles="1" noChangeArrowheads="1" noChangeShapeType="1" noTextEdit="1"/>
              </p:cNvSpPr>
              <p:nvPr/>
            </p:nvSpPr>
            <p:spPr>
              <a:xfrm>
                <a:off x="3734962" y="4784735"/>
                <a:ext cx="6678889" cy="369332"/>
              </a:xfrm>
              <a:prstGeom prst="rect">
                <a:avLst/>
              </a:prstGeom>
              <a:blipFill>
                <a:blip r:embed="rId2"/>
                <a:stretch>
                  <a:fillRect l="-822" t="-11667" b="-26667"/>
                </a:stretch>
              </a:blipFill>
            </p:spPr>
            <p:txBody>
              <a:bodyPr/>
              <a:lstStyle/>
              <a:p>
                <a:r>
                  <a:rPr lang="en-ZA">
                    <a:noFill/>
                  </a:rPr>
                  <a:t> </a:t>
                </a:r>
              </a:p>
            </p:txBody>
          </p:sp>
        </mc:Fallback>
      </mc:AlternateContent>
      <p:sp>
        <p:nvSpPr>
          <p:cNvPr id="8" name="Oval Callout 7"/>
          <p:cNvSpPr/>
          <p:nvPr/>
        </p:nvSpPr>
        <p:spPr bwMode="auto">
          <a:xfrm>
            <a:off x="6239118" y="3486576"/>
            <a:ext cx="2076859" cy="489526"/>
          </a:xfrm>
          <a:prstGeom prst="wedgeEllipseCallou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US" sz="1200" b="1" dirty="0">
                <a:latin typeface="Arial" charset="0"/>
                <a:cs typeface="Arial" charset="0"/>
              </a:rPr>
              <a:t>Only transform</a:t>
            </a:r>
            <a:r>
              <a:rPr lang="en-US" altLang="zh-CN" sz="1200" b="1" dirty="0">
                <a:latin typeface="Arial" charset="0"/>
                <a:cs typeface="Arial" charset="0"/>
              </a:rPr>
              <a:t>s</a:t>
            </a:r>
            <a:r>
              <a:rPr lang="en-US" sz="1200" b="1" dirty="0">
                <a:latin typeface="Arial" charset="0"/>
                <a:cs typeface="Arial" charset="0"/>
              </a:rPr>
              <a:t> shape</a:t>
            </a:r>
            <a:endParaRPr lang="en-SG" sz="1200" b="1" dirty="0">
              <a:latin typeface="Arial" charset="0"/>
              <a:cs typeface="Arial" charset="0"/>
            </a:endParaRPr>
          </a:p>
        </p:txBody>
      </p:sp>
      <p:sp>
        <p:nvSpPr>
          <p:cNvPr id="9" name="Oval Callout 11"/>
          <p:cNvSpPr/>
          <p:nvPr/>
        </p:nvSpPr>
        <p:spPr bwMode="auto">
          <a:xfrm>
            <a:off x="9313751" y="3592213"/>
            <a:ext cx="1818457" cy="389419"/>
          </a:xfrm>
          <a:prstGeom prst="wedgeEllipseCallou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US" sz="1200" b="1" dirty="0">
                <a:latin typeface="Arial" charset="0"/>
                <a:cs typeface="Arial" charset="0"/>
              </a:rPr>
              <a:t>Reduces cost</a:t>
            </a:r>
            <a:endParaRPr lang="en-SG" sz="1200" b="1" dirty="0">
              <a:latin typeface="Arial" charset="0"/>
              <a:cs typeface="Arial" charset="0"/>
            </a:endParaRPr>
          </a:p>
        </p:txBody>
      </p:sp>
      <p:grpSp>
        <p:nvGrpSpPr>
          <p:cNvPr id="10" name="Group 9"/>
          <p:cNvGrpSpPr/>
          <p:nvPr/>
        </p:nvGrpSpPr>
        <p:grpSpPr>
          <a:xfrm>
            <a:off x="2492182" y="4028691"/>
            <a:ext cx="899578" cy="798225"/>
            <a:chOff x="534742" y="2292075"/>
            <a:chExt cx="1516978" cy="1756409"/>
          </a:xfrm>
        </p:grpSpPr>
        <p:sp>
          <p:nvSpPr>
            <p:cNvPr id="11" name="Oval 10"/>
            <p:cNvSpPr/>
            <p:nvPr/>
          </p:nvSpPr>
          <p:spPr>
            <a:xfrm>
              <a:off x="1475655" y="2292075"/>
              <a:ext cx="576065" cy="5760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1</a:t>
              </a:r>
              <a:endParaRPr lang="en-SG" sz="1200" b="1" dirty="0">
                <a:solidFill>
                  <a:schemeClr val="tx1"/>
                </a:solidFill>
              </a:endParaRPr>
            </a:p>
          </p:txBody>
        </p:sp>
        <p:sp>
          <p:nvSpPr>
            <p:cNvPr id="12" name="Oval 11"/>
            <p:cNvSpPr/>
            <p:nvPr/>
          </p:nvSpPr>
          <p:spPr>
            <a:xfrm>
              <a:off x="534742" y="2939759"/>
              <a:ext cx="576063" cy="5760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0</a:t>
              </a:r>
              <a:endParaRPr lang="en-SG" sz="1200" b="1" dirty="0">
                <a:solidFill>
                  <a:schemeClr val="tx1"/>
                </a:solidFill>
              </a:endParaRPr>
            </a:p>
          </p:txBody>
        </p:sp>
        <p:sp>
          <p:nvSpPr>
            <p:cNvPr id="13" name="Oval 12"/>
            <p:cNvSpPr/>
            <p:nvPr/>
          </p:nvSpPr>
          <p:spPr>
            <a:xfrm>
              <a:off x="1475655" y="3472420"/>
              <a:ext cx="576065" cy="5760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a:t>
              </a:r>
              <a:endParaRPr lang="en-SG" sz="1200" b="1" dirty="0">
                <a:solidFill>
                  <a:schemeClr val="tx1"/>
                </a:solidFill>
              </a:endParaRPr>
            </a:p>
          </p:txBody>
        </p:sp>
        <p:cxnSp>
          <p:nvCxnSpPr>
            <p:cNvPr id="14" name="Straight Arrow Connector 13"/>
            <p:cNvCxnSpPr>
              <a:stCxn id="12" idx="5"/>
              <a:endCxn id="13" idx="2"/>
            </p:cNvCxnSpPr>
            <p:nvPr/>
          </p:nvCxnSpPr>
          <p:spPr>
            <a:xfrm>
              <a:off x="1026443" y="3431459"/>
              <a:ext cx="449212" cy="32899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2" idx="7"/>
              <a:endCxn id="11" idx="2"/>
            </p:cNvCxnSpPr>
            <p:nvPr/>
          </p:nvCxnSpPr>
          <p:spPr>
            <a:xfrm flipV="1">
              <a:off x="1026443" y="2580107"/>
              <a:ext cx="449212" cy="44401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3736107" y="3990527"/>
            <a:ext cx="1327657" cy="706035"/>
            <a:chOff x="2854785" y="1979548"/>
            <a:chExt cx="1713393" cy="1110760"/>
          </a:xfrm>
        </p:grpSpPr>
        <p:sp>
          <p:nvSpPr>
            <p:cNvPr id="17" name="Rectangle 16"/>
            <p:cNvSpPr/>
            <p:nvPr/>
          </p:nvSpPr>
          <p:spPr>
            <a:xfrm>
              <a:off x="2915816" y="2459340"/>
              <a:ext cx="799243" cy="28857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0</a:t>
              </a:r>
              <a:endParaRPr lang="en-SG" sz="1200" b="1" dirty="0">
                <a:solidFill>
                  <a:schemeClr val="tx1"/>
                </a:solidFill>
              </a:endParaRPr>
            </a:p>
          </p:txBody>
        </p:sp>
        <p:sp>
          <p:nvSpPr>
            <p:cNvPr id="18" name="Rectangle 17"/>
            <p:cNvSpPr/>
            <p:nvPr/>
          </p:nvSpPr>
          <p:spPr>
            <a:xfrm>
              <a:off x="3707904" y="2459338"/>
              <a:ext cx="860274" cy="28857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1</a:t>
              </a:r>
              <a:endParaRPr lang="en-SG" sz="1200" b="1" dirty="0">
                <a:solidFill>
                  <a:schemeClr val="tx1"/>
                </a:solidFill>
              </a:endParaRPr>
            </a:p>
          </p:txBody>
        </p:sp>
        <p:sp>
          <p:nvSpPr>
            <p:cNvPr id="19" name="Rectangle 18"/>
            <p:cNvSpPr/>
            <p:nvPr/>
          </p:nvSpPr>
          <p:spPr>
            <a:xfrm>
              <a:off x="3707904" y="2768719"/>
              <a:ext cx="860274" cy="32158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a:t>
              </a:r>
              <a:endParaRPr lang="en-SG" sz="1200" b="1" dirty="0">
                <a:solidFill>
                  <a:schemeClr val="tx1"/>
                </a:solidFill>
              </a:endParaRPr>
            </a:p>
          </p:txBody>
        </p:sp>
        <p:cxnSp>
          <p:nvCxnSpPr>
            <p:cNvPr id="20" name="Straight Arrow Connector 19"/>
            <p:cNvCxnSpPr/>
            <p:nvPr/>
          </p:nvCxnSpPr>
          <p:spPr>
            <a:xfrm>
              <a:off x="2915816" y="2348880"/>
              <a:ext cx="799243"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707904" y="2348880"/>
              <a:ext cx="860274"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854785" y="1986642"/>
              <a:ext cx="759641" cy="435785"/>
            </a:xfrm>
            <a:prstGeom prst="rect">
              <a:avLst/>
            </a:prstGeom>
            <a:noFill/>
          </p:spPr>
          <p:txBody>
            <a:bodyPr wrap="none" rtlCol="0">
              <a:spAutoFit/>
            </a:bodyPr>
            <a:lstStyle/>
            <a:p>
              <a:r>
                <a:rPr lang="en-US" sz="1200" b="1" dirty="0"/>
                <a:t>30min</a:t>
              </a:r>
              <a:endParaRPr lang="en-SG" sz="1200" b="1" dirty="0"/>
            </a:p>
          </p:txBody>
        </p:sp>
        <p:sp>
          <p:nvSpPr>
            <p:cNvPr id="23" name="TextBox 22"/>
            <p:cNvSpPr txBox="1"/>
            <p:nvPr/>
          </p:nvSpPr>
          <p:spPr>
            <a:xfrm>
              <a:off x="3707903" y="1979548"/>
              <a:ext cx="759641" cy="435785"/>
            </a:xfrm>
            <a:prstGeom prst="rect">
              <a:avLst/>
            </a:prstGeom>
            <a:noFill/>
          </p:spPr>
          <p:txBody>
            <a:bodyPr wrap="none" rtlCol="0">
              <a:spAutoFit/>
            </a:bodyPr>
            <a:lstStyle/>
            <a:p>
              <a:r>
                <a:rPr lang="en-US" sz="1200" b="1" dirty="0"/>
                <a:t>4</a:t>
              </a:r>
              <a:r>
                <a:rPr lang="en-US" sz="1200" b="1" dirty="0"/>
                <a:t>0min</a:t>
              </a:r>
              <a:endParaRPr lang="en-SG" sz="1200" b="1" dirty="0"/>
            </a:p>
          </p:txBody>
        </p:sp>
      </p:grpSp>
      <p:sp>
        <p:nvSpPr>
          <p:cNvPr id="24" name="Down Arrow 23"/>
          <p:cNvSpPr/>
          <p:nvPr/>
        </p:nvSpPr>
        <p:spPr>
          <a:xfrm rot="16200000">
            <a:off x="5320508" y="4269710"/>
            <a:ext cx="366165" cy="482485"/>
          </a:xfrm>
          <a:prstGeom prst="down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200">
              <a:solidFill>
                <a:schemeClr val="tx1"/>
              </a:solidFill>
            </a:endParaRPr>
          </a:p>
        </p:txBody>
      </p:sp>
      <p:sp>
        <p:nvSpPr>
          <p:cNvPr id="25" name="TextBox 24"/>
          <p:cNvSpPr txBox="1"/>
          <p:nvPr/>
        </p:nvSpPr>
        <p:spPr>
          <a:xfrm>
            <a:off x="5133582" y="4601441"/>
            <a:ext cx="729454" cy="276999"/>
          </a:xfrm>
          <a:prstGeom prst="rect">
            <a:avLst/>
          </a:prstGeom>
          <a:noFill/>
        </p:spPr>
        <p:txBody>
          <a:bodyPr wrap="square" rtlCol="0">
            <a:spAutoFit/>
          </a:bodyPr>
          <a:lstStyle/>
          <a:p>
            <a:r>
              <a:rPr lang="en-US" sz="1200" b="1" dirty="0"/>
              <a:t>Move</a:t>
            </a:r>
            <a:endParaRPr lang="en-SG" sz="1200" b="1" dirty="0"/>
          </a:p>
        </p:txBody>
      </p:sp>
      <p:sp>
        <p:nvSpPr>
          <p:cNvPr id="26" name="TextBox 25"/>
          <p:cNvSpPr txBox="1"/>
          <p:nvPr/>
        </p:nvSpPr>
        <p:spPr>
          <a:xfrm>
            <a:off x="2552632" y="3619310"/>
            <a:ext cx="775331" cy="461665"/>
          </a:xfrm>
          <a:prstGeom prst="rect">
            <a:avLst/>
          </a:prstGeom>
          <a:noFill/>
        </p:spPr>
        <p:txBody>
          <a:bodyPr wrap="square" rtlCol="0">
            <a:spAutoFit/>
          </a:bodyPr>
          <a:lstStyle/>
          <a:p>
            <a:r>
              <a:rPr lang="en-US" sz="1200" b="1" i="1" dirty="0"/>
              <a:t>D</a:t>
            </a:r>
            <a:r>
              <a:rPr lang="en-US" sz="1200" b="1" dirty="0"/>
              <a:t> = 120min</a:t>
            </a:r>
            <a:endParaRPr lang="en-SG" sz="1200" b="1" dirty="0"/>
          </a:p>
        </p:txBody>
      </p:sp>
      <p:grpSp>
        <p:nvGrpSpPr>
          <p:cNvPr id="27" name="Group 26"/>
          <p:cNvGrpSpPr/>
          <p:nvPr/>
        </p:nvGrpSpPr>
        <p:grpSpPr>
          <a:xfrm>
            <a:off x="5813362" y="4018171"/>
            <a:ext cx="1997219" cy="488400"/>
            <a:chOff x="2854785" y="1979548"/>
            <a:chExt cx="2577489" cy="768369"/>
          </a:xfrm>
        </p:grpSpPr>
        <p:sp>
          <p:nvSpPr>
            <p:cNvPr id="28" name="TextBox 27"/>
            <p:cNvSpPr txBox="1"/>
            <p:nvPr/>
          </p:nvSpPr>
          <p:spPr>
            <a:xfrm>
              <a:off x="3707904" y="1979548"/>
              <a:ext cx="759641" cy="435785"/>
            </a:xfrm>
            <a:prstGeom prst="rect">
              <a:avLst/>
            </a:prstGeom>
            <a:noFill/>
          </p:spPr>
          <p:txBody>
            <a:bodyPr wrap="none" rtlCol="0">
              <a:spAutoFit/>
            </a:bodyPr>
            <a:lstStyle/>
            <a:p>
              <a:r>
                <a:rPr lang="en-US" sz="1200" b="1" dirty="0"/>
                <a:t>4</a:t>
              </a:r>
              <a:r>
                <a:rPr lang="en-US" sz="1200" b="1" dirty="0"/>
                <a:t>0min</a:t>
              </a:r>
              <a:endParaRPr lang="en-SG" sz="1200" b="1" dirty="0"/>
            </a:p>
          </p:txBody>
        </p:sp>
        <p:sp>
          <p:nvSpPr>
            <p:cNvPr id="29" name="Rectangle 28"/>
            <p:cNvSpPr/>
            <p:nvPr/>
          </p:nvSpPr>
          <p:spPr>
            <a:xfrm>
              <a:off x="2915816" y="2459340"/>
              <a:ext cx="799243" cy="28857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0</a:t>
              </a:r>
              <a:endParaRPr lang="en-SG" sz="1200" b="1" dirty="0">
                <a:solidFill>
                  <a:schemeClr val="tx1"/>
                </a:solidFill>
              </a:endParaRPr>
            </a:p>
          </p:txBody>
        </p:sp>
        <p:sp>
          <p:nvSpPr>
            <p:cNvPr id="30" name="Rectangle 29"/>
            <p:cNvSpPr/>
            <p:nvPr/>
          </p:nvSpPr>
          <p:spPr>
            <a:xfrm>
              <a:off x="3707904" y="2459338"/>
              <a:ext cx="860274" cy="28857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1</a:t>
              </a:r>
              <a:endParaRPr lang="en-SG" sz="1200" b="1" dirty="0">
                <a:solidFill>
                  <a:schemeClr val="tx1"/>
                </a:solidFill>
              </a:endParaRPr>
            </a:p>
          </p:txBody>
        </p:sp>
        <p:sp>
          <p:nvSpPr>
            <p:cNvPr id="31" name="Rectangle 30"/>
            <p:cNvSpPr/>
            <p:nvPr/>
          </p:nvSpPr>
          <p:spPr>
            <a:xfrm>
              <a:off x="4572000" y="2459340"/>
              <a:ext cx="860274" cy="28857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a:t>
              </a:r>
              <a:endParaRPr lang="en-SG" sz="1200" b="1" dirty="0">
                <a:solidFill>
                  <a:schemeClr val="tx1"/>
                </a:solidFill>
              </a:endParaRPr>
            </a:p>
          </p:txBody>
        </p:sp>
        <p:cxnSp>
          <p:nvCxnSpPr>
            <p:cNvPr id="32" name="Straight Arrow Connector 31"/>
            <p:cNvCxnSpPr/>
            <p:nvPr/>
          </p:nvCxnSpPr>
          <p:spPr>
            <a:xfrm>
              <a:off x="2915816" y="2348880"/>
              <a:ext cx="799243"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3707904" y="2348880"/>
              <a:ext cx="860274"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854785" y="1986642"/>
              <a:ext cx="759641" cy="435785"/>
            </a:xfrm>
            <a:prstGeom prst="rect">
              <a:avLst/>
            </a:prstGeom>
            <a:noFill/>
          </p:spPr>
          <p:txBody>
            <a:bodyPr wrap="none" rtlCol="0">
              <a:spAutoFit/>
            </a:bodyPr>
            <a:lstStyle/>
            <a:p>
              <a:r>
                <a:rPr lang="en-US" sz="1200" b="1" dirty="0"/>
                <a:t>30min</a:t>
              </a:r>
              <a:endParaRPr lang="en-SG" sz="1200" b="1" dirty="0"/>
            </a:p>
          </p:txBody>
        </p:sp>
      </p:grpSp>
      <p:sp>
        <p:nvSpPr>
          <p:cNvPr id="35" name="TextBox 34"/>
          <p:cNvSpPr txBox="1"/>
          <p:nvPr/>
        </p:nvSpPr>
        <p:spPr>
          <a:xfrm>
            <a:off x="7183780" y="4021862"/>
            <a:ext cx="626801" cy="276999"/>
          </a:xfrm>
          <a:prstGeom prst="rect">
            <a:avLst/>
          </a:prstGeom>
          <a:noFill/>
        </p:spPr>
        <p:txBody>
          <a:bodyPr wrap="square" rtlCol="0">
            <a:spAutoFit/>
          </a:bodyPr>
          <a:lstStyle/>
          <a:p>
            <a:r>
              <a:rPr lang="en-US" sz="1200" b="1" dirty="0"/>
              <a:t>4</a:t>
            </a:r>
            <a:r>
              <a:rPr lang="en-US" sz="1200" b="1" dirty="0"/>
              <a:t>0min</a:t>
            </a:r>
            <a:endParaRPr lang="en-SG" sz="1200" b="1" dirty="0"/>
          </a:p>
        </p:txBody>
      </p:sp>
      <p:cxnSp>
        <p:nvCxnSpPr>
          <p:cNvPr id="36" name="Straight Arrow Connector 35"/>
          <p:cNvCxnSpPr/>
          <p:nvPr/>
        </p:nvCxnSpPr>
        <p:spPr>
          <a:xfrm>
            <a:off x="7176624" y="4250704"/>
            <a:ext cx="666600"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37" name="Group 36"/>
          <p:cNvGrpSpPr/>
          <p:nvPr/>
        </p:nvGrpSpPr>
        <p:grpSpPr>
          <a:xfrm>
            <a:off x="8546508" y="4323141"/>
            <a:ext cx="1949928" cy="183430"/>
            <a:chOff x="2915816" y="2459338"/>
            <a:chExt cx="2516458" cy="288579"/>
          </a:xfrm>
        </p:grpSpPr>
        <p:sp>
          <p:nvSpPr>
            <p:cNvPr id="38" name="Rectangle 37"/>
            <p:cNvSpPr/>
            <p:nvPr/>
          </p:nvSpPr>
          <p:spPr>
            <a:xfrm>
              <a:off x="2915816" y="2459340"/>
              <a:ext cx="799243" cy="28857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0</a:t>
              </a:r>
              <a:endParaRPr lang="en-SG" sz="1200" b="1" dirty="0">
                <a:solidFill>
                  <a:schemeClr val="tx1"/>
                </a:solidFill>
              </a:endParaRPr>
            </a:p>
          </p:txBody>
        </p:sp>
        <p:sp>
          <p:nvSpPr>
            <p:cNvPr id="39" name="Rectangle 38"/>
            <p:cNvSpPr/>
            <p:nvPr/>
          </p:nvSpPr>
          <p:spPr>
            <a:xfrm>
              <a:off x="3707904" y="2459338"/>
              <a:ext cx="860274" cy="28857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1</a:t>
              </a:r>
              <a:endParaRPr lang="en-SG" sz="1200" b="1" dirty="0">
                <a:solidFill>
                  <a:schemeClr val="tx1"/>
                </a:solidFill>
              </a:endParaRPr>
            </a:p>
          </p:txBody>
        </p:sp>
        <p:sp>
          <p:nvSpPr>
            <p:cNvPr id="40" name="Rectangle 39"/>
            <p:cNvSpPr/>
            <p:nvPr/>
          </p:nvSpPr>
          <p:spPr>
            <a:xfrm>
              <a:off x="4572000" y="2459340"/>
              <a:ext cx="860274" cy="28857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a:t>
              </a:r>
              <a:endParaRPr lang="en-SG" sz="1200" b="1" dirty="0">
                <a:solidFill>
                  <a:schemeClr val="tx1"/>
                </a:solidFill>
              </a:endParaRPr>
            </a:p>
          </p:txBody>
        </p:sp>
      </p:grpSp>
      <p:sp>
        <p:nvSpPr>
          <p:cNvPr id="41" name="Down Arrow 40"/>
          <p:cNvSpPr/>
          <p:nvPr/>
        </p:nvSpPr>
        <p:spPr>
          <a:xfrm rot="16200000">
            <a:off x="8000304" y="4221116"/>
            <a:ext cx="366165" cy="467127"/>
          </a:xfrm>
          <a:prstGeom prst="down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200">
              <a:solidFill>
                <a:schemeClr val="tx1"/>
              </a:solidFill>
            </a:endParaRPr>
          </a:p>
        </p:txBody>
      </p:sp>
      <p:sp>
        <p:nvSpPr>
          <p:cNvPr id="42" name="TextBox 41"/>
          <p:cNvSpPr txBox="1"/>
          <p:nvPr/>
        </p:nvSpPr>
        <p:spPr>
          <a:xfrm>
            <a:off x="7819633" y="4534448"/>
            <a:ext cx="732313" cy="276999"/>
          </a:xfrm>
          <a:prstGeom prst="rect">
            <a:avLst/>
          </a:prstGeom>
          <a:noFill/>
        </p:spPr>
        <p:txBody>
          <a:bodyPr wrap="square" rtlCol="0">
            <a:spAutoFit/>
          </a:bodyPr>
          <a:lstStyle/>
          <a:p>
            <a:r>
              <a:rPr lang="en-US" sz="1200" b="1" dirty="0"/>
              <a:t>Merge</a:t>
            </a:r>
            <a:endParaRPr lang="en-SG" sz="1200" b="1" dirty="0"/>
          </a:p>
        </p:txBody>
      </p:sp>
      <p:cxnSp>
        <p:nvCxnSpPr>
          <p:cNvPr id="43" name="Straight Arrow Connector 42"/>
          <p:cNvCxnSpPr/>
          <p:nvPr/>
        </p:nvCxnSpPr>
        <p:spPr>
          <a:xfrm>
            <a:off x="8517659" y="4230465"/>
            <a:ext cx="1972283" cy="21135"/>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9277253" y="4005599"/>
            <a:ext cx="778321" cy="276999"/>
          </a:xfrm>
          <a:prstGeom prst="rect">
            <a:avLst/>
          </a:prstGeom>
          <a:noFill/>
        </p:spPr>
        <p:txBody>
          <a:bodyPr wrap="square" rtlCol="0">
            <a:spAutoFit/>
          </a:bodyPr>
          <a:lstStyle/>
          <a:p>
            <a:r>
              <a:rPr lang="en-US" sz="1200" b="1" dirty="0"/>
              <a:t>110min</a:t>
            </a:r>
            <a:endParaRPr lang="en-SG" sz="1200" b="1" dirty="0"/>
          </a:p>
        </p:txBody>
      </p:sp>
      <p:sp>
        <p:nvSpPr>
          <p:cNvPr id="45" name="Rectangle 44"/>
          <p:cNvSpPr/>
          <p:nvPr/>
        </p:nvSpPr>
        <p:spPr>
          <a:xfrm>
            <a:off x="8517658" y="4313854"/>
            <a:ext cx="2008686" cy="22191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200" b="1" dirty="0">
              <a:solidFill>
                <a:schemeClr val="tx1"/>
              </a:solidFill>
            </a:endParaRPr>
          </a:p>
        </p:txBody>
      </p:sp>
      <p:sp>
        <p:nvSpPr>
          <p:cNvPr id="2" name="Espace réservé du numéro de diapositive 1"/>
          <p:cNvSpPr>
            <a:spLocks noGrp="1"/>
          </p:cNvSpPr>
          <p:nvPr>
            <p:ph type="sldNum" sz="quarter" idx="12"/>
          </p:nvPr>
        </p:nvSpPr>
        <p:spPr/>
        <p:txBody>
          <a:bodyPr/>
          <a:lstStyle/>
          <a:p>
            <a:fld id="{BBF3D8CE-58F1-40DD-970B-B96FBB2BDA32}" type="slidenum">
              <a:rPr lang="en-ZA" smtClean="0"/>
              <a:t>5</a:t>
            </a:fld>
            <a:endParaRPr lang="en-ZA"/>
          </a:p>
        </p:txBody>
      </p:sp>
    </p:spTree>
    <p:extLst>
      <p:ext uri="{BB962C8B-B14F-4D97-AF65-F5344CB8AC3E}">
        <p14:creationId xmlns:p14="http://schemas.microsoft.com/office/powerpoint/2010/main" val="103148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 Results</a:t>
            </a:r>
            <a:endParaRPr lang="en-US" dirty="0"/>
          </a:p>
        </p:txBody>
      </p:sp>
      <p:sp>
        <p:nvSpPr>
          <p:cNvPr id="3" name="Content Placeholder 2"/>
          <p:cNvSpPr>
            <a:spLocks noGrp="1"/>
          </p:cNvSpPr>
          <p:nvPr>
            <p:ph idx="1"/>
          </p:nvPr>
        </p:nvSpPr>
        <p:spPr/>
        <p:txBody>
          <a:bodyPr/>
          <a:lstStyle/>
          <a:p>
            <a:r>
              <a:rPr lang="en-US" dirty="0" smtClean="0"/>
              <a:t>Cost and performance optimization results</a:t>
            </a:r>
          </a:p>
          <a:p>
            <a:pPr lvl="1"/>
            <a:r>
              <a:rPr lang="en-US" dirty="0" err="1" smtClean="0"/>
              <a:t>ToF</a:t>
            </a:r>
            <a:r>
              <a:rPr lang="en-US" dirty="0" smtClean="0"/>
              <a:t> reduces average monetary cost by 29% over Auto-scaling</a:t>
            </a:r>
          </a:p>
          <a:p>
            <a:pPr lvl="1"/>
            <a:r>
              <a:rPr lang="en-US" dirty="0" err="1" smtClean="0"/>
              <a:t>ToF</a:t>
            </a:r>
            <a:r>
              <a:rPr lang="en-US" dirty="0" smtClean="0"/>
              <a:t> reduces </a:t>
            </a:r>
            <a:r>
              <a:rPr lang="en-US" dirty="0"/>
              <a:t>average execution </a:t>
            </a:r>
            <a:r>
              <a:rPr lang="en-US" dirty="0" smtClean="0"/>
              <a:t>time by 21% over Auto-scaling</a:t>
            </a:r>
          </a:p>
          <a:p>
            <a:pPr lvl="1"/>
            <a:endParaRPr 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0943" y="3187378"/>
            <a:ext cx="3997319" cy="2812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oup 5"/>
          <p:cNvGrpSpPr/>
          <p:nvPr/>
        </p:nvGrpSpPr>
        <p:grpSpPr>
          <a:xfrm>
            <a:off x="2781895" y="3926926"/>
            <a:ext cx="802823" cy="746777"/>
            <a:chOff x="1281107" y="2247052"/>
            <a:chExt cx="1044772" cy="579568"/>
          </a:xfrm>
        </p:grpSpPr>
        <p:sp>
          <p:nvSpPr>
            <p:cNvPr id="7" name="Up-Down Arrow 6"/>
            <p:cNvSpPr/>
            <p:nvPr/>
          </p:nvSpPr>
          <p:spPr bwMode="auto">
            <a:xfrm>
              <a:off x="1888698" y="2486448"/>
              <a:ext cx="59497" cy="340172"/>
            </a:xfrm>
            <a:prstGeom prst="up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SG" b="1">
                <a:latin typeface="Arial" charset="0"/>
                <a:cs typeface="Arial" charset="0"/>
              </a:endParaRPr>
            </a:p>
          </p:txBody>
        </p:sp>
        <p:sp>
          <p:nvSpPr>
            <p:cNvPr id="8" name="Minus 7"/>
            <p:cNvSpPr/>
            <p:nvPr/>
          </p:nvSpPr>
          <p:spPr bwMode="auto">
            <a:xfrm>
              <a:off x="1281107" y="2446020"/>
              <a:ext cx="890588" cy="45719"/>
            </a:xfrm>
            <a:prstGeom prst="mathMinus">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SG" b="1">
                <a:latin typeface="Arial" charset="0"/>
                <a:cs typeface="Arial" charset="0"/>
              </a:endParaRPr>
            </a:p>
          </p:txBody>
        </p:sp>
        <p:sp>
          <p:nvSpPr>
            <p:cNvPr id="9" name="TextBox 8"/>
            <p:cNvSpPr txBox="1"/>
            <p:nvPr/>
          </p:nvSpPr>
          <p:spPr>
            <a:xfrm>
              <a:off x="1680855" y="2247052"/>
              <a:ext cx="645024" cy="238863"/>
            </a:xfrm>
            <a:prstGeom prst="rect">
              <a:avLst/>
            </a:prstGeom>
            <a:noFill/>
          </p:spPr>
          <p:txBody>
            <a:bodyPr wrap="none" rtlCol="0">
              <a:spAutoFit/>
            </a:bodyPr>
            <a:lstStyle/>
            <a:p>
              <a:r>
                <a:rPr lang="en-US" sz="1400" dirty="0"/>
                <a:t>29%</a:t>
              </a:r>
              <a:endParaRPr lang="en-SG" sz="1400" dirty="0"/>
            </a:p>
          </p:txBody>
        </p:sp>
      </p:grpSp>
      <p:pic>
        <p:nvPicPr>
          <p:cNvPr id="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3323" y="3240531"/>
            <a:ext cx="3838368" cy="2761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5" name="Group 34"/>
          <p:cNvGrpSpPr/>
          <p:nvPr/>
        </p:nvGrpSpPr>
        <p:grpSpPr>
          <a:xfrm>
            <a:off x="7248468" y="3970070"/>
            <a:ext cx="875068" cy="597044"/>
            <a:chOff x="1178432" y="2447556"/>
            <a:chExt cx="1218418" cy="502018"/>
          </a:xfrm>
        </p:grpSpPr>
        <p:sp>
          <p:nvSpPr>
            <p:cNvPr id="36" name="Up-Down Arrow 35"/>
            <p:cNvSpPr/>
            <p:nvPr/>
          </p:nvSpPr>
          <p:spPr bwMode="auto">
            <a:xfrm>
              <a:off x="1888485" y="2698993"/>
              <a:ext cx="63658" cy="250581"/>
            </a:xfrm>
            <a:prstGeom prst="up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SG" b="1">
                <a:latin typeface="Arial" charset="0"/>
                <a:cs typeface="Arial" charset="0"/>
              </a:endParaRPr>
            </a:p>
          </p:txBody>
        </p:sp>
        <p:sp>
          <p:nvSpPr>
            <p:cNvPr id="37" name="Minus 36"/>
            <p:cNvSpPr/>
            <p:nvPr/>
          </p:nvSpPr>
          <p:spPr bwMode="auto">
            <a:xfrm>
              <a:off x="1178432" y="2665171"/>
              <a:ext cx="890590" cy="45719"/>
            </a:xfrm>
            <a:prstGeom prst="mathMinus">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en-SG" b="1">
                <a:latin typeface="Arial" charset="0"/>
                <a:cs typeface="Arial" charset="0"/>
              </a:endParaRPr>
            </a:p>
          </p:txBody>
        </p:sp>
        <p:sp>
          <p:nvSpPr>
            <p:cNvPr id="38" name="TextBox 37"/>
            <p:cNvSpPr txBox="1"/>
            <p:nvPr/>
          </p:nvSpPr>
          <p:spPr>
            <a:xfrm>
              <a:off x="1706723" y="2447556"/>
              <a:ext cx="690127" cy="258791"/>
            </a:xfrm>
            <a:prstGeom prst="rect">
              <a:avLst/>
            </a:prstGeom>
            <a:noFill/>
          </p:spPr>
          <p:txBody>
            <a:bodyPr wrap="none" rtlCol="0">
              <a:spAutoFit/>
            </a:bodyPr>
            <a:lstStyle/>
            <a:p>
              <a:r>
                <a:rPr lang="en-US" sz="1400" dirty="0"/>
                <a:t>21%</a:t>
              </a:r>
              <a:endParaRPr lang="en-SG" sz="1400" dirty="0"/>
            </a:p>
          </p:txBody>
        </p:sp>
      </p:grpSp>
      <p:sp>
        <p:nvSpPr>
          <p:cNvPr id="55" name="TextBox 54"/>
          <p:cNvSpPr txBox="1"/>
          <p:nvPr/>
        </p:nvSpPr>
        <p:spPr>
          <a:xfrm>
            <a:off x="2059243" y="6001125"/>
            <a:ext cx="4316974" cy="523220"/>
          </a:xfrm>
          <a:prstGeom prst="rect">
            <a:avLst/>
          </a:prstGeom>
          <a:noFill/>
        </p:spPr>
        <p:txBody>
          <a:bodyPr wrap="square" rtlCol="0">
            <a:spAutoFit/>
          </a:bodyPr>
          <a:lstStyle/>
          <a:p>
            <a:r>
              <a:rPr lang="en-US" sz="1400" dirty="0"/>
              <a:t>Monetary cost optimizations on Montage, </a:t>
            </a:r>
            <a:r>
              <a:rPr lang="en-US" sz="1400" dirty="0" err="1"/>
              <a:t>Ligo</a:t>
            </a:r>
            <a:r>
              <a:rPr lang="en-US" sz="1400" dirty="0"/>
              <a:t> and Mixed workflows on Amazon EC2.</a:t>
            </a:r>
            <a:endParaRPr lang="en-US" sz="1400" dirty="0"/>
          </a:p>
        </p:txBody>
      </p:sp>
      <p:sp>
        <p:nvSpPr>
          <p:cNvPr id="56" name="TextBox 55"/>
          <p:cNvSpPr txBox="1"/>
          <p:nvPr/>
        </p:nvSpPr>
        <p:spPr>
          <a:xfrm>
            <a:off x="6436000" y="6006047"/>
            <a:ext cx="4290987" cy="523220"/>
          </a:xfrm>
          <a:prstGeom prst="rect">
            <a:avLst/>
          </a:prstGeom>
          <a:noFill/>
        </p:spPr>
        <p:txBody>
          <a:bodyPr wrap="square" rtlCol="0">
            <a:spAutoFit/>
          </a:bodyPr>
          <a:lstStyle/>
          <a:p>
            <a:r>
              <a:rPr lang="en-US" sz="1400" dirty="0"/>
              <a:t>Performance optimizations on Montage, </a:t>
            </a:r>
            <a:r>
              <a:rPr lang="en-US" sz="1400" dirty="0" err="1"/>
              <a:t>Ligo</a:t>
            </a:r>
            <a:r>
              <a:rPr lang="en-US" sz="1400" dirty="0"/>
              <a:t> and Mixed workflows on Amazon EC2.</a:t>
            </a:r>
            <a:endParaRPr lang="en-US" sz="1400" dirty="0"/>
          </a:p>
        </p:txBody>
      </p:sp>
      <p:sp>
        <p:nvSpPr>
          <p:cNvPr id="10" name="Espace réservé du numéro de diapositive 9"/>
          <p:cNvSpPr>
            <a:spLocks noGrp="1"/>
          </p:cNvSpPr>
          <p:nvPr>
            <p:ph type="sldNum" sz="quarter" idx="12"/>
          </p:nvPr>
        </p:nvSpPr>
        <p:spPr/>
        <p:txBody>
          <a:bodyPr/>
          <a:lstStyle/>
          <a:p>
            <a:fld id="{BBF3D8CE-58F1-40DD-970B-B96FBB2BDA32}" type="slidenum">
              <a:rPr lang="en-ZA" smtClean="0"/>
              <a:t>6</a:t>
            </a:fld>
            <a:endParaRPr lang="en-ZA"/>
          </a:p>
        </p:txBody>
      </p:sp>
    </p:spTree>
    <p:extLst>
      <p:ext uri="{BB962C8B-B14F-4D97-AF65-F5344CB8AC3E}">
        <p14:creationId xmlns:p14="http://schemas.microsoft.com/office/powerpoint/2010/main" val="8338399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zh-CN" altLang="en-US" dirty="0"/>
              <a:t>云平</a:t>
            </a:r>
            <a:r>
              <a:rPr lang="zh-CN" altLang="en-US" dirty="0" smtClean="0"/>
              <a:t>台上针对科学数据流的资源调度</a:t>
            </a:r>
            <a:endParaRPr lang="en-ZA" dirty="0"/>
          </a:p>
        </p:txBody>
      </p:sp>
      <p:sp>
        <p:nvSpPr>
          <p:cNvPr id="3" name="Espace réservé du contenu 2"/>
          <p:cNvSpPr>
            <a:spLocks noGrp="1"/>
          </p:cNvSpPr>
          <p:nvPr>
            <p:ph idx="1"/>
          </p:nvPr>
        </p:nvSpPr>
        <p:spPr/>
        <p:txBody>
          <a:bodyPr/>
          <a:lstStyle/>
          <a:p>
            <a:r>
              <a:rPr lang="en-ZA" dirty="0" err="1" smtClean="0"/>
              <a:t>ToF</a:t>
            </a:r>
            <a:r>
              <a:rPr lang="en-ZA" dirty="0"/>
              <a:t> </a:t>
            </a:r>
            <a:r>
              <a:rPr lang="en-US" dirty="0" smtClean="0"/>
              <a:t>(IEEE TCC)</a:t>
            </a:r>
            <a:endParaRPr lang="en-ZA" dirty="0" smtClean="0"/>
          </a:p>
          <a:p>
            <a:pPr lvl="1"/>
            <a:r>
              <a:rPr lang="zh-CN" altLang="en-US" dirty="0" smtClean="0"/>
              <a:t>通用的数据流结构转换模型</a:t>
            </a:r>
            <a:endParaRPr lang="en-US" altLang="zh-CN" dirty="0" smtClean="0"/>
          </a:p>
          <a:p>
            <a:pPr lvl="1"/>
            <a:r>
              <a:rPr lang="zh-CN" altLang="en-US" dirty="0" smtClean="0"/>
              <a:t>兼顾性能及成本的优化目标</a:t>
            </a:r>
            <a:endParaRPr lang="en-ZA" dirty="0" smtClean="0"/>
          </a:p>
          <a:p>
            <a:endParaRPr lang="en-ZA" dirty="0" smtClean="0"/>
          </a:p>
          <a:p>
            <a:r>
              <a:rPr lang="en-ZA" b="1" dirty="0" smtClean="0"/>
              <a:t>Deco (HPDC 2015)</a:t>
            </a:r>
          </a:p>
          <a:p>
            <a:pPr lvl="1"/>
            <a:r>
              <a:rPr lang="zh-CN" altLang="en-US" dirty="0" smtClean="0"/>
              <a:t>用</a:t>
            </a:r>
            <a:r>
              <a:rPr lang="zh-CN" altLang="en-US" dirty="0"/>
              <a:t>于</a:t>
            </a:r>
            <a:r>
              <a:rPr lang="zh-CN" altLang="en-US" dirty="0" smtClean="0"/>
              <a:t>描述数据流优化问题的申诉式语言</a:t>
            </a:r>
            <a:endParaRPr lang="en-ZA" dirty="0" smtClean="0"/>
          </a:p>
          <a:p>
            <a:pPr lvl="1"/>
            <a:r>
              <a:rPr lang="zh-CN" altLang="en-US" dirty="0"/>
              <a:t>考</a:t>
            </a:r>
            <a:r>
              <a:rPr lang="zh-CN" altLang="en-US" dirty="0" smtClean="0"/>
              <a:t>虑了云性能不稳定对优化结果的影响</a:t>
            </a:r>
            <a:endParaRPr lang="en-ZA" dirty="0" smtClean="0"/>
          </a:p>
          <a:p>
            <a:endParaRPr lang="en-ZA"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7</a:t>
            </a:fld>
            <a:endParaRPr lang="en-ZA"/>
          </a:p>
        </p:txBody>
      </p:sp>
    </p:spTree>
    <p:extLst>
      <p:ext uri="{BB962C8B-B14F-4D97-AF65-F5344CB8AC3E}">
        <p14:creationId xmlns:p14="http://schemas.microsoft.com/office/powerpoint/2010/main" val="40240469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Deco: A Declarative Optimization Framework</a:t>
            </a:r>
            <a:endParaRPr lang="en-SG" dirty="0"/>
          </a:p>
        </p:txBody>
      </p:sp>
      <p:sp>
        <p:nvSpPr>
          <p:cNvPr id="3" name="Content Placeholder 2"/>
          <p:cNvSpPr>
            <a:spLocks noGrp="1"/>
          </p:cNvSpPr>
          <p:nvPr>
            <p:ph idx="1"/>
          </p:nvPr>
        </p:nvSpPr>
        <p:spPr>
          <a:xfrm>
            <a:off x="838200" y="1600200"/>
            <a:ext cx="10515600" cy="4572000"/>
          </a:xfrm>
        </p:spPr>
        <p:txBody>
          <a:bodyPr>
            <a:normAutofit/>
          </a:bodyPr>
          <a:lstStyle/>
          <a:p>
            <a:r>
              <a:rPr lang="en-US" dirty="0" smtClean="0"/>
              <a:t>A declarative programming language </a:t>
            </a:r>
            <a:r>
              <a:rPr lang="en-US" b="1" dirty="0" err="1" smtClean="0"/>
              <a:t>WLog</a:t>
            </a:r>
            <a:r>
              <a:rPr lang="en-US" dirty="0" smtClean="0"/>
              <a:t> (extended from </a:t>
            </a:r>
            <a:r>
              <a:rPr lang="en-US" dirty="0" err="1" smtClean="0"/>
              <a:t>ProLog</a:t>
            </a:r>
            <a:r>
              <a:rPr lang="en-US" dirty="0" smtClean="0"/>
              <a:t>)</a:t>
            </a:r>
          </a:p>
          <a:p>
            <a:pPr lvl="1"/>
            <a:r>
              <a:rPr lang="en-SG" altLang="zh-SG" dirty="0" smtClean="0"/>
              <a:t>Keywords </a:t>
            </a:r>
            <a:r>
              <a:rPr lang="en-SG" altLang="zh-SG" dirty="0"/>
              <a:t>for optimization </a:t>
            </a:r>
            <a:r>
              <a:rPr lang="en-SG" altLang="zh-SG" dirty="0">
                <a:solidFill>
                  <a:srgbClr val="0000FF"/>
                </a:solidFill>
              </a:rPr>
              <a:t>goals</a:t>
            </a:r>
            <a:r>
              <a:rPr lang="en-SG" altLang="zh-SG" dirty="0"/>
              <a:t>, </a:t>
            </a:r>
            <a:r>
              <a:rPr lang="en-SG" altLang="zh-SG" dirty="0">
                <a:solidFill>
                  <a:srgbClr val="0000FF"/>
                </a:solidFill>
              </a:rPr>
              <a:t>constraints</a:t>
            </a:r>
            <a:r>
              <a:rPr lang="en-SG" altLang="zh-SG" dirty="0"/>
              <a:t> and </a:t>
            </a:r>
            <a:r>
              <a:rPr lang="en-SG" altLang="zh-SG" dirty="0">
                <a:solidFill>
                  <a:srgbClr val="0000FF"/>
                </a:solidFill>
              </a:rPr>
              <a:t>variables</a:t>
            </a:r>
            <a:r>
              <a:rPr lang="en-SG" altLang="zh-SG" dirty="0"/>
              <a:t>.</a:t>
            </a:r>
          </a:p>
          <a:p>
            <a:pPr lvl="1"/>
            <a:r>
              <a:rPr lang="en-SG" altLang="zh-SG" dirty="0"/>
              <a:t>Workflow- and cloud-specific facts for programmability.</a:t>
            </a:r>
          </a:p>
          <a:p>
            <a:pPr lvl="2"/>
            <a:r>
              <a:rPr lang="en-SG" altLang="zh-SG" dirty="0">
                <a:latin typeface="Bell MT" panose="02020503060305020303" pitchFamily="18" charset="0"/>
              </a:rPr>
              <a:t>import(</a:t>
            </a:r>
            <a:r>
              <a:rPr lang="en-SG" altLang="zh-SG" dirty="0" err="1">
                <a:latin typeface="Bell MT" panose="02020503060305020303" pitchFamily="18" charset="0"/>
              </a:rPr>
              <a:t>daxfile</a:t>
            </a:r>
            <a:r>
              <a:rPr lang="en-SG" altLang="zh-SG" dirty="0">
                <a:latin typeface="Bell MT" panose="02020503060305020303" pitchFamily="18" charset="0"/>
              </a:rPr>
              <a:t>)</a:t>
            </a:r>
            <a:r>
              <a:rPr lang="en-SG" altLang="zh-SG" dirty="0"/>
              <a:t> and </a:t>
            </a:r>
            <a:r>
              <a:rPr lang="en-SG" altLang="zh-SG" dirty="0">
                <a:latin typeface="Bell MT" panose="02020503060305020303" pitchFamily="18" charset="0"/>
              </a:rPr>
              <a:t>import(cloud)</a:t>
            </a:r>
            <a:endParaRPr lang="en-SG" altLang="zh-SG" dirty="0"/>
          </a:p>
          <a:p>
            <a:pPr lvl="1"/>
            <a:r>
              <a:rPr lang="en-US" altLang="zh-SG" dirty="0" smtClean="0"/>
              <a:t>Support probabilistic notion of performance/cost to capture cloud dynamics</a:t>
            </a:r>
            <a:r>
              <a:rPr lang="en-US" altLang="zh-SG" dirty="0" smtClean="0"/>
              <a:t>.</a:t>
            </a:r>
          </a:p>
          <a:p>
            <a:pPr lvl="2"/>
            <a:endParaRPr lang="en-SG" altLang="zh-SG" dirty="0" smtClean="0"/>
          </a:p>
          <a:p>
            <a:endParaRPr lang="en-US" dirty="0" smtClean="0"/>
          </a:p>
        </p:txBody>
      </p:sp>
      <p:sp>
        <p:nvSpPr>
          <p:cNvPr id="4" name="Espace réservé du numéro de diapositive 3"/>
          <p:cNvSpPr>
            <a:spLocks noGrp="1"/>
          </p:cNvSpPr>
          <p:nvPr>
            <p:ph type="sldNum" sz="quarter" idx="12"/>
          </p:nvPr>
        </p:nvSpPr>
        <p:spPr/>
        <p:txBody>
          <a:bodyPr/>
          <a:lstStyle/>
          <a:p>
            <a:fld id="{BBF3D8CE-58F1-40DD-970B-B96FBB2BDA32}" type="slidenum">
              <a:rPr lang="en-ZA" smtClean="0"/>
              <a:t>8</a:t>
            </a:fld>
            <a:endParaRPr lang="en-ZA"/>
          </a:p>
        </p:txBody>
      </p:sp>
    </p:spTree>
    <p:extLst>
      <p:ext uri="{BB962C8B-B14F-4D97-AF65-F5344CB8AC3E}">
        <p14:creationId xmlns:p14="http://schemas.microsoft.com/office/powerpoint/2010/main" val="2807105786"/>
      </p:ext>
    </p:extLst>
  </p:cSld>
  <p:clrMapOvr>
    <a:masterClrMapping/>
  </p:clrMapOvr>
  <mc:AlternateContent xmlns:mc="http://schemas.openxmlformats.org/markup-compatibility/2006" xmlns:p14="http://schemas.microsoft.com/office/powerpoint/2010/main">
    <mc:Choice Requires="p14">
      <p:transition spd="slow" p14:dur="2000" advTm="6631"/>
    </mc:Choice>
    <mc:Fallback xmlns="">
      <p:transition spd="slow" advTm="663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Deco: A Declarative Optimization Framework</a:t>
            </a:r>
            <a:endParaRPr lang="en-SG" dirty="0"/>
          </a:p>
        </p:txBody>
      </p:sp>
      <p:sp>
        <p:nvSpPr>
          <p:cNvPr id="3" name="Content Placeholder 2"/>
          <p:cNvSpPr>
            <a:spLocks noGrp="1"/>
          </p:cNvSpPr>
          <p:nvPr>
            <p:ph idx="1"/>
          </p:nvPr>
        </p:nvSpPr>
        <p:spPr>
          <a:xfrm>
            <a:off x="838200" y="1600200"/>
            <a:ext cx="10515600" cy="4572000"/>
          </a:xfrm>
        </p:spPr>
        <p:txBody>
          <a:bodyPr>
            <a:normAutofit/>
          </a:bodyPr>
          <a:lstStyle/>
          <a:p>
            <a:r>
              <a:rPr lang="en-US" dirty="0" smtClean="0"/>
              <a:t>A declarative programming language </a:t>
            </a:r>
            <a:r>
              <a:rPr lang="en-US" b="1" dirty="0" err="1" smtClean="0"/>
              <a:t>WLog</a:t>
            </a:r>
            <a:r>
              <a:rPr lang="en-US" dirty="0" smtClean="0"/>
              <a:t> (extended from </a:t>
            </a:r>
            <a:r>
              <a:rPr lang="en-US" dirty="0" err="1" smtClean="0"/>
              <a:t>ProLog</a:t>
            </a:r>
            <a:r>
              <a:rPr lang="en-US" dirty="0" smtClean="0"/>
              <a:t>)</a:t>
            </a:r>
          </a:p>
          <a:p>
            <a:pPr lvl="1"/>
            <a:r>
              <a:rPr lang="en-SG" altLang="zh-SG" dirty="0" smtClean="0"/>
              <a:t>Keywords </a:t>
            </a:r>
            <a:r>
              <a:rPr lang="en-SG" altLang="zh-SG" dirty="0"/>
              <a:t>for optimization </a:t>
            </a:r>
            <a:r>
              <a:rPr lang="en-SG" altLang="zh-SG" dirty="0">
                <a:solidFill>
                  <a:srgbClr val="0000FF"/>
                </a:solidFill>
              </a:rPr>
              <a:t>goals</a:t>
            </a:r>
            <a:r>
              <a:rPr lang="en-SG" altLang="zh-SG" dirty="0"/>
              <a:t>, </a:t>
            </a:r>
            <a:r>
              <a:rPr lang="en-SG" altLang="zh-SG" dirty="0">
                <a:solidFill>
                  <a:srgbClr val="0000FF"/>
                </a:solidFill>
              </a:rPr>
              <a:t>constraints</a:t>
            </a:r>
            <a:r>
              <a:rPr lang="en-SG" altLang="zh-SG" dirty="0"/>
              <a:t> and </a:t>
            </a:r>
            <a:r>
              <a:rPr lang="en-SG" altLang="zh-SG" dirty="0">
                <a:solidFill>
                  <a:srgbClr val="0000FF"/>
                </a:solidFill>
              </a:rPr>
              <a:t>variables</a:t>
            </a:r>
            <a:r>
              <a:rPr lang="en-SG" altLang="zh-SG" dirty="0"/>
              <a:t>.</a:t>
            </a:r>
          </a:p>
          <a:p>
            <a:pPr lvl="1"/>
            <a:r>
              <a:rPr lang="en-SG" altLang="zh-SG" dirty="0"/>
              <a:t>Workflow- and cloud-specific facts for programmability.</a:t>
            </a:r>
          </a:p>
          <a:p>
            <a:pPr lvl="2"/>
            <a:r>
              <a:rPr lang="en-SG" altLang="zh-SG" dirty="0">
                <a:latin typeface="Bell MT" panose="02020503060305020303" pitchFamily="18" charset="0"/>
              </a:rPr>
              <a:t>import(</a:t>
            </a:r>
            <a:r>
              <a:rPr lang="en-SG" altLang="zh-SG" dirty="0" err="1">
                <a:latin typeface="Bell MT" panose="02020503060305020303" pitchFamily="18" charset="0"/>
              </a:rPr>
              <a:t>daxfile</a:t>
            </a:r>
            <a:r>
              <a:rPr lang="en-SG" altLang="zh-SG" dirty="0">
                <a:latin typeface="Bell MT" panose="02020503060305020303" pitchFamily="18" charset="0"/>
              </a:rPr>
              <a:t>)</a:t>
            </a:r>
            <a:r>
              <a:rPr lang="en-SG" altLang="zh-SG" dirty="0"/>
              <a:t> and </a:t>
            </a:r>
            <a:r>
              <a:rPr lang="en-SG" altLang="zh-SG" dirty="0">
                <a:latin typeface="Bell MT" panose="02020503060305020303" pitchFamily="18" charset="0"/>
              </a:rPr>
              <a:t>import(cloud)</a:t>
            </a:r>
            <a:endParaRPr lang="en-SG" altLang="zh-SG" dirty="0"/>
          </a:p>
          <a:p>
            <a:pPr lvl="1"/>
            <a:r>
              <a:rPr lang="en-US" altLang="zh-SG" dirty="0" smtClean="0"/>
              <a:t>Support probabilistic notion of performance/cost to capture cloud dynamics</a:t>
            </a:r>
            <a:r>
              <a:rPr lang="en-US" altLang="zh-SG" dirty="0" smtClean="0"/>
              <a:t>.</a:t>
            </a:r>
          </a:p>
          <a:p>
            <a:pPr lvl="2"/>
            <a:r>
              <a:rPr lang="zh-SG" altLang="en-ZA" dirty="0" smtClean="0"/>
              <a:t>𝑃</a:t>
            </a:r>
            <a:r>
              <a:rPr lang="en-ZA" altLang="zh-SG" dirty="0" smtClean="0"/>
              <a:t>(</a:t>
            </a:r>
            <a:r>
              <a:rPr lang="zh-SG" altLang="en-ZA" dirty="0" smtClean="0"/>
              <a:t>𝑡</a:t>
            </a:r>
            <a:r>
              <a:rPr lang="en-ZA" altLang="zh-SG" dirty="0" smtClean="0"/>
              <a:t>_</a:t>
            </a:r>
            <a:r>
              <a:rPr lang="zh-SG" altLang="en-ZA" dirty="0" smtClean="0"/>
              <a:t>𝑤≤</a:t>
            </a:r>
            <a:r>
              <a:rPr lang="en-ZA" altLang="zh-SG" dirty="0" smtClean="0"/>
              <a:t>600 </a:t>
            </a:r>
            <a:r>
              <a:rPr lang="zh-SG" altLang="en-ZA" dirty="0" smtClean="0"/>
              <a:t>𝑚𝑖𝑛𝑠</a:t>
            </a:r>
            <a:r>
              <a:rPr lang="en-ZA" altLang="zh-SG" dirty="0" smtClean="0"/>
              <a:t>)≥95%: A probabilistic deadline of  600 minutes with 95% guarantee.</a:t>
            </a:r>
          </a:p>
          <a:p>
            <a:pPr lvl="2"/>
            <a:endParaRPr lang="en-SG" altLang="zh-SG" dirty="0" smtClean="0"/>
          </a:p>
          <a:p>
            <a:endParaRPr lang="en-US" dirty="0" smtClean="0"/>
          </a:p>
        </p:txBody>
      </p:sp>
      <p:pic>
        <p:nvPicPr>
          <p:cNvPr id="9" name="Picture 24"/>
          <p:cNvPicPr>
            <a:picLocks noChangeAspect="1"/>
          </p:cNvPicPr>
          <p:nvPr/>
        </p:nvPicPr>
        <p:blipFill rotWithShape="1">
          <a:blip r:embed="rId3"/>
          <a:srcRect l="1091" t="5056" r="5749"/>
          <a:stretch/>
        </p:blipFill>
        <p:spPr>
          <a:xfrm>
            <a:off x="6118858" y="4012434"/>
            <a:ext cx="3558542" cy="2819032"/>
          </a:xfrm>
          <a:prstGeom prst="rect">
            <a:avLst/>
          </a:prstGeom>
        </p:spPr>
      </p:pic>
      <p:pic>
        <p:nvPicPr>
          <p:cNvPr id="8" name="Picture 23"/>
          <p:cNvPicPr>
            <a:picLocks noChangeAspect="1"/>
          </p:cNvPicPr>
          <p:nvPr/>
        </p:nvPicPr>
        <p:blipFill rotWithShape="1">
          <a:blip r:embed="rId4"/>
          <a:srcRect l="1091" t="5056" r="5749"/>
          <a:stretch/>
        </p:blipFill>
        <p:spPr>
          <a:xfrm>
            <a:off x="1512657" y="4008286"/>
            <a:ext cx="3558541" cy="2819032"/>
          </a:xfrm>
          <a:prstGeom prst="rect">
            <a:avLst/>
          </a:prstGeom>
        </p:spPr>
      </p:pic>
      <p:sp>
        <p:nvSpPr>
          <p:cNvPr id="10" name="TextBox 25"/>
          <p:cNvSpPr txBox="1"/>
          <p:nvPr/>
        </p:nvSpPr>
        <p:spPr>
          <a:xfrm>
            <a:off x="3002278" y="5561569"/>
            <a:ext cx="887820" cy="430887"/>
          </a:xfrm>
          <a:prstGeom prst="rect">
            <a:avLst/>
          </a:prstGeom>
          <a:noFill/>
        </p:spPr>
        <p:txBody>
          <a:bodyPr wrap="square" rtlCol="0">
            <a:spAutoFit/>
          </a:bodyPr>
          <a:lstStyle/>
          <a:p>
            <a:r>
              <a:rPr lang="en-US" sz="2200" b="1" dirty="0" smtClean="0"/>
              <a:t>85%</a:t>
            </a:r>
            <a:endParaRPr lang="en-SG" sz="2200" b="1" dirty="0"/>
          </a:p>
        </p:txBody>
      </p:sp>
      <p:sp>
        <p:nvSpPr>
          <p:cNvPr id="11" name="TextBox 26"/>
          <p:cNvSpPr txBox="1"/>
          <p:nvPr/>
        </p:nvSpPr>
        <p:spPr>
          <a:xfrm>
            <a:off x="7508919" y="5296219"/>
            <a:ext cx="778420" cy="430887"/>
          </a:xfrm>
          <a:prstGeom prst="rect">
            <a:avLst/>
          </a:prstGeom>
          <a:noFill/>
        </p:spPr>
        <p:txBody>
          <a:bodyPr wrap="square" rtlCol="0">
            <a:spAutoFit/>
          </a:bodyPr>
          <a:lstStyle/>
          <a:p>
            <a:r>
              <a:rPr lang="en-US" sz="2200" b="1" dirty="0" smtClean="0"/>
              <a:t>96%</a:t>
            </a:r>
            <a:endParaRPr lang="en-SG" sz="2200" b="1" dirty="0"/>
          </a:p>
        </p:txBody>
      </p:sp>
      <p:sp>
        <p:nvSpPr>
          <p:cNvPr id="7" name="Flowchart: Punched Tape 12"/>
          <p:cNvSpPr/>
          <p:nvPr/>
        </p:nvSpPr>
        <p:spPr>
          <a:xfrm>
            <a:off x="8708339" y="4867583"/>
            <a:ext cx="1235760" cy="644079"/>
          </a:xfrm>
          <a:prstGeom prst="flowChartPunchedTap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200" b="1" dirty="0" smtClean="0"/>
              <a:t>Satisfied</a:t>
            </a:r>
            <a:endParaRPr lang="en-SG" sz="2200" b="1" dirty="0"/>
          </a:p>
        </p:txBody>
      </p:sp>
      <p:sp>
        <p:nvSpPr>
          <p:cNvPr id="6" name="Explosion 1 5"/>
          <p:cNvSpPr/>
          <p:nvPr/>
        </p:nvSpPr>
        <p:spPr>
          <a:xfrm>
            <a:off x="3704926" y="4867583"/>
            <a:ext cx="2072642" cy="711849"/>
          </a:xfrm>
          <a:prstGeom prst="irregularSeal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b="1" dirty="0" smtClean="0"/>
              <a:t>Violated</a:t>
            </a:r>
            <a:endParaRPr lang="en-SG" sz="2000" b="1" dirty="0"/>
          </a:p>
        </p:txBody>
      </p:sp>
      <p:sp>
        <p:nvSpPr>
          <p:cNvPr id="4" name="Espace réservé du numéro de diapositive 3"/>
          <p:cNvSpPr>
            <a:spLocks noGrp="1"/>
          </p:cNvSpPr>
          <p:nvPr>
            <p:ph type="sldNum" sz="quarter" idx="12"/>
          </p:nvPr>
        </p:nvSpPr>
        <p:spPr/>
        <p:txBody>
          <a:bodyPr/>
          <a:lstStyle/>
          <a:p>
            <a:fld id="{BBF3D8CE-58F1-40DD-970B-B96FBB2BDA32}" type="slidenum">
              <a:rPr lang="en-ZA" smtClean="0"/>
              <a:t>9</a:t>
            </a:fld>
            <a:endParaRPr lang="en-ZA"/>
          </a:p>
        </p:txBody>
      </p:sp>
    </p:spTree>
    <p:extLst>
      <p:ext uri="{BB962C8B-B14F-4D97-AF65-F5344CB8AC3E}">
        <p14:creationId xmlns:p14="http://schemas.microsoft.com/office/powerpoint/2010/main" val="1290210825"/>
      </p:ext>
    </p:extLst>
  </p:cSld>
  <p:clrMapOvr>
    <a:masterClrMapping/>
  </p:clrMapOvr>
  <mc:AlternateContent xmlns:mc="http://schemas.openxmlformats.org/markup-compatibility/2006" xmlns:p14="http://schemas.microsoft.com/office/powerpoint/2010/main">
    <mc:Choice Requires="p14">
      <p:transition spd="slow" p14:dur="2000" advTm="6631"/>
    </mc:Choice>
    <mc:Fallback xmlns="">
      <p:transition spd="slow" advTm="663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zh-CN" altLang="en-US" dirty="0"/>
              <a:t>广域</a:t>
            </a:r>
            <a:r>
              <a:rPr lang="zh-CN" altLang="en-US" dirty="0" smtClean="0"/>
              <a:t>网下的图切割问题 </a:t>
            </a:r>
            <a:r>
              <a:rPr lang="en-US" altLang="zh-CN" dirty="0" smtClean="0"/>
              <a:t>(ICDCS 2017)</a:t>
            </a:r>
            <a:endParaRPr lang="en-ZA" dirty="0"/>
          </a:p>
        </p:txBody>
      </p:sp>
      <p:sp>
        <p:nvSpPr>
          <p:cNvPr id="3" name="Espace réservé du contenu 2"/>
          <p:cNvSpPr>
            <a:spLocks noGrp="1"/>
          </p:cNvSpPr>
          <p:nvPr>
            <p:ph idx="1"/>
          </p:nvPr>
        </p:nvSpPr>
        <p:spPr/>
        <p:txBody>
          <a:bodyPr/>
          <a:lstStyle/>
          <a:p>
            <a:r>
              <a:rPr lang="zh-CN" altLang="en-US" dirty="0" smtClean="0"/>
              <a:t>研究动</a:t>
            </a:r>
            <a:r>
              <a:rPr lang="zh-CN" altLang="en-US" dirty="0"/>
              <a:t>机</a:t>
            </a:r>
            <a:endParaRPr lang="en-US" dirty="0" smtClean="0"/>
          </a:p>
          <a:p>
            <a:pPr lvl="1"/>
            <a:r>
              <a:rPr lang="zh-CN" altLang="en-US" dirty="0"/>
              <a:t>广域</a:t>
            </a:r>
            <a:r>
              <a:rPr lang="zh-CN" altLang="en-US" dirty="0" smtClean="0"/>
              <a:t>网带宽有限</a:t>
            </a:r>
            <a:endParaRPr lang="en-US" altLang="zh-CN" dirty="0" smtClean="0"/>
          </a:p>
          <a:p>
            <a:pPr lvl="1"/>
            <a:r>
              <a:rPr lang="zh-CN" altLang="en-US" dirty="0"/>
              <a:t>广域</a:t>
            </a:r>
            <a:r>
              <a:rPr lang="zh-CN" altLang="en-US" dirty="0" smtClean="0"/>
              <a:t>网上传下载带宽的不对称性</a:t>
            </a:r>
            <a:endParaRPr lang="en-US" dirty="0" smtClean="0"/>
          </a:p>
          <a:p>
            <a:pPr lvl="1"/>
            <a:r>
              <a:rPr lang="zh-CN" altLang="en-US" dirty="0" smtClean="0"/>
              <a:t>图处理中</a:t>
            </a:r>
            <a:r>
              <a:rPr lang="zh-CN" altLang="en-US" dirty="0"/>
              <a:t>数</a:t>
            </a:r>
            <a:r>
              <a:rPr lang="zh-CN" altLang="en-US" dirty="0" smtClean="0"/>
              <a:t>据传输量的不对称性</a:t>
            </a:r>
            <a:endParaRPr lang="en-US" dirty="0" smtClean="0"/>
          </a:p>
          <a:p>
            <a:r>
              <a:rPr lang="zh-CN" altLang="en-US" dirty="0" smtClean="0"/>
              <a:t>问题模型</a:t>
            </a:r>
            <a:endParaRPr lang="en-US" altLang="zh-CN" dirty="0" smtClean="0"/>
          </a:p>
          <a:p>
            <a:pPr lvl="1"/>
            <a:r>
              <a:rPr lang="en-US" altLang="zh-CN" dirty="0" smtClean="0"/>
              <a:t>Streaming-based edge assignment to different datacenters (vertex-cut problem)</a:t>
            </a:r>
          </a:p>
          <a:p>
            <a:pPr lvl="1"/>
            <a:r>
              <a:rPr lang="en-US" dirty="0" smtClean="0"/>
              <a:t>Goal: minimize cross-datacenter data transfer time</a:t>
            </a:r>
          </a:p>
          <a:p>
            <a:pPr lvl="1"/>
            <a:r>
              <a:rPr lang="en-US" dirty="0" smtClean="0"/>
              <a:t>Constraint: WAN usage smaller than budget</a:t>
            </a:r>
            <a:endParaRPr lang="en-ZA"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10</a:t>
            </a:fld>
            <a:endParaRPr lang="en-ZA"/>
          </a:p>
        </p:txBody>
      </p:sp>
    </p:spTree>
    <p:extLst>
      <p:ext uri="{BB962C8B-B14F-4D97-AF65-F5344CB8AC3E}">
        <p14:creationId xmlns:p14="http://schemas.microsoft.com/office/powerpoint/2010/main" val="4493130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zh-CN" altLang="en-US" dirty="0" smtClean="0"/>
              <a:t>广域网下的图切割问题 </a:t>
            </a:r>
            <a:r>
              <a:rPr lang="en-US" altLang="zh-CN" dirty="0" smtClean="0"/>
              <a:t>(ICDCS 2017)</a:t>
            </a:r>
            <a:endParaRPr lang="en-ZA" dirty="0"/>
          </a:p>
        </p:txBody>
      </p:sp>
      <p:sp>
        <p:nvSpPr>
          <p:cNvPr id="3" name="Espace réservé du contenu 2"/>
          <p:cNvSpPr>
            <a:spLocks noGrp="1"/>
          </p:cNvSpPr>
          <p:nvPr>
            <p:ph idx="1"/>
          </p:nvPr>
        </p:nvSpPr>
        <p:spPr/>
        <p:txBody>
          <a:bodyPr/>
          <a:lstStyle/>
          <a:p>
            <a:r>
              <a:rPr lang="en-US" altLang="zh-CN" dirty="0" smtClean="0"/>
              <a:t>Core design idea</a:t>
            </a:r>
          </a:p>
          <a:p>
            <a:pPr lvl="1"/>
            <a:r>
              <a:rPr lang="en-US" altLang="zh-CN" dirty="0" smtClean="0"/>
              <a:t>Heterogeneity-aware vertex-cut</a:t>
            </a:r>
          </a:p>
          <a:p>
            <a:pPr lvl="1"/>
            <a:endParaRPr lang="en-ZA" dirty="0"/>
          </a:p>
        </p:txBody>
      </p:sp>
      <p:sp>
        <p:nvSpPr>
          <p:cNvPr id="5" name="Ellipse 4"/>
          <p:cNvSpPr/>
          <p:nvPr/>
        </p:nvSpPr>
        <p:spPr>
          <a:xfrm>
            <a:off x="3283026" y="3189527"/>
            <a:ext cx="312358" cy="3027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en-ZA" dirty="0">
              <a:solidFill>
                <a:schemeClr val="tx1"/>
              </a:solidFill>
            </a:endParaRPr>
          </a:p>
        </p:txBody>
      </p:sp>
      <p:sp>
        <p:nvSpPr>
          <p:cNvPr id="6" name="Ellipse 5"/>
          <p:cNvSpPr/>
          <p:nvPr/>
        </p:nvSpPr>
        <p:spPr>
          <a:xfrm>
            <a:off x="2862073" y="2910059"/>
            <a:ext cx="312358" cy="3027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en-ZA" dirty="0">
              <a:solidFill>
                <a:schemeClr val="tx1"/>
              </a:solidFill>
            </a:endParaRPr>
          </a:p>
        </p:txBody>
      </p:sp>
      <p:sp>
        <p:nvSpPr>
          <p:cNvPr id="7" name="Ellipse 6"/>
          <p:cNvSpPr/>
          <p:nvPr/>
        </p:nvSpPr>
        <p:spPr>
          <a:xfrm>
            <a:off x="3700680" y="2918580"/>
            <a:ext cx="312358" cy="3027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4</a:t>
            </a:r>
            <a:endParaRPr lang="en-ZA" dirty="0">
              <a:solidFill>
                <a:schemeClr val="tx1"/>
              </a:solidFill>
            </a:endParaRPr>
          </a:p>
        </p:txBody>
      </p:sp>
      <p:sp>
        <p:nvSpPr>
          <p:cNvPr id="8" name="Ellipse 7"/>
          <p:cNvSpPr/>
          <p:nvPr/>
        </p:nvSpPr>
        <p:spPr>
          <a:xfrm>
            <a:off x="2862073" y="3502702"/>
            <a:ext cx="312358" cy="3027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en-ZA" dirty="0">
              <a:solidFill>
                <a:schemeClr val="tx1"/>
              </a:solidFill>
            </a:endParaRPr>
          </a:p>
        </p:txBody>
      </p:sp>
      <p:sp>
        <p:nvSpPr>
          <p:cNvPr id="9" name="Ellipse 8"/>
          <p:cNvSpPr/>
          <p:nvPr/>
        </p:nvSpPr>
        <p:spPr>
          <a:xfrm>
            <a:off x="3718068" y="3497336"/>
            <a:ext cx="312358" cy="3027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en-ZA" dirty="0">
              <a:solidFill>
                <a:schemeClr val="tx1"/>
              </a:solidFill>
            </a:endParaRPr>
          </a:p>
        </p:txBody>
      </p:sp>
      <p:cxnSp>
        <p:nvCxnSpPr>
          <p:cNvPr id="10" name="Connecteur droit avec flèche 9"/>
          <p:cNvCxnSpPr>
            <a:stCxn id="5" idx="1"/>
            <a:endCxn id="6" idx="6"/>
          </p:cNvCxnSpPr>
          <p:nvPr/>
        </p:nvCxnSpPr>
        <p:spPr>
          <a:xfrm flipH="1" flipV="1">
            <a:off x="3174431" y="3061433"/>
            <a:ext cx="154339" cy="17243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a:stCxn id="8" idx="6"/>
            <a:endCxn id="5" idx="3"/>
          </p:cNvCxnSpPr>
          <p:nvPr/>
        </p:nvCxnSpPr>
        <p:spPr>
          <a:xfrm flipV="1">
            <a:off x="3174431" y="3447939"/>
            <a:ext cx="154339" cy="20613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a:stCxn id="9" idx="2"/>
            <a:endCxn id="5" idx="5"/>
          </p:cNvCxnSpPr>
          <p:nvPr/>
        </p:nvCxnSpPr>
        <p:spPr>
          <a:xfrm flipH="1" flipV="1">
            <a:off x="3549640" y="3447939"/>
            <a:ext cx="168428" cy="200771"/>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a:stCxn id="7" idx="2"/>
            <a:endCxn id="5" idx="7"/>
          </p:cNvCxnSpPr>
          <p:nvPr/>
        </p:nvCxnSpPr>
        <p:spPr>
          <a:xfrm flipH="1">
            <a:off x="3549640" y="3069954"/>
            <a:ext cx="151040" cy="16390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4770782" y="4001271"/>
            <a:ext cx="913572" cy="99174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ZA"/>
          </a:p>
        </p:txBody>
      </p:sp>
      <p:sp>
        <p:nvSpPr>
          <p:cNvPr id="15" name="Rectangle 14"/>
          <p:cNvSpPr/>
          <p:nvPr/>
        </p:nvSpPr>
        <p:spPr>
          <a:xfrm>
            <a:off x="2323132" y="4001269"/>
            <a:ext cx="1167824" cy="99174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ZA"/>
          </a:p>
        </p:txBody>
      </p:sp>
      <p:sp>
        <p:nvSpPr>
          <p:cNvPr id="16" name="Ellipse 15"/>
          <p:cNvSpPr/>
          <p:nvPr/>
        </p:nvSpPr>
        <p:spPr>
          <a:xfrm>
            <a:off x="3156003" y="4337444"/>
            <a:ext cx="328544" cy="319398"/>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3</a:t>
            </a:r>
            <a:endParaRPr lang="en-ZA" dirty="0">
              <a:solidFill>
                <a:schemeClr val="tx1"/>
              </a:solidFill>
            </a:endParaRPr>
          </a:p>
        </p:txBody>
      </p:sp>
      <p:sp>
        <p:nvSpPr>
          <p:cNvPr id="17" name="Ellipse 16"/>
          <p:cNvSpPr/>
          <p:nvPr/>
        </p:nvSpPr>
        <p:spPr>
          <a:xfrm>
            <a:off x="2748981" y="4029738"/>
            <a:ext cx="328544" cy="319398"/>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en-ZA" dirty="0">
              <a:solidFill>
                <a:schemeClr val="tx1"/>
              </a:solidFill>
            </a:endParaRPr>
          </a:p>
        </p:txBody>
      </p:sp>
      <p:sp>
        <p:nvSpPr>
          <p:cNvPr id="18" name="Ellipse 17"/>
          <p:cNvSpPr/>
          <p:nvPr/>
        </p:nvSpPr>
        <p:spPr>
          <a:xfrm>
            <a:off x="2751290" y="4633211"/>
            <a:ext cx="328544" cy="319398"/>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en-ZA" dirty="0">
              <a:solidFill>
                <a:schemeClr val="tx1"/>
              </a:solidFill>
            </a:endParaRPr>
          </a:p>
        </p:txBody>
      </p:sp>
      <p:cxnSp>
        <p:nvCxnSpPr>
          <p:cNvPr id="19" name="Connecteur droit avec flèche 18"/>
          <p:cNvCxnSpPr>
            <a:stCxn id="16" idx="1"/>
            <a:endCxn id="17" idx="6"/>
          </p:cNvCxnSpPr>
          <p:nvPr/>
        </p:nvCxnSpPr>
        <p:spPr>
          <a:xfrm flipH="1" flipV="1">
            <a:off x="3077525" y="4189437"/>
            <a:ext cx="126592" cy="194782"/>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a:stCxn id="18" idx="6"/>
            <a:endCxn id="16" idx="3"/>
          </p:cNvCxnSpPr>
          <p:nvPr/>
        </p:nvCxnSpPr>
        <p:spPr>
          <a:xfrm flipV="1">
            <a:off x="3079834" y="4610067"/>
            <a:ext cx="124283" cy="182843"/>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1" name="Ellipse 20"/>
          <p:cNvSpPr/>
          <p:nvPr/>
        </p:nvSpPr>
        <p:spPr>
          <a:xfrm>
            <a:off x="4801374" y="4294108"/>
            <a:ext cx="332790" cy="351404"/>
          </a:xfrm>
          <a:prstGeom prst="ellipse">
            <a:avLst/>
          </a:prstGeom>
          <a:noFill/>
          <a:ln w="158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3</a:t>
            </a:r>
            <a:endParaRPr lang="en-ZA" dirty="0">
              <a:solidFill>
                <a:schemeClr val="tx1"/>
              </a:solidFill>
            </a:endParaRPr>
          </a:p>
        </p:txBody>
      </p:sp>
      <p:sp>
        <p:nvSpPr>
          <p:cNvPr id="22" name="Ellipse 21"/>
          <p:cNvSpPr/>
          <p:nvPr/>
        </p:nvSpPr>
        <p:spPr>
          <a:xfrm>
            <a:off x="5292738" y="4035260"/>
            <a:ext cx="332790" cy="351404"/>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a:t>
            </a:r>
            <a:endParaRPr lang="en-ZA" dirty="0">
              <a:solidFill>
                <a:schemeClr val="tx1"/>
              </a:solidFill>
            </a:endParaRPr>
          </a:p>
        </p:txBody>
      </p:sp>
      <p:sp>
        <p:nvSpPr>
          <p:cNvPr id="23" name="Ellipse 22"/>
          <p:cNvSpPr/>
          <p:nvPr/>
        </p:nvSpPr>
        <p:spPr>
          <a:xfrm>
            <a:off x="5292738" y="4587531"/>
            <a:ext cx="332790" cy="351404"/>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a:t>
            </a:r>
            <a:endParaRPr lang="en-ZA" dirty="0">
              <a:solidFill>
                <a:schemeClr val="tx1"/>
              </a:solidFill>
            </a:endParaRPr>
          </a:p>
        </p:txBody>
      </p:sp>
      <p:cxnSp>
        <p:nvCxnSpPr>
          <p:cNvPr id="24" name="Connecteur droit avec flèche 23"/>
          <p:cNvCxnSpPr>
            <a:stCxn id="23" idx="2"/>
            <a:endCxn id="21" idx="5"/>
          </p:cNvCxnSpPr>
          <p:nvPr/>
        </p:nvCxnSpPr>
        <p:spPr>
          <a:xfrm flipH="1" flipV="1">
            <a:off x="5085428" y="4594050"/>
            <a:ext cx="207310" cy="169183"/>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a:stCxn id="22" idx="2"/>
            <a:endCxn id="21" idx="7"/>
          </p:cNvCxnSpPr>
          <p:nvPr/>
        </p:nvCxnSpPr>
        <p:spPr>
          <a:xfrm flipH="1">
            <a:off x="5085428" y="4210962"/>
            <a:ext cx="207310" cy="134608"/>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6" name="ZoneTexte 25"/>
          <p:cNvSpPr txBox="1"/>
          <p:nvPr/>
        </p:nvSpPr>
        <p:spPr>
          <a:xfrm>
            <a:off x="2314068" y="4964721"/>
            <a:ext cx="384721" cy="369332"/>
          </a:xfrm>
          <a:prstGeom prst="rect">
            <a:avLst/>
          </a:prstGeom>
          <a:noFill/>
        </p:spPr>
        <p:txBody>
          <a:bodyPr wrap="none" lIns="0" rIns="0" rtlCol="0">
            <a:spAutoFit/>
          </a:bodyPr>
          <a:lstStyle/>
          <a:p>
            <a:r>
              <a:rPr lang="en-US" altLang="zh-CN" b="1" dirty="0" smtClean="0"/>
              <a:t>DC1</a:t>
            </a:r>
            <a:endParaRPr lang="en-ZA" b="1" dirty="0"/>
          </a:p>
        </p:txBody>
      </p:sp>
      <p:sp>
        <p:nvSpPr>
          <p:cNvPr id="27" name="ZoneTexte 26"/>
          <p:cNvSpPr txBox="1"/>
          <p:nvPr/>
        </p:nvSpPr>
        <p:spPr>
          <a:xfrm>
            <a:off x="5154251" y="4964721"/>
            <a:ext cx="569387" cy="369332"/>
          </a:xfrm>
          <a:prstGeom prst="rect">
            <a:avLst/>
          </a:prstGeom>
          <a:noFill/>
        </p:spPr>
        <p:txBody>
          <a:bodyPr wrap="none" rtlCol="0">
            <a:spAutoFit/>
          </a:bodyPr>
          <a:lstStyle/>
          <a:p>
            <a:r>
              <a:rPr lang="en-US" altLang="zh-CN" b="1" dirty="0" smtClean="0"/>
              <a:t>DC2</a:t>
            </a:r>
            <a:endParaRPr lang="en-ZA" b="1" dirty="0"/>
          </a:p>
        </p:txBody>
      </p:sp>
      <p:sp>
        <p:nvSpPr>
          <p:cNvPr id="28" name="Ellipse 27"/>
          <p:cNvSpPr/>
          <p:nvPr/>
        </p:nvSpPr>
        <p:spPr>
          <a:xfrm>
            <a:off x="4474580" y="2898994"/>
            <a:ext cx="261820" cy="244947"/>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solidFill>
            </a:endParaRPr>
          </a:p>
        </p:txBody>
      </p:sp>
      <p:sp>
        <p:nvSpPr>
          <p:cNvPr id="29" name="Ellipse 28"/>
          <p:cNvSpPr/>
          <p:nvPr/>
        </p:nvSpPr>
        <p:spPr>
          <a:xfrm>
            <a:off x="4474580" y="3250684"/>
            <a:ext cx="261820" cy="262966"/>
          </a:xfrm>
          <a:prstGeom prst="ellipse">
            <a:avLst/>
          </a:prstGeom>
          <a:noFill/>
          <a:ln w="158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solidFill>
            </a:endParaRPr>
          </a:p>
        </p:txBody>
      </p:sp>
      <p:sp>
        <p:nvSpPr>
          <p:cNvPr id="30" name="ZoneTexte 29"/>
          <p:cNvSpPr txBox="1"/>
          <p:nvPr/>
        </p:nvSpPr>
        <p:spPr>
          <a:xfrm>
            <a:off x="4712587" y="2838722"/>
            <a:ext cx="1640265" cy="369332"/>
          </a:xfrm>
          <a:prstGeom prst="rect">
            <a:avLst/>
          </a:prstGeom>
          <a:noFill/>
        </p:spPr>
        <p:txBody>
          <a:bodyPr wrap="square" lIns="91440" rIns="91440" rtlCol="0">
            <a:spAutoFit/>
          </a:bodyPr>
          <a:lstStyle/>
          <a:p>
            <a:r>
              <a:rPr lang="en-US" altLang="zh-CN" dirty="0" smtClean="0"/>
              <a:t>Master replica</a:t>
            </a:r>
            <a:endParaRPr lang="en-ZA" dirty="0"/>
          </a:p>
        </p:txBody>
      </p:sp>
      <p:sp>
        <p:nvSpPr>
          <p:cNvPr id="31" name="ZoneTexte 30"/>
          <p:cNvSpPr txBox="1"/>
          <p:nvPr/>
        </p:nvSpPr>
        <p:spPr>
          <a:xfrm>
            <a:off x="4731636" y="3203009"/>
            <a:ext cx="1527678" cy="369332"/>
          </a:xfrm>
          <a:prstGeom prst="rect">
            <a:avLst/>
          </a:prstGeom>
          <a:noFill/>
        </p:spPr>
        <p:txBody>
          <a:bodyPr wrap="square" rtlCol="0">
            <a:spAutoFit/>
          </a:bodyPr>
          <a:lstStyle/>
          <a:p>
            <a:r>
              <a:rPr lang="en-US" altLang="zh-CN" dirty="0" smtClean="0"/>
              <a:t>Mirror replica</a:t>
            </a:r>
            <a:endParaRPr lang="en-ZA" dirty="0"/>
          </a:p>
        </p:txBody>
      </p:sp>
      <p:graphicFrame>
        <p:nvGraphicFramePr>
          <p:cNvPr id="32" name="Tableau 31"/>
          <p:cNvGraphicFramePr>
            <a:graphicFrameLocks noGrp="1"/>
          </p:cNvGraphicFramePr>
          <p:nvPr>
            <p:extLst>
              <p:ext uri="{D42A27DB-BD31-4B8C-83A1-F6EECF244321}">
                <p14:modId xmlns:p14="http://schemas.microsoft.com/office/powerpoint/2010/main" val="558918081"/>
              </p:ext>
            </p:extLst>
          </p:nvPr>
        </p:nvGraphicFramePr>
        <p:xfrm>
          <a:off x="6502671" y="2843483"/>
          <a:ext cx="2618282" cy="1005840"/>
        </p:xfrm>
        <a:graphic>
          <a:graphicData uri="http://schemas.openxmlformats.org/drawingml/2006/table">
            <a:tbl>
              <a:tblPr firstRow="1" bandRow="1">
                <a:tableStyleId>{5940675A-B579-460E-94D1-54222C63F5DA}</a:tableStyleId>
              </a:tblPr>
              <a:tblGrid>
                <a:gridCol w="1518003">
                  <a:extLst>
                    <a:ext uri="{9D8B030D-6E8A-4147-A177-3AD203B41FA5}">
                      <a16:colId xmlns:a16="http://schemas.microsoft.com/office/drawing/2014/main" val="2441590187"/>
                    </a:ext>
                  </a:extLst>
                </a:gridCol>
                <a:gridCol w="563935">
                  <a:extLst>
                    <a:ext uri="{9D8B030D-6E8A-4147-A177-3AD203B41FA5}">
                      <a16:colId xmlns:a16="http://schemas.microsoft.com/office/drawing/2014/main" val="3973999171"/>
                    </a:ext>
                  </a:extLst>
                </a:gridCol>
                <a:gridCol w="536344">
                  <a:extLst>
                    <a:ext uri="{9D8B030D-6E8A-4147-A177-3AD203B41FA5}">
                      <a16:colId xmlns:a16="http://schemas.microsoft.com/office/drawing/2014/main" val="3048258931"/>
                    </a:ext>
                  </a:extLst>
                </a:gridCol>
              </a:tblGrid>
              <a:tr h="23700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dirty="0" smtClean="0"/>
                    </a:p>
                  </a:txBody>
                  <a:tcPr marL="0" marR="0"/>
                </a:tc>
                <a:tc>
                  <a:txBody>
                    <a:bodyPr/>
                    <a:lstStyle/>
                    <a:p>
                      <a:pPr algn="ctr"/>
                      <a:r>
                        <a:rPr lang="en-US" sz="1600" dirty="0" smtClean="0"/>
                        <a:t>DC1</a:t>
                      </a:r>
                      <a:endParaRPr lang="en-ZA" sz="1600" dirty="0"/>
                    </a:p>
                  </a:txBody>
                  <a:tcPr marL="0" marR="0"/>
                </a:tc>
                <a:tc>
                  <a:txBody>
                    <a:bodyPr/>
                    <a:lstStyle/>
                    <a:p>
                      <a:pPr algn="ctr"/>
                      <a:r>
                        <a:rPr lang="en-US" sz="1600" dirty="0" smtClean="0"/>
                        <a:t>DC2</a:t>
                      </a:r>
                      <a:endParaRPr lang="en-ZA" sz="1600" dirty="0"/>
                    </a:p>
                  </a:txBody>
                  <a:tcPr marL="0" marR="0"/>
                </a:tc>
                <a:extLst>
                  <a:ext uri="{0D108BD9-81ED-4DB2-BD59-A6C34878D82A}">
                    <a16:rowId xmlns:a16="http://schemas.microsoft.com/office/drawing/2014/main" val="3068056177"/>
                  </a:ext>
                </a:extLst>
              </a:tr>
              <a:tr h="2989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t>Uplink (MB/s)</a:t>
                      </a:r>
                      <a:endParaRPr lang="en-ZA" sz="1600" dirty="0"/>
                    </a:p>
                  </a:txBody>
                  <a:tcPr marL="0" marR="0"/>
                </a:tc>
                <a:tc>
                  <a:txBody>
                    <a:bodyPr/>
                    <a:lstStyle/>
                    <a:p>
                      <a:pPr algn="ctr"/>
                      <a:r>
                        <a:rPr lang="en-US" sz="1600" dirty="0" smtClean="0"/>
                        <a:t>10</a:t>
                      </a:r>
                      <a:endParaRPr lang="en-ZA" sz="1600" dirty="0"/>
                    </a:p>
                  </a:txBody>
                  <a:tcPr marL="0" marR="0"/>
                </a:tc>
                <a:tc>
                  <a:txBody>
                    <a:bodyPr/>
                    <a:lstStyle/>
                    <a:p>
                      <a:pPr algn="ctr"/>
                      <a:r>
                        <a:rPr lang="en-US" sz="1600" dirty="0" smtClean="0"/>
                        <a:t>10</a:t>
                      </a:r>
                      <a:endParaRPr lang="en-ZA" sz="1600" dirty="0"/>
                    </a:p>
                  </a:txBody>
                  <a:tcPr marL="0" marR="0"/>
                </a:tc>
                <a:extLst>
                  <a:ext uri="{0D108BD9-81ED-4DB2-BD59-A6C34878D82A}">
                    <a16:rowId xmlns:a16="http://schemas.microsoft.com/office/drawing/2014/main" val="3989613071"/>
                  </a:ext>
                </a:extLst>
              </a:tr>
              <a:tr h="277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t>Downlink (MB/s)</a:t>
                      </a:r>
                      <a:endParaRPr lang="en-ZA" sz="1600" dirty="0" smtClean="0"/>
                    </a:p>
                  </a:txBody>
                  <a:tcPr marL="0" marR="0"/>
                </a:tc>
                <a:tc>
                  <a:txBody>
                    <a:bodyPr/>
                    <a:lstStyle/>
                    <a:p>
                      <a:pPr algn="ctr"/>
                      <a:r>
                        <a:rPr lang="en-US" sz="1600" dirty="0" smtClean="0"/>
                        <a:t>10</a:t>
                      </a:r>
                      <a:endParaRPr lang="en-ZA" sz="1600" dirty="0"/>
                    </a:p>
                  </a:txBody>
                  <a:tcPr marL="0" marR="0"/>
                </a:tc>
                <a:tc>
                  <a:txBody>
                    <a:bodyPr/>
                    <a:lstStyle/>
                    <a:p>
                      <a:pPr algn="ctr"/>
                      <a:r>
                        <a:rPr lang="en-US" sz="1600" dirty="0" smtClean="0"/>
                        <a:t>1</a:t>
                      </a:r>
                      <a:endParaRPr lang="en-ZA" sz="1600" dirty="0"/>
                    </a:p>
                  </a:txBody>
                  <a:tcPr marL="0" marR="0"/>
                </a:tc>
                <a:extLst>
                  <a:ext uri="{0D108BD9-81ED-4DB2-BD59-A6C34878D82A}">
                    <a16:rowId xmlns:a16="http://schemas.microsoft.com/office/drawing/2014/main" val="1764351137"/>
                  </a:ext>
                </a:extLst>
              </a:tr>
            </a:tbl>
          </a:graphicData>
        </a:graphic>
      </p:graphicFrame>
      <p:cxnSp>
        <p:nvCxnSpPr>
          <p:cNvPr id="33" name="Connecteur droit avec flèche 32"/>
          <p:cNvCxnSpPr/>
          <p:nvPr/>
        </p:nvCxnSpPr>
        <p:spPr>
          <a:xfrm>
            <a:off x="3507081" y="4203785"/>
            <a:ext cx="462293" cy="1048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33"/>
          <p:cNvCxnSpPr/>
          <p:nvPr/>
        </p:nvCxnSpPr>
        <p:spPr>
          <a:xfrm flipH="1" flipV="1">
            <a:off x="3501774" y="4868584"/>
            <a:ext cx="421920" cy="479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 name="ZoneTexte 34"/>
              <p:cNvSpPr txBox="1"/>
              <p:nvPr/>
            </p:nvSpPr>
            <p:spPr>
              <a:xfrm>
                <a:off x="3450551" y="3911352"/>
                <a:ext cx="473143" cy="276999"/>
              </a:xfrm>
              <a:prstGeom prst="rect">
                <a:avLst/>
              </a:prstGeom>
              <a:noFill/>
            </p:spPr>
            <p:txBody>
              <a:bodyPr wrap="none" t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ZA" dirty="0"/>
              </a:p>
            </p:txBody>
          </p:sp>
        </mc:Choice>
        <mc:Fallback>
          <p:sp>
            <p:nvSpPr>
              <p:cNvPr id="35" name="ZoneTexte 34"/>
              <p:cNvSpPr txBox="1">
                <a:spLocks noRot="1" noChangeAspect="1" noMove="1" noResize="1" noEditPoints="1" noAdjustHandles="1" noChangeArrowheads="1" noChangeShapeType="1" noTextEdit="1"/>
              </p:cNvSpPr>
              <p:nvPr/>
            </p:nvSpPr>
            <p:spPr>
              <a:xfrm>
                <a:off x="3450551" y="3911352"/>
                <a:ext cx="473143" cy="276999"/>
              </a:xfrm>
              <a:prstGeom prst="rect">
                <a:avLst/>
              </a:prstGeom>
              <a:blipFill>
                <a:blip r:embed="rId2"/>
                <a:stretch>
                  <a:fillRect b="-15556"/>
                </a:stretch>
              </a:blipFill>
            </p:spPr>
            <p:txBody>
              <a:bodyPr/>
              <a:lstStyle/>
              <a:p>
                <a:r>
                  <a:rPr lang="en-ZA">
                    <a:noFill/>
                  </a:rPr>
                  <a:t> </a:t>
                </a:r>
              </a:p>
            </p:txBody>
          </p:sp>
        </mc:Fallback>
      </mc:AlternateContent>
      <mc:AlternateContent xmlns:mc="http://schemas.openxmlformats.org/markup-compatibility/2006">
        <mc:Choice xmlns:a14="http://schemas.microsoft.com/office/drawing/2010/main" Requires="a14">
          <p:sp>
            <p:nvSpPr>
              <p:cNvPr id="36" name="ZoneTexte 35"/>
              <p:cNvSpPr txBox="1"/>
              <p:nvPr/>
            </p:nvSpPr>
            <p:spPr>
              <a:xfrm>
                <a:off x="3482390" y="4556524"/>
                <a:ext cx="473143" cy="276999"/>
              </a:xfrm>
              <a:prstGeom prst="rect">
                <a:avLst/>
              </a:prstGeom>
              <a:noFill/>
            </p:spPr>
            <p:txBody>
              <a:bodyPr wrap="none" t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4</m:t>
                          </m:r>
                        </m:sub>
                      </m:sSub>
                    </m:oMath>
                  </m:oMathPara>
                </a14:m>
                <a:endParaRPr lang="en-ZA" dirty="0"/>
              </a:p>
            </p:txBody>
          </p:sp>
        </mc:Choice>
        <mc:Fallback>
          <p:sp>
            <p:nvSpPr>
              <p:cNvPr id="36" name="ZoneTexte 35"/>
              <p:cNvSpPr txBox="1">
                <a:spLocks noRot="1" noChangeAspect="1" noMove="1" noResize="1" noEditPoints="1" noAdjustHandles="1" noChangeArrowheads="1" noChangeShapeType="1" noTextEdit="1"/>
              </p:cNvSpPr>
              <p:nvPr/>
            </p:nvSpPr>
            <p:spPr>
              <a:xfrm>
                <a:off x="3482390" y="4556524"/>
                <a:ext cx="473143" cy="276999"/>
              </a:xfrm>
              <a:prstGeom prst="rect">
                <a:avLst/>
              </a:prstGeom>
              <a:blipFill>
                <a:blip r:embed="rId3"/>
                <a:stretch>
                  <a:fillRect b="-15217"/>
                </a:stretch>
              </a:blipFill>
            </p:spPr>
            <p:txBody>
              <a:bodyPr/>
              <a:lstStyle/>
              <a:p>
                <a:r>
                  <a:rPr lang="en-ZA">
                    <a:noFill/>
                  </a:rPr>
                  <a:t> </a:t>
                </a:r>
              </a:p>
            </p:txBody>
          </p:sp>
        </mc:Fallback>
      </mc:AlternateContent>
      <p:sp>
        <p:nvSpPr>
          <p:cNvPr id="37" name="Rectangle 36"/>
          <p:cNvSpPr/>
          <p:nvPr/>
        </p:nvSpPr>
        <p:spPr>
          <a:xfrm>
            <a:off x="8255055" y="4008945"/>
            <a:ext cx="1218098" cy="99174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ZA"/>
          </a:p>
        </p:txBody>
      </p:sp>
      <p:sp>
        <p:nvSpPr>
          <p:cNvPr id="38" name="Rectangle 37"/>
          <p:cNvSpPr/>
          <p:nvPr/>
        </p:nvSpPr>
        <p:spPr>
          <a:xfrm>
            <a:off x="6018089" y="4008943"/>
            <a:ext cx="894727" cy="99174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ZA"/>
          </a:p>
        </p:txBody>
      </p:sp>
      <p:sp>
        <p:nvSpPr>
          <p:cNvPr id="39" name="Ellipse 38"/>
          <p:cNvSpPr/>
          <p:nvPr/>
        </p:nvSpPr>
        <p:spPr>
          <a:xfrm>
            <a:off x="6496507" y="4037412"/>
            <a:ext cx="328544" cy="319398"/>
          </a:xfrm>
          <a:prstGeom prst="ellipse">
            <a:avLst/>
          </a:prstGeom>
          <a:noFill/>
          <a:ln w="158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en-ZA" dirty="0">
              <a:solidFill>
                <a:schemeClr val="tx1"/>
              </a:solidFill>
            </a:endParaRPr>
          </a:p>
        </p:txBody>
      </p:sp>
      <p:sp>
        <p:nvSpPr>
          <p:cNvPr id="40" name="Ellipse 39"/>
          <p:cNvSpPr/>
          <p:nvPr/>
        </p:nvSpPr>
        <p:spPr>
          <a:xfrm>
            <a:off x="6493834" y="4640885"/>
            <a:ext cx="328544" cy="319398"/>
          </a:xfrm>
          <a:prstGeom prst="ellipse">
            <a:avLst/>
          </a:prstGeom>
          <a:noFill/>
          <a:ln w="158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en-ZA" dirty="0">
              <a:solidFill>
                <a:schemeClr val="tx1"/>
              </a:solidFill>
            </a:endParaRPr>
          </a:p>
        </p:txBody>
      </p:sp>
      <p:sp>
        <p:nvSpPr>
          <p:cNvPr id="41" name="Ellipse 40"/>
          <p:cNvSpPr/>
          <p:nvPr/>
        </p:nvSpPr>
        <p:spPr>
          <a:xfrm>
            <a:off x="8669928" y="4347663"/>
            <a:ext cx="332790" cy="351404"/>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3</a:t>
            </a:r>
            <a:endParaRPr lang="en-ZA" dirty="0">
              <a:solidFill>
                <a:schemeClr val="tx1"/>
              </a:solidFill>
            </a:endParaRPr>
          </a:p>
        </p:txBody>
      </p:sp>
      <p:sp>
        <p:nvSpPr>
          <p:cNvPr id="42" name="Ellipse 41"/>
          <p:cNvSpPr/>
          <p:nvPr/>
        </p:nvSpPr>
        <p:spPr>
          <a:xfrm>
            <a:off x="9071727" y="4042934"/>
            <a:ext cx="332790" cy="351404"/>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4</a:t>
            </a:r>
            <a:endParaRPr lang="en-ZA" dirty="0">
              <a:solidFill>
                <a:schemeClr val="tx1"/>
              </a:solidFill>
            </a:endParaRPr>
          </a:p>
        </p:txBody>
      </p:sp>
      <p:sp>
        <p:nvSpPr>
          <p:cNvPr id="43" name="Ellipse 42"/>
          <p:cNvSpPr/>
          <p:nvPr/>
        </p:nvSpPr>
        <p:spPr>
          <a:xfrm>
            <a:off x="9071354" y="4623559"/>
            <a:ext cx="332790" cy="351404"/>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5</a:t>
            </a:r>
            <a:endParaRPr lang="en-ZA" dirty="0">
              <a:solidFill>
                <a:schemeClr val="tx1"/>
              </a:solidFill>
            </a:endParaRPr>
          </a:p>
        </p:txBody>
      </p:sp>
      <p:cxnSp>
        <p:nvCxnSpPr>
          <p:cNvPr id="44" name="Connecteur droit avec flèche 43"/>
          <p:cNvCxnSpPr>
            <a:stCxn id="43" idx="2"/>
            <a:endCxn id="41" idx="5"/>
          </p:cNvCxnSpPr>
          <p:nvPr/>
        </p:nvCxnSpPr>
        <p:spPr>
          <a:xfrm flipH="1" flipV="1">
            <a:off x="8953982" y="4647605"/>
            <a:ext cx="117372" cy="151656"/>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a:stCxn id="42" idx="2"/>
            <a:endCxn id="41" idx="7"/>
          </p:cNvCxnSpPr>
          <p:nvPr/>
        </p:nvCxnSpPr>
        <p:spPr>
          <a:xfrm flipH="1">
            <a:off x="8953982" y="4218636"/>
            <a:ext cx="117745" cy="18048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6" name="ZoneTexte 45"/>
          <p:cNvSpPr txBox="1"/>
          <p:nvPr/>
        </p:nvSpPr>
        <p:spPr>
          <a:xfrm>
            <a:off x="6018549" y="4972395"/>
            <a:ext cx="384721" cy="369332"/>
          </a:xfrm>
          <a:prstGeom prst="rect">
            <a:avLst/>
          </a:prstGeom>
          <a:noFill/>
        </p:spPr>
        <p:txBody>
          <a:bodyPr wrap="none" lIns="0" rIns="0" rtlCol="0">
            <a:spAutoFit/>
          </a:bodyPr>
          <a:lstStyle/>
          <a:p>
            <a:r>
              <a:rPr lang="en-US" altLang="zh-CN" b="1" dirty="0" smtClean="0"/>
              <a:t>DC1</a:t>
            </a:r>
            <a:endParaRPr lang="en-ZA" b="1" dirty="0"/>
          </a:p>
        </p:txBody>
      </p:sp>
      <p:sp>
        <p:nvSpPr>
          <p:cNvPr id="47" name="ZoneTexte 46"/>
          <p:cNvSpPr txBox="1"/>
          <p:nvPr/>
        </p:nvSpPr>
        <p:spPr>
          <a:xfrm>
            <a:off x="9019251" y="5012150"/>
            <a:ext cx="384721" cy="276999"/>
          </a:xfrm>
          <a:prstGeom prst="rect">
            <a:avLst/>
          </a:prstGeom>
          <a:noFill/>
        </p:spPr>
        <p:txBody>
          <a:bodyPr wrap="none" lIns="0" tIns="0" rIns="0" bIns="0" rtlCol="0">
            <a:spAutoFit/>
          </a:bodyPr>
          <a:lstStyle/>
          <a:p>
            <a:r>
              <a:rPr lang="en-US" altLang="zh-CN" b="1" dirty="0" smtClean="0"/>
              <a:t>DC2</a:t>
            </a:r>
            <a:endParaRPr lang="en-ZA" b="1" dirty="0"/>
          </a:p>
        </p:txBody>
      </p:sp>
      <p:cxnSp>
        <p:nvCxnSpPr>
          <p:cNvPr id="48" name="Connecteur droit avec flèche 47"/>
          <p:cNvCxnSpPr/>
          <p:nvPr/>
        </p:nvCxnSpPr>
        <p:spPr>
          <a:xfrm flipV="1">
            <a:off x="7820409" y="4482864"/>
            <a:ext cx="418633" cy="2472"/>
          </a:xfrm>
          <a:prstGeom prst="straightConnector1">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9" name="Ellipse 48"/>
          <p:cNvSpPr/>
          <p:nvPr/>
        </p:nvSpPr>
        <p:spPr>
          <a:xfrm>
            <a:off x="8279905" y="4054574"/>
            <a:ext cx="328544" cy="319398"/>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en-ZA" dirty="0">
              <a:solidFill>
                <a:schemeClr val="tx1"/>
              </a:solidFill>
            </a:endParaRPr>
          </a:p>
        </p:txBody>
      </p:sp>
      <p:sp>
        <p:nvSpPr>
          <p:cNvPr id="50" name="Ellipse 49"/>
          <p:cNvSpPr/>
          <p:nvPr/>
        </p:nvSpPr>
        <p:spPr>
          <a:xfrm>
            <a:off x="8288616" y="4649240"/>
            <a:ext cx="328544" cy="319398"/>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en-ZA" dirty="0">
              <a:solidFill>
                <a:schemeClr val="tx1"/>
              </a:solidFill>
            </a:endParaRPr>
          </a:p>
        </p:txBody>
      </p:sp>
      <p:cxnSp>
        <p:nvCxnSpPr>
          <p:cNvPr id="51" name="Connecteur droit avec flèche 50"/>
          <p:cNvCxnSpPr>
            <a:stCxn id="41" idx="1"/>
            <a:endCxn id="49" idx="6"/>
          </p:cNvCxnSpPr>
          <p:nvPr/>
        </p:nvCxnSpPr>
        <p:spPr>
          <a:xfrm flipH="1" flipV="1">
            <a:off x="8608449" y="4214273"/>
            <a:ext cx="110215" cy="184852"/>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p:cNvCxnSpPr>
            <a:stCxn id="41" idx="3"/>
            <a:endCxn id="50" idx="6"/>
          </p:cNvCxnSpPr>
          <p:nvPr/>
        </p:nvCxnSpPr>
        <p:spPr>
          <a:xfrm flipH="1">
            <a:off x="8617160" y="4647605"/>
            <a:ext cx="101504" cy="16133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3" name="ZoneTexte 52"/>
              <p:cNvSpPr txBox="1"/>
              <p:nvPr/>
            </p:nvSpPr>
            <p:spPr>
              <a:xfrm>
                <a:off x="2209816" y="5335648"/>
                <a:ext cx="4152715" cy="729495"/>
              </a:xfrm>
              <a:prstGeom prst="rect">
                <a:avLst/>
              </a:prstGeom>
              <a:noFill/>
            </p:spPr>
            <p:txBody>
              <a:bodyPr wrap="square" lIns="0" tIns="0" rIns="0" bIns="0" rtlCol="0">
                <a:spAutoFit/>
              </a:bodyPr>
              <a:lstStyle/>
              <a:p>
                <a:pPr marL="342900" indent="-342900">
                  <a:buAutoNum type="alphaLcParenBoth"/>
                </a:pPr>
                <a:r>
                  <a:rPr lang="en-US" altLang="zh-CN" dirty="0" smtClean="0"/>
                  <a:t>Traditional</a:t>
                </a:r>
                <a:r>
                  <a:rPr lang="en-US" dirty="0" smtClean="0"/>
                  <a:t> vertex-cut                 </a:t>
                </a:r>
              </a:p>
              <a:p>
                <a:pPr/>
                <a14:m>
                  <m:oMathPara xmlns:m="http://schemas.openxmlformats.org/officeDocument/2006/math">
                    <m:oMathParaPr>
                      <m:jc m:val="left"/>
                    </m:oMathParaPr>
                    <m:oMath xmlns:m="http://schemas.openxmlformats.org/officeDocument/2006/math">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max</m:t>
                          </m:r>
                        </m:fName>
                        <m:e>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i="1">
                                          <a:latin typeface="Cambria Math" panose="02040503050406030204" pitchFamily="18" charset="0"/>
                                        </a:rPr>
                                        <m:t>3</m:t>
                                      </m:r>
                                    </m:sub>
                                  </m:sSub>
                                </m:num>
                                <m:den>
                                  <m:r>
                                    <a:rPr lang="en-US" sz="1600" i="1">
                                      <a:latin typeface="Cambria Math" panose="02040503050406030204" pitchFamily="18" charset="0"/>
                                    </a:rPr>
                                    <m:t>10</m:t>
                                  </m:r>
                                </m:den>
                              </m:f>
                              <m:r>
                                <a:rPr lang="en-US" sz="1600" i="1">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i="1">
                                          <a:latin typeface="Cambria Math" panose="02040503050406030204" pitchFamily="18" charset="0"/>
                                        </a:rPr>
                                        <m:t>3</m:t>
                                      </m:r>
                                    </m:sub>
                                  </m:sSub>
                                </m:num>
                                <m:den>
                                  <m:r>
                                    <a:rPr lang="en-US" sz="1600" i="1">
                                      <a:latin typeface="Cambria Math" panose="02040503050406030204" pitchFamily="18" charset="0"/>
                                    </a:rPr>
                                    <m:t>1</m:t>
                                  </m:r>
                                </m:den>
                              </m:f>
                            </m:e>
                          </m:d>
                        </m:e>
                      </m:func>
                      <m:r>
                        <a:rPr lang="en-US" sz="1600" i="1">
                          <a:latin typeface="Cambria Math" panose="02040503050406030204" pitchFamily="18" charset="0"/>
                        </a:rPr>
                        <m:t>+</m:t>
                      </m:r>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max</m:t>
                          </m:r>
                        </m:fName>
                        <m:e>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b="0" i="1" smtClean="0">
                                          <a:latin typeface="Cambria Math" panose="02040503050406030204" pitchFamily="18" charset="0"/>
                                        </a:rPr>
                                        <m:t>4</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b="0" i="1" smtClean="0">
                                          <a:latin typeface="Cambria Math" panose="02040503050406030204" pitchFamily="18" charset="0"/>
                                        </a:rPr>
                                        <m:t>5</m:t>
                                      </m:r>
                                    </m:sub>
                                  </m:sSub>
                                </m:num>
                                <m:den>
                                  <m:r>
                                    <a:rPr lang="en-US" sz="1600" i="1">
                                      <a:latin typeface="Cambria Math" panose="02040503050406030204" pitchFamily="18" charset="0"/>
                                    </a:rPr>
                                    <m:t>10</m:t>
                                  </m:r>
                                </m:den>
                              </m:f>
                              <m:r>
                                <a:rPr lang="en-US" sz="1600" i="1">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b="0" i="1" smtClean="0">
                                          <a:latin typeface="Cambria Math" panose="02040503050406030204" pitchFamily="18" charset="0"/>
                                        </a:rPr>
                                        <m:t>4</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b="0" i="1" smtClean="0">
                                          <a:latin typeface="Cambria Math" panose="02040503050406030204" pitchFamily="18" charset="0"/>
                                        </a:rPr>
                                        <m:t>5</m:t>
                                      </m:r>
                                    </m:sub>
                                  </m:sSub>
                                </m:num>
                                <m:den>
                                  <m:r>
                                    <a:rPr lang="en-US" sz="1600" i="1">
                                      <a:latin typeface="Cambria Math" panose="02040503050406030204" pitchFamily="18" charset="0"/>
                                    </a:rPr>
                                    <m:t>10</m:t>
                                  </m:r>
                                </m:den>
                              </m:f>
                            </m:e>
                          </m:d>
                        </m:e>
                      </m:func>
                      <m:r>
                        <a:rPr lang="en-US" sz="1600" i="1">
                          <a:latin typeface="Cambria Math" panose="02040503050406030204" pitchFamily="18" charset="0"/>
                        </a:rPr>
                        <m:t>=1.2</m:t>
                      </m:r>
                    </m:oMath>
                  </m:oMathPara>
                </a14:m>
                <a:endParaRPr lang="en-ZA" sz="1600" dirty="0"/>
              </a:p>
            </p:txBody>
          </p:sp>
        </mc:Choice>
        <mc:Fallback>
          <p:sp>
            <p:nvSpPr>
              <p:cNvPr id="53" name="ZoneTexte 52"/>
              <p:cNvSpPr txBox="1">
                <a:spLocks noRot="1" noChangeAspect="1" noMove="1" noResize="1" noEditPoints="1" noAdjustHandles="1" noChangeArrowheads="1" noChangeShapeType="1" noTextEdit="1"/>
              </p:cNvSpPr>
              <p:nvPr/>
            </p:nvSpPr>
            <p:spPr>
              <a:xfrm>
                <a:off x="2209816" y="5335648"/>
                <a:ext cx="4152715" cy="729495"/>
              </a:xfrm>
              <a:prstGeom prst="rect">
                <a:avLst/>
              </a:prstGeom>
              <a:blipFill>
                <a:blip r:embed="rId4"/>
                <a:stretch>
                  <a:fillRect l="-3524" t="-10833"/>
                </a:stretch>
              </a:blipFill>
            </p:spPr>
            <p:txBody>
              <a:bodyPr/>
              <a:lstStyle/>
              <a:p>
                <a:r>
                  <a:rPr lang="en-ZA">
                    <a:noFill/>
                  </a:rPr>
                  <a:t> </a:t>
                </a:r>
              </a:p>
            </p:txBody>
          </p:sp>
        </mc:Fallback>
      </mc:AlternateContent>
      <mc:AlternateContent xmlns:mc="http://schemas.openxmlformats.org/markup-compatibility/2006">
        <mc:Choice xmlns:a14="http://schemas.microsoft.com/office/drawing/2010/main" Requires="a14">
          <p:sp>
            <p:nvSpPr>
              <p:cNvPr id="54" name="ZoneTexte 53"/>
              <p:cNvSpPr txBox="1"/>
              <p:nvPr/>
            </p:nvSpPr>
            <p:spPr>
              <a:xfrm>
                <a:off x="6205828" y="5318952"/>
                <a:ext cx="3304687" cy="757772"/>
              </a:xfrm>
              <a:prstGeom prst="rect">
                <a:avLst/>
              </a:prstGeom>
              <a:noFill/>
            </p:spPr>
            <p:txBody>
              <a:bodyPr wrap="none" lIns="0" tIns="0" rIns="0" bIns="0" rtlCol="0">
                <a:spAutoFit/>
              </a:bodyPr>
              <a:lstStyle/>
              <a:p>
                <a:r>
                  <a:rPr lang="en-US" dirty="0" smtClean="0"/>
                  <a:t>(b) Heterogeneity-aware vertex-cut</a:t>
                </a:r>
              </a:p>
              <a:p>
                <a:pPr/>
                <a14:m>
                  <m:oMathPara xmlns:m="http://schemas.openxmlformats.org/officeDocument/2006/math">
                    <m:oMathParaPr>
                      <m:jc m:val="center"/>
                    </m:oMathParaPr>
                    <m:oMath xmlns:m="http://schemas.openxmlformats.org/officeDocument/2006/math">
                      <m:func>
                        <m:funcPr>
                          <m:ctrlPr>
                            <a:rPr lang="en-US" sz="1700" i="1">
                              <a:latin typeface="Cambria Math" panose="02040503050406030204" pitchFamily="18" charset="0"/>
                            </a:rPr>
                          </m:ctrlPr>
                        </m:funcPr>
                        <m:fName>
                          <m:r>
                            <m:rPr>
                              <m:sty m:val="p"/>
                            </m:rPr>
                            <a:rPr lang="en-US" sz="1700">
                              <a:latin typeface="Cambria Math" panose="02040503050406030204" pitchFamily="18" charset="0"/>
                            </a:rPr>
                            <m:t>max</m:t>
                          </m:r>
                        </m:fName>
                        <m:e>
                          <m:d>
                            <m:dPr>
                              <m:ctrlPr>
                                <a:rPr lang="en-US" sz="1700" i="1">
                                  <a:latin typeface="Cambria Math" panose="02040503050406030204" pitchFamily="18" charset="0"/>
                                </a:rPr>
                              </m:ctrlPr>
                            </m:dPr>
                            <m:e>
                              <m:f>
                                <m:fPr>
                                  <m:ctrlPr>
                                    <a:rPr lang="en-US" sz="1700" i="1">
                                      <a:latin typeface="Cambria Math" panose="02040503050406030204" pitchFamily="18" charset="0"/>
                                    </a:rPr>
                                  </m:ctrlPr>
                                </m:fPr>
                                <m:num>
                                  <m:sSub>
                                    <m:sSubPr>
                                      <m:ctrlPr>
                                        <a:rPr lang="en-US" sz="1700" i="1">
                                          <a:latin typeface="Cambria Math" panose="02040503050406030204" pitchFamily="18" charset="0"/>
                                        </a:rPr>
                                      </m:ctrlPr>
                                    </m:sSubPr>
                                    <m:e>
                                      <m:r>
                                        <a:rPr lang="en-US" sz="1700" i="1">
                                          <a:latin typeface="Cambria Math" panose="02040503050406030204" pitchFamily="18" charset="0"/>
                                        </a:rPr>
                                        <m:t>𝑎</m:t>
                                      </m:r>
                                    </m:e>
                                    <m:sub>
                                      <m:r>
                                        <a:rPr lang="en-US" sz="1700" i="1">
                                          <a:latin typeface="Cambria Math" panose="02040503050406030204" pitchFamily="18" charset="0"/>
                                        </a:rPr>
                                        <m:t>1</m:t>
                                      </m:r>
                                    </m:sub>
                                  </m:sSub>
                                  <m:r>
                                    <a:rPr lang="en-US" sz="1700" i="1">
                                      <a:latin typeface="Cambria Math" panose="02040503050406030204" pitchFamily="18" charset="0"/>
                                    </a:rPr>
                                    <m:t>+</m:t>
                                  </m:r>
                                  <m:sSub>
                                    <m:sSubPr>
                                      <m:ctrlPr>
                                        <a:rPr lang="en-US" sz="1700" i="1">
                                          <a:latin typeface="Cambria Math" panose="02040503050406030204" pitchFamily="18" charset="0"/>
                                        </a:rPr>
                                      </m:ctrlPr>
                                    </m:sSubPr>
                                    <m:e>
                                      <m:r>
                                        <a:rPr lang="en-US" sz="1700" i="1">
                                          <a:latin typeface="Cambria Math" panose="02040503050406030204" pitchFamily="18" charset="0"/>
                                        </a:rPr>
                                        <m:t>𝑎</m:t>
                                      </m:r>
                                    </m:e>
                                    <m:sub>
                                      <m:r>
                                        <a:rPr lang="en-US" sz="1700" i="1">
                                          <a:latin typeface="Cambria Math" panose="02040503050406030204" pitchFamily="18" charset="0"/>
                                        </a:rPr>
                                        <m:t>2</m:t>
                                      </m:r>
                                    </m:sub>
                                  </m:sSub>
                                </m:num>
                                <m:den>
                                  <m:r>
                                    <a:rPr lang="en-US" sz="1700" i="1">
                                      <a:latin typeface="Cambria Math" panose="02040503050406030204" pitchFamily="18" charset="0"/>
                                    </a:rPr>
                                    <m:t>10</m:t>
                                  </m:r>
                                </m:den>
                              </m:f>
                              <m:r>
                                <a:rPr lang="en-US" sz="1700" i="1">
                                  <a:latin typeface="Cambria Math" panose="02040503050406030204" pitchFamily="18" charset="0"/>
                                </a:rPr>
                                <m:t>,</m:t>
                              </m:r>
                              <m:f>
                                <m:fPr>
                                  <m:ctrlPr>
                                    <a:rPr lang="en-US" sz="1700" i="1">
                                      <a:latin typeface="Cambria Math" panose="02040503050406030204" pitchFamily="18" charset="0"/>
                                    </a:rPr>
                                  </m:ctrlPr>
                                </m:fPr>
                                <m:num>
                                  <m:sSub>
                                    <m:sSubPr>
                                      <m:ctrlPr>
                                        <a:rPr lang="en-US" sz="1700" i="1">
                                          <a:latin typeface="Cambria Math" panose="02040503050406030204" pitchFamily="18" charset="0"/>
                                        </a:rPr>
                                      </m:ctrlPr>
                                    </m:sSubPr>
                                    <m:e>
                                      <m:r>
                                        <a:rPr lang="en-US" sz="1700" i="1">
                                          <a:latin typeface="Cambria Math" panose="02040503050406030204" pitchFamily="18" charset="0"/>
                                        </a:rPr>
                                        <m:t>𝑎</m:t>
                                      </m:r>
                                    </m:e>
                                    <m:sub>
                                      <m:r>
                                        <a:rPr lang="en-US" sz="1700" i="1">
                                          <a:latin typeface="Cambria Math" panose="02040503050406030204" pitchFamily="18" charset="0"/>
                                        </a:rPr>
                                        <m:t>1</m:t>
                                      </m:r>
                                    </m:sub>
                                  </m:sSub>
                                  <m:r>
                                    <a:rPr lang="en-US" sz="1700" i="1">
                                      <a:latin typeface="Cambria Math" panose="02040503050406030204" pitchFamily="18" charset="0"/>
                                    </a:rPr>
                                    <m:t>+</m:t>
                                  </m:r>
                                  <m:sSub>
                                    <m:sSubPr>
                                      <m:ctrlPr>
                                        <a:rPr lang="en-US" sz="1700" i="1">
                                          <a:latin typeface="Cambria Math" panose="02040503050406030204" pitchFamily="18" charset="0"/>
                                        </a:rPr>
                                      </m:ctrlPr>
                                    </m:sSubPr>
                                    <m:e>
                                      <m:r>
                                        <a:rPr lang="en-US" sz="1700" i="1">
                                          <a:latin typeface="Cambria Math" panose="02040503050406030204" pitchFamily="18" charset="0"/>
                                        </a:rPr>
                                        <m:t>𝑎</m:t>
                                      </m:r>
                                    </m:e>
                                    <m:sub>
                                      <m:r>
                                        <a:rPr lang="en-US" sz="1700" i="1">
                                          <a:latin typeface="Cambria Math" panose="02040503050406030204" pitchFamily="18" charset="0"/>
                                        </a:rPr>
                                        <m:t>2</m:t>
                                      </m:r>
                                    </m:sub>
                                  </m:sSub>
                                </m:num>
                                <m:den>
                                  <m:r>
                                    <a:rPr lang="en-US" sz="1700" i="1">
                                      <a:latin typeface="Cambria Math" panose="02040503050406030204" pitchFamily="18" charset="0"/>
                                    </a:rPr>
                                    <m:t>10</m:t>
                                  </m:r>
                                </m:den>
                              </m:f>
                            </m:e>
                          </m:d>
                        </m:e>
                      </m:func>
                      <m:r>
                        <a:rPr lang="en-US" sz="1700" i="1">
                          <a:latin typeface="Cambria Math" panose="02040503050406030204" pitchFamily="18" charset="0"/>
                        </a:rPr>
                        <m:t>=0.2</m:t>
                      </m:r>
                    </m:oMath>
                  </m:oMathPara>
                </a14:m>
                <a:endParaRPr lang="en-US" sz="1700" dirty="0"/>
              </a:p>
            </p:txBody>
          </p:sp>
        </mc:Choice>
        <mc:Fallback>
          <p:sp>
            <p:nvSpPr>
              <p:cNvPr id="54" name="ZoneTexte 53"/>
              <p:cNvSpPr txBox="1">
                <a:spLocks noRot="1" noChangeAspect="1" noMove="1" noResize="1" noEditPoints="1" noAdjustHandles="1" noChangeArrowheads="1" noChangeShapeType="1" noTextEdit="1"/>
              </p:cNvSpPr>
              <p:nvPr/>
            </p:nvSpPr>
            <p:spPr>
              <a:xfrm>
                <a:off x="6205828" y="5318952"/>
                <a:ext cx="3304687" cy="757772"/>
              </a:xfrm>
              <a:prstGeom prst="rect">
                <a:avLst/>
              </a:prstGeom>
              <a:blipFill>
                <a:blip r:embed="rId5"/>
                <a:stretch>
                  <a:fillRect l="-4244" t="-10484" r="-3875"/>
                </a:stretch>
              </a:blipFill>
            </p:spPr>
            <p:txBody>
              <a:bodyPr/>
              <a:lstStyle/>
              <a:p>
                <a:r>
                  <a:rPr lang="en-ZA">
                    <a:noFill/>
                  </a:rPr>
                  <a:t> </a:t>
                </a:r>
              </a:p>
            </p:txBody>
          </p:sp>
        </mc:Fallback>
      </mc:AlternateContent>
      <p:sp>
        <p:nvSpPr>
          <p:cNvPr id="55" name="Nuage 54"/>
          <p:cNvSpPr/>
          <p:nvPr/>
        </p:nvSpPr>
        <p:spPr>
          <a:xfrm>
            <a:off x="3910994" y="4008945"/>
            <a:ext cx="463604" cy="1126323"/>
          </a:xfrm>
          <a:prstGeom prst="cloud">
            <a:avLst/>
          </a:prstGeom>
          <a:ln w="12700"/>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2000" b="1" dirty="0" smtClean="0"/>
              <a:t>WAN</a:t>
            </a:r>
            <a:endParaRPr lang="en-ZA" sz="2000" b="1" dirty="0"/>
          </a:p>
        </p:txBody>
      </p:sp>
      <p:cxnSp>
        <p:nvCxnSpPr>
          <p:cNvPr id="56" name="Connecteur droit avec flèche 55"/>
          <p:cNvCxnSpPr/>
          <p:nvPr/>
        </p:nvCxnSpPr>
        <p:spPr>
          <a:xfrm flipV="1">
            <a:off x="4364078" y="4195604"/>
            <a:ext cx="401241" cy="45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p:cNvCxnSpPr/>
          <p:nvPr/>
        </p:nvCxnSpPr>
        <p:spPr>
          <a:xfrm flipH="1">
            <a:off x="4322572" y="4873379"/>
            <a:ext cx="428542"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8" name="ZoneTexte 57"/>
              <p:cNvSpPr txBox="1"/>
              <p:nvPr/>
            </p:nvSpPr>
            <p:spPr>
              <a:xfrm>
                <a:off x="4277971" y="3933858"/>
                <a:ext cx="473143" cy="276999"/>
              </a:xfrm>
              <a:prstGeom prst="rect">
                <a:avLst/>
              </a:prstGeom>
              <a:noFill/>
            </p:spPr>
            <p:txBody>
              <a:bodyPr wrap="none" t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ZA" dirty="0"/>
              </a:p>
            </p:txBody>
          </p:sp>
        </mc:Choice>
        <mc:Fallback>
          <p:sp>
            <p:nvSpPr>
              <p:cNvPr id="58" name="ZoneTexte 57"/>
              <p:cNvSpPr txBox="1">
                <a:spLocks noRot="1" noChangeAspect="1" noMove="1" noResize="1" noEditPoints="1" noAdjustHandles="1" noChangeArrowheads="1" noChangeShapeType="1" noTextEdit="1"/>
              </p:cNvSpPr>
              <p:nvPr/>
            </p:nvSpPr>
            <p:spPr>
              <a:xfrm>
                <a:off x="4277971" y="3933858"/>
                <a:ext cx="473143" cy="276999"/>
              </a:xfrm>
              <a:prstGeom prst="rect">
                <a:avLst/>
              </a:prstGeom>
              <a:blipFill>
                <a:blip r:embed="rId6"/>
                <a:stretch>
                  <a:fillRect b="-15217"/>
                </a:stretch>
              </a:blipFill>
            </p:spPr>
            <p:txBody>
              <a:bodyPr/>
              <a:lstStyle/>
              <a:p>
                <a:r>
                  <a:rPr lang="en-ZA">
                    <a:noFill/>
                  </a:rPr>
                  <a:t> </a:t>
                </a:r>
              </a:p>
            </p:txBody>
          </p:sp>
        </mc:Fallback>
      </mc:AlternateContent>
      <p:sp>
        <p:nvSpPr>
          <p:cNvPr id="59" name="Nuage 58"/>
          <p:cNvSpPr/>
          <p:nvPr/>
        </p:nvSpPr>
        <p:spPr>
          <a:xfrm>
            <a:off x="7342476" y="3919703"/>
            <a:ext cx="463604" cy="1126323"/>
          </a:xfrm>
          <a:prstGeom prst="cloud">
            <a:avLst/>
          </a:prstGeom>
          <a:ln w="12700"/>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2000" b="1" dirty="0" smtClean="0"/>
              <a:t>WAN</a:t>
            </a:r>
            <a:endParaRPr lang="en-ZA" sz="2000" b="1" dirty="0"/>
          </a:p>
        </p:txBody>
      </p:sp>
      <p:cxnSp>
        <p:nvCxnSpPr>
          <p:cNvPr id="60" name="Connecteur droit avec flèche 59"/>
          <p:cNvCxnSpPr/>
          <p:nvPr/>
        </p:nvCxnSpPr>
        <p:spPr>
          <a:xfrm>
            <a:off x="4426909" y="3734722"/>
            <a:ext cx="387955" cy="53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ZoneTexte 60"/>
          <p:cNvSpPr txBox="1"/>
          <p:nvPr/>
        </p:nvSpPr>
        <p:spPr>
          <a:xfrm>
            <a:off x="4749821" y="3545597"/>
            <a:ext cx="1444372" cy="369332"/>
          </a:xfrm>
          <a:prstGeom prst="rect">
            <a:avLst/>
          </a:prstGeom>
          <a:noFill/>
        </p:spPr>
        <p:txBody>
          <a:bodyPr wrap="square" rtlCol="0">
            <a:spAutoFit/>
          </a:bodyPr>
          <a:lstStyle/>
          <a:p>
            <a:r>
              <a:rPr lang="en-US" altLang="zh-CN" dirty="0" smtClean="0"/>
              <a:t>Data transfer</a:t>
            </a:r>
            <a:endParaRPr lang="en-ZA" dirty="0"/>
          </a:p>
        </p:txBody>
      </p:sp>
      <p:cxnSp>
        <p:nvCxnSpPr>
          <p:cNvPr id="62" name="Connecteur droit avec flèche 61"/>
          <p:cNvCxnSpPr/>
          <p:nvPr/>
        </p:nvCxnSpPr>
        <p:spPr>
          <a:xfrm>
            <a:off x="6908238" y="4500023"/>
            <a:ext cx="411977" cy="4794"/>
          </a:xfrm>
          <a:prstGeom prst="straightConnector1">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3" name="ZoneTexte 62"/>
              <p:cNvSpPr txBox="1"/>
              <p:nvPr/>
            </p:nvSpPr>
            <p:spPr>
              <a:xfrm>
                <a:off x="6876248" y="4141027"/>
                <a:ext cx="46782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ZA" dirty="0"/>
              </a:p>
            </p:txBody>
          </p:sp>
        </mc:Choice>
        <mc:Fallback>
          <p:sp>
            <p:nvSpPr>
              <p:cNvPr id="63" name="ZoneTexte 62"/>
              <p:cNvSpPr txBox="1">
                <a:spLocks noRot="1" noChangeAspect="1" noMove="1" noResize="1" noEditPoints="1" noAdjustHandles="1" noChangeArrowheads="1" noChangeShapeType="1" noTextEdit="1"/>
              </p:cNvSpPr>
              <p:nvPr/>
            </p:nvSpPr>
            <p:spPr>
              <a:xfrm>
                <a:off x="6876248" y="4141027"/>
                <a:ext cx="467820" cy="369332"/>
              </a:xfrm>
              <a:prstGeom prst="rect">
                <a:avLst/>
              </a:prstGeom>
              <a:blipFill>
                <a:blip r:embed="rId7"/>
                <a:stretch>
                  <a:fillRect/>
                </a:stretch>
              </a:blipFill>
            </p:spPr>
            <p:txBody>
              <a:bodyPr/>
              <a:lstStyle/>
              <a:p>
                <a:r>
                  <a:rPr lang="en-ZA">
                    <a:noFill/>
                  </a:rPr>
                  <a:t> </a:t>
                </a:r>
              </a:p>
            </p:txBody>
          </p:sp>
        </mc:Fallback>
      </mc:AlternateContent>
      <p:sp>
        <p:nvSpPr>
          <p:cNvPr id="64" name="Ellipse 63"/>
          <p:cNvSpPr/>
          <p:nvPr/>
        </p:nvSpPr>
        <p:spPr>
          <a:xfrm>
            <a:off x="2457304" y="3186517"/>
            <a:ext cx="312358" cy="3027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en-ZA" dirty="0">
              <a:solidFill>
                <a:schemeClr val="tx1"/>
              </a:solidFill>
            </a:endParaRPr>
          </a:p>
        </p:txBody>
      </p:sp>
      <p:cxnSp>
        <p:nvCxnSpPr>
          <p:cNvPr id="65" name="Connecteur droit avec flèche 64"/>
          <p:cNvCxnSpPr>
            <a:stCxn id="8" idx="2"/>
            <a:endCxn id="64" idx="5"/>
          </p:cNvCxnSpPr>
          <p:nvPr/>
        </p:nvCxnSpPr>
        <p:spPr>
          <a:xfrm flipH="1" flipV="1">
            <a:off x="2723918" y="3444929"/>
            <a:ext cx="138155" cy="20914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6" name="Connecteur droit avec flèche 65"/>
          <p:cNvCxnSpPr>
            <a:stCxn id="6" idx="2"/>
            <a:endCxn id="64" idx="7"/>
          </p:cNvCxnSpPr>
          <p:nvPr/>
        </p:nvCxnSpPr>
        <p:spPr>
          <a:xfrm flipH="1">
            <a:off x="2723918" y="3061433"/>
            <a:ext cx="138155" cy="16942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7" name="Ellipse 66"/>
          <p:cNvSpPr/>
          <p:nvPr/>
        </p:nvSpPr>
        <p:spPr>
          <a:xfrm>
            <a:off x="2336196" y="4345570"/>
            <a:ext cx="312358" cy="32959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en-ZA" dirty="0">
              <a:solidFill>
                <a:schemeClr val="tx1"/>
              </a:solidFill>
            </a:endParaRPr>
          </a:p>
        </p:txBody>
      </p:sp>
      <p:cxnSp>
        <p:nvCxnSpPr>
          <p:cNvPr id="68" name="Connecteur droit avec flèche 67"/>
          <p:cNvCxnSpPr>
            <a:stCxn id="18" idx="2"/>
            <a:endCxn id="67" idx="5"/>
          </p:cNvCxnSpPr>
          <p:nvPr/>
        </p:nvCxnSpPr>
        <p:spPr>
          <a:xfrm flipH="1" flipV="1">
            <a:off x="2602810" y="4626893"/>
            <a:ext cx="148480" cy="16601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Connecteur droit avec flèche 68"/>
          <p:cNvCxnSpPr>
            <a:stCxn id="17" idx="2"/>
            <a:endCxn id="67" idx="7"/>
          </p:cNvCxnSpPr>
          <p:nvPr/>
        </p:nvCxnSpPr>
        <p:spPr>
          <a:xfrm flipH="1">
            <a:off x="2602810" y="4189437"/>
            <a:ext cx="146171" cy="20440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0" name="Ellipse 69"/>
          <p:cNvSpPr/>
          <p:nvPr/>
        </p:nvSpPr>
        <p:spPr>
          <a:xfrm>
            <a:off x="6054884" y="4318652"/>
            <a:ext cx="312358" cy="32959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en-ZA" dirty="0">
              <a:solidFill>
                <a:schemeClr val="tx1"/>
              </a:solidFill>
            </a:endParaRPr>
          </a:p>
        </p:txBody>
      </p:sp>
      <p:cxnSp>
        <p:nvCxnSpPr>
          <p:cNvPr id="71" name="Connecteur droit avec flèche 70"/>
          <p:cNvCxnSpPr>
            <a:stCxn id="40" idx="2"/>
            <a:endCxn id="70" idx="5"/>
          </p:cNvCxnSpPr>
          <p:nvPr/>
        </p:nvCxnSpPr>
        <p:spPr>
          <a:xfrm flipH="1" flipV="1">
            <a:off x="6321498" y="4599975"/>
            <a:ext cx="172336" cy="20060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Connecteur droit avec flèche 71"/>
          <p:cNvCxnSpPr>
            <a:stCxn id="39" idx="2"/>
            <a:endCxn id="70" idx="7"/>
          </p:cNvCxnSpPr>
          <p:nvPr/>
        </p:nvCxnSpPr>
        <p:spPr>
          <a:xfrm flipH="1">
            <a:off x="6321498" y="4197111"/>
            <a:ext cx="175009" cy="169808"/>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3" name="ZoneTexte 72"/>
              <p:cNvSpPr txBox="1"/>
              <p:nvPr/>
            </p:nvSpPr>
            <p:spPr>
              <a:xfrm>
                <a:off x="7797084" y="4141026"/>
                <a:ext cx="46782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ZA" dirty="0"/>
              </a:p>
            </p:txBody>
          </p:sp>
        </mc:Choice>
        <mc:Fallback>
          <p:sp>
            <p:nvSpPr>
              <p:cNvPr id="73" name="ZoneTexte 72"/>
              <p:cNvSpPr txBox="1">
                <a:spLocks noRot="1" noChangeAspect="1" noMove="1" noResize="1" noEditPoints="1" noAdjustHandles="1" noChangeArrowheads="1" noChangeShapeType="1" noTextEdit="1"/>
              </p:cNvSpPr>
              <p:nvPr/>
            </p:nvSpPr>
            <p:spPr>
              <a:xfrm>
                <a:off x="7797084" y="4141026"/>
                <a:ext cx="467820" cy="369332"/>
              </a:xfrm>
              <a:prstGeom prst="rect">
                <a:avLst/>
              </a:prstGeom>
              <a:blipFill>
                <a:blip r:embed="rId8"/>
                <a:stretch>
                  <a:fillRect/>
                </a:stretch>
              </a:blipFill>
            </p:spPr>
            <p:txBody>
              <a:bodyPr/>
              <a:lstStyle/>
              <a:p>
                <a:r>
                  <a:rPr lang="en-ZA">
                    <a:noFill/>
                  </a:rPr>
                  <a:t> </a:t>
                </a:r>
              </a:p>
            </p:txBody>
          </p:sp>
        </mc:Fallback>
      </mc:AlternateContent>
      <mc:AlternateContent xmlns:mc="http://schemas.openxmlformats.org/markup-compatibility/2006">
        <mc:Choice xmlns:a14="http://schemas.microsoft.com/office/drawing/2010/main" Requires="a14">
          <p:sp>
            <p:nvSpPr>
              <p:cNvPr id="74" name="ZoneTexte 73"/>
              <p:cNvSpPr txBox="1"/>
              <p:nvPr/>
            </p:nvSpPr>
            <p:spPr>
              <a:xfrm>
                <a:off x="3481626" y="4866877"/>
                <a:ext cx="473143" cy="276999"/>
              </a:xfrm>
              <a:prstGeom prst="rect">
                <a:avLst/>
              </a:prstGeom>
              <a:noFill/>
            </p:spPr>
            <p:txBody>
              <a:bodyPr wrap="none" tIns="0" bIns="0"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5</m:t>
                          </m:r>
                        </m:sub>
                      </m:sSub>
                    </m:oMath>
                  </m:oMathPara>
                </a14:m>
                <a:endParaRPr lang="en-ZA" dirty="0"/>
              </a:p>
            </p:txBody>
          </p:sp>
        </mc:Choice>
        <mc:Fallback>
          <p:sp>
            <p:nvSpPr>
              <p:cNvPr id="74" name="ZoneTexte 73"/>
              <p:cNvSpPr txBox="1">
                <a:spLocks noRot="1" noChangeAspect="1" noMove="1" noResize="1" noEditPoints="1" noAdjustHandles="1" noChangeArrowheads="1" noChangeShapeType="1" noTextEdit="1"/>
              </p:cNvSpPr>
              <p:nvPr/>
            </p:nvSpPr>
            <p:spPr>
              <a:xfrm>
                <a:off x="3481626" y="4866877"/>
                <a:ext cx="473143" cy="276999"/>
              </a:xfrm>
              <a:prstGeom prst="rect">
                <a:avLst/>
              </a:prstGeom>
              <a:blipFill>
                <a:blip r:embed="rId9"/>
                <a:stretch>
                  <a:fillRect b="-15217"/>
                </a:stretch>
              </a:blipFill>
            </p:spPr>
            <p:txBody>
              <a:bodyPr/>
              <a:lstStyle/>
              <a:p>
                <a:r>
                  <a:rPr lang="en-ZA">
                    <a:noFill/>
                  </a:rPr>
                  <a:t> </a:t>
                </a:r>
              </a:p>
            </p:txBody>
          </p:sp>
        </mc:Fallback>
      </mc:AlternateContent>
      <p:cxnSp>
        <p:nvCxnSpPr>
          <p:cNvPr id="75" name="Connecteur droit 74"/>
          <p:cNvCxnSpPr/>
          <p:nvPr/>
        </p:nvCxnSpPr>
        <p:spPr>
          <a:xfrm flipH="1">
            <a:off x="5846773" y="3990863"/>
            <a:ext cx="6883" cy="1687373"/>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76" name="ZoneTexte 75"/>
              <p:cNvSpPr txBox="1"/>
              <p:nvPr/>
            </p:nvSpPr>
            <p:spPr>
              <a:xfrm>
                <a:off x="4317755" y="4540829"/>
                <a:ext cx="473143" cy="276999"/>
              </a:xfrm>
              <a:prstGeom prst="rect">
                <a:avLst/>
              </a:prstGeom>
              <a:noFill/>
            </p:spPr>
            <p:txBody>
              <a:bodyPr wrap="none" t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4</m:t>
                          </m:r>
                        </m:sub>
                      </m:sSub>
                    </m:oMath>
                  </m:oMathPara>
                </a14:m>
                <a:endParaRPr lang="en-ZA" dirty="0"/>
              </a:p>
            </p:txBody>
          </p:sp>
        </mc:Choice>
        <mc:Fallback>
          <p:sp>
            <p:nvSpPr>
              <p:cNvPr id="76" name="ZoneTexte 75"/>
              <p:cNvSpPr txBox="1">
                <a:spLocks noRot="1" noChangeAspect="1" noMove="1" noResize="1" noEditPoints="1" noAdjustHandles="1" noChangeArrowheads="1" noChangeShapeType="1" noTextEdit="1"/>
              </p:cNvSpPr>
              <p:nvPr/>
            </p:nvSpPr>
            <p:spPr>
              <a:xfrm>
                <a:off x="4317755" y="4540829"/>
                <a:ext cx="473143" cy="276999"/>
              </a:xfrm>
              <a:prstGeom prst="rect">
                <a:avLst/>
              </a:prstGeom>
              <a:blipFill>
                <a:blip r:embed="rId10"/>
                <a:stretch>
                  <a:fillRect b="-15556"/>
                </a:stretch>
              </a:blipFill>
            </p:spPr>
            <p:txBody>
              <a:bodyPr/>
              <a:lstStyle/>
              <a:p>
                <a:r>
                  <a:rPr lang="en-ZA">
                    <a:noFill/>
                  </a:rPr>
                  <a:t> </a:t>
                </a:r>
              </a:p>
            </p:txBody>
          </p:sp>
        </mc:Fallback>
      </mc:AlternateContent>
      <mc:AlternateContent xmlns:mc="http://schemas.openxmlformats.org/markup-compatibility/2006">
        <mc:Choice xmlns:a14="http://schemas.microsoft.com/office/drawing/2010/main" Requires="a14">
          <p:sp>
            <p:nvSpPr>
              <p:cNvPr id="77" name="ZoneTexte 76"/>
              <p:cNvSpPr txBox="1"/>
              <p:nvPr/>
            </p:nvSpPr>
            <p:spPr>
              <a:xfrm>
                <a:off x="4396501" y="4890941"/>
                <a:ext cx="2884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5</m:t>
                          </m:r>
                        </m:sub>
                      </m:sSub>
                    </m:oMath>
                  </m:oMathPara>
                </a14:m>
                <a:endParaRPr lang="en-ZA" dirty="0"/>
              </a:p>
            </p:txBody>
          </p:sp>
        </mc:Choice>
        <mc:Fallback>
          <p:sp>
            <p:nvSpPr>
              <p:cNvPr id="77" name="ZoneTexte 76"/>
              <p:cNvSpPr txBox="1">
                <a:spLocks noRot="1" noChangeAspect="1" noMove="1" noResize="1" noEditPoints="1" noAdjustHandles="1" noChangeArrowheads="1" noChangeShapeType="1" noTextEdit="1"/>
              </p:cNvSpPr>
              <p:nvPr/>
            </p:nvSpPr>
            <p:spPr>
              <a:xfrm>
                <a:off x="4396501" y="4890941"/>
                <a:ext cx="288477" cy="276999"/>
              </a:xfrm>
              <a:prstGeom prst="rect">
                <a:avLst/>
              </a:prstGeom>
              <a:blipFill>
                <a:blip r:embed="rId11"/>
                <a:stretch>
                  <a:fillRect l="-12500" r="-6250" b="-15217"/>
                </a:stretch>
              </a:blipFill>
            </p:spPr>
            <p:txBody>
              <a:bodyPr/>
              <a:lstStyle/>
              <a:p>
                <a:r>
                  <a:rPr lang="en-ZA">
                    <a:noFill/>
                  </a:rPr>
                  <a:t> </a:t>
                </a:r>
              </a:p>
            </p:txBody>
          </p:sp>
        </mc:Fallback>
      </mc:AlternateContent>
      <mc:AlternateContent xmlns:mc="http://schemas.openxmlformats.org/markup-compatibility/2006">
        <mc:Choice xmlns:a14="http://schemas.microsoft.com/office/drawing/2010/main" Requires="a14">
          <p:sp>
            <p:nvSpPr>
              <p:cNvPr id="78" name="ZoneTexte 77"/>
              <p:cNvSpPr txBox="1"/>
              <p:nvPr/>
            </p:nvSpPr>
            <p:spPr>
              <a:xfrm>
                <a:off x="6878272" y="4460700"/>
                <a:ext cx="4731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ZA" dirty="0"/>
              </a:p>
            </p:txBody>
          </p:sp>
        </mc:Choice>
        <mc:Fallback>
          <p:sp>
            <p:nvSpPr>
              <p:cNvPr id="78" name="ZoneTexte 77"/>
              <p:cNvSpPr txBox="1">
                <a:spLocks noRot="1" noChangeAspect="1" noMove="1" noResize="1" noEditPoints="1" noAdjustHandles="1" noChangeArrowheads="1" noChangeShapeType="1" noTextEdit="1"/>
              </p:cNvSpPr>
              <p:nvPr/>
            </p:nvSpPr>
            <p:spPr>
              <a:xfrm>
                <a:off x="6878272" y="4460700"/>
                <a:ext cx="473143" cy="369332"/>
              </a:xfrm>
              <a:prstGeom prst="rect">
                <a:avLst/>
              </a:prstGeom>
              <a:blipFill>
                <a:blip r:embed="rId12"/>
                <a:stretch>
                  <a:fillRect/>
                </a:stretch>
              </a:blipFill>
            </p:spPr>
            <p:txBody>
              <a:bodyPr/>
              <a:lstStyle/>
              <a:p>
                <a:r>
                  <a:rPr lang="en-ZA">
                    <a:noFill/>
                  </a:rPr>
                  <a:t> </a:t>
                </a:r>
              </a:p>
            </p:txBody>
          </p:sp>
        </mc:Fallback>
      </mc:AlternateContent>
      <mc:AlternateContent xmlns:mc="http://schemas.openxmlformats.org/markup-compatibility/2006">
        <mc:Choice xmlns:a14="http://schemas.microsoft.com/office/drawing/2010/main" Requires="a14">
          <p:sp>
            <p:nvSpPr>
              <p:cNvPr id="79" name="ZoneTexte 78"/>
              <p:cNvSpPr txBox="1"/>
              <p:nvPr/>
            </p:nvSpPr>
            <p:spPr>
              <a:xfrm>
                <a:off x="7822739" y="4459286"/>
                <a:ext cx="4731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ZA" dirty="0"/>
              </a:p>
            </p:txBody>
          </p:sp>
        </mc:Choice>
        <mc:Fallback>
          <p:sp>
            <p:nvSpPr>
              <p:cNvPr id="79" name="ZoneTexte 78"/>
              <p:cNvSpPr txBox="1">
                <a:spLocks noRot="1" noChangeAspect="1" noMove="1" noResize="1" noEditPoints="1" noAdjustHandles="1" noChangeArrowheads="1" noChangeShapeType="1" noTextEdit="1"/>
              </p:cNvSpPr>
              <p:nvPr/>
            </p:nvSpPr>
            <p:spPr>
              <a:xfrm>
                <a:off x="7822739" y="4459286"/>
                <a:ext cx="473143" cy="369332"/>
              </a:xfrm>
              <a:prstGeom prst="rect">
                <a:avLst/>
              </a:prstGeom>
              <a:blipFill>
                <a:blip r:embed="rId13"/>
                <a:stretch>
                  <a:fillRect/>
                </a:stretch>
              </a:blipFill>
            </p:spPr>
            <p:txBody>
              <a:bodyPr/>
              <a:lstStyle/>
              <a:p>
                <a:r>
                  <a:rPr lang="en-ZA">
                    <a:noFill/>
                  </a:rPr>
                  <a:t> </a:t>
                </a:r>
              </a:p>
            </p:txBody>
          </p:sp>
        </mc:Fallback>
      </mc:AlternateContent>
      <p:sp>
        <p:nvSpPr>
          <p:cNvPr id="80" name="Ellipse 79"/>
          <p:cNvSpPr/>
          <p:nvPr/>
        </p:nvSpPr>
        <p:spPr>
          <a:xfrm>
            <a:off x="4277971" y="3911352"/>
            <a:ext cx="694079" cy="462620"/>
          </a:xfrm>
          <a:prstGeom prst="ellipse">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ZA"/>
          </a:p>
        </p:txBody>
      </p:sp>
      <p:sp>
        <p:nvSpPr>
          <p:cNvPr id="81" name="ZoneTexte 80"/>
          <p:cNvSpPr txBox="1"/>
          <p:nvPr/>
        </p:nvSpPr>
        <p:spPr>
          <a:xfrm>
            <a:off x="9663231" y="4510357"/>
            <a:ext cx="2528769" cy="369332"/>
          </a:xfrm>
          <a:prstGeom prst="rect">
            <a:avLst/>
          </a:prstGeom>
          <a:noFill/>
        </p:spPr>
        <p:txBody>
          <a:bodyPr wrap="none" rtlCol="0">
            <a:spAutoFit/>
          </a:bodyPr>
          <a:lstStyle/>
          <a:p>
            <a:r>
              <a:rPr lang="zh-CN" altLang="en-US" b="1" dirty="0">
                <a:solidFill>
                  <a:schemeClr val="accent2">
                    <a:lumMod val="75000"/>
                  </a:schemeClr>
                </a:solidFill>
              </a:rPr>
              <a:t>避</a:t>
            </a:r>
            <a:r>
              <a:rPr lang="zh-CN" altLang="en-US" b="1" dirty="0" smtClean="0">
                <a:solidFill>
                  <a:schemeClr val="accent2">
                    <a:lumMod val="75000"/>
                  </a:schemeClr>
                </a:solidFill>
              </a:rPr>
              <a:t>免用到</a:t>
            </a:r>
            <a:r>
              <a:rPr lang="en-US" altLang="zh-CN" b="1" dirty="0" smtClean="0">
                <a:solidFill>
                  <a:schemeClr val="accent2">
                    <a:lumMod val="75000"/>
                  </a:schemeClr>
                </a:solidFill>
              </a:rPr>
              <a:t>bottleneck link</a:t>
            </a:r>
            <a:endParaRPr lang="en-ZA" b="1" dirty="0">
              <a:solidFill>
                <a:schemeClr val="accent2">
                  <a:lumMod val="75000"/>
                </a:schemeClr>
              </a:solidFill>
            </a:endParaRPr>
          </a:p>
        </p:txBody>
      </p:sp>
      <p:sp>
        <p:nvSpPr>
          <p:cNvPr id="82" name="Espace réservé du numéro de diapositive 81"/>
          <p:cNvSpPr>
            <a:spLocks noGrp="1"/>
          </p:cNvSpPr>
          <p:nvPr>
            <p:ph type="sldNum" sz="quarter" idx="12"/>
          </p:nvPr>
        </p:nvSpPr>
        <p:spPr/>
        <p:txBody>
          <a:bodyPr/>
          <a:lstStyle/>
          <a:p>
            <a:fld id="{BBF3D8CE-58F1-40DD-970B-B96FBB2BDA32}" type="slidenum">
              <a:rPr lang="en-ZA" smtClean="0"/>
              <a:t>11</a:t>
            </a:fld>
            <a:endParaRPr lang="en-ZA"/>
          </a:p>
        </p:txBody>
      </p:sp>
    </p:spTree>
    <p:extLst>
      <p:ext uri="{BB962C8B-B14F-4D97-AF65-F5344CB8AC3E}">
        <p14:creationId xmlns:p14="http://schemas.microsoft.com/office/powerpoint/2010/main" val="3139825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zh-CN" altLang="en-US" dirty="0"/>
              <a:t>研究计划</a:t>
            </a:r>
            <a:endParaRPr lang="en-ZA" dirty="0"/>
          </a:p>
        </p:txBody>
      </p:sp>
      <p:sp>
        <p:nvSpPr>
          <p:cNvPr id="3" name="Espace réservé du contenu 2"/>
          <p:cNvSpPr>
            <a:spLocks noGrp="1"/>
          </p:cNvSpPr>
          <p:nvPr>
            <p:ph idx="1"/>
          </p:nvPr>
        </p:nvSpPr>
        <p:spPr/>
        <p:txBody>
          <a:bodyPr>
            <a:normAutofit/>
          </a:bodyPr>
          <a:lstStyle/>
          <a:p>
            <a:r>
              <a:rPr lang="en-US" dirty="0" smtClean="0"/>
              <a:t>Privacy-preserving in geo-distributed datacenters</a:t>
            </a:r>
          </a:p>
          <a:p>
            <a:pPr lvl="1"/>
            <a:r>
              <a:rPr lang="en-US" dirty="0" smtClean="0"/>
              <a:t>Collaborator: Amr </a:t>
            </a:r>
            <a:r>
              <a:rPr lang="en-US" dirty="0" err="1" smtClean="0"/>
              <a:t>Abbadi</a:t>
            </a:r>
            <a:r>
              <a:rPr lang="en-US" dirty="0" smtClean="0"/>
              <a:t> (UCSB), </a:t>
            </a:r>
            <a:r>
              <a:rPr lang="en-ZA" dirty="0" smtClean="0"/>
              <a:t>Tristan Allard (Univ. Rennes 1)</a:t>
            </a:r>
            <a:endParaRPr lang="en-US" dirty="0" smtClean="0"/>
          </a:p>
          <a:p>
            <a:pPr lvl="2"/>
            <a:endParaRPr lang="en-US" dirty="0" smtClean="0"/>
          </a:p>
          <a:p>
            <a:r>
              <a:rPr lang="en-US" dirty="0" smtClean="0"/>
              <a:t>Probabilistic </a:t>
            </a:r>
            <a:r>
              <a:rPr lang="en-US" altLang="zh-CN" dirty="0" smtClean="0"/>
              <a:t>optimization </a:t>
            </a:r>
            <a:r>
              <a:rPr lang="en-US" dirty="0" smtClean="0"/>
              <a:t>in HPC</a:t>
            </a:r>
          </a:p>
          <a:p>
            <a:pPr lvl="1"/>
            <a:r>
              <a:rPr lang="en-US" dirty="0" smtClean="0"/>
              <a:t>CPU performance variation in HPC [ICS’16]</a:t>
            </a:r>
          </a:p>
          <a:p>
            <a:pPr lvl="1"/>
            <a:r>
              <a:rPr lang="en-US" dirty="0" smtClean="0"/>
              <a:t>I/O performance variation due to interferences [IPDPS’16] </a:t>
            </a:r>
          </a:p>
          <a:p>
            <a:pPr lvl="2"/>
            <a:endParaRPr lang="en-US" dirty="0" smtClean="0"/>
          </a:p>
          <a:p>
            <a:r>
              <a:rPr lang="en-US" dirty="0" smtClean="0"/>
              <a:t>Energy efficiency of big data applications</a:t>
            </a:r>
          </a:p>
          <a:p>
            <a:pPr lvl="1"/>
            <a:r>
              <a:rPr lang="en-US" dirty="0" smtClean="0"/>
              <a:t>Energy is the main operational cost for clouds.</a:t>
            </a:r>
          </a:p>
          <a:p>
            <a:pPr lvl="1"/>
            <a:r>
              <a:rPr lang="en-US" dirty="0" smtClean="0"/>
              <a:t>Trade-off between performance and energy during job execution.</a:t>
            </a:r>
          </a:p>
          <a:p>
            <a:endParaRPr lang="en-ZA"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12</a:t>
            </a:fld>
            <a:endParaRPr lang="en-ZA"/>
          </a:p>
        </p:txBody>
      </p:sp>
    </p:spTree>
    <p:extLst>
      <p:ext uri="{BB962C8B-B14F-4D97-AF65-F5344CB8AC3E}">
        <p14:creationId xmlns:p14="http://schemas.microsoft.com/office/powerpoint/2010/main" val="26704585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en-US" dirty="0" smtClean="0"/>
              <a:t>B</a:t>
            </a:r>
            <a:r>
              <a:rPr lang="en-US" baseline="30000" dirty="0" smtClean="0"/>
              <a:t>+</a:t>
            </a:r>
            <a:r>
              <a:rPr lang="en-US" dirty="0" smtClean="0"/>
              <a:t>-Tree</a:t>
            </a:r>
            <a:r>
              <a:rPr lang="zh-CN" altLang="en-US" dirty="0" smtClean="0"/>
              <a:t>知识点试讲</a:t>
            </a:r>
            <a:endParaRPr lang="en-ZA" dirty="0"/>
          </a:p>
        </p:txBody>
      </p:sp>
      <p:sp>
        <p:nvSpPr>
          <p:cNvPr id="3" name="Sous-titre 2"/>
          <p:cNvSpPr>
            <a:spLocks noGrp="1"/>
          </p:cNvSpPr>
          <p:nvPr>
            <p:ph type="subTitle" idx="1"/>
          </p:nvPr>
        </p:nvSpPr>
        <p:spPr/>
        <p:txBody>
          <a:bodyPr/>
          <a:lstStyle/>
          <a:p>
            <a:r>
              <a:rPr lang="en-US" altLang="zh-CN" dirty="0" smtClean="0"/>
              <a:t>Lecturer: </a:t>
            </a:r>
            <a:r>
              <a:rPr lang="zh-CN" altLang="en-US" dirty="0" smtClean="0"/>
              <a:t>周池 </a:t>
            </a:r>
            <a:r>
              <a:rPr lang="en-US" altLang="zh-CN" dirty="0" smtClean="0"/>
              <a:t>(Amelie)</a:t>
            </a:r>
          </a:p>
          <a:p>
            <a:r>
              <a:rPr lang="en-US" dirty="0" smtClean="0"/>
              <a:t>2017 Mar 27</a:t>
            </a:r>
            <a:endParaRPr lang="en-ZA"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13</a:t>
            </a:fld>
            <a:endParaRPr lang="en-ZA"/>
          </a:p>
        </p:txBody>
      </p:sp>
    </p:spTree>
    <p:extLst>
      <p:ext uri="{BB962C8B-B14F-4D97-AF65-F5344CB8AC3E}">
        <p14:creationId xmlns:p14="http://schemas.microsoft.com/office/powerpoint/2010/main" val="9818225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Revisit: BST and B-Tree</a:t>
            </a:r>
            <a:endParaRPr lang="en-ZA" dirty="0"/>
          </a:p>
        </p:txBody>
      </p:sp>
      <mc:AlternateContent xmlns:mc="http://schemas.openxmlformats.org/markup-compatibility/2006">
        <mc:Choice xmlns:a14="http://schemas.microsoft.com/office/drawing/2010/main" Requires="a14">
          <p:sp>
            <p:nvSpPr>
              <p:cNvPr id="3" name="Espace réservé du contenu 2"/>
              <p:cNvSpPr>
                <a:spLocks noGrp="1"/>
              </p:cNvSpPr>
              <p:nvPr>
                <p:ph idx="1"/>
              </p:nvPr>
            </p:nvSpPr>
            <p:spPr/>
            <p:txBody>
              <a:bodyPr/>
              <a:lstStyle/>
              <a:p>
                <a:r>
                  <a:rPr lang="en-US" altLang="zh-CN" dirty="0" smtClean="0"/>
                  <a:t>BST</a:t>
                </a:r>
                <a:r>
                  <a:rPr lang="zh-CN" altLang="en-US" dirty="0" smtClean="0"/>
                  <a:t>（二叉树）</a:t>
                </a:r>
                <a:endParaRPr lang="en-US" altLang="zh-CN" dirty="0" smtClean="0"/>
              </a:p>
              <a:p>
                <a:pPr lvl="1"/>
                <a:r>
                  <a:rPr lang="zh-CN" altLang="en-US" dirty="0" smtClean="0"/>
                  <a:t>每个节点有两个子节点</a:t>
                </a:r>
                <a:endParaRPr lang="en-US" altLang="zh-CN" dirty="0" smtClean="0"/>
              </a:p>
              <a:p>
                <a:pPr lvl="1"/>
                <a14:m>
                  <m:oMath xmlns:m="http://schemas.openxmlformats.org/officeDocument/2006/math">
                    <m:r>
                      <a:rPr lang="en-US" altLang="zh-CN" b="0" i="1" smtClean="0">
                        <a:latin typeface="Cambria Math" panose="02040503050406030204" pitchFamily="18" charset="0"/>
                      </a:rPr>
                      <m:t>𝑛</m:t>
                    </m:r>
                    <m:r>
                      <a:rPr lang="zh-CN" altLang="en-US" i="1">
                        <a:latin typeface="Cambria Math" panose="02040503050406030204" pitchFamily="18" charset="0"/>
                      </a:rPr>
                      <m:t>节点</m:t>
                    </m:r>
                  </m:oMath>
                </a14:m>
                <a:r>
                  <a:rPr lang="en-US" altLang="zh-CN" dirty="0" smtClean="0"/>
                  <a:t>BST</a:t>
                </a:r>
                <a:r>
                  <a:rPr lang="zh-CN" altLang="en-US" dirty="0" smtClean="0"/>
                  <a:t>深度：</a:t>
                </a:r>
                <a14:m>
                  <m:oMath xmlns:m="http://schemas.openxmlformats.org/officeDocument/2006/math">
                    <m:func>
                      <m:funcPr>
                        <m:ctrlPr>
                          <a:rPr lang="en-ZA" altLang="zh-CN" i="1" smtClean="0">
                            <a:latin typeface="Cambria Math" panose="02040503050406030204" pitchFamily="18" charset="0"/>
                          </a:rPr>
                        </m:ctrlPr>
                      </m:funcPr>
                      <m:fName>
                        <m:sSub>
                          <m:sSubPr>
                            <m:ctrlPr>
                              <a:rPr lang="en-ZA" altLang="zh-CN" i="1" smtClean="0">
                                <a:latin typeface="Cambria Math" panose="02040503050406030204" pitchFamily="18" charset="0"/>
                              </a:rPr>
                            </m:ctrlPr>
                          </m:sSubPr>
                          <m:e>
                            <m:r>
                              <m:rPr>
                                <m:sty m:val="p"/>
                              </m:rPr>
                              <a:rPr lang="en-ZA" altLang="zh-CN" i="0" smtClean="0">
                                <a:latin typeface="Cambria Math" panose="02040503050406030204" pitchFamily="18" charset="0"/>
                              </a:rPr>
                              <m:t>log</m:t>
                            </m:r>
                          </m:e>
                          <m:sub>
                            <m:r>
                              <a:rPr lang="en-US" altLang="zh-CN" b="0" i="1" smtClean="0">
                                <a:latin typeface="Cambria Math" panose="02040503050406030204" pitchFamily="18" charset="0"/>
                              </a:rPr>
                              <m:t>2</m:t>
                            </m:r>
                          </m:sub>
                        </m:sSub>
                      </m:fName>
                      <m:e>
                        <m:r>
                          <a:rPr lang="en-US" altLang="zh-CN" b="0" i="1" smtClean="0">
                            <a:latin typeface="Cambria Math" panose="02040503050406030204" pitchFamily="18" charset="0"/>
                          </a:rPr>
                          <m:t>𝑛</m:t>
                        </m:r>
                      </m:e>
                    </m:func>
                  </m:oMath>
                </a14:m>
                <a:r>
                  <a:rPr lang="en-US" altLang="zh-CN" dirty="0" smtClean="0"/>
                  <a:t> </a:t>
                </a:r>
                <a:r>
                  <a:rPr lang="en-US" altLang="zh-CN" dirty="0" smtClean="0">
                    <a:sym typeface="Wingdings" panose="05000000000000000000" pitchFamily="2" charset="2"/>
                  </a:rPr>
                  <a:t> disk-based</a:t>
                </a:r>
                <a:r>
                  <a:rPr lang="zh-CN" altLang="en-US" dirty="0" smtClean="0">
                    <a:sym typeface="Wingdings" panose="05000000000000000000" pitchFamily="2" charset="2"/>
                  </a:rPr>
                  <a:t>存储系统中查找代价高</a:t>
                </a:r>
                <a:endParaRPr lang="en-US" altLang="zh-CN" dirty="0" smtClean="0"/>
              </a:p>
              <a:p>
                <a:endParaRPr lang="en-US" altLang="zh-CN" dirty="0" smtClean="0"/>
              </a:p>
              <a:p>
                <a:r>
                  <a:rPr lang="en-US" altLang="zh-CN" dirty="0" smtClean="0"/>
                  <a:t>B-Tree</a:t>
                </a:r>
                <a:r>
                  <a:rPr lang="zh-CN" altLang="en-US" dirty="0" smtClean="0"/>
                  <a:t>（平衡多叉树）</a:t>
                </a:r>
                <a:endParaRPr lang="en-US" altLang="zh-CN" dirty="0" smtClean="0"/>
              </a:p>
              <a:p>
                <a:pPr lvl="1"/>
                <a14:m>
                  <m:oMath xmlns:m="http://schemas.openxmlformats.org/officeDocument/2006/math">
                    <m:r>
                      <a:rPr lang="en-US" altLang="zh-CN" b="0" i="1" smtClean="0">
                        <a:latin typeface="Cambria Math" panose="02040503050406030204" pitchFamily="18" charset="0"/>
                      </a:rPr>
                      <m:t>𝑚</m:t>
                    </m:r>
                    <m:r>
                      <a:rPr lang="zh-CN" altLang="en-US" i="1">
                        <a:latin typeface="Cambria Math" panose="02040503050406030204" pitchFamily="18" charset="0"/>
                      </a:rPr>
                      <m:t>阶</m:t>
                    </m:r>
                  </m:oMath>
                </a14:m>
                <a:r>
                  <a:rPr lang="en-US" altLang="zh-CN" dirty="0" smtClean="0"/>
                  <a:t>B-Tree</a:t>
                </a:r>
                <a:r>
                  <a:rPr lang="zh-CN" altLang="en-US" dirty="0" smtClean="0"/>
                  <a:t>每个内部节点可以有</a:t>
                </a:r>
                <a14:m>
                  <m:oMath xmlns:m="http://schemas.openxmlformats.org/officeDocument/2006/math">
                    <m:d>
                      <m:dPr>
                        <m:begChr m:val="["/>
                        <m:endChr m:val="]"/>
                        <m:ctrlPr>
                          <a:rPr lang="en-US" altLang="zh-CN" i="1" smtClean="0">
                            <a:latin typeface="Cambria Math" panose="02040503050406030204" pitchFamily="18" charset="0"/>
                          </a:rPr>
                        </m:ctrlPr>
                      </m:d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𝑚</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𝑚</m:t>
                        </m:r>
                      </m:e>
                    </m:d>
                  </m:oMath>
                </a14:m>
                <a:r>
                  <a:rPr lang="zh-CN" altLang="en-US" dirty="0" smtClean="0"/>
                  <a:t>个子节点</a:t>
                </a:r>
                <a:endParaRPr lang="en-US" altLang="zh-CN" dirty="0" smtClean="0"/>
              </a:p>
              <a:p>
                <a:pPr lvl="1"/>
                <a14:m>
                  <m:oMath xmlns:m="http://schemas.openxmlformats.org/officeDocument/2006/math">
                    <m:r>
                      <a:rPr lang="en-US" altLang="zh-CN" b="0" i="1" smtClean="0">
                        <a:latin typeface="Cambria Math" panose="02040503050406030204" pitchFamily="18" charset="0"/>
                      </a:rPr>
                      <m:t>𝑛</m:t>
                    </m:r>
                    <m:r>
                      <a:rPr lang="zh-CN" altLang="en-US" i="1">
                        <a:latin typeface="Cambria Math" panose="02040503050406030204" pitchFamily="18" charset="0"/>
                      </a:rPr>
                      <m:t>节点</m:t>
                    </m:r>
                    <m:r>
                      <a:rPr lang="en-US" altLang="zh-CN" b="0" i="1" smtClean="0">
                        <a:latin typeface="Cambria Math" panose="02040503050406030204" pitchFamily="18" charset="0"/>
                      </a:rPr>
                      <m:t>𝑚</m:t>
                    </m:r>
                    <m:r>
                      <a:rPr lang="zh-CN" altLang="en-US" i="1">
                        <a:latin typeface="Cambria Math" panose="02040503050406030204" pitchFamily="18" charset="0"/>
                      </a:rPr>
                      <m:t>阶</m:t>
                    </m:r>
                  </m:oMath>
                </a14:m>
                <a:r>
                  <a:rPr lang="en-US" altLang="zh-CN" dirty="0" smtClean="0"/>
                  <a:t>B-Tree</a:t>
                </a:r>
                <a:r>
                  <a:rPr lang="zh-CN" altLang="en-US" dirty="0" smtClean="0"/>
                  <a:t>深</a:t>
                </a:r>
                <a:r>
                  <a:rPr lang="zh-CN" altLang="en-US" dirty="0" smtClean="0"/>
                  <a:t>度：</a:t>
                </a:r>
                <a14:m>
                  <m:oMath xmlns:m="http://schemas.openxmlformats.org/officeDocument/2006/math">
                    <m:func>
                      <m:funcPr>
                        <m:ctrlPr>
                          <a:rPr lang="en-ZA" altLang="zh-CN" i="1" smtClean="0">
                            <a:latin typeface="Cambria Math" panose="02040503050406030204" pitchFamily="18" charset="0"/>
                          </a:rPr>
                        </m:ctrlPr>
                      </m:funcPr>
                      <m:fName>
                        <m:sSub>
                          <m:sSubPr>
                            <m:ctrlPr>
                              <a:rPr lang="en-ZA" altLang="zh-CN" i="1" smtClean="0">
                                <a:latin typeface="Cambria Math" panose="02040503050406030204" pitchFamily="18" charset="0"/>
                              </a:rPr>
                            </m:ctrlPr>
                          </m:sSubPr>
                          <m:e>
                            <m:r>
                              <m:rPr>
                                <m:sty m:val="p"/>
                              </m:rPr>
                              <a:rPr lang="en-ZA" altLang="zh-CN" i="0" smtClean="0">
                                <a:latin typeface="Cambria Math" panose="02040503050406030204" pitchFamily="18" charset="0"/>
                              </a:rPr>
                              <m:t>log</m:t>
                            </m:r>
                          </m:e>
                          <m:sub>
                            <m:d>
                              <m:dPr>
                                <m:begChr m:val="⌈"/>
                                <m:endChr m:val="⌉"/>
                                <m:ctrlPr>
                                  <a:rPr lang="en-ZA" altLang="zh-CN" i="1" smtClean="0">
                                    <a:latin typeface="Cambria Math" panose="02040503050406030204" pitchFamily="18" charset="0"/>
                                  </a:rPr>
                                </m:ctrlPr>
                              </m:dPr>
                              <m:e>
                                <m:f>
                                  <m:fPr>
                                    <m:ctrlPr>
                                      <a:rPr lang="en-ZA" altLang="zh-CN" i="1" smtClean="0">
                                        <a:latin typeface="Cambria Math" panose="02040503050406030204" pitchFamily="18" charset="0"/>
                                      </a:rPr>
                                    </m:ctrlPr>
                                  </m:fPr>
                                  <m:num>
                                    <m:r>
                                      <a:rPr lang="en-US" altLang="zh-CN" b="0" i="1" smtClean="0">
                                        <a:latin typeface="Cambria Math" panose="02040503050406030204" pitchFamily="18" charset="0"/>
                                      </a:rPr>
                                      <m:t>𝑚</m:t>
                                    </m:r>
                                  </m:num>
                                  <m:den>
                                    <m:r>
                                      <a:rPr lang="en-US" altLang="zh-CN" i="1">
                                        <a:latin typeface="Cambria Math" panose="02040503050406030204" pitchFamily="18" charset="0"/>
                                      </a:rPr>
                                      <m:t>2</m:t>
                                    </m:r>
                                  </m:den>
                                </m:f>
                              </m:e>
                            </m:d>
                          </m:sub>
                        </m:sSub>
                      </m:fName>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+1</m:t>
                            </m:r>
                          </m:num>
                          <m:den>
                            <m:r>
                              <a:rPr lang="en-US" altLang="zh-CN" i="1">
                                <a:latin typeface="Cambria Math" panose="02040503050406030204" pitchFamily="18" charset="0"/>
                              </a:rPr>
                              <m:t>2</m:t>
                            </m:r>
                          </m:den>
                        </m:f>
                      </m:e>
                    </m:func>
                  </m:oMath>
                </a14:m>
                <a:r>
                  <a:rPr lang="en-US" altLang="zh-CN" dirty="0" smtClean="0"/>
                  <a:t> </a:t>
                </a:r>
                <a:r>
                  <a:rPr lang="en-US" altLang="zh-CN" dirty="0" smtClean="0">
                    <a:sym typeface="Wingdings" panose="05000000000000000000" pitchFamily="2" charset="2"/>
                  </a:rPr>
                  <a:t></a:t>
                </a:r>
                <a:r>
                  <a:rPr lang="zh-CN" altLang="en-US" dirty="0" smtClean="0">
                    <a:sym typeface="Wingdings" panose="05000000000000000000" pitchFamily="2" charset="2"/>
                  </a:rPr>
                  <a:t>查找效率较高</a:t>
                </a:r>
                <a:endParaRPr lang="en-US" altLang="zh-CN" dirty="0" smtClean="0">
                  <a:sym typeface="Wingdings" panose="05000000000000000000" pitchFamily="2" charset="2"/>
                </a:endParaRPr>
              </a:p>
              <a:p>
                <a:pPr lvl="1"/>
                <a:r>
                  <a:rPr lang="zh-CN" altLang="en-US" dirty="0" smtClean="0"/>
                  <a:t>变种：</a:t>
                </a:r>
                <a:r>
                  <a:rPr lang="en-US" dirty="0" smtClean="0"/>
                  <a:t>B</a:t>
                </a:r>
                <a:r>
                  <a:rPr lang="en-US" baseline="30000" dirty="0" smtClean="0"/>
                  <a:t>+</a:t>
                </a:r>
                <a:r>
                  <a:rPr lang="en-US" dirty="0" smtClean="0"/>
                  <a:t>-Tree </a:t>
                </a:r>
                <a:endParaRPr lang="en-US" altLang="zh-CN" dirty="0" smtClean="0"/>
              </a:p>
              <a:p>
                <a:pPr lvl="1"/>
                <a:endParaRPr lang="en-ZA" dirty="0"/>
              </a:p>
            </p:txBody>
          </p:sp>
        </mc:Choice>
        <mc:Fallback>
          <p:sp>
            <p:nvSpPr>
              <p:cNvPr id="3" name="Espace réservé du contenu 2"/>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en-ZA">
                    <a:noFill/>
                  </a:rPr>
                  <a:t> </a:t>
                </a:r>
              </a:p>
            </p:txBody>
          </p:sp>
        </mc:Fallback>
      </mc:AlternateContent>
      <p:sp>
        <p:nvSpPr>
          <p:cNvPr id="5" name="Espace réservé du numéro de diapositive 4"/>
          <p:cNvSpPr>
            <a:spLocks noGrp="1"/>
          </p:cNvSpPr>
          <p:nvPr>
            <p:ph type="sldNum" sz="quarter" idx="12"/>
          </p:nvPr>
        </p:nvSpPr>
        <p:spPr/>
        <p:txBody>
          <a:bodyPr/>
          <a:lstStyle/>
          <a:p>
            <a:fld id="{BBF3D8CE-58F1-40DD-970B-B96FBB2BDA32}" type="slidenum">
              <a:rPr lang="en-ZA" smtClean="0"/>
              <a:t>14</a:t>
            </a:fld>
            <a:endParaRPr lang="en-ZA"/>
          </a:p>
        </p:txBody>
      </p:sp>
    </p:spTree>
    <p:extLst>
      <p:ext uri="{BB962C8B-B14F-4D97-AF65-F5344CB8AC3E}">
        <p14:creationId xmlns:p14="http://schemas.microsoft.com/office/powerpoint/2010/main" val="39785615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What is </a:t>
            </a:r>
            <a:r>
              <a:rPr lang="en-US" dirty="0" smtClean="0"/>
              <a:t>B</a:t>
            </a:r>
            <a:r>
              <a:rPr lang="en-US" baseline="30000" dirty="0" smtClean="0"/>
              <a:t>+</a:t>
            </a:r>
            <a:r>
              <a:rPr lang="en-US" dirty="0" smtClean="0"/>
              <a:t>-Tree </a:t>
            </a:r>
            <a:r>
              <a:rPr lang="en-US" altLang="zh-CN" dirty="0" smtClean="0"/>
              <a:t>?</a:t>
            </a:r>
            <a:endParaRPr lang="en-ZA" dirty="0"/>
          </a:p>
        </p:txBody>
      </p:sp>
      <p:sp>
        <p:nvSpPr>
          <p:cNvPr id="3" name="Espace réservé du contenu 2"/>
          <p:cNvSpPr>
            <a:spLocks noGrp="1"/>
          </p:cNvSpPr>
          <p:nvPr>
            <p:ph idx="1"/>
          </p:nvPr>
        </p:nvSpPr>
        <p:spPr/>
        <p:txBody>
          <a:bodyPr/>
          <a:lstStyle/>
          <a:p>
            <a:r>
              <a:rPr lang="zh-CN" altLang="en-US" dirty="0" smtClean="0"/>
              <a:t>区别于</a:t>
            </a:r>
            <a:r>
              <a:rPr lang="en-US" altLang="zh-CN" dirty="0" smtClean="0"/>
              <a:t>B-Tree</a:t>
            </a:r>
          </a:p>
          <a:p>
            <a:pPr lvl="1"/>
            <a:r>
              <a:rPr lang="zh-CN" altLang="en-US" dirty="0" smtClean="0"/>
              <a:t>内部节点仅保存关键字及子节点指针，所有</a:t>
            </a:r>
            <a:r>
              <a:rPr lang="zh-CN" altLang="en-US" dirty="0" smtClean="0"/>
              <a:t>数据信息存储于叶子节点中</a:t>
            </a:r>
            <a:endParaRPr lang="en-US" altLang="zh-CN" dirty="0" smtClean="0"/>
          </a:p>
          <a:p>
            <a:pPr lvl="1"/>
            <a:r>
              <a:rPr lang="zh-CN" altLang="en-US" dirty="0" smtClean="0"/>
              <a:t>有</a:t>
            </a:r>
            <a:r>
              <a:rPr lang="en-US" altLang="zh-CN" dirty="0" smtClean="0"/>
              <a:t>k</a:t>
            </a:r>
            <a:r>
              <a:rPr lang="zh-CN" altLang="en-US" dirty="0" smtClean="0"/>
              <a:t>个子节点就有</a:t>
            </a:r>
            <a:r>
              <a:rPr lang="en-US" altLang="zh-CN" dirty="0" smtClean="0"/>
              <a:t>k</a:t>
            </a:r>
            <a:r>
              <a:rPr lang="zh-CN" altLang="en-US" dirty="0" smtClean="0"/>
              <a:t>个关键字</a:t>
            </a:r>
            <a:endParaRPr lang="en-US" altLang="zh-CN" dirty="0" smtClean="0"/>
          </a:p>
          <a:p>
            <a:pPr lvl="1"/>
            <a:endParaRPr lang="en-US" altLang="zh-CN" dirty="0" smtClean="0"/>
          </a:p>
        </p:txBody>
      </p:sp>
      <p:pic>
        <p:nvPicPr>
          <p:cNvPr id="8" name="Image 7"/>
          <p:cNvPicPr>
            <a:picLocks noChangeAspect="1"/>
          </p:cNvPicPr>
          <p:nvPr/>
        </p:nvPicPr>
        <p:blipFill rotWithShape="1">
          <a:blip r:embed="rId2"/>
          <a:srcRect t="1237" b="1"/>
          <a:stretch/>
        </p:blipFill>
        <p:spPr>
          <a:xfrm>
            <a:off x="144519" y="3654480"/>
            <a:ext cx="5423477" cy="2522483"/>
          </a:xfrm>
          <a:prstGeom prst="rect">
            <a:avLst/>
          </a:prstGeom>
        </p:spPr>
      </p:pic>
      <p:pic>
        <p:nvPicPr>
          <p:cNvPr id="9" name="Image 8"/>
          <p:cNvPicPr>
            <a:picLocks noChangeAspect="1"/>
          </p:cNvPicPr>
          <p:nvPr/>
        </p:nvPicPr>
        <p:blipFill rotWithShape="1">
          <a:blip r:embed="rId3"/>
          <a:srcRect l="2321" t="2501" r="427" b="5415"/>
          <a:stretch/>
        </p:blipFill>
        <p:spPr>
          <a:xfrm>
            <a:off x="6117020" y="3728051"/>
            <a:ext cx="5933849" cy="1190789"/>
          </a:xfrm>
          <a:prstGeom prst="rect">
            <a:avLst/>
          </a:prstGeom>
        </p:spPr>
      </p:pic>
      <p:sp>
        <p:nvSpPr>
          <p:cNvPr id="11" name="ZoneTexte 10"/>
          <p:cNvSpPr txBox="1"/>
          <p:nvPr/>
        </p:nvSpPr>
        <p:spPr>
          <a:xfrm>
            <a:off x="9427779" y="3519543"/>
            <a:ext cx="617477" cy="369332"/>
          </a:xfrm>
          <a:prstGeom prst="rect">
            <a:avLst/>
          </a:prstGeom>
          <a:noFill/>
        </p:spPr>
        <p:txBody>
          <a:bodyPr wrap="none" rtlCol="0">
            <a:spAutoFit/>
          </a:bodyPr>
          <a:lstStyle/>
          <a:p>
            <a:r>
              <a:rPr lang="en-US" b="1" dirty="0" smtClean="0">
                <a:solidFill>
                  <a:schemeClr val="accent2">
                    <a:lumMod val="50000"/>
                  </a:schemeClr>
                </a:solidFill>
              </a:rPr>
              <a:t>B</a:t>
            </a:r>
            <a:r>
              <a:rPr lang="en-US" b="1" baseline="30000" dirty="0" smtClean="0">
                <a:solidFill>
                  <a:schemeClr val="accent2">
                    <a:lumMod val="50000"/>
                  </a:schemeClr>
                </a:solidFill>
              </a:rPr>
              <a:t>+</a:t>
            </a:r>
            <a:r>
              <a:rPr lang="zh-CN" altLang="en-US" b="1" dirty="0">
                <a:solidFill>
                  <a:schemeClr val="accent2">
                    <a:lumMod val="50000"/>
                  </a:schemeClr>
                </a:solidFill>
              </a:rPr>
              <a:t>树</a:t>
            </a:r>
            <a:endParaRPr lang="en-ZA" b="1" dirty="0">
              <a:solidFill>
                <a:schemeClr val="accent2">
                  <a:lumMod val="50000"/>
                </a:schemeClr>
              </a:solidFill>
            </a:endParaRPr>
          </a:p>
        </p:txBody>
      </p:sp>
      <p:sp>
        <p:nvSpPr>
          <p:cNvPr id="12" name="Cube 11"/>
          <p:cNvSpPr/>
          <p:nvPr/>
        </p:nvSpPr>
        <p:spPr>
          <a:xfrm>
            <a:off x="6222126" y="5286707"/>
            <a:ext cx="5580993" cy="58858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600" b="1" dirty="0" smtClean="0"/>
              <a:t>主文件</a:t>
            </a:r>
            <a:endParaRPr lang="en-ZA" sz="1600" b="1" dirty="0"/>
          </a:p>
        </p:txBody>
      </p:sp>
      <p:sp>
        <p:nvSpPr>
          <p:cNvPr id="13" name="ZoneTexte 12"/>
          <p:cNvSpPr txBox="1"/>
          <p:nvPr/>
        </p:nvSpPr>
        <p:spPr>
          <a:xfrm>
            <a:off x="8376058" y="4915721"/>
            <a:ext cx="1415772" cy="338554"/>
          </a:xfrm>
          <a:prstGeom prst="rect">
            <a:avLst/>
          </a:prstGeom>
          <a:noFill/>
        </p:spPr>
        <p:txBody>
          <a:bodyPr wrap="none" rtlCol="0">
            <a:spAutoFit/>
          </a:bodyPr>
          <a:lstStyle/>
          <a:p>
            <a:r>
              <a:rPr lang="zh-CN" altLang="en-US" sz="1600" b="1" dirty="0" smtClean="0">
                <a:solidFill>
                  <a:srgbClr val="FF0000"/>
                </a:solidFill>
              </a:rPr>
              <a:t>文件页内地址</a:t>
            </a:r>
            <a:endParaRPr lang="en-ZA" sz="1600" b="1" dirty="0">
              <a:solidFill>
                <a:srgbClr val="FF0000"/>
              </a:solidFill>
            </a:endParaRPr>
          </a:p>
        </p:txBody>
      </p:sp>
      <p:sp>
        <p:nvSpPr>
          <p:cNvPr id="14" name="ZoneTexte 13"/>
          <p:cNvSpPr txBox="1"/>
          <p:nvPr/>
        </p:nvSpPr>
        <p:spPr>
          <a:xfrm>
            <a:off x="8376058" y="6330734"/>
            <a:ext cx="3322320" cy="307777"/>
          </a:xfrm>
          <a:prstGeom prst="rect">
            <a:avLst/>
          </a:prstGeom>
          <a:noFill/>
        </p:spPr>
        <p:txBody>
          <a:bodyPr wrap="none" rtlCol="0">
            <a:spAutoFit/>
          </a:bodyPr>
          <a:lstStyle/>
          <a:p>
            <a:r>
              <a:rPr lang="en-US" altLang="zh-CN" sz="1400" dirty="0" smtClean="0"/>
              <a:t>Source: </a:t>
            </a:r>
            <a:r>
              <a:rPr lang="zh-CN" altLang="en-US" sz="1400" dirty="0" smtClean="0"/>
              <a:t>高级数据结构与算法，北京大学</a:t>
            </a:r>
            <a:r>
              <a:rPr lang="en-US" altLang="zh-CN" sz="1400" dirty="0" smtClean="0"/>
              <a:t> </a:t>
            </a:r>
            <a:endParaRPr lang="en-ZA" sz="1400" dirty="0"/>
          </a:p>
        </p:txBody>
      </p:sp>
      <p:sp>
        <p:nvSpPr>
          <p:cNvPr id="16" name="Espace réservé du numéro de diapositive 15"/>
          <p:cNvSpPr>
            <a:spLocks noGrp="1"/>
          </p:cNvSpPr>
          <p:nvPr>
            <p:ph type="sldNum" sz="quarter" idx="12"/>
          </p:nvPr>
        </p:nvSpPr>
        <p:spPr/>
        <p:txBody>
          <a:bodyPr/>
          <a:lstStyle/>
          <a:p>
            <a:fld id="{BBF3D8CE-58F1-40DD-970B-B96FBB2BDA32}" type="slidenum">
              <a:rPr lang="en-ZA" smtClean="0"/>
              <a:t>15</a:t>
            </a:fld>
            <a:endParaRPr lang="en-ZA"/>
          </a:p>
        </p:txBody>
      </p:sp>
    </p:spTree>
    <p:extLst>
      <p:ext uri="{BB962C8B-B14F-4D97-AF65-F5344CB8AC3E}">
        <p14:creationId xmlns:p14="http://schemas.microsoft.com/office/powerpoint/2010/main" val="36470733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Updating </a:t>
            </a:r>
            <a:r>
              <a:rPr lang="en-US" dirty="0" smtClean="0"/>
              <a:t>B</a:t>
            </a:r>
            <a:r>
              <a:rPr lang="en-US" baseline="30000" dirty="0" smtClean="0"/>
              <a:t>+</a:t>
            </a:r>
            <a:r>
              <a:rPr lang="en-US" dirty="0" smtClean="0"/>
              <a:t>-Tree </a:t>
            </a:r>
            <a:endParaRPr lang="en-ZA" dirty="0"/>
          </a:p>
        </p:txBody>
      </p:sp>
      <p:sp>
        <p:nvSpPr>
          <p:cNvPr id="3" name="Espace réservé du contenu 2"/>
          <p:cNvSpPr>
            <a:spLocks noGrp="1"/>
          </p:cNvSpPr>
          <p:nvPr>
            <p:ph idx="1"/>
          </p:nvPr>
        </p:nvSpPr>
        <p:spPr/>
        <p:txBody>
          <a:bodyPr/>
          <a:lstStyle/>
          <a:p>
            <a:r>
              <a:rPr lang="zh-CN" altLang="en-US" dirty="0" smtClean="0"/>
              <a:t>插入（分裂）</a:t>
            </a:r>
            <a:endParaRPr lang="en-US" altLang="zh-CN" dirty="0" smtClean="0"/>
          </a:p>
          <a:p>
            <a:pPr lvl="1"/>
            <a:r>
              <a:rPr lang="en-US" altLang="zh-CN" dirty="0" smtClean="0"/>
              <a:t>Bottom-up</a:t>
            </a:r>
            <a:endParaRPr lang="en-US" altLang="zh-CN" dirty="0" smtClean="0"/>
          </a:p>
          <a:p>
            <a:pPr lvl="1"/>
            <a:r>
              <a:rPr lang="zh-CN" altLang="en-US" dirty="0" smtClean="0"/>
              <a:t>保证上一层节点中有子节点的最大（或最小）关键字</a:t>
            </a:r>
            <a:endParaRPr lang="en-US" altLang="zh-CN" dirty="0"/>
          </a:p>
          <a:p>
            <a:endParaRPr lang="en-US" altLang="zh-CN" dirty="0" smtClean="0"/>
          </a:p>
          <a:p>
            <a:endParaRPr lang="en-US" altLang="zh-CN" dirty="0" smtClean="0"/>
          </a:p>
          <a:p>
            <a:endParaRPr lang="en-ZA" dirty="0"/>
          </a:p>
        </p:txBody>
      </p:sp>
      <p:pic>
        <p:nvPicPr>
          <p:cNvPr id="4" name="Image 3"/>
          <p:cNvPicPr>
            <a:picLocks noChangeAspect="1"/>
          </p:cNvPicPr>
          <p:nvPr/>
        </p:nvPicPr>
        <p:blipFill rotWithShape="1">
          <a:blip r:embed="rId2"/>
          <a:srcRect l="2321" t="2501" r="427" b="5415"/>
          <a:stretch/>
        </p:blipFill>
        <p:spPr>
          <a:xfrm>
            <a:off x="1513620" y="3537552"/>
            <a:ext cx="9495308" cy="1905493"/>
          </a:xfrm>
          <a:prstGeom prst="rect">
            <a:avLst/>
          </a:prstGeom>
        </p:spPr>
      </p:pic>
      <p:sp>
        <p:nvSpPr>
          <p:cNvPr id="5" name="ZoneTexte 4"/>
          <p:cNvSpPr txBox="1"/>
          <p:nvPr/>
        </p:nvSpPr>
        <p:spPr>
          <a:xfrm>
            <a:off x="1891862" y="5959366"/>
            <a:ext cx="418704" cy="369332"/>
          </a:xfrm>
          <a:prstGeom prst="rect">
            <a:avLst/>
          </a:prstGeom>
          <a:noFill/>
        </p:spPr>
        <p:txBody>
          <a:bodyPr wrap="none" rtlCol="0">
            <a:spAutoFit/>
          </a:bodyPr>
          <a:lstStyle/>
          <a:p>
            <a:r>
              <a:rPr lang="en-US" altLang="zh-CN" b="1" dirty="0" smtClean="0">
                <a:solidFill>
                  <a:srgbClr val="FF0000"/>
                </a:solidFill>
              </a:rPr>
              <a:t>15</a:t>
            </a:r>
            <a:endParaRPr lang="en-ZA" b="1" dirty="0">
              <a:solidFill>
                <a:srgbClr val="FF0000"/>
              </a:solidFill>
            </a:endParaRPr>
          </a:p>
        </p:txBody>
      </p:sp>
      <p:cxnSp>
        <p:nvCxnSpPr>
          <p:cNvPr id="7" name="Connecteur droit avec flèche 6"/>
          <p:cNvCxnSpPr>
            <a:stCxn id="5" idx="0"/>
          </p:cNvCxnSpPr>
          <p:nvPr/>
        </p:nvCxnSpPr>
        <p:spPr>
          <a:xfrm flipV="1">
            <a:off x="2101214" y="5223641"/>
            <a:ext cx="105958" cy="73572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9" name="ZoneTexte 8"/>
          <p:cNvSpPr txBox="1"/>
          <p:nvPr/>
        </p:nvSpPr>
        <p:spPr>
          <a:xfrm>
            <a:off x="2101214" y="3261446"/>
            <a:ext cx="2157963" cy="461665"/>
          </a:xfrm>
          <a:prstGeom prst="rect">
            <a:avLst/>
          </a:prstGeom>
          <a:noFill/>
        </p:spPr>
        <p:txBody>
          <a:bodyPr wrap="none" rtlCol="0">
            <a:spAutoFit/>
          </a:bodyPr>
          <a:lstStyle/>
          <a:p>
            <a:r>
              <a:rPr lang="en-US" altLang="zh-CN" sz="2400" b="1" dirty="0" smtClean="0">
                <a:solidFill>
                  <a:schemeClr val="accent2">
                    <a:lumMod val="50000"/>
                  </a:schemeClr>
                </a:solidFill>
              </a:rPr>
              <a:t>3</a:t>
            </a:r>
            <a:r>
              <a:rPr lang="zh-CN" altLang="en-US" sz="2400" b="1" dirty="0" smtClean="0">
                <a:solidFill>
                  <a:schemeClr val="accent2">
                    <a:lumMod val="50000"/>
                  </a:schemeClr>
                </a:solidFill>
              </a:rPr>
              <a:t>阶</a:t>
            </a:r>
            <a:r>
              <a:rPr lang="en-US" sz="2400" b="1" dirty="0" smtClean="0">
                <a:solidFill>
                  <a:schemeClr val="accent2">
                    <a:lumMod val="50000"/>
                  </a:schemeClr>
                </a:solidFill>
              </a:rPr>
              <a:t>B</a:t>
            </a:r>
            <a:r>
              <a:rPr lang="en-US" sz="2400" b="1" baseline="30000" dirty="0" smtClean="0">
                <a:solidFill>
                  <a:schemeClr val="accent2">
                    <a:lumMod val="50000"/>
                  </a:schemeClr>
                </a:solidFill>
              </a:rPr>
              <a:t>+</a:t>
            </a:r>
            <a:r>
              <a:rPr lang="zh-CN" altLang="en-US" sz="2400" b="1" dirty="0" smtClean="0">
                <a:solidFill>
                  <a:schemeClr val="accent2">
                    <a:lumMod val="50000"/>
                  </a:schemeClr>
                </a:solidFill>
              </a:rPr>
              <a:t>树插入</a:t>
            </a:r>
            <a:r>
              <a:rPr lang="en-US" altLang="zh-CN" sz="2400" b="1" dirty="0" smtClean="0">
                <a:solidFill>
                  <a:schemeClr val="accent2">
                    <a:lumMod val="50000"/>
                  </a:schemeClr>
                </a:solidFill>
              </a:rPr>
              <a:t>15</a:t>
            </a:r>
            <a:endParaRPr lang="en-ZA" sz="2400" b="1" dirty="0">
              <a:solidFill>
                <a:schemeClr val="accent2">
                  <a:lumMod val="50000"/>
                </a:schemeClr>
              </a:solidFill>
            </a:endParaRPr>
          </a:p>
        </p:txBody>
      </p:sp>
      <p:sp>
        <p:nvSpPr>
          <p:cNvPr id="11" name="Espace réservé du numéro de diapositive 10"/>
          <p:cNvSpPr>
            <a:spLocks noGrp="1"/>
          </p:cNvSpPr>
          <p:nvPr>
            <p:ph type="sldNum" sz="quarter" idx="12"/>
          </p:nvPr>
        </p:nvSpPr>
        <p:spPr/>
        <p:txBody>
          <a:bodyPr/>
          <a:lstStyle/>
          <a:p>
            <a:fld id="{BBF3D8CE-58F1-40DD-970B-B96FBB2BDA32}" type="slidenum">
              <a:rPr lang="en-ZA" smtClean="0"/>
              <a:t>16</a:t>
            </a:fld>
            <a:endParaRPr lang="en-ZA"/>
          </a:p>
        </p:txBody>
      </p:sp>
    </p:spTree>
    <p:extLst>
      <p:ext uri="{BB962C8B-B14F-4D97-AF65-F5344CB8AC3E}">
        <p14:creationId xmlns:p14="http://schemas.microsoft.com/office/powerpoint/2010/main" val="24829698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Updating </a:t>
            </a:r>
            <a:r>
              <a:rPr lang="en-US" dirty="0" smtClean="0"/>
              <a:t>B</a:t>
            </a:r>
            <a:r>
              <a:rPr lang="en-US" baseline="30000" dirty="0" smtClean="0"/>
              <a:t>+</a:t>
            </a:r>
            <a:r>
              <a:rPr lang="en-US" dirty="0" smtClean="0"/>
              <a:t>-Tree </a:t>
            </a:r>
            <a:endParaRPr lang="en-ZA" dirty="0"/>
          </a:p>
        </p:txBody>
      </p:sp>
      <p:sp>
        <p:nvSpPr>
          <p:cNvPr id="3" name="Espace réservé du contenu 2"/>
          <p:cNvSpPr>
            <a:spLocks noGrp="1"/>
          </p:cNvSpPr>
          <p:nvPr>
            <p:ph idx="1"/>
          </p:nvPr>
        </p:nvSpPr>
        <p:spPr/>
        <p:txBody>
          <a:bodyPr/>
          <a:lstStyle/>
          <a:p>
            <a:r>
              <a:rPr lang="zh-CN" altLang="en-US" dirty="0" smtClean="0"/>
              <a:t>插入（分裂）</a:t>
            </a:r>
            <a:endParaRPr lang="en-US" altLang="zh-CN" dirty="0" smtClean="0"/>
          </a:p>
          <a:p>
            <a:pPr lvl="1"/>
            <a:r>
              <a:rPr lang="en-US" altLang="zh-CN" dirty="0" smtClean="0"/>
              <a:t>Bottom-up</a:t>
            </a:r>
          </a:p>
          <a:p>
            <a:pPr lvl="1"/>
            <a:r>
              <a:rPr lang="zh-CN" altLang="en-US" dirty="0" smtClean="0"/>
              <a:t>保证上一层节点中有子节点的最大（或最小）关键字</a:t>
            </a:r>
            <a:endParaRPr lang="en-US" altLang="zh-CN" dirty="0"/>
          </a:p>
          <a:p>
            <a:endParaRPr lang="en-US" altLang="zh-CN" dirty="0" smtClean="0"/>
          </a:p>
          <a:p>
            <a:endParaRPr lang="en-US" altLang="zh-CN" dirty="0" smtClean="0"/>
          </a:p>
          <a:p>
            <a:endParaRPr lang="en-ZA" dirty="0"/>
          </a:p>
        </p:txBody>
      </p:sp>
      <p:sp>
        <p:nvSpPr>
          <p:cNvPr id="9" name="ZoneTexte 8"/>
          <p:cNvSpPr txBox="1"/>
          <p:nvPr/>
        </p:nvSpPr>
        <p:spPr>
          <a:xfrm>
            <a:off x="2101214" y="3238586"/>
            <a:ext cx="2157963" cy="461665"/>
          </a:xfrm>
          <a:prstGeom prst="rect">
            <a:avLst/>
          </a:prstGeom>
          <a:noFill/>
        </p:spPr>
        <p:txBody>
          <a:bodyPr wrap="none" rtlCol="0">
            <a:spAutoFit/>
          </a:bodyPr>
          <a:lstStyle/>
          <a:p>
            <a:r>
              <a:rPr lang="en-US" altLang="zh-CN" sz="2400" b="1" dirty="0" smtClean="0">
                <a:solidFill>
                  <a:schemeClr val="accent2">
                    <a:lumMod val="50000"/>
                  </a:schemeClr>
                </a:solidFill>
              </a:rPr>
              <a:t>3</a:t>
            </a:r>
            <a:r>
              <a:rPr lang="zh-CN" altLang="en-US" sz="2400" b="1" dirty="0" smtClean="0">
                <a:solidFill>
                  <a:schemeClr val="accent2">
                    <a:lumMod val="50000"/>
                  </a:schemeClr>
                </a:solidFill>
              </a:rPr>
              <a:t>阶</a:t>
            </a:r>
            <a:r>
              <a:rPr lang="en-US" sz="2400" b="1" dirty="0" smtClean="0">
                <a:solidFill>
                  <a:schemeClr val="accent2">
                    <a:lumMod val="50000"/>
                  </a:schemeClr>
                </a:solidFill>
              </a:rPr>
              <a:t>B</a:t>
            </a:r>
            <a:r>
              <a:rPr lang="en-US" sz="2400" b="1" baseline="30000" dirty="0" smtClean="0">
                <a:solidFill>
                  <a:schemeClr val="accent2">
                    <a:lumMod val="50000"/>
                  </a:schemeClr>
                </a:solidFill>
              </a:rPr>
              <a:t>+</a:t>
            </a:r>
            <a:r>
              <a:rPr lang="zh-CN" altLang="en-US" sz="2400" b="1" dirty="0" smtClean="0">
                <a:solidFill>
                  <a:schemeClr val="accent2">
                    <a:lumMod val="50000"/>
                  </a:schemeClr>
                </a:solidFill>
              </a:rPr>
              <a:t>树插入</a:t>
            </a:r>
            <a:r>
              <a:rPr lang="en-US" altLang="zh-CN" sz="2400" b="1" dirty="0" smtClean="0">
                <a:solidFill>
                  <a:schemeClr val="accent2">
                    <a:lumMod val="50000"/>
                  </a:schemeClr>
                </a:solidFill>
              </a:rPr>
              <a:t>15</a:t>
            </a:r>
            <a:endParaRPr lang="en-ZA" sz="2400" b="1" dirty="0">
              <a:solidFill>
                <a:schemeClr val="accent2">
                  <a:lumMod val="50000"/>
                </a:schemeClr>
              </a:solidFill>
            </a:endParaRPr>
          </a:p>
        </p:txBody>
      </p:sp>
      <p:grpSp>
        <p:nvGrpSpPr>
          <p:cNvPr id="39" name="Groupe 38"/>
          <p:cNvGrpSpPr/>
          <p:nvPr/>
        </p:nvGrpSpPr>
        <p:grpSpPr>
          <a:xfrm>
            <a:off x="1133474" y="4091986"/>
            <a:ext cx="4901565" cy="1693241"/>
            <a:chOff x="1133474" y="4091986"/>
            <a:chExt cx="4901565" cy="1693241"/>
          </a:xfrm>
        </p:grpSpPr>
        <p:sp>
          <p:nvSpPr>
            <p:cNvPr id="6" name="Rectangle 5"/>
            <p:cNvSpPr/>
            <p:nvPr/>
          </p:nvSpPr>
          <p:spPr>
            <a:xfrm>
              <a:off x="4095749" y="4091986"/>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40 70 90</a:t>
              </a:r>
              <a:endParaRPr lang="en-ZA" b="1" dirty="0"/>
            </a:p>
          </p:txBody>
        </p:sp>
        <p:sp>
          <p:nvSpPr>
            <p:cNvPr id="10" name="Rectangle 9"/>
            <p:cNvSpPr/>
            <p:nvPr/>
          </p:nvSpPr>
          <p:spPr>
            <a:xfrm>
              <a:off x="2750819" y="4803011"/>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20 30 40</a:t>
              </a:r>
              <a:endParaRPr lang="en-ZA" b="1" dirty="0"/>
            </a:p>
          </p:txBody>
        </p:sp>
        <p:cxnSp>
          <p:nvCxnSpPr>
            <p:cNvPr id="11" name="Connecteur droit 10"/>
            <p:cNvCxnSpPr>
              <a:stCxn id="6" idx="2"/>
              <a:endCxn id="10" idx="0"/>
            </p:cNvCxnSpPr>
            <p:nvPr/>
          </p:nvCxnSpPr>
          <p:spPr>
            <a:xfrm flipH="1">
              <a:off x="3310889" y="4368985"/>
              <a:ext cx="1344930" cy="434026"/>
            </a:xfrm>
            <a:prstGeom prst="line">
              <a:avLst/>
            </a:prstGeom>
            <a:ln w="19050"/>
          </p:spPr>
          <p:style>
            <a:lnRef idx="1">
              <a:schemeClr val="dk1"/>
            </a:lnRef>
            <a:fillRef idx="0">
              <a:schemeClr val="dk1"/>
            </a:fillRef>
            <a:effectRef idx="0">
              <a:schemeClr val="dk1"/>
            </a:effectRef>
            <a:fontRef idx="minor">
              <a:schemeClr val="tx1"/>
            </a:fontRef>
          </p:style>
        </p:cxnSp>
        <p:sp>
          <p:nvSpPr>
            <p:cNvPr id="13" name="Rectangle 12"/>
            <p:cNvSpPr/>
            <p:nvPr/>
          </p:nvSpPr>
          <p:spPr>
            <a:xfrm>
              <a:off x="1133474" y="5500211"/>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5 10</a:t>
              </a:r>
              <a:endParaRPr lang="en-ZA" b="1" dirty="0"/>
            </a:p>
          </p:txBody>
        </p:sp>
        <p:sp>
          <p:nvSpPr>
            <p:cNvPr id="14" name="Rectangle 13"/>
            <p:cNvSpPr/>
            <p:nvPr/>
          </p:nvSpPr>
          <p:spPr>
            <a:xfrm>
              <a:off x="2448876" y="5503610"/>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solidFill>
                    <a:srgbClr val="FF0000"/>
                  </a:solidFill>
                </a:rPr>
                <a:t>15</a:t>
              </a:r>
              <a:r>
                <a:rPr lang="en-US" altLang="zh-CN" b="1" dirty="0" smtClean="0"/>
                <a:t> 20</a:t>
              </a:r>
              <a:endParaRPr lang="en-ZA" b="1" dirty="0"/>
            </a:p>
          </p:txBody>
        </p:sp>
        <p:sp>
          <p:nvSpPr>
            <p:cNvPr id="22" name="Rectangle 21"/>
            <p:cNvSpPr/>
            <p:nvPr/>
          </p:nvSpPr>
          <p:spPr>
            <a:xfrm>
              <a:off x="3764279" y="5500212"/>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25 30</a:t>
              </a:r>
              <a:endParaRPr lang="en-ZA" b="1" dirty="0"/>
            </a:p>
          </p:txBody>
        </p:sp>
        <p:sp>
          <p:nvSpPr>
            <p:cNvPr id="23" name="Rectangle 22"/>
            <p:cNvSpPr/>
            <p:nvPr/>
          </p:nvSpPr>
          <p:spPr>
            <a:xfrm>
              <a:off x="5067299" y="5508228"/>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35 40</a:t>
              </a:r>
              <a:endParaRPr lang="en-ZA" b="1" dirty="0"/>
            </a:p>
          </p:txBody>
        </p:sp>
        <p:cxnSp>
          <p:nvCxnSpPr>
            <p:cNvPr id="24" name="Connecteur droit 23"/>
            <p:cNvCxnSpPr>
              <a:stCxn id="22" idx="0"/>
              <a:endCxn id="10" idx="2"/>
            </p:cNvCxnSpPr>
            <p:nvPr/>
          </p:nvCxnSpPr>
          <p:spPr>
            <a:xfrm flipH="1" flipV="1">
              <a:off x="3310889" y="5080010"/>
              <a:ext cx="937260" cy="420202"/>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Connecteur droit 26"/>
            <p:cNvCxnSpPr>
              <a:stCxn id="23" idx="0"/>
              <a:endCxn id="10" idx="2"/>
            </p:cNvCxnSpPr>
            <p:nvPr/>
          </p:nvCxnSpPr>
          <p:spPr>
            <a:xfrm flipH="1" flipV="1">
              <a:off x="3310889" y="5080010"/>
              <a:ext cx="2240280" cy="428218"/>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Connecteur droit avec flèche 31"/>
            <p:cNvCxnSpPr/>
            <p:nvPr/>
          </p:nvCxnSpPr>
          <p:spPr>
            <a:xfrm>
              <a:off x="2101214"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4" name="Connecteur droit avec flèche 33"/>
            <p:cNvCxnSpPr/>
            <p:nvPr/>
          </p:nvCxnSpPr>
          <p:spPr>
            <a:xfrm flipH="1">
              <a:off x="2101214"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5" name="Connecteur droit avec flèche 34"/>
            <p:cNvCxnSpPr/>
            <p:nvPr/>
          </p:nvCxnSpPr>
          <p:spPr>
            <a:xfrm>
              <a:off x="3416616"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6" name="Connecteur droit avec flèche 35"/>
            <p:cNvCxnSpPr/>
            <p:nvPr/>
          </p:nvCxnSpPr>
          <p:spPr>
            <a:xfrm flipH="1">
              <a:off x="3416616"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7" name="Connecteur droit avec flèche 36"/>
            <p:cNvCxnSpPr/>
            <p:nvPr/>
          </p:nvCxnSpPr>
          <p:spPr>
            <a:xfrm>
              <a:off x="4734875"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8" name="Connecteur droit avec flèche 37"/>
            <p:cNvCxnSpPr/>
            <p:nvPr/>
          </p:nvCxnSpPr>
          <p:spPr>
            <a:xfrm flipH="1">
              <a:off x="4734875"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grpSp>
      <p:cxnSp>
        <p:nvCxnSpPr>
          <p:cNvPr id="21" name="Connecteur droit 20"/>
          <p:cNvCxnSpPr>
            <a:stCxn id="14" idx="0"/>
            <a:endCxn id="10" idx="2"/>
          </p:cNvCxnSpPr>
          <p:nvPr/>
        </p:nvCxnSpPr>
        <p:spPr>
          <a:xfrm flipV="1">
            <a:off x="2932746" y="5080010"/>
            <a:ext cx="378143" cy="423600"/>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Connecteur droit 24"/>
          <p:cNvCxnSpPr>
            <a:stCxn id="6" idx="2"/>
          </p:cNvCxnSpPr>
          <p:nvPr/>
        </p:nvCxnSpPr>
        <p:spPr>
          <a:xfrm>
            <a:off x="4655819" y="4368985"/>
            <a:ext cx="1116331" cy="523055"/>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Connecteur droit 25"/>
          <p:cNvCxnSpPr>
            <a:stCxn id="6" idx="2"/>
          </p:cNvCxnSpPr>
          <p:nvPr/>
        </p:nvCxnSpPr>
        <p:spPr>
          <a:xfrm>
            <a:off x="4655819" y="4368985"/>
            <a:ext cx="3150871" cy="434026"/>
          </a:xfrm>
          <a:prstGeom prst="line">
            <a:avLst/>
          </a:prstGeom>
          <a:ln w="19050"/>
        </p:spPr>
        <p:style>
          <a:lnRef idx="1">
            <a:schemeClr val="dk1"/>
          </a:lnRef>
          <a:fillRef idx="0">
            <a:schemeClr val="dk1"/>
          </a:fillRef>
          <a:effectRef idx="0">
            <a:schemeClr val="dk1"/>
          </a:effectRef>
          <a:fontRef idx="minor">
            <a:schemeClr val="tx1"/>
          </a:fontRef>
        </p:style>
      </p:cxnSp>
      <p:sp>
        <p:nvSpPr>
          <p:cNvPr id="17" name="ZoneTexte 16"/>
          <p:cNvSpPr txBox="1"/>
          <p:nvPr/>
        </p:nvSpPr>
        <p:spPr>
          <a:xfrm>
            <a:off x="6332220" y="4707115"/>
            <a:ext cx="404278" cy="461665"/>
          </a:xfrm>
          <a:prstGeom prst="rect">
            <a:avLst/>
          </a:prstGeom>
          <a:noFill/>
        </p:spPr>
        <p:txBody>
          <a:bodyPr wrap="none" rtlCol="0">
            <a:spAutoFit/>
          </a:bodyPr>
          <a:lstStyle/>
          <a:p>
            <a:r>
              <a:rPr lang="en-US" sz="2400" b="1" dirty="0" smtClean="0"/>
              <a:t>…</a:t>
            </a:r>
            <a:endParaRPr lang="en-ZA" sz="2400" b="1" dirty="0"/>
          </a:p>
        </p:txBody>
      </p:sp>
      <p:sp>
        <p:nvSpPr>
          <p:cNvPr id="19" name="Espace réservé du numéro de diapositive 18"/>
          <p:cNvSpPr>
            <a:spLocks noGrp="1"/>
          </p:cNvSpPr>
          <p:nvPr>
            <p:ph type="sldNum" sz="quarter" idx="12"/>
          </p:nvPr>
        </p:nvSpPr>
        <p:spPr/>
        <p:txBody>
          <a:bodyPr/>
          <a:lstStyle/>
          <a:p>
            <a:fld id="{BBF3D8CE-58F1-40DD-970B-B96FBB2BDA32}" type="slidenum">
              <a:rPr lang="en-ZA" smtClean="0"/>
              <a:t>17</a:t>
            </a:fld>
            <a:endParaRPr lang="en-ZA"/>
          </a:p>
        </p:txBody>
      </p:sp>
    </p:spTree>
    <p:extLst>
      <p:ext uri="{BB962C8B-B14F-4D97-AF65-F5344CB8AC3E}">
        <p14:creationId xmlns:p14="http://schemas.microsoft.com/office/powerpoint/2010/main" val="7034457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Updating </a:t>
            </a:r>
            <a:r>
              <a:rPr lang="en-US" dirty="0" smtClean="0"/>
              <a:t>B</a:t>
            </a:r>
            <a:r>
              <a:rPr lang="en-US" baseline="30000" dirty="0" smtClean="0"/>
              <a:t>+</a:t>
            </a:r>
            <a:r>
              <a:rPr lang="en-US" dirty="0" smtClean="0"/>
              <a:t>-Tree </a:t>
            </a:r>
            <a:endParaRPr lang="en-ZA" dirty="0"/>
          </a:p>
        </p:txBody>
      </p:sp>
      <p:sp>
        <p:nvSpPr>
          <p:cNvPr id="3" name="Espace réservé du contenu 2"/>
          <p:cNvSpPr>
            <a:spLocks noGrp="1"/>
          </p:cNvSpPr>
          <p:nvPr>
            <p:ph idx="1"/>
          </p:nvPr>
        </p:nvSpPr>
        <p:spPr/>
        <p:txBody>
          <a:bodyPr/>
          <a:lstStyle/>
          <a:p>
            <a:r>
              <a:rPr lang="zh-CN" altLang="en-US" dirty="0" smtClean="0"/>
              <a:t>插入（分裂）</a:t>
            </a:r>
            <a:endParaRPr lang="en-US" altLang="zh-CN" dirty="0" smtClean="0"/>
          </a:p>
          <a:p>
            <a:pPr lvl="1"/>
            <a:r>
              <a:rPr lang="en-US" altLang="zh-CN" dirty="0" smtClean="0"/>
              <a:t>Bottom-up</a:t>
            </a:r>
          </a:p>
          <a:p>
            <a:pPr lvl="1"/>
            <a:r>
              <a:rPr lang="zh-CN" altLang="en-US" dirty="0" smtClean="0"/>
              <a:t>保证上一层节点中有子节点的最大（或最小）关键字</a:t>
            </a:r>
            <a:endParaRPr lang="en-US" altLang="zh-CN" dirty="0"/>
          </a:p>
          <a:p>
            <a:endParaRPr lang="en-US" altLang="zh-CN" dirty="0" smtClean="0"/>
          </a:p>
          <a:p>
            <a:endParaRPr lang="en-US" altLang="zh-CN" dirty="0" smtClean="0"/>
          </a:p>
          <a:p>
            <a:endParaRPr lang="en-ZA" dirty="0"/>
          </a:p>
        </p:txBody>
      </p:sp>
      <p:sp>
        <p:nvSpPr>
          <p:cNvPr id="9" name="ZoneTexte 8"/>
          <p:cNvSpPr txBox="1"/>
          <p:nvPr/>
        </p:nvSpPr>
        <p:spPr>
          <a:xfrm>
            <a:off x="2101214" y="3238586"/>
            <a:ext cx="2157963" cy="461665"/>
          </a:xfrm>
          <a:prstGeom prst="rect">
            <a:avLst/>
          </a:prstGeom>
          <a:noFill/>
        </p:spPr>
        <p:txBody>
          <a:bodyPr wrap="none" rtlCol="0">
            <a:spAutoFit/>
          </a:bodyPr>
          <a:lstStyle/>
          <a:p>
            <a:r>
              <a:rPr lang="en-US" altLang="zh-CN" sz="2400" b="1" dirty="0" smtClean="0">
                <a:solidFill>
                  <a:schemeClr val="accent2">
                    <a:lumMod val="50000"/>
                  </a:schemeClr>
                </a:solidFill>
              </a:rPr>
              <a:t>3</a:t>
            </a:r>
            <a:r>
              <a:rPr lang="zh-CN" altLang="en-US" sz="2400" b="1" dirty="0" smtClean="0">
                <a:solidFill>
                  <a:schemeClr val="accent2">
                    <a:lumMod val="50000"/>
                  </a:schemeClr>
                </a:solidFill>
              </a:rPr>
              <a:t>阶</a:t>
            </a:r>
            <a:r>
              <a:rPr lang="en-US" sz="2400" b="1" dirty="0" smtClean="0">
                <a:solidFill>
                  <a:schemeClr val="accent2">
                    <a:lumMod val="50000"/>
                  </a:schemeClr>
                </a:solidFill>
              </a:rPr>
              <a:t>B</a:t>
            </a:r>
            <a:r>
              <a:rPr lang="en-US" sz="2400" b="1" baseline="30000" dirty="0" smtClean="0">
                <a:solidFill>
                  <a:schemeClr val="accent2">
                    <a:lumMod val="50000"/>
                  </a:schemeClr>
                </a:solidFill>
              </a:rPr>
              <a:t>+</a:t>
            </a:r>
            <a:r>
              <a:rPr lang="zh-CN" altLang="en-US" sz="2400" b="1" dirty="0" smtClean="0">
                <a:solidFill>
                  <a:schemeClr val="accent2">
                    <a:lumMod val="50000"/>
                  </a:schemeClr>
                </a:solidFill>
              </a:rPr>
              <a:t>树插入</a:t>
            </a:r>
            <a:r>
              <a:rPr lang="en-US" altLang="zh-CN" sz="2400" b="1" dirty="0" smtClean="0">
                <a:solidFill>
                  <a:schemeClr val="accent2">
                    <a:lumMod val="50000"/>
                  </a:schemeClr>
                </a:solidFill>
              </a:rPr>
              <a:t>15</a:t>
            </a:r>
            <a:endParaRPr lang="en-ZA" sz="2400" b="1" dirty="0">
              <a:solidFill>
                <a:schemeClr val="accent2">
                  <a:lumMod val="50000"/>
                </a:schemeClr>
              </a:solidFill>
            </a:endParaRPr>
          </a:p>
        </p:txBody>
      </p:sp>
      <p:grpSp>
        <p:nvGrpSpPr>
          <p:cNvPr id="39" name="Groupe 38"/>
          <p:cNvGrpSpPr/>
          <p:nvPr/>
        </p:nvGrpSpPr>
        <p:grpSpPr>
          <a:xfrm>
            <a:off x="1133474" y="4091986"/>
            <a:ext cx="4901565" cy="1693241"/>
            <a:chOff x="1133474" y="4091986"/>
            <a:chExt cx="4901565" cy="1693241"/>
          </a:xfrm>
        </p:grpSpPr>
        <p:sp>
          <p:nvSpPr>
            <p:cNvPr id="6" name="Rectangle 5"/>
            <p:cNvSpPr/>
            <p:nvPr/>
          </p:nvSpPr>
          <p:spPr>
            <a:xfrm>
              <a:off x="4095749" y="4091986"/>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40 70 90</a:t>
              </a:r>
              <a:endParaRPr lang="en-ZA" b="1" dirty="0"/>
            </a:p>
          </p:txBody>
        </p:sp>
        <p:sp>
          <p:nvSpPr>
            <p:cNvPr id="10" name="Rectangle 9"/>
            <p:cNvSpPr/>
            <p:nvPr/>
          </p:nvSpPr>
          <p:spPr>
            <a:xfrm>
              <a:off x="2932746" y="4803011"/>
              <a:ext cx="938212"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30 40</a:t>
              </a:r>
              <a:endParaRPr lang="en-ZA" b="1" dirty="0"/>
            </a:p>
          </p:txBody>
        </p:sp>
        <p:cxnSp>
          <p:nvCxnSpPr>
            <p:cNvPr id="11" name="Connecteur droit 10"/>
            <p:cNvCxnSpPr>
              <a:stCxn id="6" idx="2"/>
              <a:endCxn id="10" idx="0"/>
            </p:cNvCxnSpPr>
            <p:nvPr/>
          </p:nvCxnSpPr>
          <p:spPr>
            <a:xfrm flipH="1">
              <a:off x="3310889" y="4368985"/>
              <a:ext cx="1344930" cy="434026"/>
            </a:xfrm>
            <a:prstGeom prst="line">
              <a:avLst/>
            </a:prstGeom>
            <a:ln w="19050"/>
          </p:spPr>
          <p:style>
            <a:lnRef idx="1">
              <a:schemeClr val="dk1"/>
            </a:lnRef>
            <a:fillRef idx="0">
              <a:schemeClr val="dk1"/>
            </a:fillRef>
            <a:effectRef idx="0">
              <a:schemeClr val="dk1"/>
            </a:effectRef>
            <a:fontRef idx="minor">
              <a:schemeClr val="tx1"/>
            </a:fontRef>
          </p:style>
        </p:cxnSp>
        <p:sp>
          <p:nvSpPr>
            <p:cNvPr id="13" name="Rectangle 12"/>
            <p:cNvSpPr/>
            <p:nvPr/>
          </p:nvSpPr>
          <p:spPr>
            <a:xfrm>
              <a:off x="1133474" y="5500211"/>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5 10</a:t>
              </a:r>
              <a:endParaRPr lang="en-ZA" b="1" dirty="0"/>
            </a:p>
          </p:txBody>
        </p:sp>
        <p:sp>
          <p:nvSpPr>
            <p:cNvPr id="14" name="Rectangle 13"/>
            <p:cNvSpPr/>
            <p:nvPr/>
          </p:nvSpPr>
          <p:spPr>
            <a:xfrm>
              <a:off x="2448876" y="5503610"/>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solidFill>
                    <a:srgbClr val="FF0000"/>
                  </a:solidFill>
                </a:rPr>
                <a:t>15</a:t>
              </a:r>
              <a:r>
                <a:rPr lang="en-US" altLang="zh-CN" b="1" dirty="0" smtClean="0"/>
                <a:t> 20</a:t>
              </a:r>
              <a:endParaRPr lang="en-ZA" b="1" dirty="0"/>
            </a:p>
          </p:txBody>
        </p:sp>
        <p:sp>
          <p:nvSpPr>
            <p:cNvPr id="22" name="Rectangle 21"/>
            <p:cNvSpPr/>
            <p:nvPr/>
          </p:nvSpPr>
          <p:spPr>
            <a:xfrm>
              <a:off x="3764279" y="5500212"/>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25 30</a:t>
              </a:r>
              <a:endParaRPr lang="en-ZA" b="1" dirty="0"/>
            </a:p>
          </p:txBody>
        </p:sp>
        <p:sp>
          <p:nvSpPr>
            <p:cNvPr id="23" name="Rectangle 22"/>
            <p:cNvSpPr/>
            <p:nvPr/>
          </p:nvSpPr>
          <p:spPr>
            <a:xfrm>
              <a:off x="5067299" y="5508228"/>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35 40</a:t>
              </a:r>
              <a:endParaRPr lang="en-ZA" b="1" dirty="0"/>
            </a:p>
          </p:txBody>
        </p:sp>
        <p:cxnSp>
          <p:nvCxnSpPr>
            <p:cNvPr id="24" name="Connecteur droit 23"/>
            <p:cNvCxnSpPr>
              <a:stCxn id="22" idx="0"/>
              <a:endCxn id="10" idx="2"/>
            </p:cNvCxnSpPr>
            <p:nvPr/>
          </p:nvCxnSpPr>
          <p:spPr>
            <a:xfrm flipH="1" flipV="1">
              <a:off x="3310889" y="5080010"/>
              <a:ext cx="937260" cy="420202"/>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Connecteur droit 26"/>
            <p:cNvCxnSpPr>
              <a:stCxn id="23" idx="0"/>
              <a:endCxn id="10" idx="2"/>
            </p:cNvCxnSpPr>
            <p:nvPr/>
          </p:nvCxnSpPr>
          <p:spPr>
            <a:xfrm flipH="1" flipV="1">
              <a:off x="3310889" y="5080010"/>
              <a:ext cx="2240280" cy="428218"/>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Connecteur droit avec flèche 31"/>
            <p:cNvCxnSpPr/>
            <p:nvPr/>
          </p:nvCxnSpPr>
          <p:spPr>
            <a:xfrm>
              <a:off x="2101214"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4" name="Connecteur droit avec flèche 33"/>
            <p:cNvCxnSpPr/>
            <p:nvPr/>
          </p:nvCxnSpPr>
          <p:spPr>
            <a:xfrm flipH="1">
              <a:off x="2101214"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5" name="Connecteur droit avec flèche 34"/>
            <p:cNvCxnSpPr/>
            <p:nvPr/>
          </p:nvCxnSpPr>
          <p:spPr>
            <a:xfrm>
              <a:off x="3416616"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6" name="Connecteur droit avec flèche 35"/>
            <p:cNvCxnSpPr/>
            <p:nvPr/>
          </p:nvCxnSpPr>
          <p:spPr>
            <a:xfrm flipH="1">
              <a:off x="3416616"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7" name="Connecteur droit avec flèche 36"/>
            <p:cNvCxnSpPr/>
            <p:nvPr/>
          </p:nvCxnSpPr>
          <p:spPr>
            <a:xfrm>
              <a:off x="4734875"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8" name="Connecteur droit avec flèche 37"/>
            <p:cNvCxnSpPr/>
            <p:nvPr/>
          </p:nvCxnSpPr>
          <p:spPr>
            <a:xfrm flipH="1">
              <a:off x="4734875"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grpSp>
      <p:cxnSp>
        <p:nvCxnSpPr>
          <p:cNvPr id="21" name="Connecteur droit 20"/>
          <p:cNvCxnSpPr>
            <a:stCxn id="14" idx="0"/>
            <a:endCxn id="25" idx="2"/>
          </p:cNvCxnSpPr>
          <p:nvPr/>
        </p:nvCxnSpPr>
        <p:spPr>
          <a:xfrm flipH="1" flipV="1">
            <a:off x="1791175" y="5080009"/>
            <a:ext cx="1141571" cy="423601"/>
          </a:xfrm>
          <a:prstGeom prst="line">
            <a:avLst/>
          </a:prstGeom>
          <a:ln w="19050"/>
        </p:spPr>
        <p:style>
          <a:lnRef idx="1">
            <a:schemeClr val="dk1"/>
          </a:lnRef>
          <a:fillRef idx="0">
            <a:schemeClr val="dk1"/>
          </a:fillRef>
          <a:effectRef idx="0">
            <a:schemeClr val="dk1"/>
          </a:effectRef>
          <a:fontRef idx="minor">
            <a:schemeClr val="tx1"/>
          </a:fontRef>
        </p:style>
      </p:cxnSp>
      <p:sp>
        <p:nvSpPr>
          <p:cNvPr id="25" name="Rectangle 24"/>
          <p:cNvSpPr/>
          <p:nvPr/>
        </p:nvSpPr>
        <p:spPr>
          <a:xfrm>
            <a:off x="1307305" y="4803010"/>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10 20</a:t>
            </a:r>
            <a:endParaRPr lang="en-ZA" b="1" dirty="0"/>
          </a:p>
        </p:txBody>
      </p:sp>
      <p:cxnSp>
        <p:nvCxnSpPr>
          <p:cNvPr id="26" name="Connecteur droit 25"/>
          <p:cNvCxnSpPr>
            <a:stCxn id="13" idx="0"/>
            <a:endCxn id="25" idx="2"/>
          </p:cNvCxnSpPr>
          <p:nvPr/>
        </p:nvCxnSpPr>
        <p:spPr>
          <a:xfrm flipV="1">
            <a:off x="1617344" y="5080009"/>
            <a:ext cx="173831" cy="420202"/>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Connecteur droit 27"/>
          <p:cNvCxnSpPr/>
          <p:nvPr/>
        </p:nvCxnSpPr>
        <p:spPr>
          <a:xfrm>
            <a:off x="4655819" y="4368985"/>
            <a:ext cx="1116331" cy="523055"/>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Connecteur droit 28"/>
          <p:cNvCxnSpPr/>
          <p:nvPr/>
        </p:nvCxnSpPr>
        <p:spPr>
          <a:xfrm>
            <a:off x="4655819" y="4368985"/>
            <a:ext cx="3150871" cy="434026"/>
          </a:xfrm>
          <a:prstGeom prst="line">
            <a:avLst/>
          </a:prstGeom>
          <a:ln w="19050"/>
        </p:spPr>
        <p:style>
          <a:lnRef idx="1">
            <a:schemeClr val="dk1"/>
          </a:lnRef>
          <a:fillRef idx="0">
            <a:schemeClr val="dk1"/>
          </a:fillRef>
          <a:effectRef idx="0">
            <a:schemeClr val="dk1"/>
          </a:effectRef>
          <a:fontRef idx="minor">
            <a:schemeClr val="tx1"/>
          </a:fontRef>
        </p:style>
      </p:cxnSp>
      <p:sp>
        <p:nvSpPr>
          <p:cNvPr id="30" name="ZoneTexte 29"/>
          <p:cNvSpPr txBox="1"/>
          <p:nvPr/>
        </p:nvSpPr>
        <p:spPr>
          <a:xfrm>
            <a:off x="6332220" y="4707115"/>
            <a:ext cx="404278" cy="461665"/>
          </a:xfrm>
          <a:prstGeom prst="rect">
            <a:avLst/>
          </a:prstGeom>
          <a:noFill/>
        </p:spPr>
        <p:txBody>
          <a:bodyPr wrap="none" rtlCol="0">
            <a:spAutoFit/>
          </a:bodyPr>
          <a:lstStyle/>
          <a:p>
            <a:r>
              <a:rPr lang="en-US" sz="2400" b="1" dirty="0" smtClean="0"/>
              <a:t>…</a:t>
            </a:r>
            <a:endParaRPr lang="en-ZA" sz="2400" b="1" dirty="0"/>
          </a:p>
        </p:txBody>
      </p:sp>
      <p:sp>
        <p:nvSpPr>
          <p:cNvPr id="12" name="Espace réservé du numéro de diapositive 11"/>
          <p:cNvSpPr>
            <a:spLocks noGrp="1"/>
          </p:cNvSpPr>
          <p:nvPr>
            <p:ph type="sldNum" sz="quarter" idx="12"/>
          </p:nvPr>
        </p:nvSpPr>
        <p:spPr/>
        <p:txBody>
          <a:bodyPr/>
          <a:lstStyle/>
          <a:p>
            <a:fld id="{BBF3D8CE-58F1-40DD-970B-B96FBB2BDA32}" type="slidenum">
              <a:rPr lang="en-ZA" smtClean="0"/>
              <a:t>18</a:t>
            </a:fld>
            <a:endParaRPr lang="en-ZA"/>
          </a:p>
        </p:txBody>
      </p:sp>
    </p:spTree>
    <p:extLst>
      <p:ext uri="{BB962C8B-B14F-4D97-AF65-F5344CB8AC3E}">
        <p14:creationId xmlns:p14="http://schemas.microsoft.com/office/powerpoint/2010/main" val="40664356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Updating </a:t>
            </a:r>
            <a:r>
              <a:rPr lang="en-US" dirty="0" smtClean="0"/>
              <a:t>B</a:t>
            </a:r>
            <a:r>
              <a:rPr lang="en-US" baseline="30000" dirty="0" smtClean="0"/>
              <a:t>+</a:t>
            </a:r>
            <a:r>
              <a:rPr lang="en-US" dirty="0" smtClean="0"/>
              <a:t>-Tree </a:t>
            </a:r>
            <a:endParaRPr lang="en-ZA" dirty="0"/>
          </a:p>
        </p:txBody>
      </p:sp>
      <p:sp>
        <p:nvSpPr>
          <p:cNvPr id="3" name="Espace réservé du contenu 2"/>
          <p:cNvSpPr>
            <a:spLocks noGrp="1"/>
          </p:cNvSpPr>
          <p:nvPr>
            <p:ph idx="1"/>
          </p:nvPr>
        </p:nvSpPr>
        <p:spPr/>
        <p:txBody>
          <a:bodyPr/>
          <a:lstStyle/>
          <a:p>
            <a:r>
              <a:rPr lang="zh-CN" altLang="en-US" dirty="0" smtClean="0"/>
              <a:t>插入（分裂）</a:t>
            </a:r>
            <a:endParaRPr lang="en-US" altLang="zh-CN" dirty="0" smtClean="0"/>
          </a:p>
          <a:p>
            <a:pPr lvl="1"/>
            <a:r>
              <a:rPr lang="en-US" altLang="zh-CN" dirty="0" smtClean="0"/>
              <a:t>Bottom-up</a:t>
            </a:r>
          </a:p>
          <a:p>
            <a:pPr lvl="1"/>
            <a:r>
              <a:rPr lang="zh-CN" altLang="en-US" dirty="0" smtClean="0"/>
              <a:t>保证上一层节点中有子节点的最大（或最小）关键字</a:t>
            </a:r>
            <a:endParaRPr lang="en-US" altLang="zh-CN" dirty="0"/>
          </a:p>
          <a:p>
            <a:endParaRPr lang="en-US" altLang="zh-CN" dirty="0" smtClean="0"/>
          </a:p>
          <a:p>
            <a:endParaRPr lang="en-US" altLang="zh-CN" dirty="0" smtClean="0"/>
          </a:p>
          <a:p>
            <a:endParaRPr lang="en-ZA" dirty="0"/>
          </a:p>
        </p:txBody>
      </p:sp>
      <p:sp>
        <p:nvSpPr>
          <p:cNvPr id="9" name="ZoneTexte 8"/>
          <p:cNvSpPr txBox="1"/>
          <p:nvPr/>
        </p:nvSpPr>
        <p:spPr>
          <a:xfrm>
            <a:off x="6342694" y="3248269"/>
            <a:ext cx="3624266" cy="461665"/>
          </a:xfrm>
          <a:prstGeom prst="rect">
            <a:avLst/>
          </a:prstGeom>
          <a:noFill/>
        </p:spPr>
        <p:txBody>
          <a:bodyPr wrap="square" rtlCol="0">
            <a:spAutoFit/>
          </a:bodyPr>
          <a:lstStyle/>
          <a:p>
            <a:r>
              <a:rPr lang="en-US" altLang="zh-CN" sz="2400" b="1" dirty="0" smtClean="0">
                <a:solidFill>
                  <a:schemeClr val="accent2">
                    <a:lumMod val="50000"/>
                  </a:schemeClr>
                </a:solidFill>
              </a:rPr>
              <a:t>3</a:t>
            </a:r>
            <a:r>
              <a:rPr lang="zh-CN" altLang="en-US" sz="2400" b="1" dirty="0" smtClean="0">
                <a:solidFill>
                  <a:schemeClr val="accent2">
                    <a:lumMod val="50000"/>
                  </a:schemeClr>
                </a:solidFill>
              </a:rPr>
              <a:t>阶</a:t>
            </a:r>
            <a:r>
              <a:rPr lang="en-US" sz="2400" b="1" dirty="0" smtClean="0">
                <a:solidFill>
                  <a:schemeClr val="accent2">
                    <a:lumMod val="50000"/>
                  </a:schemeClr>
                </a:solidFill>
              </a:rPr>
              <a:t>B</a:t>
            </a:r>
            <a:r>
              <a:rPr lang="en-US" sz="2400" b="1" baseline="30000" dirty="0" smtClean="0">
                <a:solidFill>
                  <a:schemeClr val="accent2">
                    <a:lumMod val="50000"/>
                  </a:schemeClr>
                </a:solidFill>
              </a:rPr>
              <a:t>+</a:t>
            </a:r>
            <a:r>
              <a:rPr lang="zh-CN" altLang="en-US" sz="2400" b="1" dirty="0" smtClean="0">
                <a:solidFill>
                  <a:schemeClr val="accent2">
                    <a:lumMod val="50000"/>
                  </a:schemeClr>
                </a:solidFill>
              </a:rPr>
              <a:t>树插入</a:t>
            </a:r>
            <a:r>
              <a:rPr lang="en-US" altLang="zh-CN" sz="2400" b="1" dirty="0" smtClean="0">
                <a:solidFill>
                  <a:schemeClr val="accent2">
                    <a:lumMod val="50000"/>
                  </a:schemeClr>
                </a:solidFill>
              </a:rPr>
              <a:t>15</a:t>
            </a:r>
            <a:r>
              <a:rPr lang="zh-CN" altLang="en-US" sz="2400" b="1" dirty="0" smtClean="0">
                <a:solidFill>
                  <a:schemeClr val="accent2">
                    <a:lumMod val="50000"/>
                  </a:schemeClr>
                </a:solidFill>
              </a:rPr>
              <a:t>完</a:t>
            </a:r>
            <a:r>
              <a:rPr lang="zh-CN" altLang="en-US" sz="2400" b="1" dirty="0">
                <a:solidFill>
                  <a:schemeClr val="accent2">
                    <a:lumMod val="50000"/>
                  </a:schemeClr>
                </a:solidFill>
              </a:rPr>
              <a:t>成</a:t>
            </a:r>
            <a:endParaRPr lang="en-ZA" sz="2400" b="1" dirty="0">
              <a:solidFill>
                <a:schemeClr val="accent2">
                  <a:lumMod val="50000"/>
                </a:schemeClr>
              </a:solidFill>
            </a:endParaRPr>
          </a:p>
        </p:txBody>
      </p:sp>
      <p:grpSp>
        <p:nvGrpSpPr>
          <p:cNvPr id="39" name="Groupe 38"/>
          <p:cNvGrpSpPr/>
          <p:nvPr/>
        </p:nvGrpSpPr>
        <p:grpSpPr>
          <a:xfrm>
            <a:off x="1133474" y="4091986"/>
            <a:ext cx="4901565" cy="1693241"/>
            <a:chOff x="1133474" y="4091986"/>
            <a:chExt cx="4901565" cy="1693241"/>
          </a:xfrm>
        </p:grpSpPr>
        <p:sp>
          <p:nvSpPr>
            <p:cNvPr id="6" name="Rectangle 5"/>
            <p:cNvSpPr/>
            <p:nvPr/>
          </p:nvSpPr>
          <p:spPr>
            <a:xfrm>
              <a:off x="4248149" y="4091986"/>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70 90</a:t>
              </a:r>
              <a:endParaRPr lang="en-ZA" b="1" dirty="0"/>
            </a:p>
          </p:txBody>
        </p:sp>
        <p:sp>
          <p:nvSpPr>
            <p:cNvPr id="10" name="Rectangle 9"/>
            <p:cNvSpPr/>
            <p:nvPr/>
          </p:nvSpPr>
          <p:spPr>
            <a:xfrm>
              <a:off x="2932746" y="4803011"/>
              <a:ext cx="938212"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30 40</a:t>
              </a:r>
              <a:endParaRPr lang="en-ZA" b="1" dirty="0"/>
            </a:p>
          </p:txBody>
        </p:sp>
        <p:cxnSp>
          <p:nvCxnSpPr>
            <p:cNvPr id="11" name="Connecteur droit 10"/>
            <p:cNvCxnSpPr>
              <a:stCxn id="31" idx="2"/>
              <a:endCxn id="10" idx="0"/>
            </p:cNvCxnSpPr>
            <p:nvPr/>
          </p:nvCxnSpPr>
          <p:spPr>
            <a:xfrm>
              <a:off x="2429113" y="4368985"/>
              <a:ext cx="972739" cy="434026"/>
            </a:xfrm>
            <a:prstGeom prst="line">
              <a:avLst/>
            </a:prstGeom>
            <a:ln w="19050"/>
          </p:spPr>
          <p:style>
            <a:lnRef idx="1">
              <a:schemeClr val="dk1"/>
            </a:lnRef>
            <a:fillRef idx="0">
              <a:schemeClr val="dk1"/>
            </a:fillRef>
            <a:effectRef idx="0">
              <a:schemeClr val="dk1"/>
            </a:effectRef>
            <a:fontRef idx="minor">
              <a:schemeClr val="tx1"/>
            </a:fontRef>
          </p:style>
        </p:cxnSp>
        <p:sp>
          <p:nvSpPr>
            <p:cNvPr id="13" name="Rectangle 12"/>
            <p:cNvSpPr/>
            <p:nvPr/>
          </p:nvSpPr>
          <p:spPr>
            <a:xfrm>
              <a:off x="1133474" y="5500211"/>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5 10</a:t>
              </a:r>
              <a:endParaRPr lang="en-ZA" b="1" dirty="0"/>
            </a:p>
          </p:txBody>
        </p:sp>
        <p:sp>
          <p:nvSpPr>
            <p:cNvPr id="14" name="Rectangle 13"/>
            <p:cNvSpPr/>
            <p:nvPr/>
          </p:nvSpPr>
          <p:spPr>
            <a:xfrm>
              <a:off x="2448876" y="5503610"/>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solidFill>
                    <a:srgbClr val="FF0000"/>
                  </a:solidFill>
                </a:rPr>
                <a:t>15</a:t>
              </a:r>
              <a:r>
                <a:rPr lang="en-US" altLang="zh-CN" b="1" dirty="0" smtClean="0"/>
                <a:t> 20</a:t>
              </a:r>
              <a:endParaRPr lang="en-ZA" b="1" dirty="0"/>
            </a:p>
          </p:txBody>
        </p:sp>
        <p:sp>
          <p:nvSpPr>
            <p:cNvPr id="22" name="Rectangle 21"/>
            <p:cNvSpPr/>
            <p:nvPr/>
          </p:nvSpPr>
          <p:spPr>
            <a:xfrm>
              <a:off x="3764279" y="5500212"/>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25 30</a:t>
              </a:r>
              <a:endParaRPr lang="en-ZA" b="1" dirty="0"/>
            </a:p>
          </p:txBody>
        </p:sp>
        <p:sp>
          <p:nvSpPr>
            <p:cNvPr id="23" name="Rectangle 22"/>
            <p:cNvSpPr/>
            <p:nvPr/>
          </p:nvSpPr>
          <p:spPr>
            <a:xfrm>
              <a:off x="5067299" y="5508228"/>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35 40</a:t>
              </a:r>
              <a:endParaRPr lang="en-ZA" b="1" dirty="0"/>
            </a:p>
          </p:txBody>
        </p:sp>
        <p:cxnSp>
          <p:nvCxnSpPr>
            <p:cNvPr id="24" name="Connecteur droit 23"/>
            <p:cNvCxnSpPr>
              <a:stCxn id="22" idx="0"/>
              <a:endCxn id="10" idx="2"/>
            </p:cNvCxnSpPr>
            <p:nvPr/>
          </p:nvCxnSpPr>
          <p:spPr>
            <a:xfrm flipH="1" flipV="1">
              <a:off x="3310889" y="5080010"/>
              <a:ext cx="937260" cy="420202"/>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Connecteur droit 26"/>
            <p:cNvCxnSpPr>
              <a:stCxn id="23" idx="0"/>
              <a:endCxn id="10" idx="2"/>
            </p:cNvCxnSpPr>
            <p:nvPr/>
          </p:nvCxnSpPr>
          <p:spPr>
            <a:xfrm flipH="1" flipV="1">
              <a:off x="3310889" y="5080010"/>
              <a:ext cx="2240280" cy="428218"/>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Connecteur droit avec flèche 31"/>
            <p:cNvCxnSpPr/>
            <p:nvPr/>
          </p:nvCxnSpPr>
          <p:spPr>
            <a:xfrm>
              <a:off x="2101214"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4" name="Connecteur droit avec flèche 33"/>
            <p:cNvCxnSpPr/>
            <p:nvPr/>
          </p:nvCxnSpPr>
          <p:spPr>
            <a:xfrm flipH="1">
              <a:off x="2101214"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5" name="Connecteur droit avec flèche 34"/>
            <p:cNvCxnSpPr/>
            <p:nvPr/>
          </p:nvCxnSpPr>
          <p:spPr>
            <a:xfrm>
              <a:off x="3416616"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6" name="Connecteur droit avec flèche 35"/>
            <p:cNvCxnSpPr/>
            <p:nvPr/>
          </p:nvCxnSpPr>
          <p:spPr>
            <a:xfrm flipH="1">
              <a:off x="3416616"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7" name="Connecteur droit avec flèche 36"/>
            <p:cNvCxnSpPr/>
            <p:nvPr/>
          </p:nvCxnSpPr>
          <p:spPr>
            <a:xfrm>
              <a:off x="4734875" y="558156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8" name="Connecteur droit avec flèche 37"/>
            <p:cNvCxnSpPr/>
            <p:nvPr/>
          </p:nvCxnSpPr>
          <p:spPr>
            <a:xfrm flipH="1">
              <a:off x="4734875" y="572006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grpSp>
      <p:cxnSp>
        <p:nvCxnSpPr>
          <p:cNvPr id="21" name="Connecteur droit 20"/>
          <p:cNvCxnSpPr>
            <a:stCxn id="14" idx="0"/>
            <a:endCxn id="25" idx="2"/>
          </p:cNvCxnSpPr>
          <p:nvPr/>
        </p:nvCxnSpPr>
        <p:spPr>
          <a:xfrm flipH="1" flipV="1">
            <a:off x="1791175" y="5080009"/>
            <a:ext cx="1141571" cy="423601"/>
          </a:xfrm>
          <a:prstGeom prst="line">
            <a:avLst/>
          </a:prstGeom>
          <a:ln w="19050"/>
        </p:spPr>
        <p:style>
          <a:lnRef idx="1">
            <a:schemeClr val="dk1"/>
          </a:lnRef>
          <a:fillRef idx="0">
            <a:schemeClr val="dk1"/>
          </a:fillRef>
          <a:effectRef idx="0">
            <a:schemeClr val="dk1"/>
          </a:effectRef>
          <a:fontRef idx="minor">
            <a:schemeClr val="tx1"/>
          </a:fontRef>
        </p:style>
      </p:cxnSp>
      <p:sp>
        <p:nvSpPr>
          <p:cNvPr id="25" name="Rectangle 24"/>
          <p:cNvSpPr/>
          <p:nvPr/>
        </p:nvSpPr>
        <p:spPr>
          <a:xfrm>
            <a:off x="1307305" y="4803010"/>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10 20</a:t>
            </a:r>
            <a:endParaRPr lang="en-ZA" b="1" dirty="0"/>
          </a:p>
        </p:txBody>
      </p:sp>
      <p:cxnSp>
        <p:nvCxnSpPr>
          <p:cNvPr id="26" name="Connecteur droit 25"/>
          <p:cNvCxnSpPr>
            <a:stCxn id="13" idx="0"/>
            <a:endCxn id="25" idx="2"/>
          </p:cNvCxnSpPr>
          <p:nvPr/>
        </p:nvCxnSpPr>
        <p:spPr>
          <a:xfrm flipV="1">
            <a:off x="1617344" y="5080009"/>
            <a:ext cx="173831" cy="420202"/>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Connecteur droit 27"/>
          <p:cNvCxnSpPr/>
          <p:nvPr/>
        </p:nvCxnSpPr>
        <p:spPr>
          <a:xfrm>
            <a:off x="4655819" y="4368985"/>
            <a:ext cx="1116331" cy="523055"/>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Connecteur droit 28"/>
          <p:cNvCxnSpPr/>
          <p:nvPr/>
        </p:nvCxnSpPr>
        <p:spPr>
          <a:xfrm>
            <a:off x="4655819" y="4368985"/>
            <a:ext cx="3150871" cy="434026"/>
          </a:xfrm>
          <a:prstGeom prst="line">
            <a:avLst/>
          </a:prstGeom>
          <a:ln w="19050"/>
        </p:spPr>
        <p:style>
          <a:lnRef idx="1">
            <a:schemeClr val="dk1"/>
          </a:lnRef>
          <a:fillRef idx="0">
            <a:schemeClr val="dk1"/>
          </a:fillRef>
          <a:effectRef idx="0">
            <a:schemeClr val="dk1"/>
          </a:effectRef>
          <a:fontRef idx="minor">
            <a:schemeClr val="tx1"/>
          </a:fontRef>
        </p:style>
      </p:cxnSp>
      <p:sp>
        <p:nvSpPr>
          <p:cNvPr id="30" name="ZoneTexte 29"/>
          <p:cNvSpPr txBox="1"/>
          <p:nvPr/>
        </p:nvSpPr>
        <p:spPr>
          <a:xfrm>
            <a:off x="6332220" y="4707115"/>
            <a:ext cx="404278" cy="461665"/>
          </a:xfrm>
          <a:prstGeom prst="rect">
            <a:avLst/>
          </a:prstGeom>
          <a:noFill/>
        </p:spPr>
        <p:txBody>
          <a:bodyPr wrap="none" rtlCol="0">
            <a:spAutoFit/>
          </a:bodyPr>
          <a:lstStyle/>
          <a:p>
            <a:r>
              <a:rPr lang="en-US" sz="2400" b="1" dirty="0" smtClean="0"/>
              <a:t>…</a:t>
            </a:r>
            <a:endParaRPr lang="en-ZA" sz="2400" b="1" dirty="0"/>
          </a:p>
        </p:txBody>
      </p:sp>
      <p:sp>
        <p:nvSpPr>
          <p:cNvPr id="31" name="Rectangle 30"/>
          <p:cNvSpPr/>
          <p:nvPr/>
        </p:nvSpPr>
        <p:spPr>
          <a:xfrm>
            <a:off x="1945243" y="4091986"/>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2</a:t>
            </a:r>
            <a:r>
              <a:rPr lang="en-US" altLang="zh-CN" b="1" dirty="0" smtClean="0"/>
              <a:t>0 40</a:t>
            </a:r>
            <a:endParaRPr lang="en-ZA" b="1" dirty="0"/>
          </a:p>
        </p:txBody>
      </p:sp>
      <p:cxnSp>
        <p:nvCxnSpPr>
          <p:cNvPr id="33" name="Connecteur droit 32"/>
          <p:cNvCxnSpPr>
            <a:stCxn id="31" idx="2"/>
            <a:endCxn id="25" idx="0"/>
          </p:cNvCxnSpPr>
          <p:nvPr/>
        </p:nvCxnSpPr>
        <p:spPr>
          <a:xfrm flipH="1">
            <a:off x="1791175" y="4368985"/>
            <a:ext cx="637938" cy="434025"/>
          </a:xfrm>
          <a:prstGeom prst="line">
            <a:avLst/>
          </a:prstGeom>
          <a:ln w="19050"/>
        </p:spPr>
        <p:style>
          <a:lnRef idx="1">
            <a:schemeClr val="dk1"/>
          </a:lnRef>
          <a:fillRef idx="0">
            <a:schemeClr val="dk1"/>
          </a:fillRef>
          <a:effectRef idx="0">
            <a:schemeClr val="dk1"/>
          </a:effectRef>
          <a:fontRef idx="minor">
            <a:schemeClr val="tx1"/>
          </a:fontRef>
        </p:style>
      </p:cxnSp>
      <p:sp>
        <p:nvSpPr>
          <p:cNvPr id="40" name="Rectangle 39"/>
          <p:cNvSpPr/>
          <p:nvPr/>
        </p:nvSpPr>
        <p:spPr>
          <a:xfrm>
            <a:off x="3106577" y="3432086"/>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40 90</a:t>
            </a:r>
            <a:endParaRPr lang="en-ZA" b="1" dirty="0"/>
          </a:p>
        </p:txBody>
      </p:sp>
      <p:cxnSp>
        <p:nvCxnSpPr>
          <p:cNvPr id="41" name="Connecteur droit 40"/>
          <p:cNvCxnSpPr>
            <a:stCxn id="40" idx="2"/>
            <a:endCxn id="6" idx="0"/>
          </p:cNvCxnSpPr>
          <p:nvPr/>
        </p:nvCxnSpPr>
        <p:spPr>
          <a:xfrm>
            <a:off x="3590447" y="3709085"/>
            <a:ext cx="1141572" cy="382901"/>
          </a:xfrm>
          <a:prstGeom prst="line">
            <a:avLst/>
          </a:prstGeom>
          <a:ln w="19050"/>
        </p:spPr>
        <p:style>
          <a:lnRef idx="1">
            <a:schemeClr val="dk1"/>
          </a:lnRef>
          <a:fillRef idx="0">
            <a:schemeClr val="dk1"/>
          </a:fillRef>
          <a:effectRef idx="0">
            <a:schemeClr val="dk1"/>
          </a:effectRef>
          <a:fontRef idx="minor">
            <a:schemeClr val="tx1"/>
          </a:fontRef>
        </p:style>
      </p:cxnSp>
      <p:cxnSp>
        <p:nvCxnSpPr>
          <p:cNvPr id="42" name="Connecteur droit 41"/>
          <p:cNvCxnSpPr>
            <a:stCxn id="40" idx="2"/>
            <a:endCxn id="31" idx="0"/>
          </p:cNvCxnSpPr>
          <p:nvPr/>
        </p:nvCxnSpPr>
        <p:spPr>
          <a:xfrm flipH="1">
            <a:off x="2429113" y="3709085"/>
            <a:ext cx="1161334" cy="382901"/>
          </a:xfrm>
          <a:prstGeom prst="line">
            <a:avLst/>
          </a:prstGeom>
          <a:ln w="19050"/>
        </p:spPr>
        <p:style>
          <a:lnRef idx="1">
            <a:schemeClr val="dk1"/>
          </a:lnRef>
          <a:fillRef idx="0">
            <a:schemeClr val="dk1"/>
          </a:fillRef>
          <a:effectRef idx="0">
            <a:schemeClr val="dk1"/>
          </a:effectRef>
          <a:fontRef idx="minor">
            <a:schemeClr val="tx1"/>
          </a:fontRef>
        </p:style>
      </p:cxnSp>
      <p:sp>
        <p:nvSpPr>
          <p:cNvPr id="19" name="Espace réservé du numéro de diapositive 18"/>
          <p:cNvSpPr>
            <a:spLocks noGrp="1"/>
          </p:cNvSpPr>
          <p:nvPr>
            <p:ph type="sldNum" sz="quarter" idx="12"/>
          </p:nvPr>
        </p:nvSpPr>
        <p:spPr/>
        <p:txBody>
          <a:bodyPr/>
          <a:lstStyle/>
          <a:p>
            <a:fld id="{BBF3D8CE-58F1-40DD-970B-B96FBB2BDA32}" type="slidenum">
              <a:rPr lang="en-ZA" smtClean="0"/>
              <a:t>19</a:t>
            </a:fld>
            <a:endParaRPr lang="en-ZA"/>
          </a:p>
        </p:txBody>
      </p:sp>
    </p:spTree>
    <p:extLst>
      <p:ext uri="{BB962C8B-B14F-4D97-AF65-F5344CB8AC3E}">
        <p14:creationId xmlns:p14="http://schemas.microsoft.com/office/powerpoint/2010/main" val="27909593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Updating </a:t>
            </a:r>
            <a:r>
              <a:rPr lang="en-US" dirty="0" smtClean="0"/>
              <a:t>B</a:t>
            </a:r>
            <a:r>
              <a:rPr lang="en-US" baseline="30000" dirty="0" smtClean="0"/>
              <a:t>+</a:t>
            </a:r>
            <a:r>
              <a:rPr lang="en-US" dirty="0" smtClean="0"/>
              <a:t>-Tree </a:t>
            </a:r>
            <a:endParaRPr lang="en-ZA" dirty="0"/>
          </a:p>
        </p:txBody>
      </p:sp>
      <p:sp>
        <p:nvSpPr>
          <p:cNvPr id="3" name="Espace réservé du contenu 2"/>
          <p:cNvSpPr>
            <a:spLocks noGrp="1"/>
          </p:cNvSpPr>
          <p:nvPr>
            <p:ph idx="1"/>
          </p:nvPr>
        </p:nvSpPr>
        <p:spPr/>
        <p:txBody>
          <a:bodyPr/>
          <a:lstStyle/>
          <a:p>
            <a:r>
              <a:rPr lang="zh-CN" altLang="en-US" dirty="0" smtClean="0"/>
              <a:t>删除</a:t>
            </a:r>
            <a:endParaRPr lang="en-US" altLang="zh-CN" dirty="0" smtClean="0"/>
          </a:p>
          <a:p>
            <a:pPr lvl="1"/>
            <a:r>
              <a:rPr lang="zh-CN" altLang="en-US" dirty="0" smtClean="0"/>
              <a:t>当关键码下溢出时，与左或右兄弟进行调整（甚至合并）</a:t>
            </a:r>
            <a:endParaRPr lang="en-US" altLang="zh-CN" dirty="0" smtClean="0"/>
          </a:p>
          <a:p>
            <a:endParaRPr lang="en-ZA" dirty="0"/>
          </a:p>
        </p:txBody>
      </p:sp>
      <p:sp>
        <p:nvSpPr>
          <p:cNvPr id="6" name="Rectangle 5"/>
          <p:cNvSpPr/>
          <p:nvPr/>
        </p:nvSpPr>
        <p:spPr>
          <a:xfrm>
            <a:off x="4095749" y="4091986"/>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40 70 90</a:t>
            </a:r>
            <a:endParaRPr lang="en-ZA" b="1" dirty="0"/>
          </a:p>
        </p:txBody>
      </p:sp>
      <p:sp>
        <p:nvSpPr>
          <p:cNvPr id="7" name="Rectangle 6"/>
          <p:cNvSpPr/>
          <p:nvPr/>
        </p:nvSpPr>
        <p:spPr>
          <a:xfrm>
            <a:off x="2750819" y="4803011"/>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20 30 40</a:t>
            </a:r>
            <a:endParaRPr lang="en-ZA" b="1" dirty="0"/>
          </a:p>
        </p:txBody>
      </p:sp>
      <p:cxnSp>
        <p:nvCxnSpPr>
          <p:cNvPr id="8" name="Connecteur droit 7"/>
          <p:cNvCxnSpPr>
            <a:stCxn id="6" idx="2"/>
            <a:endCxn id="7" idx="0"/>
          </p:cNvCxnSpPr>
          <p:nvPr/>
        </p:nvCxnSpPr>
        <p:spPr>
          <a:xfrm flipH="1">
            <a:off x="3310889" y="4368985"/>
            <a:ext cx="1344930" cy="434026"/>
          </a:xfrm>
          <a:prstGeom prst="line">
            <a:avLst/>
          </a:prstGeom>
          <a:ln w="19050"/>
        </p:spPr>
        <p:style>
          <a:lnRef idx="1">
            <a:schemeClr val="dk1"/>
          </a:lnRef>
          <a:fillRef idx="0">
            <a:schemeClr val="dk1"/>
          </a:fillRef>
          <a:effectRef idx="0">
            <a:schemeClr val="dk1"/>
          </a:effectRef>
          <a:fontRef idx="minor">
            <a:schemeClr val="tx1"/>
          </a:fontRef>
        </p:style>
      </p:cxnSp>
      <p:sp>
        <p:nvSpPr>
          <p:cNvPr id="10" name="Rectangle 9"/>
          <p:cNvSpPr/>
          <p:nvPr/>
        </p:nvSpPr>
        <p:spPr>
          <a:xfrm>
            <a:off x="677226" y="5517434"/>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5 10 20</a:t>
            </a:r>
            <a:endParaRPr lang="en-ZA" b="1" dirty="0"/>
          </a:p>
        </p:txBody>
      </p:sp>
      <p:sp>
        <p:nvSpPr>
          <p:cNvPr id="11" name="Rectangle 10"/>
          <p:cNvSpPr/>
          <p:nvPr/>
        </p:nvSpPr>
        <p:spPr>
          <a:xfrm>
            <a:off x="1992629" y="5514036"/>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25 30</a:t>
            </a:r>
            <a:endParaRPr lang="en-ZA" b="1" dirty="0"/>
          </a:p>
        </p:txBody>
      </p:sp>
      <p:sp>
        <p:nvSpPr>
          <p:cNvPr id="12" name="Rectangle 11"/>
          <p:cNvSpPr/>
          <p:nvPr/>
        </p:nvSpPr>
        <p:spPr>
          <a:xfrm>
            <a:off x="3301840" y="5517433"/>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35 40</a:t>
            </a:r>
            <a:endParaRPr lang="en-ZA" b="1" dirty="0"/>
          </a:p>
        </p:txBody>
      </p:sp>
      <p:cxnSp>
        <p:nvCxnSpPr>
          <p:cNvPr id="13" name="Connecteur droit 12"/>
          <p:cNvCxnSpPr>
            <a:stCxn id="11" idx="0"/>
            <a:endCxn id="7" idx="2"/>
          </p:cNvCxnSpPr>
          <p:nvPr/>
        </p:nvCxnSpPr>
        <p:spPr>
          <a:xfrm flipV="1">
            <a:off x="2476499" y="5080010"/>
            <a:ext cx="834390" cy="434026"/>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Connecteur droit 13"/>
          <p:cNvCxnSpPr>
            <a:stCxn id="12" idx="0"/>
            <a:endCxn id="7" idx="2"/>
          </p:cNvCxnSpPr>
          <p:nvPr/>
        </p:nvCxnSpPr>
        <p:spPr>
          <a:xfrm flipH="1" flipV="1">
            <a:off x="3310889" y="5080010"/>
            <a:ext cx="474821" cy="437423"/>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Connecteur droit avec flèche 16"/>
          <p:cNvCxnSpPr/>
          <p:nvPr/>
        </p:nvCxnSpPr>
        <p:spPr>
          <a:xfrm>
            <a:off x="1644966"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8" name="Connecteur droit avec flèche 17"/>
          <p:cNvCxnSpPr/>
          <p:nvPr/>
        </p:nvCxnSpPr>
        <p:spPr>
          <a:xfrm flipH="1">
            <a:off x="1644966"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p:cNvCxnSpPr/>
          <p:nvPr/>
        </p:nvCxnSpPr>
        <p:spPr>
          <a:xfrm>
            <a:off x="2963225"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20" name="Connecteur droit avec flèche 19"/>
          <p:cNvCxnSpPr/>
          <p:nvPr/>
        </p:nvCxnSpPr>
        <p:spPr>
          <a:xfrm flipH="1">
            <a:off x="2963225"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21" name="Connecteur droit 20"/>
          <p:cNvCxnSpPr>
            <a:stCxn id="6" idx="2"/>
            <a:endCxn id="29" idx="0"/>
          </p:cNvCxnSpPr>
          <p:nvPr/>
        </p:nvCxnSpPr>
        <p:spPr>
          <a:xfrm>
            <a:off x="4655819" y="4368985"/>
            <a:ext cx="1394460" cy="430463"/>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Connecteur droit 21"/>
          <p:cNvCxnSpPr>
            <a:stCxn id="6" idx="2"/>
            <a:endCxn id="47" idx="0"/>
          </p:cNvCxnSpPr>
          <p:nvPr/>
        </p:nvCxnSpPr>
        <p:spPr>
          <a:xfrm>
            <a:off x="4655819" y="4368985"/>
            <a:ext cx="3918346" cy="430463"/>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Connecteur droit 22"/>
          <p:cNvCxnSpPr>
            <a:stCxn id="10" idx="0"/>
            <a:endCxn id="7" idx="2"/>
          </p:cNvCxnSpPr>
          <p:nvPr/>
        </p:nvCxnSpPr>
        <p:spPr>
          <a:xfrm flipV="1">
            <a:off x="1161096" y="5080010"/>
            <a:ext cx="2149793" cy="437424"/>
          </a:xfrm>
          <a:prstGeom prst="line">
            <a:avLst/>
          </a:prstGeom>
          <a:ln w="19050"/>
        </p:spPr>
        <p:style>
          <a:lnRef idx="1">
            <a:schemeClr val="dk1"/>
          </a:lnRef>
          <a:fillRef idx="0">
            <a:schemeClr val="dk1"/>
          </a:fillRef>
          <a:effectRef idx="0">
            <a:schemeClr val="dk1"/>
          </a:effectRef>
          <a:fontRef idx="minor">
            <a:schemeClr val="tx1"/>
          </a:fontRef>
        </p:style>
      </p:cxnSp>
      <p:sp>
        <p:nvSpPr>
          <p:cNvPr id="29" name="Rectangle 28"/>
          <p:cNvSpPr/>
          <p:nvPr/>
        </p:nvSpPr>
        <p:spPr>
          <a:xfrm>
            <a:off x="5490209" y="4799448"/>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5</a:t>
            </a:r>
            <a:r>
              <a:rPr lang="en-US" altLang="zh-CN" b="1" dirty="0" smtClean="0"/>
              <a:t>0 </a:t>
            </a:r>
            <a:r>
              <a:rPr lang="en-US" altLang="zh-CN" b="1" dirty="0"/>
              <a:t>6</a:t>
            </a:r>
            <a:r>
              <a:rPr lang="en-US" altLang="zh-CN" b="1" dirty="0" smtClean="0"/>
              <a:t>0 </a:t>
            </a:r>
            <a:r>
              <a:rPr lang="en-US" altLang="zh-CN" b="1" dirty="0"/>
              <a:t>7</a:t>
            </a:r>
            <a:r>
              <a:rPr lang="en-US" altLang="zh-CN" b="1" dirty="0" smtClean="0"/>
              <a:t>0</a:t>
            </a:r>
            <a:endParaRPr lang="en-ZA" b="1" dirty="0"/>
          </a:p>
        </p:txBody>
      </p:sp>
      <p:sp>
        <p:nvSpPr>
          <p:cNvPr id="30" name="Rectangle 29"/>
          <p:cNvSpPr/>
          <p:nvPr/>
        </p:nvSpPr>
        <p:spPr>
          <a:xfrm>
            <a:off x="4635574" y="5517434"/>
            <a:ext cx="1082994"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45 47 </a:t>
            </a:r>
            <a:r>
              <a:rPr lang="en-US" altLang="zh-CN" b="1" dirty="0"/>
              <a:t>5</a:t>
            </a:r>
            <a:r>
              <a:rPr lang="en-US" altLang="zh-CN" b="1" dirty="0" smtClean="0"/>
              <a:t>0</a:t>
            </a:r>
            <a:endParaRPr lang="en-ZA" b="1" dirty="0"/>
          </a:p>
        </p:txBody>
      </p:sp>
      <p:sp>
        <p:nvSpPr>
          <p:cNvPr id="31" name="Rectangle 30"/>
          <p:cNvSpPr/>
          <p:nvPr/>
        </p:nvSpPr>
        <p:spPr>
          <a:xfrm>
            <a:off x="6066231" y="5514036"/>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5</a:t>
            </a:r>
            <a:r>
              <a:rPr lang="en-US" altLang="zh-CN" b="1" dirty="0" smtClean="0"/>
              <a:t>5 </a:t>
            </a:r>
            <a:r>
              <a:rPr lang="en-US" altLang="zh-CN" b="1" dirty="0"/>
              <a:t>6</a:t>
            </a:r>
            <a:r>
              <a:rPr lang="en-US" altLang="zh-CN" b="1" dirty="0" smtClean="0"/>
              <a:t>0</a:t>
            </a:r>
            <a:endParaRPr lang="en-ZA" b="1" dirty="0"/>
          </a:p>
        </p:txBody>
      </p:sp>
      <p:sp>
        <p:nvSpPr>
          <p:cNvPr id="32" name="Rectangle 31"/>
          <p:cNvSpPr/>
          <p:nvPr/>
        </p:nvSpPr>
        <p:spPr>
          <a:xfrm>
            <a:off x="7369251" y="5522052"/>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6</a:t>
            </a:r>
            <a:r>
              <a:rPr lang="en-US" altLang="zh-CN" b="1" dirty="0" smtClean="0"/>
              <a:t>5 </a:t>
            </a:r>
            <a:r>
              <a:rPr lang="en-US" altLang="zh-CN" b="1" dirty="0"/>
              <a:t>7</a:t>
            </a:r>
            <a:r>
              <a:rPr lang="en-US" altLang="zh-CN" b="1" dirty="0" smtClean="0"/>
              <a:t>0</a:t>
            </a:r>
            <a:endParaRPr lang="en-ZA" b="1" dirty="0"/>
          </a:p>
        </p:txBody>
      </p:sp>
      <p:cxnSp>
        <p:nvCxnSpPr>
          <p:cNvPr id="33" name="Connecteur droit 32"/>
          <p:cNvCxnSpPr>
            <a:stCxn id="31" idx="0"/>
          </p:cNvCxnSpPr>
          <p:nvPr/>
        </p:nvCxnSpPr>
        <p:spPr>
          <a:xfrm flipH="1" flipV="1">
            <a:off x="5958839" y="5076447"/>
            <a:ext cx="591262" cy="437589"/>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Connecteur droit 33"/>
          <p:cNvCxnSpPr>
            <a:stCxn id="32" idx="0"/>
          </p:cNvCxnSpPr>
          <p:nvPr/>
        </p:nvCxnSpPr>
        <p:spPr>
          <a:xfrm flipH="1" flipV="1">
            <a:off x="5958839" y="5076447"/>
            <a:ext cx="1894282" cy="445605"/>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Connecteur droit avec flèche 34"/>
          <p:cNvCxnSpPr/>
          <p:nvPr/>
        </p:nvCxnSpPr>
        <p:spPr>
          <a:xfrm>
            <a:off x="5718568"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6" name="Connecteur droit avec flèche 35"/>
          <p:cNvCxnSpPr/>
          <p:nvPr/>
        </p:nvCxnSpPr>
        <p:spPr>
          <a:xfrm flipH="1">
            <a:off x="5718568"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7" name="Connecteur droit avec flèche 36"/>
          <p:cNvCxnSpPr/>
          <p:nvPr/>
        </p:nvCxnSpPr>
        <p:spPr>
          <a:xfrm>
            <a:off x="7036827"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8" name="Connecteur droit avec flèche 37"/>
          <p:cNvCxnSpPr/>
          <p:nvPr/>
        </p:nvCxnSpPr>
        <p:spPr>
          <a:xfrm flipH="1">
            <a:off x="7036827"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9" name="Connecteur droit 38"/>
          <p:cNvCxnSpPr>
            <a:stCxn id="30" idx="0"/>
          </p:cNvCxnSpPr>
          <p:nvPr/>
        </p:nvCxnSpPr>
        <p:spPr>
          <a:xfrm flipV="1">
            <a:off x="5177071" y="5076447"/>
            <a:ext cx="781768" cy="440987"/>
          </a:xfrm>
          <a:prstGeom prst="line">
            <a:avLst/>
          </a:prstGeom>
          <a:ln w="19050"/>
        </p:spPr>
        <p:style>
          <a:lnRef idx="1">
            <a:schemeClr val="dk1"/>
          </a:lnRef>
          <a:fillRef idx="0">
            <a:schemeClr val="dk1"/>
          </a:fillRef>
          <a:effectRef idx="0">
            <a:schemeClr val="dk1"/>
          </a:effectRef>
          <a:fontRef idx="minor">
            <a:schemeClr val="tx1"/>
          </a:fontRef>
        </p:style>
      </p:cxnSp>
      <p:sp>
        <p:nvSpPr>
          <p:cNvPr id="47" name="Rectangle 46"/>
          <p:cNvSpPr/>
          <p:nvPr/>
        </p:nvSpPr>
        <p:spPr>
          <a:xfrm>
            <a:off x="8014095" y="4799448"/>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80 90</a:t>
            </a:r>
            <a:endParaRPr lang="en-ZA" b="1" dirty="0"/>
          </a:p>
        </p:txBody>
      </p:sp>
      <p:sp>
        <p:nvSpPr>
          <p:cNvPr id="48" name="Rectangle 47"/>
          <p:cNvSpPr/>
          <p:nvPr/>
        </p:nvSpPr>
        <p:spPr>
          <a:xfrm>
            <a:off x="8712993" y="5503531"/>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solidFill>
                  <a:srgbClr val="FF0000"/>
                </a:solidFill>
              </a:rPr>
              <a:t>75</a:t>
            </a:r>
            <a:r>
              <a:rPr lang="en-US" altLang="zh-CN" b="1" dirty="0" smtClean="0"/>
              <a:t> 80</a:t>
            </a:r>
            <a:endParaRPr lang="en-ZA" b="1" dirty="0"/>
          </a:p>
        </p:txBody>
      </p:sp>
      <p:sp>
        <p:nvSpPr>
          <p:cNvPr id="49" name="Rectangle 48"/>
          <p:cNvSpPr/>
          <p:nvPr/>
        </p:nvSpPr>
        <p:spPr>
          <a:xfrm>
            <a:off x="10016013" y="5511547"/>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85 90</a:t>
            </a:r>
            <a:endParaRPr lang="en-ZA" b="1" dirty="0"/>
          </a:p>
        </p:txBody>
      </p:sp>
      <p:cxnSp>
        <p:nvCxnSpPr>
          <p:cNvPr id="50" name="Connecteur droit 49"/>
          <p:cNvCxnSpPr>
            <a:stCxn id="48" idx="0"/>
            <a:endCxn id="47" idx="2"/>
          </p:cNvCxnSpPr>
          <p:nvPr/>
        </p:nvCxnSpPr>
        <p:spPr>
          <a:xfrm flipH="1" flipV="1">
            <a:off x="8574165" y="5076447"/>
            <a:ext cx="622698" cy="427084"/>
          </a:xfrm>
          <a:prstGeom prst="line">
            <a:avLst/>
          </a:prstGeom>
          <a:ln w="19050"/>
        </p:spPr>
        <p:style>
          <a:lnRef idx="1">
            <a:schemeClr val="dk1"/>
          </a:lnRef>
          <a:fillRef idx="0">
            <a:schemeClr val="dk1"/>
          </a:fillRef>
          <a:effectRef idx="0">
            <a:schemeClr val="dk1"/>
          </a:effectRef>
          <a:fontRef idx="minor">
            <a:schemeClr val="tx1"/>
          </a:fontRef>
        </p:style>
      </p:cxnSp>
      <p:cxnSp>
        <p:nvCxnSpPr>
          <p:cNvPr id="51" name="Connecteur droit 50"/>
          <p:cNvCxnSpPr>
            <a:stCxn id="49" idx="0"/>
            <a:endCxn id="47" idx="2"/>
          </p:cNvCxnSpPr>
          <p:nvPr/>
        </p:nvCxnSpPr>
        <p:spPr>
          <a:xfrm flipH="1" flipV="1">
            <a:off x="8574165" y="5076447"/>
            <a:ext cx="1925718" cy="435100"/>
          </a:xfrm>
          <a:prstGeom prst="line">
            <a:avLst/>
          </a:prstGeom>
          <a:ln w="19050"/>
        </p:spPr>
        <p:style>
          <a:lnRef idx="1">
            <a:schemeClr val="dk1"/>
          </a:lnRef>
          <a:fillRef idx="0">
            <a:schemeClr val="dk1"/>
          </a:fillRef>
          <a:effectRef idx="0">
            <a:schemeClr val="dk1"/>
          </a:effectRef>
          <a:fontRef idx="minor">
            <a:schemeClr val="tx1"/>
          </a:fontRef>
        </p:style>
      </p:cxnSp>
      <p:cxnSp>
        <p:nvCxnSpPr>
          <p:cNvPr id="52" name="Connecteur droit avec flèche 51"/>
          <p:cNvCxnSpPr/>
          <p:nvPr/>
        </p:nvCxnSpPr>
        <p:spPr>
          <a:xfrm>
            <a:off x="8365330" y="5584880"/>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53" name="Connecteur droit avec flèche 52"/>
          <p:cNvCxnSpPr/>
          <p:nvPr/>
        </p:nvCxnSpPr>
        <p:spPr>
          <a:xfrm flipH="1">
            <a:off x="8365330" y="5723379"/>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54" name="Connecteur droit avec flèche 53"/>
          <p:cNvCxnSpPr/>
          <p:nvPr/>
        </p:nvCxnSpPr>
        <p:spPr>
          <a:xfrm>
            <a:off x="9683589" y="5584880"/>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55" name="Connecteur droit avec flèche 54"/>
          <p:cNvCxnSpPr/>
          <p:nvPr/>
        </p:nvCxnSpPr>
        <p:spPr>
          <a:xfrm flipH="1">
            <a:off x="9683589" y="5723379"/>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71" name="Connecteur droit avec flèche 70"/>
          <p:cNvCxnSpPr/>
          <p:nvPr/>
        </p:nvCxnSpPr>
        <p:spPr>
          <a:xfrm>
            <a:off x="4285765" y="5584881"/>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72" name="Connecteur droit avec flèche 71"/>
          <p:cNvCxnSpPr/>
          <p:nvPr/>
        </p:nvCxnSpPr>
        <p:spPr>
          <a:xfrm flipH="1">
            <a:off x="4285765" y="5723380"/>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78" name="ZoneTexte 77"/>
          <p:cNvSpPr txBox="1"/>
          <p:nvPr/>
        </p:nvSpPr>
        <p:spPr>
          <a:xfrm>
            <a:off x="5826998" y="3415548"/>
            <a:ext cx="2157963" cy="461665"/>
          </a:xfrm>
          <a:prstGeom prst="rect">
            <a:avLst/>
          </a:prstGeom>
          <a:noFill/>
        </p:spPr>
        <p:txBody>
          <a:bodyPr wrap="none" rtlCol="0">
            <a:spAutoFit/>
          </a:bodyPr>
          <a:lstStyle/>
          <a:p>
            <a:r>
              <a:rPr lang="en-US" altLang="zh-CN" sz="2400" b="1" dirty="0" smtClean="0">
                <a:solidFill>
                  <a:schemeClr val="accent2">
                    <a:lumMod val="50000"/>
                  </a:schemeClr>
                </a:solidFill>
              </a:rPr>
              <a:t>3</a:t>
            </a:r>
            <a:r>
              <a:rPr lang="zh-CN" altLang="en-US" sz="2400" b="1" dirty="0" smtClean="0">
                <a:solidFill>
                  <a:schemeClr val="accent2">
                    <a:lumMod val="50000"/>
                  </a:schemeClr>
                </a:solidFill>
              </a:rPr>
              <a:t>阶</a:t>
            </a:r>
            <a:r>
              <a:rPr lang="en-US" sz="2400" b="1" dirty="0" smtClean="0">
                <a:solidFill>
                  <a:schemeClr val="accent2">
                    <a:lumMod val="50000"/>
                  </a:schemeClr>
                </a:solidFill>
              </a:rPr>
              <a:t>B</a:t>
            </a:r>
            <a:r>
              <a:rPr lang="en-US" sz="2400" b="1" baseline="30000" dirty="0" smtClean="0">
                <a:solidFill>
                  <a:schemeClr val="accent2">
                    <a:lumMod val="50000"/>
                  </a:schemeClr>
                </a:solidFill>
              </a:rPr>
              <a:t>+</a:t>
            </a:r>
            <a:r>
              <a:rPr lang="zh-CN" altLang="en-US" sz="2400" b="1" dirty="0" smtClean="0">
                <a:solidFill>
                  <a:schemeClr val="accent2">
                    <a:lumMod val="50000"/>
                  </a:schemeClr>
                </a:solidFill>
              </a:rPr>
              <a:t>树</a:t>
            </a:r>
            <a:r>
              <a:rPr lang="zh-CN" altLang="en-US" sz="2400" b="1" dirty="0">
                <a:solidFill>
                  <a:schemeClr val="accent2">
                    <a:lumMod val="50000"/>
                  </a:schemeClr>
                </a:solidFill>
              </a:rPr>
              <a:t>删</a:t>
            </a:r>
            <a:r>
              <a:rPr lang="zh-CN" altLang="en-US" sz="2400" b="1" dirty="0" smtClean="0">
                <a:solidFill>
                  <a:schemeClr val="accent2">
                    <a:lumMod val="50000"/>
                  </a:schemeClr>
                </a:solidFill>
              </a:rPr>
              <a:t>除</a:t>
            </a:r>
            <a:r>
              <a:rPr lang="en-US" altLang="zh-CN" sz="2400" b="1" dirty="0" smtClean="0">
                <a:solidFill>
                  <a:schemeClr val="accent2">
                    <a:lumMod val="50000"/>
                  </a:schemeClr>
                </a:solidFill>
              </a:rPr>
              <a:t>75</a:t>
            </a:r>
            <a:endParaRPr lang="en-ZA" sz="2400" b="1" dirty="0">
              <a:solidFill>
                <a:schemeClr val="accent2">
                  <a:lumMod val="50000"/>
                </a:schemeClr>
              </a:solidFill>
            </a:endParaRPr>
          </a:p>
        </p:txBody>
      </p:sp>
      <p:sp>
        <p:nvSpPr>
          <p:cNvPr id="79" name="Espace réservé du numéro de diapositive 78"/>
          <p:cNvSpPr>
            <a:spLocks noGrp="1"/>
          </p:cNvSpPr>
          <p:nvPr>
            <p:ph type="sldNum" sz="quarter" idx="12"/>
          </p:nvPr>
        </p:nvSpPr>
        <p:spPr/>
        <p:txBody>
          <a:bodyPr/>
          <a:lstStyle/>
          <a:p>
            <a:fld id="{BBF3D8CE-58F1-40DD-970B-B96FBB2BDA32}" type="slidenum">
              <a:rPr lang="en-ZA" smtClean="0"/>
              <a:t>20</a:t>
            </a:fld>
            <a:endParaRPr lang="en-ZA"/>
          </a:p>
        </p:txBody>
      </p:sp>
    </p:spTree>
    <p:extLst>
      <p:ext uri="{BB962C8B-B14F-4D97-AF65-F5344CB8AC3E}">
        <p14:creationId xmlns:p14="http://schemas.microsoft.com/office/powerpoint/2010/main" val="35033599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Updating </a:t>
            </a:r>
            <a:r>
              <a:rPr lang="en-US" dirty="0" smtClean="0"/>
              <a:t>B</a:t>
            </a:r>
            <a:r>
              <a:rPr lang="en-US" baseline="30000" dirty="0" smtClean="0"/>
              <a:t>+</a:t>
            </a:r>
            <a:r>
              <a:rPr lang="en-US" dirty="0" smtClean="0"/>
              <a:t>-Tree </a:t>
            </a:r>
            <a:endParaRPr lang="en-ZA" dirty="0"/>
          </a:p>
        </p:txBody>
      </p:sp>
      <p:sp>
        <p:nvSpPr>
          <p:cNvPr id="3" name="Espace réservé du contenu 2"/>
          <p:cNvSpPr>
            <a:spLocks noGrp="1"/>
          </p:cNvSpPr>
          <p:nvPr>
            <p:ph idx="1"/>
          </p:nvPr>
        </p:nvSpPr>
        <p:spPr/>
        <p:txBody>
          <a:bodyPr/>
          <a:lstStyle/>
          <a:p>
            <a:r>
              <a:rPr lang="zh-CN" altLang="en-US" dirty="0" smtClean="0"/>
              <a:t>删除</a:t>
            </a:r>
            <a:endParaRPr lang="en-US" altLang="zh-CN" dirty="0" smtClean="0"/>
          </a:p>
          <a:p>
            <a:pPr lvl="1"/>
            <a:r>
              <a:rPr lang="zh-CN" altLang="en-US" dirty="0" smtClean="0"/>
              <a:t>当关键码下溢出时，与左或右兄弟进行调整（甚至合并）</a:t>
            </a:r>
            <a:endParaRPr lang="en-US" altLang="zh-CN" dirty="0" smtClean="0"/>
          </a:p>
          <a:p>
            <a:endParaRPr lang="en-ZA" dirty="0"/>
          </a:p>
        </p:txBody>
      </p:sp>
      <p:sp>
        <p:nvSpPr>
          <p:cNvPr id="6" name="Rectangle 5"/>
          <p:cNvSpPr/>
          <p:nvPr/>
        </p:nvSpPr>
        <p:spPr>
          <a:xfrm>
            <a:off x="4095749" y="4091986"/>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40 70 90</a:t>
            </a:r>
            <a:endParaRPr lang="en-ZA" b="1" dirty="0"/>
          </a:p>
        </p:txBody>
      </p:sp>
      <p:cxnSp>
        <p:nvCxnSpPr>
          <p:cNvPr id="8" name="Connecteur droit 7"/>
          <p:cNvCxnSpPr>
            <a:stCxn id="6" idx="2"/>
            <a:endCxn id="7" idx="0"/>
          </p:cNvCxnSpPr>
          <p:nvPr/>
        </p:nvCxnSpPr>
        <p:spPr>
          <a:xfrm flipH="1">
            <a:off x="3310889" y="4368985"/>
            <a:ext cx="1344930" cy="434026"/>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Connecteur droit 20"/>
          <p:cNvCxnSpPr>
            <a:stCxn id="6" idx="2"/>
            <a:endCxn id="29" idx="0"/>
          </p:cNvCxnSpPr>
          <p:nvPr/>
        </p:nvCxnSpPr>
        <p:spPr>
          <a:xfrm>
            <a:off x="4655819" y="4368985"/>
            <a:ext cx="1394460" cy="430463"/>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Connecteur droit 21"/>
          <p:cNvCxnSpPr>
            <a:stCxn id="6" idx="2"/>
            <a:endCxn id="47" idx="0"/>
          </p:cNvCxnSpPr>
          <p:nvPr/>
        </p:nvCxnSpPr>
        <p:spPr>
          <a:xfrm>
            <a:off x="4655819" y="4368985"/>
            <a:ext cx="3918346" cy="430463"/>
          </a:xfrm>
          <a:prstGeom prst="line">
            <a:avLst/>
          </a:prstGeom>
          <a:ln w="19050"/>
        </p:spPr>
        <p:style>
          <a:lnRef idx="1">
            <a:schemeClr val="dk1"/>
          </a:lnRef>
          <a:fillRef idx="0">
            <a:schemeClr val="dk1"/>
          </a:fillRef>
          <a:effectRef idx="0">
            <a:schemeClr val="dk1"/>
          </a:effectRef>
          <a:fontRef idx="minor">
            <a:schemeClr val="tx1"/>
          </a:fontRef>
        </p:style>
      </p:cxnSp>
      <p:sp>
        <p:nvSpPr>
          <p:cNvPr id="29" name="Rectangle 28"/>
          <p:cNvSpPr/>
          <p:nvPr/>
        </p:nvSpPr>
        <p:spPr>
          <a:xfrm>
            <a:off x="5490209" y="4799448"/>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5</a:t>
            </a:r>
            <a:r>
              <a:rPr lang="en-US" altLang="zh-CN" b="1" dirty="0" smtClean="0"/>
              <a:t>0 </a:t>
            </a:r>
            <a:r>
              <a:rPr lang="en-US" altLang="zh-CN" b="1" dirty="0"/>
              <a:t>6</a:t>
            </a:r>
            <a:r>
              <a:rPr lang="en-US" altLang="zh-CN" b="1" dirty="0" smtClean="0"/>
              <a:t>0 </a:t>
            </a:r>
            <a:r>
              <a:rPr lang="en-US" altLang="zh-CN" b="1" dirty="0"/>
              <a:t>7</a:t>
            </a:r>
            <a:r>
              <a:rPr lang="en-US" altLang="zh-CN" b="1" dirty="0" smtClean="0"/>
              <a:t>0</a:t>
            </a:r>
            <a:endParaRPr lang="en-ZA" b="1" dirty="0"/>
          </a:p>
        </p:txBody>
      </p:sp>
      <p:sp>
        <p:nvSpPr>
          <p:cNvPr id="30" name="Rectangle 29"/>
          <p:cNvSpPr/>
          <p:nvPr/>
        </p:nvSpPr>
        <p:spPr>
          <a:xfrm>
            <a:off x="4635574" y="5517434"/>
            <a:ext cx="1082994"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45 47 </a:t>
            </a:r>
            <a:r>
              <a:rPr lang="en-US" altLang="zh-CN" b="1" dirty="0"/>
              <a:t>5</a:t>
            </a:r>
            <a:r>
              <a:rPr lang="en-US" altLang="zh-CN" b="1" dirty="0" smtClean="0"/>
              <a:t>0</a:t>
            </a:r>
            <a:endParaRPr lang="en-ZA" b="1" dirty="0"/>
          </a:p>
        </p:txBody>
      </p:sp>
      <p:sp>
        <p:nvSpPr>
          <p:cNvPr id="31" name="Rectangle 30"/>
          <p:cNvSpPr/>
          <p:nvPr/>
        </p:nvSpPr>
        <p:spPr>
          <a:xfrm>
            <a:off x="6066231" y="5514036"/>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5</a:t>
            </a:r>
            <a:r>
              <a:rPr lang="en-US" altLang="zh-CN" b="1" dirty="0" smtClean="0"/>
              <a:t>5 </a:t>
            </a:r>
            <a:r>
              <a:rPr lang="en-US" altLang="zh-CN" b="1" dirty="0"/>
              <a:t>6</a:t>
            </a:r>
            <a:r>
              <a:rPr lang="en-US" altLang="zh-CN" b="1" dirty="0" smtClean="0"/>
              <a:t>0</a:t>
            </a:r>
            <a:endParaRPr lang="en-ZA" b="1" dirty="0"/>
          </a:p>
        </p:txBody>
      </p:sp>
      <p:sp>
        <p:nvSpPr>
          <p:cNvPr id="32" name="Rectangle 31"/>
          <p:cNvSpPr/>
          <p:nvPr/>
        </p:nvSpPr>
        <p:spPr>
          <a:xfrm>
            <a:off x="7369251" y="5522052"/>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6</a:t>
            </a:r>
            <a:r>
              <a:rPr lang="en-US" altLang="zh-CN" b="1" dirty="0" smtClean="0"/>
              <a:t>5 </a:t>
            </a:r>
            <a:r>
              <a:rPr lang="en-US" altLang="zh-CN" b="1" dirty="0"/>
              <a:t>7</a:t>
            </a:r>
            <a:r>
              <a:rPr lang="en-US" altLang="zh-CN" b="1" dirty="0" smtClean="0"/>
              <a:t>0</a:t>
            </a:r>
            <a:endParaRPr lang="en-ZA" b="1" dirty="0"/>
          </a:p>
        </p:txBody>
      </p:sp>
      <p:cxnSp>
        <p:nvCxnSpPr>
          <p:cNvPr id="33" name="Connecteur droit 32"/>
          <p:cNvCxnSpPr>
            <a:stCxn id="31" idx="0"/>
          </p:cNvCxnSpPr>
          <p:nvPr/>
        </p:nvCxnSpPr>
        <p:spPr>
          <a:xfrm flipH="1" flipV="1">
            <a:off x="5958839" y="5076447"/>
            <a:ext cx="591262" cy="437589"/>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Connecteur droit 33"/>
          <p:cNvCxnSpPr>
            <a:stCxn id="32" idx="0"/>
          </p:cNvCxnSpPr>
          <p:nvPr/>
        </p:nvCxnSpPr>
        <p:spPr>
          <a:xfrm flipH="1" flipV="1">
            <a:off x="5958839" y="5076447"/>
            <a:ext cx="1894282" cy="445605"/>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Connecteur droit avec flèche 34"/>
          <p:cNvCxnSpPr/>
          <p:nvPr/>
        </p:nvCxnSpPr>
        <p:spPr>
          <a:xfrm>
            <a:off x="5718568"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6" name="Connecteur droit avec flèche 35"/>
          <p:cNvCxnSpPr/>
          <p:nvPr/>
        </p:nvCxnSpPr>
        <p:spPr>
          <a:xfrm flipH="1">
            <a:off x="5718568"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7" name="Connecteur droit avec flèche 36"/>
          <p:cNvCxnSpPr/>
          <p:nvPr/>
        </p:nvCxnSpPr>
        <p:spPr>
          <a:xfrm>
            <a:off x="7036827"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8" name="Connecteur droit avec flèche 37"/>
          <p:cNvCxnSpPr/>
          <p:nvPr/>
        </p:nvCxnSpPr>
        <p:spPr>
          <a:xfrm flipH="1">
            <a:off x="7036827"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9" name="Connecteur droit 38"/>
          <p:cNvCxnSpPr>
            <a:stCxn id="30" idx="0"/>
          </p:cNvCxnSpPr>
          <p:nvPr/>
        </p:nvCxnSpPr>
        <p:spPr>
          <a:xfrm flipV="1">
            <a:off x="5177071" y="5076447"/>
            <a:ext cx="781768" cy="440987"/>
          </a:xfrm>
          <a:prstGeom prst="line">
            <a:avLst/>
          </a:prstGeom>
          <a:ln w="19050"/>
        </p:spPr>
        <p:style>
          <a:lnRef idx="1">
            <a:schemeClr val="dk1"/>
          </a:lnRef>
          <a:fillRef idx="0">
            <a:schemeClr val="dk1"/>
          </a:fillRef>
          <a:effectRef idx="0">
            <a:schemeClr val="dk1"/>
          </a:effectRef>
          <a:fontRef idx="minor">
            <a:schemeClr val="tx1"/>
          </a:fontRef>
        </p:style>
      </p:cxnSp>
      <p:sp>
        <p:nvSpPr>
          <p:cNvPr id="47" name="Rectangle 46"/>
          <p:cNvSpPr/>
          <p:nvPr/>
        </p:nvSpPr>
        <p:spPr>
          <a:xfrm>
            <a:off x="8014095" y="4799448"/>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80 90</a:t>
            </a:r>
            <a:endParaRPr lang="en-ZA" b="1" dirty="0"/>
          </a:p>
        </p:txBody>
      </p:sp>
      <p:sp>
        <p:nvSpPr>
          <p:cNvPr id="49" name="Rectangle 48"/>
          <p:cNvSpPr/>
          <p:nvPr/>
        </p:nvSpPr>
        <p:spPr>
          <a:xfrm>
            <a:off x="10016013" y="5511547"/>
            <a:ext cx="10439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80 85 90</a:t>
            </a:r>
            <a:endParaRPr lang="en-ZA" b="1" dirty="0"/>
          </a:p>
        </p:txBody>
      </p:sp>
      <p:cxnSp>
        <p:nvCxnSpPr>
          <p:cNvPr id="51" name="Connecteur droit 50"/>
          <p:cNvCxnSpPr>
            <a:stCxn id="49" idx="0"/>
            <a:endCxn id="47" idx="2"/>
          </p:cNvCxnSpPr>
          <p:nvPr/>
        </p:nvCxnSpPr>
        <p:spPr>
          <a:xfrm flipH="1" flipV="1">
            <a:off x="8574165" y="5076447"/>
            <a:ext cx="1925718" cy="435100"/>
          </a:xfrm>
          <a:prstGeom prst="line">
            <a:avLst/>
          </a:prstGeom>
          <a:ln w="19050"/>
        </p:spPr>
        <p:style>
          <a:lnRef idx="1">
            <a:schemeClr val="dk1"/>
          </a:lnRef>
          <a:fillRef idx="0">
            <a:schemeClr val="dk1"/>
          </a:fillRef>
          <a:effectRef idx="0">
            <a:schemeClr val="dk1"/>
          </a:effectRef>
          <a:fontRef idx="minor">
            <a:schemeClr val="tx1"/>
          </a:fontRef>
        </p:style>
      </p:cxnSp>
      <p:cxnSp>
        <p:nvCxnSpPr>
          <p:cNvPr id="54" name="Connecteur droit avec flèche 53"/>
          <p:cNvCxnSpPr/>
          <p:nvPr/>
        </p:nvCxnSpPr>
        <p:spPr>
          <a:xfrm>
            <a:off x="9683589" y="5584880"/>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55" name="Connecteur droit avec flèche 54"/>
          <p:cNvCxnSpPr/>
          <p:nvPr/>
        </p:nvCxnSpPr>
        <p:spPr>
          <a:xfrm flipH="1">
            <a:off x="9683589" y="5723379"/>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78" name="ZoneTexte 77"/>
          <p:cNvSpPr txBox="1"/>
          <p:nvPr/>
        </p:nvSpPr>
        <p:spPr>
          <a:xfrm>
            <a:off x="5826998" y="3415548"/>
            <a:ext cx="2157963" cy="461665"/>
          </a:xfrm>
          <a:prstGeom prst="rect">
            <a:avLst/>
          </a:prstGeom>
          <a:noFill/>
        </p:spPr>
        <p:txBody>
          <a:bodyPr wrap="none" rtlCol="0">
            <a:spAutoFit/>
          </a:bodyPr>
          <a:lstStyle/>
          <a:p>
            <a:r>
              <a:rPr lang="en-US" altLang="zh-CN" sz="2400" b="1" dirty="0" smtClean="0">
                <a:solidFill>
                  <a:schemeClr val="accent2">
                    <a:lumMod val="50000"/>
                  </a:schemeClr>
                </a:solidFill>
              </a:rPr>
              <a:t>3</a:t>
            </a:r>
            <a:r>
              <a:rPr lang="zh-CN" altLang="en-US" sz="2400" b="1" dirty="0" smtClean="0">
                <a:solidFill>
                  <a:schemeClr val="accent2">
                    <a:lumMod val="50000"/>
                  </a:schemeClr>
                </a:solidFill>
              </a:rPr>
              <a:t>阶</a:t>
            </a:r>
            <a:r>
              <a:rPr lang="en-US" sz="2400" b="1" dirty="0" smtClean="0">
                <a:solidFill>
                  <a:schemeClr val="accent2">
                    <a:lumMod val="50000"/>
                  </a:schemeClr>
                </a:solidFill>
              </a:rPr>
              <a:t>B</a:t>
            </a:r>
            <a:r>
              <a:rPr lang="en-US" sz="2400" b="1" baseline="30000" dirty="0" smtClean="0">
                <a:solidFill>
                  <a:schemeClr val="accent2">
                    <a:lumMod val="50000"/>
                  </a:schemeClr>
                </a:solidFill>
              </a:rPr>
              <a:t>+</a:t>
            </a:r>
            <a:r>
              <a:rPr lang="zh-CN" altLang="en-US" sz="2400" b="1" dirty="0" smtClean="0">
                <a:solidFill>
                  <a:schemeClr val="accent2">
                    <a:lumMod val="50000"/>
                  </a:schemeClr>
                </a:solidFill>
              </a:rPr>
              <a:t>树</a:t>
            </a:r>
            <a:r>
              <a:rPr lang="zh-CN" altLang="en-US" sz="2400" b="1" dirty="0">
                <a:solidFill>
                  <a:schemeClr val="accent2">
                    <a:lumMod val="50000"/>
                  </a:schemeClr>
                </a:solidFill>
              </a:rPr>
              <a:t>删</a:t>
            </a:r>
            <a:r>
              <a:rPr lang="zh-CN" altLang="en-US" sz="2400" b="1" dirty="0" smtClean="0">
                <a:solidFill>
                  <a:schemeClr val="accent2">
                    <a:lumMod val="50000"/>
                  </a:schemeClr>
                </a:solidFill>
              </a:rPr>
              <a:t>除</a:t>
            </a:r>
            <a:r>
              <a:rPr lang="en-US" altLang="zh-CN" sz="2400" b="1" dirty="0" smtClean="0">
                <a:solidFill>
                  <a:schemeClr val="accent2">
                    <a:lumMod val="50000"/>
                  </a:schemeClr>
                </a:solidFill>
              </a:rPr>
              <a:t>75</a:t>
            </a:r>
            <a:endParaRPr lang="en-ZA" sz="2400" b="1" dirty="0">
              <a:solidFill>
                <a:schemeClr val="accent2">
                  <a:lumMod val="50000"/>
                </a:schemeClr>
              </a:solidFill>
            </a:endParaRPr>
          </a:p>
        </p:txBody>
      </p:sp>
      <p:sp>
        <p:nvSpPr>
          <p:cNvPr id="43" name="ZoneTexte 42"/>
          <p:cNvSpPr txBox="1"/>
          <p:nvPr/>
        </p:nvSpPr>
        <p:spPr>
          <a:xfrm>
            <a:off x="2903988" y="4937947"/>
            <a:ext cx="404278" cy="461665"/>
          </a:xfrm>
          <a:prstGeom prst="rect">
            <a:avLst/>
          </a:prstGeom>
          <a:noFill/>
        </p:spPr>
        <p:txBody>
          <a:bodyPr wrap="none" rtlCol="0">
            <a:spAutoFit/>
          </a:bodyPr>
          <a:lstStyle/>
          <a:p>
            <a:r>
              <a:rPr lang="en-US" sz="2400" b="1" dirty="0" smtClean="0"/>
              <a:t>…</a:t>
            </a:r>
            <a:endParaRPr lang="en-ZA" sz="2400" b="1"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21</a:t>
            </a:fld>
            <a:endParaRPr lang="en-ZA"/>
          </a:p>
        </p:txBody>
      </p:sp>
    </p:spTree>
    <p:extLst>
      <p:ext uri="{BB962C8B-B14F-4D97-AF65-F5344CB8AC3E}">
        <p14:creationId xmlns:p14="http://schemas.microsoft.com/office/powerpoint/2010/main" val="12309883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Updating </a:t>
            </a:r>
            <a:r>
              <a:rPr lang="en-US" dirty="0" smtClean="0"/>
              <a:t>B</a:t>
            </a:r>
            <a:r>
              <a:rPr lang="en-US" baseline="30000" dirty="0" smtClean="0"/>
              <a:t>+</a:t>
            </a:r>
            <a:r>
              <a:rPr lang="en-US" dirty="0" smtClean="0"/>
              <a:t>-Tree </a:t>
            </a:r>
            <a:endParaRPr lang="en-ZA" dirty="0"/>
          </a:p>
        </p:txBody>
      </p:sp>
      <p:sp>
        <p:nvSpPr>
          <p:cNvPr id="3" name="Espace réservé du contenu 2"/>
          <p:cNvSpPr>
            <a:spLocks noGrp="1"/>
          </p:cNvSpPr>
          <p:nvPr>
            <p:ph idx="1"/>
          </p:nvPr>
        </p:nvSpPr>
        <p:spPr/>
        <p:txBody>
          <a:bodyPr/>
          <a:lstStyle/>
          <a:p>
            <a:r>
              <a:rPr lang="zh-CN" altLang="en-US" dirty="0" smtClean="0"/>
              <a:t>删除</a:t>
            </a:r>
            <a:endParaRPr lang="en-US" altLang="zh-CN" dirty="0" smtClean="0"/>
          </a:p>
          <a:p>
            <a:pPr lvl="1"/>
            <a:r>
              <a:rPr lang="zh-CN" altLang="en-US" dirty="0" smtClean="0"/>
              <a:t>当关键码下溢出时，与左或右兄弟进行调整（甚至合并）</a:t>
            </a:r>
            <a:endParaRPr lang="en-US" altLang="zh-CN" dirty="0" smtClean="0"/>
          </a:p>
          <a:p>
            <a:endParaRPr lang="en-ZA" dirty="0"/>
          </a:p>
        </p:txBody>
      </p:sp>
      <p:sp>
        <p:nvSpPr>
          <p:cNvPr id="6" name="Rectangle 5"/>
          <p:cNvSpPr/>
          <p:nvPr/>
        </p:nvSpPr>
        <p:spPr>
          <a:xfrm>
            <a:off x="4095749" y="4091986"/>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40 70 90</a:t>
            </a:r>
            <a:endParaRPr lang="en-ZA" b="1" dirty="0"/>
          </a:p>
        </p:txBody>
      </p:sp>
      <p:cxnSp>
        <p:nvCxnSpPr>
          <p:cNvPr id="8" name="Connecteur droit 7"/>
          <p:cNvCxnSpPr>
            <a:stCxn id="6" idx="2"/>
            <a:endCxn id="7" idx="0"/>
          </p:cNvCxnSpPr>
          <p:nvPr/>
        </p:nvCxnSpPr>
        <p:spPr>
          <a:xfrm flipH="1">
            <a:off x="3310889" y="4368985"/>
            <a:ext cx="1344930" cy="434026"/>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Connecteur droit 20"/>
          <p:cNvCxnSpPr>
            <a:stCxn id="6" idx="2"/>
            <a:endCxn id="29" idx="0"/>
          </p:cNvCxnSpPr>
          <p:nvPr/>
        </p:nvCxnSpPr>
        <p:spPr>
          <a:xfrm>
            <a:off x="4655819" y="4368985"/>
            <a:ext cx="1394460" cy="430463"/>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Connecteur droit 21"/>
          <p:cNvCxnSpPr>
            <a:stCxn id="6" idx="2"/>
            <a:endCxn id="47" idx="0"/>
          </p:cNvCxnSpPr>
          <p:nvPr/>
        </p:nvCxnSpPr>
        <p:spPr>
          <a:xfrm>
            <a:off x="4655819" y="4368985"/>
            <a:ext cx="3918346" cy="430463"/>
          </a:xfrm>
          <a:prstGeom prst="line">
            <a:avLst/>
          </a:prstGeom>
          <a:ln w="19050"/>
        </p:spPr>
        <p:style>
          <a:lnRef idx="1">
            <a:schemeClr val="dk1"/>
          </a:lnRef>
          <a:fillRef idx="0">
            <a:schemeClr val="dk1"/>
          </a:fillRef>
          <a:effectRef idx="0">
            <a:schemeClr val="dk1"/>
          </a:effectRef>
          <a:fontRef idx="minor">
            <a:schemeClr val="tx1"/>
          </a:fontRef>
        </p:style>
      </p:cxnSp>
      <p:sp>
        <p:nvSpPr>
          <p:cNvPr id="29" name="Rectangle 28"/>
          <p:cNvSpPr/>
          <p:nvPr/>
        </p:nvSpPr>
        <p:spPr>
          <a:xfrm>
            <a:off x="5490209" y="4799448"/>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5</a:t>
            </a:r>
            <a:r>
              <a:rPr lang="en-US" altLang="zh-CN" b="1" dirty="0" smtClean="0"/>
              <a:t>0 </a:t>
            </a:r>
            <a:r>
              <a:rPr lang="en-US" altLang="zh-CN" b="1" dirty="0"/>
              <a:t>6</a:t>
            </a:r>
            <a:r>
              <a:rPr lang="en-US" altLang="zh-CN" b="1" dirty="0" smtClean="0"/>
              <a:t>0 </a:t>
            </a:r>
            <a:r>
              <a:rPr lang="en-US" altLang="zh-CN" b="1" dirty="0"/>
              <a:t>7</a:t>
            </a:r>
            <a:r>
              <a:rPr lang="en-US" altLang="zh-CN" b="1" dirty="0" smtClean="0"/>
              <a:t>0</a:t>
            </a:r>
            <a:endParaRPr lang="en-ZA" b="1" dirty="0"/>
          </a:p>
        </p:txBody>
      </p:sp>
      <p:sp>
        <p:nvSpPr>
          <p:cNvPr id="30" name="Rectangle 29"/>
          <p:cNvSpPr/>
          <p:nvPr/>
        </p:nvSpPr>
        <p:spPr>
          <a:xfrm>
            <a:off x="4635574" y="5517434"/>
            <a:ext cx="1082994"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45 47 </a:t>
            </a:r>
            <a:r>
              <a:rPr lang="en-US" altLang="zh-CN" b="1" dirty="0"/>
              <a:t>5</a:t>
            </a:r>
            <a:r>
              <a:rPr lang="en-US" altLang="zh-CN" b="1" dirty="0" smtClean="0"/>
              <a:t>0</a:t>
            </a:r>
            <a:endParaRPr lang="en-ZA" b="1" dirty="0"/>
          </a:p>
        </p:txBody>
      </p:sp>
      <p:sp>
        <p:nvSpPr>
          <p:cNvPr id="31" name="Rectangle 30"/>
          <p:cNvSpPr/>
          <p:nvPr/>
        </p:nvSpPr>
        <p:spPr>
          <a:xfrm>
            <a:off x="6066231" y="5514036"/>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5</a:t>
            </a:r>
            <a:r>
              <a:rPr lang="en-US" altLang="zh-CN" b="1" dirty="0" smtClean="0"/>
              <a:t>5 </a:t>
            </a:r>
            <a:r>
              <a:rPr lang="en-US" altLang="zh-CN" b="1" dirty="0"/>
              <a:t>6</a:t>
            </a:r>
            <a:r>
              <a:rPr lang="en-US" altLang="zh-CN" b="1" dirty="0" smtClean="0"/>
              <a:t>0</a:t>
            </a:r>
            <a:endParaRPr lang="en-ZA" b="1" dirty="0"/>
          </a:p>
        </p:txBody>
      </p:sp>
      <p:sp>
        <p:nvSpPr>
          <p:cNvPr id="32" name="Rectangle 31"/>
          <p:cNvSpPr/>
          <p:nvPr/>
        </p:nvSpPr>
        <p:spPr>
          <a:xfrm>
            <a:off x="7369251" y="5522052"/>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6</a:t>
            </a:r>
            <a:r>
              <a:rPr lang="en-US" altLang="zh-CN" b="1" dirty="0" smtClean="0"/>
              <a:t>5 </a:t>
            </a:r>
            <a:r>
              <a:rPr lang="en-US" altLang="zh-CN" b="1" dirty="0"/>
              <a:t>7</a:t>
            </a:r>
            <a:r>
              <a:rPr lang="en-US" altLang="zh-CN" b="1" dirty="0" smtClean="0"/>
              <a:t>0</a:t>
            </a:r>
            <a:endParaRPr lang="en-ZA" b="1" dirty="0"/>
          </a:p>
        </p:txBody>
      </p:sp>
      <p:cxnSp>
        <p:nvCxnSpPr>
          <p:cNvPr id="33" name="Connecteur droit 32"/>
          <p:cNvCxnSpPr>
            <a:stCxn id="31" idx="0"/>
          </p:cNvCxnSpPr>
          <p:nvPr/>
        </p:nvCxnSpPr>
        <p:spPr>
          <a:xfrm flipH="1" flipV="1">
            <a:off x="5958839" y="5076447"/>
            <a:ext cx="591262" cy="437589"/>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Connecteur droit 33"/>
          <p:cNvCxnSpPr>
            <a:stCxn id="32" idx="0"/>
          </p:cNvCxnSpPr>
          <p:nvPr/>
        </p:nvCxnSpPr>
        <p:spPr>
          <a:xfrm flipH="1" flipV="1">
            <a:off x="5958839" y="5076447"/>
            <a:ext cx="1894282" cy="445605"/>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Connecteur droit avec flèche 34"/>
          <p:cNvCxnSpPr/>
          <p:nvPr/>
        </p:nvCxnSpPr>
        <p:spPr>
          <a:xfrm>
            <a:off x="5718568"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6" name="Connecteur droit avec flèche 35"/>
          <p:cNvCxnSpPr/>
          <p:nvPr/>
        </p:nvCxnSpPr>
        <p:spPr>
          <a:xfrm flipH="1">
            <a:off x="5718568"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7" name="Connecteur droit avec flèche 36"/>
          <p:cNvCxnSpPr/>
          <p:nvPr/>
        </p:nvCxnSpPr>
        <p:spPr>
          <a:xfrm>
            <a:off x="7036827"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8" name="Connecteur droit avec flèche 37"/>
          <p:cNvCxnSpPr/>
          <p:nvPr/>
        </p:nvCxnSpPr>
        <p:spPr>
          <a:xfrm flipH="1">
            <a:off x="7036827"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9" name="Connecteur droit 38"/>
          <p:cNvCxnSpPr>
            <a:stCxn id="30" idx="0"/>
          </p:cNvCxnSpPr>
          <p:nvPr/>
        </p:nvCxnSpPr>
        <p:spPr>
          <a:xfrm flipV="1">
            <a:off x="5177071" y="5076447"/>
            <a:ext cx="781768" cy="440987"/>
          </a:xfrm>
          <a:prstGeom prst="line">
            <a:avLst/>
          </a:prstGeom>
          <a:ln w="19050"/>
        </p:spPr>
        <p:style>
          <a:lnRef idx="1">
            <a:schemeClr val="dk1"/>
          </a:lnRef>
          <a:fillRef idx="0">
            <a:schemeClr val="dk1"/>
          </a:fillRef>
          <a:effectRef idx="0">
            <a:schemeClr val="dk1"/>
          </a:effectRef>
          <a:fontRef idx="minor">
            <a:schemeClr val="tx1"/>
          </a:fontRef>
        </p:style>
      </p:cxnSp>
      <p:sp>
        <p:nvSpPr>
          <p:cNvPr id="47" name="Rectangle 46"/>
          <p:cNvSpPr/>
          <p:nvPr/>
        </p:nvSpPr>
        <p:spPr>
          <a:xfrm>
            <a:off x="8093391" y="4799448"/>
            <a:ext cx="1040843"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90</a:t>
            </a:r>
            <a:endParaRPr lang="en-ZA" b="1" dirty="0"/>
          </a:p>
        </p:txBody>
      </p:sp>
      <p:sp>
        <p:nvSpPr>
          <p:cNvPr id="49" name="Rectangle 48"/>
          <p:cNvSpPr/>
          <p:nvPr/>
        </p:nvSpPr>
        <p:spPr>
          <a:xfrm>
            <a:off x="10016013" y="5511547"/>
            <a:ext cx="10439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80 85 90</a:t>
            </a:r>
            <a:endParaRPr lang="en-ZA" b="1" dirty="0"/>
          </a:p>
        </p:txBody>
      </p:sp>
      <p:cxnSp>
        <p:nvCxnSpPr>
          <p:cNvPr id="51" name="Connecteur droit 50"/>
          <p:cNvCxnSpPr>
            <a:stCxn id="49" idx="0"/>
            <a:endCxn id="47" idx="2"/>
          </p:cNvCxnSpPr>
          <p:nvPr/>
        </p:nvCxnSpPr>
        <p:spPr>
          <a:xfrm flipH="1" flipV="1">
            <a:off x="8574165" y="5076447"/>
            <a:ext cx="1925718" cy="435100"/>
          </a:xfrm>
          <a:prstGeom prst="line">
            <a:avLst/>
          </a:prstGeom>
          <a:ln w="19050"/>
        </p:spPr>
        <p:style>
          <a:lnRef idx="1">
            <a:schemeClr val="dk1"/>
          </a:lnRef>
          <a:fillRef idx="0">
            <a:schemeClr val="dk1"/>
          </a:fillRef>
          <a:effectRef idx="0">
            <a:schemeClr val="dk1"/>
          </a:effectRef>
          <a:fontRef idx="minor">
            <a:schemeClr val="tx1"/>
          </a:fontRef>
        </p:style>
      </p:cxnSp>
      <p:cxnSp>
        <p:nvCxnSpPr>
          <p:cNvPr id="54" name="Connecteur droit avec flèche 53"/>
          <p:cNvCxnSpPr/>
          <p:nvPr/>
        </p:nvCxnSpPr>
        <p:spPr>
          <a:xfrm>
            <a:off x="9683589" y="5584880"/>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55" name="Connecteur droit avec flèche 54"/>
          <p:cNvCxnSpPr/>
          <p:nvPr/>
        </p:nvCxnSpPr>
        <p:spPr>
          <a:xfrm flipH="1">
            <a:off x="9683589" y="5723379"/>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78" name="ZoneTexte 77"/>
          <p:cNvSpPr txBox="1"/>
          <p:nvPr/>
        </p:nvSpPr>
        <p:spPr>
          <a:xfrm>
            <a:off x="5826998" y="3415548"/>
            <a:ext cx="2157963" cy="461665"/>
          </a:xfrm>
          <a:prstGeom prst="rect">
            <a:avLst/>
          </a:prstGeom>
          <a:noFill/>
        </p:spPr>
        <p:txBody>
          <a:bodyPr wrap="none" rtlCol="0">
            <a:spAutoFit/>
          </a:bodyPr>
          <a:lstStyle/>
          <a:p>
            <a:r>
              <a:rPr lang="en-US" altLang="zh-CN" sz="2400" b="1" dirty="0" smtClean="0">
                <a:solidFill>
                  <a:schemeClr val="accent2">
                    <a:lumMod val="50000"/>
                  </a:schemeClr>
                </a:solidFill>
              </a:rPr>
              <a:t>3</a:t>
            </a:r>
            <a:r>
              <a:rPr lang="zh-CN" altLang="en-US" sz="2400" b="1" dirty="0" smtClean="0">
                <a:solidFill>
                  <a:schemeClr val="accent2">
                    <a:lumMod val="50000"/>
                  </a:schemeClr>
                </a:solidFill>
              </a:rPr>
              <a:t>阶</a:t>
            </a:r>
            <a:r>
              <a:rPr lang="en-US" sz="2400" b="1" dirty="0" smtClean="0">
                <a:solidFill>
                  <a:schemeClr val="accent2">
                    <a:lumMod val="50000"/>
                  </a:schemeClr>
                </a:solidFill>
              </a:rPr>
              <a:t>B</a:t>
            </a:r>
            <a:r>
              <a:rPr lang="en-US" sz="2400" b="1" baseline="30000" dirty="0" smtClean="0">
                <a:solidFill>
                  <a:schemeClr val="accent2">
                    <a:lumMod val="50000"/>
                  </a:schemeClr>
                </a:solidFill>
              </a:rPr>
              <a:t>+</a:t>
            </a:r>
            <a:r>
              <a:rPr lang="zh-CN" altLang="en-US" sz="2400" b="1" dirty="0" smtClean="0">
                <a:solidFill>
                  <a:schemeClr val="accent2">
                    <a:lumMod val="50000"/>
                  </a:schemeClr>
                </a:solidFill>
              </a:rPr>
              <a:t>树</a:t>
            </a:r>
            <a:r>
              <a:rPr lang="zh-CN" altLang="en-US" sz="2400" b="1" dirty="0">
                <a:solidFill>
                  <a:schemeClr val="accent2">
                    <a:lumMod val="50000"/>
                  </a:schemeClr>
                </a:solidFill>
              </a:rPr>
              <a:t>删</a:t>
            </a:r>
            <a:r>
              <a:rPr lang="zh-CN" altLang="en-US" sz="2400" b="1" dirty="0" smtClean="0">
                <a:solidFill>
                  <a:schemeClr val="accent2">
                    <a:lumMod val="50000"/>
                  </a:schemeClr>
                </a:solidFill>
              </a:rPr>
              <a:t>除</a:t>
            </a:r>
            <a:r>
              <a:rPr lang="en-US" altLang="zh-CN" sz="2400" b="1" dirty="0" smtClean="0">
                <a:solidFill>
                  <a:schemeClr val="accent2">
                    <a:lumMod val="50000"/>
                  </a:schemeClr>
                </a:solidFill>
              </a:rPr>
              <a:t>75</a:t>
            </a:r>
            <a:endParaRPr lang="en-ZA" sz="2400" b="1" dirty="0">
              <a:solidFill>
                <a:schemeClr val="accent2">
                  <a:lumMod val="50000"/>
                </a:schemeClr>
              </a:solidFill>
            </a:endParaRPr>
          </a:p>
        </p:txBody>
      </p:sp>
      <p:sp>
        <p:nvSpPr>
          <p:cNvPr id="43" name="ZoneTexte 42"/>
          <p:cNvSpPr txBox="1"/>
          <p:nvPr/>
        </p:nvSpPr>
        <p:spPr>
          <a:xfrm>
            <a:off x="2903988" y="4937947"/>
            <a:ext cx="404278" cy="461665"/>
          </a:xfrm>
          <a:prstGeom prst="rect">
            <a:avLst/>
          </a:prstGeom>
          <a:noFill/>
        </p:spPr>
        <p:txBody>
          <a:bodyPr wrap="none" rtlCol="0">
            <a:spAutoFit/>
          </a:bodyPr>
          <a:lstStyle/>
          <a:p>
            <a:r>
              <a:rPr lang="en-US" sz="2400" b="1" dirty="0" smtClean="0"/>
              <a:t>…</a:t>
            </a:r>
            <a:endParaRPr lang="en-ZA" sz="2400" b="1"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22</a:t>
            </a:fld>
            <a:endParaRPr lang="en-ZA"/>
          </a:p>
        </p:txBody>
      </p:sp>
    </p:spTree>
    <p:extLst>
      <p:ext uri="{BB962C8B-B14F-4D97-AF65-F5344CB8AC3E}">
        <p14:creationId xmlns:p14="http://schemas.microsoft.com/office/powerpoint/2010/main" val="30532563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smtClean="0"/>
              <a:t>Updating </a:t>
            </a:r>
            <a:r>
              <a:rPr lang="en-US" dirty="0" smtClean="0"/>
              <a:t>B</a:t>
            </a:r>
            <a:r>
              <a:rPr lang="en-US" baseline="30000" dirty="0" smtClean="0"/>
              <a:t>+</a:t>
            </a:r>
            <a:r>
              <a:rPr lang="en-US" dirty="0" smtClean="0"/>
              <a:t>-Tree </a:t>
            </a:r>
            <a:endParaRPr lang="en-ZA" dirty="0"/>
          </a:p>
        </p:txBody>
      </p:sp>
      <p:sp>
        <p:nvSpPr>
          <p:cNvPr id="3" name="Espace réservé du contenu 2"/>
          <p:cNvSpPr>
            <a:spLocks noGrp="1"/>
          </p:cNvSpPr>
          <p:nvPr>
            <p:ph idx="1"/>
          </p:nvPr>
        </p:nvSpPr>
        <p:spPr/>
        <p:txBody>
          <a:bodyPr/>
          <a:lstStyle/>
          <a:p>
            <a:r>
              <a:rPr lang="zh-CN" altLang="en-US" dirty="0" smtClean="0"/>
              <a:t>删除</a:t>
            </a:r>
            <a:endParaRPr lang="en-US" altLang="zh-CN" dirty="0" smtClean="0"/>
          </a:p>
          <a:p>
            <a:pPr lvl="1"/>
            <a:r>
              <a:rPr lang="zh-CN" altLang="en-US" dirty="0" smtClean="0"/>
              <a:t>当关键码下溢出时，与左或右兄弟进行调整（甚至合并）</a:t>
            </a:r>
            <a:endParaRPr lang="en-US" altLang="zh-CN" dirty="0" smtClean="0"/>
          </a:p>
          <a:p>
            <a:endParaRPr lang="en-ZA" dirty="0"/>
          </a:p>
        </p:txBody>
      </p:sp>
      <p:sp>
        <p:nvSpPr>
          <p:cNvPr id="6" name="Rectangle 5"/>
          <p:cNvSpPr/>
          <p:nvPr/>
        </p:nvSpPr>
        <p:spPr>
          <a:xfrm>
            <a:off x="4095749" y="4091986"/>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40 60 90</a:t>
            </a:r>
            <a:endParaRPr lang="en-ZA" b="1" dirty="0"/>
          </a:p>
        </p:txBody>
      </p:sp>
      <p:cxnSp>
        <p:nvCxnSpPr>
          <p:cNvPr id="8" name="Connecteur droit 7"/>
          <p:cNvCxnSpPr>
            <a:stCxn id="6" idx="2"/>
            <a:endCxn id="7" idx="0"/>
          </p:cNvCxnSpPr>
          <p:nvPr/>
        </p:nvCxnSpPr>
        <p:spPr>
          <a:xfrm flipH="1">
            <a:off x="3310889" y="4368985"/>
            <a:ext cx="1344930" cy="434026"/>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Connecteur droit 20"/>
          <p:cNvCxnSpPr>
            <a:stCxn id="6" idx="2"/>
            <a:endCxn id="29" idx="0"/>
          </p:cNvCxnSpPr>
          <p:nvPr/>
        </p:nvCxnSpPr>
        <p:spPr>
          <a:xfrm>
            <a:off x="4655819" y="4368985"/>
            <a:ext cx="1394460" cy="430463"/>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Connecteur droit 21"/>
          <p:cNvCxnSpPr>
            <a:stCxn id="6" idx="2"/>
            <a:endCxn id="47" idx="0"/>
          </p:cNvCxnSpPr>
          <p:nvPr/>
        </p:nvCxnSpPr>
        <p:spPr>
          <a:xfrm>
            <a:off x="4655819" y="4368985"/>
            <a:ext cx="3918346" cy="430463"/>
          </a:xfrm>
          <a:prstGeom prst="line">
            <a:avLst/>
          </a:prstGeom>
          <a:ln w="19050"/>
        </p:spPr>
        <p:style>
          <a:lnRef idx="1">
            <a:schemeClr val="dk1"/>
          </a:lnRef>
          <a:fillRef idx="0">
            <a:schemeClr val="dk1"/>
          </a:fillRef>
          <a:effectRef idx="0">
            <a:schemeClr val="dk1"/>
          </a:effectRef>
          <a:fontRef idx="minor">
            <a:schemeClr val="tx1"/>
          </a:fontRef>
        </p:style>
      </p:cxnSp>
      <p:sp>
        <p:nvSpPr>
          <p:cNvPr id="29" name="Rectangle 28"/>
          <p:cNvSpPr/>
          <p:nvPr/>
        </p:nvSpPr>
        <p:spPr>
          <a:xfrm>
            <a:off x="5490209" y="4799448"/>
            <a:ext cx="11201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5</a:t>
            </a:r>
            <a:r>
              <a:rPr lang="en-US" altLang="zh-CN" b="1" dirty="0" smtClean="0"/>
              <a:t>0 </a:t>
            </a:r>
            <a:r>
              <a:rPr lang="en-US" altLang="zh-CN" b="1" dirty="0"/>
              <a:t>6</a:t>
            </a:r>
            <a:r>
              <a:rPr lang="en-US" altLang="zh-CN" b="1" dirty="0" smtClean="0"/>
              <a:t>0 </a:t>
            </a:r>
            <a:endParaRPr lang="en-ZA" b="1" dirty="0"/>
          </a:p>
        </p:txBody>
      </p:sp>
      <p:sp>
        <p:nvSpPr>
          <p:cNvPr id="30" name="Rectangle 29"/>
          <p:cNvSpPr/>
          <p:nvPr/>
        </p:nvSpPr>
        <p:spPr>
          <a:xfrm>
            <a:off x="4635574" y="5517434"/>
            <a:ext cx="1082994"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45 47 </a:t>
            </a:r>
            <a:r>
              <a:rPr lang="en-US" altLang="zh-CN" b="1" dirty="0"/>
              <a:t>5</a:t>
            </a:r>
            <a:r>
              <a:rPr lang="en-US" altLang="zh-CN" b="1" dirty="0" smtClean="0"/>
              <a:t>0</a:t>
            </a:r>
            <a:endParaRPr lang="en-ZA" b="1" dirty="0"/>
          </a:p>
        </p:txBody>
      </p:sp>
      <p:sp>
        <p:nvSpPr>
          <p:cNvPr id="31" name="Rectangle 30"/>
          <p:cNvSpPr/>
          <p:nvPr/>
        </p:nvSpPr>
        <p:spPr>
          <a:xfrm>
            <a:off x="6066231" y="5514036"/>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5</a:t>
            </a:r>
            <a:r>
              <a:rPr lang="en-US" altLang="zh-CN" b="1" dirty="0" smtClean="0"/>
              <a:t>5 </a:t>
            </a:r>
            <a:r>
              <a:rPr lang="en-US" altLang="zh-CN" b="1" dirty="0"/>
              <a:t>6</a:t>
            </a:r>
            <a:r>
              <a:rPr lang="en-US" altLang="zh-CN" b="1" dirty="0" smtClean="0"/>
              <a:t>0</a:t>
            </a:r>
            <a:endParaRPr lang="en-ZA" b="1" dirty="0"/>
          </a:p>
        </p:txBody>
      </p:sp>
      <p:sp>
        <p:nvSpPr>
          <p:cNvPr id="32" name="Rectangle 31"/>
          <p:cNvSpPr/>
          <p:nvPr/>
        </p:nvSpPr>
        <p:spPr>
          <a:xfrm>
            <a:off x="7369251" y="5522052"/>
            <a:ext cx="9677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t>6</a:t>
            </a:r>
            <a:r>
              <a:rPr lang="en-US" altLang="zh-CN" b="1" dirty="0" smtClean="0"/>
              <a:t>5 </a:t>
            </a:r>
            <a:r>
              <a:rPr lang="en-US" altLang="zh-CN" b="1" dirty="0"/>
              <a:t>7</a:t>
            </a:r>
            <a:r>
              <a:rPr lang="en-US" altLang="zh-CN" b="1" dirty="0" smtClean="0"/>
              <a:t>0</a:t>
            </a:r>
            <a:endParaRPr lang="en-ZA" b="1" dirty="0"/>
          </a:p>
        </p:txBody>
      </p:sp>
      <p:cxnSp>
        <p:nvCxnSpPr>
          <p:cNvPr id="33" name="Connecteur droit 32"/>
          <p:cNvCxnSpPr>
            <a:stCxn id="31" idx="0"/>
          </p:cNvCxnSpPr>
          <p:nvPr/>
        </p:nvCxnSpPr>
        <p:spPr>
          <a:xfrm flipH="1" flipV="1">
            <a:off x="5958839" y="5076447"/>
            <a:ext cx="591262" cy="437589"/>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Connecteur droit 33"/>
          <p:cNvCxnSpPr>
            <a:stCxn id="32" idx="0"/>
            <a:endCxn id="47" idx="2"/>
          </p:cNvCxnSpPr>
          <p:nvPr/>
        </p:nvCxnSpPr>
        <p:spPr>
          <a:xfrm flipV="1">
            <a:off x="7853121" y="5076447"/>
            <a:ext cx="760692" cy="445605"/>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Connecteur droit avec flèche 34"/>
          <p:cNvCxnSpPr/>
          <p:nvPr/>
        </p:nvCxnSpPr>
        <p:spPr>
          <a:xfrm>
            <a:off x="5718568"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6" name="Connecteur droit avec flèche 35"/>
          <p:cNvCxnSpPr/>
          <p:nvPr/>
        </p:nvCxnSpPr>
        <p:spPr>
          <a:xfrm flipH="1">
            <a:off x="5718568"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7" name="Connecteur droit avec flèche 36"/>
          <p:cNvCxnSpPr/>
          <p:nvPr/>
        </p:nvCxnSpPr>
        <p:spPr>
          <a:xfrm>
            <a:off x="7036827" y="5595385"/>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8" name="Connecteur droit avec flèche 37"/>
          <p:cNvCxnSpPr/>
          <p:nvPr/>
        </p:nvCxnSpPr>
        <p:spPr>
          <a:xfrm flipH="1">
            <a:off x="7036827" y="5733884"/>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39" name="Connecteur droit 38"/>
          <p:cNvCxnSpPr>
            <a:stCxn id="30" idx="0"/>
          </p:cNvCxnSpPr>
          <p:nvPr/>
        </p:nvCxnSpPr>
        <p:spPr>
          <a:xfrm flipV="1">
            <a:off x="5177071" y="5076447"/>
            <a:ext cx="781768" cy="440987"/>
          </a:xfrm>
          <a:prstGeom prst="line">
            <a:avLst/>
          </a:prstGeom>
          <a:ln w="19050"/>
        </p:spPr>
        <p:style>
          <a:lnRef idx="1">
            <a:schemeClr val="dk1"/>
          </a:lnRef>
          <a:fillRef idx="0">
            <a:schemeClr val="dk1"/>
          </a:fillRef>
          <a:effectRef idx="0">
            <a:schemeClr val="dk1"/>
          </a:effectRef>
          <a:fontRef idx="minor">
            <a:schemeClr val="tx1"/>
          </a:fontRef>
        </p:style>
      </p:cxnSp>
      <p:sp>
        <p:nvSpPr>
          <p:cNvPr id="47" name="Rectangle 46"/>
          <p:cNvSpPr/>
          <p:nvPr/>
        </p:nvSpPr>
        <p:spPr>
          <a:xfrm>
            <a:off x="8093391" y="4799448"/>
            <a:ext cx="1040843"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70 90</a:t>
            </a:r>
            <a:endParaRPr lang="en-ZA" b="1" dirty="0"/>
          </a:p>
        </p:txBody>
      </p:sp>
      <p:sp>
        <p:nvSpPr>
          <p:cNvPr id="49" name="Rectangle 48"/>
          <p:cNvSpPr/>
          <p:nvPr/>
        </p:nvSpPr>
        <p:spPr>
          <a:xfrm>
            <a:off x="8690133" y="5511547"/>
            <a:ext cx="1043940" cy="27699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smtClean="0"/>
              <a:t>80 85 90</a:t>
            </a:r>
            <a:endParaRPr lang="en-ZA" b="1" dirty="0"/>
          </a:p>
        </p:txBody>
      </p:sp>
      <p:cxnSp>
        <p:nvCxnSpPr>
          <p:cNvPr id="51" name="Connecteur droit 50"/>
          <p:cNvCxnSpPr>
            <a:stCxn id="49" idx="0"/>
            <a:endCxn id="47" idx="2"/>
          </p:cNvCxnSpPr>
          <p:nvPr/>
        </p:nvCxnSpPr>
        <p:spPr>
          <a:xfrm flipH="1" flipV="1">
            <a:off x="8613813" y="5076447"/>
            <a:ext cx="598290" cy="435100"/>
          </a:xfrm>
          <a:prstGeom prst="line">
            <a:avLst/>
          </a:prstGeom>
          <a:ln w="19050"/>
        </p:spPr>
        <p:style>
          <a:lnRef idx="1">
            <a:schemeClr val="dk1"/>
          </a:lnRef>
          <a:fillRef idx="0">
            <a:schemeClr val="dk1"/>
          </a:fillRef>
          <a:effectRef idx="0">
            <a:schemeClr val="dk1"/>
          </a:effectRef>
          <a:fontRef idx="minor">
            <a:schemeClr val="tx1"/>
          </a:fontRef>
        </p:style>
      </p:cxnSp>
      <p:cxnSp>
        <p:nvCxnSpPr>
          <p:cNvPr id="54" name="Connecteur droit avec flèche 53"/>
          <p:cNvCxnSpPr/>
          <p:nvPr/>
        </p:nvCxnSpPr>
        <p:spPr>
          <a:xfrm>
            <a:off x="8357709" y="5584880"/>
            <a:ext cx="347662" cy="3399"/>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55" name="Connecteur droit avec flèche 54"/>
          <p:cNvCxnSpPr/>
          <p:nvPr/>
        </p:nvCxnSpPr>
        <p:spPr>
          <a:xfrm flipH="1">
            <a:off x="8357709" y="5723379"/>
            <a:ext cx="347662" cy="0"/>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78" name="ZoneTexte 77"/>
          <p:cNvSpPr txBox="1"/>
          <p:nvPr/>
        </p:nvSpPr>
        <p:spPr>
          <a:xfrm>
            <a:off x="5826998" y="3415548"/>
            <a:ext cx="2773516" cy="461665"/>
          </a:xfrm>
          <a:prstGeom prst="rect">
            <a:avLst/>
          </a:prstGeom>
          <a:noFill/>
        </p:spPr>
        <p:txBody>
          <a:bodyPr wrap="none" rtlCol="0">
            <a:spAutoFit/>
          </a:bodyPr>
          <a:lstStyle/>
          <a:p>
            <a:r>
              <a:rPr lang="en-US" altLang="zh-CN" sz="2400" b="1" dirty="0" smtClean="0">
                <a:solidFill>
                  <a:schemeClr val="accent2">
                    <a:lumMod val="50000"/>
                  </a:schemeClr>
                </a:solidFill>
              </a:rPr>
              <a:t>3</a:t>
            </a:r>
            <a:r>
              <a:rPr lang="zh-CN" altLang="en-US" sz="2400" b="1" dirty="0" smtClean="0">
                <a:solidFill>
                  <a:schemeClr val="accent2">
                    <a:lumMod val="50000"/>
                  </a:schemeClr>
                </a:solidFill>
              </a:rPr>
              <a:t>阶</a:t>
            </a:r>
            <a:r>
              <a:rPr lang="en-US" sz="2400" b="1" dirty="0" smtClean="0">
                <a:solidFill>
                  <a:schemeClr val="accent2">
                    <a:lumMod val="50000"/>
                  </a:schemeClr>
                </a:solidFill>
              </a:rPr>
              <a:t>B</a:t>
            </a:r>
            <a:r>
              <a:rPr lang="en-US" sz="2400" b="1" baseline="30000" dirty="0" smtClean="0">
                <a:solidFill>
                  <a:schemeClr val="accent2">
                    <a:lumMod val="50000"/>
                  </a:schemeClr>
                </a:solidFill>
              </a:rPr>
              <a:t>+</a:t>
            </a:r>
            <a:r>
              <a:rPr lang="zh-CN" altLang="en-US" sz="2400" b="1" dirty="0" smtClean="0">
                <a:solidFill>
                  <a:schemeClr val="accent2">
                    <a:lumMod val="50000"/>
                  </a:schemeClr>
                </a:solidFill>
              </a:rPr>
              <a:t>树</a:t>
            </a:r>
            <a:r>
              <a:rPr lang="zh-CN" altLang="en-US" sz="2400" b="1" dirty="0">
                <a:solidFill>
                  <a:schemeClr val="accent2">
                    <a:lumMod val="50000"/>
                  </a:schemeClr>
                </a:solidFill>
              </a:rPr>
              <a:t>删</a:t>
            </a:r>
            <a:r>
              <a:rPr lang="zh-CN" altLang="en-US" sz="2400" b="1" dirty="0" smtClean="0">
                <a:solidFill>
                  <a:schemeClr val="accent2">
                    <a:lumMod val="50000"/>
                  </a:schemeClr>
                </a:solidFill>
              </a:rPr>
              <a:t>除</a:t>
            </a:r>
            <a:r>
              <a:rPr lang="en-US" altLang="zh-CN" sz="2400" b="1" dirty="0" smtClean="0">
                <a:solidFill>
                  <a:schemeClr val="accent2">
                    <a:lumMod val="50000"/>
                  </a:schemeClr>
                </a:solidFill>
              </a:rPr>
              <a:t>75</a:t>
            </a:r>
            <a:r>
              <a:rPr lang="zh-CN" altLang="en-US" sz="2400" b="1" dirty="0" smtClean="0">
                <a:solidFill>
                  <a:schemeClr val="accent2">
                    <a:lumMod val="50000"/>
                  </a:schemeClr>
                </a:solidFill>
              </a:rPr>
              <a:t>完成</a:t>
            </a:r>
            <a:endParaRPr lang="en-ZA" sz="2400" b="1" dirty="0">
              <a:solidFill>
                <a:schemeClr val="accent2">
                  <a:lumMod val="50000"/>
                </a:schemeClr>
              </a:solidFill>
            </a:endParaRPr>
          </a:p>
        </p:txBody>
      </p:sp>
      <p:sp>
        <p:nvSpPr>
          <p:cNvPr id="43" name="ZoneTexte 42"/>
          <p:cNvSpPr txBox="1"/>
          <p:nvPr/>
        </p:nvSpPr>
        <p:spPr>
          <a:xfrm>
            <a:off x="2903988" y="4937947"/>
            <a:ext cx="404278" cy="461665"/>
          </a:xfrm>
          <a:prstGeom prst="rect">
            <a:avLst/>
          </a:prstGeom>
          <a:noFill/>
        </p:spPr>
        <p:txBody>
          <a:bodyPr wrap="none" rtlCol="0">
            <a:spAutoFit/>
          </a:bodyPr>
          <a:lstStyle/>
          <a:p>
            <a:r>
              <a:rPr lang="en-US" sz="2400" b="1" dirty="0" smtClean="0"/>
              <a:t>…</a:t>
            </a:r>
            <a:endParaRPr lang="en-ZA" sz="2400" b="1" dirty="0"/>
          </a:p>
        </p:txBody>
      </p:sp>
      <p:sp>
        <p:nvSpPr>
          <p:cNvPr id="12" name="Espace réservé du numéro de diapositive 11"/>
          <p:cNvSpPr>
            <a:spLocks noGrp="1"/>
          </p:cNvSpPr>
          <p:nvPr>
            <p:ph type="sldNum" sz="quarter" idx="12"/>
          </p:nvPr>
        </p:nvSpPr>
        <p:spPr/>
        <p:txBody>
          <a:bodyPr/>
          <a:lstStyle/>
          <a:p>
            <a:fld id="{BBF3D8CE-58F1-40DD-970B-B96FBB2BDA32}" type="slidenum">
              <a:rPr lang="en-ZA" smtClean="0"/>
              <a:t>23</a:t>
            </a:fld>
            <a:endParaRPr lang="en-ZA"/>
          </a:p>
        </p:txBody>
      </p:sp>
    </p:spTree>
    <p:extLst>
      <p:ext uri="{BB962C8B-B14F-4D97-AF65-F5344CB8AC3E}">
        <p14:creationId xmlns:p14="http://schemas.microsoft.com/office/powerpoint/2010/main" val="31313307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smtClean="0"/>
              <a:t>Advantages of B</a:t>
            </a:r>
            <a:r>
              <a:rPr lang="en-US" baseline="30000" dirty="0" smtClean="0"/>
              <a:t>+</a:t>
            </a:r>
            <a:r>
              <a:rPr lang="en-US" dirty="0" smtClean="0"/>
              <a:t>-Tree Over B-Tree</a:t>
            </a:r>
            <a:endParaRPr lang="en-ZA" dirty="0"/>
          </a:p>
        </p:txBody>
      </p:sp>
      <p:sp>
        <p:nvSpPr>
          <p:cNvPr id="3" name="Espace réservé du contenu 2"/>
          <p:cNvSpPr>
            <a:spLocks noGrp="1"/>
          </p:cNvSpPr>
          <p:nvPr>
            <p:ph idx="1"/>
          </p:nvPr>
        </p:nvSpPr>
        <p:spPr/>
        <p:txBody>
          <a:bodyPr/>
          <a:lstStyle/>
          <a:p>
            <a:r>
              <a:rPr lang="zh-CN" altLang="en-US" dirty="0" smtClean="0"/>
              <a:t>非叶子节点不含需要查找的数据信息</a:t>
            </a:r>
            <a:endParaRPr lang="en-US" altLang="zh-CN" dirty="0" smtClean="0"/>
          </a:p>
          <a:p>
            <a:pPr lvl="1"/>
            <a:r>
              <a:rPr lang="zh-CN" altLang="en-US" dirty="0"/>
              <a:t>每</a:t>
            </a:r>
            <a:r>
              <a:rPr lang="zh-CN" altLang="en-US" dirty="0" smtClean="0"/>
              <a:t>个节点可以存储更多关键字，因而</a:t>
            </a:r>
            <a:r>
              <a:rPr lang="zh-CN" altLang="en-US" dirty="0" smtClean="0">
                <a:sym typeface="Wingdings" panose="05000000000000000000" pitchFamily="2" charset="2"/>
              </a:rPr>
              <a:t>一次</a:t>
            </a:r>
            <a:r>
              <a:rPr lang="en-US" altLang="zh-CN" dirty="0" smtClean="0">
                <a:sym typeface="Wingdings" panose="05000000000000000000" pitchFamily="2" charset="2"/>
              </a:rPr>
              <a:t>I/O</a:t>
            </a:r>
            <a:r>
              <a:rPr lang="zh-CN" altLang="en-US" dirty="0" smtClean="0">
                <a:sym typeface="Wingdings" panose="05000000000000000000" pitchFamily="2" charset="2"/>
              </a:rPr>
              <a:t>操作的效率高，更适合文件索引系统</a:t>
            </a:r>
            <a:endParaRPr lang="en-US" altLang="zh-CN" dirty="0" smtClean="0">
              <a:sym typeface="Wingdings" panose="05000000000000000000" pitchFamily="2" charset="2"/>
            </a:endParaRPr>
          </a:p>
          <a:p>
            <a:pPr lvl="1"/>
            <a:endParaRPr lang="en-US" altLang="zh-CN" dirty="0" smtClean="0"/>
          </a:p>
          <a:p>
            <a:r>
              <a:rPr lang="zh-CN" altLang="en-US" dirty="0" smtClean="0"/>
              <a:t>所有叶子节点包含全部关键字</a:t>
            </a:r>
            <a:endParaRPr lang="en-US" altLang="zh-CN" dirty="0" smtClean="0"/>
          </a:p>
          <a:p>
            <a:pPr lvl="1"/>
            <a:r>
              <a:rPr lang="zh-CN" altLang="en-US" dirty="0" smtClean="0"/>
              <a:t>查找性能稳定</a:t>
            </a:r>
            <a:endParaRPr lang="en-US" altLang="zh-CN" dirty="0" smtClean="0"/>
          </a:p>
          <a:p>
            <a:pPr lvl="1"/>
            <a:r>
              <a:rPr lang="zh-CN" altLang="en-US" dirty="0" smtClean="0"/>
              <a:t>数据遍历效率高</a:t>
            </a:r>
            <a:endParaRPr lang="en-US" altLang="zh-CN" dirty="0" smtClean="0"/>
          </a:p>
          <a:p>
            <a:pPr lvl="1"/>
            <a:r>
              <a:rPr lang="zh-CN" altLang="en-US" dirty="0" smtClean="0"/>
              <a:t>支持</a:t>
            </a:r>
            <a:r>
              <a:rPr lang="en-US" altLang="zh-CN" dirty="0" smtClean="0"/>
              <a:t>range query</a:t>
            </a:r>
            <a:r>
              <a:rPr lang="zh-CN" altLang="en-US" dirty="0" smtClean="0"/>
              <a:t>，因而广泛用于数据库索引</a:t>
            </a:r>
            <a:endParaRPr lang="en-ZA" dirty="0"/>
          </a:p>
        </p:txBody>
      </p:sp>
      <p:sp>
        <p:nvSpPr>
          <p:cNvPr id="5" name="Espace réservé du numéro de diapositive 4"/>
          <p:cNvSpPr>
            <a:spLocks noGrp="1"/>
          </p:cNvSpPr>
          <p:nvPr>
            <p:ph type="sldNum" sz="quarter" idx="12"/>
          </p:nvPr>
        </p:nvSpPr>
        <p:spPr/>
        <p:txBody>
          <a:bodyPr/>
          <a:lstStyle/>
          <a:p>
            <a:fld id="{BBF3D8CE-58F1-40DD-970B-B96FBB2BDA32}" type="slidenum">
              <a:rPr lang="en-ZA" smtClean="0"/>
              <a:t>24</a:t>
            </a:fld>
            <a:endParaRPr lang="en-ZA"/>
          </a:p>
        </p:txBody>
      </p:sp>
    </p:spTree>
    <p:extLst>
      <p:ext uri="{BB962C8B-B14F-4D97-AF65-F5344CB8AC3E}">
        <p14:creationId xmlns:p14="http://schemas.microsoft.com/office/powerpoint/2010/main" val="14727265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4711279" y="2543504"/>
            <a:ext cx="2676374" cy="2031325"/>
          </a:xfrm>
          <a:prstGeom prst="rect">
            <a:avLst/>
          </a:prstGeom>
          <a:noFill/>
        </p:spPr>
        <p:txBody>
          <a:bodyPr wrap="none" rtlCol="0">
            <a:spAutoFit/>
          </a:bodyPr>
          <a:lstStyle/>
          <a:p>
            <a:pPr algn="ctr"/>
            <a:r>
              <a:rPr lang="en-US" sz="4200" b="1" dirty="0" smtClean="0"/>
              <a:t>Q&amp;A</a:t>
            </a:r>
          </a:p>
          <a:p>
            <a:pPr algn="ctr"/>
            <a:endParaRPr lang="en-US" sz="4200" b="1" dirty="0" smtClean="0"/>
          </a:p>
          <a:p>
            <a:pPr algn="ctr"/>
            <a:r>
              <a:rPr lang="en-US" sz="4200" b="1" dirty="0" smtClean="0"/>
              <a:t>Thank you!</a:t>
            </a:r>
            <a:endParaRPr lang="en-ZA" sz="4200" b="1" dirty="0"/>
          </a:p>
        </p:txBody>
      </p:sp>
      <p:sp>
        <p:nvSpPr>
          <p:cNvPr id="6" name="Espace réservé du numéro de diapositive 5"/>
          <p:cNvSpPr>
            <a:spLocks noGrp="1"/>
          </p:cNvSpPr>
          <p:nvPr>
            <p:ph type="sldNum" sz="quarter" idx="12"/>
          </p:nvPr>
        </p:nvSpPr>
        <p:spPr/>
        <p:txBody>
          <a:bodyPr/>
          <a:lstStyle/>
          <a:p>
            <a:fld id="{BBF3D8CE-58F1-40DD-970B-B96FBB2BDA32}" type="slidenum">
              <a:rPr lang="en-ZA" smtClean="0"/>
              <a:t>25</a:t>
            </a:fld>
            <a:endParaRPr lang="en-ZA"/>
          </a:p>
        </p:txBody>
      </p:sp>
    </p:spTree>
    <p:extLst>
      <p:ext uri="{BB962C8B-B14F-4D97-AF65-F5344CB8AC3E}">
        <p14:creationId xmlns:p14="http://schemas.microsoft.com/office/powerpoint/2010/main" val="1722239150"/>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1057</TotalTime>
  <Words>1914</Words>
  <Application>Microsoft Office PowerPoint</Application>
  <PresentationFormat>Grand écran</PresentationFormat>
  <Paragraphs>348</Paragraphs>
  <Slides>25</Slides>
  <Notes>2</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25</vt:i4>
      </vt:variant>
    </vt:vector>
  </HeadingPairs>
  <TitlesOfParts>
    <vt:vector size="34" baseType="lpstr">
      <vt:lpstr>等线</vt:lpstr>
      <vt:lpstr>等线 Light</vt:lpstr>
      <vt:lpstr>Arial</vt:lpstr>
      <vt:lpstr>Bell MT</vt:lpstr>
      <vt:lpstr>Calibri</vt:lpstr>
      <vt:lpstr>Calibri Light</vt:lpstr>
      <vt:lpstr>Cambria Math</vt:lpstr>
      <vt:lpstr>Wingdings</vt:lpstr>
      <vt:lpstr>Thème Office</vt:lpstr>
      <vt:lpstr>科研总结及汇报</vt:lpstr>
      <vt:lpstr>个人情况</vt:lpstr>
      <vt:lpstr>研究方向</vt:lpstr>
      <vt:lpstr>云平台上针对科学数据流的资源调度</vt:lpstr>
      <vt:lpstr>ToF: A Transformation-based Optimization Framework</vt:lpstr>
      <vt:lpstr>Evaluation Results</vt:lpstr>
      <vt:lpstr>云平台上针对科学数据流的资源调度</vt:lpstr>
      <vt:lpstr>Deco: A Declarative Optimization Framework</vt:lpstr>
      <vt:lpstr>Deco: A Declarative Optimization Framework</vt:lpstr>
      <vt:lpstr>广域网下的图切割问题 (ICDCS 2017)</vt:lpstr>
      <vt:lpstr>广域网下的图切割问题 (ICDCS 2017)</vt:lpstr>
      <vt:lpstr>研究计划</vt:lpstr>
      <vt:lpstr>B+-Tree知识点试讲</vt:lpstr>
      <vt:lpstr>Revisit: BST and B-Tree</vt:lpstr>
      <vt:lpstr>What is B+-Tree ?</vt:lpstr>
      <vt:lpstr>Updating B+-Tree </vt:lpstr>
      <vt:lpstr>Updating B+-Tree </vt:lpstr>
      <vt:lpstr>Updating B+-Tree </vt:lpstr>
      <vt:lpstr>Updating B+-Tree </vt:lpstr>
      <vt:lpstr>Updating B+-Tree </vt:lpstr>
      <vt:lpstr>Updating B+-Tree </vt:lpstr>
      <vt:lpstr>Updating B+-Tree </vt:lpstr>
      <vt:lpstr>Updating B+-Tree </vt:lpstr>
      <vt:lpstr>Advantages of B+-Tree Over B-Tree</vt:lpstr>
      <vt:lpstr>Présentation PowerPoint</vt:lpstr>
    </vt:vector>
  </TitlesOfParts>
  <Company>INRIA-IRISA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Chi Zhou</dc:creator>
  <cp:lastModifiedBy>Chi Zhou</cp:lastModifiedBy>
  <cp:revision>77</cp:revision>
  <dcterms:created xsi:type="dcterms:W3CDTF">2017-03-26T07:34:54Z</dcterms:created>
  <dcterms:modified xsi:type="dcterms:W3CDTF">2017-03-27T01:11:59Z</dcterms:modified>
</cp:coreProperties>
</file>