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350" r:id="rId2"/>
    <p:sldId id="351" r:id="rId3"/>
    <p:sldId id="352" r:id="rId4"/>
    <p:sldId id="353" r:id="rId5"/>
    <p:sldId id="301" r:id="rId6"/>
  </p:sldIdLst>
  <p:sldSz cx="10152063" cy="7596188"/>
  <p:notesSz cx="7596188" cy="1015206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 autoAdjust="0"/>
    <p:restoredTop sz="87244"/>
  </p:normalViewPr>
  <p:slideViewPr>
    <p:cSldViewPr>
      <p:cViewPr varScale="1">
        <p:scale>
          <a:sx n="121" d="100"/>
          <a:sy n="121" d="100"/>
        </p:scale>
        <p:origin x="1784" y="176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302125" y="0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4C648-3956-3440-B661-357F8557CBF6}" type="datetimeFigureOut">
              <a:rPr lang="en-US" smtClean="0"/>
              <a:t>4/11/19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08125" y="1268413"/>
            <a:ext cx="4581525" cy="3427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60413" y="4886325"/>
            <a:ext cx="6076950" cy="39973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302125" y="9642475"/>
            <a:ext cx="3292475" cy="5095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2E60E-8848-2F49-BBBA-7F27067E7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37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2E60E-8848-2F49-BBBA-7F27067E70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0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97D51-C29A-4204-BCA9-7887F11154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929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Rectangle 10">
            <a:extLst>
              <a:ext uri="{FF2B5EF4-FFF2-40B4-BE49-F238E27FC236}">
                <a16:creationId xmlns:a16="http://schemas.microsoft.com/office/drawing/2014/main" id="{13632A84-2EFE-6245-8D70-F2C33B5DF1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Rectangle 11">
            <a:extLst>
              <a:ext uri="{FF2B5EF4-FFF2-40B4-BE49-F238E27FC236}">
                <a16:creationId xmlns:a16="http://schemas.microsoft.com/office/drawing/2014/main" id="{B9BF6E0C-2EA0-4443-B965-4F8BE9A3AD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5EE094C-2F97-FA4E-86FE-7403D946246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D5558-3D16-BF46-910C-1397B5AAF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50167-F2B1-D54B-8A33-99560460A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3600A-AFBD-C14A-AECE-EACCB018A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7908A-DD82-1A44-AF97-275E02852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9AD3FC-6ACF-244F-BF01-C89461EF6431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1A3AF-EBBF-7F44-A342-A3EEE786A0D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5840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AD71-8987-394A-A163-250FD01C8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150" y="1893888"/>
            <a:ext cx="8756650" cy="31591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94760-C3BE-A04C-A490-8B1276D1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150" y="5083175"/>
            <a:ext cx="8756650" cy="166211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F1E2-4A8E-DD47-B58B-159324C0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96EDB-0646-FD4D-A11F-AB86F28FE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7551EE1-C970-B842-8CC3-34317DF1BCE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D6BFF-2F26-344F-A3EC-4D273680BA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1345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70F8-6E06-B541-8F1A-649B361F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2EA62-786E-4148-81D9-BC373ABE1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40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DDF32-4F84-B448-9563-2196337E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402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15265-1B4D-A043-AC5E-3B864DA5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CBCAC-1D0D-4145-B10A-88D16E69D9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802E8F9-045D-C24C-9E3B-0275377A48C9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EFEB68-B2A7-8B45-B671-3235B5FD17E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44361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A626-0D84-884F-B4AB-8E6F191D7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404813"/>
            <a:ext cx="8756650" cy="14684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29A2A-BF3B-C341-88B5-C1F254079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8500" y="1862138"/>
            <a:ext cx="4295775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23C43-2BAB-1644-A0BD-A824FA9DF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500" y="2774950"/>
            <a:ext cx="4295775" cy="4081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B9140-FAD5-DB46-8A3B-5ABF45163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38738" y="1862138"/>
            <a:ext cx="4316412" cy="9128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2083C-A173-5046-85B0-E92070CB62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38738" y="2774950"/>
            <a:ext cx="4316412" cy="4081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98595-E88C-7D48-8740-1148725E1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C206AA-0AE6-0D4A-B919-C796AC996C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5C7B917-6AEA-0F4E-A9BC-B450258C4C9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460B81-45CA-E142-A0B9-1D37C900F8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204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1B77-CE72-5445-B16C-0E045D74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957D0-B39B-5A48-BB51-0AFC2D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E00CC-637F-5548-A86C-531ED3CA4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AB98FE-9B44-8F4F-955D-F7EF3C7C350C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48597-AF98-3148-A773-041F7A66D7F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68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FBF8E1-C0F4-284E-B0BE-1D298B97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9DC78-96C4-1E4C-8A73-2352EAC640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467FBF-22C3-BD4A-99C3-C4C824D7D4CA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24E89-1EE0-224F-90F2-DC3B1CEFF8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8920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C004-D4C6-8A4E-A997-1860721C2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D277-9D6E-974B-A3C9-F717BEB95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A7F2E-D130-5440-8E71-22E84BA5B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F32F5-E885-AB45-A8FC-DE6231A7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824C-7D1D-FF4B-8455-7BB4204FF6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B9967C-9C61-F447-A014-8276EA034E41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F6414E-D3F5-1E45-AFA7-22BAD00EE6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6474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D619-CDC5-9945-8E7F-9FB9D8274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506413"/>
            <a:ext cx="3275013" cy="17732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B36BC-64E4-9C43-94F9-626D021A6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16413" y="1093788"/>
            <a:ext cx="5138737" cy="5397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FCA58-A70C-E14D-A60F-4B092279C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500" y="2279650"/>
            <a:ext cx="3275013" cy="4221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75B58-3308-FD4C-ACAC-3C96FC0A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04447-BEA0-6543-8C5B-A12DC8EA86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93B4EB-5218-214B-A7E4-9FD6B3B3D6B8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3C73C6B-B77D-4842-9B05-C250BDCBC1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13445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2C907-1D48-4548-9D03-55C381EE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F97F9-B809-FC4D-BA86-F820B2067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B9C3C-EB29-4247-BA89-65C0D8E0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9035C-44FD-A042-99F0-214A54AB85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0054CE-B890-364A-8F1D-626584633B8F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BCE1F-3FEB-5D49-9883-0E672E449DE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928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D4C49-B5C0-E543-B10A-386F48307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20068-3DA7-2A4F-93DD-1D81B6DDC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6019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2A4C0-7C48-A145-8BF1-9A05906A4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B6E34-DAEF-FF46-AF94-DBDD18C73D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E1A353E-482F-D749-BBA7-40D74F324ADC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3D45A-7DD1-884E-ACD5-9F5119F355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311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470930E-94F0-B94A-A946-633A0D994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3EFC19C-D7CC-B946-89FB-7743B6CB2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9186BC-0D3B-F14C-A693-654D6590D6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defTabSz="1014413">
              <a:defRPr sz="1000">
                <a:solidFill>
                  <a:srgbClr val="003399"/>
                </a:solidFill>
              </a:defRPr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BE49660-58EF-214D-A4DE-AE6D871AC8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defTabSz="1014413">
              <a:defRPr sz="1000">
                <a:solidFill>
                  <a:srgbClr val="003399"/>
                </a:solidFill>
              </a:defRPr>
            </a:lvl1pPr>
          </a:lstStyle>
          <a:p>
            <a:fld id="{449B3359-DFE4-E44C-A902-F69E8F948C1D}" type="slidenum">
              <a:rPr lang="en-GB" altLang="en-US"/>
              <a:pPr/>
              <a:t>‹#›</a:t>
            </a:fld>
            <a:endParaRPr lang="en-GB" altLang="en-US" sz="1600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DADEA5D-87B5-F345-AB69-5403D39DA3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40669B70-4207-CF41-A827-17E603EFCD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34FFBE9C-0D53-034D-A444-FAB0E681E65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05200" y="7016750"/>
            <a:ext cx="3214688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ctr" defTabSz="1014413">
              <a:defRPr sz="1600"/>
            </a:lvl1pPr>
          </a:lstStyle>
          <a:p>
            <a:endParaRPr lang="en-GB" altLang="en-US"/>
          </a:p>
          <a:p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1014413" rtl="0" fontAlgn="base">
        <a:spcBef>
          <a:spcPct val="0"/>
        </a:spcBef>
        <a:spcAft>
          <a:spcPct val="0"/>
        </a:spcAft>
        <a:defRPr sz="3500" kern="1200">
          <a:solidFill>
            <a:srgbClr val="FF6600"/>
          </a:solidFill>
          <a:latin typeface="+mj-lt"/>
          <a:ea typeface="+mj-ea"/>
          <a:cs typeface="+mj-cs"/>
        </a:defRPr>
      </a:lvl1pPr>
      <a:lvl2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2pPr>
      <a:lvl3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3pPr>
      <a:lvl4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4pPr>
      <a:lvl5pPr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rgbClr val="FF6600"/>
          </a:solidFill>
          <a:latin typeface="Times New Roman" panose="02020603050405020304" pitchFamily="18" charset="0"/>
        </a:defRPr>
      </a:lvl9pPr>
    </p:titleStyle>
    <p:bodyStyle>
      <a:lvl1pPr algn="l" defTabSz="1014413" rtl="0" fontAlgn="base">
        <a:spcBef>
          <a:spcPct val="20000"/>
        </a:spcBef>
        <a:spcAft>
          <a:spcPct val="0"/>
        </a:spcAft>
        <a:defRPr sz="2500" b="1" kern="1200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fontAlgn="base">
        <a:spcBef>
          <a:spcPct val="20000"/>
        </a:spcBef>
        <a:spcAft>
          <a:spcPct val="0"/>
        </a:spcAft>
        <a:defRPr sz="2600" kern="1200">
          <a:solidFill>
            <a:srgbClr val="003399"/>
          </a:solidFill>
          <a:latin typeface="+mn-lt"/>
          <a:ea typeface="+mn-ea"/>
          <a:cs typeface="+mn-cs"/>
        </a:defRPr>
      </a:lvl2pPr>
      <a:lvl3pPr marL="755650" algn="l" defTabSz="1014413" rtl="0" fontAlgn="base">
        <a:spcBef>
          <a:spcPct val="20000"/>
        </a:spcBef>
        <a:spcAft>
          <a:spcPct val="0"/>
        </a:spcAft>
        <a:defRPr sz="2200" b="1" kern="1200">
          <a:solidFill>
            <a:srgbClr val="FF6600"/>
          </a:solidFill>
          <a:latin typeface="+mn-lt"/>
          <a:ea typeface="+mn-ea"/>
          <a:cs typeface="+mn-cs"/>
        </a:defRPr>
      </a:lvl3pPr>
      <a:lvl4pPr marL="1143000" indent="6350" algn="l" defTabSz="1014413" rtl="0" fontAlgn="base">
        <a:spcBef>
          <a:spcPct val="20000"/>
        </a:spcBef>
        <a:spcAft>
          <a:spcPct val="0"/>
        </a:spcAft>
        <a:defRPr sz="2200" i="1" kern="1200">
          <a:solidFill>
            <a:srgbClr val="003399"/>
          </a:solidFill>
          <a:latin typeface="+mn-lt"/>
          <a:ea typeface="+mn-ea"/>
          <a:cs typeface="+mn-cs"/>
        </a:defRPr>
      </a:lvl4pPr>
      <a:lvl5pPr marL="1524000" algn="l" defTabSz="1014413" rtl="0" fontAlgn="base">
        <a:spcBef>
          <a:spcPct val="20000"/>
        </a:spcBef>
        <a:spcAft>
          <a:spcPct val="0"/>
        </a:spcAft>
        <a:defRPr sz="2000" kern="1200">
          <a:solidFill>
            <a:srgbClr val="00339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5EF1C5C-FB8D-9E4D-A237-4053EAD62BE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sp>
        <p:nvSpPr>
          <p:cNvPr id="2065" name="Rectangle 17">
            <a:extLst>
              <a:ext uri="{FF2B5EF4-FFF2-40B4-BE49-F238E27FC236}">
                <a16:creationId xmlns:a16="http://schemas.microsoft.com/office/drawing/2014/main" id="{44CBE188-49FF-854B-8E05-7E0B4B195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66" name="Text Box 18">
            <a:extLst>
              <a:ext uri="{FF2B5EF4-FFF2-40B4-BE49-F238E27FC236}">
                <a16:creationId xmlns:a16="http://schemas.microsoft.com/office/drawing/2014/main" id="{E6983B4C-3483-5B4A-97BD-12221A923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" y="1447800"/>
            <a:ext cx="9677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4000" dirty="0">
                <a:solidFill>
                  <a:schemeClr val="bg1"/>
                </a:solidFill>
                <a:latin typeface="+mj-lt"/>
              </a:rPr>
              <a:t>An Evaluation of Methods for Detecting Complex Events on Multicore Architectures </a:t>
            </a:r>
            <a:endParaRPr lang="en-GB" altLang="en-US"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67" name="Rectangle 19">
            <a:extLst>
              <a:ext uri="{FF2B5EF4-FFF2-40B4-BE49-F238E27FC236}">
                <a16:creationId xmlns:a16="http://schemas.microsoft.com/office/drawing/2014/main" id="{3C31D1F6-A717-B74B-8AEE-4A2CA62D5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D6F4A-046B-FC4B-B030-C68FE243FF76}"/>
              </a:ext>
            </a:extLst>
          </p:cNvPr>
          <p:cNvSpPr/>
          <p:nvPr/>
        </p:nvSpPr>
        <p:spPr>
          <a:xfrm>
            <a:off x="5685631" y="6411178"/>
            <a:ext cx="434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Shuhao Zhang</a:t>
            </a:r>
          </a:p>
          <a:p>
            <a:r>
              <a:rPr lang="en-US" dirty="0" err="1"/>
              <a:t>Shuhao.zhang@comp.nus.edu.sg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991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37973-8EC6-584D-B904-2A1EB3C8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Complex Event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602F8-ADC9-844C-93FE-DD99B2E72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3200" dirty="0"/>
              <a:t>SASE’s specification:</a:t>
            </a:r>
          </a:p>
          <a:p>
            <a:r>
              <a:rPr lang="en-SG" sz="3200" dirty="0"/>
              <a:t>PATTERN </a:t>
            </a:r>
            <a:r>
              <a:rPr lang="en-SG" sz="2800" b="0" dirty="0"/>
              <a:t>SEQ(E a, E b, E c) </a:t>
            </a:r>
          </a:p>
          <a:p>
            <a:r>
              <a:rPr lang="en-SG" sz="3200" dirty="0"/>
              <a:t>WHERE </a:t>
            </a:r>
            <a:r>
              <a:rPr lang="en-SG" sz="2800" b="0" dirty="0"/>
              <a:t>(</a:t>
            </a:r>
            <a:r>
              <a:rPr lang="en-SG" sz="2800" b="0" dirty="0" err="1"/>
              <a:t>a.ticker</a:t>
            </a:r>
            <a:r>
              <a:rPr lang="en-SG" sz="2800" b="0" dirty="0"/>
              <a:t> = MSFT) AND (</a:t>
            </a:r>
            <a:r>
              <a:rPr lang="en-SG" sz="2800" b="0" dirty="0" err="1"/>
              <a:t>b.ticker</a:t>
            </a:r>
            <a:r>
              <a:rPr lang="en-SG" sz="2800" b="0" dirty="0"/>
              <a:t>=GOOG) AND (</a:t>
            </a:r>
            <a:r>
              <a:rPr lang="en-SG" sz="2800" b="0" dirty="0" err="1"/>
              <a:t>c.ticker</a:t>
            </a:r>
            <a:r>
              <a:rPr lang="en-SG" sz="2800" b="0" dirty="0"/>
              <a:t> = AAPL) AND (</a:t>
            </a:r>
            <a:r>
              <a:rPr lang="en-SG" sz="2800" b="0" dirty="0" err="1"/>
              <a:t>a.price</a:t>
            </a:r>
            <a:r>
              <a:rPr lang="en-SG" sz="2800" b="0" dirty="0"/>
              <a:t> &lt; </a:t>
            </a:r>
            <a:r>
              <a:rPr lang="en-SG" sz="2800" b="0" dirty="0" err="1"/>
              <a:t>b.price</a:t>
            </a:r>
            <a:r>
              <a:rPr lang="en-SG" sz="2800" b="0" dirty="0"/>
              <a:t>) AND (</a:t>
            </a:r>
            <a:r>
              <a:rPr lang="en-SG" sz="2800" b="0" dirty="0" err="1"/>
              <a:t>b.price</a:t>
            </a:r>
            <a:r>
              <a:rPr lang="en-SG" sz="2800" b="0" dirty="0"/>
              <a:t>&lt;</a:t>
            </a:r>
            <a:r>
              <a:rPr lang="en-SG" sz="2800" b="0" dirty="0" err="1"/>
              <a:t>c.price</a:t>
            </a:r>
            <a:r>
              <a:rPr lang="en-SG" sz="2800" b="0" dirty="0"/>
              <a:t>)</a:t>
            </a:r>
          </a:p>
          <a:p>
            <a:r>
              <a:rPr lang="en-SG" sz="3200" dirty="0"/>
              <a:t>WITHIN </a:t>
            </a:r>
            <a:r>
              <a:rPr lang="en-SG" sz="3200" b="0" dirty="0"/>
              <a:t>4 hours</a:t>
            </a:r>
          </a:p>
          <a:p>
            <a:endParaRPr lang="en-SG" sz="3200" b="0" dirty="0"/>
          </a:p>
          <a:p>
            <a:r>
              <a:rPr lang="en-SG" sz="3200" b="0" dirty="0"/>
              <a:t>For brevity, we focus on sequential pattern only. The above query simplified: </a:t>
            </a:r>
            <a:r>
              <a:rPr lang="en-SG" sz="3200" dirty="0"/>
              <a:t>SEQ(A,B,C)</a:t>
            </a:r>
            <a:r>
              <a:rPr lang="en-SG" sz="3200" b="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6F178-80F5-6D4B-8A6D-3015DFA7E06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37003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FCCB3-F3F0-4941-8940-EDD8542C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execution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E147-A058-4648-86ED-3A6344084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</a:t>
            </a:r>
            <a:r>
              <a:rPr lang="en-SG" dirty="0"/>
              <a:t>Non-deterministic finite automata (NFA) based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FBF4C-F8E9-8C4F-AFE6-6B4665BEEF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3C806-5587-D94D-969C-43F43F838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103" y="3472361"/>
            <a:ext cx="7438231" cy="218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0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FCCB3-F3F0-4941-8940-EDD8542CA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execution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E147-A058-4648-86ED-3A6344084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1) </a:t>
            </a:r>
            <a:r>
              <a:rPr lang="en-S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Non-deterministic finite automata (NFA) based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r>
              <a:rPr lang="en-US" dirty="0"/>
              <a:t>2) Tree-based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FBF4C-F8E9-8C4F-AFE6-6B4665BEEF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altLang="en-US"/>
          </a:p>
          <a:p>
            <a:endParaRPr lang="en-GB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3C806-5587-D94D-969C-43F43F838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103" y="3472361"/>
            <a:ext cx="7438231" cy="218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7" name="Title 6"/>
          <p:cNvSpPr txBox="1">
            <a:spLocks/>
          </p:cNvSpPr>
          <p:nvPr/>
        </p:nvSpPr>
        <p:spPr>
          <a:xfrm>
            <a:off x="2401353" y="3598878"/>
            <a:ext cx="5083840" cy="615998"/>
          </a:xfrm>
          <a:prstGeom prst="rect">
            <a:avLst/>
          </a:prstGeom>
          <a:solidFill>
            <a:schemeClr val="bg1"/>
          </a:solidFill>
        </p:spPr>
        <p:txBody>
          <a:bodyPr vert="horz" lIns="76140" tIns="38070" rIns="76140" bIns="3807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665" dirty="0"/>
              <a:t>Thank you</a:t>
            </a:r>
          </a:p>
          <a:p>
            <a:pPr algn="ctr">
              <a:defRPr/>
            </a:pPr>
            <a:r>
              <a:rPr lang="en-US" sz="2665" dirty="0" err="1"/>
              <a:t>shuhao.zhang@comp.nus.edu.sg</a:t>
            </a:r>
            <a:endParaRPr lang="en-US" sz="2665" dirty="0"/>
          </a:p>
        </p:txBody>
      </p:sp>
      <p:sp>
        <p:nvSpPr>
          <p:cNvPr id="8" name="Text Placeholder 7"/>
          <p:cNvSpPr txBox="1">
            <a:spLocks/>
          </p:cNvSpPr>
          <p:nvPr/>
        </p:nvSpPr>
        <p:spPr>
          <a:xfrm>
            <a:off x="3172519" y="5350761"/>
            <a:ext cx="6471940" cy="1249179"/>
          </a:xfrm>
          <a:prstGeom prst="rect">
            <a:avLst/>
          </a:prstGeom>
        </p:spPr>
        <p:txBody>
          <a:bodyPr vert="horz" lIns="76140" tIns="38070" rIns="76140" bIns="3807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en-US" sz="2665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433065765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2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2201</TotalTime>
  <Words>161</Words>
  <Application>Microsoft Macintosh PowerPoint</Application>
  <PresentationFormat>Custom</PresentationFormat>
  <Paragraphs>22</Paragraphs>
  <Slides>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Times</vt:lpstr>
      <vt:lpstr>Times New Roman</vt:lpstr>
      <vt:lpstr>Wingdings</vt:lpstr>
      <vt:lpstr>Blank</vt:lpstr>
      <vt:lpstr>PowerPoint Presentation</vt:lpstr>
      <vt:lpstr>Example of Complex Event Detection</vt:lpstr>
      <vt:lpstr>Common execution approaches</vt:lpstr>
      <vt:lpstr>Common execution approaches</vt:lpstr>
      <vt:lpstr>Q&amp;A</vt:lpstr>
    </vt:vector>
  </TitlesOfParts>
  <Company> 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PowerPoint presentation template</dc:subject>
  <dc:creator>PowerPC</dc:creator>
  <cp:keywords>PowerPoint presentation template; ppt presentation template</cp:keywords>
  <cp:lastModifiedBy>Zhang Shuhao</cp:lastModifiedBy>
  <cp:revision>170</cp:revision>
  <cp:lastPrinted>2002-11-20T02:08:40Z</cp:lastPrinted>
  <dcterms:created xsi:type="dcterms:W3CDTF">2001-10-04T11:39:11Z</dcterms:created>
  <dcterms:modified xsi:type="dcterms:W3CDTF">2019-04-11T08:51:10Z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1002903848</vt:i4>
  </property>
  <property fmtid="{D5CDD505-2E9C-101B-9397-08002B2CF9AE}" pid="3" name="_EmailSubject">
    <vt:lpwstr>Corporate Identity - Powerpoint Template</vt:lpwstr>
  </property>
  <property fmtid="{D5CDD505-2E9C-101B-9397-08002B2CF9AE}" pid="4" name="_AuthorEmail">
    <vt:lpwstr>ocrseahm@nus.edu.sg</vt:lpwstr>
  </property>
  <property fmtid="{D5CDD505-2E9C-101B-9397-08002B2CF9AE}" pid="5" name="_AuthorEmailDisplayName">
    <vt:lpwstr>Matthew Seah</vt:lpwstr>
  </property>
</Properties>
</file>