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6" r:id="rId1"/>
  </p:sldMasterIdLst>
  <p:notesMasterIdLst>
    <p:notesMasterId r:id="rId92"/>
  </p:notesMasterIdLst>
  <p:handoutMasterIdLst>
    <p:handoutMasterId r:id="rId93"/>
  </p:handoutMasterIdLst>
  <p:sldIdLst>
    <p:sldId id="256" r:id="rId2"/>
    <p:sldId id="332" r:id="rId3"/>
    <p:sldId id="675" r:id="rId4"/>
    <p:sldId id="742" r:id="rId5"/>
    <p:sldId id="743" r:id="rId6"/>
    <p:sldId id="744" r:id="rId7"/>
    <p:sldId id="745" r:id="rId8"/>
    <p:sldId id="746" r:id="rId9"/>
    <p:sldId id="747" r:id="rId10"/>
    <p:sldId id="748" r:id="rId11"/>
    <p:sldId id="749" r:id="rId12"/>
    <p:sldId id="750" r:id="rId13"/>
    <p:sldId id="751" r:id="rId14"/>
    <p:sldId id="752" r:id="rId15"/>
    <p:sldId id="753" r:id="rId16"/>
    <p:sldId id="754" r:id="rId17"/>
    <p:sldId id="755" r:id="rId18"/>
    <p:sldId id="756" r:id="rId19"/>
    <p:sldId id="757" r:id="rId20"/>
    <p:sldId id="758" r:id="rId21"/>
    <p:sldId id="759" r:id="rId22"/>
    <p:sldId id="760" r:id="rId23"/>
    <p:sldId id="786" r:id="rId24"/>
    <p:sldId id="775" r:id="rId25"/>
    <p:sldId id="776" r:id="rId26"/>
    <p:sldId id="777" r:id="rId27"/>
    <p:sldId id="766" r:id="rId28"/>
    <p:sldId id="767" r:id="rId29"/>
    <p:sldId id="778" r:id="rId30"/>
    <p:sldId id="779" r:id="rId31"/>
    <p:sldId id="768" r:id="rId32"/>
    <p:sldId id="769" r:id="rId33"/>
    <p:sldId id="770" r:id="rId34"/>
    <p:sldId id="780" r:id="rId35"/>
    <p:sldId id="781" r:id="rId36"/>
    <p:sldId id="782" r:id="rId37"/>
    <p:sldId id="761" r:id="rId38"/>
    <p:sldId id="771" r:id="rId39"/>
    <p:sldId id="718" r:id="rId40"/>
    <p:sldId id="717" r:id="rId41"/>
    <p:sldId id="719" r:id="rId42"/>
    <p:sldId id="787" r:id="rId43"/>
    <p:sldId id="720" r:id="rId44"/>
    <p:sldId id="721" r:id="rId45"/>
    <p:sldId id="722" r:id="rId46"/>
    <p:sldId id="723" r:id="rId47"/>
    <p:sldId id="724" r:id="rId48"/>
    <p:sldId id="731" r:id="rId49"/>
    <p:sldId id="726" r:id="rId50"/>
    <p:sldId id="729" r:id="rId51"/>
    <p:sldId id="728" r:id="rId52"/>
    <p:sldId id="772" r:id="rId53"/>
    <p:sldId id="773" r:id="rId54"/>
    <p:sldId id="783" r:id="rId55"/>
    <p:sldId id="784" r:id="rId56"/>
    <p:sldId id="785" r:id="rId57"/>
    <p:sldId id="732" r:id="rId58"/>
    <p:sldId id="733" r:id="rId59"/>
    <p:sldId id="736" r:id="rId60"/>
    <p:sldId id="734" r:id="rId61"/>
    <p:sldId id="737" r:id="rId62"/>
    <p:sldId id="774" r:id="rId63"/>
    <p:sldId id="788" r:id="rId64"/>
    <p:sldId id="739" r:id="rId65"/>
    <p:sldId id="741" r:id="rId66"/>
    <p:sldId id="789" r:id="rId67"/>
    <p:sldId id="790" r:id="rId68"/>
    <p:sldId id="791" r:id="rId69"/>
    <p:sldId id="792" r:id="rId70"/>
    <p:sldId id="793" r:id="rId71"/>
    <p:sldId id="794" r:id="rId72"/>
    <p:sldId id="796" r:id="rId73"/>
    <p:sldId id="797" r:id="rId74"/>
    <p:sldId id="798" r:id="rId75"/>
    <p:sldId id="795" r:id="rId76"/>
    <p:sldId id="799" r:id="rId77"/>
    <p:sldId id="400" r:id="rId78"/>
    <p:sldId id="401" r:id="rId79"/>
    <p:sldId id="402" r:id="rId80"/>
    <p:sldId id="403" r:id="rId81"/>
    <p:sldId id="404" r:id="rId82"/>
    <p:sldId id="405" r:id="rId83"/>
    <p:sldId id="406" r:id="rId84"/>
    <p:sldId id="407" r:id="rId85"/>
    <p:sldId id="408" r:id="rId86"/>
    <p:sldId id="409" r:id="rId87"/>
    <p:sldId id="410" r:id="rId88"/>
    <p:sldId id="411" r:id="rId89"/>
    <p:sldId id="412" r:id="rId90"/>
    <p:sldId id="800" r:id="rId91"/>
  </p:sldIdLst>
  <p:sldSz cx="9144000" cy="6858000" type="screen4x3"/>
  <p:notesSz cx="6669088" cy="9926638"/>
  <p:defaultTextStyle>
    <a:defPPr>
      <a:defRPr lang="en-US"/>
    </a:defPPr>
    <a:lvl1pPr algn="l" rtl="0" fontAlgn="base">
      <a:spcBef>
        <a:spcPct val="0"/>
      </a:spcBef>
      <a:spcAft>
        <a:spcPct val="0"/>
      </a:spcAft>
      <a:defRPr sz="1200" kern="120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A50021"/>
    <a:srgbClr val="CC3300"/>
    <a:srgbClr val="FFFFCC"/>
    <a:srgbClr val="FF9900"/>
    <a:srgbClr val="33CC33"/>
    <a:srgbClr val="66FF33"/>
    <a:srgbClr val="CC00CC"/>
    <a:srgbClr val="00CC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81" autoAdjust="0"/>
    <p:restoredTop sz="99275" autoAdjust="0"/>
  </p:normalViewPr>
  <p:slideViewPr>
    <p:cSldViewPr>
      <p:cViewPr varScale="1">
        <p:scale>
          <a:sx n="135" d="100"/>
          <a:sy n="135" d="100"/>
        </p:scale>
        <p:origin x="603" y="69"/>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6332"/>
          </a:xfrm>
          <a:prstGeom prst="rect">
            <a:avLst/>
          </a:prstGeom>
        </p:spPr>
        <p:txBody>
          <a:bodyPr vert="horz" wrap="square" lIns="96653" tIns="48327" rIns="96653" bIns="48327" numCol="1" anchor="t" anchorCtr="0" compatLnSpc="1">
            <a:prstTxWarp prst="textNoShape">
              <a:avLst/>
            </a:prstTxWarp>
          </a:bodyPr>
          <a:lstStyle>
            <a:lvl1pPr>
              <a:defRPr smtClean="0"/>
            </a:lvl1pPr>
          </a:lstStyle>
          <a:p>
            <a:pPr>
              <a:defRPr/>
            </a:pPr>
            <a:endParaRPr lang="zh-CN" altLang="en-US"/>
          </a:p>
        </p:txBody>
      </p:sp>
      <p:sp>
        <p:nvSpPr>
          <p:cNvPr id="3" name="Date Placeholder 2"/>
          <p:cNvSpPr>
            <a:spLocks noGrp="1"/>
          </p:cNvSpPr>
          <p:nvPr>
            <p:ph type="dt" sz="quarter" idx="1"/>
          </p:nvPr>
        </p:nvSpPr>
        <p:spPr>
          <a:xfrm>
            <a:off x="3777993" y="0"/>
            <a:ext cx="2889938" cy="496332"/>
          </a:xfrm>
          <a:prstGeom prst="rect">
            <a:avLst/>
          </a:prstGeom>
        </p:spPr>
        <p:txBody>
          <a:bodyPr vert="horz" wrap="square" lIns="96653" tIns="48327" rIns="96653" bIns="48327" numCol="1" anchor="t" anchorCtr="0" compatLnSpc="1">
            <a:prstTxWarp prst="textNoShape">
              <a:avLst/>
            </a:prstTxWarp>
          </a:bodyPr>
          <a:lstStyle>
            <a:lvl1pPr algn="r">
              <a:defRPr smtClean="0"/>
            </a:lvl1pPr>
          </a:lstStyle>
          <a:p>
            <a:pPr>
              <a:defRPr/>
            </a:pPr>
            <a:fld id="{1A395C66-BAC7-4947-A978-17979EC9EE5D}" type="datetimeFigureOut">
              <a:rPr lang="zh-CN" altLang="en-US"/>
              <a:pPr>
                <a:defRPr/>
              </a:pPr>
              <a:t>2019/6/18</a:t>
            </a:fld>
            <a:endParaRPr lang="en-US" altLang="zh-CN"/>
          </a:p>
        </p:txBody>
      </p:sp>
      <p:sp>
        <p:nvSpPr>
          <p:cNvPr id="4" name="Footer Placeholder 3"/>
          <p:cNvSpPr>
            <a:spLocks noGrp="1"/>
          </p:cNvSpPr>
          <p:nvPr>
            <p:ph type="ftr" sz="quarter" idx="2"/>
          </p:nvPr>
        </p:nvSpPr>
        <p:spPr>
          <a:xfrm>
            <a:off x="0" y="9428009"/>
            <a:ext cx="2889938" cy="496332"/>
          </a:xfrm>
          <a:prstGeom prst="rect">
            <a:avLst/>
          </a:prstGeom>
        </p:spPr>
        <p:txBody>
          <a:bodyPr vert="horz" wrap="square" lIns="96653" tIns="48327" rIns="96653" bIns="48327" numCol="1" anchor="b" anchorCtr="0" compatLnSpc="1">
            <a:prstTxWarp prst="textNoShape">
              <a:avLst/>
            </a:prstTxWarp>
          </a:bodyPr>
          <a:lstStyle>
            <a:lvl1pPr>
              <a:defRPr smtClean="0"/>
            </a:lvl1pPr>
          </a:lstStyle>
          <a:p>
            <a:pPr>
              <a:defRPr/>
            </a:pPr>
            <a:endParaRPr lang="zh-CN" altLang="en-US"/>
          </a:p>
        </p:txBody>
      </p:sp>
      <p:sp>
        <p:nvSpPr>
          <p:cNvPr id="5" name="Slide Number Placeholder 4"/>
          <p:cNvSpPr>
            <a:spLocks noGrp="1"/>
          </p:cNvSpPr>
          <p:nvPr>
            <p:ph type="sldNum" sz="quarter" idx="3"/>
          </p:nvPr>
        </p:nvSpPr>
        <p:spPr>
          <a:xfrm>
            <a:off x="3777993" y="9428009"/>
            <a:ext cx="2889938" cy="496332"/>
          </a:xfrm>
          <a:prstGeom prst="rect">
            <a:avLst/>
          </a:prstGeom>
        </p:spPr>
        <p:txBody>
          <a:bodyPr vert="horz" wrap="square" lIns="96653" tIns="48327" rIns="96653" bIns="48327" numCol="1" anchor="b" anchorCtr="0" compatLnSpc="1">
            <a:prstTxWarp prst="textNoShape">
              <a:avLst/>
            </a:prstTxWarp>
          </a:bodyPr>
          <a:lstStyle>
            <a:lvl1pPr algn="r">
              <a:defRPr smtClean="0"/>
            </a:lvl1pPr>
          </a:lstStyle>
          <a:p>
            <a:pPr>
              <a:defRPr/>
            </a:pPr>
            <a:fld id="{4239E3A9-FBC1-4C90-89C7-C86D175BA3FA}" type="slidenum">
              <a:rPr lang="zh-CN" altLang="en-US"/>
              <a:pPr>
                <a:defRPr/>
              </a:pPr>
              <a:t>‹#›</a:t>
            </a:fld>
            <a:endParaRPr lang="en-US" altLang="zh-CN"/>
          </a:p>
        </p:txBody>
      </p:sp>
    </p:spTree>
    <p:extLst>
      <p:ext uri="{BB962C8B-B14F-4D97-AF65-F5344CB8AC3E}">
        <p14:creationId xmlns:p14="http://schemas.microsoft.com/office/powerpoint/2010/main" val="36157083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889938" cy="496332"/>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eaLnBrk="0" hangingPunct="0">
              <a:defRPr sz="1200"/>
            </a:lvl1pPr>
          </a:lstStyle>
          <a:p>
            <a:pPr>
              <a:defRPr/>
            </a:pPr>
            <a:endParaRPr lang="en-US" altLang="zh-CN"/>
          </a:p>
        </p:txBody>
      </p:sp>
      <p:sp>
        <p:nvSpPr>
          <p:cNvPr id="36867" name="Rectangle 3"/>
          <p:cNvSpPr>
            <a:spLocks noGrp="1" noChangeArrowheads="1"/>
          </p:cNvSpPr>
          <p:nvPr>
            <p:ph type="dt" idx="1"/>
          </p:nvPr>
        </p:nvSpPr>
        <p:spPr bwMode="auto">
          <a:xfrm>
            <a:off x="3777993" y="0"/>
            <a:ext cx="2889938" cy="496332"/>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eaLnBrk="0" hangingPunct="0">
              <a:defRPr sz="1200"/>
            </a:lvl1pPr>
          </a:lstStyle>
          <a:p>
            <a:pPr>
              <a:defRPr/>
            </a:pPr>
            <a:fld id="{8C874FDD-B067-4E5B-9185-454DDEAB3F7B}" type="datetimeFigureOut">
              <a:rPr lang="zh-CN" altLang="en-US"/>
              <a:pPr>
                <a:defRPr/>
              </a:pPr>
              <a:t>2019/6/18</a:t>
            </a:fld>
            <a:endParaRPr lang="en-US" altLang="zh-CN"/>
          </a:p>
        </p:txBody>
      </p:sp>
      <p:sp>
        <p:nvSpPr>
          <p:cNvPr id="47108" name="Rectangle 4"/>
          <p:cNvSpPr>
            <a:spLocks noGrp="1" noRot="1" noChangeAspect="1" noChangeArrowheads="1" noTextEdit="1"/>
          </p:cNvSpPr>
          <p:nvPr>
            <p:ph type="sldImg" idx="2"/>
          </p:nvPr>
        </p:nvSpPr>
        <p:spPr bwMode="auto">
          <a:xfrm>
            <a:off x="854075" y="742950"/>
            <a:ext cx="4960938" cy="3722688"/>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666909" y="4715153"/>
            <a:ext cx="5335270" cy="4466987"/>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6870" name="Rectangle 6"/>
          <p:cNvSpPr>
            <a:spLocks noGrp="1" noChangeArrowheads="1"/>
          </p:cNvSpPr>
          <p:nvPr>
            <p:ph type="ftr" sz="quarter" idx="4"/>
          </p:nvPr>
        </p:nvSpPr>
        <p:spPr bwMode="auto">
          <a:xfrm>
            <a:off x="0" y="9428009"/>
            <a:ext cx="2889938" cy="49633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eaLnBrk="0" hangingPunct="0">
              <a:defRPr sz="1200"/>
            </a:lvl1pPr>
          </a:lstStyle>
          <a:p>
            <a:pPr>
              <a:defRPr/>
            </a:pPr>
            <a:endParaRPr lang="en-US" altLang="zh-CN"/>
          </a:p>
        </p:txBody>
      </p:sp>
      <p:sp>
        <p:nvSpPr>
          <p:cNvPr id="36871" name="Rectangle 7"/>
          <p:cNvSpPr>
            <a:spLocks noGrp="1" noChangeArrowheads="1"/>
          </p:cNvSpPr>
          <p:nvPr>
            <p:ph type="sldNum" sz="quarter" idx="5"/>
          </p:nvPr>
        </p:nvSpPr>
        <p:spPr bwMode="auto">
          <a:xfrm>
            <a:off x="3777993" y="9428009"/>
            <a:ext cx="2889938" cy="49633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eaLnBrk="0" hangingPunct="0">
              <a:defRPr sz="1200"/>
            </a:lvl1pPr>
          </a:lstStyle>
          <a:p>
            <a:pPr>
              <a:defRPr/>
            </a:pPr>
            <a:fld id="{1A4026A9-F546-4A60-85FC-C280A3E995E5}" type="slidenum">
              <a:rPr lang="zh-CN" altLang="en-US"/>
              <a:pPr>
                <a:defRPr/>
              </a:pPr>
              <a:t>‹#›</a:t>
            </a:fld>
            <a:endParaRPr lang="en-US" altLang="zh-CN"/>
          </a:p>
        </p:txBody>
      </p:sp>
    </p:spTree>
    <p:extLst>
      <p:ext uri="{BB962C8B-B14F-4D97-AF65-F5344CB8AC3E}">
        <p14:creationId xmlns:p14="http://schemas.microsoft.com/office/powerpoint/2010/main" val="39046891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914400" y="1524000"/>
            <a:ext cx="7623175" cy="1752600"/>
          </a:xfrm>
        </p:spPr>
        <p:txBody>
          <a:bodyPr/>
          <a:lstStyle>
            <a:lvl1pPr>
              <a:defRPr sz="5000" b="1">
                <a:latin typeface="Calibri" pitchFamily="34" charset="0"/>
                <a:cs typeface="Iskoola Pota" pitchFamily="34" charset="0"/>
              </a:defRPr>
            </a:lvl1pPr>
          </a:lstStyle>
          <a:p>
            <a:r>
              <a:rPr lang="en-US" altLang="zh-CN" dirty="0"/>
              <a:t>Click to edit Master title style</a:t>
            </a:r>
          </a:p>
        </p:txBody>
      </p:sp>
      <p:sp>
        <p:nvSpPr>
          <p:cNvPr id="8195"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atin typeface="Calibri" pitchFamily="34" charset="0"/>
                <a:cs typeface="Iskoola Pota" pitchFamily="34" charset="0"/>
              </a:defRPr>
            </a:lvl1pPr>
          </a:lstStyle>
          <a:p>
            <a:r>
              <a:rPr lang="en-US" altLang="zh-CN" dirty="0"/>
              <a:t>Click to edit Master subtitle style</a:t>
            </a:r>
          </a:p>
        </p:txBody>
      </p:sp>
      <p:sp>
        <p:nvSpPr>
          <p:cNvPr id="8196" name="Rectangle 4"/>
          <p:cNvSpPr>
            <a:spLocks noGrp="1" noChangeArrowheads="1"/>
          </p:cNvSpPr>
          <p:nvPr>
            <p:ph type="dt" sz="half" idx="2"/>
          </p:nvPr>
        </p:nvSpPr>
        <p:spPr/>
        <p:txBody>
          <a:bodyPr/>
          <a:lstStyle>
            <a:lvl1pPr>
              <a:defRPr>
                <a:latin typeface="Calibri" pitchFamily="34" charset="0"/>
              </a:defRPr>
            </a:lvl1pPr>
          </a:lstStyle>
          <a:p>
            <a:pPr>
              <a:defRPr/>
            </a:pPr>
            <a:fld id="{FD6CDC6D-4EE0-4163-813D-9CD3796578B8}" type="datetimeFigureOut">
              <a:rPr lang="zh-CN" altLang="en-US" smtClean="0"/>
              <a:pPr>
                <a:defRPr/>
              </a:pPr>
              <a:t>2019/6/18</a:t>
            </a:fld>
            <a:endParaRPr lang="en-US" altLang="zh-CN"/>
          </a:p>
        </p:txBody>
      </p:sp>
      <p:sp>
        <p:nvSpPr>
          <p:cNvPr id="8197" name="Rectangle 5"/>
          <p:cNvSpPr>
            <a:spLocks noGrp="1" noChangeArrowheads="1"/>
          </p:cNvSpPr>
          <p:nvPr>
            <p:ph type="ftr" sz="quarter" idx="3"/>
          </p:nvPr>
        </p:nvSpPr>
        <p:spPr>
          <a:xfrm>
            <a:off x="3124200" y="6243638"/>
            <a:ext cx="2895600" cy="457200"/>
          </a:xfrm>
        </p:spPr>
        <p:txBody>
          <a:bodyPr/>
          <a:lstStyle>
            <a:lvl1pPr>
              <a:defRPr>
                <a:latin typeface="Calibri" pitchFamily="34" charset="0"/>
              </a:defRPr>
            </a:lvl1pPr>
          </a:lstStyle>
          <a:p>
            <a:pPr>
              <a:defRPr/>
            </a:pPr>
            <a:endParaRPr lang="zh-CN" altLang="en-US"/>
          </a:p>
        </p:txBody>
      </p:sp>
      <p:sp>
        <p:nvSpPr>
          <p:cNvPr id="8198" name="Rectangle 6"/>
          <p:cNvSpPr>
            <a:spLocks noGrp="1" noChangeArrowheads="1"/>
          </p:cNvSpPr>
          <p:nvPr>
            <p:ph type="sldNum" sz="quarter" idx="4"/>
          </p:nvPr>
        </p:nvSpPr>
        <p:spPr/>
        <p:txBody>
          <a:bodyPr/>
          <a:lstStyle>
            <a:lvl1pPr>
              <a:defRPr>
                <a:latin typeface="Calibri" pitchFamily="34" charset="0"/>
              </a:defRPr>
            </a:lvl1pPr>
          </a:lstStyle>
          <a:p>
            <a:pPr>
              <a:defRPr/>
            </a:pPr>
            <a:fld id="{8FC893D8-0101-4D6A-B8CF-851210C370AF}" type="slidenum">
              <a:rPr lang="zh-CN" altLang="en-US" smtClean="0"/>
              <a:pPr>
                <a:defRPr/>
              </a:pPr>
              <a:t>‹#›</a:t>
            </a:fld>
            <a:endParaRPr lang="en-US" altLang="zh-CN"/>
          </a:p>
        </p:txBody>
      </p:sp>
      <p:sp>
        <p:nvSpPr>
          <p:cNvPr id="8199"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endParaRPr lang="en-US">
              <a:latin typeface="Calibri" pitchFamily="34" charset="0"/>
            </a:endParaRPr>
          </a:p>
        </p:txBody>
      </p:sp>
      <p:sp>
        <p:nvSpPr>
          <p:cNvPr id="8200"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endParaRPr lang="en-US" dirty="0">
              <a:latin typeface="Calibri" pitchFamily="34" charset="0"/>
              <a:cs typeface="Iskoola Pota"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Calibri" pitchFamily="34" charset="0"/>
              </a:defRPr>
            </a:lvl1pPr>
          </a:lstStyle>
          <a:p>
            <a:pPr>
              <a:defRPr/>
            </a:pPr>
            <a:fld id="{2D1CC542-DA65-4D97-A79C-E6B794CDE341}" type="datetimeFigureOut">
              <a:rPr lang="zh-CN" altLang="en-US" smtClean="0"/>
              <a:pPr>
                <a:defRPr/>
              </a:pPr>
              <a:t>2019/6/18</a:t>
            </a:fld>
            <a:endParaRPr lang="en-US" altLang="zh-CN"/>
          </a:p>
        </p:txBody>
      </p:sp>
      <p:sp>
        <p:nvSpPr>
          <p:cNvPr id="5" name="Footer Placeholder 4"/>
          <p:cNvSpPr>
            <a:spLocks noGrp="1"/>
          </p:cNvSpPr>
          <p:nvPr>
            <p:ph type="ftr" sz="quarter" idx="11"/>
          </p:nvPr>
        </p:nvSpPr>
        <p:spPr/>
        <p:txBody>
          <a:bodyPr/>
          <a:lstStyle>
            <a:lvl1pPr>
              <a:defRPr>
                <a:latin typeface="Calibri" pitchFamily="34" charset="0"/>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atin typeface="Calibri" pitchFamily="34" charset="0"/>
              </a:defRPr>
            </a:lvl1pPr>
          </a:lstStyle>
          <a:p>
            <a:pPr>
              <a:defRPr/>
            </a:pPr>
            <a:fld id="{B21C098B-AF64-43D3-8114-98CE067A81C3}" type="slidenum">
              <a:rPr lang="zh-CN" altLang="en-US" smtClean="0"/>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atin typeface="Calibri" pitchFamily="34" charset="0"/>
              </a:defRPr>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atin typeface="Calibri" pitchFamily="34" charset="0"/>
              </a:defRPr>
            </a:lvl1pPr>
          </a:lstStyle>
          <a:p>
            <a:pPr>
              <a:defRPr/>
            </a:pPr>
            <a:fld id="{42868A76-9B69-47BF-9E4A-96902B10A1E7}" type="datetimeFigureOut">
              <a:rPr lang="zh-CN" altLang="en-US" smtClean="0"/>
              <a:pPr>
                <a:defRPr/>
              </a:pPr>
              <a:t>2019/6/18</a:t>
            </a:fld>
            <a:endParaRPr lang="en-US" altLang="zh-CN"/>
          </a:p>
        </p:txBody>
      </p:sp>
      <p:sp>
        <p:nvSpPr>
          <p:cNvPr id="5" name="Footer Placeholder 4"/>
          <p:cNvSpPr>
            <a:spLocks noGrp="1"/>
          </p:cNvSpPr>
          <p:nvPr>
            <p:ph type="ftr" sz="quarter" idx="11"/>
          </p:nvPr>
        </p:nvSpPr>
        <p:spPr/>
        <p:txBody>
          <a:bodyPr/>
          <a:lstStyle>
            <a:lvl1pPr>
              <a:defRPr>
                <a:latin typeface="Calibri" pitchFamily="34" charset="0"/>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atin typeface="Calibri" pitchFamily="34" charset="0"/>
              </a:defRPr>
            </a:lvl1pPr>
          </a:lstStyle>
          <a:p>
            <a:pPr>
              <a:defRPr/>
            </a:pPr>
            <a:fld id="{E69D6CF1-B5B0-45CC-A494-C560F80EF87C}" type="slidenum">
              <a:rPr lang="zh-CN" altLang="en-US" smtClean="0"/>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Calibri" pitchFamily="34" charset="0"/>
              </a:defRPr>
            </a:lvl1pPr>
          </a:lstStyle>
          <a:p>
            <a:pPr>
              <a:defRPr/>
            </a:pPr>
            <a:fld id="{66193BC6-5129-4551-9A0C-D589C1FA99E0}" type="datetimeFigureOut">
              <a:rPr lang="zh-CN" altLang="en-US" smtClean="0"/>
              <a:pPr>
                <a:defRPr/>
              </a:pPr>
              <a:t>2019/6/18</a:t>
            </a:fld>
            <a:endParaRPr lang="en-US" altLang="zh-CN"/>
          </a:p>
        </p:txBody>
      </p:sp>
      <p:sp>
        <p:nvSpPr>
          <p:cNvPr id="6" name="Footer Placeholder 5"/>
          <p:cNvSpPr>
            <a:spLocks noGrp="1"/>
          </p:cNvSpPr>
          <p:nvPr>
            <p:ph type="ftr" sz="quarter" idx="11"/>
          </p:nvPr>
        </p:nvSpPr>
        <p:spPr/>
        <p:txBody>
          <a:bodyPr/>
          <a:lstStyle>
            <a:lvl1pPr>
              <a:defRPr>
                <a:latin typeface="Calibri" pitchFamily="34" charset="0"/>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atin typeface="Calibri" pitchFamily="34" charset="0"/>
              </a:defRPr>
            </a:lvl1pPr>
          </a:lstStyle>
          <a:p>
            <a:pPr>
              <a:defRPr/>
            </a:pPr>
            <a:fld id="{9A794451-DE8C-4F17-A5F8-6E9471C791FF}" type="slidenum">
              <a:rPr lang="zh-CN" altLang="en-US" smtClean="0"/>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Calibri" pitchFamily="34" charset="0"/>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Calibri" pitchFamily="34" charset="0"/>
              </a:defRPr>
            </a:lvl1pPr>
          </a:lstStyle>
          <a:p>
            <a:pPr>
              <a:defRPr/>
            </a:pPr>
            <a:fld id="{1DD4FC51-53E4-4B4A-8408-0D7C776F0E9B}" type="datetimeFigureOut">
              <a:rPr lang="zh-CN" altLang="en-US" smtClean="0"/>
              <a:pPr>
                <a:defRPr/>
              </a:pPr>
              <a:t>2019/6/18</a:t>
            </a:fld>
            <a:endParaRPr lang="en-US" altLang="zh-CN"/>
          </a:p>
        </p:txBody>
      </p:sp>
      <p:sp>
        <p:nvSpPr>
          <p:cNvPr id="8" name="Footer Placeholder 7"/>
          <p:cNvSpPr>
            <a:spLocks noGrp="1"/>
          </p:cNvSpPr>
          <p:nvPr>
            <p:ph type="ftr" sz="quarter" idx="11"/>
          </p:nvPr>
        </p:nvSpPr>
        <p:spPr/>
        <p:txBody>
          <a:bodyPr/>
          <a:lstStyle>
            <a:lvl1pPr>
              <a:defRPr>
                <a:latin typeface="Calibri" pitchFamily="34" charset="0"/>
              </a:defRPr>
            </a:lvl1pPr>
          </a:lstStyle>
          <a:p>
            <a:pPr>
              <a:defRPr/>
            </a:pPr>
            <a:endParaRPr lang="zh-CN" altLang="en-US"/>
          </a:p>
        </p:txBody>
      </p:sp>
      <p:sp>
        <p:nvSpPr>
          <p:cNvPr id="9" name="Slide Number Placeholder 8"/>
          <p:cNvSpPr>
            <a:spLocks noGrp="1"/>
          </p:cNvSpPr>
          <p:nvPr>
            <p:ph type="sldNum" sz="quarter" idx="12"/>
          </p:nvPr>
        </p:nvSpPr>
        <p:spPr/>
        <p:txBody>
          <a:bodyPr/>
          <a:lstStyle>
            <a:lvl1pPr>
              <a:defRPr>
                <a:latin typeface="Calibri" pitchFamily="34" charset="0"/>
              </a:defRPr>
            </a:lvl1pPr>
          </a:lstStyle>
          <a:p>
            <a:pPr>
              <a:defRPr/>
            </a:pPr>
            <a:fld id="{74DCD14B-0E03-45C4-9CB4-EC1BF9DBC28A}" type="slidenum">
              <a:rPr lang="zh-CN" altLang="en-US" smtClean="0"/>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a:t>Click to edit Master title style</a:t>
            </a:r>
          </a:p>
        </p:txBody>
      </p:sp>
      <p:sp>
        <p:nvSpPr>
          <p:cNvPr id="3" name="Date Placeholder 2"/>
          <p:cNvSpPr>
            <a:spLocks noGrp="1"/>
          </p:cNvSpPr>
          <p:nvPr>
            <p:ph type="dt" sz="half" idx="10"/>
          </p:nvPr>
        </p:nvSpPr>
        <p:spPr/>
        <p:txBody>
          <a:bodyPr/>
          <a:lstStyle>
            <a:lvl1pPr>
              <a:defRPr>
                <a:latin typeface="Calibri" pitchFamily="34" charset="0"/>
              </a:defRPr>
            </a:lvl1pPr>
          </a:lstStyle>
          <a:p>
            <a:pPr>
              <a:defRPr/>
            </a:pPr>
            <a:fld id="{29D9692D-24FD-4BF2-843F-111947BC32F2}" type="datetimeFigureOut">
              <a:rPr lang="zh-CN" altLang="en-US" smtClean="0"/>
              <a:pPr>
                <a:defRPr/>
              </a:pPr>
              <a:t>2019/6/18</a:t>
            </a:fld>
            <a:endParaRPr lang="en-US" altLang="zh-CN"/>
          </a:p>
        </p:txBody>
      </p:sp>
      <p:sp>
        <p:nvSpPr>
          <p:cNvPr id="4" name="Footer Placeholder 3"/>
          <p:cNvSpPr>
            <a:spLocks noGrp="1"/>
          </p:cNvSpPr>
          <p:nvPr>
            <p:ph type="ftr" sz="quarter" idx="11"/>
          </p:nvPr>
        </p:nvSpPr>
        <p:spPr/>
        <p:txBody>
          <a:bodyPr/>
          <a:lstStyle>
            <a:lvl1pPr>
              <a:defRPr>
                <a:latin typeface="Calibri" pitchFamily="34" charset="0"/>
              </a:defRPr>
            </a:lvl1pPr>
          </a:lstStyle>
          <a:p>
            <a:pPr>
              <a:defRPr/>
            </a:pPr>
            <a:endParaRPr lang="zh-CN" altLang="en-US"/>
          </a:p>
        </p:txBody>
      </p:sp>
      <p:sp>
        <p:nvSpPr>
          <p:cNvPr id="5" name="Slide Number Placeholder 4"/>
          <p:cNvSpPr>
            <a:spLocks noGrp="1"/>
          </p:cNvSpPr>
          <p:nvPr>
            <p:ph type="sldNum" sz="quarter" idx="12"/>
          </p:nvPr>
        </p:nvSpPr>
        <p:spPr/>
        <p:txBody>
          <a:bodyPr/>
          <a:lstStyle>
            <a:lvl1pPr>
              <a:defRPr>
                <a:latin typeface="Calibri" pitchFamily="34" charset="0"/>
              </a:defRPr>
            </a:lvl1pPr>
          </a:lstStyle>
          <a:p>
            <a:pPr>
              <a:defRPr/>
            </a:pPr>
            <a:fld id="{B41499DB-596E-406E-A850-ADBBE4ACAF62}" type="slidenum">
              <a:rPr lang="zh-CN" altLang="en-US"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9207657F-E8DF-42F6-A122-EC46F94251E9}" type="datetimeFigureOut">
              <a:rPr lang="zh-CN" altLang="en-US" smtClean="0"/>
              <a:pPr>
                <a:defRPr/>
              </a:pPr>
              <a:t>2019/6/18</a:t>
            </a:fld>
            <a:endParaRPr lang="en-US" altLang="zh-CN"/>
          </a:p>
        </p:txBody>
      </p:sp>
      <p:sp>
        <p:nvSpPr>
          <p:cNvPr id="3" name="Footer Placeholder 2"/>
          <p:cNvSpPr>
            <a:spLocks noGrp="1"/>
          </p:cNvSpPr>
          <p:nvPr>
            <p:ph type="ftr" sz="quarter" idx="11"/>
          </p:nvPr>
        </p:nvSpPr>
        <p:spPr/>
        <p:txBody>
          <a:bodyPr/>
          <a:lstStyle>
            <a:lvl1pPr>
              <a:defRPr/>
            </a:lvl1pPr>
          </a:lstStyle>
          <a:p>
            <a:pPr>
              <a:defRPr/>
            </a:pPr>
            <a:endParaRPr lang="zh-CN" altLang="en-US"/>
          </a:p>
        </p:txBody>
      </p:sp>
      <p:sp>
        <p:nvSpPr>
          <p:cNvPr id="4" name="Slide Number Placeholder 3"/>
          <p:cNvSpPr>
            <a:spLocks noGrp="1"/>
          </p:cNvSpPr>
          <p:nvPr>
            <p:ph type="sldNum" sz="quarter" idx="12"/>
          </p:nvPr>
        </p:nvSpPr>
        <p:spPr/>
        <p:txBody>
          <a:bodyPr/>
          <a:lstStyle>
            <a:lvl1pPr>
              <a:defRPr/>
            </a:lvl1pPr>
          </a:lstStyle>
          <a:p>
            <a:pPr>
              <a:defRPr/>
            </a:pPr>
            <a:fld id="{C6521A6B-41C5-43CE-82EC-EE99A774C932}" type="slidenum">
              <a:rPr lang="zh-CN" altLang="en-US"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0691453A-18CE-4CCF-8E9D-7173DDA93971}" type="datetimeFigureOut">
              <a:rPr lang="zh-CN" altLang="en-US" smtClean="0"/>
              <a:pPr>
                <a:defRPr/>
              </a:pPr>
              <a:t>2019/6/18</a:t>
            </a:fld>
            <a:endParaRPr lang="en-US" altLang="zh-CN"/>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6ADBB9F9-E069-4585-84F6-CF7DDE5C2DA8}" type="slidenum">
              <a:rPr lang="zh-CN" altLang="en-US"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F046D232-B991-4B2D-9ABC-E8235D4C177C}" type="datetimeFigureOut">
              <a:rPr lang="zh-CN" altLang="en-US" smtClean="0"/>
              <a:pPr>
                <a:defRPr/>
              </a:pPr>
              <a:t>2019/6/18</a:t>
            </a:fld>
            <a:endParaRPr lang="en-US" altLang="zh-CN"/>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422185E5-D22F-4151-B7A0-3D1C0E84A9F2}" type="slidenum">
              <a:rPr lang="zh-CN" altLang="en-US" smtClean="0"/>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9B0466F-4628-4FD0-96E3-BD8917FD5FD0}" type="datetimeFigureOut">
              <a:rPr lang="zh-CN" altLang="en-US" smtClean="0"/>
              <a:pPr>
                <a:defRPr/>
              </a:pPr>
              <a:t>2019/6/18</a:t>
            </a:fld>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D4B01DE-58FC-4595-BD9C-BE624D0330DD}" type="slidenum">
              <a:rPr lang="zh-CN" altLang="en-US"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86B8E33-68C8-450A-AAFD-1D2427969E67}" type="datetimeFigureOut">
              <a:rPr lang="zh-CN" altLang="en-US" smtClean="0"/>
              <a:pPr>
                <a:defRPr/>
              </a:pPr>
              <a:t>2019/6/18</a:t>
            </a:fld>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5EABE93-1989-44EE-8354-A9E88BBC465A}" type="slidenum">
              <a:rPr lang="zh-CN" altLang="en-US" smtClean="0"/>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3638"/>
            <a:ext cx="2133600" cy="457200"/>
          </a:xfrm>
        </p:spPr>
        <p:txBody>
          <a:bodyPr/>
          <a:lstStyle>
            <a:lvl1pPr>
              <a:defRPr/>
            </a:lvl1pPr>
          </a:lstStyle>
          <a:p>
            <a:pPr>
              <a:defRPr/>
            </a:pPr>
            <a:fld id="{D92F4355-5CB1-4ACF-BDD9-483BD3E683DD}" type="datetimeFigureOut">
              <a:rPr lang="zh-CN" altLang="en-US" smtClean="0"/>
              <a:pPr>
                <a:defRPr/>
              </a:pPr>
              <a:t>2019/6/18</a:t>
            </a:fld>
            <a:endParaRPr lang="en-US" altLang="zh-CN">
              <a:solidFill>
                <a:srgbClr val="045C75"/>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pPr>
              <a:defRPr/>
            </a:pPr>
            <a:fld id="{17C11BA6-15D4-4D8B-A31B-49D97CB27F55}" type="slidenum">
              <a:rPr lang="zh-CN" altLang="en-US" smtClean="0"/>
              <a:pPr>
                <a:defRPr/>
              </a:pPr>
              <a:t>‹#›</a:t>
            </a:fld>
            <a:endParaRPr lang="en-US" altLang="zh-CN">
              <a:solidFill>
                <a:srgbClr val="045C75"/>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243638"/>
            <a:ext cx="2133600" cy="457200"/>
          </a:xfrm>
        </p:spPr>
        <p:txBody>
          <a:bodyPr/>
          <a:lstStyle>
            <a:lvl1pPr>
              <a:defRPr/>
            </a:lvl1pPr>
          </a:lstStyle>
          <a:p>
            <a:pPr>
              <a:defRPr/>
            </a:pPr>
            <a:fld id="{D92F4355-5CB1-4ACF-BDD9-483BD3E683DD}" type="datetimeFigureOut">
              <a:rPr lang="zh-CN" altLang="en-US" smtClean="0"/>
              <a:pPr>
                <a:defRPr/>
              </a:pPr>
              <a:t>2019/6/18</a:t>
            </a:fld>
            <a:endParaRPr lang="en-US" altLang="zh-CN">
              <a:solidFill>
                <a:srgbClr val="045C75"/>
              </a:solidFill>
            </a:endParaRPr>
          </a:p>
        </p:txBody>
      </p:sp>
      <p:sp>
        <p:nvSpPr>
          <p:cNvPr id="8" name="Footer Placeholder 7"/>
          <p:cNvSpPr>
            <a:spLocks noGrp="1"/>
          </p:cNvSpPr>
          <p:nvPr>
            <p:ph type="ftr" sz="quarter" idx="11"/>
          </p:nvPr>
        </p:nvSpPr>
        <p:spPr>
          <a:xfrm>
            <a:off x="3124200" y="6248400"/>
            <a:ext cx="2895600" cy="457200"/>
          </a:xfrm>
        </p:spPr>
        <p:txBody>
          <a:bodyPr/>
          <a:lstStyle>
            <a:lvl1pPr>
              <a:defRPr/>
            </a:lvl1pPr>
          </a:lstStyle>
          <a:p>
            <a:pPr>
              <a:defRPr/>
            </a:pPr>
            <a:endParaRPr lang="zh-CN" altLang="en-US"/>
          </a:p>
        </p:txBody>
      </p:sp>
      <p:sp>
        <p:nvSpPr>
          <p:cNvPr id="9" name="Slide Number Placeholder 8"/>
          <p:cNvSpPr>
            <a:spLocks noGrp="1"/>
          </p:cNvSpPr>
          <p:nvPr>
            <p:ph type="sldNum" sz="quarter" idx="12"/>
          </p:nvPr>
        </p:nvSpPr>
        <p:spPr>
          <a:xfrm>
            <a:off x="6553200" y="6243638"/>
            <a:ext cx="2133600" cy="457200"/>
          </a:xfrm>
        </p:spPr>
        <p:txBody>
          <a:bodyPr/>
          <a:lstStyle>
            <a:lvl1pPr>
              <a:defRPr/>
            </a:lvl1pPr>
          </a:lstStyle>
          <a:p>
            <a:pPr>
              <a:defRPr/>
            </a:pPr>
            <a:fld id="{17C11BA6-15D4-4D8B-A31B-49D97CB27F55}" type="slidenum">
              <a:rPr lang="zh-CN" altLang="en-US" smtClean="0"/>
              <a:pPr>
                <a:defRPr/>
              </a:pPr>
              <a:t>‹#›</a:t>
            </a:fld>
            <a:endParaRPr lang="en-US" altLang="zh-CN">
              <a:solidFill>
                <a:srgbClr val="045C75"/>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3638"/>
            <a:ext cx="2133600" cy="457200"/>
          </a:xfrm>
        </p:spPr>
        <p:txBody>
          <a:bodyPr/>
          <a:lstStyle>
            <a:lvl1pPr>
              <a:defRPr/>
            </a:lvl1pPr>
          </a:lstStyle>
          <a:p>
            <a:pPr>
              <a:defRPr/>
            </a:pPr>
            <a:fld id="{D92F4355-5CB1-4ACF-BDD9-483BD3E683DD}" type="datetimeFigureOut">
              <a:rPr lang="zh-CN" altLang="en-US" smtClean="0"/>
              <a:pPr>
                <a:defRPr/>
              </a:pPr>
              <a:t>2019/6/18</a:t>
            </a:fld>
            <a:endParaRPr lang="en-US" altLang="zh-CN">
              <a:solidFill>
                <a:srgbClr val="045C75"/>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pPr>
              <a:defRPr/>
            </a:pPr>
            <a:fld id="{17C11BA6-15D4-4D8B-A31B-49D97CB27F55}" type="slidenum">
              <a:rPr lang="zh-CN" altLang="en-US" smtClean="0"/>
              <a:pPr>
                <a:defRPr/>
              </a:pPr>
              <a:t>‹#›</a:t>
            </a:fld>
            <a:endParaRPr lang="en-US" altLang="zh-CN">
              <a:solidFill>
                <a:srgbClr val="045C75"/>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3638"/>
            <a:ext cx="2133600" cy="457200"/>
          </a:xfrm>
        </p:spPr>
        <p:txBody>
          <a:bodyPr/>
          <a:lstStyle>
            <a:lvl1pPr>
              <a:defRPr/>
            </a:lvl1pPr>
          </a:lstStyle>
          <a:p>
            <a:pPr>
              <a:defRPr/>
            </a:pPr>
            <a:fld id="{D92F4355-5CB1-4ACF-BDD9-483BD3E683DD}" type="datetimeFigureOut">
              <a:rPr lang="zh-CN" altLang="en-US" smtClean="0"/>
              <a:pPr>
                <a:defRPr/>
              </a:pPr>
              <a:t>2019/6/18</a:t>
            </a:fld>
            <a:endParaRPr lang="en-US" altLang="zh-CN">
              <a:solidFill>
                <a:srgbClr val="045C75"/>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pPr>
              <a:defRPr/>
            </a:pPr>
            <a:fld id="{17C11BA6-15D4-4D8B-A31B-49D97CB27F55}" type="slidenum">
              <a:rPr lang="zh-CN" altLang="en-US" smtClean="0"/>
              <a:pPr>
                <a:defRPr/>
              </a:pPr>
              <a:t>‹#›</a:t>
            </a:fld>
            <a:endParaRPr lang="en-US" altLang="zh-CN">
              <a:solidFill>
                <a:srgbClr val="045C75"/>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dirty="0"/>
              <a:t>Click to edit Master title style</a:t>
            </a:r>
          </a:p>
        </p:txBody>
      </p:sp>
      <p:sp>
        <p:nvSpPr>
          <p:cNvPr id="7171"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7172"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b="0">
                <a:latin typeface="Calibri" pitchFamily="34" charset="0"/>
              </a:defRPr>
            </a:lvl1pPr>
          </a:lstStyle>
          <a:p>
            <a:pPr>
              <a:defRPr/>
            </a:pPr>
            <a:fld id="{D92F4355-5CB1-4ACF-BDD9-483BD3E683DD}" type="datetimeFigureOut">
              <a:rPr lang="zh-CN" altLang="en-US" smtClean="0"/>
              <a:pPr>
                <a:defRPr/>
              </a:pPr>
              <a:t>2019/6/18</a:t>
            </a:fld>
            <a:endParaRPr lang="en-US" altLang="zh-CN">
              <a:solidFill>
                <a:srgbClr val="045C75"/>
              </a:solidFill>
            </a:endParaRPr>
          </a:p>
        </p:txBody>
      </p:sp>
      <p:sp>
        <p:nvSpPr>
          <p:cNvPr id="717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defRPr sz="1200" b="0">
                <a:latin typeface="Calibri" pitchFamily="34" charset="0"/>
              </a:defRPr>
            </a:lvl1pPr>
          </a:lstStyle>
          <a:p>
            <a:pPr>
              <a:defRPr/>
            </a:pPr>
            <a:endParaRPr lang="zh-CN" altLang="en-US"/>
          </a:p>
        </p:txBody>
      </p:sp>
      <p:sp>
        <p:nvSpPr>
          <p:cNvPr id="7174"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b="0">
                <a:latin typeface="Calibri" pitchFamily="34" charset="0"/>
              </a:defRPr>
            </a:lvl1pPr>
          </a:lstStyle>
          <a:p>
            <a:pPr>
              <a:defRPr/>
            </a:pPr>
            <a:fld id="{17C11BA6-15D4-4D8B-A31B-49D97CB27F55}" type="slidenum">
              <a:rPr lang="zh-CN" altLang="en-US" smtClean="0"/>
              <a:pPr>
                <a:defRPr/>
              </a:pPr>
              <a:t>‹#›</a:t>
            </a:fld>
            <a:endParaRPr lang="en-US" altLang="zh-CN">
              <a:solidFill>
                <a:srgbClr val="045C75"/>
              </a:solidFill>
            </a:endParaRPr>
          </a:p>
        </p:txBody>
      </p:sp>
      <p:sp>
        <p:nvSpPr>
          <p:cNvPr id="7175"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endParaRPr lang="en-US">
              <a:latin typeface="Calibri" pitchFamily="34" charset="0"/>
            </a:endParaRPr>
          </a:p>
        </p:txBody>
      </p:sp>
      <p:sp>
        <p:nvSpPr>
          <p:cNvPr id="7176"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endParaRPr lang="en-US">
              <a:latin typeface="Calibri" pitchFamily="34" charset="0"/>
            </a:endParaRPr>
          </a:p>
        </p:txBody>
      </p:sp>
    </p:spTree>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 id="2147484028" r:id="rId12"/>
    <p:sldLayoutId id="2147484029" r:id="rId13"/>
    <p:sldLayoutId id="2147484030" r:id="rId14"/>
    <p:sldLayoutId id="2147484031" r:id="rId15"/>
  </p:sldLayoutIdLst>
  <p:txStyles>
    <p:titleStyle>
      <a:lvl1pPr algn="l" rtl="0" eaLnBrk="1" fontAlgn="base" hangingPunct="1">
        <a:spcBef>
          <a:spcPct val="0"/>
        </a:spcBef>
        <a:spcAft>
          <a:spcPct val="0"/>
        </a:spcAft>
        <a:defRPr sz="4400" b="1">
          <a:solidFill>
            <a:schemeClr val="tx2"/>
          </a:solidFill>
          <a:latin typeface="Calibri" pitchFamily="34" charset="0"/>
          <a:ea typeface="+mj-ea"/>
          <a:cs typeface="+mj-cs"/>
        </a:defRPr>
      </a:lvl1pPr>
      <a:lvl2pPr algn="l" rtl="0" eaLnBrk="1" fontAlgn="base" hangingPunct="1">
        <a:spcBef>
          <a:spcPct val="0"/>
        </a:spcBef>
        <a:spcAft>
          <a:spcPct val="0"/>
        </a:spcAft>
        <a:defRPr sz="4200">
          <a:solidFill>
            <a:schemeClr val="tx2"/>
          </a:solidFill>
          <a:latin typeface="Garamond" pitchFamily="18" charset="0"/>
          <a:ea typeface="宋体" pitchFamily="2" charset="-122"/>
        </a:defRPr>
      </a:lvl2pPr>
      <a:lvl3pPr algn="l" rtl="0" eaLnBrk="1" fontAlgn="base" hangingPunct="1">
        <a:spcBef>
          <a:spcPct val="0"/>
        </a:spcBef>
        <a:spcAft>
          <a:spcPct val="0"/>
        </a:spcAft>
        <a:defRPr sz="4200">
          <a:solidFill>
            <a:schemeClr val="tx2"/>
          </a:solidFill>
          <a:latin typeface="Garamond" pitchFamily="18" charset="0"/>
          <a:ea typeface="宋体" pitchFamily="2" charset="-122"/>
        </a:defRPr>
      </a:lvl3pPr>
      <a:lvl4pPr algn="l" rtl="0" eaLnBrk="1" fontAlgn="base" hangingPunct="1">
        <a:spcBef>
          <a:spcPct val="0"/>
        </a:spcBef>
        <a:spcAft>
          <a:spcPct val="0"/>
        </a:spcAft>
        <a:defRPr sz="4200">
          <a:solidFill>
            <a:schemeClr val="tx2"/>
          </a:solidFill>
          <a:latin typeface="Garamond" pitchFamily="18" charset="0"/>
          <a:ea typeface="宋体" pitchFamily="2" charset="-122"/>
        </a:defRPr>
      </a:lvl4pPr>
      <a:lvl5pPr algn="l" rtl="0" eaLnBrk="1" fontAlgn="base" hangingPunct="1">
        <a:spcBef>
          <a:spcPct val="0"/>
        </a:spcBef>
        <a:spcAft>
          <a:spcPct val="0"/>
        </a:spcAft>
        <a:defRPr sz="4200">
          <a:solidFill>
            <a:schemeClr val="tx2"/>
          </a:solidFill>
          <a:latin typeface="Garamond" pitchFamily="18" charset="0"/>
          <a:ea typeface="宋体" pitchFamily="2" charset="-122"/>
        </a:defRPr>
      </a:lvl5pPr>
      <a:lvl6pPr marL="457200" algn="l" rtl="0" eaLnBrk="1" fontAlgn="base" hangingPunct="1">
        <a:spcBef>
          <a:spcPct val="0"/>
        </a:spcBef>
        <a:spcAft>
          <a:spcPct val="0"/>
        </a:spcAft>
        <a:defRPr sz="4200">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4200">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4200">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1" fontAlgn="base" hangingPunct="1">
        <a:spcBef>
          <a:spcPct val="20000"/>
        </a:spcBef>
        <a:spcAft>
          <a:spcPct val="0"/>
        </a:spcAft>
        <a:buClr>
          <a:schemeClr val="accent1"/>
        </a:buClr>
        <a:buSzPct val="65000"/>
        <a:buFont typeface="Wingdings" pitchFamily="2" charset="2"/>
        <a:buChar char="n"/>
        <a:defRPr sz="3200">
          <a:solidFill>
            <a:schemeClr val="tx1"/>
          </a:solidFill>
          <a:latin typeface="Calibri" pitchFamily="34" charset="0"/>
          <a:ea typeface="+mn-ea"/>
          <a:cs typeface="+mn-cs"/>
        </a:defRPr>
      </a:lvl1pPr>
      <a:lvl2pPr marL="669925" indent="-325438" algn="l" rtl="0" eaLnBrk="1" fontAlgn="base" hangingPunct="1">
        <a:spcBef>
          <a:spcPct val="20000"/>
        </a:spcBef>
        <a:spcAft>
          <a:spcPct val="0"/>
        </a:spcAft>
        <a:buClr>
          <a:schemeClr val="accent2"/>
        </a:buClr>
        <a:buSzPct val="60000"/>
        <a:buFont typeface="Wingdings" pitchFamily="2" charset="2"/>
        <a:buChar char="q"/>
        <a:defRPr sz="2800">
          <a:solidFill>
            <a:schemeClr val="tx1"/>
          </a:solidFill>
          <a:latin typeface="Calibri" pitchFamily="34" charset="0"/>
          <a:ea typeface="+mn-ea"/>
        </a:defRPr>
      </a:lvl2pPr>
      <a:lvl3pPr marL="1022350" indent="-350838" algn="l" rtl="0" eaLnBrk="1" fontAlgn="base" hangingPunct="1">
        <a:spcBef>
          <a:spcPct val="20000"/>
        </a:spcBef>
        <a:spcAft>
          <a:spcPct val="0"/>
        </a:spcAft>
        <a:buClr>
          <a:schemeClr val="accent1"/>
        </a:buClr>
        <a:buSzPct val="65000"/>
        <a:buFont typeface="Wingdings" pitchFamily="2" charset="2"/>
        <a:buChar char="n"/>
        <a:defRPr sz="2400">
          <a:solidFill>
            <a:schemeClr val="tx1"/>
          </a:solidFill>
          <a:latin typeface="Calibri" pitchFamily="34" charset="0"/>
          <a:ea typeface="+mn-ea"/>
        </a:defRPr>
      </a:lvl3pPr>
      <a:lvl4pPr marL="1339850" indent="-315913" algn="l" rtl="0" eaLnBrk="1" fontAlgn="base" hangingPunct="1">
        <a:spcBef>
          <a:spcPct val="20000"/>
        </a:spcBef>
        <a:spcAft>
          <a:spcPct val="0"/>
        </a:spcAft>
        <a:buClr>
          <a:schemeClr val="accent2"/>
        </a:buClr>
        <a:buSzPct val="70000"/>
        <a:buFont typeface="Wingdings" pitchFamily="2" charset="2"/>
        <a:buChar char="q"/>
        <a:defRPr sz="2200">
          <a:solidFill>
            <a:schemeClr val="tx1"/>
          </a:solidFill>
          <a:latin typeface="Calibri" pitchFamily="34" charset="0"/>
          <a:ea typeface="+mn-ea"/>
        </a:defRPr>
      </a:lvl4pPr>
      <a:lvl5pPr marL="16811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Calibri" pitchFamily="34" charset="0"/>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fontAlgn="auto">
              <a:spcAft>
                <a:spcPts val="0"/>
              </a:spcAft>
              <a:defRPr/>
            </a:pPr>
            <a:r>
              <a:rPr lang="en-US" altLang="zh-CN" sz="4400" smtClean="0"/>
              <a:t>CS2102</a:t>
            </a:r>
            <a:br>
              <a:rPr lang="en-US" altLang="zh-CN" sz="4400" smtClean="0"/>
            </a:br>
            <a:r>
              <a:rPr lang="en-US" altLang="zh-CN" sz="4400" smtClean="0"/>
              <a:t>Database </a:t>
            </a:r>
            <a:r>
              <a:rPr lang="en-US" altLang="zh-CN" sz="4400" dirty="0"/>
              <a:t>Systems</a:t>
            </a:r>
            <a:endParaRPr lang="en-US" sz="4400" dirty="0">
              <a:solidFill>
                <a:schemeClr val="tx1"/>
              </a:solidFill>
            </a:endParaRPr>
          </a:p>
        </p:txBody>
      </p:sp>
      <p:sp>
        <p:nvSpPr>
          <p:cNvPr id="13315" name="Subtitle 2"/>
          <p:cNvSpPr>
            <a:spLocks noGrp="1"/>
          </p:cNvSpPr>
          <p:nvPr>
            <p:ph type="subTitle" idx="1"/>
          </p:nvPr>
        </p:nvSpPr>
        <p:spPr>
          <a:xfrm>
            <a:off x="1981200" y="3962400"/>
            <a:ext cx="6553200" cy="2538434"/>
          </a:xfrm>
        </p:spPr>
        <p:txBody>
          <a:bodyPr>
            <a:normAutofit/>
          </a:bodyPr>
          <a:lstStyle/>
          <a:p>
            <a:pPr marL="26988" eaLnBrk="1" hangingPunct="1"/>
            <a:endParaRPr lang="en-US" altLang="zh-CN" sz="2600" dirty="0">
              <a:ea typeface="宋体"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Algebra: Motivation</a:t>
            </a:r>
            <a:endParaRPr lang="en-SG" dirty="0"/>
          </a:p>
        </p:txBody>
      </p:sp>
      <p:sp>
        <p:nvSpPr>
          <p:cNvPr id="3" name="Content Placeholder 2"/>
          <p:cNvSpPr>
            <a:spLocks noGrp="1"/>
          </p:cNvSpPr>
          <p:nvPr>
            <p:ph idx="1"/>
          </p:nvPr>
        </p:nvSpPr>
        <p:spPr/>
        <p:txBody>
          <a:bodyPr>
            <a:normAutofit fontScale="92500" lnSpcReduction="10000"/>
          </a:bodyPr>
          <a:lstStyle/>
          <a:p>
            <a:r>
              <a:rPr lang="en-US" dirty="0"/>
              <a:t>In SQL, we specify </a:t>
            </a:r>
            <a:r>
              <a:rPr lang="en-US" dirty="0">
                <a:solidFill>
                  <a:srgbClr val="0000FF"/>
                </a:solidFill>
              </a:rPr>
              <a:t>what</a:t>
            </a:r>
            <a:r>
              <a:rPr lang="en-US" dirty="0"/>
              <a:t> we want to get from the tables</a:t>
            </a:r>
          </a:p>
          <a:p>
            <a:pPr lvl="1"/>
            <a:r>
              <a:rPr lang="en-US" dirty="0"/>
              <a:t>SELECT 	DISTINT Company, Shop</a:t>
            </a:r>
            <a:br>
              <a:rPr lang="en-US" dirty="0"/>
            </a:br>
            <a:r>
              <a:rPr lang="en-US" dirty="0"/>
              <a:t>FROM 	Produce, Sell</a:t>
            </a:r>
            <a:br>
              <a:rPr lang="en-US" dirty="0"/>
            </a:br>
            <a:r>
              <a:rPr lang="en-US" dirty="0"/>
              <a:t>WHERE	</a:t>
            </a:r>
            <a:r>
              <a:rPr lang="en-US" dirty="0" err="1"/>
              <a:t>Produce.Product</a:t>
            </a:r>
            <a:r>
              <a:rPr lang="en-US" dirty="0"/>
              <a:t> = </a:t>
            </a:r>
            <a:r>
              <a:rPr lang="en-US" dirty="0" err="1"/>
              <a:t>Sell.Product</a:t>
            </a:r>
            <a:r>
              <a:rPr lang="en-US" dirty="0"/>
              <a:t> AND 			</a:t>
            </a:r>
            <a:r>
              <a:rPr lang="en-US" dirty="0" err="1"/>
              <a:t>Sell.Product</a:t>
            </a:r>
            <a:r>
              <a:rPr lang="en-US" dirty="0"/>
              <a:t> = ‘Toy’</a:t>
            </a:r>
          </a:p>
          <a:p>
            <a:r>
              <a:rPr lang="en-US" dirty="0"/>
              <a:t>But the database needs to figure out </a:t>
            </a:r>
            <a:r>
              <a:rPr lang="en-US" dirty="0">
                <a:solidFill>
                  <a:srgbClr val="0000FF"/>
                </a:solidFill>
              </a:rPr>
              <a:t>how</a:t>
            </a:r>
            <a:r>
              <a:rPr lang="en-US" dirty="0"/>
              <a:t> to get it done</a:t>
            </a:r>
          </a:p>
          <a:p>
            <a:r>
              <a:rPr lang="en-US" dirty="0"/>
              <a:t>The transformation from </a:t>
            </a:r>
            <a:r>
              <a:rPr lang="en-US" dirty="0">
                <a:solidFill>
                  <a:srgbClr val="0000FF"/>
                </a:solidFill>
              </a:rPr>
              <a:t>what</a:t>
            </a:r>
            <a:r>
              <a:rPr lang="en-US" dirty="0"/>
              <a:t> to </a:t>
            </a:r>
            <a:r>
              <a:rPr lang="en-US" dirty="0">
                <a:solidFill>
                  <a:srgbClr val="0000FF"/>
                </a:solidFill>
              </a:rPr>
              <a:t>how</a:t>
            </a:r>
            <a:r>
              <a:rPr lang="en-US" dirty="0"/>
              <a:t> is done with </a:t>
            </a:r>
            <a:r>
              <a:rPr lang="en-US" dirty="0">
                <a:solidFill>
                  <a:srgbClr val="C00000"/>
                </a:solidFill>
              </a:rPr>
              <a:t>relational algebra</a:t>
            </a:r>
            <a:endParaRPr lang="en-SG" dirty="0">
              <a:solidFill>
                <a:srgbClr val="C00000"/>
              </a:solidFill>
            </a:endParaRPr>
          </a:p>
        </p:txBody>
      </p:sp>
    </p:spTree>
    <p:extLst>
      <p:ext uri="{BB962C8B-B14F-4D97-AF65-F5344CB8AC3E}">
        <p14:creationId xmlns:p14="http://schemas.microsoft.com/office/powerpoint/2010/main" val="149303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Algebra: Motivation</a:t>
            </a:r>
            <a:endParaRPr lang="en-SG" dirty="0"/>
          </a:p>
        </p:txBody>
      </p:sp>
      <p:pic>
        <p:nvPicPr>
          <p:cNvPr id="7" name="Picture 10" descr="C:\Users\Administrator\AppData\Local\Microsoft\Windows\Temporary Internet Files\Content.IE5\VQIV2J9N\MC900439407[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00272" y="1196752"/>
            <a:ext cx="1440160" cy="155094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899592" y="2780928"/>
            <a:ext cx="954107" cy="584775"/>
          </a:xfrm>
          <a:prstGeom prst="rect">
            <a:avLst/>
          </a:prstGeom>
          <a:noFill/>
        </p:spPr>
        <p:txBody>
          <a:bodyPr wrap="none" rtlCol="0">
            <a:spAutoFit/>
          </a:bodyPr>
          <a:lstStyle/>
          <a:p>
            <a:r>
              <a:rPr lang="en-US" sz="3200" dirty="0">
                <a:latin typeface="Calibri" pitchFamily="34" charset="0"/>
              </a:rPr>
              <a:t>User</a:t>
            </a:r>
            <a:endParaRPr lang="en-SG" sz="3200" dirty="0">
              <a:latin typeface="Calibri" pitchFamily="34" charset="0"/>
            </a:endParaRPr>
          </a:p>
        </p:txBody>
      </p:sp>
      <p:cxnSp>
        <p:nvCxnSpPr>
          <p:cNvPr id="10" name="Straight Arrow Connector 9"/>
          <p:cNvCxnSpPr/>
          <p:nvPr/>
        </p:nvCxnSpPr>
        <p:spPr bwMode="auto">
          <a:xfrm>
            <a:off x="2339752" y="1700808"/>
            <a:ext cx="3240360" cy="0"/>
          </a:xfrm>
          <a:prstGeom prst="straightConnector1">
            <a:avLst/>
          </a:prstGeom>
          <a:solidFill>
            <a:schemeClr val="accent1"/>
          </a:solidFill>
          <a:ln w="38100" cap="flat" cmpd="sng" algn="ctr">
            <a:solidFill>
              <a:schemeClr val="tx1"/>
            </a:solidFill>
            <a:prstDash val="solid"/>
            <a:round/>
            <a:headEnd type="none" w="med" len="med"/>
            <a:tailEnd type="arrow" w="lg" len="lg"/>
          </a:ln>
          <a:effectLst/>
        </p:spPr>
      </p:cxnSp>
      <p:pic>
        <p:nvPicPr>
          <p:cNvPr id="1028" name="Picture 4" descr="http://www.iconpng.com/png/lumina/databas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4168" y="4293096"/>
            <a:ext cx="1800200" cy="18002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652120" y="1466781"/>
            <a:ext cx="2664296" cy="523220"/>
          </a:xfrm>
          <a:prstGeom prst="rect">
            <a:avLst/>
          </a:prstGeom>
          <a:noFill/>
          <a:ln w="25400">
            <a:solidFill>
              <a:schemeClr val="accent1"/>
            </a:solidFill>
          </a:ln>
        </p:spPr>
        <p:txBody>
          <a:bodyPr wrap="square" rtlCol="0">
            <a:spAutoFit/>
          </a:bodyPr>
          <a:lstStyle/>
          <a:p>
            <a:pPr algn="ctr"/>
            <a:r>
              <a:rPr lang="en-US" sz="2800" dirty="0">
                <a:latin typeface="Calibri" pitchFamily="34" charset="0"/>
              </a:rPr>
              <a:t>Query Interface</a:t>
            </a:r>
            <a:endParaRPr lang="en-SG" sz="2800" dirty="0">
              <a:latin typeface="Calibri" pitchFamily="34" charset="0"/>
            </a:endParaRPr>
          </a:p>
        </p:txBody>
      </p:sp>
      <p:sp>
        <p:nvSpPr>
          <p:cNvPr id="15" name="TextBox 14"/>
          <p:cNvSpPr txBox="1"/>
          <p:nvPr/>
        </p:nvSpPr>
        <p:spPr>
          <a:xfrm>
            <a:off x="5580112" y="3265820"/>
            <a:ext cx="2880320" cy="523220"/>
          </a:xfrm>
          <a:prstGeom prst="rect">
            <a:avLst/>
          </a:prstGeom>
          <a:noFill/>
          <a:ln w="25400">
            <a:solidFill>
              <a:schemeClr val="accent1"/>
            </a:solidFill>
          </a:ln>
        </p:spPr>
        <p:txBody>
          <a:bodyPr wrap="square" rtlCol="0">
            <a:spAutoFit/>
          </a:bodyPr>
          <a:lstStyle/>
          <a:p>
            <a:pPr algn="ctr"/>
            <a:r>
              <a:rPr lang="en-US" sz="2800" dirty="0">
                <a:latin typeface="Calibri" pitchFamily="34" charset="0"/>
              </a:rPr>
              <a:t>Processing Engine</a:t>
            </a:r>
            <a:endParaRPr lang="en-SG" sz="2800" dirty="0">
              <a:latin typeface="Calibri" pitchFamily="34" charset="0"/>
            </a:endParaRPr>
          </a:p>
        </p:txBody>
      </p:sp>
      <p:cxnSp>
        <p:nvCxnSpPr>
          <p:cNvPr id="16" name="Straight Arrow Connector 15"/>
          <p:cNvCxnSpPr/>
          <p:nvPr/>
        </p:nvCxnSpPr>
        <p:spPr bwMode="auto">
          <a:xfrm>
            <a:off x="7020272" y="2112797"/>
            <a:ext cx="0" cy="1100179"/>
          </a:xfrm>
          <a:prstGeom prst="straightConnector1">
            <a:avLst/>
          </a:prstGeom>
          <a:solidFill>
            <a:schemeClr val="accent1"/>
          </a:solidFill>
          <a:ln w="38100" cap="flat" cmpd="sng" algn="ctr">
            <a:solidFill>
              <a:schemeClr val="tx1"/>
            </a:solidFill>
            <a:prstDash val="solid"/>
            <a:round/>
            <a:headEnd type="none" w="med" len="med"/>
            <a:tailEnd type="arrow" w="lg" len="lg"/>
          </a:ln>
          <a:effectLst/>
        </p:spPr>
      </p:cxnSp>
      <p:cxnSp>
        <p:nvCxnSpPr>
          <p:cNvPr id="19" name="Straight Arrow Connector 18"/>
          <p:cNvCxnSpPr/>
          <p:nvPr/>
        </p:nvCxnSpPr>
        <p:spPr bwMode="auto">
          <a:xfrm>
            <a:off x="7020272" y="3933056"/>
            <a:ext cx="0" cy="524115"/>
          </a:xfrm>
          <a:prstGeom prst="straightConnector1">
            <a:avLst/>
          </a:prstGeom>
          <a:solidFill>
            <a:schemeClr val="accent1"/>
          </a:solidFill>
          <a:ln w="38100" cap="flat" cmpd="sng" algn="ctr">
            <a:solidFill>
              <a:schemeClr val="tx1"/>
            </a:solidFill>
            <a:prstDash val="solid"/>
            <a:round/>
            <a:headEnd type="none" w="med" len="med"/>
            <a:tailEnd type="arrow" w="lg" len="lg"/>
          </a:ln>
          <a:effectLst/>
        </p:spPr>
      </p:cxnSp>
      <p:sp>
        <p:nvSpPr>
          <p:cNvPr id="20" name="TextBox 19"/>
          <p:cNvSpPr txBox="1"/>
          <p:nvPr/>
        </p:nvSpPr>
        <p:spPr>
          <a:xfrm>
            <a:off x="2843808" y="1728391"/>
            <a:ext cx="1103187" cy="954107"/>
          </a:xfrm>
          <a:prstGeom prst="rect">
            <a:avLst/>
          </a:prstGeom>
          <a:noFill/>
        </p:spPr>
        <p:txBody>
          <a:bodyPr wrap="none" rtlCol="0">
            <a:spAutoFit/>
          </a:bodyPr>
          <a:lstStyle/>
          <a:p>
            <a:r>
              <a:rPr lang="en-US" sz="2800" dirty="0">
                <a:solidFill>
                  <a:srgbClr val="A50021"/>
                </a:solidFill>
                <a:latin typeface="Calibri" pitchFamily="34" charset="0"/>
              </a:rPr>
              <a:t>Query</a:t>
            </a:r>
            <a:br>
              <a:rPr lang="en-US" sz="2800" dirty="0">
                <a:solidFill>
                  <a:srgbClr val="A50021"/>
                </a:solidFill>
                <a:latin typeface="Calibri" pitchFamily="34" charset="0"/>
              </a:rPr>
            </a:br>
            <a:r>
              <a:rPr lang="en-US" sz="2800" dirty="0">
                <a:solidFill>
                  <a:srgbClr val="A50021"/>
                </a:solidFill>
                <a:latin typeface="Calibri" pitchFamily="34" charset="0"/>
              </a:rPr>
              <a:t>In SQL</a:t>
            </a:r>
            <a:endParaRPr lang="en-SG" sz="2800" dirty="0">
              <a:solidFill>
                <a:srgbClr val="A50021"/>
              </a:solidFill>
              <a:latin typeface="Calibri" pitchFamily="34" charset="0"/>
            </a:endParaRPr>
          </a:p>
        </p:txBody>
      </p:sp>
      <p:sp>
        <p:nvSpPr>
          <p:cNvPr id="21" name="TextBox 20"/>
          <p:cNvSpPr txBox="1"/>
          <p:nvPr/>
        </p:nvSpPr>
        <p:spPr>
          <a:xfrm>
            <a:off x="7213229" y="2186861"/>
            <a:ext cx="1103187" cy="954107"/>
          </a:xfrm>
          <a:prstGeom prst="rect">
            <a:avLst/>
          </a:prstGeom>
          <a:noFill/>
        </p:spPr>
        <p:txBody>
          <a:bodyPr wrap="square" rtlCol="0">
            <a:spAutoFit/>
          </a:bodyPr>
          <a:lstStyle/>
          <a:p>
            <a:r>
              <a:rPr lang="en-US" sz="2800" dirty="0">
                <a:solidFill>
                  <a:srgbClr val="A50021"/>
                </a:solidFill>
                <a:latin typeface="Calibri" pitchFamily="34" charset="0"/>
              </a:rPr>
              <a:t>Query</a:t>
            </a:r>
            <a:br>
              <a:rPr lang="en-US" sz="2800" dirty="0">
                <a:solidFill>
                  <a:srgbClr val="A50021"/>
                </a:solidFill>
                <a:latin typeface="Calibri" pitchFamily="34" charset="0"/>
              </a:rPr>
            </a:br>
            <a:r>
              <a:rPr lang="en-US" sz="2800" dirty="0">
                <a:solidFill>
                  <a:srgbClr val="A50021"/>
                </a:solidFill>
                <a:latin typeface="Calibri" pitchFamily="34" charset="0"/>
              </a:rPr>
              <a:t>In RA</a:t>
            </a:r>
            <a:endParaRPr lang="en-SG" sz="2800" dirty="0">
              <a:solidFill>
                <a:srgbClr val="A50021"/>
              </a:solidFill>
              <a:latin typeface="Calibri" pitchFamily="34" charset="0"/>
            </a:endParaRPr>
          </a:p>
        </p:txBody>
      </p:sp>
      <p:sp>
        <p:nvSpPr>
          <p:cNvPr id="18" name="Rectangle 17"/>
          <p:cNvSpPr/>
          <p:nvPr/>
        </p:nvSpPr>
        <p:spPr bwMode="auto">
          <a:xfrm>
            <a:off x="4932040" y="1124744"/>
            <a:ext cx="3960440" cy="4896544"/>
          </a:xfrm>
          <a:prstGeom prst="rect">
            <a:avLst/>
          </a:prstGeom>
          <a:noFill/>
          <a:ln w="31750" cap="flat" cmpd="sng" algn="ctr">
            <a:solidFill>
              <a:srgbClr val="0000FF"/>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4" name="TextBox 23"/>
          <p:cNvSpPr txBox="1"/>
          <p:nvPr/>
        </p:nvSpPr>
        <p:spPr>
          <a:xfrm>
            <a:off x="4067944" y="4273932"/>
            <a:ext cx="1738809" cy="584775"/>
          </a:xfrm>
          <a:prstGeom prst="rect">
            <a:avLst/>
          </a:prstGeom>
          <a:solidFill>
            <a:schemeClr val="bg1"/>
          </a:solidFill>
          <a:ln w="31750">
            <a:solidFill>
              <a:srgbClr val="0000FF"/>
            </a:solidFill>
            <a:prstDash val="dash"/>
          </a:ln>
        </p:spPr>
        <p:txBody>
          <a:bodyPr wrap="none" rtlCol="0">
            <a:spAutoFit/>
          </a:bodyPr>
          <a:lstStyle/>
          <a:p>
            <a:r>
              <a:rPr lang="en-US" sz="3200" dirty="0">
                <a:latin typeface="Calibri" pitchFamily="34" charset="0"/>
              </a:rPr>
              <a:t>Database</a:t>
            </a:r>
            <a:endParaRPr lang="en-SG" sz="3200" dirty="0">
              <a:latin typeface="Calibri" pitchFamily="34" charset="0"/>
            </a:endParaRPr>
          </a:p>
        </p:txBody>
      </p:sp>
    </p:spTree>
    <p:extLst>
      <p:ext uri="{BB962C8B-B14F-4D97-AF65-F5344CB8AC3E}">
        <p14:creationId xmlns:p14="http://schemas.microsoft.com/office/powerpoint/2010/main" val="4011563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Algebra</a:t>
            </a:r>
            <a:endParaRPr lang="en-SG" dirty="0"/>
          </a:p>
        </p:txBody>
      </p:sp>
      <p:sp>
        <p:nvSpPr>
          <p:cNvPr id="3" name="Content Placeholder 2"/>
          <p:cNvSpPr>
            <a:spLocks noGrp="1"/>
          </p:cNvSpPr>
          <p:nvPr>
            <p:ph idx="1"/>
          </p:nvPr>
        </p:nvSpPr>
        <p:spPr>
          <a:xfrm>
            <a:off x="457200" y="1124744"/>
            <a:ext cx="8229600" cy="5006181"/>
          </a:xfrm>
        </p:spPr>
        <p:txBody>
          <a:bodyPr>
            <a:normAutofit fontScale="92500"/>
          </a:bodyPr>
          <a:lstStyle/>
          <a:p>
            <a:r>
              <a:rPr lang="en-US" dirty="0"/>
              <a:t>A mathematical way to formulate queries on relations (i.e., tables)</a:t>
            </a:r>
          </a:p>
          <a:p>
            <a:r>
              <a:rPr lang="en-US" dirty="0"/>
              <a:t>Has numerous </a:t>
            </a:r>
            <a:r>
              <a:rPr lang="en-US" dirty="0">
                <a:solidFill>
                  <a:srgbClr val="A50021"/>
                </a:solidFill>
              </a:rPr>
              <a:t>operators</a:t>
            </a:r>
            <a:r>
              <a:rPr lang="en-US" dirty="0"/>
              <a:t> for query formulation</a:t>
            </a:r>
          </a:p>
          <a:p>
            <a:r>
              <a:rPr lang="en-US" dirty="0"/>
              <a:t>Example</a:t>
            </a:r>
          </a:p>
          <a:p>
            <a:pPr lvl="1"/>
            <a:r>
              <a:rPr lang="en-US" dirty="0"/>
              <a:t>Given: Two relations R</a:t>
            </a:r>
            <a:r>
              <a:rPr lang="en-US" baseline="-25000" dirty="0"/>
              <a:t>1</a:t>
            </a:r>
            <a:r>
              <a:rPr lang="en-US" dirty="0"/>
              <a:t>(A, B, C), R</a:t>
            </a:r>
            <a:r>
              <a:rPr lang="en-US" baseline="-25000" dirty="0"/>
              <a:t>2</a:t>
            </a:r>
            <a:r>
              <a:rPr lang="en-US" dirty="0"/>
              <a:t>(A, B, C)</a:t>
            </a:r>
          </a:p>
          <a:p>
            <a:pPr lvl="1"/>
            <a:r>
              <a:rPr lang="en-US" dirty="0"/>
              <a:t>Selection: 	</a:t>
            </a:r>
            <a:r>
              <a:rPr lang="en-US" b="1" dirty="0">
                <a:sym typeface="Symbol"/>
              </a:rPr>
              <a:t></a:t>
            </a:r>
            <a:r>
              <a:rPr lang="en-US" baseline="-25000" dirty="0">
                <a:sym typeface="Symbol"/>
              </a:rPr>
              <a:t>A &gt; 100</a:t>
            </a:r>
            <a:r>
              <a:rPr lang="en-US" dirty="0">
                <a:sym typeface="Symbol"/>
              </a:rPr>
              <a:t> R</a:t>
            </a:r>
            <a:r>
              <a:rPr lang="en-US" baseline="-25000" dirty="0">
                <a:sym typeface="Symbol"/>
              </a:rPr>
              <a:t>1</a:t>
            </a:r>
          </a:p>
          <a:p>
            <a:pPr lvl="1"/>
            <a:r>
              <a:rPr lang="en-US" dirty="0"/>
              <a:t>Projection: 	</a:t>
            </a:r>
            <a:r>
              <a:rPr lang="en-US" b="1" dirty="0">
                <a:sym typeface="Symbol"/>
              </a:rPr>
              <a:t></a:t>
            </a:r>
            <a:r>
              <a:rPr lang="en-US" baseline="-25000" dirty="0">
                <a:sym typeface="Symbol"/>
              </a:rPr>
              <a:t>A, B</a:t>
            </a:r>
            <a:r>
              <a:rPr lang="en-US" dirty="0">
                <a:sym typeface="Symbol"/>
              </a:rPr>
              <a:t> R</a:t>
            </a:r>
            <a:r>
              <a:rPr lang="en-US" baseline="-25000" dirty="0">
                <a:sym typeface="Symbol"/>
              </a:rPr>
              <a:t>1</a:t>
            </a:r>
            <a:endParaRPr lang="en-US" baseline="-25000" dirty="0"/>
          </a:p>
          <a:p>
            <a:pPr lvl="1"/>
            <a:r>
              <a:rPr lang="en-US" dirty="0"/>
              <a:t>Union: 		R</a:t>
            </a:r>
            <a:r>
              <a:rPr lang="en-US" baseline="-25000" dirty="0"/>
              <a:t>1</a:t>
            </a:r>
            <a:r>
              <a:rPr lang="en-US" dirty="0"/>
              <a:t> </a:t>
            </a:r>
            <a:r>
              <a:rPr lang="en-US" b="1" dirty="0">
                <a:sym typeface="Symbol"/>
              </a:rPr>
              <a:t></a:t>
            </a:r>
            <a:r>
              <a:rPr lang="en-US" dirty="0"/>
              <a:t> R</a:t>
            </a:r>
            <a:r>
              <a:rPr lang="en-US" baseline="-25000" dirty="0"/>
              <a:t>2</a:t>
            </a:r>
          </a:p>
          <a:p>
            <a:pPr lvl="1"/>
            <a:r>
              <a:rPr lang="en-US" dirty="0"/>
              <a:t>Intersection: 	R</a:t>
            </a:r>
            <a:r>
              <a:rPr lang="en-US" baseline="-25000" dirty="0"/>
              <a:t>1</a:t>
            </a:r>
            <a:r>
              <a:rPr lang="en-US" dirty="0"/>
              <a:t> </a:t>
            </a:r>
            <a:r>
              <a:rPr lang="en-US" b="1" dirty="0">
                <a:sym typeface="Symbol"/>
              </a:rPr>
              <a:t></a:t>
            </a:r>
            <a:r>
              <a:rPr lang="en-US" dirty="0"/>
              <a:t> R</a:t>
            </a:r>
            <a:r>
              <a:rPr lang="en-US" baseline="-25000" dirty="0"/>
              <a:t>2</a:t>
            </a:r>
          </a:p>
          <a:p>
            <a:pPr lvl="1"/>
            <a:r>
              <a:rPr lang="en-US" dirty="0"/>
              <a:t>And a few others…</a:t>
            </a:r>
          </a:p>
          <a:p>
            <a:endParaRPr lang="en-US" dirty="0"/>
          </a:p>
          <a:p>
            <a:endParaRPr lang="en-US" dirty="0"/>
          </a:p>
          <a:p>
            <a:endParaRPr lang="en-SG" dirty="0"/>
          </a:p>
        </p:txBody>
      </p:sp>
    </p:spTree>
    <p:extLst>
      <p:ext uri="{BB962C8B-B14F-4D97-AF65-F5344CB8AC3E}">
        <p14:creationId xmlns:p14="http://schemas.microsoft.com/office/powerpoint/2010/main" val="215387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lstStyle/>
          <a:p>
            <a:r>
              <a:rPr lang="en-US" dirty="0"/>
              <a:t>Query: “Find me the student named Alice”</a:t>
            </a:r>
          </a:p>
          <a:p>
            <a:r>
              <a:rPr lang="en-US" b="1" dirty="0">
                <a:sym typeface="Symbol"/>
              </a:rPr>
              <a:t></a:t>
            </a:r>
            <a:r>
              <a:rPr lang="en-US" sz="3600" baseline="-25000" dirty="0">
                <a:sym typeface="Symbol"/>
              </a:rPr>
              <a:t>Name = ‘Alice’</a:t>
            </a:r>
            <a:r>
              <a:rPr lang="en-US" sz="3600" dirty="0">
                <a:sym typeface="Symbol"/>
              </a:rPr>
              <a:t> </a:t>
            </a:r>
            <a:r>
              <a:rPr lang="en-US" dirty="0">
                <a:sym typeface="Symbol"/>
              </a:rPr>
              <a:t>Students</a:t>
            </a:r>
            <a:endParaRPr lang="en-SG" dirty="0"/>
          </a:p>
        </p:txBody>
      </p:sp>
      <p:graphicFrame>
        <p:nvGraphicFramePr>
          <p:cNvPr id="4" name="Content Placeholder 3"/>
          <p:cNvGraphicFramePr>
            <a:graphicFrameLocks/>
          </p:cNvGraphicFramePr>
          <p:nvPr>
            <p:extLst/>
          </p:nvPr>
        </p:nvGraphicFramePr>
        <p:xfrm>
          <a:off x="2483768" y="1196752"/>
          <a:ext cx="4464496" cy="22860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5678</a:t>
                      </a:r>
                      <a:endParaRPr lang="en-SG" sz="2400" dirty="0">
                        <a:latin typeface="Calibri" pitchFamily="34" charset="0"/>
                      </a:endParaRPr>
                    </a:p>
                  </a:txBody>
                  <a:tcPr/>
                </a:tc>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a:t>
                      </a:r>
                      <a:r>
                        <a:rPr lang="en-US" altLang="zh-CN" sz="2400" dirty="0">
                          <a:latin typeface="Calibri" pitchFamily="34" charset="0"/>
                        </a:rPr>
                        <a:t>0</a:t>
                      </a:r>
                      <a:endParaRPr lang="en-SG" sz="2400" dirty="0">
                        <a:latin typeface="Calibri" pitchFamily="34" charset="0"/>
                      </a:endParaRPr>
                    </a:p>
                  </a:txBody>
                  <a:tcPr/>
                </a:tc>
                <a:tc>
                  <a:txBody>
                    <a:bodyPr/>
                    <a:lstStyle/>
                    <a:p>
                      <a:pPr algn="ctr"/>
                      <a:r>
                        <a:rPr lang="en-US" sz="2400" dirty="0">
                          <a:latin typeface="Calibri" pitchFamily="34" charset="0"/>
                        </a:rPr>
                        <a:t>EE</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9413</a:t>
                      </a:r>
                      <a:endParaRPr lang="en-SG" sz="2400" dirty="0">
                        <a:latin typeface="Calibri" pitchFamily="34" charset="0"/>
                      </a:endParaRPr>
                    </a:p>
                  </a:txBody>
                  <a:tcPr/>
                </a:tc>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tc>
                  <a:txBody>
                    <a:bodyPr/>
                    <a:lstStyle/>
                    <a:p>
                      <a:pPr algn="ctr"/>
                      <a:r>
                        <a:rPr lang="en-US" sz="2400" dirty="0">
                          <a:latin typeface="Calibri" pitchFamily="34" charset="0"/>
                        </a:rPr>
                        <a:t>CE</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99592" y="1196752"/>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sp>
        <p:nvSpPr>
          <p:cNvPr id="7" name="TextBox 6"/>
          <p:cNvSpPr txBox="1"/>
          <p:nvPr/>
        </p:nvSpPr>
        <p:spPr>
          <a:xfrm>
            <a:off x="1036712" y="5047979"/>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2483768" y="5034880"/>
          <a:ext cx="4464496" cy="9144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60556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lstStyle/>
          <a:p>
            <a:r>
              <a:rPr lang="en-US" dirty="0"/>
              <a:t>Query: “Find the students in SoC”</a:t>
            </a:r>
          </a:p>
          <a:p>
            <a:r>
              <a:rPr lang="en-US" b="1" dirty="0">
                <a:sym typeface="Symbol"/>
              </a:rPr>
              <a:t></a:t>
            </a:r>
            <a:r>
              <a:rPr lang="en-US" baseline="-25000" dirty="0">
                <a:sym typeface="Symbol"/>
              </a:rPr>
              <a:t>School = ‘SoC’</a:t>
            </a:r>
            <a:r>
              <a:rPr lang="en-US" dirty="0">
                <a:sym typeface="Symbol"/>
              </a:rPr>
              <a:t> Students</a:t>
            </a:r>
            <a:endParaRPr lang="en-SG" dirty="0"/>
          </a:p>
        </p:txBody>
      </p:sp>
      <p:graphicFrame>
        <p:nvGraphicFramePr>
          <p:cNvPr id="4" name="Content Placeholder 3"/>
          <p:cNvGraphicFramePr>
            <a:graphicFrameLocks/>
          </p:cNvGraphicFramePr>
          <p:nvPr>
            <p:extLst/>
          </p:nvPr>
        </p:nvGraphicFramePr>
        <p:xfrm>
          <a:off x="2483768" y="1196752"/>
          <a:ext cx="4464496" cy="22860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5678</a:t>
                      </a:r>
                      <a:endParaRPr lang="en-SG" sz="2400" dirty="0">
                        <a:latin typeface="Calibri" pitchFamily="34" charset="0"/>
                      </a:endParaRPr>
                    </a:p>
                  </a:txBody>
                  <a:tcPr/>
                </a:tc>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a:t>
                      </a:r>
                      <a:r>
                        <a:rPr lang="en-US" altLang="zh-CN" sz="2400" dirty="0">
                          <a:latin typeface="Calibri" pitchFamily="34" charset="0"/>
                        </a:rPr>
                        <a:t>0</a:t>
                      </a:r>
                      <a:endParaRPr lang="en-SG" sz="2400" dirty="0">
                        <a:latin typeface="Calibri" pitchFamily="34" charset="0"/>
                      </a:endParaRPr>
                    </a:p>
                  </a:txBody>
                  <a:tcPr/>
                </a:tc>
                <a:tc>
                  <a:txBody>
                    <a:bodyPr/>
                    <a:lstStyle/>
                    <a:p>
                      <a:pPr algn="ctr"/>
                      <a:r>
                        <a:rPr lang="en-US" sz="2400" dirty="0">
                          <a:latin typeface="Calibri" pitchFamily="34" charset="0"/>
                        </a:rPr>
                        <a:t>EE</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9413</a:t>
                      </a:r>
                      <a:endParaRPr lang="en-SG" sz="2400" dirty="0">
                        <a:latin typeface="Calibri" pitchFamily="34" charset="0"/>
                      </a:endParaRPr>
                    </a:p>
                  </a:txBody>
                  <a:tcPr/>
                </a:tc>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tc>
                  <a:txBody>
                    <a:bodyPr/>
                    <a:lstStyle/>
                    <a:p>
                      <a:pPr algn="ctr"/>
                      <a:r>
                        <a:rPr lang="en-US" sz="2400" dirty="0">
                          <a:latin typeface="Calibri" pitchFamily="34" charset="0"/>
                        </a:rPr>
                        <a:t>CE</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99592" y="1196752"/>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sp>
        <p:nvSpPr>
          <p:cNvPr id="6" name="TextBox 5"/>
          <p:cNvSpPr txBox="1"/>
          <p:nvPr/>
        </p:nvSpPr>
        <p:spPr>
          <a:xfrm>
            <a:off x="1036712" y="5047979"/>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2483768" y="4887416"/>
          <a:ext cx="4464496" cy="13716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96520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lstStyle/>
          <a:p>
            <a:r>
              <a:rPr lang="en-US" dirty="0"/>
              <a:t>Query: “Find the SoC students under 21”</a:t>
            </a:r>
          </a:p>
          <a:p>
            <a:r>
              <a:rPr lang="en-US" b="1" dirty="0">
                <a:sym typeface="Symbol"/>
              </a:rPr>
              <a:t></a:t>
            </a:r>
            <a:r>
              <a:rPr lang="en-US" sz="3600" baseline="-25000" dirty="0">
                <a:sym typeface="Symbol"/>
              </a:rPr>
              <a:t>School = ‘SoC’</a:t>
            </a:r>
            <a:r>
              <a:rPr lang="en-US" sz="3600" dirty="0">
                <a:sym typeface="Symbol"/>
              </a:rPr>
              <a:t> </a:t>
            </a:r>
            <a:r>
              <a:rPr lang="en-US" sz="3600" baseline="-25000" dirty="0">
                <a:sym typeface="Symbol"/>
              </a:rPr>
              <a:t>AND Age</a:t>
            </a:r>
            <a:r>
              <a:rPr lang="en-US" sz="3600" dirty="0">
                <a:sym typeface="Symbol"/>
              </a:rPr>
              <a:t> </a:t>
            </a:r>
            <a:r>
              <a:rPr lang="en-US" sz="3600" baseline="-25000" dirty="0">
                <a:sym typeface="Symbol"/>
              </a:rPr>
              <a:t>&lt; 21</a:t>
            </a:r>
            <a:r>
              <a:rPr lang="en-US" sz="3600" dirty="0">
                <a:sym typeface="Symbol"/>
              </a:rPr>
              <a:t> </a:t>
            </a:r>
            <a:r>
              <a:rPr lang="en-US" dirty="0">
                <a:sym typeface="Symbol"/>
              </a:rPr>
              <a:t>Students</a:t>
            </a:r>
            <a:endParaRPr lang="en-SG" dirty="0"/>
          </a:p>
        </p:txBody>
      </p:sp>
      <p:graphicFrame>
        <p:nvGraphicFramePr>
          <p:cNvPr id="4" name="Content Placeholder 3"/>
          <p:cNvGraphicFramePr>
            <a:graphicFrameLocks/>
          </p:cNvGraphicFramePr>
          <p:nvPr>
            <p:extLst/>
          </p:nvPr>
        </p:nvGraphicFramePr>
        <p:xfrm>
          <a:off x="2483768" y="1196752"/>
          <a:ext cx="4464496" cy="22860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5678</a:t>
                      </a:r>
                      <a:endParaRPr lang="en-SG" sz="2400" dirty="0">
                        <a:latin typeface="Calibri" pitchFamily="34" charset="0"/>
                      </a:endParaRPr>
                    </a:p>
                  </a:txBody>
                  <a:tcPr/>
                </a:tc>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a:t>
                      </a:r>
                      <a:r>
                        <a:rPr lang="en-US" altLang="zh-CN" sz="2400" dirty="0">
                          <a:latin typeface="Calibri" pitchFamily="34" charset="0"/>
                        </a:rPr>
                        <a:t>0</a:t>
                      </a:r>
                      <a:endParaRPr lang="en-SG" sz="2400" dirty="0">
                        <a:latin typeface="Calibri" pitchFamily="34" charset="0"/>
                      </a:endParaRPr>
                    </a:p>
                  </a:txBody>
                  <a:tcPr/>
                </a:tc>
                <a:tc>
                  <a:txBody>
                    <a:bodyPr/>
                    <a:lstStyle/>
                    <a:p>
                      <a:pPr algn="ctr"/>
                      <a:r>
                        <a:rPr lang="en-US" sz="2400" dirty="0">
                          <a:latin typeface="Calibri" pitchFamily="34" charset="0"/>
                        </a:rPr>
                        <a:t>EE</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9413</a:t>
                      </a:r>
                      <a:endParaRPr lang="en-SG" sz="2400" dirty="0">
                        <a:latin typeface="Calibri" pitchFamily="34" charset="0"/>
                      </a:endParaRPr>
                    </a:p>
                  </a:txBody>
                  <a:tcPr/>
                </a:tc>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tc>
                  <a:txBody>
                    <a:bodyPr/>
                    <a:lstStyle/>
                    <a:p>
                      <a:pPr algn="ctr"/>
                      <a:r>
                        <a:rPr lang="en-US" sz="2400" dirty="0">
                          <a:latin typeface="Calibri" pitchFamily="34" charset="0"/>
                        </a:rPr>
                        <a:t>CE</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99592" y="1196752"/>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sp>
        <p:nvSpPr>
          <p:cNvPr id="6" name="TextBox 5"/>
          <p:cNvSpPr txBox="1"/>
          <p:nvPr/>
        </p:nvSpPr>
        <p:spPr>
          <a:xfrm>
            <a:off x="1036712" y="5047979"/>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7" name="Content Placeholder 3"/>
          <p:cNvGraphicFramePr>
            <a:graphicFrameLocks/>
          </p:cNvGraphicFramePr>
          <p:nvPr>
            <p:extLst/>
          </p:nvPr>
        </p:nvGraphicFramePr>
        <p:xfrm>
          <a:off x="2483768" y="5034880"/>
          <a:ext cx="4464496" cy="9144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5358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a:t>
            </a:r>
            <a:r>
              <a:rPr lang="en-US" dirty="0">
                <a:sym typeface="Symbol"/>
              </a:rPr>
              <a:t></a:t>
            </a:r>
            <a:endParaRPr lang="en-SG" dirty="0"/>
          </a:p>
        </p:txBody>
      </p:sp>
      <p:sp>
        <p:nvSpPr>
          <p:cNvPr id="3" name="Content Placeholder 2"/>
          <p:cNvSpPr>
            <a:spLocks noGrp="1"/>
          </p:cNvSpPr>
          <p:nvPr>
            <p:ph idx="1"/>
          </p:nvPr>
        </p:nvSpPr>
        <p:spPr>
          <a:xfrm>
            <a:off x="457200" y="3645025"/>
            <a:ext cx="8229600" cy="1440159"/>
          </a:xfrm>
        </p:spPr>
        <p:txBody>
          <a:bodyPr>
            <a:normAutofit fontScale="92500" lnSpcReduction="10000"/>
          </a:bodyPr>
          <a:lstStyle/>
          <a:p>
            <a:r>
              <a:rPr lang="en-US" dirty="0"/>
              <a:t>Query: “Find the students who are either in SoC or under 21”</a:t>
            </a:r>
          </a:p>
          <a:p>
            <a:r>
              <a:rPr lang="en-US" b="1" dirty="0">
                <a:sym typeface="Symbol"/>
              </a:rPr>
              <a:t></a:t>
            </a:r>
            <a:r>
              <a:rPr lang="en-US" baseline="-25000" dirty="0">
                <a:sym typeface="Symbol"/>
              </a:rPr>
              <a:t>School = ‘SoC’</a:t>
            </a:r>
            <a:r>
              <a:rPr lang="en-US" dirty="0">
                <a:sym typeface="Symbol"/>
              </a:rPr>
              <a:t> </a:t>
            </a:r>
            <a:r>
              <a:rPr lang="en-US" baseline="-25000" dirty="0">
                <a:sym typeface="Symbol"/>
              </a:rPr>
              <a:t>OR Age</a:t>
            </a:r>
            <a:r>
              <a:rPr lang="en-US" dirty="0">
                <a:sym typeface="Symbol"/>
              </a:rPr>
              <a:t> </a:t>
            </a:r>
            <a:r>
              <a:rPr lang="en-US" baseline="-25000" dirty="0">
                <a:sym typeface="Symbol"/>
              </a:rPr>
              <a:t>&lt; 21</a:t>
            </a:r>
            <a:r>
              <a:rPr lang="en-US" dirty="0">
                <a:sym typeface="Symbol"/>
              </a:rPr>
              <a:t> Students</a:t>
            </a:r>
            <a:endParaRPr lang="en-SG" dirty="0"/>
          </a:p>
        </p:txBody>
      </p:sp>
      <p:graphicFrame>
        <p:nvGraphicFramePr>
          <p:cNvPr id="4" name="Content Placeholder 3"/>
          <p:cNvGraphicFramePr>
            <a:graphicFrameLocks/>
          </p:cNvGraphicFramePr>
          <p:nvPr>
            <p:extLst/>
          </p:nvPr>
        </p:nvGraphicFramePr>
        <p:xfrm>
          <a:off x="2483768" y="1196752"/>
          <a:ext cx="4464496" cy="22860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5678</a:t>
                      </a:r>
                      <a:endParaRPr lang="en-SG" sz="2400" dirty="0">
                        <a:latin typeface="Calibri" pitchFamily="34" charset="0"/>
                      </a:endParaRPr>
                    </a:p>
                  </a:txBody>
                  <a:tcPr/>
                </a:tc>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a:t>
                      </a:r>
                      <a:r>
                        <a:rPr lang="en-US" altLang="zh-CN" sz="2400" dirty="0">
                          <a:latin typeface="Calibri" pitchFamily="34" charset="0"/>
                        </a:rPr>
                        <a:t>0</a:t>
                      </a:r>
                      <a:endParaRPr lang="en-SG" sz="2400" dirty="0">
                        <a:latin typeface="Calibri" pitchFamily="34" charset="0"/>
                      </a:endParaRPr>
                    </a:p>
                  </a:txBody>
                  <a:tcPr/>
                </a:tc>
                <a:tc>
                  <a:txBody>
                    <a:bodyPr/>
                    <a:lstStyle/>
                    <a:p>
                      <a:pPr algn="ctr"/>
                      <a:r>
                        <a:rPr lang="en-US" sz="2400" dirty="0">
                          <a:latin typeface="Calibri" pitchFamily="34" charset="0"/>
                        </a:rPr>
                        <a:t>EE</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9413</a:t>
                      </a:r>
                      <a:endParaRPr lang="en-SG" sz="2400" dirty="0">
                        <a:latin typeface="Calibri" pitchFamily="34" charset="0"/>
                      </a:endParaRPr>
                    </a:p>
                  </a:txBody>
                  <a:tcPr/>
                </a:tc>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tc>
                  <a:txBody>
                    <a:bodyPr/>
                    <a:lstStyle/>
                    <a:p>
                      <a:pPr algn="ctr"/>
                      <a:r>
                        <a:rPr lang="en-US" sz="2400" dirty="0">
                          <a:latin typeface="Calibri" pitchFamily="34" charset="0"/>
                        </a:rPr>
                        <a:t>CE</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99592" y="1196752"/>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spTree>
    <p:extLst>
      <p:ext uri="{BB962C8B-B14F-4D97-AF65-F5344CB8AC3E}">
        <p14:creationId xmlns:p14="http://schemas.microsoft.com/office/powerpoint/2010/main" val="28444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Projection </a:t>
            </a:r>
            <a:r>
              <a:rPr lang="en-US" dirty="0">
                <a:sym typeface="Symbol"/>
              </a:rPr>
              <a:t></a:t>
            </a:r>
            <a:endParaRPr lang="en-SG" dirty="0"/>
          </a:p>
        </p:txBody>
      </p:sp>
      <p:sp>
        <p:nvSpPr>
          <p:cNvPr id="3" name="Content Placeholder 2"/>
          <p:cNvSpPr>
            <a:spLocks noGrp="1"/>
          </p:cNvSpPr>
          <p:nvPr>
            <p:ph idx="1"/>
          </p:nvPr>
        </p:nvSpPr>
        <p:spPr>
          <a:xfrm>
            <a:off x="457200" y="3645024"/>
            <a:ext cx="8507288" cy="2485901"/>
          </a:xfrm>
        </p:spPr>
        <p:txBody>
          <a:bodyPr/>
          <a:lstStyle/>
          <a:p>
            <a:r>
              <a:rPr lang="en-US" dirty="0"/>
              <a:t>Query: “Find the IDs and Names of all students”</a:t>
            </a:r>
          </a:p>
          <a:p>
            <a:r>
              <a:rPr lang="en-US" b="1" dirty="0">
                <a:sym typeface="Symbol"/>
              </a:rPr>
              <a:t></a:t>
            </a:r>
            <a:r>
              <a:rPr lang="en-US" baseline="-25000" dirty="0">
                <a:sym typeface="Symbol"/>
              </a:rPr>
              <a:t>ID,</a:t>
            </a:r>
            <a:r>
              <a:rPr lang="en-US" dirty="0">
                <a:sym typeface="Symbol"/>
              </a:rPr>
              <a:t> </a:t>
            </a:r>
            <a:r>
              <a:rPr lang="en-US" baseline="-25000" dirty="0">
                <a:sym typeface="Symbol"/>
              </a:rPr>
              <a:t>Name</a:t>
            </a:r>
            <a:r>
              <a:rPr lang="en-US" dirty="0">
                <a:sym typeface="Symbol"/>
              </a:rPr>
              <a:t> Students</a:t>
            </a:r>
            <a:endParaRPr lang="en-SG" dirty="0"/>
          </a:p>
        </p:txBody>
      </p:sp>
      <p:graphicFrame>
        <p:nvGraphicFramePr>
          <p:cNvPr id="4" name="Content Placeholder 3"/>
          <p:cNvGraphicFramePr>
            <a:graphicFrameLocks/>
          </p:cNvGraphicFramePr>
          <p:nvPr>
            <p:extLst/>
          </p:nvPr>
        </p:nvGraphicFramePr>
        <p:xfrm>
          <a:off x="2483768" y="1196752"/>
          <a:ext cx="4464496" cy="22860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5678</a:t>
                      </a:r>
                      <a:endParaRPr lang="en-SG" sz="2400" dirty="0">
                        <a:latin typeface="Calibri" pitchFamily="34" charset="0"/>
                      </a:endParaRPr>
                    </a:p>
                  </a:txBody>
                  <a:tcPr/>
                </a:tc>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a:t>
                      </a:r>
                      <a:r>
                        <a:rPr lang="en-US" altLang="zh-CN" sz="2400" dirty="0">
                          <a:latin typeface="Calibri" pitchFamily="34" charset="0"/>
                        </a:rPr>
                        <a:t>0</a:t>
                      </a:r>
                      <a:endParaRPr lang="en-SG" sz="2400" dirty="0">
                        <a:latin typeface="Calibri" pitchFamily="34" charset="0"/>
                      </a:endParaRPr>
                    </a:p>
                  </a:txBody>
                  <a:tcPr/>
                </a:tc>
                <a:tc>
                  <a:txBody>
                    <a:bodyPr/>
                    <a:lstStyle/>
                    <a:p>
                      <a:pPr algn="ctr"/>
                      <a:r>
                        <a:rPr lang="en-US" sz="2400" dirty="0">
                          <a:latin typeface="Calibri" pitchFamily="34" charset="0"/>
                        </a:rPr>
                        <a:t>EE</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9413</a:t>
                      </a:r>
                      <a:endParaRPr lang="en-SG" sz="2400" dirty="0">
                        <a:latin typeface="Calibri" pitchFamily="34" charset="0"/>
                      </a:endParaRPr>
                    </a:p>
                  </a:txBody>
                  <a:tcPr/>
                </a:tc>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tc>
                  <a:txBody>
                    <a:bodyPr/>
                    <a:lstStyle/>
                    <a:p>
                      <a:pPr algn="ctr"/>
                      <a:r>
                        <a:rPr lang="en-US" sz="2400" dirty="0">
                          <a:latin typeface="Calibri" pitchFamily="34" charset="0"/>
                        </a:rPr>
                        <a:t>CE</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99592" y="1196752"/>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6228184" y="4293096"/>
          <a:ext cx="2232248" cy="22860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5678</a:t>
                      </a:r>
                      <a:endParaRPr lang="en-SG" sz="2400" dirty="0">
                        <a:latin typeface="Calibri" pitchFamily="34" charset="0"/>
                      </a:endParaRPr>
                    </a:p>
                  </a:txBody>
                  <a:tcPr/>
                </a:tc>
                <a:tc>
                  <a:txBody>
                    <a:bodyPr/>
                    <a:lstStyle/>
                    <a:p>
                      <a:pPr algn="ctr"/>
                      <a:r>
                        <a:rPr lang="en-US" sz="2400" dirty="0">
                          <a:latin typeface="Calibri" pitchFamily="34" charset="0"/>
                        </a:rPr>
                        <a:t>Bob</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9413</a:t>
                      </a:r>
                      <a:endParaRPr lang="en-SG" sz="2400" dirty="0">
                        <a:latin typeface="Calibri" pitchFamily="34" charset="0"/>
                      </a:endParaRPr>
                    </a:p>
                  </a:txBody>
                  <a:tcPr/>
                </a:tc>
                <a:tc>
                  <a:txBody>
                    <a:bodyPr/>
                    <a:lstStyle/>
                    <a:p>
                      <a:pPr algn="ctr"/>
                      <a:r>
                        <a:rPr lang="en-US" sz="2400" dirty="0">
                          <a:latin typeface="Calibri" pitchFamily="34" charset="0"/>
                        </a:rPr>
                        <a:t>David</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4788024" y="5020220"/>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95123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Operators</a:t>
            </a:r>
            <a:endParaRPr lang="en-SG" dirty="0"/>
          </a:p>
        </p:txBody>
      </p:sp>
      <p:sp>
        <p:nvSpPr>
          <p:cNvPr id="3" name="Content Placeholder 2"/>
          <p:cNvSpPr>
            <a:spLocks noGrp="1"/>
          </p:cNvSpPr>
          <p:nvPr>
            <p:ph idx="1"/>
          </p:nvPr>
        </p:nvSpPr>
        <p:spPr>
          <a:xfrm>
            <a:off x="457200" y="3645024"/>
            <a:ext cx="8229600" cy="2485901"/>
          </a:xfrm>
        </p:spPr>
        <p:txBody>
          <a:bodyPr/>
          <a:lstStyle/>
          <a:p>
            <a:r>
              <a:rPr lang="en-US" dirty="0"/>
              <a:t>Query: “Find the IDs and Names of all students in SoC”</a:t>
            </a:r>
          </a:p>
          <a:p>
            <a:r>
              <a:rPr lang="en-US" b="1" dirty="0">
                <a:sym typeface="Symbol"/>
              </a:rPr>
              <a:t></a:t>
            </a:r>
            <a:r>
              <a:rPr lang="en-US" baseline="-25000" dirty="0">
                <a:sym typeface="Symbol"/>
              </a:rPr>
              <a:t>ID,</a:t>
            </a:r>
            <a:r>
              <a:rPr lang="en-US" dirty="0">
                <a:sym typeface="Symbol"/>
              </a:rPr>
              <a:t> </a:t>
            </a:r>
            <a:r>
              <a:rPr lang="en-US" baseline="-25000" dirty="0">
                <a:sym typeface="Symbol"/>
              </a:rPr>
              <a:t>Name</a:t>
            </a:r>
            <a:r>
              <a:rPr lang="en-US" dirty="0">
                <a:sym typeface="Symbol"/>
              </a:rPr>
              <a:t> (</a:t>
            </a:r>
            <a:r>
              <a:rPr lang="en-US" b="1" dirty="0">
                <a:sym typeface="Symbol"/>
              </a:rPr>
              <a:t></a:t>
            </a:r>
            <a:r>
              <a:rPr lang="en-US" baseline="-25000" dirty="0">
                <a:sym typeface="Symbol"/>
              </a:rPr>
              <a:t>School = ‘SoC’</a:t>
            </a:r>
            <a:r>
              <a:rPr lang="en-US" dirty="0">
                <a:sym typeface="Symbol"/>
              </a:rPr>
              <a:t> Students)</a:t>
            </a:r>
            <a:endParaRPr lang="en-SG" dirty="0"/>
          </a:p>
        </p:txBody>
      </p:sp>
      <p:graphicFrame>
        <p:nvGraphicFramePr>
          <p:cNvPr id="4" name="Content Placeholder 3"/>
          <p:cNvGraphicFramePr>
            <a:graphicFrameLocks/>
          </p:cNvGraphicFramePr>
          <p:nvPr>
            <p:extLst/>
          </p:nvPr>
        </p:nvGraphicFramePr>
        <p:xfrm>
          <a:off x="2483768" y="1196752"/>
          <a:ext cx="4464496" cy="22860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5678</a:t>
                      </a:r>
                      <a:endParaRPr lang="en-SG" sz="2400" dirty="0">
                        <a:latin typeface="Calibri" pitchFamily="34" charset="0"/>
                      </a:endParaRPr>
                    </a:p>
                  </a:txBody>
                  <a:tcPr/>
                </a:tc>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a:t>
                      </a:r>
                      <a:r>
                        <a:rPr lang="en-US" altLang="zh-CN" sz="2400" dirty="0">
                          <a:latin typeface="Calibri" pitchFamily="34" charset="0"/>
                        </a:rPr>
                        <a:t>0</a:t>
                      </a:r>
                      <a:endParaRPr lang="en-SG" sz="2400" dirty="0">
                        <a:latin typeface="Calibri" pitchFamily="34" charset="0"/>
                      </a:endParaRPr>
                    </a:p>
                  </a:txBody>
                  <a:tcPr/>
                </a:tc>
                <a:tc>
                  <a:txBody>
                    <a:bodyPr/>
                    <a:lstStyle/>
                    <a:p>
                      <a:pPr algn="ctr"/>
                      <a:r>
                        <a:rPr lang="en-US" sz="2400" dirty="0">
                          <a:latin typeface="Calibri" pitchFamily="34" charset="0"/>
                        </a:rPr>
                        <a:t>EE</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9413</a:t>
                      </a:r>
                      <a:endParaRPr lang="en-SG" sz="2400" dirty="0">
                        <a:latin typeface="Calibri" pitchFamily="34" charset="0"/>
                      </a:endParaRPr>
                    </a:p>
                  </a:txBody>
                  <a:tcPr/>
                </a:tc>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tc>
                  <a:txBody>
                    <a:bodyPr/>
                    <a:lstStyle/>
                    <a:p>
                      <a:pPr algn="ctr"/>
                      <a:r>
                        <a:rPr lang="en-US" sz="2400" dirty="0">
                          <a:latin typeface="Calibri" pitchFamily="34" charset="0"/>
                        </a:rPr>
                        <a:t>CE</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99592" y="1196752"/>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6660232" y="4649688"/>
          <a:ext cx="2232248" cy="13716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extLst>
                  <a:ext uri="{0D108BD9-81ED-4DB2-BD59-A6C34878D82A}">
                    <a16:rowId xmlns:a16="http://schemas.microsoft.com/office/drawing/2014/main" val="10002"/>
                  </a:ext>
                </a:extLst>
              </a:tr>
            </a:tbl>
          </a:graphicData>
        </a:graphic>
      </p:graphicFrame>
      <p:sp>
        <p:nvSpPr>
          <p:cNvPr id="7" name="TextBox 6"/>
          <p:cNvSpPr txBox="1"/>
          <p:nvPr/>
        </p:nvSpPr>
        <p:spPr>
          <a:xfrm>
            <a:off x="7524328" y="405790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99899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Operators</a:t>
            </a:r>
            <a:endParaRPr lang="en-SG" dirty="0"/>
          </a:p>
        </p:txBody>
      </p:sp>
      <p:sp>
        <p:nvSpPr>
          <p:cNvPr id="3" name="Content Placeholder 2"/>
          <p:cNvSpPr>
            <a:spLocks noGrp="1"/>
          </p:cNvSpPr>
          <p:nvPr>
            <p:ph idx="1"/>
          </p:nvPr>
        </p:nvSpPr>
        <p:spPr>
          <a:xfrm>
            <a:off x="457200" y="3645024"/>
            <a:ext cx="8229600" cy="2485901"/>
          </a:xfrm>
        </p:spPr>
        <p:txBody>
          <a:bodyPr>
            <a:normAutofit fontScale="85000" lnSpcReduction="20000"/>
          </a:bodyPr>
          <a:lstStyle/>
          <a:p>
            <a:r>
              <a:rPr lang="en-US" dirty="0"/>
              <a:t>Query: “Find the IDs and Names of all students in SoC”</a:t>
            </a:r>
          </a:p>
          <a:p>
            <a:r>
              <a:rPr lang="en-US" dirty="0">
                <a:sym typeface="Symbol"/>
              </a:rPr>
              <a:t>How about </a:t>
            </a:r>
            <a:r>
              <a:rPr lang="en-US" b="1" dirty="0">
                <a:sym typeface="Symbol"/>
              </a:rPr>
              <a:t></a:t>
            </a:r>
            <a:r>
              <a:rPr lang="en-US" baseline="-25000" dirty="0">
                <a:sym typeface="Symbol"/>
              </a:rPr>
              <a:t>School = ‘SoC’ </a:t>
            </a:r>
            <a:r>
              <a:rPr lang="en-US" dirty="0">
                <a:sym typeface="Symbol"/>
              </a:rPr>
              <a:t>(</a:t>
            </a:r>
            <a:r>
              <a:rPr lang="en-US" b="1" dirty="0">
                <a:sym typeface="Symbol"/>
              </a:rPr>
              <a:t></a:t>
            </a:r>
            <a:r>
              <a:rPr lang="en-US" baseline="-25000" dirty="0">
                <a:sym typeface="Symbol"/>
              </a:rPr>
              <a:t>ID,</a:t>
            </a:r>
            <a:r>
              <a:rPr lang="en-US" dirty="0">
                <a:sym typeface="Symbol"/>
              </a:rPr>
              <a:t> </a:t>
            </a:r>
            <a:r>
              <a:rPr lang="en-US" baseline="-25000" dirty="0">
                <a:sym typeface="Symbol"/>
              </a:rPr>
              <a:t>Name</a:t>
            </a:r>
            <a:r>
              <a:rPr lang="en-US" dirty="0">
                <a:sym typeface="Symbol"/>
              </a:rPr>
              <a:t> Students)?</a:t>
            </a:r>
          </a:p>
          <a:p>
            <a:r>
              <a:rPr lang="en-US" dirty="0"/>
              <a:t>Wrong. </a:t>
            </a:r>
          </a:p>
          <a:p>
            <a:r>
              <a:rPr lang="en-US" dirty="0"/>
              <a:t>The projection goes before the selection here</a:t>
            </a:r>
          </a:p>
          <a:p>
            <a:r>
              <a:rPr lang="en-US" dirty="0"/>
              <a:t>Since the projection eliminates “School’, the selection cannot be performed</a:t>
            </a:r>
          </a:p>
        </p:txBody>
      </p:sp>
      <p:graphicFrame>
        <p:nvGraphicFramePr>
          <p:cNvPr id="4" name="Content Placeholder 3"/>
          <p:cNvGraphicFramePr>
            <a:graphicFrameLocks/>
          </p:cNvGraphicFramePr>
          <p:nvPr>
            <p:extLst/>
          </p:nvPr>
        </p:nvGraphicFramePr>
        <p:xfrm>
          <a:off x="2483768" y="1196752"/>
          <a:ext cx="4464496" cy="22860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tc>
                  <a:txBody>
                    <a:bodyPr/>
                    <a:lstStyle/>
                    <a:p>
                      <a:pPr algn="ctr"/>
                      <a:r>
                        <a:rPr lang="en-US" sz="2400" dirty="0">
                          <a:latin typeface="Calibri" pitchFamily="34" charset="0"/>
                        </a:rPr>
                        <a:t>School</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1234</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5678</a:t>
                      </a:r>
                      <a:endParaRPr lang="en-SG" sz="2400" dirty="0">
                        <a:latin typeface="Calibri" pitchFamily="34" charset="0"/>
                      </a:endParaRPr>
                    </a:p>
                  </a:txBody>
                  <a:tcPr/>
                </a:tc>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a:t>
                      </a:r>
                      <a:r>
                        <a:rPr lang="en-US" altLang="zh-CN" sz="2400" dirty="0">
                          <a:latin typeface="Calibri" pitchFamily="34" charset="0"/>
                        </a:rPr>
                        <a:t>0</a:t>
                      </a:r>
                      <a:endParaRPr lang="en-SG" sz="2400" dirty="0">
                        <a:latin typeface="Calibri" pitchFamily="34" charset="0"/>
                      </a:endParaRPr>
                    </a:p>
                  </a:txBody>
                  <a:tcPr/>
                </a:tc>
                <a:tc>
                  <a:txBody>
                    <a:bodyPr/>
                    <a:lstStyle/>
                    <a:p>
                      <a:pPr algn="ctr"/>
                      <a:r>
                        <a:rPr lang="en-US" sz="2400" dirty="0">
                          <a:latin typeface="Calibri" pitchFamily="34" charset="0"/>
                        </a:rPr>
                        <a:t>EE</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3742</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tc>
                  <a:txBody>
                    <a:bodyPr/>
                    <a:lstStyle/>
                    <a:p>
                      <a:pPr algn="ctr"/>
                      <a:r>
                        <a:rPr lang="en-US" sz="2400" dirty="0">
                          <a:latin typeface="Calibri" pitchFamily="34" charset="0"/>
                        </a:rPr>
                        <a:t>SoC</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9413</a:t>
                      </a:r>
                      <a:endParaRPr lang="en-SG" sz="2400" dirty="0">
                        <a:latin typeface="Calibri" pitchFamily="34" charset="0"/>
                      </a:endParaRPr>
                    </a:p>
                  </a:txBody>
                  <a:tcPr/>
                </a:tc>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tc>
                  <a:txBody>
                    <a:bodyPr/>
                    <a:lstStyle/>
                    <a:p>
                      <a:pPr algn="ctr"/>
                      <a:r>
                        <a:rPr lang="en-US" sz="2400" dirty="0">
                          <a:latin typeface="Calibri" pitchFamily="34" charset="0"/>
                        </a:rPr>
                        <a:t>CE</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99592" y="1196752"/>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spTree>
    <p:extLst>
      <p:ext uri="{BB962C8B-B14F-4D97-AF65-F5344CB8AC3E}">
        <p14:creationId xmlns:p14="http://schemas.microsoft.com/office/powerpoint/2010/main" val="499199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Union </a:t>
            </a:r>
            <a:r>
              <a:rPr lang="en-US" dirty="0">
                <a:sym typeface="Symbol"/>
              </a:rPr>
              <a:t></a:t>
            </a:r>
            <a:endParaRPr lang="en-SG" dirty="0"/>
          </a:p>
        </p:txBody>
      </p:sp>
      <p:sp>
        <p:nvSpPr>
          <p:cNvPr id="3" name="Content Placeholder 2"/>
          <p:cNvSpPr>
            <a:spLocks noGrp="1"/>
          </p:cNvSpPr>
          <p:nvPr>
            <p:ph idx="1"/>
          </p:nvPr>
        </p:nvSpPr>
        <p:spPr>
          <a:xfrm>
            <a:off x="457200" y="4221088"/>
            <a:ext cx="8229600" cy="1909837"/>
          </a:xfrm>
        </p:spPr>
        <p:txBody>
          <a:bodyPr>
            <a:normAutofit fontScale="85000" lnSpcReduction="10000"/>
          </a:bodyPr>
          <a:lstStyle/>
          <a:p>
            <a:r>
              <a:rPr lang="en-US" dirty="0"/>
              <a:t>Query: “Find the persons who are either students or volunteers”</a:t>
            </a:r>
          </a:p>
          <a:p>
            <a:r>
              <a:rPr lang="en-US" dirty="0"/>
              <a:t>Students </a:t>
            </a:r>
            <a:r>
              <a:rPr lang="en-US" b="1" dirty="0">
                <a:sym typeface="Symbol"/>
              </a:rPr>
              <a:t></a:t>
            </a:r>
            <a:r>
              <a:rPr lang="en-US" dirty="0">
                <a:sym typeface="Symbol"/>
              </a:rPr>
              <a:t> </a:t>
            </a:r>
            <a:r>
              <a:rPr lang="en-US" dirty="0"/>
              <a:t>Volunteer</a:t>
            </a:r>
          </a:p>
          <a:p>
            <a:r>
              <a:rPr lang="en-US" dirty="0"/>
              <a:t>Note 1: Duplicate tuples are automatically removed</a:t>
            </a:r>
          </a:p>
        </p:txBody>
      </p:sp>
      <p:graphicFrame>
        <p:nvGraphicFramePr>
          <p:cNvPr id="4" name="Content Placeholder 3"/>
          <p:cNvGraphicFramePr>
            <a:graphicFrameLocks/>
          </p:cNvGraphicFramePr>
          <p:nvPr>
            <p:extLst/>
          </p:nvPr>
        </p:nvGraphicFramePr>
        <p:xfrm>
          <a:off x="467544" y="1682552"/>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67544" y="1087324"/>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719064"/>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tc>
                  <a:txBody>
                    <a:bodyPr/>
                    <a:lstStyle/>
                    <a:p>
                      <a:pPr algn="ctr"/>
                      <a:r>
                        <a:rPr lang="en-US" sz="2400" dirty="0">
                          <a:latin typeface="Calibri" pitchFamily="34" charset="0"/>
                        </a:rPr>
                        <a:t>43</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tc>
                  <a:txBody>
                    <a:bodyPr/>
                    <a:lstStyle/>
                    <a:p>
                      <a:pPr algn="ctr"/>
                      <a:r>
                        <a:rPr lang="en-US" sz="2400" dirty="0">
                          <a:latin typeface="Calibri" pitchFamily="34" charset="0"/>
                        </a:rPr>
                        <a:t>35</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3347864" y="1123836"/>
            <a:ext cx="165618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Volunteer</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6372200" y="876672"/>
          <a:ext cx="2232248" cy="32004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4"/>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tc>
                  <a:txBody>
                    <a:bodyPr/>
                    <a:lstStyle/>
                    <a:p>
                      <a:pPr algn="ctr"/>
                      <a:r>
                        <a:rPr lang="en-US" sz="2400" dirty="0">
                          <a:latin typeface="Calibri" pitchFamily="34" charset="0"/>
                        </a:rPr>
                        <a:t>43</a:t>
                      </a:r>
                      <a:endParaRPr lang="en-SG" sz="2400" dirty="0">
                        <a:latin typeface="Calibri" pitchFamily="34" charset="0"/>
                      </a:endParaRPr>
                    </a:p>
                  </a:txBody>
                  <a:tcPr/>
                </a:tc>
                <a:extLst>
                  <a:ext uri="{0D108BD9-81ED-4DB2-BD59-A6C34878D82A}">
                    <a16:rowId xmlns:a16="http://schemas.microsoft.com/office/drawing/2014/main" val="10005"/>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tc>
                  <a:txBody>
                    <a:bodyPr/>
                    <a:lstStyle/>
                    <a:p>
                      <a:pPr algn="ctr"/>
                      <a:r>
                        <a:rPr lang="en-US" sz="2400" dirty="0">
                          <a:latin typeface="Calibri" pitchFamily="34" charset="0"/>
                        </a:rPr>
                        <a:t>35</a:t>
                      </a:r>
                      <a:endParaRPr lang="en-SG" sz="2400" dirty="0">
                        <a:latin typeface="Calibri" pitchFamily="34" charset="0"/>
                      </a:endParaRPr>
                    </a:p>
                  </a:txBody>
                  <a:tcPr/>
                </a:tc>
                <a:extLst>
                  <a:ext uri="{0D108BD9-81ED-4DB2-BD59-A6C34878D82A}">
                    <a16:rowId xmlns:a16="http://schemas.microsoft.com/office/drawing/2014/main" val="10006"/>
                  </a:ext>
                </a:extLst>
              </a:tr>
            </a:tbl>
          </a:graphicData>
        </a:graphic>
      </p:graphicFrame>
      <p:sp>
        <p:nvSpPr>
          <p:cNvPr id="10" name="TextBox 9"/>
          <p:cNvSpPr txBox="1"/>
          <p:nvPr/>
        </p:nvSpPr>
        <p:spPr>
          <a:xfrm>
            <a:off x="6372200" y="2606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1392529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Union </a:t>
            </a:r>
            <a:r>
              <a:rPr lang="en-US" dirty="0">
                <a:sym typeface="Symbol"/>
              </a:rPr>
              <a:t></a:t>
            </a:r>
            <a:endParaRPr lang="en-SG" dirty="0"/>
          </a:p>
        </p:txBody>
      </p:sp>
      <p:sp>
        <p:nvSpPr>
          <p:cNvPr id="3" name="Content Placeholder 2"/>
          <p:cNvSpPr>
            <a:spLocks noGrp="1"/>
          </p:cNvSpPr>
          <p:nvPr>
            <p:ph idx="1"/>
          </p:nvPr>
        </p:nvSpPr>
        <p:spPr>
          <a:xfrm>
            <a:off x="457200" y="4221088"/>
            <a:ext cx="8229600" cy="1909837"/>
          </a:xfrm>
        </p:spPr>
        <p:txBody>
          <a:bodyPr>
            <a:normAutofit fontScale="92500" lnSpcReduction="20000"/>
          </a:bodyPr>
          <a:lstStyle/>
          <a:p>
            <a:r>
              <a:rPr lang="en-US" dirty="0"/>
              <a:t>Query: “Find the names of the persons who are either students or volunteers”</a:t>
            </a:r>
          </a:p>
          <a:p>
            <a:r>
              <a:rPr lang="en-US" b="1" dirty="0">
                <a:sym typeface="Symbol"/>
              </a:rPr>
              <a:t></a:t>
            </a:r>
            <a:r>
              <a:rPr lang="en-US" baseline="-25000" dirty="0">
                <a:sym typeface="Symbol"/>
              </a:rPr>
              <a:t>Name</a:t>
            </a:r>
            <a:r>
              <a:rPr lang="en-US" dirty="0">
                <a:sym typeface="Symbol"/>
              </a:rPr>
              <a:t> (</a:t>
            </a:r>
            <a:r>
              <a:rPr lang="en-US" dirty="0"/>
              <a:t>Students </a:t>
            </a:r>
            <a:r>
              <a:rPr lang="en-US" b="1" dirty="0">
                <a:sym typeface="Symbol"/>
              </a:rPr>
              <a:t></a:t>
            </a:r>
            <a:r>
              <a:rPr lang="en-US" dirty="0">
                <a:sym typeface="Symbol"/>
              </a:rPr>
              <a:t> </a:t>
            </a:r>
            <a:r>
              <a:rPr lang="en-US" dirty="0"/>
              <a:t>Volunteer)</a:t>
            </a:r>
          </a:p>
          <a:p>
            <a:r>
              <a:rPr lang="en-US" dirty="0">
                <a:sym typeface="Symbol"/>
              </a:rPr>
              <a:t>(</a:t>
            </a:r>
            <a:r>
              <a:rPr lang="en-US" b="1" dirty="0">
                <a:sym typeface="Symbol"/>
              </a:rPr>
              <a:t></a:t>
            </a:r>
            <a:r>
              <a:rPr lang="en-US" baseline="-25000" dirty="0">
                <a:sym typeface="Symbol"/>
              </a:rPr>
              <a:t>Name</a:t>
            </a:r>
            <a:r>
              <a:rPr lang="en-US" dirty="0">
                <a:sym typeface="Symbol"/>
              </a:rPr>
              <a:t> </a:t>
            </a:r>
            <a:r>
              <a:rPr lang="en-US" dirty="0"/>
              <a:t>Students) </a:t>
            </a:r>
            <a:r>
              <a:rPr lang="en-US" b="1" dirty="0">
                <a:sym typeface="Symbol"/>
              </a:rPr>
              <a:t></a:t>
            </a:r>
            <a:r>
              <a:rPr lang="en-US" dirty="0">
                <a:sym typeface="Symbol"/>
              </a:rPr>
              <a:t> (</a:t>
            </a:r>
            <a:r>
              <a:rPr lang="en-US" b="1" dirty="0">
                <a:sym typeface="Symbol"/>
              </a:rPr>
              <a:t></a:t>
            </a:r>
            <a:r>
              <a:rPr lang="en-US" baseline="-25000" dirty="0">
                <a:sym typeface="Symbol"/>
              </a:rPr>
              <a:t>Name </a:t>
            </a:r>
            <a:r>
              <a:rPr lang="en-US" dirty="0"/>
              <a:t>Volunteer)</a:t>
            </a:r>
          </a:p>
        </p:txBody>
      </p:sp>
      <p:graphicFrame>
        <p:nvGraphicFramePr>
          <p:cNvPr id="4" name="Content Placeholder 3"/>
          <p:cNvGraphicFramePr>
            <a:graphicFrameLocks/>
          </p:cNvGraphicFramePr>
          <p:nvPr>
            <p:extLst/>
          </p:nvPr>
        </p:nvGraphicFramePr>
        <p:xfrm>
          <a:off x="467544" y="1682552"/>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67544" y="1087324"/>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719064"/>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tc>
                  <a:txBody>
                    <a:bodyPr/>
                    <a:lstStyle/>
                    <a:p>
                      <a:pPr algn="ctr"/>
                      <a:r>
                        <a:rPr lang="en-US" sz="2400" dirty="0">
                          <a:latin typeface="Calibri" pitchFamily="34" charset="0"/>
                        </a:rPr>
                        <a:t>43</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tc>
                  <a:txBody>
                    <a:bodyPr/>
                    <a:lstStyle/>
                    <a:p>
                      <a:pPr algn="ctr"/>
                      <a:r>
                        <a:rPr lang="en-US" sz="2400" dirty="0">
                          <a:latin typeface="Calibri" pitchFamily="34" charset="0"/>
                        </a:rPr>
                        <a:t>35</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3347864" y="1123836"/>
            <a:ext cx="165618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Volunteer</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6372200" y="876672"/>
          <a:ext cx="1224136" cy="32004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extLst>
                  <a:ext uri="{0D108BD9-81ED-4DB2-BD59-A6C34878D82A}">
                    <a16:rowId xmlns:a16="http://schemas.microsoft.com/office/drawing/2014/main" val="10004"/>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extLst>
                  <a:ext uri="{0D108BD9-81ED-4DB2-BD59-A6C34878D82A}">
                    <a16:rowId xmlns:a16="http://schemas.microsoft.com/office/drawing/2014/main" val="10005"/>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extLst>
                  <a:ext uri="{0D108BD9-81ED-4DB2-BD59-A6C34878D82A}">
                    <a16:rowId xmlns:a16="http://schemas.microsoft.com/office/drawing/2014/main" val="10006"/>
                  </a:ext>
                </a:extLst>
              </a:tr>
            </a:tbl>
          </a:graphicData>
        </a:graphic>
      </p:graphicFrame>
      <p:sp>
        <p:nvSpPr>
          <p:cNvPr id="10" name="TextBox 9"/>
          <p:cNvSpPr txBox="1"/>
          <p:nvPr/>
        </p:nvSpPr>
        <p:spPr>
          <a:xfrm>
            <a:off x="6372200" y="2606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34204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Union </a:t>
            </a:r>
            <a:r>
              <a:rPr lang="en-US" dirty="0">
                <a:sym typeface="Symbol"/>
              </a:rPr>
              <a:t></a:t>
            </a:r>
            <a:endParaRPr lang="en-SG" dirty="0"/>
          </a:p>
        </p:txBody>
      </p:sp>
      <p:sp>
        <p:nvSpPr>
          <p:cNvPr id="3" name="Content Placeholder 2"/>
          <p:cNvSpPr>
            <a:spLocks noGrp="1"/>
          </p:cNvSpPr>
          <p:nvPr>
            <p:ph idx="1"/>
          </p:nvPr>
        </p:nvSpPr>
        <p:spPr>
          <a:xfrm>
            <a:off x="457200" y="4077072"/>
            <a:ext cx="8229600" cy="2053853"/>
          </a:xfrm>
        </p:spPr>
        <p:txBody>
          <a:bodyPr>
            <a:normAutofit fontScale="70000" lnSpcReduction="20000"/>
          </a:bodyPr>
          <a:lstStyle/>
          <a:p>
            <a:r>
              <a:rPr lang="en-US" dirty="0"/>
              <a:t>Query: “Find the persons who are either students or volunteers”</a:t>
            </a:r>
          </a:p>
          <a:p>
            <a:r>
              <a:rPr lang="en-US" dirty="0"/>
              <a:t>Students </a:t>
            </a:r>
            <a:r>
              <a:rPr lang="en-US" b="1" dirty="0">
                <a:sym typeface="Symbol"/>
              </a:rPr>
              <a:t></a:t>
            </a:r>
            <a:r>
              <a:rPr lang="en-US" dirty="0">
                <a:sym typeface="Symbol"/>
              </a:rPr>
              <a:t> </a:t>
            </a:r>
            <a:r>
              <a:rPr lang="en-US" dirty="0"/>
              <a:t>Volunteer ?</a:t>
            </a:r>
          </a:p>
          <a:p>
            <a:r>
              <a:rPr lang="en-US" dirty="0"/>
              <a:t>Wrong.</a:t>
            </a:r>
          </a:p>
          <a:p>
            <a:r>
              <a:rPr lang="en-US" dirty="0"/>
              <a:t>Note 2: The two sides of a union must have the same schema (i.e., the same set of attributes)</a:t>
            </a:r>
          </a:p>
          <a:p>
            <a:r>
              <a:rPr lang="en-US" dirty="0"/>
              <a:t>Correct solution: </a:t>
            </a:r>
            <a:r>
              <a:rPr lang="en-US" dirty="0">
                <a:sym typeface="Symbol"/>
              </a:rPr>
              <a:t>(</a:t>
            </a:r>
            <a:r>
              <a:rPr lang="en-US" b="1" dirty="0">
                <a:sym typeface="Symbol"/>
              </a:rPr>
              <a:t></a:t>
            </a:r>
            <a:r>
              <a:rPr lang="en-US" baseline="-25000" dirty="0">
                <a:sym typeface="Symbol"/>
              </a:rPr>
              <a:t>Name</a:t>
            </a:r>
            <a:r>
              <a:rPr lang="en-US" dirty="0">
                <a:sym typeface="Symbol"/>
              </a:rPr>
              <a:t> </a:t>
            </a:r>
            <a:r>
              <a:rPr lang="en-US" dirty="0"/>
              <a:t>Students) </a:t>
            </a:r>
            <a:r>
              <a:rPr lang="en-US" b="1" dirty="0">
                <a:sym typeface="Symbol"/>
              </a:rPr>
              <a:t></a:t>
            </a:r>
            <a:r>
              <a:rPr lang="en-US" dirty="0">
                <a:sym typeface="Symbol"/>
              </a:rPr>
              <a:t> </a:t>
            </a:r>
            <a:r>
              <a:rPr lang="en-US" dirty="0"/>
              <a:t>Volunteer</a:t>
            </a:r>
          </a:p>
        </p:txBody>
      </p:sp>
      <p:graphicFrame>
        <p:nvGraphicFramePr>
          <p:cNvPr id="4" name="Content Placeholder 3"/>
          <p:cNvGraphicFramePr>
            <a:graphicFrameLocks/>
          </p:cNvGraphicFramePr>
          <p:nvPr>
            <p:extLst/>
          </p:nvPr>
        </p:nvGraphicFramePr>
        <p:xfrm>
          <a:off x="467544" y="1682552"/>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67544" y="1087324"/>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719064"/>
          <a:ext cx="1224136"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3347864" y="1123836"/>
            <a:ext cx="165618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Volunteer</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6372200" y="876672"/>
          <a:ext cx="1224136" cy="32004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extLst>
                  <a:ext uri="{0D108BD9-81ED-4DB2-BD59-A6C34878D82A}">
                    <a16:rowId xmlns:a16="http://schemas.microsoft.com/office/drawing/2014/main" val="10004"/>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extLst>
                  <a:ext uri="{0D108BD9-81ED-4DB2-BD59-A6C34878D82A}">
                    <a16:rowId xmlns:a16="http://schemas.microsoft.com/office/drawing/2014/main" val="10005"/>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extLst>
                  <a:ext uri="{0D108BD9-81ED-4DB2-BD59-A6C34878D82A}">
                    <a16:rowId xmlns:a16="http://schemas.microsoft.com/office/drawing/2014/main" val="10006"/>
                  </a:ext>
                </a:extLst>
              </a:tr>
            </a:tbl>
          </a:graphicData>
        </a:graphic>
      </p:graphicFrame>
      <p:sp>
        <p:nvSpPr>
          <p:cNvPr id="10" name="TextBox 9"/>
          <p:cNvSpPr txBox="1"/>
          <p:nvPr/>
        </p:nvSpPr>
        <p:spPr>
          <a:xfrm>
            <a:off x="6372200" y="2606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24290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Intersection </a:t>
            </a:r>
            <a:r>
              <a:rPr lang="en-US" dirty="0">
                <a:sym typeface="Symbol"/>
              </a:rPr>
              <a:t> </a:t>
            </a:r>
            <a:endParaRPr lang="en-SG" dirty="0"/>
          </a:p>
        </p:txBody>
      </p:sp>
      <p:sp>
        <p:nvSpPr>
          <p:cNvPr id="3" name="Content Placeholder 2"/>
          <p:cNvSpPr>
            <a:spLocks noGrp="1"/>
          </p:cNvSpPr>
          <p:nvPr>
            <p:ph idx="1"/>
          </p:nvPr>
        </p:nvSpPr>
        <p:spPr>
          <a:xfrm>
            <a:off x="457200" y="4221088"/>
            <a:ext cx="8229600" cy="1909837"/>
          </a:xfrm>
        </p:spPr>
        <p:txBody>
          <a:bodyPr>
            <a:normAutofit fontScale="85000" lnSpcReduction="10000"/>
          </a:bodyPr>
          <a:lstStyle/>
          <a:p>
            <a:r>
              <a:rPr lang="en-US" dirty="0"/>
              <a:t>Query: “Find the persons who are both students and volunteers”</a:t>
            </a:r>
          </a:p>
          <a:p>
            <a:r>
              <a:rPr lang="en-US" dirty="0"/>
              <a:t>Students </a:t>
            </a:r>
            <a:r>
              <a:rPr lang="en-US" b="1" dirty="0">
                <a:sym typeface="Symbol"/>
              </a:rPr>
              <a:t></a:t>
            </a:r>
            <a:r>
              <a:rPr lang="en-US" dirty="0">
                <a:sym typeface="Symbol"/>
              </a:rPr>
              <a:t> </a:t>
            </a:r>
            <a:r>
              <a:rPr lang="en-US" dirty="0"/>
              <a:t>Volunteer</a:t>
            </a:r>
          </a:p>
          <a:p>
            <a:r>
              <a:rPr lang="en-US" dirty="0"/>
              <a:t>Note 1: Duplicate tuples are automatically removed</a:t>
            </a:r>
          </a:p>
        </p:txBody>
      </p:sp>
      <p:graphicFrame>
        <p:nvGraphicFramePr>
          <p:cNvPr id="4" name="Content Placeholder 3"/>
          <p:cNvGraphicFramePr>
            <a:graphicFrameLocks/>
          </p:cNvGraphicFramePr>
          <p:nvPr>
            <p:extLst/>
          </p:nvPr>
        </p:nvGraphicFramePr>
        <p:xfrm>
          <a:off x="467544" y="1682552"/>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67544" y="1087324"/>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719064"/>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tc>
                  <a:txBody>
                    <a:bodyPr/>
                    <a:lstStyle/>
                    <a:p>
                      <a:pPr algn="ctr"/>
                      <a:r>
                        <a:rPr lang="en-US" sz="2400" dirty="0">
                          <a:latin typeface="Calibri" pitchFamily="34" charset="0"/>
                        </a:rPr>
                        <a:t>43</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tc>
                  <a:txBody>
                    <a:bodyPr/>
                    <a:lstStyle/>
                    <a:p>
                      <a:pPr algn="ctr"/>
                      <a:r>
                        <a:rPr lang="en-US" sz="2400" dirty="0">
                          <a:latin typeface="Calibri" pitchFamily="34" charset="0"/>
                        </a:rPr>
                        <a:t>35</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3347864" y="1123836"/>
            <a:ext cx="165618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Volunteer</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6372200" y="2172816"/>
          <a:ext cx="2232248" cy="13716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bl>
          </a:graphicData>
        </a:graphic>
      </p:graphicFrame>
      <p:sp>
        <p:nvSpPr>
          <p:cNvPr id="10" name="TextBox 9"/>
          <p:cNvSpPr txBox="1"/>
          <p:nvPr/>
        </p:nvSpPr>
        <p:spPr>
          <a:xfrm>
            <a:off x="6372200" y="1556792"/>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98181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Intersection </a:t>
            </a:r>
            <a:r>
              <a:rPr lang="en-US" dirty="0">
                <a:sym typeface="Symbol"/>
              </a:rPr>
              <a:t> </a:t>
            </a:r>
            <a:endParaRPr lang="en-SG" dirty="0"/>
          </a:p>
        </p:txBody>
      </p:sp>
      <p:sp>
        <p:nvSpPr>
          <p:cNvPr id="3" name="Content Placeholder 2"/>
          <p:cNvSpPr>
            <a:spLocks noGrp="1"/>
          </p:cNvSpPr>
          <p:nvPr>
            <p:ph idx="1"/>
          </p:nvPr>
        </p:nvSpPr>
        <p:spPr>
          <a:xfrm>
            <a:off x="457200" y="4077072"/>
            <a:ext cx="8229600" cy="2053853"/>
          </a:xfrm>
        </p:spPr>
        <p:txBody>
          <a:bodyPr>
            <a:normAutofit fontScale="85000" lnSpcReduction="20000"/>
          </a:bodyPr>
          <a:lstStyle/>
          <a:p>
            <a:r>
              <a:rPr lang="en-US" dirty="0"/>
              <a:t>Query: “Find the persons who are both students and volunteers”</a:t>
            </a:r>
          </a:p>
          <a:p>
            <a:r>
              <a:rPr lang="en-US" dirty="0">
                <a:sym typeface="Symbol"/>
              </a:rPr>
              <a:t>(</a:t>
            </a:r>
            <a:r>
              <a:rPr lang="en-US" b="1" dirty="0">
                <a:sym typeface="Symbol"/>
              </a:rPr>
              <a:t></a:t>
            </a:r>
            <a:r>
              <a:rPr lang="en-US" baseline="-25000" dirty="0">
                <a:sym typeface="Symbol"/>
              </a:rPr>
              <a:t>Name</a:t>
            </a:r>
            <a:r>
              <a:rPr lang="en-US" dirty="0">
                <a:sym typeface="Symbol"/>
              </a:rPr>
              <a:t> </a:t>
            </a:r>
            <a:r>
              <a:rPr lang="en-US" dirty="0"/>
              <a:t>Students) </a:t>
            </a:r>
            <a:r>
              <a:rPr lang="en-US" b="1" dirty="0">
                <a:sym typeface="Symbol"/>
              </a:rPr>
              <a:t></a:t>
            </a:r>
            <a:r>
              <a:rPr lang="en-US" dirty="0">
                <a:sym typeface="Symbol"/>
              </a:rPr>
              <a:t> </a:t>
            </a:r>
            <a:r>
              <a:rPr lang="en-US" dirty="0"/>
              <a:t>Volunteer</a:t>
            </a:r>
          </a:p>
          <a:p>
            <a:r>
              <a:rPr lang="en-US" dirty="0"/>
              <a:t>Note 2: The two sides of an intersection must have the same schema (i.e., the same set of attributes)</a:t>
            </a:r>
          </a:p>
        </p:txBody>
      </p:sp>
      <p:graphicFrame>
        <p:nvGraphicFramePr>
          <p:cNvPr id="4" name="Content Placeholder 3"/>
          <p:cNvGraphicFramePr>
            <a:graphicFrameLocks/>
          </p:cNvGraphicFramePr>
          <p:nvPr>
            <p:extLst/>
          </p:nvPr>
        </p:nvGraphicFramePr>
        <p:xfrm>
          <a:off x="467544" y="1682552"/>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67544" y="1087324"/>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719064"/>
          <a:ext cx="1224136"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3347864" y="1123836"/>
            <a:ext cx="165618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Volunteer</a:t>
            </a:r>
            <a:endParaRPr lang="en-SG" sz="2800" b="1" dirty="0">
              <a:latin typeface="Calibri" pitchFamily="34" charset="0"/>
            </a:endParaRPr>
          </a:p>
        </p:txBody>
      </p:sp>
      <p:graphicFrame>
        <p:nvGraphicFramePr>
          <p:cNvPr id="11" name="Content Placeholder 3"/>
          <p:cNvGraphicFramePr>
            <a:graphicFrameLocks/>
          </p:cNvGraphicFramePr>
          <p:nvPr>
            <p:extLst/>
          </p:nvPr>
        </p:nvGraphicFramePr>
        <p:xfrm>
          <a:off x="6372200" y="2172816"/>
          <a:ext cx="1224136" cy="13716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extLst>
                  <a:ext uri="{0D108BD9-81ED-4DB2-BD59-A6C34878D82A}">
                    <a16:rowId xmlns:a16="http://schemas.microsoft.com/office/drawing/2014/main" val="10002"/>
                  </a:ext>
                </a:extLst>
              </a:tr>
            </a:tbl>
          </a:graphicData>
        </a:graphic>
      </p:graphicFrame>
      <p:sp>
        <p:nvSpPr>
          <p:cNvPr id="12" name="TextBox 11"/>
          <p:cNvSpPr txBox="1"/>
          <p:nvPr/>
        </p:nvSpPr>
        <p:spPr>
          <a:xfrm>
            <a:off x="6372200" y="1556792"/>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87493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r>
              <a:rPr lang="en-US" dirty="0">
                <a:sym typeface="Symbol"/>
              </a:rPr>
              <a:t></a:t>
            </a:r>
            <a:endParaRPr lang="en-SG" dirty="0"/>
          </a:p>
        </p:txBody>
      </p:sp>
      <p:sp>
        <p:nvSpPr>
          <p:cNvPr id="3" name="Content Placeholder 2"/>
          <p:cNvSpPr>
            <a:spLocks noGrp="1"/>
          </p:cNvSpPr>
          <p:nvPr>
            <p:ph idx="1"/>
          </p:nvPr>
        </p:nvSpPr>
        <p:spPr>
          <a:xfrm>
            <a:off x="457200" y="4221088"/>
            <a:ext cx="8229600" cy="1909837"/>
          </a:xfrm>
        </p:spPr>
        <p:txBody>
          <a:bodyPr>
            <a:normAutofit fontScale="85000" lnSpcReduction="10000"/>
          </a:bodyPr>
          <a:lstStyle/>
          <a:p>
            <a:r>
              <a:rPr lang="en-US" dirty="0"/>
              <a:t>Query: “Find the persons who are students but not volunteers”</a:t>
            </a:r>
          </a:p>
          <a:p>
            <a:r>
              <a:rPr lang="en-US" dirty="0"/>
              <a:t>Students </a:t>
            </a:r>
            <a:r>
              <a:rPr lang="en-US" b="1" dirty="0">
                <a:sym typeface="Symbol"/>
              </a:rPr>
              <a:t></a:t>
            </a:r>
            <a:r>
              <a:rPr lang="en-US" dirty="0">
                <a:sym typeface="Symbol"/>
              </a:rPr>
              <a:t> </a:t>
            </a:r>
            <a:r>
              <a:rPr lang="en-US" dirty="0"/>
              <a:t>Volunteer</a:t>
            </a:r>
          </a:p>
          <a:p>
            <a:r>
              <a:rPr lang="en-US" dirty="0"/>
              <a:t>Note 1: Duplicate tuples are automatically removed</a:t>
            </a:r>
          </a:p>
        </p:txBody>
      </p:sp>
      <p:graphicFrame>
        <p:nvGraphicFramePr>
          <p:cNvPr id="4" name="Content Placeholder 3"/>
          <p:cNvGraphicFramePr>
            <a:graphicFrameLocks/>
          </p:cNvGraphicFramePr>
          <p:nvPr>
            <p:extLst/>
          </p:nvPr>
        </p:nvGraphicFramePr>
        <p:xfrm>
          <a:off x="467544" y="1682552"/>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67544" y="1087324"/>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719064"/>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tc>
                  <a:txBody>
                    <a:bodyPr/>
                    <a:lstStyle/>
                    <a:p>
                      <a:pPr algn="ctr"/>
                      <a:r>
                        <a:rPr lang="en-US" sz="2400" dirty="0">
                          <a:latin typeface="Calibri" pitchFamily="34" charset="0"/>
                        </a:rPr>
                        <a:t>43</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tc>
                  <a:txBody>
                    <a:bodyPr/>
                    <a:lstStyle/>
                    <a:p>
                      <a:pPr algn="ctr"/>
                      <a:r>
                        <a:rPr lang="en-US" sz="2400" dirty="0">
                          <a:latin typeface="Calibri" pitchFamily="34" charset="0"/>
                        </a:rPr>
                        <a:t>35</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3347864" y="1123836"/>
            <a:ext cx="165618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Volunteer</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6372200" y="2172816"/>
          <a:ext cx="2232248" cy="13716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bl>
          </a:graphicData>
        </a:graphic>
      </p:graphicFrame>
      <p:sp>
        <p:nvSpPr>
          <p:cNvPr id="10" name="TextBox 9"/>
          <p:cNvSpPr txBox="1"/>
          <p:nvPr/>
        </p:nvSpPr>
        <p:spPr>
          <a:xfrm>
            <a:off x="6372200" y="1556792"/>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156393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r>
              <a:rPr lang="en-US" dirty="0">
                <a:sym typeface="Symbol"/>
              </a:rPr>
              <a:t></a:t>
            </a:r>
            <a:endParaRPr lang="en-SG" dirty="0"/>
          </a:p>
        </p:txBody>
      </p:sp>
      <p:sp>
        <p:nvSpPr>
          <p:cNvPr id="3" name="Content Placeholder 2"/>
          <p:cNvSpPr>
            <a:spLocks noGrp="1"/>
          </p:cNvSpPr>
          <p:nvPr>
            <p:ph idx="1"/>
          </p:nvPr>
        </p:nvSpPr>
        <p:spPr>
          <a:xfrm>
            <a:off x="457200" y="4221088"/>
            <a:ext cx="8229600" cy="1909837"/>
          </a:xfrm>
        </p:spPr>
        <p:txBody>
          <a:bodyPr>
            <a:normAutofit/>
          </a:bodyPr>
          <a:lstStyle/>
          <a:p>
            <a:r>
              <a:rPr lang="en-US" dirty="0"/>
              <a:t>Query: “Find the persons who are volunteers but not students”</a:t>
            </a:r>
          </a:p>
          <a:p>
            <a:r>
              <a:rPr lang="en-US" dirty="0"/>
              <a:t>Volunteer </a:t>
            </a:r>
            <a:r>
              <a:rPr lang="en-US" b="1" dirty="0">
                <a:sym typeface="Symbol"/>
              </a:rPr>
              <a:t> </a:t>
            </a:r>
            <a:r>
              <a:rPr lang="en-US" dirty="0"/>
              <a:t>Students</a:t>
            </a:r>
          </a:p>
        </p:txBody>
      </p:sp>
      <p:graphicFrame>
        <p:nvGraphicFramePr>
          <p:cNvPr id="4" name="Content Placeholder 3"/>
          <p:cNvGraphicFramePr>
            <a:graphicFrameLocks/>
          </p:cNvGraphicFramePr>
          <p:nvPr>
            <p:extLst/>
          </p:nvPr>
        </p:nvGraphicFramePr>
        <p:xfrm>
          <a:off x="467544" y="1682552"/>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67544" y="1087324"/>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719064"/>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tc>
                  <a:txBody>
                    <a:bodyPr/>
                    <a:lstStyle/>
                    <a:p>
                      <a:pPr algn="ctr"/>
                      <a:r>
                        <a:rPr lang="en-US" sz="2400" dirty="0">
                          <a:latin typeface="Calibri" pitchFamily="34" charset="0"/>
                        </a:rPr>
                        <a:t>43</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tc>
                  <a:txBody>
                    <a:bodyPr/>
                    <a:lstStyle/>
                    <a:p>
                      <a:pPr algn="ctr"/>
                      <a:r>
                        <a:rPr lang="en-US" sz="2400" dirty="0">
                          <a:latin typeface="Calibri" pitchFamily="34" charset="0"/>
                        </a:rPr>
                        <a:t>35</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3347864" y="1123836"/>
            <a:ext cx="165618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Volunteer</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6372200" y="2172816"/>
          <a:ext cx="2232248" cy="13716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tc>
                  <a:txBody>
                    <a:bodyPr/>
                    <a:lstStyle/>
                    <a:p>
                      <a:pPr algn="ctr"/>
                      <a:r>
                        <a:rPr lang="en-US" sz="2400" dirty="0">
                          <a:latin typeface="Calibri" pitchFamily="34" charset="0"/>
                        </a:rPr>
                        <a:t>43</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tc>
                  <a:txBody>
                    <a:bodyPr/>
                    <a:lstStyle/>
                    <a:p>
                      <a:pPr algn="ctr"/>
                      <a:r>
                        <a:rPr lang="en-US" sz="2400" dirty="0">
                          <a:latin typeface="Calibri" pitchFamily="34" charset="0"/>
                        </a:rPr>
                        <a:t>35</a:t>
                      </a:r>
                      <a:endParaRPr lang="en-SG" sz="2400" dirty="0">
                        <a:latin typeface="Calibri" pitchFamily="34" charset="0"/>
                      </a:endParaRPr>
                    </a:p>
                  </a:txBody>
                  <a:tcPr/>
                </a:tc>
                <a:extLst>
                  <a:ext uri="{0D108BD9-81ED-4DB2-BD59-A6C34878D82A}">
                    <a16:rowId xmlns:a16="http://schemas.microsoft.com/office/drawing/2014/main" val="10002"/>
                  </a:ext>
                </a:extLst>
              </a:tr>
            </a:tbl>
          </a:graphicData>
        </a:graphic>
      </p:graphicFrame>
      <p:sp>
        <p:nvSpPr>
          <p:cNvPr id="10" name="TextBox 9"/>
          <p:cNvSpPr txBox="1"/>
          <p:nvPr/>
        </p:nvSpPr>
        <p:spPr>
          <a:xfrm>
            <a:off x="6372200" y="1556792"/>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1488362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r>
              <a:rPr lang="en-US" dirty="0">
                <a:sym typeface="Symbol"/>
              </a:rPr>
              <a:t></a:t>
            </a:r>
            <a:endParaRPr lang="en-SG" dirty="0"/>
          </a:p>
        </p:txBody>
      </p:sp>
      <p:sp>
        <p:nvSpPr>
          <p:cNvPr id="3" name="Content Placeholder 2"/>
          <p:cNvSpPr>
            <a:spLocks noGrp="1"/>
          </p:cNvSpPr>
          <p:nvPr>
            <p:ph idx="1"/>
          </p:nvPr>
        </p:nvSpPr>
        <p:spPr>
          <a:xfrm>
            <a:off x="457200" y="4077072"/>
            <a:ext cx="8229600" cy="2053853"/>
          </a:xfrm>
        </p:spPr>
        <p:txBody>
          <a:bodyPr>
            <a:normAutofit fontScale="85000" lnSpcReduction="20000"/>
          </a:bodyPr>
          <a:lstStyle/>
          <a:p>
            <a:r>
              <a:rPr lang="en-US" dirty="0"/>
              <a:t>Query: “Find the persons who are students but not volunteers”</a:t>
            </a:r>
          </a:p>
          <a:p>
            <a:r>
              <a:rPr lang="en-US" dirty="0">
                <a:sym typeface="Symbol"/>
              </a:rPr>
              <a:t>(</a:t>
            </a:r>
            <a:r>
              <a:rPr lang="en-US" b="1" dirty="0">
                <a:sym typeface="Symbol"/>
              </a:rPr>
              <a:t></a:t>
            </a:r>
            <a:r>
              <a:rPr lang="en-US" baseline="-25000" dirty="0">
                <a:sym typeface="Symbol"/>
              </a:rPr>
              <a:t>Name</a:t>
            </a:r>
            <a:r>
              <a:rPr lang="en-US" dirty="0">
                <a:sym typeface="Symbol"/>
              </a:rPr>
              <a:t> </a:t>
            </a:r>
            <a:r>
              <a:rPr lang="en-US" dirty="0"/>
              <a:t>Students) </a:t>
            </a:r>
            <a:r>
              <a:rPr lang="en-US" b="1" dirty="0">
                <a:sym typeface="Symbol"/>
              </a:rPr>
              <a:t></a:t>
            </a:r>
            <a:r>
              <a:rPr lang="en-US" dirty="0">
                <a:sym typeface="Symbol"/>
              </a:rPr>
              <a:t> </a:t>
            </a:r>
            <a:r>
              <a:rPr lang="en-US" dirty="0"/>
              <a:t>Volunteer</a:t>
            </a:r>
          </a:p>
          <a:p>
            <a:r>
              <a:rPr lang="en-US" dirty="0"/>
              <a:t>Note 2: The two sides of a difference must have the same schema (i.e., the same set of attributes)</a:t>
            </a:r>
          </a:p>
        </p:txBody>
      </p:sp>
      <p:graphicFrame>
        <p:nvGraphicFramePr>
          <p:cNvPr id="4" name="Content Placeholder 3"/>
          <p:cNvGraphicFramePr>
            <a:graphicFrameLocks/>
          </p:cNvGraphicFramePr>
          <p:nvPr>
            <p:extLst/>
          </p:nvPr>
        </p:nvGraphicFramePr>
        <p:xfrm>
          <a:off x="467544" y="1682552"/>
          <a:ext cx="2232248"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tc>
                  <a:txBody>
                    <a:bodyPr/>
                    <a:lstStyle/>
                    <a:p>
                      <a:pPr algn="ctr"/>
                      <a:r>
                        <a:rPr lang="en-US" sz="2400" dirty="0">
                          <a:latin typeface="Calibri" pitchFamily="34" charset="0"/>
                        </a:rPr>
                        <a:t>Age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20</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22</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tc>
                  <a:txBody>
                    <a:bodyPr/>
                    <a:lstStyle/>
                    <a:p>
                      <a:pPr algn="ctr"/>
                      <a:r>
                        <a:rPr lang="en-US" sz="2400" dirty="0">
                          <a:latin typeface="Calibri" pitchFamily="34" charset="0"/>
                        </a:rPr>
                        <a:t>21</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67544" y="1087324"/>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719064"/>
          <a:ext cx="1224136" cy="22860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3347864" y="1123836"/>
            <a:ext cx="165618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Volunteer</a:t>
            </a:r>
            <a:endParaRPr lang="en-SG" sz="2800" b="1" dirty="0">
              <a:latin typeface="Calibri" pitchFamily="34" charset="0"/>
            </a:endParaRPr>
          </a:p>
        </p:txBody>
      </p:sp>
      <p:graphicFrame>
        <p:nvGraphicFramePr>
          <p:cNvPr id="11" name="Content Placeholder 3"/>
          <p:cNvGraphicFramePr>
            <a:graphicFrameLocks/>
          </p:cNvGraphicFramePr>
          <p:nvPr>
            <p:extLst/>
          </p:nvPr>
        </p:nvGraphicFramePr>
        <p:xfrm>
          <a:off x="6372200" y="2172816"/>
          <a:ext cx="1224136" cy="137160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a:tc>
                <a:extLst>
                  <a:ext uri="{0D108BD9-81ED-4DB2-BD59-A6C34878D82A}">
                    <a16:rowId xmlns:a16="http://schemas.microsoft.com/office/drawing/2014/main" val="10002"/>
                  </a:ext>
                </a:extLst>
              </a:tr>
            </a:tbl>
          </a:graphicData>
        </a:graphic>
      </p:graphicFrame>
      <p:sp>
        <p:nvSpPr>
          <p:cNvPr id="12" name="TextBox 11"/>
          <p:cNvSpPr txBox="1"/>
          <p:nvPr/>
        </p:nvSpPr>
        <p:spPr>
          <a:xfrm>
            <a:off x="6372200" y="1556792"/>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3601634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645024"/>
            <a:ext cx="8229600" cy="2485901"/>
          </a:xfrm>
        </p:spPr>
        <p:txBody>
          <a:bodyPr>
            <a:normAutofit fontScale="92500" lnSpcReduction="10000"/>
          </a:bodyPr>
          <a:lstStyle/>
          <a:p>
            <a:r>
              <a:rPr lang="en-US" dirty="0"/>
              <a:t>Query: “Find the students who have taken DB and DM, but not AI or CG”</a:t>
            </a:r>
          </a:p>
          <a:p>
            <a:r>
              <a:rPr lang="en-US" dirty="0">
                <a:sym typeface="Symbol"/>
              </a:rPr>
              <a:t>((</a:t>
            </a:r>
            <a:r>
              <a:rPr lang="en-US" b="1" dirty="0">
                <a:sym typeface="Symbol"/>
              </a:rPr>
              <a:t></a:t>
            </a:r>
            <a:r>
              <a:rPr lang="en-US" baseline="-25000" dirty="0">
                <a:sym typeface="Symbol"/>
              </a:rPr>
              <a:t>Course = ‘DB’ </a:t>
            </a:r>
            <a:r>
              <a:rPr lang="en-US" dirty="0"/>
              <a:t>Grades) </a:t>
            </a:r>
            <a:r>
              <a:rPr lang="en-US" dirty="0">
                <a:sym typeface="Symbol"/>
              </a:rPr>
              <a:t> (</a:t>
            </a:r>
            <a:r>
              <a:rPr lang="en-US" b="1" dirty="0">
                <a:sym typeface="Symbol"/>
              </a:rPr>
              <a:t></a:t>
            </a:r>
            <a:r>
              <a:rPr lang="en-US" baseline="-25000" dirty="0">
                <a:sym typeface="Symbol"/>
              </a:rPr>
              <a:t>Course = ‘DM’ </a:t>
            </a:r>
            <a:r>
              <a:rPr lang="en-US" dirty="0"/>
              <a:t>Grades)) </a:t>
            </a:r>
            <a:r>
              <a:rPr lang="en-US" b="1" dirty="0">
                <a:sym typeface="Symbol"/>
              </a:rPr>
              <a:t></a:t>
            </a:r>
            <a:r>
              <a:rPr lang="en-US" dirty="0">
                <a:sym typeface="Symbol"/>
              </a:rPr>
              <a:t> ((</a:t>
            </a:r>
            <a:r>
              <a:rPr lang="en-US" b="1" dirty="0">
                <a:sym typeface="Symbol"/>
              </a:rPr>
              <a:t></a:t>
            </a:r>
            <a:r>
              <a:rPr lang="en-US" baseline="-25000" dirty="0">
                <a:sym typeface="Symbol"/>
              </a:rPr>
              <a:t>Course = ‘AI’ </a:t>
            </a:r>
            <a:r>
              <a:rPr lang="en-US" dirty="0"/>
              <a:t>Grades) </a:t>
            </a:r>
            <a:r>
              <a:rPr lang="en-US" dirty="0">
                <a:sym typeface="Symbol"/>
              </a:rPr>
              <a:t> (</a:t>
            </a:r>
            <a:r>
              <a:rPr lang="en-US" b="1" dirty="0">
                <a:sym typeface="Symbol"/>
              </a:rPr>
              <a:t></a:t>
            </a:r>
            <a:r>
              <a:rPr lang="en-US" baseline="-25000" dirty="0">
                <a:sym typeface="Symbol"/>
              </a:rPr>
              <a:t>Course = ‘CG’ </a:t>
            </a:r>
            <a:r>
              <a:rPr lang="en-US" dirty="0"/>
              <a:t>Grades))</a:t>
            </a:r>
          </a:p>
          <a:p>
            <a:r>
              <a:rPr lang="en-US" dirty="0"/>
              <a:t>Wrong!</a:t>
            </a:r>
          </a:p>
        </p:txBody>
      </p:sp>
      <p:graphicFrame>
        <p:nvGraphicFramePr>
          <p:cNvPr id="4" name="Content Placeholder 3"/>
          <p:cNvGraphicFramePr>
            <a:graphicFrameLocks/>
          </p:cNvGraphicFramePr>
          <p:nvPr>
            <p:extLst/>
          </p:nvPr>
        </p:nvGraphicFramePr>
        <p:xfrm>
          <a:off x="3491880" y="836712"/>
          <a:ext cx="3024336"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SG" sz="2400" dirty="0">
                          <a:latin typeface="Calibri" pitchFamily="34" charset="0"/>
                        </a:rPr>
                        <a:t>Grade</a:t>
                      </a: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AI</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CG</a:t>
                      </a: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5"/>
                  </a:ext>
                </a:extLst>
              </a:tr>
              <a:tr h="370840">
                <a:tc>
                  <a:txBody>
                    <a:bodyPr/>
                    <a:lstStyle/>
                    <a:p>
                      <a:pPr algn="ctr"/>
                      <a:r>
                        <a:rPr lang="en-SG" sz="2400" dirty="0">
                          <a:latin typeface="Calibri" pitchFamily="34" charset="0"/>
                        </a:rPr>
                        <a:t>David</a:t>
                      </a: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6"/>
                  </a:ext>
                </a:extLst>
              </a:tr>
            </a:tbl>
          </a:graphicData>
        </a:graphic>
      </p:graphicFrame>
      <p:sp>
        <p:nvSpPr>
          <p:cNvPr id="5" name="TextBox 4"/>
          <p:cNvSpPr txBox="1"/>
          <p:nvPr/>
        </p:nvSpPr>
        <p:spPr>
          <a:xfrm>
            <a:off x="3491880" y="241484"/>
            <a:ext cx="122413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Grades</a:t>
            </a:r>
            <a:endParaRPr lang="en-SG" sz="2800" b="1" dirty="0">
              <a:latin typeface="Calibri" pitchFamily="34" charset="0"/>
            </a:endParaRPr>
          </a:p>
        </p:txBody>
      </p:sp>
    </p:spTree>
    <p:extLst>
      <p:ext uri="{BB962C8B-B14F-4D97-AF65-F5344CB8AC3E}">
        <p14:creationId xmlns:p14="http://schemas.microsoft.com/office/powerpoint/2010/main" val="3257937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645024"/>
            <a:ext cx="8219256" cy="2485901"/>
          </a:xfrm>
        </p:spPr>
        <p:txBody>
          <a:bodyPr>
            <a:normAutofit fontScale="77500" lnSpcReduction="20000"/>
          </a:bodyPr>
          <a:lstStyle/>
          <a:p>
            <a:r>
              <a:rPr lang="en-US" dirty="0"/>
              <a:t>Query: “Find the students who have taken DB and DM, but not AI or CG”</a:t>
            </a:r>
          </a:p>
          <a:p>
            <a:r>
              <a:rPr lang="en-US" dirty="0">
                <a:sym typeface="Symbol"/>
              </a:rPr>
              <a:t>((</a:t>
            </a:r>
            <a:r>
              <a:rPr lang="en-US" b="1" dirty="0">
                <a:sym typeface="Symbol"/>
              </a:rPr>
              <a:t></a:t>
            </a:r>
            <a:r>
              <a:rPr lang="en-US" baseline="-25000" dirty="0">
                <a:sym typeface="Symbol"/>
              </a:rPr>
              <a:t>Name</a:t>
            </a:r>
            <a:r>
              <a:rPr lang="en-US" dirty="0">
                <a:sym typeface="Symbol"/>
              </a:rPr>
              <a:t> </a:t>
            </a:r>
            <a:r>
              <a:rPr lang="en-US" b="1" dirty="0">
                <a:sym typeface="Symbol"/>
              </a:rPr>
              <a:t></a:t>
            </a:r>
            <a:r>
              <a:rPr lang="en-US" baseline="-25000" dirty="0">
                <a:sym typeface="Symbol"/>
              </a:rPr>
              <a:t>Course = ‘DB’ </a:t>
            </a:r>
            <a:r>
              <a:rPr lang="en-US" dirty="0"/>
              <a:t>Grades) </a:t>
            </a:r>
            <a:r>
              <a:rPr lang="en-US" dirty="0">
                <a:sym typeface="Symbol"/>
              </a:rPr>
              <a:t> (</a:t>
            </a:r>
            <a:r>
              <a:rPr lang="en-US" b="1" dirty="0">
                <a:sym typeface="Symbol"/>
              </a:rPr>
              <a:t></a:t>
            </a:r>
            <a:r>
              <a:rPr lang="en-US" baseline="-25000" dirty="0">
                <a:sym typeface="Symbol"/>
              </a:rPr>
              <a:t>Name</a:t>
            </a:r>
            <a:r>
              <a:rPr lang="en-US" dirty="0">
                <a:sym typeface="Symbol"/>
              </a:rPr>
              <a:t> </a:t>
            </a:r>
            <a:r>
              <a:rPr lang="en-US" b="1" dirty="0">
                <a:sym typeface="Symbol"/>
              </a:rPr>
              <a:t></a:t>
            </a:r>
            <a:r>
              <a:rPr lang="en-US" baseline="-25000" dirty="0">
                <a:sym typeface="Symbol"/>
              </a:rPr>
              <a:t>Course = ‘DM’ </a:t>
            </a:r>
            <a:r>
              <a:rPr lang="en-US" dirty="0"/>
              <a:t>Grades)) </a:t>
            </a:r>
            <a:r>
              <a:rPr lang="en-US" b="1" dirty="0">
                <a:sym typeface="Symbol"/>
              </a:rPr>
              <a:t></a:t>
            </a:r>
            <a:r>
              <a:rPr lang="en-US" dirty="0">
                <a:sym typeface="Symbol"/>
              </a:rPr>
              <a:t> ((</a:t>
            </a:r>
            <a:r>
              <a:rPr lang="en-US" b="1" dirty="0">
                <a:sym typeface="Symbol"/>
              </a:rPr>
              <a:t></a:t>
            </a:r>
            <a:r>
              <a:rPr lang="en-US" baseline="-25000" dirty="0">
                <a:sym typeface="Symbol"/>
              </a:rPr>
              <a:t>Name</a:t>
            </a:r>
            <a:r>
              <a:rPr lang="en-US" dirty="0">
                <a:sym typeface="Symbol"/>
              </a:rPr>
              <a:t> </a:t>
            </a:r>
            <a:r>
              <a:rPr lang="en-US" b="1" dirty="0">
                <a:sym typeface="Symbol"/>
              </a:rPr>
              <a:t></a:t>
            </a:r>
            <a:r>
              <a:rPr lang="en-US" baseline="-25000" dirty="0">
                <a:sym typeface="Symbol"/>
              </a:rPr>
              <a:t>Course = ‘AI’ </a:t>
            </a:r>
            <a:r>
              <a:rPr lang="en-US" dirty="0"/>
              <a:t>Grades) </a:t>
            </a:r>
            <a:r>
              <a:rPr lang="en-US" dirty="0">
                <a:sym typeface="Symbol"/>
              </a:rPr>
              <a:t> (</a:t>
            </a:r>
            <a:r>
              <a:rPr lang="en-US" b="1" dirty="0">
                <a:sym typeface="Symbol"/>
              </a:rPr>
              <a:t></a:t>
            </a:r>
            <a:r>
              <a:rPr lang="en-US" baseline="-25000" dirty="0">
                <a:sym typeface="Symbol"/>
              </a:rPr>
              <a:t>Name</a:t>
            </a:r>
            <a:r>
              <a:rPr lang="en-US" dirty="0">
                <a:sym typeface="Symbol"/>
              </a:rPr>
              <a:t> </a:t>
            </a:r>
            <a:r>
              <a:rPr lang="en-US" b="1" dirty="0">
                <a:sym typeface="Symbol"/>
              </a:rPr>
              <a:t></a:t>
            </a:r>
            <a:r>
              <a:rPr lang="en-US" baseline="-25000" dirty="0">
                <a:sym typeface="Symbol"/>
              </a:rPr>
              <a:t>Course = ‘CG’ </a:t>
            </a:r>
            <a:r>
              <a:rPr lang="en-US" dirty="0"/>
              <a:t>Grades))</a:t>
            </a:r>
          </a:p>
          <a:p>
            <a:pPr marL="0" indent="0">
              <a:buNone/>
            </a:pPr>
            <a:r>
              <a:rPr lang="en-US" dirty="0"/>
              <a:t> </a:t>
            </a:r>
          </a:p>
          <a:p>
            <a:pPr marL="0" indent="0">
              <a:buNone/>
            </a:pPr>
            <a:r>
              <a:rPr lang="en-US" dirty="0"/>
              <a:t> </a:t>
            </a:r>
          </a:p>
        </p:txBody>
      </p:sp>
      <p:graphicFrame>
        <p:nvGraphicFramePr>
          <p:cNvPr id="4" name="Content Placeholder 3"/>
          <p:cNvGraphicFramePr>
            <a:graphicFrameLocks/>
          </p:cNvGraphicFramePr>
          <p:nvPr>
            <p:extLst/>
          </p:nvPr>
        </p:nvGraphicFramePr>
        <p:xfrm>
          <a:off x="3491880" y="836712"/>
          <a:ext cx="3024336"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SG" sz="2400" dirty="0">
                          <a:latin typeface="Calibri" pitchFamily="34" charset="0"/>
                        </a:rPr>
                        <a:t>Grade</a:t>
                      </a: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AI</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CG</a:t>
                      </a: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5"/>
                  </a:ext>
                </a:extLst>
              </a:tr>
              <a:tr h="370840">
                <a:tc>
                  <a:txBody>
                    <a:bodyPr/>
                    <a:lstStyle/>
                    <a:p>
                      <a:pPr algn="ctr"/>
                      <a:r>
                        <a:rPr lang="en-SG" sz="2400" dirty="0">
                          <a:latin typeface="Calibri" pitchFamily="34" charset="0"/>
                        </a:rPr>
                        <a:t>David</a:t>
                      </a: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6"/>
                  </a:ext>
                </a:extLst>
              </a:tr>
            </a:tbl>
          </a:graphicData>
        </a:graphic>
      </p:graphicFrame>
      <p:sp>
        <p:nvSpPr>
          <p:cNvPr id="5" name="TextBox 4"/>
          <p:cNvSpPr txBox="1"/>
          <p:nvPr/>
        </p:nvSpPr>
        <p:spPr>
          <a:xfrm>
            <a:off x="3491880" y="241484"/>
            <a:ext cx="122413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Grades</a:t>
            </a:r>
            <a:endParaRPr lang="en-SG" sz="2800" b="1" dirty="0">
              <a:latin typeface="Calibri" pitchFamily="34" charset="0"/>
            </a:endParaRPr>
          </a:p>
        </p:txBody>
      </p:sp>
    </p:spTree>
    <p:extLst>
      <p:ext uri="{BB962C8B-B14F-4D97-AF65-F5344CB8AC3E}">
        <p14:creationId xmlns:p14="http://schemas.microsoft.com/office/powerpoint/2010/main" val="2930884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645024"/>
            <a:ext cx="8229600" cy="2485901"/>
          </a:xfrm>
        </p:spPr>
        <p:txBody>
          <a:bodyPr>
            <a:normAutofit/>
          </a:bodyPr>
          <a:lstStyle/>
          <a:p>
            <a:r>
              <a:rPr lang="en-US" dirty="0"/>
              <a:t>Query: “Find the students who have never taken DM”</a:t>
            </a:r>
          </a:p>
          <a:p>
            <a:r>
              <a:rPr lang="en-US" dirty="0">
                <a:sym typeface="Symbol"/>
              </a:rPr>
              <a:t>(</a:t>
            </a:r>
            <a:r>
              <a:rPr lang="en-US" b="1" dirty="0">
                <a:sym typeface="Symbol"/>
              </a:rPr>
              <a:t></a:t>
            </a:r>
            <a:r>
              <a:rPr lang="en-US" baseline="-25000" dirty="0">
                <a:sym typeface="Symbol"/>
              </a:rPr>
              <a:t>Name</a:t>
            </a:r>
            <a:r>
              <a:rPr lang="en-US" dirty="0">
                <a:sym typeface="Symbol"/>
              </a:rPr>
              <a:t> </a:t>
            </a:r>
            <a:r>
              <a:rPr lang="en-US" dirty="0"/>
              <a:t>Grades) </a:t>
            </a:r>
            <a:r>
              <a:rPr lang="en-US" b="1" dirty="0">
                <a:sym typeface="Symbol"/>
              </a:rPr>
              <a:t></a:t>
            </a:r>
            <a:r>
              <a:rPr lang="en-US" dirty="0">
                <a:sym typeface="Symbol"/>
              </a:rPr>
              <a:t> </a:t>
            </a:r>
            <a:br>
              <a:rPr lang="en-US" dirty="0">
                <a:sym typeface="Symbol"/>
              </a:rPr>
            </a:br>
            <a:r>
              <a:rPr lang="en-US" dirty="0">
                <a:sym typeface="Symbol"/>
              </a:rPr>
              <a:t>(</a:t>
            </a:r>
            <a:r>
              <a:rPr lang="en-US" b="1" dirty="0">
                <a:sym typeface="Symbol"/>
              </a:rPr>
              <a:t></a:t>
            </a:r>
            <a:r>
              <a:rPr lang="en-US" baseline="-25000" dirty="0">
                <a:sym typeface="Symbol"/>
              </a:rPr>
              <a:t>Name</a:t>
            </a:r>
            <a:r>
              <a:rPr lang="en-US" dirty="0">
                <a:sym typeface="Symbol"/>
              </a:rPr>
              <a:t> </a:t>
            </a:r>
            <a:r>
              <a:rPr lang="en-US" b="1" dirty="0">
                <a:sym typeface="Symbol"/>
              </a:rPr>
              <a:t></a:t>
            </a:r>
            <a:r>
              <a:rPr lang="en-US" baseline="-25000" dirty="0">
                <a:sym typeface="Symbol"/>
              </a:rPr>
              <a:t>Course = ‘DM’ </a:t>
            </a:r>
            <a:r>
              <a:rPr lang="en-US" dirty="0"/>
              <a:t>Grades)</a:t>
            </a:r>
          </a:p>
        </p:txBody>
      </p:sp>
      <p:graphicFrame>
        <p:nvGraphicFramePr>
          <p:cNvPr id="4" name="Content Placeholder 3"/>
          <p:cNvGraphicFramePr>
            <a:graphicFrameLocks/>
          </p:cNvGraphicFramePr>
          <p:nvPr>
            <p:extLst/>
          </p:nvPr>
        </p:nvGraphicFramePr>
        <p:xfrm>
          <a:off x="3491880" y="836712"/>
          <a:ext cx="3024336"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SG" sz="2400" dirty="0">
                          <a:latin typeface="Calibri" pitchFamily="34" charset="0"/>
                        </a:rPr>
                        <a:t>Grade</a:t>
                      </a: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AI</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CG</a:t>
                      </a: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5"/>
                  </a:ext>
                </a:extLst>
              </a:tr>
              <a:tr h="370840">
                <a:tc>
                  <a:txBody>
                    <a:bodyPr/>
                    <a:lstStyle/>
                    <a:p>
                      <a:pPr algn="ctr"/>
                      <a:r>
                        <a:rPr lang="en-SG" sz="2400" dirty="0">
                          <a:latin typeface="Calibri" pitchFamily="34" charset="0"/>
                        </a:rPr>
                        <a:t>David</a:t>
                      </a: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6"/>
                  </a:ext>
                </a:extLst>
              </a:tr>
            </a:tbl>
          </a:graphicData>
        </a:graphic>
      </p:graphicFrame>
      <p:sp>
        <p:nvSpPr>
          <p:cNvPr id="5" name="TextBox 4"/>
          <p:cNvSpPr txBox="1"/>
          <p:nvPr/>
        </p:nvSpPr>
        <p:spPr>
          <a:xfrm>
            <a:off x="3491880" y="241484"/>
            <a:ext cx="122413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Grades</a:t>
            </a:r>
            <a:endParaRPr lang="en-SG" sz="2800" b="1" dirty="0">
              <a:latin typeface="Calibri" pitchFamily="34" charset="0"/>
            </a:endParaRPr>
          </a:p>
        </p:txBody>
      </p:sp>
    </p:spTree>
    <p:extLst>
      <p:ext uri="{BB962C8B-B14F-4D97-AF65-F5344CB8AC3E}">
        <p14:creationId xmlns:p14="http://schemas.microsoft.com/office/powerpoint/2010/main" val="153027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Coming Next</a:t>
            </a:r>
            <a:endParaRPr lang="en-SG" dirty="0"/>
          </a:p>
        </p:txBody>
      </p:sp>
      <p:sp>
        <p:nvSpPr>
          <p:cNvPr id="3" name="Content Placeholder 2"/>
          <p:cNvSpPr>
            <a:spLocks noGrp="1"/>
          </p:cNvSpPr>
          <p:nvPr>
            <p:ph idx="1"/>
          </p:nvPr>
        </p:nvSpPr>
        <p:spPr/>
        <p:txBody>
          <a:bodyPr>
            <a:normAutofit/>
          </a:bodyPr>
          <a:lstStyle/>
          <a:p>
            <a:r>
              <a:rPr lang="en-US" dirty="0"/>
              <a:t>Natural Join:	R</a:t>
            </a:r>
            <a:r>
              <a:rPr lang="en-US" baseline="-25000" dirty="0"/>
              <a:t>1</a:t>
            </a:r>
            <a:r>
              <a:rPr lang="en-US" dirty="0"/>
              <a:t> </a:t>
            </a:r>
            <a:r>
              <a:rPr lang="en-GB" dirty="0">
                <a:solidFill>
                  <a:srgbClr val="0000FF"/>
                </a:solidFill>
                <a:sym typeface="MT Extra" pitchFamily="18" charset="2"/>
              </a:rPr>
              <a:t>⋈</a:t>
            </a:r>
            <a:r>
              <a:rPr lang="en-GB" dirty="0">
                <a:solidFill>
                  <a:schemeClr val="accent4">
                    <a:lumMod val="50000"/>
                  </a:schemeClr>
                </a:solidFill>
                <a:sym typeface="MT Extra" pitchFamily="18" charset="2"/>
              </a:rPr>
              <a:t> </a:t>
            </a:r>
            <a:r>
              <a:rPr lang="en-US" dirty="0"/>
              <a:t>R</a:t>
            </a:r>
            <a:r>
              <a:rPr lang="en-US" baseline="-25000" dirty="0"/>
              <a:t>2</a:t>
            </a:r>
            <a:endParaRPr lang="en-US" dirty="0"/>
          </a:p>
          <a:p>
            <a:r>
              <a:rPr lang="en-US" dirty="0"/>
              <a:t>Theta Join:	R</a:t>
            </a:r>
            <a:r>
              <a:rPr lang="en-US" baseline="-25000" dirty="0"/>
              <a:t>1</a:t>
            </a:r>
            <a:r>
              <a:rPr lang="en-US" dirty="0"/>
              <a:t> </a:t>
            </a:r>
            <a:r>
              <a:rPr lang="en-GB" dirty="0">
                <a:solidFill>
                  <a:srgbClr val="0000FF"/>
                </a:solidFill>
                <a:sym typeface="MT Extra" pitchFamily="18" charset="2"/>
              </a:rPr>
              <a:t>⋈</a:t>
            </a:r>
            <a:r>
              <a:rPr lang="en-GB" baseline="-25000" dirty="0">
                <a:solidFill>
                  <a:schemeClr val="accent4">
                    <a:lumMod val="50000"/>
                  </a:schemeClr>
                </a:solidFill>
                <a:sym typeface="MT Extra" pitchFamily="18" charset="2"/>
              </a:rPr>
              <a:t>R1.A=R2.A AND R1.B&lt;R2.B </a:t>
            </a:r>
            <a:r>
              <a:rPr lang="en-US" dirty="0"/>
              <a:t>R</a:t>
            </a:r>
            <a:r>
              <a:rPr lang="en-US" baseline="-25000" dirty="0"/>
              <a:t>2</a:t>
            </a:r>
          </a:p>
          <a:p>
            <a:r>
              <a:rPr lang="en-US" dirty="0">
                <a:sym typeface="Symbol"/>
              </a:rPr>
              <a:t>Assignment:	T</a:t>
            </a:r>
            <a:r>
              <a:rPr lang="en-US" baseline="-25000" dirty="0">
                <a:sym typeface="Symbol"/>
              </a:rPr>
              <a:t>1</a:t>
            </a:r>
            <a:r>
              <a:rPr lang="en-US" dirty="0">
                <a:sym typeface="Symbol"/>
              </a:rPr>
              <a:t> </a:t>
            </a:r>
            <a:r>
              <a:rPr lang="en-US" dirty="0">
                <a:solidFill>
                  <a:srgbClr val="0000FF"/>
                </a:solidFill>
                <a:sym typeface="Symbol"/>
              </a:rPr>
              <a:t>:=</a:t>
            </a:r>
            <a:r>
              <a:rPr lang="en-US" dirty="0">
                <a:sym typeface="Symbol"/>
              </a:rPr>
              <a:t> </a:t>
            </a:r>
            <a:r>
              <a:rPr lang="en-US" b="1" dirty="0">
                <a:sym typeface="Symbol"/>
              </a:rPr>
              <a:t></a:t>
            </a:r>
            <a:r>
              <a:rPr lang="en-US" baseline="-25000" dirty="0">
                <a:sym typeface="Symbol"/>
              </a:rPr>
              <a:t>A &gt; 100</a:t>
            </a:r>
            <a:r>
              <a:rPr lang="en-US" dirty="0">
                <a:sym typeface="Symbol"/>
              </a:rPr>
              <a:t> R</a:t>
            </a:r>
            <a:r>
              <a:rPr lang="en-US" baseline="-25000" dirty="0">
                <a:sym typeface="Symbol"/>
              </a:rPr>
              <a:t>1</a:t>
            </a:r>
            <a:endParaRPr lang="en-US" dirty="0"/>
          </a:p>
          <a:p>
            <a:r>
              <a:rPr lang="en-US" dirty="0"/>
              <a:t>Rename:		</a:t>
            </a:r>
            <a:r>
              <a:rPr lang="en-US" b="1" dirty="0">
                <a:solidFill>
                  <a:srgbClr val="0000FF"/>
                </a:solidFill>
                <a:sym typeface="Symbol"/>
              </a:rPr>
              <a:t></a:t>
            </a:r>
            <a:r>
              <a:rPr lang="en-US" baseline="-25000" dirty="0">
                <a:sym typeface="Symbol"/>
              </a:rPr>
              <a:t>test(A’, B’, C’)</a:t>
            </a:r>
            <a:r>
              <a:rPr lang="en-US" dirty="0">
                <a:sym typeface="Symbol"/>
              </a:rPr>
              <a:t> R</a:t>
            </a:r>
            <a:r>
              <a:rPr lang="en-US" baseline="-25000" dirty="0">
                <a:sym typeface="Symbol"/>
              </a:rPr>
              <a:t>1</a:t>
            </a:r>
            <a:endParaRPr lang="en-US" dirty="0"/>
          </a:p>
          <a:p>
            <a:r>
              <a:rPr lang="en-US" dirty="0"/>
              <a:t>Duplicate Elimination: 	</a:t>
            </a:r>
            <a:r>
              <a:rPr lang="en-US" b="1" dirty="0">
                <a:solidFill>
                  <a:srgbClr val="0000FF"/>
                </a:solidFill>
                <a:sym typeface="Symbol"/>
              </a:rPr>
              <a:t></a:t>
            </a:r>
          </a:p>
          <a:p>
            <a:r>
              <a:rPr lang="en-US" dirty="0"/>
              <a:t>Extended Projection: 	</a:t>
            </a:r>
            <a:r>
              <a:rPr lang="en-US" b="1" dirty="0">
                <a:solidFill>
                  <a:srgbClr val="0000FF"/>
                </a:solidFill>
                <a:sym typeface="Symbol"/>
              </a:rPr>
              <a:t></a:t>
            </a:r>
            <a:r>
              <a:rPr lang="en-US" baseline="-25000" dirty="0">
                <a:sym typeface="Symbol"/>
              </a:rPr>
              <a:t>A, B+C</a:t>
            </a:r>
            <a:r>
              <a:rPr lang="en-US" baseline="-25000" dirty="0">
                <a:sym typeface="Wingdings" panose="05000000000000000000" pitchFamily="2" charset="2"/>
              </a:rPr>
              <a:t>D</a:t>
            </a:r>
            <a:r>
              <a:rPr lang="en-US" dirty="0">
                <a:sym typeface="Wingdings" panose="05000000000000000000" pitchFamily="2" charset="2"/>
              </a:rPr>
              <a:t> R</a:t>
            </a:r>
            <a:r>
              <a:rPr lang="en-US" baseline="-25000" dirty="0">
                <a:sym typeface="Wingdings" panose="05000000000000000000" pitchFamily="2" charset="2"/>
              </a:rPr>
              <a:t>1</a:t>
            </a:r>
            <a:endParaRPr lang="en-US" baseline="-25000" dirty="0"/>
          </a:p>
          <a:p>
            <a:endParaRPr lang="en-SG" dirty="0"/>
          </a:p>
        </p:txBody>
      </p:sp>
    </p:spTree>
    <p:extLst>
      <p:ext uri="{BB962C8B-B14F-4D97-AF65-F5344CB8AC3E}">
        <p14:creationId xmlns:p14="http://schemas.microsoft.com/office/powerpoint/2010/main" val="1620848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Join </a:t>
            </a:r>
            <a:r>
              <a:rPr lang="en-GB" dirty="0">
                <a:solidFill>
                  <a:schemeClr val="accent4">
                    <a:lumMod val="50000"/>
                  </a:schemeClr>
                </a:solidFill>
                <a:sym typeface="MT Extra" pitchFamily="18" charset="2"/>
              </a:rPr>
              <a:t>⋈</a:t>
            </a:r>
            <a:endParaRPr lang="en-SG" dirty="0"/>
          </a:p>
        </p:txBody>
      </p:sp>
      <p:sp>
        <p:nvSpPr>
          <p:cNvPr id="3" name="Content Placeholder 2"/>
          <p:cNvSpPr>
            <a:spLocks noGrp="1"/>
          </p:cNvSpPr>
          <p:nvPr>
            <p:ph idx="1"/>
          </p:nvPr>
        </p:nvSpPr>
        <p:spPr>
          <a:xfrm>
            <a:off x="251520" y="3967435"/>
            <a:ext cx="8712968" cy="2197869"/>
          </a:xfrm>
        </p:spPr>
        <p:txBody>
          <a:bodyPr>
            <a:normAutofit fontScale="77500" lnSpcReduction="20000"/>
          </a:bodyPr>
          <a:lstStyle/>
          <a:p>
            <a:r>
              <a:rPr lang="en-US" dirty="0"/>
              <a:t>Query: “Find the NRIC, Name, and Phone of each student, omitting those without a phone”</a:t>
            </a:r>
          </a:p>
          <a:p>
            <a:r>
              <a:rPr lang="en-US" dirty="0"/>
              <a:t>Students </a:t>
            </a:r>
            <a:r>
              <a:rPr lang="en-GB" dirty="0">
                <a:solidFill>
                  <a:schemeClr val="accent4">
                    <a:lumMod val="50000"/>
                  </a:schemeClr>
                </a:solidFill>
                <a:sym typeface="MT Extra" pitchFamily="18" charset="2"/>
              </a:rPr>
              <a:t>⋈ Phones</a:t>
            </a:r>
          </a:p>
          <a:p>
            <a:r>
              <a:rPr lang="en-GB" dirty="0">
                <a:solidFill>
                  <a:schemeClr val="accent4">
                    <a:lumMod val="50000"/>
                  </a:schemeClr>
                </a:solidFill>
                <a:sym typeface="MT Extra" pitchFamily="18" charset="2"/>
              </a:rPr>
              <a:t>Note 1: The join is performed based on the common attributes of the two relations</a:t>
            </a:r>
          </a:p>
          <a:p>
            <a:r>
              <a:rPr lang="en-GB" dirty="0">
                <a:solidFill>
                  <a:schemeClr val="accent4">
                    <a:lumMod val="50000"/>
                  </a:schemeClr>
                </a:solidFill>
                <a:sym typeface="MT Extra" pitchFamily="18" charset="2"/>
              </a:rPr>
              <a:t>Note 2: Each common attribute appears only once in the result</a:t>
            </a:r>
            <a:endParaRPr lang="en-SG" dirty="0"/>
          </a:p>
        </p:txBody>
      </p:sp>
      <p:graphicFrame>
        <p:nvGraphicFramePr>
          <p:cNvPr id="4" name="Content Placeholder 3"/>
          <p:cNvGraphicFramePr>
            <a:graphicFrameLocks/>
          </p:cNvGraphicFramePr>
          <p:nvPr>
            <p:extLst/>
          </p:nvPr>
        </p:nvGraphicFramePr>
        <p:xfrm>
          <a:off x="596023" y="1628800"/>
          <a:ext cx="1815737" cy="2286000"/>
        </p:xfrm>
        <a:graphic>
          <a:graphicData uri="http://schemas.openxmlformats.org/drawingml/2006/table">
            <a:tbl>
              <a:tblPr firstRow="1" bandRow="1">
                <a:tableStyleId>{5C22544A-7EE6-4342-B048-85BDC9FD1C3A}</a:tableStyleId>
              </a:tblPr>
              <a:tblGrid>
                <a:gridCol w="87963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NRIC</a:t>
                      </a:r>
                      <a:endParaRPr lang="en-SG" sz="2400" u="sng" dirty="0">
                        <a:latin typeface="Calibri" pitchFamily="34" charset="0"/>
                      </a:endParaRPr>
                    </a:p>
                  </a:txBody>
                  <a:tcPr/>
                </a:tc>
                <a:tc>
                  <a:txBody>
                    <a:bodyPr/>
                    <a:lstStyle/>
                    <a:p>
                      <a:pPr algn="ctr"/>
                      <a:r>
                        <a:rPr lang="en-US" sz="2400" dirty="0">
                          <a:latin typeface="Calibri" pitchFamily="34" charset="0"/>
                        </a:rPr>
                        <a:t>Name</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11</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2</a:t>
                      </a:r>
                      <a:endParaRPr lang="en-SG" sz="2400" dirty="0">
                        <a:latin typeface="Calibri" pitchFamily="34" charset="0"/>
                      </a:endParaRPr>
                    </a:p>
                  </a:txBody>
                  <a:tcPr/>
                </a:tc>
                <a:tc>
                  <a:txBody>
                    <a:bodyPr/>
                    <a:lstStyle/>
                    <a:p>
                      <a:pPr algn="ctr"/>
                      <a:r>
                        <a:rPr lang="en-US" sz="2400" dirty="0">
                          <a:latin typeface="Calibri" pitchFamily="34" charset="0"/>
                        </a:rPr>
                        <a:t>Bob</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33</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4</a:t>
                      </a:r>
                      <a:endParaRPr lang="en-SG" sz="2400" dirty="0">
                        <a:latin typeface="Calibri" pitchFamily="34" charset="0"/>
                      </a:endParaRPr>
                    </a:p>
                  </a:txBody>
                  <a:tcPr/>
                </a:tc>
                <a:tc>
                  <a:txBody>
                    <a:bodyPr/>
                    <a:lstStyle/>
                    <a:p>
                      <a:pPr algn="ctr"/>
                      <a:r>
                        <a:rPr lang="en-US" sz="2400" dirty="0">
                          <a:latin typeface="Calibri" pitchFamily="34" charset="0"/>
                        </a:rPr>
                        <a:t>David</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611560"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987824" y="1647056"/>
          <a:ext cx="2160240" cy="22860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NRIC</a:t>
                      </a:r>
                      <a:endParaRPr lang="en-SG" sz="2400" u="sng" dirty="0">
                        <a:latin typeface="Calibri" pitchFamily="34" charset="0"/>
                      </a:endParaRPr>
                    </a:p>
                  </a:txBody>
                  <a:tcPr/>
                </a:tc>
                <a:tc>
                  <a:txBody>
                    <a:bodyPr/>
                    <a:lstStyle/>
                    <a:p>
                      <a:pPr algn="ctr"/>
                      <a:r>
                        <a:rPr lang="en-US" sz="2400" u="sng" dirty="0">
                          <a:latin typeface="Calibri" pitchFamily="34" charset="0"/>
                        </a:rPr>
                        <a:t>Number</a:t>
                      </a:r>
                      <a:endParaRPr lang="en-SG" sz="2400" u="sng"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11</a:t>
                      </a:r>
                      <a:endParaRPr lang="en-SG" sz="2400" dirty="0">
                        <a:latin typeface="Calibri" pitchFamily="34" charset="0"/>
                      </a:endParaRPr>
                    </a:p>
                  </a:txBody>
                  <a:tcPr/>
                </a:tc>
                <a:tc>
                  <a:txBody>
                    <a:bodyPr/>
                    <a:lstStyle/>
                    <a:p>
                      <a:pPr algn="ctr"/>
                      <a:r>
                        <a:rPr lang="en-US" sz="2400" dirty="0">
                          <a:latin typeface="Calibri" pitchFamily="34" charset="0"/>
                        </a:rPr>
                        <a:t>9123234</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11</a:t>
                      </a:r>
                      <a:endParaRPr lang="en-SG" sz="2400" dirty="0">
                        <a:latin typeface="Calibri" pitchFamily="34" charset="0"/>
                      </a:endParaRPr>
                    </a:p>
                  </a:txBody>
                  <a:tcPr/>
                </a:tc>
                <a:tc>
                  <a:txBody>
                    <a:bodyPr/>
                    <a:lstStyle/>
                    <a:p>
                      <a:pPr algn="ctr"/>
                      <a:r>
                        <a:rPr lang="en-US" sz="2400" dirty="0">
                          <a:latin typeface="Calibri" pitchFamily="34" charset="0"/>
                        </a:rPr>
                        <a:t>8635168</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33</a:t>
                      </a:r>
                      <a:endParaRPr lang="en-SG" sz="2400" dirty="0">
                        <a:latin typeface="Calibri" pitchFamily="34" charset="0"/>
                      </a:endParaRPr>
                    </a:p>
                  </a:txBody>
                  <a:tcPr/>
                </a:tc>
                <a:tc>
                  <a:txBody>
                    <a:bodyPr/>
                    <a:lstStyle/>
                    <a:p>
                      <a:pPr algn="ctr"/>
                      <a:r>
                        <a:rPr lang="en-US" sz="2400" dirty="0">
                          <a:latin typeface="Calibri" pitchFamily="34" charset="0"/>
                        </a:rPr>
                        <a:t>8213654</a:t>
                      </a:r>
                      <a:endParaRPr lang="en-SG" sz="2400" dirty="0">
                        <a:latin typeface="Calibri" pitchFamily="34" charset="0"/>
                      </a:endParaRPr>
                    </a:p>
                  </a:txBody>
                  <a:tcPr/>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5</a:t>
                      </a:r>
                      <a:endParaRPr lang="en-SG" sz="2400" dirty="0">
                        <a:latin typeface="Calibri" pitchFamily="34" charset="0"/>
                      </a:endParaRPr>
                    </a:p>
                  </a:txBody>
                  <a:tcPr/>
                </a:tc>
                <a:tc>
                  <a:txBody>
                    <a:bodyPr/>
                    <a:lstStyle/>
                    <a:p>
                      <a:pPr algn="ctr"/>
                      <a:r>
                        <a:rPr lang="en-US" sz="2400" dirty="0">
                          <a:latin typeface="Calibri" pitchFamily="34" charset="0"/>
                        </a:rPr>
                        <a:t>9653154</a:t>
                      </a:r>
                      <a:endParaRPr lang="en-SG" sz="2400" dirty="0">
                        <a:latin typeface="Calibri" pitchFamily="34" charset="0"/>
                      </a:endParaRP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3003361" y="998984"/>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Phones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652120" y="1672208"/>
          <a:ext cx="3096344" cy="18288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tblGrid>
              <a:tr h="370840">
                <a:tc>
                  <a:txBody>
                    <a:bodyPr/>
                    <a:lstStyle/>
                    <a:p>
                      <a:pPr algn="ctr"/>
                      <a:r>
                        <a:rPr lang="en-US" sz="2400" u="none" dirty="0">
                          <a:latin typeface="Calibri" pitchFamily="34" charset="0"/>
                        </a:rPr>
                        <a:t>NRIC</a:t>
                      </a:r>
                      <a:endParaRPr lang="en-SG" sz="2400" u="none" dirty="0">
                        <a:latin typeface="Calibri" pitchFamily="34" charset="0"/>
                      </a:endParaRPr>
                    </a:p>
                  </a:txBody>
                  <a:tcPr/>
                </a:tc>
                <a:tc>
                  <a:txBody>
                    <a:bodyPr/>
                    <a:lstStyle/>
                    <a:p>
                      <a:pPr algn="ctr"/>
                      <a:r>
                        <a:rPr lang="en-US" sz="2400" u="none" dirty="0">
                          <a:latin typeface="Calibri" pitchFamily="34" charset="0"/>
                        </a:rPr>
                        <a:t>Name</a:t>
                      </a:r>
                      <a:endParaRPr lang="en-SG" sz="2400" u="none" dirty="0">
                        <a:latin typeface="Calibri" pitchFamily="34" charset="0"/>
                      </a:endParaRPr>
                    </a:p>
                  </a:txBody>
                  <a:tcPr/>
                </a:tc>
                <a:tc>
                  <a:txBody>
                    <a:bodyPr/>
                    <a:lstStyle/>
                    <a:p>
                      <a:pPr algn="ctr"/>
                      <a:r>
                        <a:rPr lang="en-US" sz="2400" u="none" dirty="0">
                          <a:latin typeface="Calibri" pitchFamily="34" charset="0"/>
                        </a:rPr>
                        <a:t>Number</a:t>
                      </a:r>
                      <a:endParaRPr lang="en-SG" sz="2400" u="none"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11</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9123234</a:t>
                      </a:r>
                      <a:endParaRPr lang="en-SG" sz="24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11</a:t>
                      </a:r>
                      <a:endParaRPr lang="en-SG" sz="2400" dirty="0">
                        <a:latin typeface="Calibri" pitchFamily="34" charset="0"/>
                      </a:endParaRPr>
                    </a:p>
                  </a:txBody>
                  <a:tcPr/>
                </a:tc>
                <a:tc>
                  <a:txBody>
                    <a:bodyPr/>
                    <a:lstStyle/>
                    <a:p>
                      <a:pPr algn="ctr"/>
                      <a:r>
                        <a:rPr lang="en-US" sz="2400" dirty="0">
                          <a:latin typeface="Calibri" pitchFamily="34" charset="0"/>
                        </a:rPr>
                        <a:t>Alice</a:t>
                      </a:r>
                      <a:endParaRPr lang="en-SG" sz="2400" dirty="0">
                        <a:latin typeface="Calibri" pitchFamily="34" charset="0"/>
                      </a:endParaRPr>
                    </a:p>
                  </a:txBody>
                  <a:tcPr/>
                </a:tc>
                <a:tc>
                  <a:txBody>
                    <a:bodyPr/>
                    <a:lstStyle/>
                    <a:p>
                      <a:pPr algn="ctr"/>
                      <a:r>
                        <a:rPr lang="en-US" sz="2400" dirty="0">
                          <a:latin typeface="Calibri" pitchFamily="34" charset="0"/>
                        </a:rPr>
                        <a:t>8635168</a:t>
                      </a:r>
                      <a:endParaRPr lang="en-SG" sz="24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33</a:t>
                      </a:r>
                      <a:endParaRPr lang="en-SG" sz="2400" dirty="0">
                        <a:latin typeface="Calibri" pitchFamily="34" charset="0"/>
                      </a:endParaRPr>
                    </a:p>
                  </a:txBody>
                  <a:tcPr/>
                </a:tc>
                <a:tc>
                  <a:txBody>
                    <a:bodyPr/>
                    <a:lstStyle/>
                    <a:p>
                      <a:pPr algn="ctr"/>
                      <a:r>
                        <a:rPr lang="en-US" sz="2400" dirty="0">
                          <a:latin typeface="Calibri" pitchFamily="34" charset="0"/>
                        </a:rPr>
                        <a:t>Cathy</a:t>
                      </a:r>
                      <a:endParaRPr lang="en-SG" sz="2400" dirty="0">
                        <a:latin typeface="Calibri" pitchFamily="34" charset="0"/>
                      </a:endParaRPr>
                    </a:p>
                  </a:txBody>
                  <a:tcPr/>
                </a:tc>
                <a:tc>
                  <a:txBody>
                    <a:bodyPr/>
                    <a:lstStyle/>
                    <a:p>
                      <a:pPr algn="ctr"/>
                      <a:r>
                        <a:rPr lang="en-US" sz="2400" dirty="0">
                          <a:latin typeface="Calibri" pitchFamily="34" charset="0"/>
                        </a:rPr>
                        <a:t>8213654</a:t>
                      </a:r>
                      <a:endParaRPr lang="en-SG" sz="2400" dirty="0">
                        <a:latin typeface="Calibri" pitchFamily="34" charset="0"/>
                      </a:endParaRPr>
                    </a:p>
                  </a:txBody>
                  <a:tcPr/>
                </a:tc>
                <a:extLst>
                  <a:ext uri="{0D108BD9-81ED-4DB2-BD59-A6C34878D82A}">
                    <a16:rowId xmlns:a16="http://schemas.microsoft.com/office/drawing/2014/main" val="10003"/>
                  </a:ext>
                </a:extLst>
              </a:tr>
            </a:tbl>
          </a:graphicData>
        </a:graphic>
      </p:graphicFrame>
      <p:sp>
        <p:nvSpPr>
          <p:cNvPr id="10" name="TextBox 9"/>
          <p:cNvSpPr txBox="1"/>
          <p:nvPr/>
        </p:nvSpPr>
        <p:spPr>
          <a:xfrm>
            <a:off x="5652120" y="98072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62602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Join </a:t>
            </a:r>
            <a:r>
              <a:rPr lang="en-GB" dirty="0">
                <a:solidFill>
                  <a:schemeClr val="accent4">
                    <a:lumMod val="50000"/>
                  </a:schemeClr>
                </a:solidFill>
                <a:sym typeface="MT Extra" pitchFamily="18" charset="2"/>
              </a:rPr>
              <a:t>⋈</a:t>
            </a:r>
            <a:endParaRPr lang="en-SG" dirty="0"/>
          </a:p>
        </p:txBody>
      </p:sp>
      <p:sp>
        <p:nvSpPr>
          <p:cNvPr id="3" name="Content Placeholder 2"/>
          <p:cNvSpPr>
            <a:spLocks noGrp="1"/>
          </p:cNvSpPr>
          <p:nvPr>
            <p:ph idx="1"/>
          </p:nvPr>
        </p:nvSpPr>
        <p:spPr>
          <a:xfrm>
            <a:off x="457200" y="3573016"/>
            <a:ext cx="8229600" cy="2557909"/>
          </a:xfrm>
        </p:spPr>
        <p:txBody>
          <a:bodyPr>
            <a:normAutofit/>
          </a:bodyPr>
          <a:lstStyle/>
          <a:p>
            <a:r>
              <a:rPr lang="en-US" dirty="0"/>
              <a:t>Students </a:t>
            </a:r>
            <a:r>
              <a:rPr lang="en-GB" dirty="0">
                <a:solidFill>
                  <a:schemeClr val="accent4">
                    <a:lumMod val="50000"/>
                  </a:schemeClr>
                </a:solidFill>
                <a:sym typeface="MT Extra" pitchFamily="18" charset="2"/>
              </a:rPr>
              <a:t>⋈ Donations</a:t>
            </a:r>
          </a:p>
          <a:p>
            <a:r>
              <a:rPr lang="en-GB" dirty="0">
                <a:solidFill>
                  <a:schemeClr val="accent4">
                    <a:lumMod val="50000"/>
                  </a:schemeClr>
                </a:solidFill>
                <a:sym typeface="MT Extra" pitchFamily="18" charset="2"/>
              </a:rPr>
              <a:t>Meaning: “For those students who have made donation, find their names, schools, and amounts of their donations”</a:t>
            </a:r>
          </a:p>
          <a:p>
            <a:endParaRPr lang="en-SG" dirty="0"/>
          </a:p>
        </p:txBody>
      </p:sp>
      <p:graphicFrame>
        <p:nvGraphicFramePr>
          <p:cNvPr id="4" name="Content Placeholder 3"/>
          <p:cNvGraphicFramePr>
            <a:graphicFrameLocks/>
          </p:cNvGraphicFramePr>
          <p:nvPr>
            <p:extLst/>
          </p:nvPr>
        </p:nvGraphicFramePr>
        <p:xfrm>
          <a:off x="596023" y="1594212"/>
          <a:ext cx="1815737" cy="1854200"/>
        </p:xfrm>
        <a:graphic>
          <a:graphicData uri="http://schemas.openxmlformats.org/drawingml/2006/table">
            <a:tbl>
              <a:tblPr firstRow="1" bandRow="1">
                <a:tableStyleId>{5C22544A-7EE6-4342-B048-85BDC9FD1C3A}</a:tableStyleId>
              </a:tblPr>
              <a:tblGrid>
                <a:gridCol w="87963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611560"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987824"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3003361"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Donations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652120" y="1637620"/>
          <a:ext cx="2952328" cy="111252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tblGrid>
              <a:tr h="370840">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9" name="TextBox 8"/>
          <p:cNvSpPr txBox="1"/>
          <p:nvPr/>
        </p:nvSpPr>
        <p:spPr>
          <a:xfrm>
            <a:off x="5652120"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419353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Join </a:t>
            </a:r>
            <a:r>
              <a:rPr lang="en-GB" dirty="0">
                <a:solidFill>
                  <a:schemeClr val="accent4">
                    <a:lumMod val="50000"/>
                  </a:schemeClr>
                </a:solidFill>
                <a:sym typeface="MT Extra" pitchFamily="18" charset="2"/>
              </a:rPr>
              <a:t>⋈</a:t>
            </a:r>
            <a:endParaRPr lang="en-SG" dirty="0"/>
          </a:p>
        </p:txBody>
      </p:sp>
      <p:sp>
        <p:nvSpPr>
          <p:cNvPr id="3" name="Content Placeholder 2"/>
          <p:cNvSpPr>
            <a:spLocks noGrp="1"/>
          </p:cNvSpPr>
          <p:nvPr>
            <p:ph idx="1"/>
          </p:nvPr>
        </p:nvSpPr>
        <p:spPr>
          <a:xfrm>
            <a:off x="457200" y="3573016"/>
            <a:ext cx="8229600" cy="2557909"/>
          </a:xfrm>
        </p:spPr>
        <p:txBody>
          <a:bodyPr>
            <a:normAutofit/>
          </a:bodyPr>
          <a:lstStyle/>
          <a:p>
            <a:r>
              <a:rPr lang="en-US" dirty="0">
                <a:sym typeface="Symbol"/>
              </a:rPr>
              <a:t>(</a:t>
            </a:r>
            <a:r>
              <a:rPr lang="en-US" b="1" dirty="0">
                <a:sym typeface="Symbol"/>
              </a:rPr>
              <a:t></a:t>
            </a:r>
            <a:r>
              <a:rPr lang="en-US" sz="3600" baseline="-25000" dirty="0">
                <a:sym typeface="Symbol"/>
              </a:rPr>
              <a:t>School = ‘SoC’</a:t>
            </a:r>
            <a:r>
              <a:rPr lang="en-US" dirty="0">
                <a:sym typeface="Symbol"/>
              </a:rPr>
              <a:t> </a:t>
            </a:r>
            <a:r>
              <a:rPr lang="en-US" dirty="0"/>
              <a:t>Students) </a:t>
            </a:r>
            <a:r>
              <a:rPr lang="en-GB" dirty="0">
                <a:solidFill>
                  <a:schemeClr val="accent4">
                    <a:lumMod val="50000"/>
                  </a:schemeClr>
                </a:solidFill>
                <a:sym typeface="MT Extra" pitchFamily="18" charset="2"/>
              </a:rPr>
              <a:t>⋈ Donations</a:t>
            </a:r>
          </a:p>
          <a:p>
            <a:r>
              <a:rPr lang="en-GB" dirty="0">
                <a:solidFill>
                  <a:schemeClr val="accent4">
                    <a:lumMod val="50000"/>
                  </a:schemeClr>
                </a:solidFill>
                <a:sym typeface="MT Extra" pitchFamily="18" charset="2"/>
              </a:rPr>
              <a:t>Meaning: “For those SoC students who have made a donation, find their names, schools, and amounts of their donations”</a:t>
            </a:r>
          </a:p>
          <a:p>
            <a:endParaRPr lang="en-SG" dirty="0"/>
          </a:p>
        </p:txBody>
      </p:sp>
      <p:graphicFrame>
        <p:nvGraphicFramePr>
          <p:cNvPr id="4" name="Content Placeholder 3"/>
          <p:cNvGraphicFramePr>
            <a:graphicFrameLocks/>
          </p:cNvGraphicFramePr>
          <p:nvPr>
            <p:extLst/>
          </p:nvPr>
        </p:nvGraphicFramePr>
        <p:xfrm>
          <a:off x="596023" y="1594212"/>
          <a:ext cx="1815737" cy="1854200"/>
        </p:xfrm>
        <a:graphic>
          <a:graphicData uri="http://schemas.openxmlformats.org/drawingml/2006/table">
            <a:tbl>
              <a:tblPr firstRow="1" bandRow="1">
                <a:tableStyleId>{5C22544A-7EE6-4342-B048-85BDC9FD1C3A}</a:tableStyleId>
              </a:tblPr>
              <a:tblGrid>
                <a:gridCol w="87963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611560"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987824"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3003361"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Donations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652120" y="1637620"/>
          <a:ext cx="2952328" cy="74168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tblGrid>
              <a:tr h="370840">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9" name="TextBox 8"/>
          <p:cNvSpPr txBox="1"/>
          <p:nvPr/>
        </p:nvSpPr>
        <p:spPr>
          <a:xfrm>
            <a:off x="5652120"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406510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501008"/>
            <a:ext cx="8229600" cy="2629917"/>
          </a:xfrm>
        </p:spPr>
        <p:txBody>
          <a:bodyPr>
            <a:normAutofit/>
          </a:bodyPr>
          <a:lstStyle/>
          <a:p>
            <a:r>
              <a:rPr lang="en-US" dirty="0"/>
              <a:t>Query: “Find the students who have taken SoC courses but not EE courses”</a:t>
            </a:r>
          </a:p>
          <a:p>
            <a:r>
              <a:rPr lang="en-US" dirty="0">
                <a:sym typeface="Symbol"/>
              </a:rPr>
              <a:t>(</a:t>
            </a:r>
            <a:r>
              <a:rPr lang="en-US" b="1" dirty="0">
                <a:sym typeface="Symbol"/>
              </a:rPr>
              <a:t></a:t>
            </a:r>
            <a:r>
              <a:rPr lang="en-US" baseline="-25000" dirty="0">
                <a:sym typeface="Symbol"/>
              </a:rPr>
              <a:t>Name</a:t>
            </a:r>
            <a:r>
              <a:rPr lang="en-US" dirty="0">
                <a:sym typeface="Symbol"/>
              </a:rPr>
              <a:t> </a:t>
            </a:r>
            <a:r>
              <a:rPr lang="en-US" dirty="0"/>
              <a:t>Grades</a:t>
            </a:r>
            <a:r>
              <a:rPr lang="en-GB" dirty="0">
                <a:solidFill>
                  <a:schemeClr val="accent4">
                    <a:lumMod val="50000"/>
                  </a:schemeClr>
                </a:solidFill>
                <a:sym typeface="MT Extra" pitchFamily="18" charset="2"/>
              </a:rPr>
              <a:t> ⋈ (</a:t>
            </a:r>
            <a:r>
              <a:rPr lang="en-US" b="1" dirty="0">
                <a:sym typeface="Symbol"/>
              </a:rPr>
              <a:t></a:t>
            </a:r>
            <a:r>
              <a:rPr lang="en-US" baseline="-25000" dirty="0">
                <a:sym typeface="Symbol"/>
              </a:rPr>
              <a:t>School = ‘SoC’ </a:t>
            </a:r>
            <a:r>
              <a:rPr lang="en-GB" dirty="0" err="1">
                <a:solidFill>
                  <a:schemeClr val="accent4">
                    <a:lumMod val="50000"/>
                  </a:schemeClr>
                </a:solidFill>
                <a:sym typeface="MT Extra" pitchFamily="18" charset="2"/>
              </a:rPr>
              <a:t>CrsSch</a:t>
            </a:r>
            <a:r>
              <a:rPr lang="en-GB" dirty="0">
                <a:solidFill>
                  <a:schemeClr val="accent4">
                    <a:lumMod val="50000"/>
                  </a:schemeClr>
                </a:solidFill>
                <a:sym typeface="MT Extra" pitchFamily="18" charset="2"/>
              </a:rPr>
              <a:t>)</a:t>
            </a:r>
            <a:r>
              <a:rPr lang="en-US" dirty="0"/>
              <a:t>) </a:t>
            </a:r>
            <a:r>
              <a:rPr lang="en-US" b="1" dirty="0">
                <a:sym typeface="Symbol"/>
              </a:rPr>
              <a:t></a:t>
            </a:r>
            <a:r>
              <a:rPr lang="en-US" dirty="0">
                <a:sym typeface="Symbol"/>
              </a:rPr>
              <a:t> </a:t>
            </a:r>
            <a:br>
              <a:rPr lang="en-US" dirty="0">
                <a:sym typeface="Symbol"/>
              </a:rPr>
            </a:br>
            <a:r>
              <a:rPr lang="en-US" dirty="0">
                <a:sym typeface="Symbol"/>
              </a:rPr>
              <a:t>(</a:t>
            </a:r>
            <a:r>
              <a:rPr lang="en-US" b="1" dirty="0">
                <a:sym typeface="Symbol"/>
              </a:rPr>
              <a:t></a:t>
            </a:r>
            <a:r>
              <a:rPr lang="en-US" baseline="-25000" dirty="0">
                <a:sym typeface="Symbol"/>
              </a:rPr>
              <a:t>Name</a:t>
            </a:r>
            <a:r>
              <a:rPr lang="en-US" dirty="0">
                <a:sym typeface="Symbol"/>
              </a:rPr>
              <a:t> </a:t>
            </a:r>
            <a:r>
              <a:rPr lang="en-US" dirty="0"/>
              <a:t>Grades</a:t>
            </a:r>
            <a:r>
              <a:rPr lang="en-GB" dirty="0">
                <a:solidFill>
                  <a:schemeClr val="accent4">
                    <a:lumMod val="50000"/>
                  </a:schemeClr>
                </a:solidFill>
                <a:sym typeface="MT Extra" pitchFamily="18" charset="2"/>
              </a:rPr>
              <a:t> ⋈ (</a:t>
            </a:r>
            <a:r>
              <a:rPr lang="en-US" b="1" dirty="0">
                <a:sym typeface="Symbol"/>
              </a:rPr>
              <a:t></a:t>
            </a:r>
            <a:r>
              <a:rPr lang="en-US" baseline="-25000" dirty="0">
                <a:sym typeface="Symbol"/>
              </a:rPr>
              <a:t>School = ‘EE’ </a:t>
            </a:r>
            <a:r>
              <a:rPr lang="en-GB" dirty="0" err="1">
                <a:solidFill>
                  <a:schemeClr val="accent4">
                    <a:lumMod val="50000"/>
                  </a:schemeClr>
                </a:solidFill>
                <a:sym typeface="MT Extra" pitchFamily="18" charset="2"/>
              </a:rPr>
              <a:t>CrsSch</a:t>
            </a:r>
            <a:r>
              <a:rPr lang="en-GB" dirty="0">
                <a:solidFill>
                  <a:schemeClr val="accent4">
                    <a:lumMod val="50000"/>
                  </a:schemeClr>
                </a:solidFill>
                <a:sym typeface="MT Extra" pitchFamily="18" charset="2"/>
              </a:rPr>
              <a:t>)</a:t>
            </a:r>
            <a:r>
              <a:rPr lang="en-US" dirty="0"/>
              <a:t>)</a:t>
            </a:r>
          </a:p>
        </p:txBody>
      </p:sp>
      <p:graphicFrame>
        <p:nvGraphicFramePr>
          <p:cNvPr id="4" name="Content Placeholder 3"/>
          <p:cNvGraphicFramePr>
            <a:graphicFrameLocks/>
          </p:cNvGraphicFramePr>
          <p:nvPr>
            <p:extLst/>
          </p:nvPr>
        </p:nvGraphicFramePr>
        <p:xfrm>
          <a:off x="2699792" y="836712"/>
          <a:ext cx="3024336"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SG" sz="2400" dirty="0">
                          <a:latin typeface="Calibri" pitchFamily="34" charset="0"/>
                        </a:rPr>
                        <a:t>Grade</a:t>
                      </a: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5"/>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6"/>
                  </a:ext>
                </a:extLst>
              </a:tr>
            </a:tbl>
          </a:graphicData>
        </a:graphic>
      </p:graphicFrame>
      <p:sp>
        <p:nvSpPr>
          <p:cNvPr id="5" name="TextBox 4"/>
          <p:cNvSpPr txBox="1"/>
          <p:nvPr/>
        </p:nvSpPr>
        <p:spPr>
          <a:xfrm>
            <a:off x="2699792" y="241484"/>
            <a:ext cx="122413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Grades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6516216" y="854720"/>
          <a:ext cx="2088232" cy="222504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AI</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NN</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EE</a:t>
                      </a:r>
                    </a:p>
                  </a:txBody>
                  <a:tcPr marL="0" marR="0" marT="0" marB="0"/>
                </a:tc>
                <a:extLst>
                  <a:ext uri="{0D108BD9-81ED-4DB2-BD59-A6C34878D82A}">
                    <a16:rowId xmlns:a16="http://schemas.microsoft.com/office/drawing/2014/main" val="10005"/>
                  </a:ext>
                </a:extLst>
              </a:tr>
            </a:tbl>
          </a:graphicData>
        </a:graphic>
      </p:graphicFrame>
      <p:sp>
        <p:nvSpPr>
          <p:cNvPr id="7" name="TextBox 6"/>
          <p:cNvSpPr txBox="1"/>
          <p:nvPr/>
        </p:nvSpPr>
        <p:spPr>
          <a:xfrm>
            <a:off x="6531753" y="241236"/>
            <a:ext cx="1712655" cy="523220"/>
          </a:xfrm>
          <a:prstGeom prst="rect">
            <a:avLst/>
          </a:prstGeom>
          <a:noFill/>
          <a:ln w="25400">
            <a:solidFill>
              <a:schemeClr val="accent1"/>
            </a:solidFill>
          </a:ln>
        </p:spPr>
        <p:txBody>
          <a:bodyPr wrap="square" rtlCol="0">
            <a:spAutoFit/>
          </a:bodyPr>
          <a:lstStyle/>
          <a:p>
            <a:r>
              <a:rPr lang="en-US" sz="2800" b="1" dirty="0" err="1">
                <a:latin typeface="Calibri" pitchFamily="34" charset="0"/>
              </a:rPr>
              <a:t>CrsSch</a:t>
            </a:r>
            <a:endParaRPr lang="en-SG" sz="2800" b="1" dirty="0">
              <a:latin typeface="Calibri" pitchFamily="34" charset="0"/>
            </a:endParaRPr>
          </a:p>
        </p:txBody>
      </p:sp>
    </p:spTree>
    <p:extLst>
      <p:ext uri="{BB962C8B-B14F-4D97-AF65-F5344CB8AC3E}">
        <p14:creationId xmlns:p14="http://schemas.microsoft.com/office/powerpoint/2010/main" val="223248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501008"/>
            <a:ext cx="8229600" cy="2629917"/>
          </a:xfrm>
        </p:spPr>
        <p:txBody>
          <a:bodyPr>
            <a:normAutofit/>
          </a:bodyPr>
          <a:lstStyle/>
          <a:p>
            <a:r>
              <a:rPr lang="en-US" dirty="0"/>
              <a:t>Query: “Find the students who have only taken EE courses”</a:t>
            </a:r>
          </a:p>
          <a:p>
            <a:r>
              <a:rPr lang="en-US" b="1" dirty="0">
                <a:sym typeface="Symbol"/>
              </a:rPr>
              <a:t></a:t>
            </a:r>
            <a:r>
              <a:rPr lang="en-US" baseline="-25000" dirty="0">
                <a:sym typeface="Symbol"/>
              </a:rPr>
              <a:t>Name</a:t>
            </a:r>
            <a:r>
              <a:rPr lang="en-US" dirty="0">
                <a:sym typeface="Symbol"/>
              </a:rPr>
              <a:t> </a:t>
            </a:r>
            <a:r>
              <a:rPr lang="en-US" dirty="0"/>
              <a:t>Grades </a:t>
            </a:r>
            <a:r>
              <a:rPr lang="en-US" b="1" dirty="0">
                <a:sym typeface="Symbol"/>
              </a:rPr>
              <a:t></a:t>
            </a:r>
            <a:r>
              <a:rPr lang="en-US" dirty="0">
                <a:sym typeface="Symbol"/>
              </a:rPr>
              <a:t> </a:t>
            </a:r>
            <a:br>
              <a:rPr lang="en-US" dirty="0">
                <a:sym typeface="Symbol"/>
              </a:rPr>
            </a:br>
            <a:r>
              <a:rPr lang="en-US" dirty="0">
                <a:sym typeface="Symbol"/>
              </a:rPr>
              <a:t>(</a:t>
            </a:r>
            <a:r>
              <a:rPr lang="en-US" b="1" dirty="0">
                <a:sym typeface="Symbol"/>
              </a:rPr>
              <a:t></a:t>
            </a:r>
            <a:r>
              <a:rPr lang="en-US" baseline="-25000" dirty="0">
                <a:sym typeface="Symbol"/>
              </a:rPr>
              <a:t>Name</a:t>
            </a:r>
            <a:r>
              <a:rPr lang="en-US" dirty="0">
                <a:sym typeface="Symbol"/>
              </a:rPr>
              <a:t> </a:t>
            </a:r>
            <a:r>
              <a:rPr lang="en-US" dirty="0"/>
              <a:t>Grades</a:t>
            </a:r>
            <a:r>
              <a:rPr lang="en-GB" dirty="0">
                <a:solidFill>
                  <a:schemeClr val="accent4">
                    <a:lumMod val="50000"/>
                  </a:schemeClr>
                </a:solidFill>
                <a:sym typeface="MT Extra" pitchFamily="18" charset="2"/>
              </a:rPr>
              <a:t> ⋈ (</a:t>
            </a:r>
            <a:r>
              <a:rPr lang="en-US" b="1" dirty="0">
                <a:sym typeface="Symbol"/>
              </a:rPr>
              <a:t></a:t>
            </a:r>
            <a:r>
              <a:rPr lang="en-US" baseline="-25000" dirty="0">
                <a:sym typeface="Symbol"/>
              </a:rPr>
              <a:t>School &lt;&gt; ‘EE’ </a:t>
            </a:r>
            <a:r>
              <a:rPr lang="en-GB" dirty="0" err="1">
                <a:solidFill>
                  <a:schemeClr val="accent4">
                    <a:lumMod val="50000"/>
                  </a:schemeClr>
                </a:solidFill>
                <a:sym typeface="MT Extra" pitchFamily="18" charset="2"/>
              </a:rPr>
              <a:t>CrsSch</a:t>
            </a:r>
            <a:r>
              <a:rPr lang="en-GB" dirty="0">
                <a:solidFill>
                  <a:schemeClr val="accent4">
                    <a:lumMod val="50000"/>
                  </a:schemeClr>
                </a:solidFill>
                <a:sym typeface="MT Extra" pitchFamily="18" charset="2"/>
              </a:rPr>
              <a:t>)</a:t>
            </a:r>
            <a:r>
              <a:rPr lang="en-US" dirty="0"/>
              <a:t>)</a:t>
            </a:r>
          </a:p>
        </p:txBody>
      </p:sp>
      <p:graphicFrame>
        <p:nvGraphicFramePr>
          <p:cNvPr id="4" name="Content Placeholder 3"/>
          <p:cNvGraphicFramePr>
            <a:graphicFrameLocks/>
          </p:cNvGraphicFramePr>
          <p:nvPr>
            <p:extLst/>
          </p:nvPr>
        </p:nvGraphicFramePr>
        <p:xfrm>
          <a:off x="2699792" y="836712"/>
          <a:ext cx="3024336"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SG" sz="2400" dirty="0">
                          <a:latin typeface="Calibri" pitchFamily="34" charset="0"/>
                        </a:rPr>
                        <a:t>Grade</a:t>
                      </a: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5"/>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6"/>
                  </a:ext>
                </a:extLst>
              </a:tr>
            </a:tbl>
          </a:graphicData>
        </a:graphic>
      </p:graphicFrame>
      <p:sp>
        <p:nvSpPr>
          <p:cNvPr id="5" name="TextBox 4"/>
          <p:cNvSpPr txBox="1"/>
          <p:nvPr/>
        </p:nvSpPr>
        <p:spPr>
          <a:xfrm>
            <a:off x="2699792" y="241484"/>
            <a:ext cx="122413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Grades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6516216" y="854720"/>
          <a:ext cx="2088232" cy="222504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AI</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NN</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EE</a:t>
                      </a:r>
                    </a:p>
                  </a:txBody>
                  <a:tcPr marL="0" marR="0" marT="0" marB="0"/>
                </a:tc>
                <a:extLst>
                  <a:ext uri="{0D108BD9-81ED-4DB2-BD59-A6C34878D82A}">
                    <a16:rowId xmlns:a16="http://schemas.microsoft.com/office/drawing/2014/main" val="10005"/>
                  </a:ext>
                </a:extLst>
              </a:tr>
            </a:tbl>
          </a:graphicData>
        </a:graphic>
      </p:graphicFrame>
      <p:sp>
        <p:nvSpPr>
          <p:cNvPr id="7" name="TextBox 6"/>
          <p:cNvSpPr txBox="1"/>
          <p:nvPr/>
        </p:nvSpPr>
        <p:spPr>
          <a:xfrm>
            <a:off x="6531753" y="241236"/>
            <a:ext cx="1712655" cy="523220"/>
          </a:xfrm>
          <a:prstGeom prst="rect">
            <a:avLst/>
          </a:prstGeom>
          <a:noFill/>
          <a:ln w="25400">
            <a:solidFill>
              <a:schemeClr val="accent1"/>
            </a:solidFill>
          </a:ln>
        </p:spPr>
        <p:txBody>
          <a:bodyPr wrap="square" rtlCol="0">
            <a:spAutoFit/>
          </a:bodyPr>
          <a:lstStyle/>
          <a:p>
            <a:r>
              <a:rPr lang="en-US" sz="2800" b="1" dirty="0" err="1">
                <a:latin typeface="Calibri" pitchFamily="34" charset="0"/>
              </a:rPr>
              <a:t>CrsSch</a:t>
            </a:r>
            <a:endParaRPr lang="en-SG" sz="2800" b="1" dirty="0">
              <a:latin typeface="Calibri" pitchFamily="34" charset="0"/>
            </a:endParaRPr>
          </a:p>
        </p:txBody>
      </p:sp>
    </p:spTree>
    <p:extLst>
      <p:ext uri="{BB962C8B-B14F-4D97-AF65-F5344CB8AC3E}">
        <p14:creationId xmlns:p14="http://schemas.microsoft.com/office/powerpoint/2010/main" val="7547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39825"/>
          </a:xfrm>
        </p:spPr>
        <p:txBody>
          <a:bodyPr/>
          <a:lstStyle/>
          <a:p>
            <a:r>
              <a:rPr lang="en-US" dirty="0"/>
              <a:t>Theta Join </a:t>
            </a:r>
            <a:r>
              <a:rPr lang="en-GB" dirty="0">
                <a:solidFill>
                  <a:schemeClr val="accent4">
                    <a:lumMod val="50000"/>
                  </a:schemeClr>
                </a:solidFill>
                <a:sym typeface="MT Extra" pitchFamily="18" charset="2"/>
              </a:rPr>
              <a:t>⋈</a:t>
            </a:r>
            <a:r>
              <a:rPr lang="en-GB" baseline="-25000" dirty="0">
                <a:solidFill>
                  <a:schemeClr val="accent4">
                    <a:lumMod val="50000"/>
                  </a:schemeClr>
                </a:solidFill>
                <a:sym typeface="MT Extra" pitchFamily="18" charset="2"/>
              </a:rPr>
              <a:t>condition</a:t>
            </a:r>
            <a:endParaRPr lang="en-SG" baseline="-25000" dirty="0"/>
          </a:p>
        </p:txBody>
      </p:sp>
      <p:sp>
        <p:nvSpPr>
          <p:cNvPr id="3" name="Content Placeholder 2"/>
          <p:cNvSpPr>
            <a:spLocks noGrp="1"/>
          </p:cNvSpPr>
          <p:nvPr>
            <p:ph idx="1"/>
          </p:nvPr>
        </p:nvSpPr>
        <p:spPr>
          <a:xfrm>
            <a:off x="457200" y="3573016"/>
            <a:ext cx="8229600" cy="2557909"/>
          </a:xfrm>
        </p:spPr>
        <p:txBody>
          <a:bodyPr>
            <a:normAutofit fontScale="77500" lnSpcReduction="20000"/>
          </a:bodyPr>
          <a:lstStyle/>
          <a:p>
            <a:r>
              <a:rPr lang="en-GB" dirty="0">
                <a:solidFill>
                  <a:schemeClr val="accent4">
                    <a:lumMod val="50000"/>
                  </a:schemeClr>
                </a:solidFill>
                <a:sym typeface="MT Extra" pitchFamily="18" charset="2"/>
              </a:rPr>
              <a:t>Query: “For those students who have made donations, find their names, schools, and amounts of their donations”</a:t>
            </a:r>
          </a:p>
          <a:p>
            <a:r>
              <a:rPr lang="en-US" dirty="0"/>
              <a:t>Students </a:t>
            </a:r>
            <a:r>
              <a:rPr lang="en-GB" dirty="0">
                <a:solidFill>
                  <a:schemeClr val="accent4">
                    <a:lumMod val="50000"/>
                  </a:schemeClr>
                </a:solidFill>
                <a:sym typeface="MT Extra" pitchFamily="18" charset="2"/>
              </a:rPr>
              <a:t>⋈</a:t>
            </a:r>
            <a:r>
              <a:rPr lang="en-GB" sz="4100" baseline="-25000" dirty="0" err="1">
                <a:solidFill>
                  <a:schemeClr val="accent4">
                    <a:lumMod val="50000"/>
                  </a:schemeClr>
                </a:solidFill>
                <a:sym typeface="MT Extra" pitchFamily="18" charset="2"/>
              </a:rPr>
              <a:t>Sname</a:t>
            </a:r>
            <a:r>
              <a:rPr lang="en-GB" sz="4100" baseline="-25000" dirty="0">
                <a:solidFill>
                  <a:schemeClr val="accent4">
                    <a:lumMod val="50000"/>
                  </a:schemeClr>
                </a:solidFill>
                <a:sym typeface="MT Extra" pitchFamily="18" charset="2"/>
              </a:rPr>
              <a:t>=Name</a:t>
            </a:r>
            <a:r>
              <a:rPr lang="en-GB" dirty="0">
                <a:solidFill>
                  <a:schemeClr val="accent4">
                    <a:lumMod val="50000"/>
                  </a:schemeClr>
                </a:solidFill>
                <a:sym typeface="MT Extra" pitchFamily="18" charset="2"/>
              </a:rPr>
              <a:t> Donations</a:t>
            </a:r>
          </a:p>
          <a:p>
            <a:r>
              <a:rPr lang="en-GB" dirty="0">
                <a:solidFill>
                  <a:schemeClr val="accent4">
                    <a:lumMod val="50000"/>
                  </a:schemeClr>
                </a:solidFill>
                <a:sym typeface="MT Extra" pitchFamily="18" charset="2"/>
              </a:rPr>
              <a:t>Difference from natural join: Duplicate attributes will NOT be removed from the results</a:t>
            </a:r>
          </a:p>
          <a:p>
            <a:r>
              <a:rPr lang="en-GB" dirty="0">
                <a:solidFill>
                  <a:schemeClr val="accent4">
                    <a:lumMod val="50000"/>
                  </a:schemeClr>
                </a:solidFill>
                <a:sym typeface="MT Extra" pitchFamily="18" charset="2"/>
              </a:rPr>
              <a:t>In general, the join condition in a theta join can also be inequalities</a:t>
            </a:r>
          </a:p>
          <a:p>
            <a:endParaRPr lang="en-GB" dirty="0">
              <a:solidFill>
                <a:schemeClr val="accent4">
                  <a:lumMod val="50000"/>
                </a:schemeClr>
              </a:solidFill>
              <a:sym typeface="MT Extra" pitchFamily="18" charset="2"/>
            </a:endParaRPr>
          </a:p>
          <a:p>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err="1">
                          <a:solidFill>
                            <a:srgbClr val="FFFF00"/>
                          </a:solidFill>
                          <a:latin typeface="Calibri" pitchFamily="34" charset="0"/>
                        </a:rPr>
                        <a:t>SName</a:t>
                      </a:r>
                      <a:endParaRPr lang="en-SG" sz="2400" u="sng" dirty="0">
                        <a:solidFill>
                          <a:srgbClr val="FFFF00"/>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843808"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2859345"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Donations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148065" y="1637620"/>
          <a:ext cx="3888432" cy="1112520"/>
        </p:xfrm>
        <a:graphic>
          <a:graphicData uri="http://schemas.openxmlformats.org/drawingml/2006/table">
            <a:tbl>
              <a:tblPr firstRow="1" bandRow="1">
                <a:tableStyleId>{5C22544A-7EE6-4342-B048-85BDC9FD1C3A}</a:tableStyleId>
              </a:tblPr>
              <a:tblGrid>
                <a:gridCol w="1008111">
                  <a:extLst>
                    <a:ext uri="{9D8B030D-6E8A-4147-A177-3AD203B41FA5}">
                      <a16:colId xmlns:a16="http://schemas.microsoft.com/office/drawing/2014/main" val="20000"/>
                    </a:ext>
                  </a:extLst>
                </a:gridCol>
                <a:gridCol w="832849">
                  <a:extLst>
                    <a:ext uri="{9D8B030D-6E8A-4147-A177-3AD203B41FA5}">
                      <a16:colId xmlns:a16="http://schemas.microsoft.com/office/drawing/2014/main" val="20001"/>
                    </a:ext>
                  </a:extLst>
                </a:gridCol>
                <a:gridCol w="967352">
                  <a:extLst>
                    <a:ext uri="{9D8B030D-6E8A-4147-A177-3AD203B41FA5}">
                      <a16:colId xmlns:a16="http://schemas.microsoft.com/office/drawing/2014/main" val="20002"/>
                    </a:ext>
                  </a:extLst>
                </a:gridCol>
                <a:gridCol w="1080120">
                  <a:extLst>
                    <a:ext uri="{9D8B030D-6E8A-4147-A177-3AD203B41FA5}">
                      <a16:colId xmlns:a16="http://schemas.microsoft.com/office/drawing/2014/main" val="20003"/>
                    </a:ext>
                  </a:extLst>
                </a:gridCol>
              </a:tblGrid>
              <a:tr h="370840">
                <a:tc>
                  <a:txBody>
                    <a:bodyPr/>
                    <a:lstStyle/>
                    <a:p>
                      <a:pPr algn="ctr"/>
                      <a:r>
                        <a:rPr lang="en-US" sz="2400" u="none" dirty="0" err="1">
                          <a:solidFill>
                            <a:srgbClr val="FFFF00"/>
                          </a:solidFill>
                          <a:latin typeface="Calibri" pitchFamily="34" charset="0"/>
                        </a:rPr>
                        <a:t>SName</a:t>
                      </a:r>
                      <a:endParaRPr lang="en-SG" sz="2400" u="none" dirty="0">
                        <a:latin typeface="Calibri" pitchFamily="34" charset="0"/>
                      </a:endParaRPr>
                    </a:p>
                  </a:txBody>
                  <a:tcPr marL="0" marR="0" marT="0" marB="0"/>
                </a:tc>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9" name="TextBox 8"/>
          <p:cNvSpPr txBox="1"/>
          <p:nvPr/>
        </p:nvSpPr>
        <p:spPr>
          <a:xfrm>
            <a:off x="5148064"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420528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39825"/>
          </a:xfrm>
        </p:spPr>
        <p:txBody>
          <a:bodyPr/>
          <a:lstStyle/>
          <a:p>
            <a:r>
              <a:rPr lang="en-US" dirty="0"/>
              <a:t>Theta Join </a:t>
            </a:r>
            <a:r>
              <a:rPr lang="en-GB" dirty="0">
                <a:solidFill>
                  <a:schemeClr val="accent4">
                    <a:lumMod val="50000"/>
                  </a:schemeClr>
                </a:solidFill>
                <a:sym typeface="MT Extra" pitchFamily="18" charset="2"/>
              </a:rPr>
              <a:t>⋈</a:t>
            </a:r>
            <a:r>
              <a:rPr lang="en-GB" baseline="-25000" dirty="0">
                <a:solidFill>
                  <a:schemeClr val="accent4">
                    <a:lumMod val="50000"/>
                  </a:schemeClr>
                </a:solidFill>
                <a:sym typeface="MT Extra" pitchFamily="18" charset="2"/>
              </a:rPr>
              <a:t>condition</a:t>
            </a:r>
            <a:endParaRPr lang="en-SG" dirty="0"/>
          </a:p>
        </p:txBody>
      </p:sp>
      <p:sp>
        <p:nvSpPr>
          <p:cNvPr id="3" name="Content Placeholder 2"/>
          <p:cNvSpPr>
            <a:spLocks noGrp="1"/>
          </p:cNvSpPr>
          <p:nvPr>
            <p:ph idx="1"/>
          </p:nvPr>
        </p:nvSpPr>
        <p:spPr>
          <a:xfrm>
            <a:off x="457200" y="3573016"/>
            <a:ext cx="8229600" cy="2557909"/>
          </a:xfrm>
        </p:spPr>
        <p:txBody>
          <a:bodyPr>
            <a:normAutofit fontScale="77500" lnSpcReduction="20000"/>
          </a:bodyPr>
          <a:lstStyle/>
          <a:p>
            <a:r>
              <a:rPr lang="en-GB" dirty="0">
                <a:solidFill>
                  <a:schemeClr val="accent4">
                    <a:lumMod val="50000"/>
                  </a:schemeClr>
                </a:solidFill>
                <a:sym typeface="MT Extra" pitchFamily="18" charset="2"/>
              </a:rPr>
              <a:t>Query: “Find the students who score higher in quiz 2 than quiz 1”</a:t>
            </a:r>
          </a:p>
          <a:p>
            <a:r>
              <a:rPr lang="en-US" dirty="0"/>
              <a:t>Quiz1 </a:t>
            </a:r>
            <a:r>
              <a:rPr lang="en-GB" dirty="0">
                <a:solidFill>
                  <a:schemeClr val="accent4">
                    <a:lumMod val="50000"/>
                  </a:schemeClr>
                </a:solidFill>
                <a:sym typeface="MT Extra" pitchFamily="18" charset="2"/>
              </a:rPr>
              <a:t>⋈</a:t>
            </a:r>
            <a:r>
              <a:rPr lang="en-GB" sz="3600" baseline="-25000" dirty="0">
                <a:solidFill>
                  <a:schemeClr val="accent4">
                    <a:lumMod val="50000"/>
                  </a:schemeClr>
                </a:solidFill>
                <a:sym typeface="MT Extra" pitchFamily="18" charset="2"/>
              </a:rPr>
              <a:t>Quiz1.Name = Quiz2.Name AND Quiz1.Score &lt; Quiz2.Score</a:t>
            </a:r>
            <a:r>
              <a:rPr lang="en-GB" dirty="0">
                <a:solidFill>
                  <a:schemeClr val="accent4">
                    <a:lumMod val="50000"/>
                  </a:schemeClr>
                </a:solidFill>
                <a:sym typeface="MT Extra" pitchFamily="18" charset="2"/>
              </a:rPr>
              <a:t> Quiz2</a:t>
            </a:r>
          </a:p>
          <a:p>
            <a:r>
              <a:rPr lang="en-GB" dirty="0">
                <a:solidFill>
                  <a:schemeClr val="accent4">
                    <a:lumMod val="50000"/>
                  </a:schemeClr>
                </a:solidFill>
                <a:sym typeface="MT Extra" pitchFamily="18" charset="2"/>
              </a:rPr>
              <a:t>Note: In the join condition, whenever there are ambiguous attribute names (e.g., Score), we need to add the table names along with the attribute names to eliminate the ambiguity (e.g., by using Quiz1.Score instead of Score)</a:t>
            </a:r>
          </a:p>
          <a:p>
            <a:endParaRPr lang="en-GB" dirty="0">
              <a:solidFill>
                <a:schemeClr val="accent4">
                  <a:lumMod val="50000"/>
                </a:schemeClr>
              </a:solidFill>
              <a:sym typeface="MT Extra" pitchFamily="18" charset="2"/>
            </a:endParaRPr>
          </a:p>
          <a:p>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843808"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2859345"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Quiz2</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148065" y="1637620"/>
          <a:ext cx="3528391" cy="111252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tblGrid>
              <a:tr h="370840">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u="none" dirty="0">
                          <a:latin typeface="Calibri" pitchFamily="34" charset="0"/>
                        </a:rPr>
                        <a:t>Score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Name</a:t>
                      </a:r>
                      <a:endParaRPr lang="en-SG" sz="2400" dirty="0">
                        <a:latin typeface="Calibri" pitchFamily="34" charset="0"/>
                      </a:endParaRPr>
                    </a:p>
                  </a:txBody>
                  <a:tcPr marL="0" marR="0" marT="0" marB="0"/>
                </a:tc>
                <a:tc>
                  <a:txBody>
                    <a:bodyPr/>
                    <a:lstStyle/>
                    <a:p>
                      <a:pPr algn="ctr"/>
                      <a:r>
                        <a:rPr lang="en-US" sz="2400" dirty="0">
                          <a:latin typeface="Calibri" pitchFamily="34" charset="0"/>
                        </a:rPr>
                        <a:t>Score</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9" name="TextBox 8"/>
          <p:cNvSpPr txBox="1"/>
          <p:nvPr/>
        </p:nvSpPr>
        <p:spPr>
          <a:xfrm>
            <a:off x="5148064"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104574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323528" y="3861048"/>
            <a:ext cx="8579296" cy="2269877"/>
          </a:xfrm>
        </p:spPr>
        <p:txBody>
          <a:bodyPr>
            <a:normAutofit fontScale="85000" lnSpcReduction="10000"/>
          </a:bodyPr>
          <a:lstStyle/>
          <a:p>
            <a:r>
              <a:rPr lang="en-US" dirty="0"/>
              <a:t>Find the students who score higher than Cathy in Quiz1</a:t>
            </a:r>
          </a:p>
          <a:p>
            <a:r>
              <a:rPr lang="en-US" dirty="0"/>
              <a:t>R1 := </a:t>
            </a:r>
            <a:r>
              <a:rPr lang="en-US" b="1" dirty="0">
                <a:sym typeface="Symbol"/>
              </a:rPr>
              <a:t></a:t>
            </a:r>
            <a:r>
              <a:rPr lang="en-US" sz="4000" baseline="-25000" dirty="0">
                <a:sym typeface="Symbol"/>
              </a:rPr>
              <a:t>Name=‘Cathy’</a:t>
            </a:r>
            <a:r>
              <a:rPr lang="en-US" dirty="0">
                <a:sym typeface="Symbol"/>
              </a:rPr>
              <a:t> Quiz1</a:t>
            </a:r>
          </a:p>
          <a:p>
            <a:endParaRPr lang="en-US" sz="1200" dirty="0">
              <a:sym typeface="Symbol"/>
            </a:endParaRPr>
          </a:p>
          <a:p>
            <a:r>
              <a:rPr lang="en-US" b="1" dirty="0">
                <a:sym typeface="Symbol"/>
              </a:rPr>
              <a:t></a:t>
            </a:r>
            <a:r>
              <a:rPr lang="en-US" baseline="-25000" dirty="0">
                <a:sym typeface="Symbol"/>
              </a:rPr>
              <a:t>R2(Name1, Score1, Name2,</a:t>
            </a:r>
            <a:r>
              <a:rPr lang="en-US" dirty="0">
                <a:sym typeface="Symbol"/>
              </a:rPr>
              <a:t> </a:t>
            </a:r>
            <a:r>
              <a:rPr lang="en-US" baseline="-25000" dirty="0">
                <a:sym typeface="Symbol"/>
              </a:rPr>
              <a:t>Score2) </a:t>
            </a:r>
            <a:r>
              <a:rPr lang="en-US" dirty="0">
                <a:sym typeface="Symbol"/>
              </a:rPr>
              <a:t>Quiz1 </a:t>
            </a:r>
            <a:r>
              <a:rPr lang="en-GB" dirty="0">
                <a:solidFill>
                  <a:schemeClr val="accent4">
                    <a:lumMod val="50000"/>
                  </a:schemeClr>
                </a:solidFill>
                <a:sym typeface="MT Extra" pitchFamily="18" charset="2"/>
              </a:rPr>
              <a:t>⋈</a:t>
            </a:r>
            <a:r>
              <a:rPr lang="en-GB" sz="3800" baseline="-25000" dirty="0">
                <a:solidFill>
                  <a:schemeClr val="accent4">
                    <a:lumMod val="50000"/>
                  </a:schemeClr>
                </a:solidFill>
                <a:sym typeface="MT Extra" pitchFamily="18" charset="2"/>
              </a:rPr>
              <a:t>Quiz1.Score &gt; R1.Score</a:t>
            </a:r>
            <a:r>
              <a:rPr lang="en-GB" baseline="-25000" dirty="0">
                <a:solidFill>
                  <a:schemeClr val="accent4">
                    <a:lumMod val="50000"/>
                  </a:schemeClr>
                </a:solidFill>
                <a:sym typeface="MT Extra" pitchFamily="18" charset="2"/>
              </a:rPr>
              <a:t> </a:t>
            </a:r>
            <a:r>
              <a:rPr lang="en-GB" dirty="0">
                <a:solidFill>
                  <a:schemeClr val="accent4">
                    <a:lumMod val="50000"/>
                  </a:schemeClr>
                </a:solidFill>
                <a:sym typeface="MT Extra" pitchFamily="18" charset="2"/>
              </a:rPr>
              <a:t>R1</a:t>
            </a:r>
          </a:p>
          <a:p>
            <a:endParaRPr lang="en-GB" sz="1200" dirty="0">
              <a:solidFill>
                <a:schemeClr val="accent4">
                  <a:lumMod val="50000"/>
                </a:schemeClr>
              </a:solidFill>
              <a:sym typeface="MT Extra" pitchFamily="18" charset="2"/>
            </a:endParaRPr>
          </a:p>
          <a:p>
            <a:r>
              <a:rPr lang="en-GB" dirty="0">
                <a:solidFill>
                  <a:schemeClr val="accent4">
                    <a:lumMod val="50000"/>
                  </a:schemeClr>
                </a:solidFill>
                <a:sym typeface="MT Extra" pitchFamily="18" charset="2"/>
              </a:rPr>
              <a:t>R3 := </a:t>
            </a:r>
            <a:r>
              <a:rPr lang="en-US" b="1" dirty="0">
                <a:sym typeface="Symbol"/>
              </a:rPr>
              <a:t></a:t>
            </a:r>
            <a:r>
              <a:rPr lang="en-US" sz="3800" baseline="-25000" dirty="0">
                <a:sym typeface="Symbol"/>
              </a:rPr>
              <a:t>Name1, Score1</a:t>
            </a:r>
            <a:r>
              <a:rPr lang="en-US" baseline="-25000" dirty="0">
                <a:sym typeface="Symbol"/>
              </a:rPr>
              <a:t> </a:t>
            </a:r>
            <a:r>
              <a:rPr lang="en-US" dirty="0"/>
              <a:t>R2</a:t>
            </a:r>
          </a:p>
          <a:p>
            <a:endParaRPr lang="en-SG" dirty="0"/>
          </a:p>
        </p:txBody>
      </p:sp>
      <p:graphicFrame>
        <p:nvGraphicFramePr>
          <p:cNvPr id="4" name="Content Placeholder 3"/>
          <p:cNvGraphicFramePr>
            <a:graphicFrameLocks/>
          </p:cNvGraphicFramePr>
          <p:nvPr>
            <p:extLst/>
          </p:nvPr>
        </p:nvGraphicFramePr>
        <p:xfrm>
          <a:off x="467545" y="1790824"/>
          <a:ext cx="1656183"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1177340"/>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2771801" y="1790824"/>
          <a:ext cx="1656183" cy="74168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9" name="TextBox 8"/>
          <p:cNvSpPr txBox="1"/>
          <p:nvPr/>
        </p:nvSpPr>
        <p:spPr>
          <a:xfrm>
            <a:off x="2771800" y="1177340"/>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R1</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4860032" y="1020336"/>
          <a:ext cx="3960440" cy="1112520"/>
        </p:xfrm>
        <a:graphic>
          <a:graphicData uri="http://schemas.openxmlformats.org/drawingml/2006/table">
            <a:tbl>
              <a:tblPr firstRow="1" bandRow="1">
                <a:tableStyleId>{5C22544A-7EE6-4342-B048-85BDC9FD1C3A}</a:tableStyleId>
              </a:tblPr>
              <a:tblGrid>
                <a:gridCol w="1008113">
                  <a:extLst>
                    <a:ext uri="{9D8B030D-6E8A-4147-A177-3AD203B41FA5}">
                      <a16:colId xmlns:a16="http://schemas.microsoft.com/office/drawing/2014/main" val="20000"/>
                    </a:ext>
                  </a:extLst>
                </a:gridCol>
                <a:gridCol w="936103">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tblGrid>
              <a:tr h="370840">
                <a:tc>
                  <a:txBody>
                    <a:bodyPr/>
                    <a:lstStyle/>
                    <a:p>
                      <a:pPr algn="ctr"/>
                      <a:r>
                        <a:rPr lang="en-US" sz="2400" u="none" dirty="0">
                          <a:solidFill>
                            <a:schemeClr val="bg1"/>
                          </a:solidFill>
                          <a:latin typeface="Calibri" pitchFamily="34" charset="0"/>
                        </a:rPr>
                        <a:t>Name1</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Score1</a:t>
                      </a:r>
                      <a:endParaRPr lang="en-SG" sz="2400" dirty="0">
                        <a:latin typeface="Calibri" pitchFamily="34" charset="0"/>
                      </a:endParaRPr>
                    </a:p>
                  </a:txBody>
                  <a:tcPr marL="0" marR="0" marT="0" marB="0"/>
                </a:tc>
                <a:tc>
                  <a:txBody>
                    <a:bodyPr/>
                    <a:lstStyle/>
                    <a:p>
                      <a:pPr algn="ctr"/>
                      <a:r>
                        <a:rPr lang="en-US" sz="2400" u="none" dirty="0">
                          <a:solidFill>
                            <a:schemeClr val="bg1"/>
                          </a:solidFill>
                          <a:latin typeface="Calibri" pitchFamily="34" charset="0"/>
                        </a:rPr>
                        <a:t>Name2</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Score2</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11" name="TextBox 10"/>
          <p:cNvSpPr txBox="1"/>
          <p:nvPr/>
        </p:nvSpPr>
        <p:spPr>
          <a:xfrm>
            <a:off x="5220072" y="406852"/>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R2</a:t>
            </a:r>
            <a:endParaRPr lang="en-SG" sz="2800" b="1" dirty="0">
              <a:latin typeface="Calibri" pitchFamily="34" charset="0"/>
            </a:endParaRPr>
          </a:p>
        </p:txBody>
      </p:sp>
      <p:graphicFrame>
        <p:nvGraphicFramePr>
          <p:cNvPr id="12" name="Content Placeholder 3"/>
          <p:cNvGraphicFramePr>
            <a:graphicFrameLocks/>
          </p:cNvGraphicFramePr>
          <p:nvPr>
            <p:extLst/>
          </p:nvPr>
        </p:nvGraphicFramePr>
        <p:xfrm>
          <a:off x="6012160" y="2532504"/>
          <a:ext cx="1944216" cy="111252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Name1</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Score1</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13" name="TextBox 12"/>
          <p:cNvSpPr txBox="1"/>
          <p:nvPr/>
        </p:nvSpPr>
        <p:spPr>
          <a:xfrm>
            <a:off x="5292080" y="2855124"/>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R3</a:t>
            </a:r>
            <a:endParaRPr lang="en-SG" sz="2800" b="1" dirty="0">
              <a:latin typeface="Calibri" pitchFamily="34" charset="0"/>
            </a:endParaRPr>
          </a:p>
        </p:txBody>
      </p:sp>
    </p:spTree>
    <p:extLst>
      <p:ext uri="{BB962C8B-B14F-4D97-AF65-F5344CB8AC3E}">
        <p14:creationId xmlns:p14="http://schemas.microsoft.com/office/powerpoint/2010/main" val="420586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323528" y="3933056"/>
            <a:ext cx="8352928" cy="2197869"/>
          </a:xfrm>
        </p:spPr>
        <p:txBody>
          <a:bodyPr>
            <a:normAutofit fontScale="77500" lnSpcReduction="20000"/>
          </a:bodyPr>
          <a:lstStyle/>
          <a:p>
            <a:r>
              <a:rPr lang="en-US" dirty="0"/>
              <a:t>Find the students who score the highest in Quiz1</a:t>
            </a:r>
          </a:p>
          <a:p>
            <a:r>
              <a:rPr lang="en-US" dirty="0"/>
              <a:t>R1 := Quiz1</a:t>
            </a:r>
          </a:p>
          <a:p>
            <a:r>
              <a:rPr lang="en-US" dirty="0"/>
              <a:t>R2 := Quiz1 </a:t>
            </a:r>
            <a:r>
              <a:rPr lang="en-GB" dirty="0">
                <a:solidFill>
                  <a:schemeClr val="accent4">
                    <a:lumMod val="50000"/>
                  </a:schemeClr>
                </a:solidFill>
                <a:sym typeface="MT Extra" pitchFamily="18" charset="2"/>
              </a:rPr>
              <a:t>⋈</a:t>
            </a:r>
            <a:r>
              <a:rPr lang="en-GB" baseline="-25000" dirty="0">
                <a:solidFill>
                  <a:schemeClr val="accent4">
                    <a:lumMod val="50000"/>
                  </a:schemeClr>
                </a:solidFill>
                <a:sym typeface="MT Extra" pitchFamily="18" charset="2"/>
              </a:rPr>
              <a:t>Quiz1.Name &lt;&gt; R1.Name  AND</a:t>
            </a:r>
            <a:r>
              <a:rPr lang="en-GB" dirty="0">
                <a:solidFill>
                  <a:schemeClr val="accent4">
                    <a:lumMod val="50000"/>
                  </a:schemeClr>
                </a:solidFill>
                <a:sym typeface="MT Extra" pitchFamily="18" charset="2"/>
              </a:rPr>
              <a:t> </a:t>
            </a:r>
            <a:r>
              <a:rPr lang="en-GB" baseline="-25000" dirty="0">
                <a:solidFill>
                  <a:schemeClr val="accent4">
                    <a:lumMod val="50000"/>
                  </a:schemeClr>
                </a:solidFill>
                <a:sym typeface="MT Extra" pitchFamily="18" charset="2"/>
              </a:rPr>
              <a:t>Quiz1.Score &lt; R1.Score </a:t>
            </a:r>
            <a:r>
              <a:rPr lang="en-US" dirty="0">
                <a:sym typeface="Symbol"/>
              </a:rPr>
              <a:t>R1</a:t>
            </a:r>
          </a:p>
          <a:p>
            <a:endParaRPr lang="en-US" sz="1200" dirty="0">
              <a:sym typeface="Symbol"/>
            </a:endParaRPr>
          </a:p>
          <a:p>
            <a:r>
              <a:rPr lang="en-US" dirty="0">
                <a:sym typeface="Symbol"/>
              </a:rPr>
              <a:t>R3 := </a:t>
            </a:r>
            <a:r>
              <a:rPr lang="en-US" b="1" dirty="0">
                <a:sym typeface="Symbol"/>
              </a:rPr>
              <a:t></a:t>
            </a:r>
            <a:r>
              <a:rPr lang="en-US" baseline="-25000" dirty="0">
                <a:sym typeface="Symbol"/>
              </a:rPr>
              <a:t>Quiz1.Name </a:t>
            </a:r>
            <a:r>
              <a:rPr lang="en-US" dirty="0"/>
              <a:t>R2</a:t>
            </a:r>
            <a:endParaRPr lang="en-GB" dirty="0">
              <a:solidFill>
                <a:schemeClr val="accent4">
                  <a:lumMod val="50000"/>
                </a:schemeClr>
              </a:solidFill>
              <a:sym typeface="MT Extra" pitchFamily="18" charset="2"/>
            </a:endParaRPr>
          </a:p>
          <a:p>
            <a:endParaRPr lang="en-GB" sz="1200" dirty="0">
              <a:solidFill>
                <a:schemeClr val="accent4">
                  <a:lumMod val="50000"/>
                </a:schemeClr>
              </a:solidFill>
              <a:sym typeface="MT Extra" pitchFamily="18" charset="2"/>
            </a:endParaRPr>
          </a:p>
          <a:p>
            <a:r>
              <a:rPr lang="en-GB" dirty="0">
                <a:solidFill>
                  <a:schemeClr val="accent4">
                    <a:lumMod val="50000"/>
                  </a:schemeClr>
                </a:solidFill>
                <a:sym typeface="MT Extra" pitchFamily="18" charset="2"/>
              </a:rPr>
              <a:t>R4 := </a:t>
            </a:r>
            <a:r>
              <a:rPr lang="en-US" b="1" dirty="0">
                <a:sym typeface="Symbol"/>
              </a:rPr>
              <a:t></a:t>
            </a:r>
            <a:r>
              <a:rPr lang="en-US" baseline="-25000" dirty="0">
                <a:sym typeface="Symbol"/>
              </a:rPr>
              <a:t>Quiz1.Name </a:t>
            </a:r>
            <a:r>
              <a:rPr lang="en-GB" dirty="0">
                <a:solidFill>
                  <a:schemeClr val="accent4">
                    <a:lumMod val="50000"/>
                  </a:schemeClr>
                </a:solidFill>
                <a:sym typeface="MT Extra" pitchFamily="18" charset="2"/>
              </a:rPr>
              <a:t>Quiz1 </a:t>
            </a:r>
            <a:r>
              <a:rPr lang="en-US" dirty="0">
                <a:sym typeface="Symbol"/>
              </a:rPr>
              <a:t> R3</a:t>
            </a:r>
            <a:endParaRPr lang="en-US" dirty="0"/>
          </a:p>
          <a:p>
            <a:endParaRPr lang="en-SG" dirty="0"/>
          </a:p>
        </p:txBody>
      </p:sp>
      <p:graphicFrame>
        <p:nvGraphicFramePr>
          <p:cNvPr id="4" name="Content Placeholder 3"/>
          <p:cNvGraphicFramePr>
            <a:graphicFrameLocks/>
          </p:cNvGraphicFramePr>
          <p:nvPr>
            <p:extLst/>
          </p:nvPr>
        </p:nvGraphicFramePr>
        <p:xfrm>
          <a:off x="467545" y="1790824"/>
          <a:ext cx="1656183" cy="148336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bl>
          </a:graphicData>
        </a:graphic>
      </p:graphicFrame>
      <p:sp>
        <p:nvSpPr>
          <p:cNvPr id="5" name="TextBox 4"/>
          <p:cNvSpPr txBox="1"/>
          <p:nvPr/>
        </p:nvSpPr>
        <p:spPr>
          <a:xfrm>
            <a:off x="467544" y="1177340"/>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sp>
        <p:nvSpPr>
          <p:cNvPr id="9" name="TextBox 8"/>
          <p:cNvSpPr txBox="1"/>
          <p:nvPr/>
        </p:nvSpPr>
        <p:spPr>
          <a:xfrm>
            <a:off x="2555776" y="1177340"/>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R1</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5220072" y="874132"/>
          <a:ext cx="3312368" cy="148336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Cathy</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80</a:t>
                      </a:r>
                      <a:endParaRPr lang="en-SG" sz="2400" dirty="0">
                        <a:latin typeface="Calibri" pitchFamily="34" charset="0"/>
                      </a:endParaRPr>
                    </a:p>
                  </a:txBody>
                  <a:tcPr marL="0" marR="0" marT="0" marB="0"/>
                </a:tc>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bl>
          </a:graphicData>
        </a:graphic>
      </p:graphicFrame>
      <p:sp>
        <p:nvSpPr>
          <p:cNvPr id="11" name="TextBox 10"/>
          <p:cNvSpPr txBox="1"/>
          <p:nvPr/>
        </p:nvSpPr>
        <p:spPr>
          <a:xfrm>
            <a:off x="5220072" y="260648"/>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R2</a:t>
            </a:r>
            <a:endParaRPr lang="en-SG" sz="2800" b="1" dirty="0">
              <a:latin typeface="Calibri" pitchFamily="34" charset="0"/>
            </a:endParaRPr>
          </a:p>
        </p:txBody>
      </p:sp>
      <p:graphicFrame>
        <p:nvGraphicFramePr>
          <p:cNvPr id="12" name="Content Placeholder 3"/>
          <p:cNvGraphicFramePr>
            <a:graphicFrameLocks/>
          </p:cNvGraphicFramePr>
          <p:nvPr>
            <p:extLst/>
          </p:nvPr>
        </p:nvGraphicFramePr>
        <p:xfrm>
          <a:off x="6012160" y="2780928"/>
          <a:ext cx="864096" cy="74168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13" name="TextBox 12"/>
          <p:cNvSpPr txBox="1"/>
          <p:nvPr/>
        </p:nvSpPr>
        <p:spPr>
          <a:xfrm>
            <a:off x="5292080" y="2852936"/>
            <a:ext cx="648072" cy="523220"/>
          </a:xfrm>
          <a:prstGeom prst="rect">
            <a:avLst/>
          </a:prstGeom>
          <a:noFill/>
          <a:ln w="25400">
            <a:solidFill>
              <a:schemeClr val="accent1"/>
            </a:solidFill>
          </a:ln>
        </p:spPr>
        <p:txBody>
          <a:bodyPr wrap="square" rtlCol="0">
            <a:spAutoFit/>
          </a:bodyPr>
          <a:lstStyle/>
          <a:p>
            <a:r>
              <a:rPr lang="en-US" sz="2800" b="1">
                <a:latin typeface="Calibri" pitchFamily="34" charset="0"/>
              </a:rPr>
              <a:t>R4</a:t>
            </a:r>
            <a:endParaRPr lang="en-SG" sz="2800" b="1" dirty="0">
              <a:latin typeface="Calibri" pitchFamily="34" charset="0"/>
            </a:endParaRPr>
          </a:p>
        </p:txBody>
      </p:sp>
      <p:graphicFrame>
        <p:nvGraphicFramePr>
          <p:cNvPr id="14" name="Content Placeholder 3"/>
          <p:cNvGraphicFramePr>
            <a:graphicFrameLocks/>
          </p:cNvGraphicFramePr>
          <p:nvPr>
            <p:extLst/>
          </p:nvPr>
        </p:nvGraphicFramePr>
        <p:xfrm>
          <a:off x="2555777" y="1790824"/>
          <a:ext cx="1656183" cy="148336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8167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39825"/>
          </a:xfrm>
        </p:spPr>
        <p:txBody>
          <a:bodyPr/>
          <a:lstStyle/>
          <a:p>
            <a:r>
              <a:rPr lang="en-US" dirty="0"/>
              <a:t>Exercise</a:t>
            </a:r>
            <a:endParaRPr lang="en-SG" dirty="0"/>
          </a:p>
        </p:txBody>
      </p:sp>
      <p:sp>
        <p:nvSpPr>
          <p:cNvPr id="3" name="Content Placeholder 2"/>
          <p:cNvSpPr>
            <a:spLocks noGrp="1"/>
          </p:cNvSpPr>
          <p:nvPr>
            <p:ph idx="1"/>
          </p:nvPr>
        </p:nvSpPr>
        <p:spPr>
          <a:xfrm>
            <a:off x="457200" y="3573016"/>
            <a:ext cx="8229600" cy="2557909"/>
          </a:xfrm>
        </p:spPr>
        <p:txBody>
          <a:bodyPr>
            <a:normAutofit/>
          </a:bodyPr>
          <a:lstStyle/>
          <a:p>
            <a:r>
              <a:rPr lang="en-GB" dirty="0">
                <a:solidFill>
                  <a:schemeClr val="accent4">
                    <a:lumMod val="50000"/>
                  </a:schemeClr>
                </a:solidFill>
                <a:sym typeface="MT Extra" pitchFamily="18" charset="2"/>
              </a:rPr>
              <a:t>Query: “Find the students whose scores in Quizzes 1, 2, and 3 keep increasing”</a:t>
            </a:r>
          </a:p>
          <a:p>
            <a:r>
              <a:rPr lang="en-US" sz="2400" dirty="0"/>
              <a:t>(Quiz1 </a:t>
            </a:r>
            <a:r>
              <a:rPr lang="en-GB" sz="2400" dirty="0">
                <a:solidFill>
                  <a:schemeClr val="accent4">
                    <a:lumMod val="50000"/>
                  </a:schemeClr>
                </a:solidFill>
                <a:sym typeface="MT Extra" pitchFamily="18" charset="2"/>
              </a:rPr>
              <a:t>⋈</a:t>
            </a:r>
            <a:r>
              <a:rPr lang="en-GB" sz="2800" baseline="-25000" dirty="0">
                <a:solidFill>
                  <a:schemeClr val="accent4">
                    <a:lumMod val="50000"/>
                  </a:schemeClr>
                </a:solidFill>
                <a:sym typeface="MT Extra" pitchFamily="18" charset="2"/>
              </a:rPr>
              <a:t>Quiz1.Name = Quiz2.Name AND Quiz1.Score &lt; Quiz2.Score</a:t>
            </a:r>
            <a:r>
              <a:rPr lang="en-GB" sz="2400" dirty="0">
                <a:solidFill>
                  <a:schemeClr val="accent4">
                    <a:lumMod val="50000"/>
                  </a:schemeClr>
                </a:solidFill>
                <a:sym typeface="MT Extra" pitchFamily="18" charset="2"/>
              </a:rPr>
              <a:t> Quiz2) ⋈</a:t>
            </a:r>
            <a:r>
              <a:rPr lang="en-GB" sz="2800" baseline="-25000" dirty="0">
                <a:solidFill>
                  <a:schemeClr val="accent4">
                    <a:lumMod val="50000"/>
                  </a:schemeClr>
                </a:solidFill>
                <a:sym typeface="MT Extra" pitchFamily="18" charset="2"/>
              </a:rPr>
              <a:t>Quiz2.Name = Quiz3.Name AND Quiz2.Score &lt; Quiz3.Score</a:t>
            </a:r>
            <a:r>
              <a:rPr lang="en-GB" sz="2400" baseline="-25000" dirty="0">
                <a:solidFill>
                  <a:schemeClr val="accent4">
                    <a:lumMod val="50000"/>
                  </a:schemeClr>
                </a:solidFill>
                <a:sym typeface="MT Extra" pitchFamily="18" charset="2"/>
              </a:rPr>
              <a:t> </a:t>
            </a:r>
            <a:r>
              <a:rPr lang="en-GB" sz="2400" dirty="0">
                <a:solidFill>
                  <a:schemeClr val="accent4">
                    <a:lumMod val="50000"/>
                  </a:schemeClr>
                </a:solidFill>
                <a:sym typeface="MT Extra" pitchFamily="18" charset="2"/>
              </a:rPr>
              <a:t>Quiz3</a:t>
            </a:r>
          </a:p>
          <a:p>
            <a:endParaRPr lang="en-GB" dirty="0">
              <a:solidFill>
                <a:schemeClr val="accent4">
                  <a:lumMod val="50000"/>
                </a:schemeClr>
              </a:solidFill>
              <a:sym typeface="MT Extra" pitchFamily="18" charset="2"/>
            </a:endParaRPr>
          </a:p>
          <a:p>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491880"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3507417"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Quiz2</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6516216" y="1594212"/>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11" name="TextBox 10"/>
          <p:cNvSpPr txBox="1"/>
          <p:nvPr/>
        </p:nvSpPr>
        <p:spPr>
          <a:xfrm>
            <a:off x="6531753" y="980728"/>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Quiz3</a:t>
            </a:r>
            <a:endParaRPr lang="en-SG" sz="2800" b="1" dirty="0">
              <a:latin typeface="Calibri" pitchFamily="34" charset="0"/>
            </a:endParaRPr>
          </a:p>
        </p:txBody>
      </p:sp>
    </p:spTree>
    <p:extLst>
      <p:ext uri="{BB962C8B-B14F-4D97-AF65-F5344CB8AC3E}">
        <p14:creationId xmlns:p14="http://schemas.microsoft.com/office/powerpoint/2010/main" val="229879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Cartesian Product </a:t>
            </a:r>
            <a:r>
              <a:rPr lang="en-GB" dirty="0">
                <a:solidFill>
                  <a:schemeClr val="accent4">
                    <a:lumMod val="50000"/>
                  </a:schemeClr>
                </a:solidFill>
                <a:sym typeface="Symbol"/>
              </a:rPr>
              <a:t></a:t>
            </a:r>
            <a:endParaRPr lang="en-SG" dirty="0"/>
          </a:p>
        </p:txBody>
      </p:sp>
      <p:sp>
        <p:nvSpPr>
          <p:cNvPr id="3" name="Content Placeholder 2"/>
          <p:cNvSpPr>
            <a:spLocks noGrp="1"/>
          </p:cNvSpPr>
          <p:nvPr>
            <p:ph idx="1"/>
          </p:nvPr>
        </p:nvSpPr>
        <p:spPr>
          <a:xfrm>
            <a:off x="457200" y="3573016"/>
            <a:ext cx="8229600" cy="2557909"/>
          </a:xfrm>
        </p:spPr>
        <p:txBody>
          <a:bodyPr>
            <a:normAutofit/>
          </a:bodyPr>
          <a:lstStyle/>
          <a:p>
            <a:r>
              <a:rPr lang="en-US" dirty="0">
                <a:sym typeface="Symbol"/>
              </a:rPr>
              <a:t>Effect: Theta join without a condition</a:t>
            </a:r>
          </a:p>
          <a:p>
            <a:r>
              <a:rPr lang="en-US" dirty="0"/>
              <a:t>Query: “Create a table that provides all possible student-course combinations”</a:t>
            </a:r>
          </a:p>
          <a:p>
            <a:r>
              <a:rPr lang="en-US" dirty="0"/>
              <a:t>Students </a:t>
            </a:r>
            <a:r>
              <a:rPr lang="en-GB" b="1" dirty="0">
                <a:solidFill>
                  <a:schemeClr val="accent4">
                    <a:lumMod val="50000"/>
                  </a:schemeClr>
                </a:solidFill>
                <a:sym typeface="Symbol"/>
              </a:rPr>
              <a:t></a:t>
            </a:r>
            <a:r>
              <a:rPr lang="en-GB" dirty="0">
                <a:solidFill>
                  <a:schemeClr val="accent4">
                    <a:lumMod val="50000"/>
                  </a:schemeClr>
                </a:solidFill>
                <a:sym typeface="MT Extra" pitchFamily="18" charset="2"/>
              </a:rPr>
              <a:t> Donations</a:t>
            </a:r>
          </a:p>
          <a:p>
            <a:endParaRPr lang="en-SG" dirty="0"/>
          </a:p>
        </p:txBody>
      </p:sp>
      <p:graphicFrame>
        <p:nvGraphicFramePr>
          <p:cNvPr id="4" name="Content Placeholder 3"/>
          <p:cNvGraphicFramePr>
            <a:graphicFrameLocks/>
          </p:cNvGraphicFramePr>
          <p:nvPr>
            <p:extLst/>
          </p:nvPr>
        </p:nvGraphicFramePr>
        <p:xfrm>
          <a:off x="596023" y="2010192"/>
          <a:ext cx="1527705" cy="1112520"/>
        </p:xfrm>
        <a:graphic>
          <a:graphicData uri="http://schemas.openxmlformats.org/drawingml/2006/table">
            <a:tbl>
              <a:tblPr firstRow="1" bandRow="1">
                <a:tableStyleId>{5C22544A-7EE6-4342-B048-85BDC9FD1C3A}</a:tableStyleId>
              </a:tblPr>
              <a:tblGrid>
                <a:gridCol w="879633">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Age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19</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22</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5" name="TextBox 4"/>
          <p:cNvSpPr txBox="1"/>
          <p:nvPr/>
        </p:nvSpPr>
        <p:spPr>
          <a:xfrm>
            <a:off x="611560" y="139670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627784" y="2028448"/>
          <a:ext cx="1440160" cy="1112520"/>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ID</a:t>
                      </a:r>
                      <a:endParaRPr lang="en-SG" sz="2400" u="sng" dirty="0">
                        <a:latin typeface="Calibri" pitchFamily="34" charset="0"/>
                      </a:endParaRPr>
                    </a:p>
                  </a:txBody>
                  <a:tcPr marL="0" marR="0" marT="0" marB="0"/>
                </a:tc>
                <a:tc>
                  <a:txBody>
                    <a:bodyPr/>
                    <a:lstStyle/>
                    <a:p>
                      <a:pPr algn="ctr"/>
                      <a:r>
                        <a:rPr lang="en-US" sz="2400" dirty="0">
                          <a:latin typeface="Calibri" pitchFamily="34" charset="0"/>
                        </a:rPr>
                        <a:t>Name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C1</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C2</a:t>
                      </a:r>
                      <a:endParaRPr lang="en-SG" sz="2400" dirty="0">
                        <a:latin typeface="Calibri" pitchFamily="34" charset="0"/>
                      </a:endParaRPr>
                    </a:p>
                  </a:txBody>
                  <a:tcPr marL="0" marR="0" marT="0" marB="0"/>
                </a:tc>
                <a:tc>
                  <a:txBody>
                    <a:bodyPr/>
                    <a:lstStyle/>
                    <a:p>
                      <a:pPr algn="ctr"/>
                      <a:r>
                        <a:rPr lang="en-US" sz="2400" dirty="0" err="1">
                          <a:latin typeface="Calibri" pitchFamily="34" charset="0"/>
                        </a:rPr>
                        <a:t>Algo</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7" name="TextBox 6"/>
          <p:cNvSpPr txBox="1"/>
          <p:nvPr/>
        </p:nvSpPr>
        <p:spPr>
          <a:xfrm>
            <a:off x="2643321" y="1414964"/>
            <a:ext cx="135261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Courses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364088" y="1637620"/>
          <a:ext cx="3024336" cy="1854200"/>
        </p:xfrm>
        <a:graphic>
          <a:graphicData uri="http://schemas.openxmlformats.org/drawingml/2006/table">
            <a:tbl>
              <a:tblPr firstRow="1" bandRow="1">
                <a:tableStyleId>{5C22544A-7EE6-4342-B048-85BDC9FD1C3A}</a:tableStyleId>
              </a:tblPr>
              <a:tblGrid>
                <a:gridCol w="909575">
                  <a:extLst>
                    <a:ext uri="{9D8B030D-6E8A-4147-A177-3AD203B41FA5}">
                      <a16:colId xmlns:a16="http://schemas.microsoft.com/office/drawing/2014/main" val="20000"/>
                    </a:ext>
                  </a:extLst>
                </a:gridCol>
                <a:gridCol w="673338">
                  <a:extLst>
                    <a:ext uri="{9D8B030D-6E8A-4147-A177-3AD203B41FA5}">
                      <a16:colId xmlns:a16="http://schemas.microsoft.com/office/drawing/2014/main" val="20001"/>
                    </a:ext>
                  </a:extLst>
                </a:gridCol>
                <a:gridCol w="505319">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tblGrid>
              <a:tr h="370840">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Age</a:t>
                      </a:r>
                      <a:endParaRPr lang="en-SG" sz="2400" dirty="0">
                        <a:latin typeface="Calibri" pitchFamily="34" charset="0"/>
                      </a:endParaRPr>
                    </a:p>
                  </a:txBody>
                  <a:tcPr marL="0" marR="0" marT="0" marB="0"/>
                </a:tc>
                <a:tc>
                  <a:txBody>
                    <a:bodyPr/>
                    <a:lstStyle/>
                    <a:p>
                      <a:pPr algn="ctr"/>
                      <a:r>
                        <a:rPr lang="en-US" sz="2400" u="none" dirty="0">
                          <a:latin typeface="Calibri" pitchFamily="34" charset="0"/>
                        </a:rPr>
                        <a:t>ID</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Name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19</a:t>
                      </a:r>
                      <a:endParaRPr lang="en-SG" sz="2400" dirty="0">
                        <a:latin typeface="Calibri" pitchFamily="34" charset="0"/>
                      </a:endParaRPr>
                    </a:p>
                  </a:txBody>
                  <a:tcPr marL="0" marR="0" marT="0" marB="0"/>
                </a:tc>
                <a:tc>
                  <a:txBody>
                    <a:bodyPr/>
                    <a:lstStyle/>
                    <a:p>
                      <a:pPr algn="ctr"/>
                      <a:r>
                        <a:rPr lang="en-US" sz="2400" dirty="0">
                          <a:latin typeface="Calibri" pitchFamily="34" charset="0"/>
                        </a:rPr>
                        <a:t>C1</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19</a:t>
                      </a:r>
                      <a:endParaRPr lang="en-SG" sz="2400" dirty="0">
                        <a:latin typeface="Calibri" pitchFamily="34" charset="0"/>
                      </a:endParaRPr>
                    </a:p>
                  </a:txBody>
                  <a:tcPr marL="0" marR="0" marT="0" marB="0"/>
                </a:tc>
                <a:tc>
                  <a:txBody>
                    <a:bodyPr/>
                    <a:lstStyle/>
                    <a:p>
                      <a:pPr algn="ctr"/>
                      <a:r>
                        <a:rPr lang="en-US" sz="2400" dirty="0">
                          <a:latin typeface="Calibri" pitchFamily="34" charset="0"/>
                        </a:rPr>
                        <a:t>C2</a:t>
                      </a:r>
                      <a:endParaRPr lang="en-SG" sz="2400" dirty="0">
                        <a:latin typeface="Calibri" pitchFamily="34" charset="0"/>
                      </a:endParaRPr>
                    </a:p>
                  </a:txBody>
                  <a:tcPr marL="0" marR="0" marT="0" marB="0"/>
                </a:tc>
                <a:tc>
                  <a:txBody>
                    <a:bodyPr/>
                    <a:lstStyle/>
                    <a:p>
                      <a:pPr algn="ctr"/>
                      <a:r>
                        <a:rPr lang="en-US" sz="2400" dirty="0" err="1">
                          <a:latin typeface="Calibri" pitchFamily="34" charset="0"/>
                        </a:rPr>
                        <a:t>Algo</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22</a:t>
                      </a:r>
                      <a:endParaRPr lang="en-SG" sz="2400" dirty="0">
                        <a:latin typeface="Calibri" pitchFamily="34" charset="0"/>
                      </a:endParaRPr>
                    </a:p>
                  </a:txBody>
                  <a:tcPr marL="0" marR="0" marT="0" marB="0"/>
                </a:tc>
                <a:tc>
                  <a:txBody>
                    <a:bodyPr/>
                    <a:lstStyle/>
                    <a:p>
                      <a:pPr algn="ctr"/>
                      <a:r>
                        <a:rPr lang="en-US" sz="2400" dirty="0">
                          <a:latin typeface="Calibri" pitchFamily="34" charset="0"/>
                        </a:rPr>
                        <a:t>C1</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22</a:t>
                      </a:r>
                      <a:endParaRPr lang="en-SG" sz="2400" dirty="0">
                        <a:latin typeface="Calibri" pitchFamily="34" charset="0"/>
                      </a:endParaRPr>
                    </a:p>
                  </a:txBody>
                  <a:tcPr marL="0" marR="0" marT="0" marB="0"/>
                </a:tc>
                <a:tc>
                  <a:txBody>
                    <a:bodyPr/>
                    <a:lstStyle/>
                    <a:p>
                      <a:pPr algn="ctr"/>
                      <a:r>
                        <a:rPr lang="en-US" sz="2400" dirty="0">
                          <a:latin typeface="Calibri" pitchFamily="34" charset="0"/>
                        </a:rPr>
                        <a:t>C2</a:t>
                      </a:r>
                      <a:endParaRPr lang="en-SG" sz="2400" dirty="0">
                        <a:latin typeface="Calibri" pitchFamily="34" charset="0"/>
                      </a:endParaRPr>
                    </a:p>
                  </a:txBody>
                  <a:tcPr marL="0" marR="0" marT="0" marB="0"/>
                </a:tc>
                <a:tc>
                  <a:txBody>
                    <a:bodyPr/>
                    <a:lstStyle/>
                    <a:p>
                      <a:pPr algn="ctr"/>
                      <a:r>
                        <a:rPr lang="en-US" sz="2400" dirty="0" err="1">
                          <a:latin typeface="Calibri" pitchFamily="34" charset="0"/>
                        </a:rPr>
                        <a:t>Algo</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9" name="TextBox 8"/>
          <p:cNvSpPr txBox="1"/>
          <p:nvPr/>
        </p:nvSpPr>
        <p:spPr>
          <a:xfrm>
            <a:off x="536408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4054309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a:t>
            </a:r>
            <a:endParaRPr lang="en-SG" dirty="0"/>
          </a:p>
        </p:txBody>
      </p:sp>
      <p:sp>
        <p:nvSpPr>
          <p:cNvPr id="3" name="Content Placeholder 2"/>
          <p:cNvSpPr>
            <a:spLocks noGrp="1"/>
          </p:cNvSpPr>
          <p:nvPr>
            <p:ph idx="1"/>
          </p:nvPr>
        </p:nvSpPr>
        <p:spPr>
          <a:xfrm>
            <a:off x="457200" y="3645024"/>
            <a:ext cx="8229600" cy="2485901"/>
          </a:xfrm>
        </p:spPr>
        <p:txBody>
          <a:bodyPr>
            <a:normAutofit fontScale="85000" lnSpcReduction="20000"/>
          </a:bodyPr>
          <a:lstStyle/>
          <a:p>
            <a:r>
              <a:rPr lang="en-US" dirty="0"/>
              <a:t>Conceptually: Make another copy of the table and give it a new name</a:t>
            </a:r>
          </a:p>
          <a:p>
            <a:r>
              <a:rPr lang="en-US" dirty="0"/>
              <a:t>Example</a:t>
            </a:r>
          </a:p>
          <a:p>
            <a:pPr lvl="1"/>
            <a:r>
              <a:rPr lang="en-US" dirty="0"/>
              <a:t>Evaluation1 := Quiz1</a:t>
            </a:r>
          </a:p>
          <a:p>
            <a:pPr lvl="1"/>
            <a:r>
              <a:rPr lang="en-US" dirty="0"/>
              <a:t>Over85 := </a:t>
            </a:r>
            <a:r>
              <a:rPr lang="en-US" b="1" dirty="0">
                <a:sym typeface="Symbol"/>
              </a:rPr>
              <a:t></a:t>
            </a:r>
            <a:r>
              <a:rPr lang="en-US" baseline="-25000" dirty="0">
                <a:sym typeface="Symbol"/>
              </a:rPr>
              <a:t>Score &gt;</a:t>
            </a:r>
            <a:r>
              <a:rPr lang="en-US" dirty="0">
                <a:sym typeface="Symbol"/>
              </a:rPr>
              <a:t> </a:t>
            </a:r>
            <a:r>
              <a:rPr lang="en-US" baseline="-25000" dirty="0">
                <a:sym typeface="Symbol"/>
              </a:rPr>
              <a:t>85</a:t>
            </a:r>
            <a:r>
              <a:rPr lang="en-US" dirty="0">
                <a:sym typeface="Symbol"/>
              </a:rPr>
              <a:t> Quiz1</a:t>
            </a:r>
            <a:endParaRPr lang="en-US" dirty="0"/>
          </a:p>
          <a:p>
            <a:r>
              <a:rPr lang="en-US" dirty="0"/>
              <a:t>Note: All attribute names are retained</a:t>
            </a:r>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3347862" y="980728"/>
            <a:ext cx="1944217" cy="523220"/>
          </a:xfrm>
          <a:prstGeom prst="rect">
            <a:avLst/>
          </a:prstGeom>
          <a:noFill/>
          <a:ln w="25400">
            <a:solidFill>
              <a:schemeClr val="accent1"/>
            </a:solidFill>
          </a:ln>
        </p:spPr>
        <p:txBody>
          <a:bodyPr wrap="square" rtlCol="0">
            <a:spAutoFit/>
          </a:bodyPr>
          <a:lstStyle/>
          <a:p>
            <a:r>
              <a:rPr lang="en-US" sz="2800" b="1" dirty="0">
                <a:latin typeface="Calibri" pitchFamily="34" charset="0"/>
              </a:rPr>
              <a:t>Evaluation1</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6372200" y="1594212"/>
          <a:ext cx="1944216" cy="111252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9" name="TextBox 8"/>
          <p:cNvSpPr txBox="1"/>
          <p:nvPr/>
        </p:nvSpPr>
        <p:spPr>
          <a:xfrm>
            <a:off x="6372198" y="980728"/>
            <a:ext cx="1368153" cy="523220"/>
          </a:xfrm>
          <a:prstGeom prst="rect">
            <a:avLst/>
          </a:prstGeom>
          <a:noFill/>
          <a:ln w="25400">
            <a:solidFill>
              <a:schemeClr val="accent1"/>
            </a:solidFill>
          </a:ln>
        </p:spPr>
        <p:txBody>
          <a:bodyPr wrap="square" rtlCol="0">
            <a:spAutoFit/>
          </a:bodyPr>
          <a:lstStyle/>
          <a:p>
            <a:r>
              <a:rPr lang="en-US" sz="2800" b="1" dirty="0">
                <a:latin typeface="Calibri" pitchFamily="34" charset="0"/>
              </a:rPr>
              <a:t>Over85</a:t>
            </a:r>
            <a:endParaRPr lang="en-SG" sz="2800" b="1" dirty="0">
              <a:latin typeface="Calibri" pitchFamily="34" charset="0"/>
            </a:endParaRPr>
          </a:p>
        </p:txBody>
      </p:sp>
    </p:spTree>
    <p:extLst>
      <p:ext uri="{BB962C8B-B14F-4D97-AF65-F5344CB8AC3E}">
        <p14:creationId xmlns:p14="http://schemas.microsoft.com/office/powerpoint/2010/main" val="2074569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a:t>
            </a:r>
            <a:endParaRPr lang="en-SG" dirty="0"/>
          </a:p>
        </p:txBody>
      </p:sp>
      <p:sp>
        <p:nvSpPr>
          <p:cNvPr id="3" name="Content Placeholder 2"/>
          <p:cNvSpPr>
            <a:spLocks noGrp="1"/>
          </p:cNvSpPr>
          <p:nvPr>
            <p:ph idx="1"/>
          </p:nvPr>
        </p:nvSpPr>
        <p:spPr/>
        <p:txBody>
          <a:bodyPr>
            <a:normAutofit lnSpcReduction="10000"/>
          </a:bodyPr>
          <a:lstStyle/>
          <a:p>
            <a:r>
              <a:rPr lang="en-US" dirty="0"/>
              <a:t>Useful for breaking down steps</a:t>
            </a:r>
          </a:p>
          <a:p>
            <a:r>
              <a:rPr lang="en-US" dirty="0"/>
              <a:t>Example:</a:t>
            </a:r>
            <a:endParaRPr lang="en-SG" dirty="0"/>
          </a:p>
          <a:p>
            <a:pPr lvl="1"/>
            <a:r>
              <a:rPr lang="en-US" dirty="0">
                <a:sym typeface="Symbol"/>
              </a:rPr>
              <a:t>(</a:t>
            </a:r>
            <a:r>
              <a:rPr lang="en-US" b="1" dirty="0">
                <a:sym typeface="Symbol"/>
              </a:rPr>
              <a:t></a:t>
            </a:r>
            <a:r>
              <a:rPr lang="en-US" baseline="-25000" dirty="0">
                <a:sym typeface="Symbol"/>
              </a:rPr>
              <a:t>Name</a:t>
            </a:r>
            <a:r>
              <a:rPr lang="en-US" dirty="0">
                <a:sym typeface="Symbol"/>
              </a:rPr>
              <a:t> </a:t>
            </a:r>
            <a:r>
              <a:rPr lang="en-US" dirty="0"/>
              <a:t>Students) </a:t>
            </a:r>
            <a:r>
              <a:rPr lang="en-US" b="1" dirty="0">
                <a:sym typeface="Symbol"/>
              </a:rPr>
              <a:t></a:t>
            </a:r>
            <a:r>
              <a:rPr lang="en-US" dirty="0">
                <a:sym typeface="Symbol"/>
              </a:rPr>
              <a:t> (</a:t>
            </a:r>
            <a:r>
              <a:rPr lang="en-US" b="1" dirty="0">
                <a:sym typeface="Symbol"/>
              </a:rPr>
              <a:t></a:t>
            </a:r>
            <a:r>
              <a:rPr lang="en-US" baseline="-25000" dirty="0">
                <a:sym typeface="Symbol"/>
              </a:rPr>
              <a:t>Name </a:t>
            </a:r>
            <a:r>
              <a:rPr lang="en-US" dirty="0"/>
              <a:t>Volunteer)</a:t>
            </a:r>
          </a:p>
          <a:p>
            <a:r>
              <a:rPr lang="en-US" dirty="0"/>
              <a:t>Equivalent Representation</a:t>
            </a:r>
            <a:endParaRPr lang="en-SG" dirty="0"/>
          </a:p>
          <a:p>
            <a:pPr lvl="1"/>
            <a:r>
              <a:rPr lang="en-US" dirty="0">
                <a:sym typeface="Symbol"/>
              </a:rPr>
              <a:t>R1 := </a:t>
            </a:r>
            <a:r>
              <a:rPr lang="en-US" b="1" dirty="0">
                <a:sym typeface="Symbol"/>
              </a:rPr>
              <a:t></a:t>
            </a:r>
            <a:r>
              <a:rPr lang="en-US" baseline="-25000" dirty="0">
                <a:sym typeface="Symbol"/>
              </a:rPr>
              <a:t>Name</a:t>
            </a:r>
            <a:r>
              <a:rPr lang="en-US" dirty="0">
                <a:sym typeface="Symbol"/>
              </a:rPr>
              <a:t> </a:t>
            </a:r>
            <a:r>
              <a:rPr lang="en-US" dirty="0"/>
              <a:t>Students</a:t>
            </a:r>
            <a:endParaRPr lang="en-US" dirty="0">
              <a:sym typeface="Symbol"/>
            </a:endParaRPr>
          </a:p>
          <a:p>
            <a:pPr lvl="1"/>
            <a:r>
              <a:rPr lang="en-US" dirty="0">
                <a:sym typeface="Symbol"/>
              </a:rPr>
              <a:t>R2 := </a:t>
            </a:r>
            <a:r>
              <a:rPr lang="en-US" b="1" dirty="0">
                <a:sym typeface="Symbol"/>
              </a:rPr>
              <a:t></a:t>
            </a:r>
            <a:r>
              <a:rPr lang="en-US" baseline="-25000" dirty="0">
                <a:sym typeface="Symbol"/>
              </a:rPr>
              <a:t>Name </a:t>
            </a:r>
            <a:r>
              <a:rPr lang="en-US" dirty="0"/>
              <a:t>Volunteer</a:t>
            </a:r>
          </a:p>
          <a:p>
            <a:pPr lvl="1"/>
            <a:r>
              <a:rPr lang="en-US" dirty="0"/>
              <a:t>R1 </a:t>
            </a:r>
            <a:r>
              <a:rPr lang="en-US" b="1" dirty="0">
                <a:sym typeface="Symbol"/>
              </a:rPr>
              <a:t> </a:t>
            </a:r>
            <a:r>
              <a:rPr lang="en-US" dirty="0">
                <a:sym typeface="Symbol"/>
              </a:rPr>
              <a:t>R2</a:t>
            </a:r>
            <a:endParaRPr lang="en-US" dirty="0"/>
          </a:p>
          <a:p>
            <a:r>
              <a:rPr lang="en-US" dirty="0"/>
              <a:t>This makes your solution easier to write and easier for others to understand</a:t>
            </a:r>
          </a:p>
          <a:p>
            <a:pPr marL="344487" lvl="1" indent="0">
              <a:buNone/>
            </a:pPr>
            <a:endParaRPr lang="en-US" dirty="0"/>
          </a:p>
        </p:txBody>
      </p:sp>
    </p:spTree>
    <p:extLst>
      <p:ext uri="{BB962C8B-B14F-4D97-AF65-F5344CB8AC3E}">
        <p14:creationId xmlns:p14="http://schemas.microsoft.com/office/powerpoint/2010/main" val="314623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Rename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normAutofit fontScale="92500" lnSpcReduction="10000"/>
          </a:bodyPr>
          <a:lstStyle/>
          <a:p>
            <a:r>
              <a:rPr lang="en-US" dirty="0"/>
              <a:t>Similar to assignment, but allows change of attribute names</a:t>
            </a:r>
          </a:p>
          <a:p>
            <a:r>
              <a:rPr lang="en-US" dirty="0"/>
              <a:t>Example</a:t>
            </a:r>
          </a:p>
          <a:p>
            <a:pPr lvl="1"/>
            <a:r>
              <a:rPr lang="en-US" b="1" dirty="0">
                <a:sym typeface="Symbol"/>
              </a:rPr>
              <a:t></a:t>
            </a:r>
            <a:r>
              <a:rPr lang="en-US" sz="3500" baseline="-25000" dirty="0">
                <a:sym typeface="Symbol"/>
              </a:rPr>
              <a:t>Evaluation1</a:t>
            </a:r>
            <a:r>
              <a:rPr lang="en-US" dirty="0">
                <a:sym typeface="Symbol"/>
              </a:rPr>
              <a:t> </a:t>
            </a:r>
            <a:r>
              <a:rPr lang="en-US" dirty="0"/>
              <a:t>Quiz1</a:t>
            </a:r>
          </a:p>
          <a:p>
            <a:pPr lvl="1"/>
            <a:r>
              <a:rPr lang="en-US" b="1" dirty="0">
                <a:sym typeface="Symbol"/>
              </a:rPr>
              <a:t></a:t>
            </a:r>
            <a:r>
              <a:rPr lang="en-US" sz="3500" baseline="-25000" dirty="0">
                <a:sym typeface="Symbol"/>
              </a:rPr>
              <a:t>Eval1(</a:t>
            </a:r>
            <a:r>
              <a:rPr lang="en-US" sz="3500" baseline="-25000" dirty="0" err="1">
                <a:sym typeface="Symbol"/>
              </a:rPr>
              <a:t>SName</a:t>
            </a:r>
            <a:r>
              <a:rPr lang="en-US" sz="3500" baseline="-25000" dirty="0">
                <a:sym typeface="Symbol"/>
              </a:rPr>
              <a:t>, </a:t>
            </a:r>
            <a:r>
              <a:rPr lang="en-US" sz="3500" baseline="-25000" dirty="0" err="1">
                <a:sym typeface="Symbol"/>
              </a:rPr>
              <a:t>QScore</a:t>
            </a:r>
            <a:r>
              <a:rPr lang="en-US" sz="3500" baseline="-25000" dirty="0">
                <a:sym typeface="Symbol"/>
              </a:rPr>
              <a:t>) </a:t>
            </a:r>
            <a:r>
              <a:rPr lang="en-US" dirty="0"/>
              <a:t>Quiz1</a:t>
            </a:r>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347864"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3347862" y="980728"/>
            <a:ext cx="1944217" cy="523220"/>
          </a:xfrm>
          <a:prstGeom prst="rect">
            <a:avLst/>
          </a:prstGeom>
          <a:noFill/>
          <a:ln w="25400">
            <a:solidFill>
              <a:schemeClr val="accent1"/>
            </a:solidFill>
          </a:ln>
        </p:spPr>
        <p:txBody>
          <a:bodyPr wrap="square" rtlCol="0">
            <a:spAutoFit/>
          </a:bodyPr>
          <a:lstStyle/>
          <a:p>
            <a:r>
              <a:rPr lang="en-US" sz="2800" b="1" dirty="0">
                <a:latin typeface="Calibri" pitchFamily="34" charset="0"/>
              </a:rPr>
              <a:t>Evaluation1</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6300192" y="1594212"/>
          <a:ext cx="2088232"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pPr algn="ctr"/>
                      <a:r>
                        <a:rPr lang="en-US" sz="2400" u="none" dirty="0" err="1">
                          <a:solidFill>
                            <a:schemeClr val="bg1"/>
                          </a:solidFill>
                          <a:latin typeface="Calibri" pitchFamily="34" charset="0"/>
                        </a:rPr>
                        <a:t>SName</a:t>
                      </a:r>
                      <a:endParaRPr lang="en-SG" sz="2400" u="none" dirty="0">
                        <a:solidFill>
                          <a:schemeClr val="bg1"/>
                        </a:solidFill>
                        <a:latin typeface="Calibri" pitchFamily="34" charset="0"/>
                      </a:endParaRPr>
                    </a:p>
                  </a:txBody>
                  <a:tcPr marL="0" marR="0" marT="0" marB="0"/>
                </a:tc>
                <a:tc>
                  <a:txBody>
                    <a:bodyPr/>
                    <a:lstStyle/>
                    <a:p>
                      <a:pPr algn="ctr"/>
                      <a:r>
                        <a:rPr lang="en-US" sz="2400" dirty="0" err="1">
                          <a:latin typeface="Calibri" pitchFamily="34" charset="0"/>
                        </a:rPr>
                        <a:t>QScore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11" name="TextBox 10"/>
          <p:cNvSpPr txBox="1"/>
          <p:nvPr/>
        </p:nvSpPr>
        <p:spPr>
          <a:xfrm>
            <a:off x="6300190" y="980728"/>
            <a:ext cx="1008113" cy="523220"/>
          </a:xfrm>
          <a:prstGeom prst="rect">
            <a:avLst/>
          </a:prstGeom>
          <a:noFill/>
          <a:ln w="25400">
            <a:solidFill>
              <a:schemeClr val="accent1"/>
            </a:solidFill>
          </a:ln>
        </p:spPr>
        <p:txBody>
          <a:bodyPr wrap="square" rtlCol="0">
            <a:spAutoFit/>
          </a:bodyPr>
          <a:lstStyle/>
          <a:p>
            <a:r>
              <a:rPr lang="en-US" sz="2800" b="1" dirty="0">
                <a:latin typeface="Calibri" pitchFamily="34" charset="0"/>
              </a:rPr>
              <a:t>Eval1</a:t>
            </a:r>
            <a:endParaRPr lang="en-SG" sz="2800" b="1" dirty="0">
              <a:latin typeface="Calibri" pitchFamily="34" charset="0"/>
            </a:endParaRPr>
          </a:p>
        </p:txBody>
      </p:sp>
    </p:spTree>
    <p:extLst>
      <p:ext uri="{BB962C8B-B14F-4D97-AF65-F5344CB8AC3E}">
        <p14:creationId xmlns:p14="http://schemas.microsoft.com/office/powerpoint/2010/main" val="327913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323528" y="3861048"/>
            <a:ext cx="8579296" cy="2269877"/>
          </a:xfrm>
        </p:spPr>
        <p:txBody>
          <a:bodyPr>
            <a:normAutofit fontScale="85000" lnSpcReduction="10000"/>
          </a:bodyPr>
          <a:lstStyle/>
          <a:p>
            <a:r>
              <a:rPr lang="en-US" dirty="0"/>
              <a:t>Find the students who score higher than Cathy in Quiz1</a:t>
            </a:r>
          </a:p>
          <a:p>
            <a:r>
              <a:rPr lang="en-US" dirty="0"/>
              <a:t>R1 := </a:t>
            </a:r>
            <a:r>
              <a:rPr lang="en-US" b="1" dirty="0">
                <a:sym typeface="Symbol"/>
              </a:rPr>
              <a:t></a:t>
            </a:r>
            <a:r>
              <a:rPr lang="en-US" sz="4000" baseline="-25000" dirty="0">
                <a:sym typeface="Symbol"/>
              </a:rPr>
              <a:t>Name=‘Cathy’</a:t>
            </a:r>
            <a:r>
              <a:rPr lang="en-US" dirty="0">
                <a:sym typeface="Symbol"/>
              </a:rPr>
              <a:t> Quiz1</a:t>
            </a:r>
          </a:p>
          <a:p>
            <a:endParaRPr lang="en-US" sz="1200" dirty="0">
              <a:sym typeface="Symbol"/>
            </a:endParaRPr>
          </a:p>
          <a:p>
            <a:r>
              <a:rPr lang="en-US" b="1" dirty="0">
                <a:sym typeface="Symbol"/>
              </a:rPr>
              <a:t></a:t>
            </a:r>
            <a:r>
              <a:rPr lang="en-US" baseline="-25000" dirty="0">
                <a:sym typeface="Symbol"/>
              </a:rPr>
              <a:t>R2(Name1, Score1, Name2,</a:t>
            </a:r>
            <a:r>
              <a:rPr lang="en-US" dirty="0">
                <a:sym typeface="Symbol"/>
              </a:rPr>
              <a:t> </a:t>
            </a:r>
            <a:r>
              <a:rPr lang="en-US" baseline="-25000" dirty="0">
                <a:sym typeface="Symbol"/>
              </a:rPr>
              <a:t>Score2) </a:t>
            </a:r>
            <a:r>
              <a:rPr lang="en-US" dirty="0">
                <a:sym typeface="Symbol"/>
              </a:rPr>
              <a:t>Quiz1 </a:t>
            </a:r>
            <a:r>
              <a:rPr lang="en-GB" dirty="0">
                <a:solidFill>
                  <a:schemeClr val="accent4">
                    <a:lumMod val="50000"/>
                  </a:schemeClr>
                </a:solidFill>
                <a:sym typeface="MT Extra" pitchFamily="18" charset="2"/>
              </a:rPr>
              <a:t>⋈</a:t>
            </a:r>
            <a:r>
              <a:rPr lang="en-GB" sz="3800" baseline="-25000" dirty="0">
                <a:solidFill>
                  <a:schemeClr val="accent4">
                    <a:lumMod val="50000"/>
                  </a:schemeClr>
                </a:solidFill>
                <a:sym typeface="MT Extra" pitchFamily="18" charset="2"/>
              </a:rPr>
              <a:t>Quiz1.Score &gt; R1.Score</a:t>
            </a:r>
            <a:r>
              <a:rPr lang="en-GB" baseline="-25000" dirty="0">
                <a:solidFill>
                  <a:schemeClr val="accent4">
                    <a:lumMod val="50000"/>
                  </a:schemeClr>
                </a:solidFill>
                <a:sym typeface="MT Extra" pitchFamily="18" charset="2"/>
              </a:rPr>
              <a:t> </a:t>
            </a:r>
            <a:r>
              <a:rPr lang="en-GB" dirty="0">
                <a:solidFill>
                  <a:schemeClr val="accent4">
                    <a:lumMod val="50000"/>
                  </a:schemeClr>
                </a:solidFill>
                <a:sym typeface="MT Extra" pitchFamily="18" charset="2"/>
              </a:rPr>
              <a:t>R1</a:t>
            </a:r>
          </a:p>
          <a:p>
            <a:endParaRPr lang="en-GB" sz="1200" dirty="0">
              <a:solidFill>
                <a:schemeClr val="accent4">
                  <a:lumMod val="50000"/>
                </a:schemeClr>
              </a:solidFill>
              <a:sym typeface="MT Extra" pitchFamily="18" charset="2"/>
            </a:endParaRPr>
          </a:p>
          <a:p>
            <a:r>
              <a:rPr lang="en-GB" dirty="0">
                <a:solidFill>
                  <a:schemeClr val="accent4">
                    <a:lumMod val="50000"/>
                  </a:schemeClr>
                </a:solidFill>
                <a:sym typeface="MT Extra" pitchFamily="18" charset="2"/>
              </a:rPr>
              <a:t>R3 := </a:t>
            </a:r>
            <a:r>
              <a:rPr lang="en-US" b="1" dirty="0">
                <a:sym typeface="Symbol"/>
              </a:rPr>
              <a:t></a:t>
            </a:r>
            <a:r>
              <a:rPr lang="en-US" sz="3800" baseline="-25000" dirty="0">
                <a:sym typeface="Symbol"/>
              </a:rPr>
              <a:t>Name1, Score1</a:t>
            </a:r>
            <a:r>
              <a:rPr lang="en-US" baseline="-25000" dirty="0">
                <a:sym typeface="Symbol"/>
              </a:rPr>
              <a:t> </a:t>
            </a:r>
            <a:r>
              <a:rPr lang="en-US" dirty="0"/>
              <a:t>R2</a:t>
            </a:r>
          </a:p>
          <a:p>
            <a:endParaRPr lang="en-SG" dirty="0"/>
          </a:p>
        </p:txBody>
      </p:sp>
      <p:graphicFrame>
        <p:nvGraphicFramePr>
          <p:cNvPr id="4" name="Content Placeholder 3"/>
          <p:cNvGraphicFramePr>
            <a:graphicFrameLocks/>
          </p:cNvGraphicFramePr>
          <p:nvPr>
            <p:extLst/>
          </p:nvPr>
        </p:nvGraphicFramePr>
        <p:xfrm>
          <a:off x="467545" y="1790824"/>
          <a:ext cx="1656183"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1177340"/>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2771801" y="1790824"/>
          <a:ext cx="1656183" cy="74168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9" name="TextBox 8"/>
          <p:cNvSpPr txBox="1"/>
          <p:nvPr/>
        </p:nvSpPr>
        <p:spPr>
          <a:xfrm>
            <a:off x="2771800" y="1177340"/>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R1</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4860032" y="1020336"/>
          <a:ext cx="3960440" cy="1112520"/>
        </p:xfrm>
        <a:graphic>
          <a:graphicData uri="http://schemas.openxmlformats.org/drawingml/2006/table">
            <a:tbl>
              <a:tblPr firstRow="1" bandRow="1">
                <a:tableStyleId>{5C22544A-7EE6-4342-B048-85BDC9FD1C3A}</a:tableStyleId>
              </a:tblPr>
              <a:tblGrid>
                <a:gridCol w="1008113">
                  <a:extLst>
                    <a:ext uri="{9D8B030D-6E8A-4147-A177-3AD203B41FA5}">
                      <a16:colId xmlns:a16="http://schemas.microsoft.com/office/drawing/2014/main" val="20000"/>
                    </a:ext>
                  </a:extLst>
                </a:gridCol>
                <a:gridCol w="936103">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tblGrid>
              <a:tr h="370840">
                <a:tc>
                  <a:txBody>
                    <a:bodyPr/>
                    <a:lstStyle/>
                    <a:p>
                      <a:pPr algn="ctr"/>
                      <a:r>
                        <a:rPr lang="en-US" sz="2400" u="none" dirty="0">
                          <a:solidFill>
                            <a:schemeClr val="bg1"/>
                          </a:solidFill>
                          <a:latin typeface="Calibri" pitchFamily="34" charset="0"/>
                        </a:rPr>
                        <a:t>Name1</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Score1</a:t>
                      </a:r>
                      <a:endParaRPr lang="en-SG" sz="2400" dirty="0">
                        <a:latin typeface="Calibri" pitchFamily="34" charset="0"/>
                      </a:endParaRPr>
                    </a:p>
                  </a:txBody>
                  <a:tcPr marL="0" marR="0" marT="0" marB="0"/>
                </a:tc>
                <a:tc>
                  <a:txBody>
                    <a:bodyPr/>
                    <a:lstStyle/>
                    <a:p>
                      <a:pPr algn="ctr"/>
                      <a:r>
                        <a:rPr lang="en-US" sz="2400" u="none" dirty="0">
                          <a:solidFill>
                            <a:schemeClr val="bg1"/>
                          </a:solidFill>
                          <a:latin typeface="Calibri" pitchFamily="34" charset="0"/>
                        </a:rPr>
                        <a:t>Name2</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Score2</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11" name="TextBox 10"/>
          <p:cNvSpPr txBox="1"/>
          <p:nvPr/>
        </p:nvSpPr>
        <p:spPr>
          <a:xfrm>
            <a:off x="5220072" y="406852"/>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R2</a:t>
            </a:r>
            <a:endParaRPr lang="en-SG" sz="2800" b="1" dirty="0">
              <a:latin typeface="Calibri" pitchFamily="34" charset="0"/>
            </a:endParaRPr>
          </a:p>
        </p:txBody>
      </p:sp>
      <p:graphicFrame>
        <p:nvGraphicFramePr>
          <p:cNvPr id="12" name="Content Placeholder 3"/>
          <p:cNvGraphicFramePr>
            <a:graphicFrameLocks/>
          </p:cNvGraphicFramePr>
          <p:nvPr>
            <p:extLst/>
          </p:nvPr>
        </p:nvGraphicFramePr>
        <p:xfrm>
          <a:off x="6012160" y="2532504"/>
          <a:ext cx="1944216" cy="111252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Name1</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Score1</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13" name="TextBox 12"/>
          <p:cNvSpPr txBox="1"/>
          <p:nvPr/>
        </p:nvSpPr>
        <p:spPr>
          <a:xfrm>
            <a:off x="5292080" y="2855124"/>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R3</a:t>
            </a:r>
            <a:endParaRPr lang="en-SG" sz="2800" b="1" dirty="0">
              <a:latin typeface="Calibri" pitchFamily="34" charset="0"/>
            </a:endParaRPr>
          </a:p>
        </p:txBody>
      </p:sp>
    </p:spTree>
    <p:extLst>
      <p:ext uri="{BB962C8B-B14F-4D97-AF65-F5344CB8AC3E}">
        <p14:creationId xmlns:p14="http://schemas.microsoft.com/office/powerpoint/2010/main" val="195279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Duplicate Elimination </a:t>
            </a:r>
            <a:r>
              <a:rPr lang="en-US" dirty="0">
                <a:sym typeface="Symbol"/>
              </a:rPr>
              <a:t></a:t>
            </a:r>
            <a:endParaRPr lang="en-SG" dirty="0"/>
          </a:p>
        </p:txBody>
      </p:sp>
      <p:sp>
        <p:nvSpPr>
          <p:cNvPr id="3" name="Content Placeholder 2"/>
          <p:cNvSpPr>
            <a:spLocks noGrp="1"/>
          </p:cNvSpPr>
          <p:nvPr>
            <p:ph idx="1"/>
          </p:nvPr>
        </p:nvSpPr>
        <p:spPr>
          <a:xfrm>
            <a:off x="457200" y="3573016"/>
            <a:ext cx="8229600" cy="2557909"/>
          </a:xfrm>
        </p:spPr>
        <p:txBody>
          <a:bodyPr>
            <a:normAutofit fontScale="92500" lnSpcReduction="10000"/>
          </a:bodyPr>
          <a:lstStyle/>
          <a:p>
            <a:r>
              <a:rPr lang="en-US" dirty="0"/>
              <a:t>Effect: Eliminate duplicate tuples</a:t>
            </a:r>
          </a:p>
          <a:p>
            <a:r>
              <a:rPr lang="en-US" dirty="0"/>
              <a:t>Query: Find the list of products sold on 2016.01.01</a:t>
            </a:r>
          </a:p>
          <a:p>
            <a:r>
              <a:rPr lang="en-US" dirty="0">
                <a:sym typeface="Symbol"/>
              </a:rPr>
              <a:t>R1 :=</a:t>
            </a:r>
            <a:r>
              <a:rPr lang="en-US" b="1" dirty="0">
                <a:sym typeface="Symbol"/>
              </a:rPr>
              <a:t> </a:t>
            </a:r>
            <a:r>
              <a:rPr lang="en-US" baseline="-25000" dirty="0">
                <a:sym typeface="Symbol"/>
              </a:rPr>
              <a:t>Product </a:t>
            </a:r>
            <a:r>
              <a:rPr lang="en-US" dirty="0">
                <a:sym typeface="Symbol"/>
              </a:rPr>
              <a:t>(</a:t>
            </a:r>
            <a:r>
              <a:rPr lang="en-US" baseline="-25000" dirty="0">
                <a:sym typeface="Symbol"/>
              </a:rPr>
              <a:t>Date</a:t>
            </a:r>
            <a:r>
              <a:rPr lang="en-US" baseline="-25000">
                <a:sym typeface="Symbol"/>
              </a:rPr>
              <a:t>=‘2016.01.01</a:t>
            </a:r>
            <a:r>
              <a:rPr lang="en-US" baseline="-25000" dirty="0">
                <a:sym typeface="Symbol"/>
              </a:rPr>
              <a:t>’</a:t>
            </a:r>
            <a:r>
              <a:rPr lang="en-US" dirty="0">
                <a:sym typeface="Symbol"/>
              </a:rPr>
              <a:t> </a:t>
            </a:r>
            <a:r>
              <a:rPr lang="en-US" dirty="0"/>
              <a:t>Purchase</a:t>
            </a:r>
            <a:r>
              <a:rPr lang="en-US" dirty="0">
                <a:sym typeface="Symbol"/>
              </a:rPr>
              <a:t>)</a:t>
            </a:r>
          </a:p>
          <a:p>
            <a:r>
              <a:rPr lang="en-US" dirty="0">
                <a:sym typeface="Symbol"/>
              </a:rPr>
              <a:t>R2 :=</a:t>
            </a:r>
            <a:r>
              <a:rPr lang="en-US" b="1" dirty="0">
                <a:sym typeface="Symbol"/>
              </a:rPr>
              <a:t> </a:t>
            </a:r>
            <a:r>
              <a:rPr lang="en-US" dirty="0">
                <a:sym typeface="Symbol"/>
              </a:rPr>
              <a:t>(R1)</a:t>
            </a:r>
          </a:p>
          <a:p>
            <a:endParaRPr lang="en-US" dirty="0">
              <a:sym typeface="Symbol"/>
            </a:endParaRPr>
          </a:p>
          <a:p>
            <a:endParaRPr lang="en-SG" dirty="0"/>
          </a:p>
        </p:txBody>
      </p:sp>
      <p:graphicFrame>
        <p:nvGraphicFramePr>
          <p:cNvPr id="4" name="Content Placeholder 3"/>
          <p:cNvGraphicFramePr>
            <a:graphicFrameLocks/>
          </p:cNvGraphicFramePr>
          <p:nvPr>
            <p:extLst/>
          </p:nvPr>
        </p:nvGraphicFramePr>
        <p:xfrm>
          <a:off x="467545" y="1594212"/>
          <a:ext cx="3600399"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Product</a:t>
                      </a:r>
                      <a:endParaRPr lang="en-SG" sz="2400" dirty="0">
                        <a:latin typeface="Calibri" pitchFamily="34" charset="0"/>
                      </a:endParaRPr>
                    </a:p>
                  </a:txBody>
                  <a:tcPr marL="0" marR="0" marT="0" marB="0"/>
                </a:tc>
                <a:tc>
                  <a:txBody>
                    <a:bodyPr/>
                    <a:lstStyle/>
                    <a:p>
                      <a:pPr algn="ctr"/>
                      <a:r>
                        <a:rPr lang="en-US" sz="2400" dirty="0">
                          <a:latin typeface="Calibri" pitchFamily="34" charset="0"/>
                        </a:rPr>
                        <a:t>Date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tc>
                  <a:txBody>
                    <a:bodyPr/>
                    <a:lstStyle/>
                    <a:p>
                      <a:pPr algn="ctr"/>
                      <a:r>
                        <a:rPr lang="en-US" sz="2400" dirty="0">
                          <a:latin typeface="Calibri" pitchFamily="34" charset="0"/>
                        </a:rPr>
                        <a:t>2016.01.01</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Xbox</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2016.01.01</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2016.01.01</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Xbox</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2016.02.17</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8417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Purchase</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5076057" y="1594212"/>
          <a:ext cx="1152128" cy="148336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Product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Xbox</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bl>
          </a:graphicData>
        </a:graphic>
      </p:graphicFrame>
      <p:sp>
        <p:nvSpPr>
          <p:cNvPr id="7" name="TextBox 6"/>
          <p:cNvSpPr txBox="1"/>
          <p:nvPr/>
        </p:nvSpPr>
        <p:spPr>
          <a:xfrm>
            <a:off x="5076056" y="980728"/>
            <a:ext cx="57606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R1</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7236297" y="1594212"/>
          <a:ext cx="1152128" cy="111252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Product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Xbox</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9" name="TextBox 8"/>
          <p:cNvSpPr txBox="1"/>
          <p:nvPr/>
        </p:nvSpPr>
        <p:spPr>
          <a:xfrm>
            <a:off x="7236296" y="980728"/>
            <a:ext cx="57606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R2</a:t>
            </a:r>
            <a:endParaRPr lang="en-SG" sz="2800" b="1" dirty="0">
              <a:latin typeface="Calibri" pitchFamily="34" charset="0"/>
            </a:endParaRPr>
          </a:p>
        </p:txBody>
      </p:sp>
    </p:spTree>
    <p:extLst>
      <p:ext uri="{BB962C8B-B14F-4D97-AF65-F5344CB8AC3E}">
        <p14:creationId xmlns:p14="http://schemas.microsoft.com/office/powerpoint/2010/main" val="316361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Extended Projection </a:t>
            </a:r>
            <a:r>
              <a:rPr lang="en-US" dirty="0">
                <a:sym typeface="Symbol"/>
              </a:rPr>
              <a:t></a:t>
            </a:r>
            <a:endParaRPr lang="en-SG" dirty="0"/>
          </a:p>
        </p:txBody>
      </p:sp>
      <p:sp>
        <p:nvSpPr>
          <p:cNvPr id="3" name="Content Placeholder 2"/>
          <p:cNvSpPr>
            <a:spLocks noGrp="1"/>
          </p:cNvSpPr>
          <p:nvPr>
            <p:ph idx="1"/>
          </p:nvPr>
        </p:nvSpPr>
        <p:spPr>
          <a:xfrm>
            <a:off x="457200" y="3501008"/>
            <a:ext cx="8579296" cy="2629917"/>
          </a:xfrm>
        </p:spPr>
        <p:txBody>
          <a:bodyPr>
            <a:normAutofit fontScale="77500" lnSpcReduction="20000"/>
          </a:bodyPr>
          <a:lstStyle/>
          <a:p>
            <a:r>
              <a:rPr lang="en-US" dirty="0"/>
              <a:t>Similar to ordinary projection, but allows the creation of new attributes via arithmetic</a:t>
            </a:r>
          </a:p>
          <a:p>
            <a:r>
              <a:rPr lang="en-US" dirty="0"/>
              <a:t>Query: “For each student, find his/her total score in Quiz 1 and 2”</a:t>
            </a:r>
          </a:p>
          <a:p>
            <a:r>
              <a:rPr lang="en-US" dirty="0">
                <a:sym typeface="Symbol"/>
              </a:rPr>
              <a:t></a:t>
            </a:r>
            <a:r>
              <a:rPr lang="en-US" sz="3600" baseline="-25000" dirty="0">
                <a:sym typeface="Symbol"/>
              </a:rPr>
              <a:t>Name, </a:t>
            </a:r>
            <a:r>
              <a:rPr lang="en-US" sz="3600" baseline="-25000" dirty="0">
                <a:solidFill>
                  <a:srgbClr val="0000FF"/>
                </a:solidFill>
                <a:sym typeface="Symbol"/>
              </a:rPr>
              <a:t>Quiz1 + Quiz2 </a:t>
            </a:r>
            <a:r>
              <a:rPr lang="en-US" sz="3600" baseline="-25000" dirty="0">
                <a:solidFill>
                  <a:srgbClr val="0000FF"/>
                </a:solidFill>
                <a:sym typeface="Wingdings" pitchFamily="2" charset="2"/>
              </a:rPr>
              <a:t> Total</a:t>
            </a:r>
            <a:r>
              <a:rPr lang="en-US" dirty="0">
                <a:sym typeface="Wingdings" pitchFamily="2" charset="2"/>
              </a:rPr>
              <a:t> Scores</a:t>
            </a:r>
          </a:p>
          <a:p>
            <a:r>
              <a:rPr lang="en-US" dirty="0">
                <a:sym typeface="Wingdings" pitchFamily="2" charset="2"/>
              </a:rPr>
              <a:t>The left hand side of “” gives the arithmetic performed</a:t>
            </a:r>
          </a:p>
          <a:p>
            <a:r>
              <a:rPr lang="en-US" dirty="0">
                <a:sym typeface="Wingdings" pitchFamily="2" charset="2"/>
              </a:rPr>
              <a:t>The right hand side gives an attribute name to the result</a:t>
            </a:r>
            <a:endParaRPr lang="en-SG" dirty="0"/>
          </a:p>
        </p:txBody>
      </p:sp>
      <p:graphicFrame>
        <p:nvGraphicFramePr>
          <p:cNvPr id="4" name="Content Placeholder 3"/>
          <p:cNvGraphicFramePr>
            <a:graphicFrameLocks/>
          </p:cNvGraphicFramePr>
          <p:nvPr>
            <p:extLst/>
          </p:nvPr>
        </p:nvGraphicFramePr>
        <p:xfrm>
          <a:off x="467545" y="1594212"/>
          <a:ext cx="2664295"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Quiz1</a:t>
                      </a:r>
                      <a:endParaRPr lang="en-SG" sz="2400" dirty="0">
                        <a:latin typeface="Calibri" pitchFamily="34" charset="0"/>
                      </a:endParaRPr>
                    </a:p>
                  </a:txBody>
                  <a:tcPr marL="0" marR="0" marT="0" marB="0"/>
                </a:tc>
                <a:tc>
                  <a:txBody>
                    <a:bodyPr/>
                    <a:lstStyle/>
                    <a:p>
                      <a:pPr algn="ctr"/>
                      <a:r>
                        <a:rPr lang="en-US" sz="2400" dirty="0">
                          <a:latin typeface="Calibri" pitchFamily="34" charset="0"/>
                        </a:rPr>
                        <a:t>Quiz2</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Scores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4283969" y="1594212"/>
          <a:ext cx="1800199"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Total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160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170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190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8" name="TextBox 7"/>
          <p:cNvSpPr txBox="1"/>
          <p:nvPr/>
        </p:nvSpPr>
        <p:spPr>
          <a:xfrm>
            <a:off x="428396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1569708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Extended Projection </a:t>
            </a:r>
            <a:r>
              <a:rPr lang="en-US" dirty="0">
                <a:sym typeface="Symbol"/>
              </a:rPr>
              <a:t></a:t>
            </a:r>
            <a:endParaRPr lang="en-SG" dirty="0"/>
          </a:p>
        </p:txBody>
      </p:sp>
      <p:sp>
        <p:nvSpPr>
          <p:cNvPr id="3" name="Content Placeholder 2"/>
          <p:cNvSpPr>
            <a:spLocks noGrp="1"/>
          </p:cNvSpPr>
          <p:nvPr>
            <p:ph idx="1"/>
          </p:nvPr>
        </p:nvSpPr>
        <p:spPr>
          <a:xfrm>
            <a:off x="457200" y="3501008"/>
            <a:ext cx="8579296" cy="2629917"/>
          </a:xfrm>
        </p:spPr>
        <p:txBody>
          <a:bodyPr>
            <a:normAutofit lnSpcReduction="10000"/>
          </a:bodyPr>
          <a:lstStyle/>
          <a:p>
            <a:r>
              <a:rPr lang="en-US" dirty="0"/>
              <a:t>Similar to ordinary projection, but allows the creation of new attributes via arithmetic</a:t>
            </a:r>
          </a:p>
          <a:p>
            <a:r>
              <a:rPr lang="en-US" dirty="0"/>
              <a:t>Query: “For each student, find his/her average score in Quiz 1 and 2”</a:t>
            </a:r>
          </a:p>
          <a:p>
            <a:r>
              <a:rPr lang="en-US" dirty="0">
                <a:sym typeface="Symbol"/>
              </a:rPr>
              <a:t></a:t>
            </a:r>
            <a:r>
              <a:rPr lang="en-US" sz="3600" baseline="-25000" dirty="0">
                <a:sym typeface="Symbol"/>
              </a:rPr>
              <a:t>Name, </a:t>
            </a:r>
            <a:r>
              <a:rPr lang="en-US" sz="3600" baseline="-25000" dirty="0">
                <a:solidFill>
                  <a:srgbClr val="0000FF"/>
                </a:solidFill>
                <a:sym typeface="Symbol"/>
              </a:rPr>
              <a:t>(Quiz1 + Quiz2)/2 </a:t>
            </a:r>
            <a:r>
              <a:rPr lang="en-US" sz="3600" baseline="-25000" dirty="0">
                <a:solidFill>
                  <a:srgbClr val="0000FF"/>
                </a:solidFill>
                <a:sym typeface="Wingdings" pitchFamily="2" charset="2"/>
              </a:rPr>
              <a:t> Average</a:t>
            </a:r>
            <a:r>
              <a:rPr lang="en-US" dirty="0">
                <a:sym typeface="Wingdings" pitchFamily="2" charset="2"/>
              </a:rPr>
              <a:t> Scores</a:t>
            </a:r>
          </a:p>
          <a:p>
            <a:endParaRPr lang="en-SG" dirty="0"/>
          </a:p>
        </p:txBody>
      </p:sp>
      <p:graphicFrame>
        <p:nvGraphicFramePr>
          <p:cNvPr id="4" name="Content Placeholder 3"/>
          <p:cNvGraphicFramePr>
            <a:graphicFrameLocks/>
          </p:cNvGraphicFramePr>
          <p:nvPr>
            <p:extLst/>
          </p:nvPr>
        </p:nvGraphicFramePr>
        <p:xfrm>
          <a:off x="467545" y="1594212"/>
          <a:ext cx="2664295"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Quiz1</a:t>
                      </a:r>
                      <a:endParaRPr lang="en-SG" sz="2400" dirty="0">
                        <a:latin typeface="Calibri" pitchFamily="34" charset="0"/>
                      </a:endParaRPr>
                    </a:p>
                  </a:txBody>
                  <a:tcPr marL="0" marR="0" marT="0" marB="0"/>
                </a:tc>
                <a:tc>
                  <a:txBody>
                    <a:bodyPr/>
                    <a:lstStyle/>
                    <a:p>
                      <a:pPr algn="ctr"/>
                      <a:r>
                        <a:rPr lang="en-US" sz="2400" dirty="0">
                          <a:latin typeface="Calibri" pitchFamily="34" charset="0"/>
                        </a:rPr>
                        <a:t>Quiz2</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Scores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4283969" y="1594212"/>
          <a:ext cx="2160239"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Average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85</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95</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8" name="TextBox 7"/>
          <p:cNvSpPr txBox="1"/>
          <p:nvPr/>
        </p:nvSpPr>
        <p:spPr>
          <a:xfrm>
            <a:off x="428396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208396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Coming Next</a:t>
            </a:r>
            <a:endParaRPr lang="en-SG" dirty="0"/>
          </a:p>
        </p:txBody>
      </p:sp>
      <p:sp>
        <p:nvSpPr>
          <p:cNvPr id="3" name="Content Placeholder 2"/>
          <p:cNvSpPr>
            <a:spLocks noGrp="1"/>
          </p:cNvSpPr>
          <p:nvPr>
            <p:ph idx="1"/>
          </p:nvPr>
        </p:nvSpPr>
        <p:spPr/>
        <p:txBody>
          <a:bodyPr>
            <a:normAutofit/>
          </a:bodyPr>
          <a:lstStyle/>
          <a:p>
            <a:r>
              <a:rPr lang="en-US" dirty="0"/>
              <a:t>Grouping and Aggregation: </a:t>
            </a:r>
            <a:r>
              <a:rPr lang="en-US" b="1" dirty="0">
                <a:solidFill>
                  <a:srgbClr val="0000FF"/>
                </a:solidFill>
                <a:sym typeface="Symbol"/>
              </a:rPr>
              <a:t></a:t>
            </a:r>
            <a:endParaRPr lang="en-US" b="1" dirty="0">
              <a:solidFill>
                <a:srgbClr val="0000FF"/>
              </a:solidFill>
            </a:endParaRPr>
          </a:p>
          <a:p>
            <a:r>
              <a:rPr lang="en-US" dirty="0"/>
              <a:t>Division: </a:t>
            </a:r>
            <a:r>
              <a:rPr lang="en-US" b="1" dirty="0">
                <a:solidFill>
                  <a:srgbClr val="0000FF"/>
                </a:solidFill>
                <a:sym typeface="Symbol"/>
              </a:rPr>
              <a:t></a:t>
            </a:r>
          </a:p>
          <a:p>
            <a:r>
              <a:rPr lang="en-US" dirty="0" err="1">
                <a:sym typeface="Symbol"/>
              </a:rPr>
              <a:t>Outerjoin</a:t>
            </a:r>
            <a:r>
              <a:rPr lang="en-US" dirty="0">
                <a:sym typeface="Symbol"/>
              </a:rPr>
              <a:t>: </a:t>
            </a:r>
            <a:r>
              <a:rPr lang="en-GB" dirty="0">
                <a:solidFill>
                  <a:srgbClr val="0000FF"/>
                </a:solidFill>
                <a:sym typeface="MT Extra" pitchFamily="18" charset="2"/>
              </a:rPr>
              <a:t>⋈</a:t>
            </a:r>
            <a:endParaRPr lang="en-US" dirty="0">
              <a:solidFill>
                <a:srgbClr val="0000FF"/>
              </a:solidFill>
              <a:sym typeface="Symbol"/>
            </a:endParaRPr>
          </a:p>
          <a:p>
            <a:endParaRPr lang="en-SG" dirty="0"/>
          </a:p>
        </p:txBody>
      </p:sp>
      <p:sp>
        <p:nvSpPr>
          <p:cNvPr id="5" name="Rectangle 4"/>
          <p:cNvSpPr/>
          <p:nvPr/>
        </p:nvSpPr>
        <p:spPr>
          <a:xfrm>
            <a:off x="2656065" y="2708920"/>
            <a:ext cx="369012" cy="646331"/>
          </a:xfrm>
          <a:prstGeom prst="rect">
            <a:avLst/>
          </a:prstGeom>
        </p:spPr>
        <p:txBody>
          <a:bodyPr wrap="none">
            <a:spAutoFit/>
          </a:bodyPr>
          <a:lstStyle/>
          <a:p>
            <a:r>
              <a:rPr lang="en-GB" sz="3600" dirty="0">
                <a:solidFill>
                  <a:srgbClr val="0000FF"/>
                </a:solidFill>
                <a:latin typeface="Calibri" pitchFamily="34" charset="0"/>
                <a:sym typeface="Symbol"/>
              </a:rPr>
              <a:t></a:t>
            </a:r>
            <a:endParaRPr lang="en-SG" sz="3600" dirty="0">
              <a:solidFill>
                <a:srgbClr val="0000FF"/>
              </a:solidFill>
              <a:latin typeface="Calibri" pitchFamily="34" charset="0"/>
            </a:endParaRPr>
          </a:p>
        </p:txBody>
      </p:sp>
    </p:spTree>
    <p:extLst>
      <p:ext uri="{BB962C8B-B14F-4D97-AF65-F5344CB8AC3E}">
        <p14:creationId xmlns:p14="http://schemas.microsoft.com/office/powerpoint/2010/main" val="2268830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and Aggregation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lstStyle/>
          <a:p>
            <a:r>
              <a:rPr lang="en-US" dirty="0"/>
              <a:t>Query: “Find the highest score in Quiz1”</a:t>
            </a:r>
          </a:p>
          <a:p>
            <a:r>
              <a:rPr lang="en-US" dirty="0">
                <a:sym typeface="Symbol"/>
              </a:rPr>
              <a:t></a:t>
            </a:r>
            <a:r>
              <a:rPr lang="en-US" baseline="-25000" dirty="0">
                <a:solidFill>
                  <a:srgbClr val="0000FF"/>
                </a:solidFill>
                <a:sym typeface="Symbol"/>
              </a:rPr>
              <a:t>MAX(Score)</a:t>
            </a:r>
            <a:r>
              <a:rPr lang="en-US" baseline="-25000" dirty="0">
                <a:sym typeface="Symbol"/>
              </a:rPr>
              <a:t> </a:t>
            </a:r>
            <a:r>
              <a:rPr lang="en-US" baseline="-25000" dirty="0">
                <a:sym typeface="Wingdings" pitchFamily="2" charset="2"/>
              </a:rPr>
              <a:t> </a:t>
            </a:r>
            <a:r>
              <a:rPr lang="en-US" baseline="-25000" dirty="0" err="1">
                <a:sym typeface="Wingdings" pitchFamily="2" charset="2"/>
              </a:rPr>
              <a:t>MaxScore</a:t>
            </a:r>
            <a:r>
              <a:rPr lang="en-US" dirty="0">
                <a:sym typeface="Wingdings" pitchFamily="2" charset="2"/>
              </a:rPr>
              <a:t> Quiz1</a:t>
            </a:r>
          </a:p>
          <a:p>
            <a:r>
              <a:rPr lang="en-US" dirty="0">
                <a:sym typeface="Wingdings" pitchFamily="2" charset="2"/>
              </a:rPr>
              <a:t>The attribute name on right hand side of “” can be arbitrary</a:t>
            </a:r>
            <a:endParaRPr lang="en-SG" dirty="0"/>
          </a:p>
        </p:txBody>
      </p:sp>
      <p:graphicFrame>
        <p:nvGraphicFramePr>
          <p:cNvPr id="4" name="Content Placeholder 3"/>
          <p:cNvGraphicFramePr>
            <a:graphicFrameLocks/>
          </p:cNvGraphicFramePr>
          <p:nvPr>
            <p:extLst/>
          </p:nvPr>
        </p:nvGraphicFramePr>
        <p:xfrm>
          <a:off x="467545" y="1594212"/>
          <a:ext cx="2736303"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4283969" y="1594212"/>
          <a:ext cx="1368151" cy="741680"/>
        </p:xfrm>
        <a:graphic>
          <a:graphicData uri="http://schemas.openxmlformats.org/drawingml/2006/table">
            <a:tbl>
              <a:tblPr firstRow="1" bandRow="1">
                <a:tableStyleId>{5C22544A-7EE6-4342-B048-85BDC9FD1C3A}</a:tableStyleId>
              </a:tblPr>
              <a:tblGrid>
                <a:gridCol w="1368151">
                  <a:extLst>
                    <a:ext uri="{9D8B030D-6E8A-4147-A177-3AD203B41FA5}">
                      <a16:colId xmlns:a16="http://schemas.microsoft.com/office/drawing/2014/main" val="20000"/>
                    </a:ext>
                  </a:extLst>
                </a:gridCol>
              </a:tblGrid>
              <a:tr h="370840">
                <a:tc>
                  <a:txBody>
                    <a:bodyPr/>
                    <a:lstStyle/>
                    <a:p>
                      <a:pPr algn="ctr"/>
                      <a:r>
                        <a:rPr lang="en-US" sz="2400" dirty="0" err="1">
                          <a:latin typeface="Calibri" pitchFamily="34" charset="0"/>
                        </a:rPr>
                        <a:t>MaxScore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11" name="TextBox 10"/>
          <p:cNvSpPr txBox="1"/>
          <p:nvPr/>
        </p:nvSpPr>
        <p:spPr>
          <a:xfrm>
            <a:off x="428396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115807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and Aggregation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lstStyle/>
          <a:p>
            <a:r>
              <a:rPr lang="en-US" dirty="0"/>
              <a:t>Query: “Find the lowest score in Quiz1”</a:t>
            </a:r>
          </a:p>
          <a:p>
            <a:r>
              <a:rPr lang="en-US" dirty="0">
                <a:sym typeface="Symbol"/>
              </a:rPr>
              <a:t></a:t>
            </a:r>
            <a:r>
              <a:rPr lang="en-US" baseline="-25000" dirty="0">
                <a:solidFill>
                  <a:srgbClr val="0000FF"/>
                </a:solidFill>
                <a:sym typeface="Symbol"/>
              </a:rPr>
              <a:t>MIN(Score)</a:t>
            </a:r>
            <a:r>
              <a:rPr lang="en-US" baseline="-25000" dirty="0">
                <a:sym typeface="Symbol"/>
              </a:rPr>
              <a:t> </a:t>
            </a:r>
            <a:r>
              <a:rPr lang="en-US" baseline="-25000" dirty="0">
                <a:sym typeface="Wingdings" pitchFamily="2" charset="2"/>
              </a:rPr>
              <a:t> </a:t>
            </a:r>
            <a:r>
              <a:rPr lang="en-US" baseline="-25000" dirty="0" err="1">
                <a:sym typeface="Wingdings" pitchFamily="2" charset="2"/>
              </a:rPr>
              <a:t>MinScore</a:t>
            </a:r>
            <a:r>
              <a:rPr lang="en-US" dirty="0">
                <a:sym typeface="Wingdings" pitchFamily="2" charset="2"/>
              </a:rPr>
              <a:t> Quiz1</a:t>
            </a:r>
            <a:endParaRPr lang="en-SG" dirty="0"/>
          </a:p>
        </p:txBody>
      </p:sp>
      <p:graphicFrame>
        <p:nvGraphicFramePr>
          <p:cNvPr id="4" name="Content Placeholder 3"/>
          <p:cNvGraphicFramePr>
            <a:graphicFrameLocks/>
          </p:cNvGraphicFramePr>
          <p:nvPr>
            <p:extLst/>
          </p:nvPr>
        </p:nvGraphicFramePr>
        <p:xfrm>
          <a:off x="467545" y="1594212"/>
          <a:ext cx="2736303"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4283969" y="1594212"/>
          <a:ext cx="1368151" cy="741680"/>
        </p:xfrm>
        <a:graphic>
          <a:graphicData uri="http://schemas.openxmlformats.org/drawingml/2006/table">
            <a:tbl>
              <a:tblPr firstRow="1" bandRow="1">
                <a:tableStyleId>{5C22544A-7EE6-4342-B048-85BDC9FD1C3A}</a:tableStyleId>
              </a:tblPr>
              <a:tblGrid>
                <a:gridCol w="1368151">
                  <a:extLst>
                    <a:ext uri="{9D8B030D-6E8A-4147-A177-3AD203B41FA5}">
                      <a16:colId xmlns:a16="http://schemas.microsoft.com/office/drawing/2014/main" val="20000"/>
                    </a:ext>
                  </a:extLst>
                </a:gridCol>
              </a:tblGrid>
              <a:tr h="370840">
                <a:tc>
                  <a:txBody>
                    <a:bodyPr/>
                    <a:lstStyle/>
                    <a:p>
                      <a:pPr algn="ctr"/>
                      <a:r>
                        <a:rPr lang="en-US" sz="2400" dirty="0" err="1">
                          <a:latin typeface="Calibri" pitchFamily="34" charset="0"/>
                        </a:rPr>
                        <a:t>MinScore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11" name="TextBox 10"/>
          <p:cNvSpPr txBox="1"/>
          <p:nvPr/>
        </p:nvSpPr>
        <p:spPr>
          <a:xfrm>
            <a:off x="428396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2124004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and Aggregation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normAutofit/>
          </a:bodyPr>
          <a:lstStyle/>
          <a:p>
            <a:r>
              <a:rPr lang="en-US" dirty="0"/>
              <a:t>Query: “Find the average score in Quiz1”</a:t>
            </a:r>
          </a:p>
          <a:p>
            <a:r>
              <a:rPr lang="en-US" dirty="0">
                <a:sym typeface="Symbol"/>
              </a:rPr>
              <a:t></a:t>
            </a:r>
            <a:r>
              <a:rPr lang="en-US" baseline="-25000" dirty="0">
                <a:solidFill>
                  <a:srgbClr val="0000FF"/>
                </a:solidFill>
                <a:sym typeface="Symbol"/>
              </a:rPr>
              <a:t>AVG(Score)</a:t>
            </a:r>
            <a:r>
              <a:rPr lang="en-US" baseline="-25000" dirty="0">
                <a:sym typeface="Symbol"/>
              </a:rPr>
              <a:t> </a:t>
            </a:r>
            <a:r>
              <a:rPr lang="en-US" baseline="-25000" dirty="0">
                <a:sym typeface="Wingdings" pitchFamily="2" charset="2"/>
              </a:rPr>
              <a:t> </a:t>
            </a:r>
            <a:r>
              <a:rPr lang="en-US" baseline="-25000" dirty="0" err="1">
                <a:sym typeface="Wingdings" pitchFamily="2" charset="2"/>
              </a:rPr>
              <a:t>AvgScore</a:t>
            </a:r>
            <a:r>
              <a:rPr lang="en-US" dirty="0">
                <a:sym typeface="Wingdings" pitchFamily="2" charset="2"/>
              </a:rPr>
              <a:t> Quiz1</a:t>
            </a:r>
          </a:p>
        </p:txBody>
      </p:sp>
      <p:graphicFrame>
        <p:nvGraphicFramePr>
          <p:cNvPr id="4" name="Content Placeholder 3"/>
          <p:cNvGraphicFramePr>
            <a:graphicFrameLocks/>
          </p:cNvGraphicFramePr>
          <p:nvPr>
            <p:extLst/>
          </p:nvPr>
        </p:nvGraphicFramePr>
        <p:xfrm>
          <a:off x="467545" y="1594212"/>
          <a:ext cx="2736303"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4283969" y="1594212"/>
          <a:ext cx="1368151" cy="741680"/>
        </p:xfrm>
        <a:graphic>
          <a:graphicData uri="http://schemas.openxmlformats.org/drawingml/2006/table">
            <a:tbl>
              <a:tblPr firstRow="1" bandRow="1">
                <a:tableStyleId>{5C22544A-7EE6-4342-B048-85BDC9FD1C3A}</a:tableStyleId>
              </a:tblPr>
              <a:tblGrid>
                <a:gridCol w="1368151">
                  <a:extLst>
                    <a:ext uri="{9D8B030D-6E8A-4147-A177-3AD203B41FA5}">
                      <a16:colId xmlns:a16="http://schemas.microsoft.com/office/drawing/2014/main" val="20000"/>
                    </a:ext>
                  </a:extLst>
                </a:gridCol>
              </a:tblGrid>
              <a:tr h="370840">
                <a:tc>
                  <a:txBody>
                    <a:bodyPr/>
                    <a:lstStyle/>
                    <a:p>
                      <a:pPr algn="ctr"/>
                      <a:r>
                        <a:rPr lang="en-US" sz="2400" dirty="0" err="1">
                          <a:latin typeface="Calibri" pitchFamily="34" charset="0"/>
                        </a:rPr>
                        <a:t>AvgScore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11" name="TextBox 10"/>
          <p:cNvSpPr txBox="1"/>
          <p:nvPr/>
        </p:nvSpPr>
        <p:spPr>
          <a:xfrm>
            <a:off x="428396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414842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and Aggregation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normAutofit/>
          </a:bodyPr>
          <a:lstStyle/>
          <a:p>
            <a:r>
              <a:rPr lang="en-US" dirty="0"/>
              <a:t>Query: “Find the sum of  scores in Quiz1”</a:t>
            </a:r>
          </a:p>
          <a:p>
            <a:r>
              <a:rPr lang="en-US" dirty="0">
                <a:sym typeface="Symbol"/>
              </a:rPr>
              <a:t></a:t>
            </a:r>
            <a:r>
              <a:rPr lang="en-US" baseline="-25000" dirty="0">
                <a:solidFill>
                  <a:srgbClr val="0000FF"/>
                </a:solidFill>
                <a:sym typeface="Symbol"/>
              </a:rPr>
              <a:t>SUM(Score)</a:t>
            </a:r>
            <a:r>
              <a:rPr lang="en-US" baseline="-25000" dirty="0">
                <a:sym typeface="Symbol"/>
              </a:rPr>
              <a:t> </a:t>
            </a:r>
            <a:r>
              <a:rPr lang="en-US" baseline="-25000" dirty="0">
                <a:sym typeface="Wingdings" pitchFamily="2" charset="2"/>
              </a:rPr>
              <a:t> </a:t>
            </a:r>
            <a:r>
              <a:rPr lang="en-US" baseline="-25000" dirty="0" err="1">
                <a:sym typeface="Wingdings" pitchFamily="2" charset="2"/>
              </a:rPr>
              <a:t>SumScore</a:t>
            </a:r>
            <a:r>
              <a:rPr lang="en-US" dirty="0">
                <a:sym typeface="Wingdings" pitchFamily="2" charset="2"/>
              </a:rPr>
              <a:t> Quiz1</a:t>
            </a:r>
          </a:p>
        </p:txBody>
      </p:sp>
      <p:graphicFrame>
        <p:nvGraphicFramePr>
          <p:cNvPr id="4" name="Content Placeholder 3"/>
          <p:cNvGraphicFramePr>
            <a:graphicFrameLocks/>
          </p:cNvGraphicFramePr>
          <p:nvPr>
            <p:extLst/>
          </p:nvPr>
        </p:nvGraphicFramePr>
        <p:xfrm>
          <a:off x="467545" y="1594212"/>
          <a:ext cx="2736303"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4283969" y="1594212"/>
          <a:ext cx="1368151" cy="741680"/>
        </p:xfrm>
        <a:graphic>
          <a:graphicData uri="http://schemas.openxmlformats.org/drawingml/2006/table">
            <a:tbl>
              <a:tblPr firstRow="1" bandRow="1">
                <a:tableStyleId>{5C22544A-7EE6-4342-B048-85BDC9FD1C3A}</a:tableStyleId>
              </a:tblPr>
              <a:tblGrid>
                <a:gridCol w="1368151">
                  <a:extLst>
                    <a:ext uri="{9D8B030D-6E8A-4147-A177-3AD203B41FA5}">
                      <a16:colId xmlns:a16="http://schemas.microsoft.com/office/drawing/2014/main" val="20000"/>
                    </a:ext>
                  </a:extLst>
                </a:gridCol>
              </a:tblGrid>
              <a:tr h="370840">
                <a:tc>
                  <a:txBody>
                    <a:bodyPr/>
                    <a:lstStyle/>
                    <a:p>
                      <a:pPr algn="ctr"/>
                      <a:r>
                        <a:rPr lang="en-US" sz="2400" dirty="0" err="1">
                          <a:latin typeface="Calibri" pitchFamily="34" charset="0"/>
                        </a:rPr>
                        <a:t>SumScore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360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11" name="TextBox 10"/>
          <p:cNvSpPr txBox="1"/>
          <p:nvPr/>
        </p:nvSpPr>
        <p:spPr>
          <a:xfrm>
            <a:off x="428396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259737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and Aggregation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normAutofit fontScale="85000" lnSpcReduction="20000"/>
          </a:bodyPr>
          <a:lstStyle/>
          <a:p>
            <a:r>
              <a:rPr lang="en-US" dirty="0"/>
              <a:t>Query: “Find the number of students in Quiz1”</a:t>
            </a:r>
          </a:p>
          <a:p>
            <a:r>
              <a:rPr lang="en-US" dirty="0">
                <a:sym typeface="Symbol"/>
              </a:rPr>
              <a:t></a:t>
            </a:r>
            <a:r>
              <a:rPr lang="en-US" baseline="-25000" dirty="0">
                <a:solidFill>
                  <a:srgbClr val="0000FF"/>
                </a:solidFill>
                <a:sym typeface="Symbol"/>
              </a:rPr>
              <a:t>COUNT(Name)</a:t>
            </a:r>
            <a:r>
              <a:rPr lang="en-US" baseline="-25000" dirty="0">
                <a:sym typeface="Symbol"/>
              </a:rPr>
              <a:t> </a:t>
            </a:r>
            <a:r>
              <a:rPr lang="en-US" baseline="-25000" dirty="0">
                <a:sym typeface="Wingdings" pitchFamily="2" charset="2"/>
              </a:rPr>
              <a:t> </a:t>
            </a:r>
            <a:r>
              <a:rPr lang="en-US" baseline="-25000" dirty="0" err="1">
                <a:sym typeface="Wingdings" pitchFamily="2" charset="2"/>
              </a:rPr>
              <a:t>NumStu</a:t>
            </a:r>
            <a:r>
              <a:rPr lang="en-US" dirty="0">
                <a:sym typeface="Wingdings" pitchFamily="2" charset="2"/>
              </a:rPr>
              <a:t> Quiz1</a:t>
            </a:r>
          </a:p>
          <a:p>
            <a:r>
              <a:rPr lang="en-US" dirty="0">
                <a:sym typeface="Symbol"/>
              </a:rPr>
              <a:t></a:t>
            </a:r>
            <a:r>
              <a:rPr lang="en-US" baseline="-25000" dirty="0">
                <a:solidFill>
                  <a:srgbClr val="0000FF"/>
                </a:solidFill>
                <a:sym typeface="Symbol"/>
              </a:rPr>
              <a:t>COUNT(School)</a:t>
            </a:r>
            <a:r>
              <a:rPr lang="en-US" baseline="-25000" dirty="0">
                <a:sym typeface="Symbol"/>
              </a:rPr>
              <a:t> </a:t>
            </a:r>
            <a:r>
              <a:rPr lang="en-US" baseline="-25000" dirty="0">
                <a:sym typeface="Wingdings" pitchFamily="2" charset="2"/>
              </a:rPr>
              <a:t> </a:t>
            </a:r>
            <a:r>
              <a:rPr lang="en-US" baseline="-25000" dirty="0" err="1">
                <a:sym typeface="Wingdings" pitchFamily="2" charset="2"/>
              </a:rPr>
              <a:t>NumStu</a:t>
            </a:r>
            <a:r>
              <a:rPr lang="en-US" dirty="0">
                <a:sym typeface="Wingdings" pitchFamily="2" charset="2"/>
              </a:rPr>
              <a:t> Quiz1</a:t>
            </a:r>
          </a:p>
          <a:p>
            <a:r>
              <a:rPr lang="en-US" dirty="0">
                <a:sym typeface="Symbol"/>
              </a:rPr>
              <a:t></a:t>
            </a:r>
            <a:r>
              <a:rPr lang="en-US" baseline="-25000" dirty="0">
                <a:solidFill>
                  <a:srgbClr val="0000FF"/>
                </a:solidFill>
                <a:sym typeface="Symbol"/>
              </a:rPr>
              <a:t>COUNT(Score)</a:t>
            </a:r>
            <a:r>
              <a:rPr lang="en-US" baseline="-25000" dirty="0">
                <a:sym typeface="Symbol"/>
              </a:rPr>
              <a:t> </a:t>
            </a:r>
            <a:r>
              <a:rPr lang="en-US" baseline="-25000" dirty="0">
                <a:sym typeface="Wingdings" pitchFamily="2" charset="2"/>
              </a:rPr>
              <a:t> </a:t>
            </a:r>
            <a:r>
              <a:rPr lang="en-US" baseline="-25000" dirty="0" err="1">
                <a:sym typeface="Wingdings" pitchFamily="2" charset="2"/>
              </a:rPr>
              <a:t>NumStu</a:t>
            </a:r>
            <a:r>
              <a:rPr lang="en-US" dirty="0">
                <a:sym typeface="Wingdings" pitchFamily="2" charset="2"/>
              </a:rPr>
              <a:t> Quiz1</a:t>
            </a:r>
          </a:p>
          <a:p>
            <a:r>
              <a:rPr lang="en-US" dirty="0">
                <a:sym typeface="Wingdings" pitchFamily="2" charset="2"/>
              </a:rPr>
              <a:t>All three queries above give the number of tuples in Quiz1</a:t>
            </a:r>
          </a:p>
        </p:txBody>
      </p:sp>
      <p:graphicFrame>
        <p:nvGraphicFramePr>
          <p:cNvPr id="4" name="Content Placeholder 3"/>
          <p:cNvGraphicFramePr>
            <a:graphicFrameLocks/>
          </p:cNvGraphicFramePr>
          <p:nvPr>
            <p:extLst/>
          </p:nvPr>
        </p:nvGraphicFramePr>
        <p:xfrm>
          <a:off x="467545" y="1594212"/>
          <a:ext cx="2736303"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4283969" y="1594212"/>
          <a:ext cx="1368151" cy="741680"/>
        </p:xfrm>
        <a:graphic>
          <a:graphicData uri="http://schemas.openxmlformats.org/drawingml/2006/table">
            <a:tbl>
              <a:tblPr firstRow="1" bandRow="1">
                <a:tableStyleId>{5C22544A-7EE6-4342-B048-85BDC9FD1C3A}</a:tableStyleId>
              </a:tblPr>
              <a:tblGrid>
                <a:gridCol w="1368151">
                  <a:extLst>
                    <a:ext uri="{9D8B030D-6E8A-4147-A177-3AD203B41FA5}">
                      <a16:colId xmlns:a16="http://schemas.microsoft.com/office/drawing/2014/main" val="20000"/>
                    </a:ext>
                  </a:extLst>
                </a:gridCol>
              </a:tblGrid>
              <a:tr h="370840">
                <a:tc>
                  <a:txBody>
                    <a:bodyPr/>
                    <a:lstStyle/>
                    <a:p>
                      <a:pPr algn="ctr"/>
                      <a:r>
                        <a:rPr lang="en-US" sz="2400" dirty="0" err="1">
                          <a:latin typeface="Calibri" pitchFamily="34" charset="0"/>
                        </a:rPr>
                        <a:t>NumStu</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4</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11" name="TextBox 10"/>
          <p:cNvSpPr txBox="1"/>
          <p:nvPr/>
        </p:nvSpPr>
        <p:spPr>
          <a:xfrm>
            <a:off x="428396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Tree>
    <p:extLst>
      <p:ext uri="{BB962C8B-B14F-4D97-AF65-F5344CB8AC3E}">
        <p14:creationId xmlns:p14="http://schemas.microsoft.com/office/powerpoint/2010/main" val="26699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Aggregate Functions</a:t>
            </a:r>
            <a:endParaRPr lang="en-SG" dirty="0"/>
          </a:p>
        </p:txBody>
      </p:sp>
      <p:sp>
        <p:nvSpPr>
          <p:cNvPr id="3" name="Content Placeholder 2"/>
          <p:cNvSpPr>
            <a:spLocks noGrp="1"/>
          </p:cNvSpPr>
          <p:nvPr>
            <p:ph idx="1"/>
          </p:nvPr>
        </p:nvSpPr>
        <p:spPr/>
        <p:txBody>
          <a:bodyPr/>
          <a:lstStyle/>
          <a:p>
            <a:r>
              <a:rPr lang="en-US" dirty="0"/>
              <a:t>MAX( … )</a:t>
            </a:r>
            <a:endParaRPr lang="en-SG" dirty="0"/>
          </a:p>
          <a:p>
            <a:r>
              <a:rPr lang="en-US" dirty="0"/>
              <a:t>MIN( … )</a:t>
            </a:r>
          </a:p>
          <a:p>
            <a:r>
              <a:rPr lang="en-US" dirty="0"/>
              <a:t>AVG( … )</a:t>
            </a:r>
          </a:p>
          <a:p>
            <a:r>
              <a:rPr lang="en-US" dirty="0"/>
              <a:t>SUM( … )</a:t>
            </a:r>
          </a:p>
          <a:p>
            <a:r>
              <a:rPr lang="en-US" dirty="0"/>
              <a:t>COUNT( … )</a:t>
            </a:r>
          </a:p>
          <a:p>
            <a:endParaRPr lang="en-US" dirty="0"/>
          </a:p>
        </p:txBody>
      </p:sp>
    </p:spTree>
    <p:extLst>
      <p:ext uri="{BB962C8B-B14F-4D97-AF65-F5344CB8AC3E}">
        <p14:creationId xmlns:p14="http://schemas.microsoft.com/office/powerpoint/2010/main" val="3462021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and Aggregation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normAutofit lnSpcReduction="10000"/>
          </a:bodyPr>
          <a:lstStyle/>
          <a:p>
            <a:r>
              <a:rPr lang="en-US" dirty="0"/>
              <a:t>Query: “Find the average GPA in each school”</a:t>
            </a:r>
          </a:p>
          <a:p>
            <a:r>
              <a:rPr lang="en-US" dirty="0">
                <a:sym typeface="Symbol"/>
              </a:rPr>
              <a:t></a:t>
            </a:r>
            <a:r>
              <a:rPr lang="en-US" baseline="-25000" dirty="0">
                <a:sym typeface="Symbol"/>
              </a:rPr>
              <a:t>School, AVG(GPA) </a:t>
            </a:r>
            <a:r>
              <a:rPr lang="en-US" baseline="-25000" dirty="0">
                <a:sym typeface="Wingdings" pitchFamily="2" charset="2"/>
              </a:rPr>
              <a:t> </a:t>
            </a:r>
            <a:r>
              <a:rPr lang="en-US" baseline="-25000" dirty="0" err="1">
                <a:sym typeface="Wingdings" pitchFamily="2" charset="2"/>
              </a:rPr>
              <a:t>AvgGPA</a:t>
            </a:r>
            <a:r>
              <a:rPr lang="en-US" dirty="0">
                <a:sym typeface="Wingdings" pitchFamily="2" charset="2"/>
              </a:rPr>
              <a:t> Quiz1</a:t>
            </a:r>
          </a:p>
          <a:p>
            <a:r>
              <a:rPr lang="en-US" dirty="0">
                <a:sym typeface="Wingdings" pitchFamily="2" charset="2"/>
              </a:rPr>
              <a:t>Effect: Divide tuples into separate groups based on their “School” value, and then compute the average GPA in each group</a:t>
            </a:r>
          </a:p>
        </p:txBody>
      </p:sp>
      <p:graphicFrame>
        <p:nvGraphicFramePr>
          <p:cNvPr id="4" name="Content Placeholder 3"/>
          <p:cNvGraphicFramePr>
            <a:graphicFrameLocks/>
          </p:cNvGraphicFramePr>
          <p:nvPr>
            <p:extLst/>
          </p:nvPr>
        </p:nvGraphicFramePr>
        <p:xfrm>
          <a:off x="467545" y="1594212"/>
          <a:ext cx="2736303"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GPA</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4</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r>
                        <a:rPr lang="en-US" altLang="zh-CN" sz="2400" dirty="0">
                          <a:latin typeface="Calibri" pitchFamily="34" charset="0"/>
                        </a:rPr>
                        <a:t>4</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r>
                        <a:rPr lang="en-US" altLang="zh-CN" sz="2400" dirty="0">
                          <a:latin typeface="Calibri" pitchFamily="34" charset="0"/>
                        </a:rPr>
                        <a:t>6</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sp>
        <p:nvSpPr>
          <p:cNvPr id="11" name="TextBox 10"/>
          <p:cNvSpPr txBox="1"/>
          <p:nvPr/>
        </p:nvSpPr>
        <p:spPr>
          <a:xfrm>
            <a:off x="428396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4283969" y="1574800"/>
          <a:ext cx="2088231" cy="111252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0000"/>
                    </a:ext>
                  </a:extLst>
                </a:gridCol>
                <a:gridCol w="1152127">
                  <a:extLst>
                    <a:ext uri="{9D8B030D-6E8A-4147-A177-3AD203B41FA5}">
                      <a16:colId xmlns:a16="http://schemas.microsoft.com/office/drawing/2014/main" val="20001"/>
                    </a:ext>
                  </a:extLst>
                </a:gridCol>
              </a:tblGrid>
              <a:tr h="370840">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err="1">
                          <a:latin typeface="Calibri" pitchFamily="34" charset="0"/>
                        </a:rPr>
                        <a:t>AvgGPA</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altLang="zh-CN" sz="2400" dirty="0">
                          <a:latin typeface="Calibri" pitchFamily="34" charset="0"/>
                        </a:rPr>
                        <a:t>3.8</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r>
                        <a:rPr lang="en-US" altLang="zh-CN" sz="2400" dirty="0">
                          <a:latin typeface="Calibri" pitchFamily="34" charset="0"/>
                        </a:rPr>
                        <a:t>.2</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7291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and Aggregation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normAutofit/>
          </a:bodyPr>
          <a:lstStyle/>
          <a:p>
            <a:r>
              <a:rPr lang="en-US" dirty="0">
                <a:sym typeface="Wingdings" pitchFamily="2" charset="2"/>
              </a:rPr>
              <a:t>Query: </a:t>
            </a:r>
            <a:r>
              <a:rPr lang="en-US" dirty="0"/>
              <a:t>“Find the average GPA and highest GPA in each school”</a:t>
            </a:r>
            <a:endParaRPr lang="en-US" dirty="0">
              <a:sym typeface="Symbol"/>
            </a:endParaRPr>
          </a:p>
          <a:p>
            <a:r>
              <a:rPr lang="en-US" dirty="0">
                <a:sym typeface="Symbol"/>
              </a:rPr>
              <a:t></a:t>
            </a:r>
            <a:r>
              <a:rPr lang="en-US" baseline="-25000" dirty="0">
                <a:sym typeface="Symbol"/>
              </a:rPr>
              <a:t>School, AVG(GPA) </a:t>
            </a:r>
            <a:r>
              <a:rPr lang="en-US" baseline="-25000" dirty="0">
                <a:sym typeface="Wingdings" pitchFamily="2" charset="2"/>
              </a:rPr>
              <a:t> </a:t>
            </a:r>
            <a:r>
              <a:rPr lang="en-US" baseline="-25000" dirty="0" err="1">
                <a:sym typeface="Wingdings" pitchFamily="2" charset="2"/>
              </a:rPr>
              <a:t>AvgGPA</a:t>
            </a:r>
            <a:r>
              <a:rPr lang="en-US" baseline="-25000" dirty="0">
                <a:sym typeface="Wingdings" pitchFamily="2" charset="2"/>
              </a:rPr>
              <a:t>, MAX(GPA)  </a:t>
            </a:r>
            <a:r>
              <a:rPr lang="en-US" baseline="-25000" dirty="0" err="1">
                <a:sym typeface="Wingdings" pitchFamily="2" charset="2"/>
              </a:rPr>
              <a:t>MaxGPA</a:t>
            </a:r>
            <a:r>
              <a:rPr lang="en-US" dirty="0">
                <a:sym typeface="Wingdings" pitchFamily="2" charset="2"/>
              </a:rPr>
              <a:t>  Quiz1</a:t>
            </a:r>
          </a:p>
          <a:p>
            <a:endParaRPr lang="en-US" dirty="0">
              <a:sym typeface="Wingdings" pitchFamily="2" charset="2"/>
            </a:endParaRPr>
          </a:p>
        </p:txBody>
      </p:sp>
      <p:graphicFrame>
        <p:nvGraphicFramePr>
          <p:cNvPr id="4" name="Content Placeholder 3"/>
          <p:cNvGraphicFramePr>
            <a:graphicFrameLocks/>
          </p:cNvGraphicFramePr>
          <p:nvPr>
            <p:extLst/>
          </p:nvPr>
        </p:nvGraphicFramePr>
        <p:xfrm>
          <a:off x="467545" y="1594212"/>
          <a:ext cx="2736303"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GPA</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4</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r>
                        <a:rPr lang="en-US" altLang="zh-CN" sz="2400" dirty="0">
                          <a:latin typeface="Calibri" pitchFamily="34" charset="0"/>
                        </a:rPr>
                        <a:t>4</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r>
                        <a:rPr lang="en-US" altLang="zh-CN" sz="2400" dirty="0">
                          <a:latin typeface="Calibri" pitchFamily="34" charset="0"/>
                        </a:rPr>
                        <a:t>6</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sp>
        <p:nvSpPr>
          <p:cNvPr id="11" name="TextBox 10"/>
          <p:cNvSpPr txBox="1"/>
          <p:nvPr/>
        </p:nvSpPr>
        <p:spPr>
          <a:xfrm>
            <a:off x="428396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4283969" y="1574800"/>
          <a:ext cx="3312367" cy="111252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tblGrid>
              <a:tr h="370840">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err="1">
                          <a:latin typeface="Calibri" pitchFamily="34" charset="0"/>
                        </a:rPr>
                        <a:t>AvgGPA</a:t>
                      </a:r>
                      <a:endParaRPr lang="en-SG" sz="2400" dirty="0">
                        <a:latin typeface="Calibri" pitchFamily="34" charset="0"/>
                      </a:endParaRPr>
                    </a:p>
                  </a:txBody>
                  <a:tcPr marL="0" marR="0" marT="0" marB="0"/>
                </a:tc>
                <a:tc>
                  <a:txBody>
                    <a:bodyPr/>
                    <a:lstStyle/>
                    <a:p>
                      <a:pPr algn="ctr"/>
                      <a:r>
                        <a:rPr lang="en-US" sz="2400" dirty="0" err="1">
                          <a:latin typeface="Calibri" pitchFamily="34" charset="0"/>
                        </a:rPr>
                        <a:t>MaxGPA</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altLang="zh-CN" sz="2400" dirty="0">
                          <a:latin typeface="Calibri" pitchFamily="34" charset="0"/>
                        </a:rPr>
                        <a:t>3.8</a:t>
                      </a:r>
                      <a:endParaRPr lang="en-SG" sz="2400" dirty="0">
                        <a:latin typeface="Calibri" pitchFamily="34" charset="0"/>
                      </a:endParaRPr>
                    </a:p>
                  </a:txBody>
                  <a:tcPr marL="0" marR="0" marT="0" marB="0"/>
                </a:tc>
                <a:tc>
                  <a:txBody>
                    <a:bodyPr/>
                    <a:lstStyle/>
                    <a:p>
                      <a:pPr algn="ctr"/>
                      <a:r>
                        <a:rPr lang="en-US" sz="2400" dirty="0">
                          <a:latin typeface="Calibri" pitchFamily="34" charset="0"/>
                        </a:rPr>
                        <a:t>4</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r>
                        <a:rPr lang="en-US" altLang="zh-CN" sz="2400" dirty="0">
                          <a:latin typeface="Calibri" pitchFamily="34" charset="0"/>
                        </a:rPr>
                        <a:t>.2</a:t>
                      </a:r>
                      <a:endParaRPr lang="en-SG" sz="2400" dirty="0">
                        <a:latin typeface="Calibri" pitchFamily="34" charset="0"/>
                      </a:endParaRPr>
                    </a:p>
                  </a:txBody>
                  <a:tcPr marL="0" marR="0" marT="0" marB="0"/>
                </a:tc>
                <a:tc>
                  <a:txBody>
                    <a:bodyPr/>
                    <a:lstStyle/>
                    <a:p>
                      <a:pPr algn="ctr"/>
                      <a:r>
                        <a:rPr lang="en-US" sz="2400" dirty="0">
                          <a:latin typeface="Calibri" pitchFamily="34" charset="0"/>
                        </a:rPr>
                        <a:t>3.4</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6006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and Aggregation </a:t>
            </a:r>
            <a:r>
              <a:rPr lang="en-US" dirty="0">
                <a:sym typeface="Symbol"/>
              </a:rPr>
              <a:t></a:t>
            </a:r>
            <a:endParaRPr lang="en-SG" dirty="0"/>
          </a:p>
        </p:txBody>
      </p:sp>
      <p:sp>
        <p:nvSpPr>
          <p:cNvPr id="3" name="Content Placeholder 2"/>
          <p:cNvSpPr>
            <a:spLocks noGrp="1"/>
          </p:cNvSpPr>
          <p:nvPr>
            <p:ph idx="1"/>
          </p:nvPr>
        </p:nvSpPr>
        <p:spPr>
          <a:xfrm>
            <a:off x="457200" y="3645024"/>
            <a:ext cx="8229600" cy="2485901"/>
          </a:xfrm>
        </p:spPr>
        <p:txBody>
          <a:bodyPr>
            <a:normAutofit lnSpcReduction="10000"/>
          </a:bodyPr>
          <a:lstStyle/>
          <a:p>
            <a:r>
              <a:rPr lang="en-US" dirty="0">
                <a:sym typeface="Symbol"/>
              </a:rPr>
              <a:t></a:t>
            </a:r>
            <a:r>
              <a:rPr lang="en-US" baseline="-25000" dirty="0">
                <a:sym typeface="Symbol"/>
              </a:rPr>
              <a:t>School, Year, AVG(GPA) </a:t>
            </a:r>
            <a:r>
              <a:rPr lang="en-US" baseline="-25000" dirty="0">
                <a:sym typeface="Wingdings" pitchFamily="2" charset="2"/>
              </a:rPr>
              <a:t> </a:t>
            </a:r>
            <a:r>
              <a:rPr lang="en-US" baseline="-25000" dirty="0" err="1">
                <a:sym typeface="Wingdings" pitchFamily="2" charset="2"/>
              </a:rPr>
              <a:t>AvgGPA</a:t>
            </a:r>
            <a:r>
              <a:rPr lang="en-US" dirty="0">
                <a:sym typeface="Wingdings" pitchFamily="2" charset="2"/>
              </a:rPr>
              <a:t> Quiz1</a:t>
            </a:r>
          </a:p>
          <a:p>
            <a:r>
              <a:rPr lang="en-US" dirty="0">
                <a:sym typeface="Wingdings" pitchFamily="2" charset="2"/>
              </a:rPr>
              <a:t>Effect: Divide tuples into separate groups based on their “School, year” value combination, and then compute the average GPA in each group</a:t>
            </a:r>
          </a:p>
        </p:txBody>
      </p:sp>
      <p:graphicFrame>
        <p:nvGraphicFramePr>
          <p:cNvPr id="4" name="Content Placeholder 3"/>
          <p:cNvGraphicFramePr>
            <a:graphicFrameLocks/>
          </p:cNvGraphicFramePr>
          <p:nvPr>
            <p:extLst/>
          </p:nvPr>
        </p:nvGraphicFramePr>
        <p:xfrm>
          <a:off x="467545" y="1594212"/>
          <a:ext cx="3312367" cy="185420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Year</a:t>
                      </a:r>
                      <a:endParaRPr lang="en-SG" sz="2400" dirty="0">
                        <a:latin typeface="Calibri" pitchFamily="34" charset="0"/>
                      </a:endParaRPr>
                    </a:p>
                  </a:txBody>
                  <a:tcPr marL="0" marR="0" marT="0" marB="0"/>
                </a:tc>
                <a:tc>
                  <a:txBody>
                    <a:bodyPr/>
                    <a:lstStyle/>
                    <a:p>
                      <a:pPr algn="ctr"/>
                      <a:r>
                        <a:rPr lang="en-US" sz="2400" dirty="0">
                          <a:latin typeface="Calibri" pitchFamily="34" charset="0"/>
                        </a:rPr>
                        <a:t>GPA</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endParaRPr lang="en-SG" sz="2400" dirty="0">
                        <a:latin typeface="Calibri" pitchFamily="34" charset="0"/>
                      </a:endParaRPr>
                    </a:p>
                  </a:txBody>
                  <a:tcPr marL="0" marR="0" marT="0" marB="0"/>
                </a:tc>
                <a:tc>
                  <a:txBody>
                    <a:bodyPr/>
                    <a:lstStyle/>
                    <a:p>
                      <a:pPr algn="ctr"/>
                      <a:r>
                        <a:rPr lang="en-US" sz="2400" dirty="0">
                          <a:latin typeface="Calibri" pitchFamily="34" charset="0"/>
                        </a:rPr>
                        <a:t>4</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1</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2</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r>
                        <a:rPr lang="en-US" altLang="zh-CN" sz="2400" dirty="0">
                          <a:latin typeface="Calibri" pitchFamily="34" charset="0"/>
                        </a:rPr>
                        <a:t>4</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r>
                        <a:rPr lang="en-US" altLang="zh-CN" sz="2400" dirty="0">
                          <a:latin typeface="Calibri" pitchFamily="34" charset="0"/>
                        </a:rPr>
                        <a:t>6</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sp>
        <p:nvSpPr>
          <p:cNvPr id="11" name="TextBox 10"/>
          <p:cNvSpPr txBox="1"/>
          <p:nvPr/>
        </p:nvSpPr>
        <p:spPr>
          <a:xfrm>
            <a:off x="5220072"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5220073" y="1574800"/>
          <a:ext cx="2376264" cy="148336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tblGrid>
              <a:tr h="370840">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Year</a:t>
                      </a:r>
                      <a:endParaRPr lang="en-SG" sz="2400" dirty="0">
                        <a:latin typeface="Calibri" pitchFamily="34" charset="0"/>
                      </a:endParaRPr>
                    </a:p>
                  </a:txBody>
                  <a:tcPr marL="0" marR="0" marT="0" marB="0"/>
                </a:tc>
                <a:tc>
                  <a:txBody>
                    <a:bodyPr/>
                    <a:lstStyle/>
                    <a:p>
                      <a:pPr algn="ctr"/>
                      <a:r>
                        <a:rPr lang="en-US" sz="2400" dirty="0">
                          <a:latin typeface="Calibri" pitchFamily="34" charset="0"/>
                        </a:rPr>
                        <a:t>GPA</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endParaRPr lang="en-SG" sz="2400" dirty="0">
                        <a:latin typeface="Calibri" pitchFamily="34" charset="0"/>
                      </a:endParaRPr>
                    </a:p>
                  </a:txBody>
                  <a:tcPr marL="0" marR="0" marT="0" marB="0"/>
                </a:tc>
                <a:tc>
                  <a:txBody>
                    <a:bodyPr/>
                    <a:lstStyle/>
                    <a:p>
                      <a:pPr algn="ctr"/>
                      <a:r>
                        <a:rPr lang="en-US" sz="2400" dirty="0">
                          <a:latin typeface="Calibri" pitchFamily="34" charset="0"/>
                        </a:rPr>
                        <a:t>3.8</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1</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2</a:t>
                      </a:r>
                      <a:endParaRPr lang="en-SG" sz="2400" dirty="0">
                        <a:latin typeface="Calibri" pitchFamily="34" charset="0"/>
                      </a:endParaRPr>
                    </a:p>
                  </a:txBody>
                  <a:tcPr marL="0" marR="0" marT="0" marB="0"/>
                </a:tc>
                <a:tc>
                  <a:txBody>
                    <a:bodyPr/>
                    <a:lstStyle/>
                    <a:p>
                      <a:pPr algn="ctr"/>
                      <a:r>
                        <a:rPr lang="en-US" sz="2400" dirty="0">
                          <a:latin typeface="Calibri" pitchFamily="34" charset="0"/>
                        </a:rPr>
                        <a:t>3.</a:t>
                      </a:r>
                      <a:r>
                        <a:rPr lang="en-US" altLang="zh-CN" sz="2400" dirty="0">
                          <a:latin typeface="Calibri" pitchFamily="34" charset="0"/>
                        </a:rPr>
                        <a:t>4</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4359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SG" dirty="0"/>
          </a:p>
        </p:txBody>
      </p:sp>
      <p:sp>
        <p:nvSpPr>
          <p:cNvPr id="3" name="Content Placeholder 2"/>
          <p:cNvSpPr>
            <a:spLocks noGrp="1"/>
          </p:cNvSpPr>
          <p:nvPr>
            <p:ph idx="1"/>
          </p:nvPr>
        </p:nvSpPr>
        <p:spPr>
          <a:xfrm>
            <a:off x="457200" y="3645024"/>
            <a:ext cx="8229600" cy="2736304"/>
          </a:xfrm>
          <a:solidFill>
            <a:schemeClr val="bg1"/>
          </a:solidFill>
        </p:spPr>
        <p:txBody>
          <a:bodyPr>
            <a:normAutofit fontScale="77500" lnSpcReduction="20000"/>
          </a:bodyPr>
          <a:lstStyle/>
          <a:p>
            <a:r>
              <a:rPr lang="en-US" dirty="0"/>
              <a:t>Query: “Find the student that scores the highest in Quiz1”</a:t>
            </a:r>
          </a:p>
          <a:p>
            <a:r>
              <a:rPr lang="en-US" b="1" dirty="0">
                <a:sym typeface="Symbol"/>
              </a:rPr>
              <a:t></a:t>
            </a:r>
            <a:r>
              <a:rPr lang="en-US" sz="4100" baseline="-25000" dirty="0">
                <a:sym typeface="Symbol"/>
              </a:rPr>
              <a:t>Score = MAX(Score)</a:t>
            </a:r>
            <a:r>
              <a:rPr lang="en-US" sz="4100" dirty="0">
                <a:sym typeface="Symbol"/>
              </a:rPr>
              <a:t> </a:t>
            </a:r>
            <a:r>
              <a:rPr lang="en-US" dirty="0">
                <a:sym typeface="Symbol"/>
              </a:rPr>
              <a:t>Quiz1 ?</a:t>
            </a:r>
          </a:p>
          <a:p>
            <a:r>
              <a:rPr lang="en-US" dirty="0"/>
              <a:t>Wrong: Aggregate functions can only be used with the aggregation operation </a:t>
            </a:r>
            <a:r>
              <a:rPr lang="en-US" b="1" dirty="0">
                <a:sym typeface="Symbol"/>
              </a:rPr>
              <a:t></a:t>
            </a:r>
            <a:endParaRPr lang="en-US" b="1" dirty="0"/>
          </a:p>
          <a:p>
            <a:r>
              <a:rPr lang="en-US" dirty="0"/>
              <a:t>R1 := </a:t>
            </a:r>
            <a:r>
              <a:rPr lang="en-US" b="1" dirty="0">
                <a:sym typeface="Symbol"/>
              </a:rPr>
              <a:t></a:t>
            </a:r>
            <a:r>
              <a:rPr lang="en-US" sz="4100" baseline="-25000" dirty="0">
                <a:sym typeface="Symbol"/>
              </a:rPr>
              <a:t>MAX(Score)</a:t>
            </a:r>
            <a:r>
              <a:rPr lang="en-US" sz="4100" baseline="-25000" dirty="0">
                <a:sym typeface="Wingdings" pitchFamily="2" charset="2"/>
              </a:rPr>
              <a:t></a:t>
            </a:r>
            <a:r>
              <a:rPr lang="en-US" sz="4100" baseline="-25000" dirty="0" err="1">
                <a:sym typeface="Wingdings" pitchFamily="2" charset="2"/>
              </a:rPr>
              <a:t>MaxScore</a:t>
            </a:r>
            <a:r>
              <a:rPr lang="en-US" dirty="0">
                <a:sym typeface="Symbol"/>
              </a:rPr>
              <a:t>(Quiz1)</a:t>
            </a:r>
          </a:p>
          <a:p>
            <a:r>
              <a:rPr lang="en-US" dirty="0">
                <a:sym typeface="Symbol"/>
              </a:rPr>
              <a:t>R2 := Quiz</a:t>
            </a:r>
            <a:r>
              <a:rPr lang="en-US" dirty="0"/>
              <a:t>1 </a:t>
            </a:r>
            <a:r>
              <a:rPr lang="en-GB" b="1" dirty="0">
                <a:solidFill>
                  <a:schemeClr val="accent4">
                    <a:lumMod val="50000"/>
                  </a:schemeClr>
                </a:solidFill>
                <a:sym typeface="MT Extra" pitchFamily="18" charset="2"/>
              </a:rPr>
              <a:t>⋈</a:t>
            </a:r>
            <a:r>
              <a:rPr lang="en-GB" sz="4100" baseline="-25000" dirty="0">
                <a:solidFill>
                  <a:schemeClr val="accent4">
                    <a:lumMod val="50000"/>
                  </a:schemeClr>
                </a:solidFill>
                <a:sym typeface="MT Extra" pitchFamily="18" charset="2"/>
              </a:rPr>
              <a:t>Score = </a:t>
            </a:r>
            <a:r>
              <a:rPr lang="en-GB" sz="4100" baseline="-25000" dirty="0" err="1">
                <a:solidFill>
                  <a:schemeClr val="accent4">
                    <a:lumMod val="50000"/>
                  </a:schemeClr>
                </a:solidFill>
                <a:sym typeface="MT Extra" pitchFamily="18" charset="2"/>
              </a:rPr>
              <a:t>MaxScore</a:t>
            </a:r>
            <a:r>
              <a:rPr lang="en-GB" dirty="0">
                <a:solidFill>
                  <a:schemeClr val="accent4">
                    <a:lumMod val="50000"/>
                  </a:schemeClr>
                </a:solidFill>
                <a:sym typeface="MT Extra" pitchFamily="18" charset="2"/>
              </a:rPr>
              <a:t> R1</a:t>
            </a:r>
          </a:p>
          <a:p>
            <a:r>
              <a:rPr lang="en-GB" dirty="0">
                <a:solidFill>
                  <a:schemeClr val="accent4">
                    <a:lumMod val="50000"/>
                  </a:schemeClr>
                </a:solidFill>
                <a:sym typeface="MT Extra" pitchFamily="18" charset="2"/>
              </a:rPr>
              <a:t>R3 := </a:t>
            </a:r>
            <a:r>
              <a:rPr lang="en-US" b="1" dirty="0">
                <a:sym typeface="Symbol"/>
              </a:rPr>
              <a:t></a:t>
            </a:r>
            <a:r>
              <a:rPr lang="en-US" baseline="-25000" dirty="0">
                <a:sym typeface="Symbol"/>
              </a:rPr>
              <a:t>Name</a:t>
            </a:r>
            <a:r>
              <a:rPr lang="en-US" dirty="0">
                <a:sym typeface="Symbol"/>
              </a:rPr>
              <a:t>(R2)</a:t>
            </a:r>
            <a:endParaRPr lang="en-SG" dirty="0"/>
          </a:p>
        </p:txBody>
      </p:sp>
      <p:graphicFrame>
        <p:nvGraphicFramePr>
          <p:cNvPr id="4" name="Content Placeholder 3"/>
          <p:cNvGraphicFramePr>
            <a:graphicFrameLocks/>
          </p:cNvGraphicFramePr>
          <p:nvPr>
            <p:extLst/>
          </p:nvPr>
        </p:nvGraphicFramePr>
        <p:xfrm>
          <a:off x="467545" y="1666220"/>
          <a:ext cx="1656183"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1052736"/>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771801" y="1666220"/>
          <a:ext cx="1368151" cy="741680"/>
        </p:xfrm>
        <a:graphic>
          <a:graphicData uri="http://schemas.openxmlformats.org/drawingml/2006/table">
            <a:tbl>
              <a:tblPr firstRow="1" bandRow="1">
                <a:tableStyleId>{5C22544A-7EE6-4342-B048-85BDC9FD1C3A}</a:tableStyleId>
              </a:tblPr>
              <a:tblGrid>
                <a:gridCol w="1368151">
                  <a:extLst>
                    <a:ext uri="{9D8B030D-6E8A-4147-A177-3AD203B41FA5}">
                      <a16:colId xmlns:a16="http://schemas.microsoft.com/office/drawing/2014/main" val="20000"/>
                    </a:ext>
                  </a:extLst>
                </a:gridCol>
              </a:tblGrid>
              <a:tr h="370840">
                <a:tc>
                  <a:txBody>
                    <a:bodyPr/>
                    <a:lstStyle/>
                    <a:p>
                      <a:pPr algn="ctr"/>
                      <a:r>
                        <a:rPr lang="en-US" sz="2400" dirty="0" err="1">
                          <a:latin typeface="Calibri" pitchFamily="34" charset="0"/>
                        </a:rPr>
                        <a:t>MaxScore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2771800" y="1052736"/>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R1</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220072" y="1020336"/>
          <a:ext cx="3096344" cy="74168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1368152">
                  <a:extLst>
                    <a:ext uri="{9D8B030D-6E8A-4147-A177-3AD203B41FA5}">
                      <a16:colId xmlns:a16="http://schemas.microsoft.com/office/drawing/2014/main" val="20002"/>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tc>
                  <a:txBody>
                    <a:bodyPr/>
                    <a:lstStyle/>
                    <a:p>
                      <a:pPr algn="ctr"/>
                      <a:r>
                        <a:rPr lang="en-US" sz="2400" dirty="0" err="1">
                          <a:latin typeface="Calibri" pitchFamily="34" charset="0"/>
                        </a:rPr>
                        <a:t>MaxScore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9" name="TextBox 8"/>
          <p:cNvSpPr txBox="1"/>
          <p:nvPr/>
        </p:nvSpPr>
        <p:spPr>
          <a:xfrm>
            <a:off x="5220072" y="406852"/>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R2</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5220072" y="2831336"/>
          <a:ext cx="864096" cy="74168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11" name="TextBox 10"/>
          <p:cNvSpPr txBox="1"/>
          <p:nvPr/>
        </p:nvSpPr>
        <p:spPr>
          <a:xfrm>
            <a:off x="5220072" y="2215664"/>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R3</a:t>
            </a:r>
            <a:endParaRPr lang="en-SG" sz="2800" b="1" dirty="0">
              <a:latin typeface="Calibri" pitchFamily="34" charset="0"/>
            </a:endParaRPr>
          </a:p>
        </p:txBody>
      </p:sp>
    </p:spTree>
    <p:extLst>
      <p:ext uri="{BB962C8B-B14F-4D97-AF65-F5344CB8AC3E}">
        <p14:creationId xmlns:p14="http://schemas.microsoft.com/office/powerpoint/2010/main" val="222727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645024"/>
            <a:ext cx="8229600" cy="2736304"/>
          </a:xfrm>
          <a:solidFill>
            <a:schemeClr val="bg1"/>
          </a:solidFill>
        </p:spPr>
        <p:txBody>
          <a:bodyPr>
            <a:normAutofit fontScale="70000" lnSpcReduction="20000"/>
          </a:bodyPr>
          <a:lstStyle/>
          <a:p>
            <a:r>
              <a:rPr lang="en-US" dirty="0"/>
              <a:t>Query: “Find the student that scores the second highest in Quiz1”</a:t>
            </a:r>
          </a:p>
          <a:p>
            <a:r>
              <a:rPr lang="en-US" dirty="0"/>
              <a:t>R1 := </a:t>
            </a:r>
            <a:r>
              <a:rPr lang="en-US" b="1" dirty="0">
                <a:sym typeface="Symbol"/>
              </a:rPr>
              <a:t></a:t>
            </a:r>
            <a:r>
              <a:rPr lang="en-US" sz="4100" baseline="-25000" dirty="0">
                <a:sym typeface="Symbol"/>
              </a:rPr>
              <a:t>MAX(Score)</a:t>
            </a:r>
            <a:r>
              <a:rPr lang="en-US" sz="4100" baseline="-25000" dirty="0">
                <a:sym typeface="Wingdings" pitchFamily="2" charset="2"/>
              </a:rPr>
              <a:t></a:t>
            </a:r>
            <a:r>
              <a:rPr lang="en-US" sz="4100" baseline="-25000" dirty="0" err="1">
                <a:sym typeface="Wingdings" pitchFamily="2" charset="2"/>
              </a:rPr>
              <a:t>MaxScore</a:t>
            </a:r>
            <a:r>
              <a:rPr lang="en-US" dirty="0">
                <a:sym typeface="Symbol"/>
              </a:rPr>
              <a:t>(Quiz1)</a:t>
            </a:r>
          </a:p>
          <a:p>
            <a:r>
              <a:rPr lang="en-US" dirty="0">
                <a:sym typeface="Symbol"/>
              </a:rPr>
              <a:t>R2 := Quiz</a:t>
            </a:r>
            <a:r>
              <a:rPr lang="en-US" dirty="0"/>
              <a:t>1 </a:t>
            </a:r>
            <a:r>
              <a:rPr lang="en-GB" b="1" dirty="0">
                <a:solidFill>
                  <a:schemeClr val="accent4">
                    <a:lumMod val="50000"/>
                  </a:schemeClr>
                </a:solidFill>
                <a:sym typeface="MT Extra" pitchFamily="18" charset="2"/>
              </a:rPr>
              <a:t>⋈</a:t>
            </a:r>
            <a:r>
              <a:rPr lang="en-GB" sz="4100" baseline="-25000" dirty="0">
                <a:solidFill>
                  <a:schemeClr val="accent4">
                    <a:lumMod val="50000"/>
                  </a:schemeClr>
                </a:solidFill>
                <a:sym typeface="MT Extra" pitchFamily="18" charset="2"/>
              </a:rPr>
              <a:t>Score = </a:t>
            </a:r>
            <a:r>
              <a:rPr lang="en-GB" sz="4100" baseline="-25000" dirty="0" err="1">
                <a:solidFill>
                  <a:schemeClr val="accent4">
                    <a:lumMod val="50000"/>
                  </a:schemeClr>
                </a:solidFill>
                <a:sym typeface="MT Extra" pitchFamily="18" charset="2"/>
              </a:rPr>
              <a:t>MaxScore</a:t>
            </a:r>
            <a:r>
              <a:rPr lang="en-GB" dirty="0">
                <a:solidFill>
                  <a:schemeClr val="accent4">
                    <a:lumMod val="50000"/>
                  </a:schemeClr>
                </a:solidFill>
                <a:sym typeface="MT Extra" pitchFamily="18" charset="2"/>
              </a:rPr>
              <a:t> R1</a:t>
            </a:r>
          </a:p>
          <a:p>
            <a:r>
              <a:rPr lang="en-GB" dirty="0">
                <a:solidFill>
                  <a:schemeClr val="accent4">
                    <a:lumMod val="50000"/>
                  </a:schemeClr>
                </a:solidFill>
                <a:sym typeface="MT Extra" pitchFamily="18" charset="2"/>
              </a:rPr>
              <a:t>R3 := </a:t>
            </a:r>
            <a:r>
              <a:rPr lang="en-US" b="1" dirty="0">
                <a:sym typeface="Symbol"/>
              </a:rPr>
              <a:t></a:t>
            </a:r>
            <a:r>
              <a:rPr lang="en-US" sz="4000" baseline="-25000" dirty="0">
                <a:sym typeface="Symbol"/>
              </a:rPr>
              <a:t>Name, Score</a:t>
            </a:r>
            <a:r>
              <a:rPr lang="en-US" dirty="0">
                <a:sym typeface="Symbol"/>
              </a:rPr>
              <a:t>(R2)</a:t>
            </a:r>
          </a:p>
          <a:p>
            <a:r>
              <a:rPr lang="en-US" dirty="0">
                <a:sym typeface="Symbol"/>
              </a:rPr>
              <a:t>R4 := Quiz1 – R3</a:t>
            </a:r>
          </a:p>
          <a:p>
            <a:r>
              <a:rPr lang="en-US" dirty="0">
                <a:sym typeface="Symbol"/>
              </a:rPr>
              <a:t>R5 := </a:t>
            </a:r>
            <a:r>
              <a:rPr lang="en-US" b="1" dirty="0">
                <a:sym typeface="Symbol"/>
              </a:rPr>
              <a:t></a:t>
            </a:r>
            <a:r>
              <a:rPr lang="en-US" sz="4100" baseline="-25000" dirty="0">
                <a:sym typeface="Symbol"/>
              </a:rPr>
              <a:t>MAX(Score)</a:t>
            </a:r>
            <a:r>
              <a:rPr lang="en-US" sz="4100" baseline="-25000" dirty="0">
                <a:sym typeface="Wingdings" pitchFamily="2" charset="2"/>
              </a:rPr>
              <a:t>2ndMaxScore</a:t>
            </a:r>
            <a:r>
              <a:rPr lang="en-US" dirty="0">
                <a:sym typeface="Symbol"/>
              </a:rPr>
              <a:t>(R4)</a:t>
            </a:r>
          </a:p>
          <a:p>
            <a:r>
              <a:rPr lang="en-US" dirty="0">
                <a:sym typeface="Symbol"/>
              </a:rPr>
              <a:t>R6 := R4</a:t>
            </a:r>
            <a:r>
              <a:rPr lang="en-US" dirty="0"/>
              <a:t> </a:t>
            </a:r>
            <a:r>
              <a:rPr lang="en-GB" b="1" dirty="0">
                <a:solidFill>
                  <a:schemeClr val="accent4">
                    <a:lumMod val="50000"/>
                  </a:schemeClr>
                </a:solidFill>
                <a:sym typeface="MT Extra" pitchFamily="18" charset="2"/>
              </a:rPr>
              <a:t>⋈</a:t>
            </a:r>
            <a:r>
              <a:rPr lang="en-GB" sz="4000" baseline="-25000" dirty="0">
                <a:solidFill>
                  <a:schemeClr val="accent4">
                    <a:lumMod val="50000"/>
                  </a:schemeClr>
                </a:solidFill>
                <a:sym typeface="MT Extra" pitchFamily="18" charset="2"/>
              </a:rPr>
              <a:t>Score = 2ndMaxScore</a:t>
            </a:r>
            <a:r>
              <a:rPr lang="en-GB" dirty="0">
                <a:solidFill>
                  <a:schemeClr val="accent4">
                    <a:lumMod val="50000"/>
                  </a:schemeClr>
                </a:solidFill>
                <a:sym typeface="MT Extra" pitchFamily="18" charset="2"/>
              </a:rPr>
              <a:t> R5</a:t>
            </a:r>
          </a:p>
          <a:p>
            <a:endParaRPr lang="en-US" dirty="0">
              <a:sym typeface="Symbol"/>
            </a:endParaRPr>
          </a:p>
          <a:p>
            <a:endParaRPr lang="en-SG" dirty="0"/>
          </a:p>
        </p:txBody>
      </p:sp>
      <p:graphicFrame>
        <p:nvGraphicFramePr>
          <p:cNvPr id="4" name="Content Placeholder 3"/>
          <p:cNvGraphicFramePr>
            <a:graphicFrameLocks/>
          </p:cNvGraphicFramePr>
          <p:nvPr>
            <p:extLst/>
          </p:nvPr>
        </p:nvGraphicFramePr>
        <p:xfrm>
          <a:off x="467545" y="1666220"/>
          <a:ext cx="1656183"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1052736"/>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771801" y="1666220"/>
          <a:ext cx="1368151" cy="741680"/>
        </p:xfrm>
        <a:graphic>
          <a:graphicData uri="http://schemas.openxmlformats.org/drawingml/2006/table">
            <a:tbl>
              <a:tblPr firstRow="1" bandRow="1">
                <a:tableStyleId>{5C22544A-7EE6-4342-B048-85BDC9FD1C3A}</a:tableStyleId>
              </a:tblPr>
              <a:tblGrid>
                <a:gridCol w="1368151">
                  <a:extLst>
                    <a:ext uri="{9D8B030D-6E8A-4147-A177-3AD203B41FA5}">
                      <a16:colId xmlns:a16="http://schemas.microsoft.com/office/drawing/2014/main" val="20000"/>
                    </a:ext>
                  </a:extLst>
                </a:gridCol>
              </a:tblGrid>
              <a:tr h="370840">
                <a:tc>
                  <a:txBody>
                    <a:bodyPr/>
                    <a:lstStyle/>
                    <a:p>
                      <a:pPr algn="ctr"/>
                      <a:r>
                        <a:rPr lang="en-US" sz="2400" dirty="0" err="1">
                          <a:latin typeface="Calibri" pitchFamily="34" charset="0"/>
                        </a:rPr>
                        <a:t>MaxScore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2771800" y="1052736"/>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R1</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220072" y="1020336"/>
          <a:ext cx="3096344" cy="74168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1368152">
                  <a:extLst>
                    <a:ext uri="{9D8B030D-6E8A-4147-A177-3AD203B41FA5}">
                      <a16:colId xmlns:a16="http://schemas.microsoft.com/office/drawing/2014/main" val="20002"/>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tc>
                  <a:txBody>
                    <a:bodyPr/>
                    <a:lstStyle/>
                    <a:p>
                      <a:pPr algn="ctr"/>
                      <a:r>
                        <a:rPr lang="en-US" sz="2400" dirty="0" err="1">
                          <a:latin typeface="Calibri" pitchFamily="34" charset="0"/>
                        </a:rPr>
                        <a:t>MaxScore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
        <p:nvSpPr>
          <p:cNvPr id="9" name="TextBox 8"/>
          <p:cNvSpPr txBox="1"/>
          <p:nvPr/>
        </p:nvSpPr>
        <p:spPr>
          <a:xfrm>
            <a:off x="5220072" y="406852"/>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R2</a:t>
            </a:r>
            <a:endParaRPr lang="en-SG" sz="2800" b="1" dirty="0">
              <a:latin typeface="Calibri" pitchFamily="34" charset="0"/>
            </a:endParaRPr>
          </a:p>
        </p:txBody>
      </p:sp>
      <p:sp>
        <p:nvSpPr>
          <p:cNvPr id="11" name="TextBox 10"/>
          <p:cNvSpPr txBox="1"/>
          <p:nvPr/>
        </p:nvSpPr>
        <p:spPr>
          <a:xfrm>
            <a:off x="5220072" y="2215664"/>
            <a:ext cx="648072" cy="523220"/>
          </a:xfrm>
          <a:prstGeom prst="rect">
            <a:avLst/>
          </a:prstGeom>
          <a:noFill/>
          <a:ln w="25400">
            <a:solidFill>
              <a:schemeClr val="accent1"/>
            </a:solidFill>
          </a:ln>
        </p:spPr>
        <p:txBody>
          <a:bodyPr wrap="square" rtlCol="0">
            <a:spAutoFit/>
          </a:bodyPr>
          <a:lstStyle/>
          <a:p>
            <a:r>
              <a:rPr lang="en-US" sz="2800" b="1" dirty="0">
                <a:latin typeface="Calibri" pitchFamily="34" charset="0"/>
              </a:rPr>
              <a:t>R3</a:t>
            </a:r>
            <a:endParaRPr lang="en-SG" sz="2800" b="1" dirty="0">
              <a:latin typeface="Calibri" pitchFamily="34" charset="0"/>
            </a:endParaRPr>
          </a:p>
        </p:txBody>
      </p:sp>
      <p:graphicFrame>
        <p:nvGraphicFramePr>
          <p:cNvPr id="12" name="Table 11"/>
          <p:cNvGraphicFramePr>
            <a:graphicFrameLocks noGrp="1"/>
          </p:cNvGraphicFramePr>
          <p:nvPr>
            <p:extLst/>
          </p:nvPr>
        </p:nvGraphicFramePr>
        <p:xfrm>
          <a:off x="5220072" y="2865168"/>
          <a:ext cx="1656183" cy="74168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11545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068960"/>
            <a:ext cx="8363272" cy="3312368"/>
          </a:xfrm>
          <a:solidFill>
            <a:schemeClr val="bg1"/>
          </a:solidFill>
        </p:spPr>
        <p:txBody>
          <a:bodyPr>
            <a:normAutofit fontScale="85000" lnSpcReduction="10000"/>
          </a:bodyPr>
          <a:lstStyle/>
          <a:p>
            <a:r>
              <a:rPr lang="en-US" dirty="0"/>
              <a:t>Query: “For each school, find the student that scores the highest in Quiz1”</a:t>
            </a:r>
          </a:p>
          <a:p>
            <a:r>
              <a:rPr lang="en-US" dirty="0"/>
              <a:t>R1 := Quiz1 </a:t>
            </a:r>
            <a:r>
              <a:rPr lang="en-GB" b="1" dirty="0">
                <a:solidFill>
                  <a:schemeClr val="accent4">
                    <a:lumMod val="50000"/>
                  </a:schemeClr>
                </a:solidFill>
                <a:sym typeface="MT Extra" pitchFamily="18" charset="2"/>
              </a:rPr>
              <a:t>⋈ </a:t>
            </a:r>
            <a:r>
              <a:rPr lang="en-GB" dirty="0">
                <a:solidFill>
                  <a:schemeClr val="accent4">
                    <a:lumMod val="50000"/>
                  </a:schemeClr>
                </a:solidFill>
                <a:sym typeface="MT Extra" pitchFamily="18" charset="2"/>
              </a:rPr>
              <a:t>Student</a:t>
            </a:r>
            <a:endParaRPr lang="en-US" dirty="0"/>
          </a:p>
          <a:p>
            <a:r>
              <a:rPr lang="en-US" dirty="0"/>
              <a:t>R2 := </a:t>
            </a:r>
            <a:r>
              <a:rPr lang="en-US" b="1" dirty="0">
                <a:sym typeface="Symbol"/>
              </a:rPr>
              <a:t></a:t>
            </a:r>
            <a:r>
              <a:rPr lang="en-US" sz="4100" baseline="-25000" dirty="0">
                <a:sym typeface="Symbol"/>
              </a:rPr>
              <a:t>School, MAX(Score)</a:t>
            </a:r>
            <a:r>
              <a:rPr lang="en-US" sz="4100" baseline="-25000" dirty="0">
                <a:sym typeface="Wingdings" pitchFamily="2" charset="2"/>
              </a:rPr>
              <a:t></a:t>
            </a:r>
            <a:r>
              <a:rPr lang="en-US" sz="4100" baseline="-25000" dirty="0" err="1">
                <a:sym typeface="Wingdings" pitchFamily="2" charset="2"/>
              </a:rPr>
              <a:t>MaxScore</a:t>
            </a:r>
            <a:r>
              <a:rPr lang="en-US" dirty="0">
                <a:sym typeface="Symbol"/>
              </a:rPr>
              <a:t>(R1)</a:t>
            </a:r>
          </a:p>
          <a:p>
            <a:r>
              <a:rPr lang="en-US" dirty="0">
                <a:sym typeface="Symbol"/>
              </a:rPr>
              <a:t>R3 := R</a:t>
            </a:r>
            <a:r>
              <a:rPr lang="en-US" dirty="0"/>
              <a:t>1 </a:t>
            </a:r>
            <a:r>
              <a:rPr lang="en-GB" b="1" dirty="0">
                <a:solidFill>
                  <a:schemeClr val="accent4">
                    <a:lumMod val="50000"/>
                  </a:schemeClr>
                </a:solidFill>
                <a:sym typeface="MT Extra" pitchFamily="18" charset="2"/>
              </a:rPr>
              <a:t>⋈</a:t>
            </a:r>
            <a:r>
              <a:rPr lang="en-GB" sz="4100" baseline="-25000" dirty="0">
                <a:solidFill>
                  <a:schemeClr val="accent4">
                    <a:lumMod val="50000"/>
                  </a:schemeClr>
                </a:solidFill>
                <a:sym typeface="MT Extra" pitchFamily="18" charset="2"/>
              </a:rPr>
              <a:t>R1.School = R2.School AND Score = </a:t>
            </a:r>
            <a:r>
              <a:rPr lang="en-GB" sz="4100" baseline="-25000" dirty="0" err="1">
                <a:solidFill>
                  <a:schemeClr val="accent4">
                    <a:lumMod val="50000"/>
                  </a:schemeClr>
                </a:solidFill>
                <a:sym typeface="MT Extra" pitchFamily="18" charset="2"/>
              </a:rPr>
              <a:t>MaxScore</a:t>
            </a:r>
            <a:r>
              <a:rPr lang="en-GB" dirty="0">
                <a:solidFill>
                  <a:schemeClr val="accent4">
                    <a:lumMod val="50000"/>
                  </a:schemeClr>
                </a:solidFill>
                <a:sym typeface="MT Extra" pitchFamily="18" charset="2"/>
              </a:rPr>
              <a:t> R2</a:t>
            </a:r>
          </a:p>
          <a:p>
            <a:r>
              <a:rPr lang="en-GB" dirty="0">
                <a:solidFill>
                  <a:schemeClr val="accent4">
                    <a:lumMod val="50000"/>
                  </a:schemeClr>
                </a:solidFill>
                <a:sym typeface="MT Extra" pitchFamily="18" charset="2"/>
              </a:rPr>
              <a:t>R3 := </a:t>
            </a:r>
            <a:r>
              <a:rPr lang="en-US" b="1" dirty="0">
                <a:sym typeface="Symbol"/>
              </a:rPr>
              <a:t></a:t>
            </a:r>
            <a:r>
              <a:rPr lang="en-US" sz="4000" baseline="-25000" dirty="0">
                <a:sym typeface="Symbol"/>
              </a:rPr>
              <a:t>Name, Score</a:t>
            </a:r>
            <a:r>
              <a:rPr lang="en-US" dirty="0">
                <a:sym typeface="Symbol"/>
              </a:rPr>
              <a:t>(R3)</a:t>
            </a:r>
          </a:p>
          <a:p>
            <a:pPr marL="0" indent="0">
              <a:buNone/>
            </a:pPr>
            <a:r>
              <a:rPr lang="en-US" dirty="0">
                <a:sym typeface="Symbol"/>
              </a:rPr>
              <a:t> </a:t>
            </a:r>
          </a:p>
          <a:p>
            <a:endParaRPr lang="en-US" dirty="0">
              <a:sym typeface="Symbol"/>
            </a:endParaRPr>
          </a:p>
          <a:p>
            <a:endParaRPr lang="en-SG" dirty="0"/>
          </a:p>
        </p:txBody>
      </p:sp>
      <p:graphicFrame>
        <p:nvGraphicFramePr>
          <p:cNvPr id="4" name="Content Placeholder 3"/>
          <p:cNvGraphicFramePr>
            <a:graphicFrameLocks/>
          </p:cNvGraphicFramePr>
          <p:nvPr>
            <p:extLst/>
          </p:nvPr>
        </p:nvGraphicFramePr>
        <p:xfrm>
          <a:off x="3131841" y="937699"/>
          <a:ext cx="1656183"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Score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70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90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80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3131840" y="324215"/>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Quiz1</a:t>
            </a:r>
            <a:endParaRPr lang="en-SG" sz="2800" b="1" dirty="0">
              <a:latin typeface="Calibri" pitchFamily="34" charset="0"/>
            </a:endParaRPr>
          </a:p>
        </p:txBody>
      </p:sp>
      <p:graphicFrame>
        <p:nvGraphicFramePr>
          <p:cNvPr id="13" name="Content Placeholder 3"/>
          <p:cNvGraphicFramePr>
            <a:graphicFrameLocks/>
          </p:cNvGraphicFramePr>
          <p:nvPr>
            <p:extLst/>
          </p:nvPr>
        </p:nvGraphicFramePr>
        <p:xfrm>
          <a:off x="6372200" y="950192"/>
          <a:ext cx="1815737" cy="1854200"/>
        </p:xfrm>
        <a:graphic>
          <a:graphicData uri="http://schemas.openxmlformats.org/drawingml/2006/table">
            <a:tbl>
              <a:tblPr firstRow="1" bandRow="1">
                <a:tableStyleId>{5C22544A-7EE6-4342-B048-85BDC9FD1C3A}</a:tableStyleId>
              </a:tblPr>
              <a:tblGrid>
                <a:gridCol w="879633">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14" name="TextBox 13"/>
          <p:cNvSpPr txBox="1"/>
          <p:nvPr/>
        </p:nvSpPr>
        <p:spPr>
          <a:xfrm>
            <a:off x="6387737" y="33670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spTree>
    <p:extLst>
      <p:ext uri="{BB962C8B-B14F-4D97-AF65-F5344CB8AC3E}">
        <p14:creationId xmlns:p14="http://schemas.microsoft.com/office/powerpoint/2010/main" val="146651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522856"/>
            <a:ext cx="8363272" cy="2858472"/>
          </a:xfrm>
          <a:solidFill>
            <a:schemeClr val="bg1"/>
          </a:solidFill>
        </p:spPr>
        <p:txBody>
          <a:bodyPr>
            <a:normAutofit fontScale="70000" lnSpcReduction="20000"/>
          </a:bodyPr>
          <a:lstStyle/>
          <a:p>
            <a:r>
              <a:rPr lang="en-US" dirty="0"/>
              <a:t>Query: “Find the students who have taken all courses from SoC”</a:t>
            </a:r>
          </a:p>
          <a:p>
            <a:r>
              <a:rPr lang="en-US" dirty="0"/>
              <a:t>R1 := </a:t>
            </a:r>
            <a:r>
              <a:rPr lang="en-US" b="1" dirty="0">
                <a:sym typeface="Symbol"/>
              </a:rPr>
              <a:t></a:t>
            </a:r>
            <a:r>
              <a:rPr lang="en-US" sz="4000" baseline="-25000" dirty="0">
                <a:sym typeface="Symbol"/>
              </a:rPr>
              <a:t>School = ‘SoC’</a:t>
            </a:r>
            <a:r>
              <a:rPr lang="en-US" sz="4000" dirty="0">
                <a:sym typeface="Symbol"/>
              </a:rPr>
              <a:t> </a:t>
            </a:r>
            <a:r>
              <a:rPr lang="en-GB" dirty="0" err="1">
                <a:solidFill>
                  <a:schemeClr val="accent4">
                    <a:lumMod val="50000"/>
                  </a:schemeClr>
                </a:solidFill>
                <a:sym typeface="MT Extra" pitchFamily="18" charset="2"/>
              </a:rPr>
              <a:t>CrsSch</a:t>
            </a:r>
            <a:endParaRPr lang="en-US" dirty="0"/>
          </a:p>
          <a:p>
            <a:r>
              <a:rPr lang="en-US" dirty="0"/>
              <a:t>R2 := </a:t>
            </a:r>
            <a:r>
              <a:rPr lang="en-US" dirty="0">
                <a:sym typeface="Symbol"/>
              </a:rPr>
              <a:t>Grades</a:t>
            </a:r>
            <a:r>
              <a:rPr lang="en-US" dirty="0"/>
              <a:t> </a:t>
            </a:r>
            <a:r>
              <a:rPr lang="en-GB" b="1" dirty="0">
                <a:solidFill>
                  <a:schemeClr val="accent4">
                    <a:lumMod val="50000"/>
                  </a:schemeClr>
                </a:solidFill>
                <a:sym typeface="MT Extra" pitchFamily="18" charset="2"/>
              </a:rPr>
              <a:t>⋈</a:t>
            </a:r>
            <a:r>
              <a:rPr lang="en-GB" dirty="0">
                <a:solidFill>
                  <a:schemeClr val="accent4">
                    <a:lumMod val="50000"/>
                  </a:schemeClr>
                </a:solidFill>
                <a:sym typeface="MT Extra" pitchFamily="18" charset="2"/>
              </a:rPr>
              <a:t> R1</a:t>
            </a:r>
            <a:endParaRPr lang="en-US" dirty="0"/>
          </a:p>
          <a:p>
            <a:r>
              <a:rPr lang="en-US" dirty="0"/>
              <a:t>R3 := </a:t>
            </a:r>
            <a:r>
              <a:rPr lang="en-US" b="1" dirty="0">
                <a:sym typeface="Symbol"/>
              </a:rPr>
              <a:t></a:t>
            </a:r>
            <a:r>
              <a:rPr lang="en-US" sz="4000" baseline="-25000" dirty="0">
                <a:sym typeface="Symbol"/>
              </a:rPr>
              <a:t>Name, COUNT(Course)</a:t>
            </a:r>
            <a:r>
              <a:rPr lang="en-US" sz="4000" baseline="-25000" dirty="0">
                <a:sym typeface="Wingdings" pitchFamily="2" charset="2"/>
              </a:rPr>
              <a:t></a:t>
            </a:r>
            <a:r>
              <a:rPr lang="en-US" sz="4000" baseline="-25000" dirty="0" err="1">
                <a:sym typeface="Wingdings" pitchFamily="2" charset="2"/>
              </a:rPr>
              <a:t>CrsCNT</a:t>
            </a:r>
            <a:r>
              <a:rPr lang="en-US" sz="4000" baseline="-25000" dirty="0">
                <a:sym typeface="Wingdings" pitchFamily="2" charset="2"/>
              </a:rPr>
              <a:t> </a:t>
            </a:r>
            <a:r>
              <a:rPr lang="en-US" dirty="0">
                <a:sym typeface="Symbol"/>
              </a:rPr>
              <a:t>(R2)</a:t>
            </a:r>
          </a:p>
          <a:p>
            <a:r>
              <a:rPr lang="en-US" dirty="0">
                <a:sym typeface="Symbol"/>
              </a:rPr>
              <a:t>R4 := </a:t>
            </a:r>
            <a:r>
              <a:rPr lang="en-US" b="1" dirty="0">
                <a:sym typeface="Symbol"/>
              </a:rPr>
              <a:t></a:t>
            </a:r>
            <a:r>
              <a:rPr lang="en-US" sz="4000" baseline="-25000" dirty="0">
                <a:sym typeface="Symbol"/>
              </a:rPr>
              <a:t>COUNT(Course)</a:t>
            </a:r>
            <a:r>
              <a:rPr lang="en-US" sz="4000" baseline="-25000" dirty="0">
                <a:sym typeface="Wingdings" pitchFamily="2" charset="2"/>
              </a:rPr>
              <a:t></a:t>
            </a:r>
            <a:r>
              <a:rPr lang="en-US" sz="4000" baseline="-25000" dirty="0" err="1">
                <a:sym typeface="Wingdings" pitchFamily="2" charset="2"/>
              </a:rPr>
              <a:t>SceCNT</a:t>
            </a:r>
            <a:r>
              <a:rPr lang="en-US" sz="4000" baseline="-25000" dirty="0">
                <a:sym typeface="Wingdings" pitchFamily="2" charset="2"/>
              </a:rPr>
              <a:t> </a:t>
            </a:r>
            <a:r>
              <a:rPr lang="en-US" dirty="0">
                <a:sym typeface="Symbol"/>
              </a:rPr>
              <a:t>(R1)</a:t>
            </a:r>
            <a:endParaRPr lang="en-US" dirty="0"/>
          </a:p>
          <a:p>
            <a:r>
              <a:rPr lang="en-US" dirty="0">
                <a:sym typeface="Symbol"/>
              </a:rPr>
              <a:t>R5 := R</a:t>
            </a:r>
            <a:r>
              <a:rPr lang="en-US" dirty="0"/>
              <a:t>3 </a:t>
            </a:r>
            <a:r>
              <a:rPr lang="en-GB" b="1" dirty="0">
                <a:solidFill>
                  <a:schemeClr val="accent4">
                    <a:lumMod val="50000"/>
                  </a:schemeClr>
                </a:solidFill>
                <a:sym typeface="MT Extra" pitchFamily="18" charset="2"/>
              </a:rPr>
              <a:t>⋈</a:t>
            </a:r>
            <a:r>
              <a:rPr lang="en-GB" sz="4100" baseline="-25000" dirty="0" err="1">
                <a:solidFill>
                  <a:schemeClr val="accent4">
                    <a:lumMod val="50000"/>
                  </a:schemeClr>
                </a:solidFill>
                <a:sym typeface="MT Extra" pitchFamily="18" charset="2"/>
              </a:rPr>
              <a:t>CrsCNT</a:t>
            </a:r>
            <a:r>
              <a:rPr lang="en-GB" sz="4100" baseline="-25000" dirty="0">
                <a:solidFill>
                  <a:schemeClr val="accent4">
                    <a:lumMod val="50000"/>
                  </a:schemeClr>
                </a:solidFill>
                <a:sym typeface="MT Extra" pitchFamily="18" charset="2"/>
              </a:rPr>
              <a:t> = </a:t>
            </a:r>
            <a:r>
              <a:rPr lang="en-GB" sz="4100" baseline="-25000" dirty="0" err="1">
                <a:solidFill>
                  <a:schemeClr val="accent4">
                    <a:lumMod val="50000"/>
                  </a:schemeClr>
                </a:solidFill>
                <a:sym typeface="MT Extra" pitchFamily="18" charset="2"/>
              </a:rPr>
              <a:t>SceCNT</a:t>
            </a:r>
            <a:r>
              <a:rPr lang="en-GB" dirty="0">
                <a:solidFill>
                  <a:schemeClr val="accent4">
                    <a:lumMod val="50000"/>
                  </a:schemeClr>
                </a:solidFill>
                <a:sym typeface="MT Extra" pitchFamily="18" charset="2"/>
              </a:rPr>
              <a:t> R2</a:t>
            </a:r>
          </a:p>
          <a:p>
            <a:r>
              <a:rPr lang="en-GB" dirty="0">
                <a:solidFill>
                  <a:schemeClr val="accent4">
                    <a:lumMod val="50000"/>
                  </a:schemeClr>
                </a:solidFill>
                <a:sym typeface="MT Extra" pitchFamily="18" charset="2"/>
              </a:rPr>
              <a:t>R6 := </a:t>
            </a:r>
            <a:r>
              <a:rPr lang="en-US" b="1" dirty="0">
                <a:sym typeface="Symbol"/>
              </a:rPr>
              <a:t></a:t>
            </a:r>
            <a:r>
              <a:rPr lang="en-US" sz="4000" baseline="-25000" dirty="0">
                <a:sym typeface="Symbol"/>
              </a:rPr>
              <a:t>Name </a:t>
            </a:r>
            <a:r>
              <a:rPr lang="en-US" dirty="0">
                <a:sym typeface="Symbol"/>
              </a:rPr>
              <a:t>(R5)</a:t>
            </a:r>
          </a:p>
          <a:p>
            <a:endParaRPr lang="en-SG" dirty="0"/>
          </a:p>
        </p:txBody>
      </p:sp>
      <p:graphicFrame>
        <p:nvGraphicFramePr>
          <p:cNvPr id="8" name="Content Placeholder 3"/>
          <p:cNvGraphicFramePr>
            <a:graphicFrameLocks/>
          </p:cNvGraphicFramePr>
          <p:nvPr>
            <p:extLst/>
          </p:nvPr>
        </p:nvGraphicFramePr>
        <p:xfrm>
          <a:off x="2699792" y="836712"/>
          <a:ext cx="3024336"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SG" sz="2400" dirty="0">
                          <a:latin typeface="Calibri" pitchFamily="34" charset="0"/>
                        </a:rPr>
                        <a:t>Grade</a:t>
                      </a: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5"/>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6"/>
                  </a:ext>
                </a:extLst>
              </a:tr>
            </a:tbl>
          </a:graphicData>
        </a:graphic>
      </p:graphicFrame>
      <p:sp>
        <p:nvSpPr>
          <p:cNvPr id="9" name="TextBox 8"/>
          <p:cNvSpPr txBox="1"/>
          <p:nvPr/>
        </p:nvSpPr>
        <p:spPr>
          <a:xfrm>
            <a:off x="2699792" y="241484"/>
            <a:ext cx="122413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Grades</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6516216" y="854720"/>
          <a:ext cx="2088232"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NN</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EE</a:t>
                      </a:r>
                    </a:p>
                  </a:txBody>
                  <a:tcPr marL="0" marR="0" marT="0" marB="0"/>
                </a:tc>
                <a:extLst>
                  <a:ext uri="{0D108BD9-81ED-4DB2-BD59-A6C34878D82A}">
                    <a16:rowId xmlns:a16="http://schemas.microsoft.com/office/drawing/2014/main" val="10004"/>
                  </a:ext>
                </a:extLst>
              </a:tr>
            </a:tbl>
          </a:graphicData>
        </a:graphic>
      </p:graphicFrame>
      <p:sp>
        <p:nvSpPr>
          <p:cNvPr id="11" name="TextBox 10"/>
          <p:cNvSpPr txBox="1"/>
          <p:nvPr/>
        </p:nvSpPr>
        <p:spPr>
          <a:xfrm>
            <a:off x="6531753" y="241236"/>
            <a:ext cx="1712655" cy="523220"/>
          </a:xfrm>
          <a:prstGeom prst="rect">
            <a:avLst/>
          </a:prstGeom>
          <a:noFill/>
          <a:ln w="25400">
            <a:solidFill>
              <a:schemeClr val="accent1"/>
            </a:solidFill>
          </a:ln>
        </p:spPr>
        <p:txBody>
          <a:bodyPr wrap="square" rtlCol="0">
            <a:spAutoFit/>
          </a:bodyPr>
          <a:lstStyle/>
          <a:p>
            <a:r>
              <a:rPr lang="en-US" sz="2800" b="1" dirty="0" err="1">
                <a:latin typeface="Calibri" pitchFamily="34" charset="0"/>
              </a:rPr>
              <a:t>CrsSch</a:t>
            </a:r>
            <a:endParaRPr lang="en-SG" sz="2800" b="1" dirty="0">
              <a:latin typeface="Calibri" pitchFamily="34" charset="0"/>
            </a:endParaRPr>
          </a:p>
        </p:txBody>
      </p:sp>
    </p:spTree>
    <p:extLst>
      <p:ext uri="{BB962C8B-B14F-4D97-AF65-F5344CB8AC3E}">
        <p14:creationId xmlns:p14="http://schemas.microsoft.com/office/powerpoint/2010/main" val="4227424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522856"/>
            <a:ext cx="8363272" cy="2858472"/>
          </a:xfrm>
          <a:solidFill>
            <a:schemeClr val="bg1"/>
          </a:solidFill>
        </p:spPr>
        <p:txBody>
          <a:bodyPr>
            <a:normAutofit fontScale="77500" lnSpcReduction="20000"/>
          </a:bodyPr>
          <a:lstStyle/>
          <a:p>
            <a:r>
              <a:rPr lang="en-US" dirty="0"/>
              <a:t>Query: “For each school, find the students who have taken all courses in the school”</a:t>
            </a:r>
          </a:p>
          <a:p>
            <a:r>
              <a:rPr lang="en-US" dirty="0"/>
              <a:t>R1 := </a:t>
            </a:r>
            <a:r>
              <a:rPr lang="en-US" dirty="0">
                <a:sym typeface="Symbol"/>
              </a:rPr>
              <a:t>Grades</a:t>
            </a:r>
            <a:r>
              <a:rPr lang="en-US" dirty="0"/>
              <a:t> </a:t>
            </a:r>
            <a:r>
              <a:rPr lang="en-GB" b="1" dirty="0">
                <a:solidFill>
                  <a:schemeClr val="accent4">
                    <a:lumMod val="50000"/>
                  </a:schemeClr>
                </a:solidFill>
                <a:sym typeface="MT Extra" pitchFamily="18" charset="2"/>
              </a:rPr>
              <a:t>⋈</a:t>
            </a:r>
            <a:r>
              <a:rPr lang="en-GB" dirty="0">
                <a:solidFill>
                  <a:schemeClr val="accent4">
                    <a:lumMod val="50000"/>
                  </a:schemeClr>
                </a:solidFill>
                <a:sym typeface="MT Extra" pitchFamily="18" charset="2"/>
              </a:rPr>
              <a:t> </a:t>
            </a:r>
            <a:r>
              <a:rPr lang="en-GB" dirty="0" err="1">
                <a:solidFill>
                  <a:schemeClr val="accent4">
                    <a:lumMod val="50000"/>
                  </a:schemeClr>
                </a:solidFill>
                <a:sym typeface="MT Extra" pitchFamily="18" charset="2"/>
              </a:rPr>
              <a:t>CrsSch</a:t>
            </a:r>
            <a:endParaRPr lang="en-US" dirty="0"/>
          </a:p>
          <a:p>
            <a:r>
              <a:rPr lang="en-US" dirty="0"/>
              <a:t>R2 := </a:t>
            </a:r>
            <a:r>
              <a:rPr lang="en-US" b="1" dirty="0">
                <a:sym typeface="Symbol"/>
              </a:rPr>
              <a:t></a:t>
            </a:r>
            <a:r>
              <a:rPr lang="en-US" sz="4000" baseline="-25000" dirty="0">
                <a:sym typeface="Symbol"/>
              </a:rPr>
              <a:t>Name, School, COUNT(Course)</a:t>
            </a:r>
            <a:r>
              <a:rPr lang="en-US" sz="4000" baseline="-25000" dirty="0">
                <a:sym typeface="Wingdings" pitchFamily="2" charset="2"/>
              </a:rPr>
              <a:t></a:t>
            </a:r>
            <a:r>
              <a:rPr lang="en-US" sz="4000" baseline="-25000" dirty="0" err="1">
                <a:sym typeface="Wingdings" pitchFamily="2" charset="2"/>
              </a:rPr>
              <a:t>CrsCNT</a:t>
            </a:r>
            <a:r>
              <a:rPr lang="en-US" sz="4000" baseline="-25000" dirty="0">
                <a:sym typeface="Wingdings" pitchFamily="2" charset="2"/>
              </a:rPr>
              <a:t> </a:t>
            </a:r>
            <a:r>
              <a:rPr lang="en-US" dirty="0">
                <a:sym typeface="Symbol"/>
              </a:rPr>
              <a:t>(R1)</a:t>
            </a:r>
          </a:p>
          <a:p>
            <a:r>
              <a:rPr lang="en-US" dirty="0">
                <a:sym typeface="Symbol"/>
              </a:rPr>
              <a:t>R3 := </a:t>
            </a:r>
            <a:r>
              <a:rPr lang="en-US" b="1" dirty="0">
                <a:sym typeface="Symbol"/>
              </a:rPr>
              <a:t></a:t>
            </a:r>
            <a:r>
              <a:rPr lang="en-US" sz="4000" baseline="-25000" dirty="0">
                <a:sym typeface="Symbol"/>
              </a:rPr>
              <a:t>School, COUNT(Course)</a:t>
            </a:r>
            <a:r>
              <a:rPr lang="en-US" sz="4000" baseline="-25000" dirty="0">
                <a:sym typeface="Wingdings" pitchFamily="2" charset="2"/>
              </a:rPr>
              <a:t></a:t>
            </a:r>
            <a:r>
              <a:rPr lang="en-US" sz="4000" baseline="-25000" dirty="0" err="1">
                <a:sym typeface="Wingdings" pitchFamily="2" charset="2"/>
              </a:rPr>
              <a:t>CrsCNT</a:t>
            </a:r>
            <a:r>
              <a:rPr lang="en-US" sz="4000" baseline="-25000" dirty="0">
                <a:sym typeface="Wingdings" pitchFamily="2" charset="2"/>
              </a:rPr>
              <a:t> </a:t>
            </a:r>
            <a:r>
              <a:rPr lang="en-US" dirty="0">
                <a:sym typeface="Symbol"/>
              </a:rPr>
              <a:t>(</a:t>
            </a:r>
            <a:r>
              <a:rPr lang="en-US" dirty="0" err="1">
                <a:sym typeface="Symbol"/>
              </a:rPr>
              <a:t>CrsSch</a:t>
            </a:r>
            <a:r>
              <a:rPr lang="en-US" dirty="0">
                <a:sym typeface="Symbol"/>
              </a:rPr>
              <a:t>)</a:t>
            </a:r>
            <a:endParaRPr lang="en-US" dirty="0"/>
          </a:p>
          <a:p>
            <a:r>
              <a:rPr lang="en-US" dirty="0">
                <a:sym typeface="Symbol"/>
              </a:rPr>
              <a:t>R4 := R</a:t>
            </a:r>
            <a:r>
              <a:rPr lang="en-US" dirty="0"/>
              <a:t>2 </a:t>
            </a:r>
            <a:r>
              <a:rPr lang="en-GB" b="1" dirty="0">
                <a:solidFill>
                  <a:schemeClr val="accent4">
                    <a:lumMod val="50000"/>
                  </a:schemeClr>
                </a:solidFill>
                <a:sym typeface="MT Extra" pitchFamily="18" charset="2"/>
              </a:rPr>
              <a:t>⋈</a:t>
            </a:r>
            <a:r>
              <a:rPr lang="en-GB" sz="4100" baseline="-25000" dirty="0">
                <a:solidFill>
                  <a:schemeClr val="accent4">
                    <a:lumMod val="50000"/>
                  </a:schemeClr>
                </a:solidFill>
                <a:sym typeface="MT Extra" pitchFamily="18" charset="2"/>
              </a:rPr>
              <a:t>R2.School = R3.School AND R2.CrsCNT = R3.CrsCNT</a:t>
            </a:r>
            <a:r>
              <a:rPr lang="en-GB" dirty="0">
                <a:solidFill>
                  <a:schemeClr val="accent4">
                    <a:lumMod val="50000"/>
                  </a:schemeClr>
                </a:solidFill>
                <a:sym typeface="MT Extra" pitchFamily="18" charset="2"/>
              </a:rPr>
              <a:t> R3</a:t>
            </a:r>
          </a:p>
          <a:p>
            <a:pPr marL="0" indent="0">
              <a:buNone/>
            </a:pPr>
            <a:r>
              <a:rPr lang="en-SG" dirty="0"/>
              <a:t> </a:t>
            </a:r>
          </a:p>
        </p:txBody>
      </p:sp>
      <p:graphicFrame>
        <p:nvGraphicFramePr>
          <p:cNvPr id="8" name="Content Placeholder 3"/>
          <p:cNvGraphicFramePr>
            <a:graphicFrameLocks/>
          </p:cNvGraphicFramePr>
          <p:nvPr>
            <p:extLst/>
          </p:nvPr>
        </p:nvGraphicFramePr>
        <p:xfrm>
          <a:off x="2699792" y="836712"/>
          <a:ext cx="3024336"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SG" sz="2400" dirty="0">
                          <a:latin typeface="Calibri" pitchFamily="34" charset="0"/>
                        </a:rPr>
                        <a:t>Grade</a:t>
                      </a: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5"/>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6"/>
                  </a:ext>
                </a:extLst>
              </a:tr>
            </a:tbl>
          </a:graphicData>
        </a:graphic>
      </p:graphicFrame>
      <p:sp>
        <p:nvSpPr>
          <p:cNvPr id="9" name="TextBox 8"/>
          <p:cNvSpPr txBox="1"/>
          <p:nvPr/>
        </p:nvSpPr>
        <p:spPr>
          <a:xfrm>
            <a:off x="2699792" y="241484"/>
            <a:ext cx="122413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Grades</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6516216" y="854720"/>
          <a:ext cx="2088232"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NN</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EE</a:t>
                      </a:r>
                    </a:p>
                  </a:txBody>
                  <a:tcPr marL="0" marR="0" marT="0" marB="0"/>
                </a:tc>
                <a:extLst>
                  <a:ext uri="{0D108BD9-81ED-4DB2-BD59-A6C34878D82A}">
                    <a16:rowId xmlns:a16="http://schemas.microsoft.com/office/drawing/2014/main" val="10004"/>
                  </a:ext>
                </a:extLst>
              </a:tr>
            </a:tbl>
          </a:graphicData>
        </a:graphic>
      </p:graphicFrame>
      <p:sp>
        <p:nvSpPr>
          <p:cNvPr id="11" name="TextBox 10"/>
          <p:cNvSpPr txBox="1"/>
          <p:nvPr/>
        </p:nvSpPr>
        <p:spPr>
          <a:xfrm>
            <a:off x="6531753" y="241236"/>
            <a:ext cx="1712655" cy="523220"/>
          </a:xfrm>
          <a:prstGeom prst="rect">
            <a:avLst/>
          </a:prstGeom>
          <a:noFill/>
          <a:ln w="25400">
            <a:solidFill>
              <a:schemeClr val="accent1"/>
            </a:solidFill>
          </a:ln>
        </p:spPr>
        <p:txBody>
          <a:bodyPr wrap="square" rtlCol="0">
            <a:spAutoFit/>
          </a:bodyPr>
          <a:lstStyle/>
          <a:p>
            <a:r>
              <a:rPr lang="en-US" sz="2800" b="1" dirty="0" err="1">
                <a:latin typeface="Calibri" pitchFamily="34" charset="0"/>
              </a:rPr>
              <a:t>CrsSch</a:t>
            </a:r>
            <a:endParaRPr lang="en-SG" sz="2800" b="1" dirty="0">
              <a:latin typeface="Calibri" pitchFamily="34" charset="0"/>
            </a:endParaRPr>
          </a:p>
        </p:txBody>
      </p:sp>
    </p:spTree>
    <p:extLst>
      <p:ext uri="{BB962C8B-B14F-4D97-AF65-F5344CB8AC3E}">
        <p14:creationId xmlns:p14="http://schemas.microsoft.com/office/powerpoint/2010/main" val="2622746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 </a:t>
            </a:r>
            <a:r>
              <a:rPr lang="en-US" dirty="0">
                <a:sym typeface="Symbol"/>
              </a:rPr>
              <a:t></a:t>
            </a:r>
            <a:endParaRPr lang="en-SG" dirty="0"/>
          </a:p>
        </p:txBody>
      </p:sp>
      <p:sp>
        <p:nvSpPr>
          <p:cNvPr id="3" name="Content Placeholder 2"/>
          <p:cNvSpPr>
            <a:spLocks noGrp="1"/>
          </p:cNvSpPr>
          <p:nvPr>
            <p:ph idx="1"/>
          </p:nvPr>
        </p:nvSpPr>
        <p:spPr>
          <a:xfrm>
            <a:off x="457200" y="3501008"/>
            <a:ext cx="8686800" cy="2629917"/>
          </a:xfrm>
        </p:spPr>
        <p:txBody>
          <a:bodyPr>
            <a:normAutofit fontScale="77500" lnSpcReduction="20000"/>
          </a:bodyPr>
          <a:lstStyle/>
          <a:p>
            <a:r>
              <a:rPr lang="en-US" dirty="0"/>
              <a:t>Query: “Find each person that owns all Apple products”</a:t>
            </a:r>
          </a:p>
          <a:p>
            <a:r>
              <a:rPr lang="en-US" dirty="0"/>
              <a:t>Owns </a:t>
            </a:r>
            <a:r>
              <a:rPr lang="en-US" b="1" dirty="0">
                <a:sym typeface="Symbol"/>
              </a:rPr>
              <a:t></a:t>
            </a:r>
            <a:r>
              <a:rPr lang="en-US" dirty="0"/>
              <a:t> </a:t>
            </a:r>
            <a:r>
              <a:rPr lang="en-US" dirty="0" err="1"/>
              <a:t>AppleP</a:t>
            </a:r>
            <a:endParaRPr lang="en-US" dirty="0"/>
          </a:p>
          <a:p>
            <a:r>
              <a:rPr lang="en-US" dirty="0"/>
              <a:t>In general, R</a:t>
            </a:r>
            <a:r>
              <a:rPr lang="en-US" baseline="-25000" dirty="0"/>
              <a:t>1</a:t>
            </a:r>
            <a:r>
              <a:rPr lang="en-US" dirty="0"/>
              <a:t>(A, B) </a:t>
            </a:r>
            <a:r>
              <a:rPr lang="en-US" b="1" dirty="0">
                <a:sym typeface="Symbol"/>
              </a:rPr>
              <a:t></a:t>
            </a:r>
            <a:r>
              <a:rPr lang="en-US" dirty="0"/>
              <a:t> R</a:t>
            </a:r>
            <a:r>
              <a:rPr lang="en-US" baseline="-25000" dirty="0"/>
              <a:t>2</a:t>
            </a:r>
            <a:r>
              <a:rPr lang="en-US" dirty="0"/>
              <a:t>(B) returns a table that contains only A</a:t>
            </a:r>
          </a:p>
          <a:p>
            <a:r>
              <a:rPr lang="en-US" dirty="0"/>
              <a:t>The table contains each A value in R</a:t>
            </a:r>
            <a:r>
              <a:rPr lang="en-US" baseline="-25000" dirty="0"/>
              <a:t>1</a:t>
            </a:r>
            <a:r>
              <a:rPr lang="en-US" dirty="0"/>
              <a:t> that is associated with every B value in R</a:t>
            </a:r>
            <a:r>
              <a:rPr lang="en-US" baseline="-25000" dirty="0"/>
              <a:t>2</a:t>
            </a:r>
          </a:p>
          <a:p>
            <a:r>
              <a:rPr lang="en-US" dirty="0"/>
              <a:t>Intuitive interpretation: “Find the A that R</a:t>
            </a:r>
            <a:r>
              <a:rPr lang="en-US" baseline="-25000" dirty="0"/>
              <a:t>1</a:t>
            </a:r>
            <a:r>
              <a:rPr lang="en-US" dirty="0"/>
              <a:t> all the B in R</a:t>
            </a:r>
            <a:r>
              <a:rPr lang="en-US" baseline="-25000" dirty="0"/>
              <a:t>2</a:t>
            </a:r>
            <a:r>
              <a:rPr lang="en-US" dirty="0"/>
              <a:t>”</a:t>
            </a:r>
          </a:p>
          <a:p>
            <a:r>
              <a:rPr lang="en-US" dirty="0"/>
              <a:t>Example: “Find the Name that Owns all the Product in </a:t>
            </a:r>
            <a:r>
              <a:rPr lang="en-US" dirty="0" err="1"/>
              <a:t>AppleP</a:t>
            </a:r>
            <a:r>
              <a:rPr lang="en-US" dirty="0"/>
              <a:t>”</a:t>
            </a:r>
            <a:endParaRPr lang="en-SG" dirty="0"/>
          </a:p>
        </p:txBody>
      </p:sp>
      <p:graphicFrame>
        <p:nvGraphicFramePr>
          <p:cNvPr id="4" name="Content Placeholder 3"/>
          <p:cNvGraphicFramePr>
            <a:graphicFrameLocks/>
          </p:cNvGraphicFramePr>
          <p:nvPr>
            <p:extLst/>
          </p:nvPr>
        </p:nvGraphicFramePr>
        <p:xfrm>
          <a:off x="467545" y="1594212"/>
          <a:ext cx="2016223"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Product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err="1">
                          <a:latin typeface="Calibri" pitchFamily="34" charset="0"/>
                        </a:rPr>
                        <a:t>iPad</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err="1">
                          <a:latin typeface="Calibri" pitchFamily="34" charset="0"/>
                        </a:rPr>
                        <a:t>iPad</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Owns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275857" y="1594212"/>
          <a:ext cx="1152128" cy="111252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Product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err="1">
                          <a:latin typeface="Calibri" pitchFamily="34" charset="0"/>
                        </a:rPr>
                        <a:t>iPad</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7" name="TextBox 6"/>
          <p:cNvSpPr txBox="1"/>
          <p:nvPr/>
        </p:nvSpPr>
        <p:spPr>
          <a:xfrm>
            <a:off x="3275856" y="980728"/>
            <a:ext cx="1296144" cy="523220"/>
          </a:xfrm>
          <a:prstGeom prst="rect">
            <a:avLst/>
          </a:prstGeom>
          <a:noFill/>
          <a:ln w="25400">
            <a:solidFill>
              <a:schemeClr val="accent1"/>
            </a:solidFill>
          </a:ln>
        </p:spPr>
        <p:txBody>
          <a:bodyPr wrap="square" rtlCol="0">
            <a:spAutoFit/>
          </a:bodyPr>
          <a:lstStyle/>
          <a:p>
            <a:r>
              <a:rPr lang="en-US" sz="2800" b="1" dirty="0" err="1">
                <a:latin typeface="Calibri" pitchFamily="34" charset="0"/>
              </a:rPr>
              <a:t>AppleP</a:t>
            </a:r>
            <a:endParaRPr lang="en-SG" sz="2800" b="1" dirty="0">
              <a:latin typeface="Calibri" pitchFamily="34" charset="0"/>
            </a:endParaRPr>
          </a:p>
        </p:txBody>
      </p:sp>
      <p:sp>
        <p:nvSpPr>
          <p:cNvPr id="8" name="TextBox 7"/>
          <p:cNvSpPr txBox="1"/>
          <p:nvPr/>
        </p:nvSpPr>
        <p:spPr>
          <a:xfrm>
            <a:off x="5652119"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5652120" y="1574800"/>
          <a:ext cx="936104" cy="74168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7075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 </a:t>
            </a:r>
            <a:r>
              <a:rPr lang="en-US" dirty="0">
                <a:sym typeface="Symbol"/>
              </a:rPr>
              <a:t></a:t>
            </a:r>
            <a:endParaRPr lang="en-SG" dirty="0"/>
          </a:p>
        </p:txBody>
      </p:sp>
      <p:sp>
        <p:nvSpPr>
          <p:cNvPr id="3" name="Content Placeholder 2"/>
          <p:cNvSpPr>
            <a:spLocks noGrp="1"/>
          </p:cNvSpPr>
          <p:nvPr>
            <p:ph idx="1"/>
          </p:nvPr>
        </p:nvSpPr>
        <p:spPr>
          <a:xfrm>
            <a:off x="457200" y="3501008"/>
            <a:ext cx="8686800" cy="2629917"/>
          </a:xfrm>
        </p:spPr>
        <p:txBody>
          <a:bodyPr>
            <a:normAutofit/>
          </a:bodyPr>
          <a:lstStyle/>
          <a:p>
            <a:r>
              <a:rPr lang="en-US" dirty="0"/>
              <a:t>Query: “Find each person that has joined all clubs”</a:t>
            </a:r>
          </a:p>
          <a:p>
            <a:r>
              <a:rPr lang="en-US" dirty="0"/>
              <a:t>Joins </a:t>
            </a:r>
            <a:r>
              <a:rPr lang="en-US" b="1" dirty="0">
                <a:sym typeface="Symbol"/>
              </a:rPr>
              <a:t></a:t>
            </a:r>
            <a:r>
              <a:rPr lang="en-US" dirty="0"/>
              <a:t> Clubs</a:t>
            </a:r>
          </a:p>
          <a:p>
            <a:endParaRPr lang="en-SG" dirty="0"/>
          </a:p>
        </p:txBody>
      </p:sp>
      <p:graphicFrame>
        <p:nvGraphicFramePr>
          <p:cNvPr id="4" name="Content Placeholder 3"/>
          <p:cNvGraphicFramePr>
            <a:graphicFrameLocks/>
          </p:cNvGraphicFramePr>
          <p:nvPr>
            <p:extLst/>
          </p:nvPr>
        </p:nvGraphicFramePr>
        <p:xfrm>
          <a:off x="467545" y="1594212"/>
          <a:ext cx="1656183"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Club</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ABC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DEF</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ABC</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DEF</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93610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Joins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275857" y="1594212"/>
          <a:ext cx="792087" cy="1112520"/>
        </p:xfrm>
        <a:graphic>
          <a:graphicData uri="http://schemas.openxmlformats.org/drawingml/2006/table">
            <a:tbl>
              <a:tblPr firstRow="1" bandRow="1">
                <a:tableStyleId>{5C22544A-7EE6-4342-B048-85BDC9FD1C3A}</a:tableStyleId>
              </a:tblPr>
              <a:tblGrid>
                <a:gridCol w="792087">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Club</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ABC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DEF</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7" name="TextBox 6"/>
          <p:cNvSpPr txBox="1"/>
          <p:nvPr/>
        </p:nvSpPr>
        <p:spPr>
          <a:xfrm>
            <a:off x="3275856" y="980728"/>
            <a:ext cx="129614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Clubs</a:t>
            </a:r>
            <a:endParaRPr lang="en-SG" sz="2800" b="1" dirty="0">
              <a:latin typeface="Calibri" pitchFamily="34" charset="0"/>
            </a:endParaRPr>
          </a:p>
        </p:txBody>
      </p:sp>
      <p:sp>
        <p:nvSpPr>
          <p:cNvPr id="8" name="TextBox 7"/>
          <p:cNvSpPr txBox="1"/>
          <p:nvPr/>
        </p:nvSpPr>
        <p:spPr>
          <a:xfrm>
            <a:off x="5652119"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5652120" y="1574800"/>
          <a:ext cx="936104" cy="74168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5230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 </a:t>
            </a:r>
            <a:r>
              <a:rPr lang="en-US" dirty="0">
                <a:sym typeface="Symbol"/>
              </a:rPr>
              <a:t></a:t>
            </a:r>
            <a:endParaRPr lang="en-SG" dirty="0"/>
          </a:p>
        </p:txBody>
      </p:sp>
      <p:sp>
        <p:nvSpPr>
          <p:cNvPr id="3" name="Content Placeholder 2"/>
          <p:cNvSpPr>
            <a:spLocks noGrp="1"/>
          </p:cNvSpPr>
          <p:nvPr>
            <p:ph idx="1"/>
          </p:nvPr>
        </p:nvSpPr>
        <p:spPr>
          <a:xfrm>
            <a:off x="457200" y="3501008"/>
            <a:ext cx="8686800" cy="2629917"/>
          </a:xfrm>
        </p:spPr>
        <p:txBody>
          <a:bodyPr>
            <a:normAutofit/>
          </a:bodyPr>
          <a:lstStyle/>
          <a:p>
            <a:r>
              <a:rPr lang="en-US" dirty="0"/>
              <a:t>Joins </a:t>
            </a:r>
            <a:r>
              <a:rPr lang="en-US" b="1" dirty="0">
                <a:sym typeface="Symbol"/>
              </a:rPr>
              <a:t></a:t>
            </a:r>
            <a:r>
              <a:rPr lang="en-US" dirty="0"/>
              <a:t> Clubs ?</a:t>
            </a:r>
          </a:p>
          <a:p>
            <a:r>
              <a:rPr lang="en-US" dirty="0"/>
              <a:t>No result.</a:t>
            </a:r>
          </a:p>
          <a:p>
            <a:r>
              <a:rPr lang="en-US" dirty="0"/>
              <a:t>In general, R</a:t>
            </a:r>
            <a:r>
              <a:rPr lang="en-US" baseline="-25000" dirty="0"/>
              <a:t>1</a:t>
            </a:r>
            <a:r>
              <a:rPr lang="en-US" dirty="0"/>
              <a:t>(A, B) </a:t>
            </a:r>
            <a:r>
              <a:rPr lang="en-US" b="1" dirty="0">
                <a:sym typeface="Symbol"/>
              </a:rPr>
              <a:t></a:t>
            </a:r>
            <a:r>
              <a:rPr lang="en-US" dirty="0"/>
              <a:t> R</a:t>
            </a:r>
            <a:r>
              <a:rPr lang="en-US" baseline="-25000" dirty="0"/>
              <a:t>2</a:t>
            </a:r>
            <a:r>
              <a:rPr lang="en-US" dirty="0"/>
              <a:t>(B) returns a table that contains only A</a:t>
            </a:r>
          </a:p>
        </p:txBody>
      </p:sp>
      <p:graphicFrame>
        <p:nvGraphicFramePr>
          <p:cNvPr id="4" name="Content Placeholder 3"/>
          <p:cNvGraphicFramePr>
            <a:graphicFrameLocks/>
          </p:cNvGraphicFramePr>
          <p:nvPr>
            <p:extLst/>
          </p:nvPr>
        </p:nvGraphicFramePr>
        <p:xfrm>
          <a:off x="467545" y="1594212"/>
          <a:ext cx="1656183"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Club</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ABC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DEF</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ABC</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DEF</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93610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Joins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275857" y="1594212"/>
          <a:ext cx="936103" cy="1112520"/>
        </p:xfrm>
        <a:graphic>
          <a:graphicData uri="http://schemas.openxmlformats.org/drawingml/2006/table">
            <a:tbl>
              <a:tblPr firstRow="1" bandRow="1">
                <a:tableStyleId>{5C22544A-7EE6-4342-B048-85BDC9FD1C3A}</a:tableStyleId>
              </a:tblPr>
              <a:tblGrid>
                <a:gridCol w="936103">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ABC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DEF</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7" name="TextBox 6"/>
          <p:cNvSpPr txBox="1"/>
          <p:nvPr/>
        </p:nvSpPr>
        <p:spPr>
          <a:xfrm>
            <a:off x="3275856" y="980728"/>
            <a:ext cx="1296144" cy="523220"/>
          </a:xfrm>
          <a:prstGeom prst="rect">
            <a:avLst/>
          </a:prstGeom>
          <a:noFill/>
          <a:ln w="25400">
            <a:solidFill>
              <a:schemeClr val="accent1"/>
            </a:solidFill>
          </a:ln>
        </p:spPr>
        <p:txBody>
          <a:bodyPr wrap="square" rtlCol="0">
            <a:spAutoFit/>
          </a:bodyPr>
          <a:lstStyle/>
          <a:p>
            <a:r>
              <a:rPr lang="en-US" sz="2800" b="1" dirty="0">
                <a:latin typeface="Calibri" pitchFamily="34" charset="0"/>
              </a:rPr>
              <a:t>Clubs</a:t>
            </a:r>
            <a:endParaRPr lang="en-SG" sz="2800" b="1" dirty="0">
              <a:latin typeface="Calibri" pitchFamily="34" charset="0"/>
            </a:endParaRPr>
          </a:p>
        </p:txBody>
      </p:sp>
      <p:sp>
        <p:nvSpPr>
          <p:cNvPr id="8" name="TextBox 7"/>
          <p:cNvSpPr txBox="1"/>
          <p:nvPr/>
        </p:nvSpPr>
        <p:spPr>
          <a:xfrm>
            <a:off x="5652119"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5652120" y="1574800"/>
          <a:ext cx="936104" cy="37084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Club</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644629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 </a:t>
            </a:r>
            <a:r>
              <a:rPr lang="en-US" dirty="0">
                <a:sym typeface="Symbol"/>
              </a:rPr>
              <a:t></a:t>
            </a:r>
            <a:endParaRPr lang="en-SG" dirty="0"/>
          </a:p>
        </p:txBody>
      </p:sp>
      <p:sp>
        <p:nvSpPr>
          <p:cNvPr id="3" name="Content Placeholder 2"/>
          <p:cNvSpPr>
            <a:spLocks noGrp="1"/>
          </p:cNvSpPr>
          <p:nvPr>
            <p:ph idx="1"/>
          </p:nvPr>
        </p:nvSpPr>
        <p:spPr>
          <a:xfrm>
            <a:off x="457200" y="3501008"/>
            <a:ext cx="8686800" cy="2629917"/>
          </a:xfrm>
        </p:spPr>
        <p:txBody>
          <a:bodyPr>
            <a:normAutofit fontScale="85000" lnSpcReduction="20000"/>
          </a:bodyPr>
          <a:lstStyle/>
          <a:p>
            <a:r>
              <a:rPr lang="en-US" dirty="0"/>
              <a:t>Query: “Find each person that owns all Apple products”</a:t>
            </a:r>
          </a:p>
          <a:p>
            <a:r>
              <a:rPr lang="en-US" dirty="0"/>
              <a:t>Owns </a:t>
            </a:r>
            <a:r>
              <a:rPr lang="en-US" b="1" dirty="0">
                <a:sym typeface="Symbol"/>
              </a:rPr>
              <a:t></a:t>
            </a:r>
            <a:r>
              <a:rPr lang="en-US" dirty="0"/>
              <a:t> </a:t>
            </a:r>
            <a:r>
              <a:rPr lang="en-US" dirty="0" err="1"/>
              <a:t>AppleP</a:t>
            </a:r>
            <a:r>
              <a:rPr lang="en-US" dirty="0"/>
              <a:t> ?</a:t>
            </a:r>
          </a:p>
          <a:p>
            <a:r>
              <a:rPr lang="en-US" dirty="0"/>
              <a:t>Wrong, since “Price” does not appear in “Owns”</a:t>
            </a:r>
          </a:p>
          <a:p>
            <a:r>
              <a:rPr lang="en-US" dirty="0"/>
              <a:t>In general, R</a:t>
            </a:r>
            <a:r>
              <a:rPr lang="en-US" baseline="-25000" dirty="0"/>
              <a:t>1</a:t>
            </a:r>
            <a:r>
              <a:rPr lang="en-US" dirty="0"/>
              <a:t>(A, B) </a:t>
            </a:r>
            <a:r>
              <a:rPr lang="en-US" b="1" dirty="0">
                <a:sym typeface="Symbol"/>
              </a:rPr>
              <a:t></a:t>
            </a:r>
            <a:r>
              <a:rPr lang="en-US" dirty="0"/>
              <a:t> R</a:t>
            </a:r>
            <a:r>
              <a:rPr lang="en-US" baseline="-25000" dirty="0"/>
              <a:t>2</a:t>
            </a:r>
            <a:r>
              <a:rPr lang="en-US" dirty="0"/>
              <a:t>(B) returns a table that contains only A</a:t>
            </a:r>
          </a:p>
          <a:p>
            <a:r>
              <a:rPr lang="en-US" dirty="0"/>
              <a:t>Correct answer: Owns </a:t>
            </a:r>
            <a:r>
              <a:rPr lang="en-US" b="1" dirty="0">
                <a:sym typeface="Symbol"/>
              </a:rPr>
              <a:t></a:t>
            </a:r>
            <a:r>
              <a:rPr lang="en-US" dirty="0"/>
              <a:t> (</a:t>
            </a:r>
            <a:r>
              <a:rPr lang="en-US" dirty="0">
                <a:sym typeface="Symbol"/>
              </a:rPr>
              <a:t></a:t>
            </a:r>
            <a:r>
              <a:rPr lang="en-US" baseline="-25000" dirty="0" err="1">
                <a:sym typeface="Symbol"/>
              </a:rPr>
              <a:t>Product</a:t>
            </a:r>
            <a:r>
              <a:rPr lang="en-US" dirty="0" err="1"/>
              <a:t>AppleP</a:t>
            </a:r>
            <a:r>
              <a:rPr lang="en-US" dirty="0"/>
              <a:t>)</a:t>
            </a:r>
          </a:p>
        </p:txBody>
      </p:sp>
      <p:graphicFrame>
        <p:nvGraphicFramePr>
          <p:cNvPr id="4" name="Content Placeholder 3"/>
          <p:cNvGraphicFramePr>
            <a:graphicFrameLocks/>
          </p:cNvGraphicFramePr>
          <p:nvPr>
            <p:extLst/>
          </p:nvPr>
        </p:nvGraphicFramePr>
        <p:xfrm>
          <a:off x="467545" y="1594212"/>
          <a:ext cx="2016223"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Product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err="1">
                          <a:latin typeface="Calibri" pitchFamily="34" charset="0"/>
                        </a:rPr>
                        <a:t>iPad</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err="1">
                          <a:latin typeface="Calibri" pitchFamily="34" charset="0"/>
                        </a:rPr>
                        <a:t>iPad</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Owns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275857" y="1594212"/>
          <a:ext cx="2016223" cy="1112520"/>
        </p:xfrm>
        <a:graphic>
          <a:graphicData uri="http://schemas.openxmlformats.org/drawingml/2006/table">
            <a:tbl>
              <a:tblPr firstRow="1" bandRow="1">
                <a:tableStyleId>{5C22544A-7EE6-4342-B048-85BDC9FD1C3A}</a:tableStyleId>
              </a:tblPr>
              <a:tblGrid>
                <a:gridCol w="1152127">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tblGrid>
              <a:tr h="370840">
                <a:tc>
                  <a:txBody>
                    <a:bodyPr/>
                    <a:lstStyle/>
                    <a:p>
                      <a:pPr algn="ctr"/>
                      <a:r>
                        <a:rPr lang="en-US" sz="2400" dirty="0">
                          <a:latin typeface="Calibri" pitchFamily="34" charset="0"/>
                        </a:rPr>
                        <a:t>Product</a:t>
                      </a:r>
                      <a:endParaRPr lang="en-SG" sz="2400" dirty="0">
                        <a:latin typeface="Calibri" pitchFamily="34" charset="0"/>
                      </a:endParaRPr>
                    </a:p>
                  </a:txBody>
                  <a:tcPr marL="0" marR="0" marT="0" marB="0"/>
                </a:tc>
                <a:tc>
                  <a:txBody>
                    <a:bodyPr/>
                    <a:lstStyle/>
                    <a:p>
                      <a:pPr algn="ctr"/>
                      <a:r>
                        <a:rPr lang="en-US" sz="2400" dirty="0">
                          <a:latin typeface="Calibri" pitchFamily="34" charset="0"/>
                        </a:rPr>
                        <a:t>Price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tc>
                  <a:txBody>
                    <a:bodyPr/>
                    <a:lstStyle/>
                    <a:p>
                      <a:pPr algn="ctr"/>
                      <a:r>
                        <a:rPr lang="en-US" sz="2400" dirty="0">
                          <a:latin typeface="Calibri" pitchFamily="34" charset="0"/>
                        </a:rPr>
                        <a:t>999</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err="1">
                          <a:latin typeface="Calibri" pitchFamily="34" charset="0"/>
                        </a:rPr>
                        <a:t>iPad</a:t>
                      </a:r>
                      <a:endParaRPr lang="en-SG" sz="2400" dirty="0">
                        <a:latin typeface="Calibri" pitchFamily="34" charset="0"/>
                      </a:endParaRPr>
                    </a:p>
                  </a:txBody>
                  <a:tcPr marL="0" marR="0" marT="0" marB="0"/>
                </a:tc>
                <a:tc>
                  <a:txBody>
                    <a:bodyPr/>
                    <a:lstStyle/>
                    <a:p>
                      <a:pPr algn="ctr"/>
                      <a:r>
                        <a:rPr lang="en-US" sz="2400" dirty="0">
                          <a:latin typeface="Calibri" pitchFamily="34" charset="0"/>
                        </a:rPr>
                        <a:t>699</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7" name="TextBox 6"/>
          <p:cNvSpPr txBox="1"/>
          <p:nvPr/>
        </p:nvSpPr>
        <p:spPr>
          <a:xfrm>
            <a:off x="3275856" y="980728"/>
            <a:ext cx="1296144" cy="523220"/>
          </a:xfrm>
          <a:prstGeom prst="rect">
            <a:avLst/>
          </a:prstGeom>
          <a:noFill/>
          <a:ln w="25400">
            <a:solidFill>
              <a:schemeClr val="accent1"/>
            </a:solidFill>
          </a:ln>
        </p:spPr>
        <p:txBody>
          <a:bodyPr wrap="square" rtlCol="0">
            <a:spAutoFit/>
          </a:bodyPr>
          <a:lstStyle/>
          <a:p>
            <a:r>
              <a:rPr lang="en-US" sz="2800" b="1" dirty="0" err="1">
                <a:latin typeface="Calibri" pitchFamily="34" charset="0"/>
              </a:rPr>
              <a:t>AppleP</a:t>
            </a:r>
            <a:endParaRPr lang="en-SG" sz="2800" b="1" dirty="0">
              <a:latin typeface="Calibri" pitchFamily="34" charset="0"/>
            </a:endParaRPr>
          </a:p>
        </p:txBody>
      </p:sp>
      <p:sp>
        <p:nvSpPr>
          <p:cNvPr id="8" name="TextBox 7"/>
          <p:cNvSpPr txBox="1"/>
          <p:nvPr/>
        </p:nvSpPr>
        <p:spPr>
          <a:xfrm>
            <a:off x="7164288"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9" name="Content Placeholder 3"/>
          <p:cNvGraphicFramePr>
            <a:graphicFrameLocks/>
          </p:cNvGraphicFramePr>
          <p:nvPr>
            <p:extLst/>
          </p:nvPr>
        </p:nvGraphicFramePr>
        <p:xfrm>
          <a:off x="7164289" y="1574800"/>
          <a:ext cx="936104" cy="74168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Name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2779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 </a:t>
            </a:r>
            <a:r>
              <a:rPr lang="en-US" dirty="0">
                <a:sym typeface="Symbol"/>
              </a:rPr>
              <a:t></a:t>
            </a:r>
            <a:endParaRPr lang="en-SG" dirty="0"/>
          </a:p>
        </p:txBody>
      </p:sp>
      <p:sp>
        <p:nvSpPr>
          <p:cNvPr id="3" name="Content Placeholder 2"/>
          <p:cNvSpPr>
            <a:spLocks noGrp="1"/>
          </p:cNvSpPr>
          <p:nvPr>
            <p:ph idx="1"/>
          </p:nvPr>
        </p:nvSpPr>
        <p:spPr>
          <a:xfrm>
            <a:off x="457200" y="3501008"/>
            <a:ext cx="8219256" cy="2629917"/>
          </a:xfrm>
        </p:spPr>
        <p:txBody>
          <a:bodyPr>
            <a:normAutofit fontScale="92500" lnSpcReduction="20000"/>
          </a:bodyPr>
          <a:lstStyle/>
          <a:p>
            <a:r>
              <a:rPr lang="en-US" dirty="0"/>
              <a:t>Owns </a:t>
            </a:r>
            <a:r>
              <a:rPr lang="en-US" b="1" dirty="0">
                <a:sym typeface="Symbol"/>
              </a:rPr>
              <a:t></a:t>
            </a:r>
            <a:r>
              <a:rPr lang="en-US" dirty="0"/>
              <a:t> </a:t>
            </a:r>
            <a:r>
              <a:rPr lang="en-US" dirty="0" err="1"/>
              <a:t>AppleP</a:t>
            </a:r>
            <a:endParaRPr lang="en-US" dirty="0"/>
          </a:p>
          <a:p>
            <a:r>
              <a:rPr lang="en-US" dirty="0"/>
              <a:t>The result is a table with attributes in Owns but not in </a:t>
            </a:r>
            <a:r>
              <a:rPr lang="en-US" dirty="0" err="1"/>
              <a:t>AppleP</a:t>
            </a:r>
            <a:r>
              <a:rPr lang="en-US" dirty="0"/>
              <a:t>, i.e., Name and Since</a:t>
            </a:r>
          </a:p>
          <a:p>
            <a:r>
              <a:rPr lang="en-US" dirty="0"/>
              <a:t>The table contains every {Name, Since} combination that is associated with all Product in </a:t>
            </a:r>
            <a:r>
              <a:rPr lang="en-US" dirty="0" err="1"/>
              <a:t>AppleP</a:t>
            </a:r>
            <a:endParaRPr lang="en-US" dirty="0"/>
          </a:p>
        </p:txBody>
      </p:sp>
      <p:graphicFrame>
        <p:nvGraphicFramePr>
          <p:cNvPr id="4" name="Content Placeholder 3"/>
          <p:cNvGraphicFramePr>
            <a:graphicFrameLocks/>
          </p:cNvGraphicFramePr>
          <p:nvPr>
            <p:extLst/>
          </p:nvPr>
        </p:nvGraphicFramePr>
        <p:xfrm>
          <a:off x="467545" y="1594212"/>
          <a:ext cx="2808311" cy="185420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Since</a:t>
                      </a:r>
                      <a:endParaRPr lang="en-SG" sz="2400" dirty="0">
                        <a:latin typeface="Calibri" pitchFamily="34" charset="0"/>
                      </a:endParaRPr>
                    </a:p>
                  </a:txBody>
                  <a:tcPr marL="0" marR="0" marT="0" marB="0"/>
                </a:tc>
                <a:tc>
                  <a:txBody>
                    <a:bodyPr/>
                    <a:lstStyle/>
                    <a:p>
                      <a:pPr algn="ctr"/>
                      <a:r>
                        <a:rPr lang="en-US" sz="2400" dirty="0">
                          <a:latin typeface="Calibri" pitchFamily="34" charset="0"/>
                        </a:rPr>
                        <a:t>Product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2013</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2013</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err="1">
                          <a:latin typeface="Calibri" pitchFamily="34" charset="0"/>
                        </a:rPr>
                        <a:t>iPad</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2013</a:t>
                      </a:r>
                      <a:endParaRPr lang="en-SG" sz="2400" dirty="0">
                        <a:latin typeface="Calibri" pitchFamily="34" charset="0"/>
                      </a:endParaRPr>
                    </a:p>
                  </a:txBody>
                  <a:tcPr marL="0" marR="0" marT="0" marB="0"/>
                </a:tc>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2010</a:t>
                      </a:r>
                      <a:endParaRPr lang="en-SG" sz="2400" dirty="0">
                        <a:latin typeface="Calibri" pitchFamily="34" charset="0"/>
                      </a:endParaRPr>
                    </a:p>
                  </a:txBody>
                  <a:tcPr marL="0" marR="0" marT="0" marB="0"/>
                </a:tc>
                <a:tc>
                  <a:txBody>
                    <a:bodyPr/>
                    <a:lstStyle/>
                    <a:p>
                      <a:pPr algn="ctr"/>
                      <a:r>
                        <a:rPr lang="en-US" sz="2400" dirty="0" err="1">
                          <a:latin typeface="Calibri" pitchFamily="34" charset="0"/>
                        </a:rPr>
                        <a:t>iPad</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080120" cy="523220"/>
          </a:xfrm>
          <a:prstGeom prst="rect">
            <a:avLst/>
          </a:prstGeom>
          <a:noFill/>
          <a:ln w="25400">
            <a:solidFill>
              <a:schemeClr val="accent1"/>
            </a:solidFill>
          </a:ln>
        </p:spPr>
        <p:txBody>
          <a:bodyPr wrap="square" rtlCol="0">
            <a:spAutoFit/>
          </a:bodyPr>
          <a:lstStyle/>
          <a:p>
            <a:r>
              <a:rPr lang="en-US" sz="2800" b="1" dirty="0">
                <a:latin typeface="Calibri" pitchFamily="34" charset="0"/>
              </a:rPr>
              <a:t>Owns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3851921" y="1594212"/>
          <a:ext cx="1152127" cy="1112520"/>
        </p:xfrm>
        <a:graphic>
          <a:graphicData uri="http://schemas.openxmlformats.org/drawingml/2006/table">
            <a:tbl>
              <a:tblPr firstRow="1" bandRow="1">
                <a:tableStyleId>{5C22544A-7EE6-4342-B048-85BDC9FD1C3A}</a:tableStyleId>
              </a:tblPr>
              <a:tblGrid>
                <a:gridCol w="1152127">
                  <a:extLst>
                    <a:ext uri="{9D8B030D-6E8A-4147-A177-3AD203B41FA5}">
                      <a16:colId xmlns:a16="http://schemas.microsoft.com/office/drawing/2014/main" val="20000"/>
                    </a:ext>
                  </a:extLst>
                </a:gridCol>
              </a:tblGrid>
              <a:tr h="370840">
                <a:tc>
                  <a:txBody>
                    <a:bodyPr/>
                    <a:lstStyle/>
                    <a:p>
                      <a:pPr algn="ctr"/>
                      <a:r>
                        <a:rPr lang="en-US" sz="2400" dirty="0">
                          <a:latin typeface="Calibri" pitchFamily="34" charset="0"/>
                        </a:rPr>
                        <a:t>Product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iPhone</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err="1">
                          <a:latin typeface="Calibri" pitchFamily="34" charset="0"/>
                        </a:rPr>
                        <a:t>iPad</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bl>
          </a:graphicData>
        </a:graphic>
      </p:graphicFrame>
      <p:sp>
        <p:nvSpPr>
          <p:cNvPr id="7" name="TextBox 6"/>
          <p:cNvSpPr txBox="1"/>
          <p:nvPr/>
        </p:nvSpPr>
        <p:spPr>
          <a:xfrm>
            <a:off x="3851920" y="980728"/>
            <a:ext cx="1296144" cy="523220"/>
          </a:xfrm>
          <a:prstGeom prst="rect">
            <a:avLst/>
          </a:prstGeom>
          <a:noFill/>
          <a:ln w="25400">
            <a:solidFill>
              <a:schemeClr val="accent1"/>
            </a:solidFill>
          </a:ln>
        </p:spPr>
        <p:txBody>
          <a:bodyPr wrap="square" rtlCol="0">
            <a:spAutoFit/>
          </a:bodyPr>
          <a:lstStyle/>
          <a:p>
            <a:r>
              <a:rPr lang="en-US" sz="2800" b="1" dirty="0" err="1">
                <a:latin typeface="Calibri" pitchFamily="34" charset="0"/>
              </a:rPr>
              <a:t>AppleP</a:t>
            </a:r>
            <a:endParaRPr lang="en-SG" sz="2800" b="1" dirty="0">
              <a:latin typeface="Calibri" pitchFamily="34" charset="0"/>
            </a:endParaRPr>
          </a:p>
        </p:txBody>
      </p:sp>
      <p:sp>
        <p:nvSpPr>
          <p:cNvPr id="8" name="TextBox 7"/>
          <p:cNvSpPr txBox="1"/>
          <p:nvPr/>
        </p:nvSpPr>
        <p:spPr>
          <a:xfrm>
            <a:off x="5868144"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5868145" y="1583346"/>
          <a:ext cx="1656183" cy="741680"/>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370840">
                <a:tc>
                  <a:txBody>
                    <a:bodyPr/>
                    <a:lstStyle/>
                    <a:p>
                      <a:pPr algn="ctr"/>
                      <a:r>
                        <a:rPr lang="en-US" sz="2400" u="none" dirty="0">
                          <a:solidFill>
                            <a:schemeClr val="bg1"/>
                          </a:solidFill>
                          <a:latin typeface="Calibri" pitchFamily="34" charset="0"/>
                        </a:rPr>
                        <a:t>Name</a:t>
                      </a:r>
                      <a:endParaRPr lang="en-SG" sz="2400" u="none"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Since</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pitchFamily="34" charset="0"/>
                        </a:rPr>
                        <a:t>2013</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48969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522856"/>
            <a:ext cx="8363272" cy="2858472"/>
          </a:xfrm>
          <a:solidFill>
            <a:schemeClr val="bg1"/>
          </a:solidFill>
        </p:spPr>
        <p:txBody>
          <a:bodyPr>
            <a:normAutofit fontScale="92500" lnSpcReduction="20000"/>
          </a:bodyPr>
          <a:lstStyle/>
          <a:p>
            <a:r>
              <a:rPr lang="en-US" dirty="0"/>
              <a:t>Query: “Find the students who have taken all courses from SoC”</a:t>
            </a:r>
          </a:p>
          <a:p>
            <a:r>
              <a:rPr lang="en-US" dirty="0"/>
              <a:t>R1 := </a:t>
            </a:r>
            <a:r>
              <a:rPr lang="en-US" dirty="0">
                <a:sym typeface="Symbol"/>
              </a:rPr>
              <a:t></a:t>
            </a:r>
            <a:r>
              <a:rPr lang="en-US" sz="4000" baseline="-25000" dirty="0">
                <a:sym typeface="Symbol"/>
              </a:rPr>
              <a:t>School = ‘SoC’</a:t>
            </a:r>
            <a:r>
              <a:rPr lang="en-US" sz="4000" dirty="0">
                <a:sym typeface="Symbol"/>
              </a:rPr>
              <a:t> </a:t>
            </a:r>
            <a:r>
              <a:rPr lang="en-GB" dirty="0" err="1">
                <a:solidFill>
                  <a:schemeClr val="accent4">
                    <a:lumMod val="50000"/>
                  </a:schemeClr>
                </a:solidFill>
                <a:sym typeface="MT Extra" pitchFamily="18" charset="2"/>
              </a:rPr>
              <a:t>CrsSch</a:t>
            </a:r>
            <a:endParaRPr lang="en-GB" dirty="0">
              <a:solidFill>
                <a:schemeClr val="accent4">
                  <a:lumMod val="50000"/>
                </a:schemeClr>
              </a:solidFill>
              <a:sym typeface="MT Extra" pitchFamily="18" charset="2"/>
            </a:endParaRPr>
          </a:p>
          <a:p>
            <a:r>
              <a:rPr lang="en-GB" dirty="0">
                <a:solidFill>
                  <a:schemeClr val="accent4">
                    <a:lumMod val="50000"/>
                  </a:schemeClr>
                </a:solidFill>
                <a:sym typeface="MT Extra" pitchFamily="18" charset="2"/>
              </a:rPr>
              <a:t>R2 := </a:t>
            </a:r>
            <a:r>
              <a:rPr lang="en-US" dirty="0">
                <a:sym typeface="Symbol"/>
              </a:rPr>
              <a:t></a:t>
            </a:r>
            <a:r>
              <a:rPr lang="en-US" baseline="-25000" dirty="0">
                <a:sym typeface="Symbol"/>
              </a:rPr>
              <a:t>Course </a:t>
            </a:r>
            <a:r>
              <a:rPr lang="en-US" dirty="0">
                <a:sym typeface="Symbol"/>
              </a:rPr>
              <a:t>R1</a:t>
            </a:r>
            <a:endParaRPr lang="en-US" dirty="0"/>
          </a:p>
          <a:p>
            <a:r>
              <a:rPr lang="en-US" dirty="0"/>
              <a:t>R3 := </a:t>
            </a:r>
            <a:r>
              <a:rPr lang="en-US" dirty="0">
                <a:sym typeface="Symbol"/>
              </a:rPr>
              <a:t></a:t>
            </a:r>
            <a:r>
              <a:rPr lang="en-US" sz="4000" baseline="-25000" dirty="0">
                <a:sym typeface="Symbol"/>
              </a:rPr>
              <a:t>Name, Course </a:t>
            </a:r>
            <a:r>
              <a:rPr lang="en-US" dirty="0">
                <a:sym typeface="Symbol"/>
              </a:rPr>
              <a:t>(Grades)</a:t>
            </a:r>
            <a:endParaRPr lang="en-US" dirty="0"/>
          </a:p>
          <a:p>
            <a:r>
              <a:rPr lang="en-US" dirty="0"/>
              <a:t>R4 := R3 </a:t>
            </a:r>
            <a:r>
              <a:rPr lang="en-US" dirty="0">
                <a:sym typeface="Symbol"/>
              </a:rPr>
              <a:t> R2</a:t>
            </a:r>
          </a:p>
          <a:p>
            <a:endParaRPr lang="en-SG" dirty="0"/>
          </a:p>
        </p:txBody>
      </p:sp>
      <p:graphicFrame>
        <p:nvGraphicFramePr>
          <p:cNvPr id="8" name="Content Placeholder 3"/>
          <p:cNvGraphicFramePr>
            <a:graphicFrameLocks/>
          </p:cNvGraphicFramePr>
          <p:nvPr>
            <p:extLst/>
          </p:nvPr>
        </p:nvGraphicFramePr>
        <p:xfrm>
          <a:off x="2699792" y="836712"/>
          <a:ext cx="3024336"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SG" sz="2400" dirty="0">
                          <a:latin typeface="Calibri" pitchFamily="34" charset="0"/>
                        </a:rPr>
                        <a:t>Grade</a:t>
                      </a: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5"/>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6"/>
                  </a:ext>
                </a:extLst>
              </a:tr>
            </a:tbl>
          </a:graphicData>
        </a:graphic>
      </p:graphicFrame>
      <p:sp>
        <p:nvSpPr>
          <p:cNvPr id="9" name="TextBox 8"/>
          <p:cNvSpPr txBox="1"/>
          <p:nvPr/>
        </p:nvSpPr>
        <p:spPr>
          <a:xfrm>
            <a:off x="2699792" y="241484"/>
            <a:ext cx="122413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Grades</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6516216" y="854720"/>
          <a:ext cx="2088232"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NN</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EE</a:t>
                      </a:r>
                    </a:p>
                  </a:txBody>
                  <a:tcPr marL="0" marR="0" marT="0" marB="0"/>
                </a:tc>
                <a:extLst>
                  <a:ext uri="{0D108BD9-81ED-4DB2-BD59-A6C34878D82A}">
                    <a16:rowId xmlns:a16="http://schemas.microsoft.com/office/drawing/2014/main" val="10004"/>
                  </a:ext>
                </a:extLst>
              </a:tr>
            </a:tbl>
          </a:graphicData>
        </a:graphic>
      </p:graphicFrame>
      <p:sp>
        <p:nvSpPr>
          <p:cNvPr id="11" name="TextBox 10"/>
          <p:cNvSpPr txBox="1"/>
          <p:nvPr/>
        </p:nvSpPr>
        <p:spPr>
          <a:xfrm>
            <a:off x="6531753" y="241236"/>
            <a:ext cx="1712655" cy="523220"/>
          </a:xfrm>
          <a:prstGeom prst="rect">
            <a:avLst/>
          </a:prstGeom>
          <a:noFill/>
          <a:ln w="25400">
            <a:solidFill>
              <a:schemeClr val="accent1"/>
            </a:solidFill>
          </a:ln>
        </p:spPr>
        <p:txBody>
          <a:bodyPr wrap="square" rtlCol="0">
            <a:spAutoFit/>
          </a:bodyPr>
          <a:lstStyle/>
          <a:p>
            <a:r>
              <a:rPr lang="en-US" sz="2800" b="1" dirty="0" err="1">
                <a:latin typeface="Calibri" pitchFamily="34" charset="0"/>
              </a:rPr>
              <a:t>CrsSch</a:t>
            </a:r>
            <a:endParaRPr lang="en-SG" sz="2800" b="1" dirty="0">
              <a:latin typeface="Calibri" pitchFamily="34" charset="0"/>
            </a:endParaRPr>
          </a:p>
        </p:txBody>
      </p:sp>
    </p:spTree>
    <p:extLst>
      <p:ext uri="{BB962C8B-B14F-4D97-AF65-F5344CB8AC3E}">
        <p14:creationId xmlns:p14="http://schemas.microsoft.com/office/powerpoint/2010/main" val="254241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522856"/>
            <a:ext cx="8363272" cy="2858472"/>
          </a:xfrm>
          <a:solidFill>
            <a:schemeClr val="bg1"/>
          </a:solidFill>
        </p:spPr>
        <p:txBody>
          <a:bodyPr>
            <a:normAutofit fontScale="70000" lnSpcReduction="20000"/>
          </a:bodyPr>
          <a:lstStyle/>
          <a:p>
            <a:r>
              <a:rPr lang="en-US" dirty="0"/>
              <a:t>Query: “Find the students who have taken all courses from SoC but not EE”</a:t>
            </a:r>
          </a:p>
          <a:p>
            <a:r>
              <a:rPr lang="en-US" dirty="0"/>
              <a:t>R1 := </a:t>
            </a:r>
            <a:r>
              <a:rPr lang="en-US" dirty="0">
                <a:sym typeface="Symbol"/>
              </a:rPr>
              <a:t></a:t>
            </a:r>
            <a:r>
              <a:rPr lang="en-US" baseline="-25000" dirty="0">
                <a:sym typeface="Symbol"/>
              </a:rPr>
              <a:t>Course </a:t>
            </a:r>
            <a:r>
              <a:rPr lang="en-US" dirty="0">
                <a:sym typeface="Symbol"/>
              </a:rPr>
              <a:t>(</a:t>
            </a:r>
            <a:r>
              <a:rPr lang="en-US" sz="4000" baseline="-25000" dirty="0">
                <a:sym typeface="Symbol"/>
              </a:rPr>
              <a:t>School = ‘SoC’</a:t>
            </a:r>
            <a:r>
              <a:rPr lang="en-US" sz="4000" dirty="0">
                <a:sym typeface="Symbol"/>
              </a:rPr>
              <a:t> </a:t>
            </a:r>
            <a:r>
              <a:rPr lang="en-GB" dirty="0" err="1">
                <a:solidFill>
                  <a:schemeClr val="accent4">
                    <a:lumMod val="50000"/>
                  </a:schemeClr>
                </a:solidFill>
                <a:sym typeface="MT Extra" pitchFamily="18" charset="2"/>
              </a:rPr>
              <a:t>CrsSch</a:t>
            </a:r>
            <a:r>
              <a:rPr lang="en-GB" dirty="0">
                <a:solidFill>
                  <a:schemeClr val="accent4">
                    <a:lumMod val="50000"/>
                  </a:schemeClr>
                </a:solidFill>
                <a:sym typeface="MT Extra" pitchFamily="18" charset="2"/>
              </a:rPr>
              <a:t>)</a:t>
            </a:r>
          </a:p>
          <a:p>
            <a:r>
              <a:rPr lang="en-US" dirty="0"/>
              <a:t>R2 := </a:t>
            </a:r>
            <a:r>
              <a:rPr lang="en-US" dirty="0">
                <a:sym typeface="Symbol"/>
              </a:rPr>
              <a:t></a:t>
            </a:r>
            <a:r>
              <a:rPr lang="en-US" sz="4000" baseline="-25000" dirty="0">
                <a:sym typeface="Symbol"/>
              </a:rPr>
              <a:t>Name, Course </a:t>
            </a:r>
            <a:r>
              <a:rPr lang="en-US" dirty="0">
                <a:sym typeface="Symbol"/>
              </a:rPr>
              <a:t>(Grades)</a:t>
            </a:r>
            <a:endParaRPr lang="en-US" dirty="0"/>
          </a:p>
          <a:p>
            <a:r>
              <a:rPr lang="en-US" dirty="0"/>
              <a:t>R3 := R2 </a:t>
            </a:r>
            <a:r>
              <a:rPr lang="en-US" dirty="0">
                <a:sym typeface="Symbol"/>
              </a:rPr>
              <a:t> R1</a:t>
            </a:r>
          </a:p>
          <a:p>
            <a:r>
              <a:rPr lang="en-US" dirty="0"/>
              <a:t>R4 := </a:t>
            </a:r>
            <a:r>
              <a:rPr lang="en-US" dirty="0">
                <a:sym typeface="Symbol"/>
              </a:rPr>
              <a:t></a:t>
            </a:r>
            <a:r>
              <a:rPr lang="en-US" baseline="-25000" dirty="0">
                <a:sym typeface="Symbol"/>
              </a:rPr>
              <a:t>Course </a:t>
            </a:r>
            <a:r>
              <a:rPr lang="en-US" dirty="0">
                <a:sym typeface="Symbol"/>
              </a:rPr>
              <a:t>(</a:t>
            </a:r>
            <a:r>
              <a:rPr lang="en-US" sz="4000" baseline="-25000" dirty="0">
                <a:sym typeface="Symbol"/>
              </a:rPr>
              <a:t>School = ‘EE’</a:t>
            </a:r>
            <a:r>
              <a:rPr lang="en-US" sz="4000" dirty="0">
                <a:sym typeface="Symbol"/>
              </a:rPr>
              <a:t> </a:t>
            </a:r>
            <a:r>
              <a:rPr lang="en-GB" dirty="0" err="1">
                <a:solidFill>
                  <a:schemeClr val="accent4">
                    <a:lumMod val="50000"/>
                  </a:schemeClr>
                </a:solidFill>
                <a:sym typeface="MT Extra" pitchFamily="18" charset="2"/>
              </a:rPr>
              <a:t>CrsSch</a:t>
            </a:r>
            <a:r>
              <a:rPr lang="en-GB" dirty="0">
                <a:solidFill>
                  <a:schemeClr val="accent4">
                    <a:lumMod val="50000"/>
                  </a:schemeClr>
                </a:solidFill>
                <a:sym typeface="MT Extra" pitchFamily="18" charset="2"/>
              </a:rPr>
              <a:t>)</a:t>
            </a:r>
          </a:p>
          <a:p>
            <a:r>
              <a:rPr lang="en-US" dirty="0"/>
              <a:t>R5 := </a:t>
            </a:r>
            <a:r>
              <a:rPr lang="en-US" dirty="0">
                <a:sym typeface="Symbol"/>
              </a:rPr>
              <a:t></a:t>
            </a:r>
            <a:r>
              <a:rPr lang="en-US" sz="4000" baseline="-25000" dirty="0">
                <a:sym typeface="Symbol"/>
              </a:rPr>
              <a:t>Name, Course </a:t>
            </a:r>
            <a:r>
              <a:rPr lang="en-US" dirty="0">
                <a:sym typeface="Symbol"/>
              </a:rPr>
              <a:t>(Grades)</a:t>
            </a:r>
            <a:endParaRPr lang="en-US" dirty="0"/>
          </a:p>
          <a:p>
            <a:r>
              <a:rPr lang="en-US" dirty="0"/>
              <a:t>R6 := R3 – (R5 </a:t>
            </a:r>
            <a:r>
              <a:rPr lang="en-US" dirty="0">
                <a:sym typeface="Symbol"/>
              </a:rPr>
              <a:t> R4)</a:t>
            </a:r>
          </a:p>
          <a:p>
            <a:endParaRPr lang="en-US" dirty="0">
              <a:sym typeface="Symbol"/>
            </a:endParaRPr>
          </a:p>
          <a:p>
            <a:pPr marL="0" indent="0">
              <a:buNone/>
            </a:pPr>
            <a:endParaRPr lang="en-SG" dirty="0"/>
          </a:p>
        </p:txBody>
      </p:sp>
      <p:graphicFrame>
        <p:nvGraphicFramePr>
          <p:cNvPr id="8" name="Content Placeholder 3"/>
          <p:cNvGraphicFramePr>
            <a:graphicFrameLocks/>
          </p:cNvGraphicFramePr>
          <p:nvPr>
            <p:extLst/>
          </p:nvPr>
        </p:nvGraphicFramePr>
        <p:xfrm>
          <a:off x="2699792" y="836712"/>
          <a:ext cx="3024336"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SG" sz="2400" dirty="0">
                          <a:latin typeface="Calibri" pitchFamily="34" charset="0"/>
                        </a:rPr>
                        <a:t>Grade</a:t>
                      </a: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SG" sz="2400" dirty="0">
                          <a:latin typeface="Calibri" pitchFamily="34" charset="0"/>
                        </a:rPr>
                        <a:t>C</a:t>
                      </a: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4"/>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B</a:t>
                      </a:r>
                    </a:p>
                  </a:txBody>
                  <a:tcPr marL="0" marR="0" marT="0" marB="0"/>
                </a:tc>
                <a:extLst>
                  <a:ext uri="{0D108BD9-81ED-4DB2-BD59-A6C34878D82A}">
                    <a16:rowId xmlns:a16="http://schemas.microsoft.com/office/drawing/2014/main" val="10005"/>
                  </a:ext>
                </a:extLst>
              </a:tr>
              <a:tr h="370840">
                <a:tc>
                  <a:txBody>
                    <a:bodyPr/>
                    <a:lstStyle/>
                    <a:p>
                      <a:pPr algn="ctr"/>
                      <a:r>
                        <a:rPr lang="en-SG" sz="2400" dirty="0">
                          <a:latin typeface="Calibri" pitchFamily="34" charset="0"/>
                        </a:rPr>
                        <a:t>Cathy</a:t>
                      </a:r>
                    </a:p>
                  </a:txBody>
                  <a:tcPr marL="0" marR="0" marT="0" marB="0"/>
                </a:tc>
                <a:tc>
                  <a:txBody>
                    <a:bodyPr/>
                    <a:lstStyle/>
                    <a:p>
                      <a:pPr algn="ctr"/>
                      <a:r>
                        <a:rPr lang="en-SG" sz="2400" dirty="0">
                          <a:latin typeface="Calibri" pitchFamily="34" charset="0"/>
                        </a:rPr>
                        <a:t>NN</a:t>
                      </a:r>
                    </a:p>
                  </a:txBody>
                  <a:tcPr marL="0" marR="0" marT="0" marB="0"/>
                </a:tc>
                <a:tc>
                  <a:txBody>
                    <a:bodyPr/>
                    <a:lstStyle/>
                    <a:p>
                      <a:pPr algn="ctr"/>
                      <a:r>
                        <a:rPr lang="en-SG" sz="2400" dirty="0">
                          <a:latin typeface="Calibri" pitchFamily="34" charset="0"/>
                        </a:rPr>
                        <a:t>A</a:t>
                      </a:r>
                    </a:p>
                  </a:txBody>
                  <a:tcPr marL="0" marR="0" marT="0" marB="0"/>
                </a:tc>
                <a:extLst>
                  <a:ext uri="{0D108BD9-81ED-4DB2-BD59-A6C34878D82A}">
                    <a16:rowId xmlns:a16="http://schemas.microsoft.com/office/drawing/2014/main" val="10006"/>
                  </a:ext>
                </a:extLst>
              </a:tr>
            </a:tbl>
          </a:graphicData>
        </a:graphic>
      </p:graphicFrame>
      <p:sp>
        <p:nvSpPr>
          <p:cNvPr id="9" name="TextBox 8"/>
          <p:cNvSpPr txBox="1"/>
          <p:nvPr/>
        </p:nvSpPr>
        <p:spPr>
          <a:xfrm>
            <a:off x="2699792" y="241484"/>
            <a:ext cx="1224136" cy="523220"/>
          </a:xfrm>
          <a:prstGeom prst="rect">
            <a:avLst/>
          </a:prstGeom>
          <a:noFill/>
          <a:ln w="25400">
            <a:solidFill>
              <a:schemeClr val="accent1"/>
            </a:solidFill>
          </a:ln>
        </p:spPr>
        <p:txBody>
          <a:bodyPr wrap="square" rtlCol="0">
            <a:spAutoFit/>
          </a:bodyPr>
          <a:lstStyle/>
          <a:p>
            <a:r>
              <a:rPr lang="en-US" sz="2800" b="1" dirty="0">
                <a:latin typeface="Calibri" pitchFamily="34" charset="0"/>
              </a:rPr>
              <a:t>Grades</a:t>
            </a:r>
            <a:endParaRPr lang="en-SG" sz="2800" b="1" dirty="0">
              <a:latin typeface="Calibri" pitchFamily="34" charset="0"/>
            </a:endParaRPr>
          </a:p>
        </p:txBody>
      </p:sp>
      <p:graphicFrame>
        <p:nvGraphicFramePr>
          <p:cNvPr id="10" name="Content Placeholder 3"/>
          <p:cNvGraphicFramePr>
            <a:graphicFrameLocks/>
          </p:cNvGraphicFramePr>
          <p:nvPr>
            <p:extLst/>
          </p:nvPr>
        </p:nvGraphicFramePr>
        <p:xfrm>
          <a:off x="6516216" y="854720"/>
          <a:ext cx="2088232"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Course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DB</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DM</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NN</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SG" sz="2400" dirty="0">
                          <a:latin typeface="Calibri" pitchFamily="34" charset="0"/>
                        </a:rPr>
                        <a:t>SP</a:t>
                      </a:r>
                    </a:p>
                  </a:txBody>
                  <a:tcPr marL="0" marR="0" marT="0" marB="0"/>
                </a:tc>
                <a:tc>
                  <a:txBody>
                    <a:bodyPr/>
                    <a:lstStyle/>
                    <a:p>
                      <a:pPr algn="ctr"/>
                      <a:r>
                        <a:rPr lang="en-SG" sz="2400" dirty="0">
                          <a:latin typeface="Calibri" pitchFamily="34" charset="0"/>
                        </a:rPr>
                        <a:t>EE</a:t>
                      </a:r>
                    </a:p>
                  </a:txBody>
                  <a:tcPr marL="0" marR="0" marT="0" marB="0"/>
                </a:tc>
                <a:extLst>
                  <a:ext uri="{0D108BD9-81ED-4DB2-BD59-A6C34878D82A}">
                    <a16:rowId xmlns:a16="http://schemas.microsoft.com/office/drawing/2014/main" val="10004"/>
                  </a:ext>
                </a:extLst>
              </a:tr>
            </a:tbl>
          </a:graphicData>
        </a:graphic>
      </p:graphicFrame>
      <p:sp>
        <p:nvSpPr>
          <p:cNvPr id="11" name="TextBox 10"/>
          <p:cNvSpPr txBox="1"/>
          <p:nvPr/>
        </p:nvSpPr>
        <p:spPr>
          <a:xfrm>
            <a:off x="6531753" y="241236"/>
            <a:ext cx="1712655" cy="523220"/>
          </a:xfrm>
          <a:prstGeom prst="rect">
            <a:avLst/>
          </a:prstGeom>
          <a:noFill/>
          <a:ln w="25400">
            <a:solidFill>
              <a:schemeClr val="accent1"/>
            </a:solidFill>
          </a:ln>
        </p:spPr>
        <p:txBody>
          <a:bodyPr wrap="square" rtlCol="0">
            <a:spAutoFit/>
          </a:bodyPr>
          <a:lstStyle/>
          <a:p>
            <a:r>
              <a:rPr lang="en-US" sz="2800" b="1" dirty="0" err="1">
                <a:latin typeface="Calibri" pitchFamily="34" charset="0"/>
              </a:rPr>
              <a:t>CrsSch</a:t>
            </a:r>
            <a:endParaRPr lang="en-SG" sz="2800" b="1" dirty="0">
              <a:latin typeface="Calibri" pitchFamily="34" charset="0"/>
            </a:endParaRPr>
          </a:p>
        </p:txBody>
      </p:sp>
    </p:spTree>
    <p:extLst>
      <p:ext uri="{BB962C8B-B14F-4D97-AF65-F5344CB8AC3E}">
        <p14:creationId xmlns:p14="http://schemas.microsoft.com/office/powerpoint/2010/main" val="81123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39825"/>
          </a:xfrm>
        </p:spPr>
        <p:txBody>
          <a:bodyPr/>
          <a:lstStyle/>
          <a:p>
            <a:r>
              <a:rPr lang="en-US" dirty="0"/>
              <a:t>Left </a:t>
            </a:r>
            <a:r>
              <a:rPr lang="en-US" dirty="0" err="1"/>
              <a:t>Outerjoin</a:t>
            </a:r>
            <a:r>
              <a:rPr lang="en-US" dirty="0"/>
              <a:t> </a:t>
            </a:r>
            <a:r>
              <a:rPr lang="en-GB" dirty="0">
                <a:solidFill>
                  <a:schemeClr val="accent4">
                    <a:lumMod val="50000"/>
                  </a:schemeClr>
                </a:solidFill>
                <a:sym typeface="MT Extra" pitchFamily="18" charset="2"/>
              </a:rPr>
              <a:t>⋈</a:t>
            </a:r>
            <a:r>
              <a:rPr lang="en-GB" i="1" baseline="-25000" dirty="0">
                <a:solidFill>
                  <a:schemeClr val="accent4">
                    <a:lumMod val="50000"/>
                  </a:schemeClr>
                </a:solidFill>
                <a:sym typeface="MT Extra" pitchFamily="18" charset="2"/>
              </a:rPr>
              <a:t>L</a:t>
            </a:r>
            <a:r>
              <a:rPr lang="en-GB" dirty="0">
                <a:solidFill>
                  <a:schemeClr val="accent4">
                    <a:lumMod val="50000"/>
                  </a:schemeClr>
                </a:solidFill>
                <a:sym typeface="MT Extra" pitchFamily="18" charset="2"/>
              </a:rPr>
              <a:t> </a:t>
            </a:r>
            <a:r>
              <a:rPr lang="en-GB" baseline="-25000" dirty="0">
                <a:solidFill>
                  <a:schemeClr val="accent4">
                    <a:lumMod val="50000"/>
                  </a:schemeClr>
                </a:solidFill>
                <a:sym typeface="MT Extra" pitchFamily="18" charset="2"/>
              </a:rPr>
              <a:t>condition</a:t>
            </a:r>
            <a:endParaRPr lang="en-SG" baseline="-25000" dirty="0"/>
          </a:p>
        </p:txBody>
      </p:sp>
      <p:sp>
        <p:nvSpPr>
          <p:cNvPr id="3" name="Content Placeholder 2"/>
          <p:cNvSpPr>
            <a:spLocks noGrp="1"/>
          </p:cNvSpPr>
          <p:nvPr>
            <p:ph idx="1"/>
          </p:nvPr>
        </p:nvSpPr>
        <p:spPr>
          <a:xfrm>
            <a:off x="457200" y="3573016"/>
            <a:ext cx="8229600" cy="2557909"/>
          </a:xfrm>
        </p:spPr>
        <p:txBody>
          <a:bodyPr>
            <a:normAutofit fontScale="85000" lnSpcReduction="20000"/>
          </a:bodyPr>
          <a:lstStyle/>
          <a:p>
            <a:r>
              <a:rPr lang="en-GB" dirty="0">
                <a:solidFill>
                  <a:schemeClr val="accent4">
                    <a:lumMod val="50000"/>
                  </a:schemeClr>
                </a:solidFill>
                <a:sym typeface="MT Extra" pitchFamily="18" charset="2"/>
              </a:rPr>
              <a:t>Query: “For each student, find the amount of his/her donation”</a:t>
            </a:r>
          </a:p>
          <a:p>
            <a:r>
              <a:rPr lang="en-US" dirty="0"/>
              <a:t>Students </a:t>
            </a:r>
            <a:r>
              <a:rPr lang="en-GB" dirty="0">
                <a:solidFill>
                  <a:schemeClr val="accent4">
                    <a:lumMod val="50000"/>
                  </a:schemeClr>
                </a:solidFill>
                <a:sym typeface="MT Extra" pitchFamily="18" charset="2"/>
              </a:rPr>
              <a:t>⋈</a:t>
            </a:r>
            <a:r>
              <a:rPr lang="en-GB" sz="4100" i="1" baseline="-25000" dirty="0">
                <a:solidFill>
                  <a:schemeClr val="accent4">
                    <a:lumMod val="50000"/>
                  </a:schemeClr>
                </a:solidFill>
                <a:sym typeface="MT Extra" pitchFamily="18" charset="2"/>
              </a:rPr>
              <a:t>L</a:t>
            </a:r>
            <a:r>
              <a:rPr lang="en-GB" baseline="-25000" dirty="0">
                <a:solidFill>
                  <a:schemeClr val="accent4">
                    <a:lumMod val="50000"/>
                  </a:schemeClr>
                </a:solidFill>
                <a:sym typeface="MT Extra" pitchFamily="18" charset="2"/>
              </a:rPr>
              <a:t> </a:t>
            </a:r>
            <a:r>
              <a:rPr lang="en-GB" dirty="0">
                <a:solidFill>
                  <a:schemeClr val="accent4">
                    <a:lumMod val="50000"/>
                  </a:schemeClr>
                </a:solidFill>
                <a:sym typeface="MT Extra" pitchFamily="18" charset="2"/>
              </a:rPr>
              <a:t>Donations</a:t>
            </a:r>
          </a:p>
          <a:p>
            <a:r>
              <a:rPr lang="en-GB" dirty="0">
                <a:solidFill>
                  <a:schemeClr val="accent4">
                    <a:lumMod val="50000"/>
                  </a:schemeClr>
                </a:solidFill>
                <a:sym typeface="MT Extra" pitchFamily="18" charset="2"/>
              </a:rPr>
              <a:t>All tuples in Students are retained in the results</a:t>
            </a:r>
          </a:p>
          <a:p>
            <a:r>
              <a:rPr lang="en-GB" dirty="0">
                <a:solidFill>
                  <a:schemeClr val="accent4">
                    <a:lumMod val="50000"/>
                  </a:schemeClr>
                </a:solidFill>
                <a:sym typeface="MT Extra" pitchFamily="18" charset="2"/>
              </a:rPr>
              <a:t>For each student who has not made a donation, a “NULL” value is given as his/her Amount </a:t>
            </a:r>
          </a:p>
          <a:p>
            <a:endParaRPr lang="en-GB" dirty="0">
              <a:solidFill>
                <a:schemeClr val="accent4">
                  <a:lumMod val="50000"/>
                </a:schemeClr>
              </a:solidFill>
              <a:sym typeface="MT Extra" pitchFamily="18" charset="2"/>
            </a:endParaRPr>
          </a:p>
          <a:p>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771800"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2787337"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Donations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220073" y="1637620"/>
          <a:ext cx="2880321" cy="1854200"/>
        </p:xfrm>
        <a:graphic>
          <a:graphicData uri="http://schemas.openxmlformats.org/drawingml/2006/table">
            <a:tbl>
              <a:tblPr firstRow="1" bandRow="1">
                <a:tableStyleId>{5C22544A-7EE6-4342-B048-85BDC9FD1C3A}</a:tableStyleId>
              </a:tblPr>
              <a:tblGrid>
                <a:gridCol w="832849">
                  <a:extLst>
                    <a:ext uri="{9D8B030D-6E8A-4147-A177-3AD203B41FA5}">
                      <a16:colId xmlns:a16="http://schemas.microsoft.com/office/drawing/2014/main" val="20000"/>
                    </a:ext>
                  </a:extLst>
                </a:gridCol>
                <a:gridCol w="967352">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tblGrid>
              <a:tr h="370840">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solidFill>
                          <a:srgbClr val="A50021"/>
                        </a:solidFill>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solidFill>
                          <a:srgbClr val="A50021"/>
                        </a:solidFill>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CEE</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9" name="TextBox 8"/>
          <p:cNvSpPr txBox="1"/>
          <p:nvPr/>
        </p:nvSpPr>
        <p:spPr>
          <a:xfrm>
            <a:off x="5220072"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
        <p:nvSpPr>
          <p:cNvPr id="11" name="Rectangle 10"/>
          <p:cNvSpPr/>
          <p:nvPr/>
        </p:nvSpPr>
        <p:spPr>
          <a:xfrm>
            <a:off x="3986964" y="118373"/>
            <a:ext cx="369012" cy="646331"/>
          </a:xfrm>
          <a:prstGeom prst="rect">
            <a:avLst/>
          </a:prstGeom>
        </p:spPr>
        <p:txBody>
          <a:bodyPr wrap="none">
            <a:spAutoFit/>
          </a:bodyPr>
          <a:lstStyle/>
          <a:p>
            <a:r>
              <a:rPr lang="en-GB" sz="3600" dirty="0">
                <a:solidFill>
                  <a:schemeClr val="accent4">
                    <a:lumMod val="50000"/>
                  </a:schemeClr>
                </a:solidFill>
                <a:latin typeface="Calibri" pitchFamily="34" charset="0"/>
                <a:sym typeface="Symbol"/>
              </a:rPr>
              <a:t></a:t>
            </a:r>
            <a:endParaRPr lang="en-SG" sz="3600" dirty="0">
              <a:latin typeface="Calibri" pitchFamily="34" charset="0"/>
            </a:endParaRPr>
          </a:p>
        </p:txBody>
      </p:sp>
      <p:sp>
        <p:nvSpPr>
          <p:cNvPr id="12" name="Rectangle 11"/>
          <p:cNvSpPr/>
          <p:nvPr/>
        </p:nvSpPr>
        <p:spPr>
          <a:xfrm>
            <a:off x="2195736" y="4191471"/>
            <a:ext cx="308098" cy="461665"/>
          </a:xfrm>
          <a:prstGeom prst="rect">
            <a:avLst/>
          </a:prstGeom>
        </p:spPr>
        <p:txBody>
          <a:bodyPr wrap="none">
            <a:spAutoFit/>
          </a:bodyPr>
          <a:lstStyle/>
          <a:p>
            <a:r>
              <a:rPr lang="en-GB" sz="2400" dirty="0">
                <a:solidFill>
                  <a:schemeClr val="accent4">
                    <a:lumMod val="50000"/>
                  </a:schemeClr>
                </a:solidFill>
                <a:latin typeface="Calibri" pitchFamily="34" charset="0"/>
                <a:sym typeface="Symbol"/>
              </a:rPr>
              <a:t></a:t>
            </a:r>
            <a:endParaRPr lang="en-SG" sz="2400" dirty="0">
              <a:latin typeface="Calibri" pitchFamily="34" charset="0"/>
            </a:endParaRPr>
          </a:p>
        </p:txBody>
      </p:sp>
    </p:spTree>
    <p:extLst>
      <p:ext uri="{BB962C8B-B14F-4D97-AF65-F5344CB8AC3E}">
        <p14:creationId xmlns:p14="http://schemas.microsoft.com/office/powerpoint/2010/main" val="1296848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39825"/>
          </a:xfrm>
        </p:spPr>
        <p:txBody>
          <a:bodyPr/>
          <a:lstStyle/>
          <a:p>
            <a:r>
              <a:rPr lang="en-US" dirty="0"/>
              <a:t>Left </a:t>
            </a:r>
            <a:r>
              <a:rPr lang="en-US" dirty="0" err="1"/>
              <a:t>Outerjoin</a:t>
            </a:r>
            <a:r>
              <a:rPr lang="en-US" dirty="0"/>
              <a:t> </a:t>
            </a:r>
            <a:r>
              <a:rPr lang="en-GB" dirty="0">
                <a:solidFill>
                  <a:schemeClr val="accent4">
                    <a:lumMod val="50000"/>
                  </a:schemeClr>
                </a:solidFill>
                <a:sym typeface="MT Extra" pitchFamily="18" charset="2"/>
              </a:rPr>
              <a:t>⋈</a:t>
            </a:r>
            <a:r>
              <a:rPr lang="en-GB" i="1" baseline="-25000" dirty="0">
                <a:solidFill>
                  <a:schemeClr val="accent4">
                    <a:lumMod val="50000"/>
                  </a:schemeClr>
                </a:solidFill>
                <a:sym typeface="MT Extra" pitchFamily="18" charset="2"/>
              </a:rPr>
              <a:t>L</a:t>
            </a:r>
            <a:r>
              <a:rPr lang="en-GB" dirty="0">
                <a:solidFill>
                  <a:schemeClr val="accent4">
                    <a:lumMod val="50000"/>
                  </a:schemeClr>
                </a:solidFill>
                <a:sym typeface="MT Extra" pitchFamily="18" charset="2"/>
              </a:rPr>
              <a:t> </a:t>
            </a:r>
            <a:r>
              <a:rPr lang="en-GB" baseline="-25000" dirty="0">
                <a:solidFill>
                  <a:schemeClr val="accent4">
                    <a:lumMod val="50000"/>
                  </a:schemeClr>
                </a:solidFill>
                <a:sym typeface="MT Extra" pitchFamily="18" charset="2"/>
              </a:rPr>
              <a:t>condition</a:t>
            </a:r>
            <a:endParaRPr lang="en-SG" baseline="-25000" dirty="0"/>
          </a:p>
        </p:txBody>
      </p:sp>
      <p:sp>
        <p:nvSpPr>
          <p:cNvPr id="3" name="Content Placeholder 2"/>
          <p:cNvSpPr>
            <a:spLocks noGrp="1"/>
          </p:cNvSpPr>
          <p:nvPr>
            <p:ph idx="1"/>
          </p:nvPr>
        </p:nvSpPr>
        <p:spPr>
          <a:xfrm>
            <a:off x="457200" y="3573016"/>
            <a:ext cx="8229600" cy="2557909"/>
          </a:xfrm>
        </p:spPr>
        <p:txBody>
          <a:bodyPr>
            <a:normAutofit lnSpcReduction="10000"/>
          </a:bodyPr>
          <a:lstStyle/>
          <a:p>
            <a:r>
              <a:rPr lang="en-GB" dirty="0">
                <a:solidFill>
                  <a:schemeClr val="accent4">
                    <a:lumMod val="50000"/>
                  </a:schemeClr>
                </a:solidFill>
                <a:sym typeface="MT Extra" pitchFamily="18" charset="2"/>
              </a:rPr>
              <a:t>Query: “For each student, find the amount of his/her donation”</a:t>
            </a:r>
          </a:p>
          <a:p>
            <a:r>
              <a:rPr lang="en-US" dirty="0"/>
              <a:t>Students </a:t>
            </a:r>
            <a:r>
              <a:rPr lang="en-GB" dirty="0">
                <a:solidFill>
                  <a:schemeClr val="accent4">
                    <a:lumMod val="50000"/>
                  </a:schemeClr>
                </a:solidFill>
                <a:sym typeface="MT Extra" pitchFamily="18" charset="2"/>
              </a:rPr>
              <a:t>⋈</a:t>
            </a:r>
            <a:r>
              <a:rPr lang="en-GB" sz="4100" i="1" baseline="-25000" dirty="0">
                <a:solidFill>
                  <a:schemeClr val="accent4">
                    <a:lumMod val="50000"/>
                  </a:schemeClr>
                </a:solidFill>
                <a:sym typeface="MT Extra" pitchFamily="18" charset="2"/>
              </a:rPr>
              <a:t>L</a:t>
            </a:r>
            <a:r>
              <a:rPr lang="en-GB" sz="4100" baseline="-25000" dirty="0">
                <a:solidFill>
                  <a:schemeClr val="accent4">
                    <a:lumMod val="50000"/>
                  </a:schemeClr>
                </a:solidFill>
                <a:sym typeface="MT Extra" pitchFamily="18" charset="2"/>
              </a:rPr>
              <a:t> </a:t>
            </a:r>
            <a:r>
              <a:rPr lang="en-GB" sz="4100" baseline="-25000" dirty="0" err="1">
                <a:solidFill>
                  <a:schemeClr val="accent4">
                    <a:lumMod val="50000"/>
                  </a:schemeClr>
                </a:solidFill>
                <a:sym typeface="MT Extra" pitchFamily="18" charset="2"/>
              </a:rPr>
              <a:t>Sname</a:t>
            </a:r>
            <a:r>
              <a:rPr lang="en-GB" sz="4100" baseline="-25000" dirty="0">
                <a:solidFill>
                  <a:schemeClr val="accent4">
                    <a:lumMod val="50000"/>
                  </a:schemeClr>
                </a:solidFill>
                <a:sym typeface="MT Extra" pitchFamily="18" charset="2"/>
              </a:rPr>
              <a:t> = </a:t>
            </a:r>
            <a:r>
              <a:rPr lang="en-GB" sz="4100" baseline="-25000" dirty="0" err="1">
                <a:solidFill>
                  <a:schemeClr val="accent4">
                    <a:lumMod val="50000"/>
                  </a:schemeClr>
                </a:solidFill>
                <a:sym typeface="MT Extra" pitchFamily="18" charset="2"/>
              </a:rPr>
              <a:t>Name</a:t>
            </a:r>
            <a:r>
              <a:rPr lang="en-GB" dirty="0" err="1">
                <a:solidFill>
                  <a:schemeClr val="accent4">
                    <a:lumMod val="50000"/>
                  </a:schemeClr>
                </a:solidFill>
                <a:sym typeface="MT Extra" pitchFamily="18" charset="2"/>
              </a:rPr>
              <a:t>Donations</a:t>
            </a:r>
            <a:endParaRPr lang="en-GB" dirty="0">
              <a:solidFill>
                <a:schemeClr val="accent4">
                  <a:lumMod val="50000"/>
                </a:schemeClr>
              </a:solidFill>
              <a:sym typeface="MT Extra" pitchFamily="18" charset="2"/>
            </a:endParaRPr>
          </a:p>
          <a:p>
            <a:r>
              <a:rPr lang="en-GB" dirty="0">
                <a:solidFill>
                  <a:schemeClr val="accent4">
                    <a:lumMod val="50000"/>
                  </a:schemeClr>
                </a:solidFill>
                <a:sym typeface="MT Extra" pitchFamily="18" charset="2"/>
              </a:rPr>
              <a:t>Similar to theta joins in that all attributes are retained</a:t>
            </a:r>
          </a:p>
          <a:p>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err="1">
                          <a:solidFill>
                            <a:srgbClr val="FFFF00"/>
                          </a:solidFill>
                          <a:latin typeface="Calibri" pitchFamily="34" charset="0"/>
                        </a:rPr>
                        <a:t>SName</a:t>
                      </a:r>
                      <a:endParaRPr lang="en-SG" sz="2400" u="sng" dirty="0">
                        <a:solidFill>
                          <a:srgbClr val="FFFF00"/>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771800"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2787337"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Donations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148065" y="1637620"/>
          <a:ext cx="3816424"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1080120">
                  <a:extLst>
                    <a:ext uri="{9D8B030D-6E8A-4147-A177-3AD203B41FA5}">
                      <a16:colId xmlns:a16="http://schemas.microsoft.com/office/drawing/2014/main" val="20003"/>
                    </a:ext>
                  </a:extLst>
                </a:gridCol>
              </a:tblGrid>
              <a:tr h="370840">
                <a:tc>
                  <a:txBody>
                    <a:bodyPr/>
                    <a:lstStyle/>
                    <a:p>
                      <a:pPr algn="ctr"/>
                      <a:r>
                        <a:rPr lang="en-US" sz="2400" u="none" dirty="0" err="1">
                          <a:latin typeface="Calibri" pitchFamily="34" charset="0"/>
                        </a:rPr>
                        <a:t>SName</a:t>
                      </a:r>
                      <a:endParaRPr lang="en-SG" sz="2400" u="none" dirty="0">
                        <a:latin typeface="Calibri" pitchFamily="34" charset="0"/>
                      </a:endParaRPr>
                    </a:p>
                  </a:txBody>
                  <a:tcPr marL="0" marR="0" marT="0" marB="0"/>
                </a:tc>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solidFill>
                          <a:srgbClr val="A50021"/>
                        </a:solidFill>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solidFill>
                          <a:srgbClr val="A50021"/>
                        </a:solidFill>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CEE</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9" name="TextBox 8"/>
          <p:cNvSpPr txBox="1"/>
          <p:nvPr/>
        </p:nvSpPr>
        <p:spPr>
          <a:xfrm>
            <a:off x="5220072"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
        <p:nvSpPr>
          <p:cNvPr id="11" name="Rectangle 10"/>
          <p:cNvSpPr/>
          <p:nvPr/>
        </p:nvSpPr>
        <p:spPr>
          <a:xfrm>
            <a:off x="3986964" y="118373"/>
            <a:ext cx="369012" cy="646331"/>
          </a:xfrm>
          <a:prstGeom prst="rect">
            <a:avLst/>
          </a:prstGeom>
        </p:spPr>
        <p:txBody>
          <a:bodyPr wrap="none">
            <a:spAutoFit/>
          </a:bodyPr>
          <a:lstStyle/>
          <a:p>
            <a:r>
              <a:rPr lang="en-GB" sz="3600" dirty="0">
                <a:solidFill>
                  <a:schemeClr val="accent4">
                    <a:lumMod val="50000"/>
                  </a:schemeClr>
                </a:solidFill>
                <a:latin typeface="Calibri" pitchFamily="34" charset="0"/>
                <a:sym typeface="Symbol"/>
              </a:rPr>
              <a:t></a:t>
            </a:r>
            <a:endParaRPr lang="en-SG" sz="3600" dirty="0">
              <a:latin typeface="Calibri" pitchFamily="34" charset="0"/>
            </a:endParaRPr>
          </a:p>
        </p:txBody>
      </p:sp>
      <p:sp>
        <p:nvSpPr>
          <p:cNvPr id="12" name="Rectangle 11"/>
          <p:cNvSpPr/>
          <p:nvPr/>
        </p:nvSpPr>
        <p:spPr>
          <a:xfrm>
            <a:off x="2463702" y="4479503"/>
            <a:ext cx="308098" cy="461665"/>
          </a:xfrm>
          <a:prstGeom prst="rect">
            <a:avLst/>
          </a:prstGeom>
        </p:spPr>
        <p:txBody>
          <a:bodyPr wrap="none">
            <a:spAutoFit/>
          </a:bodyPr>
          <a:lstStyle/>
          <a:p>
            <a:r>
              <a:rPr lang="en-GB" sz="2400" dirty="0">
                <a:solidFill>
                  <a:schemeClr val="accent4">
                    <a:lumMod val="50000"/>
                  </a:schemeClr>
                </a:solidFill>
                <a:latin typeface="Calibri" pitchFamily="34" charset="0"/>
                <a:sym typeface="Symbol"/>
              </a:rPr>
              <a:t></a:t>
            </a:r>
            <a:endParaRPr lang="en-SG" sz="2400" dirty="0">
              <a:latin typeface="Calibri" pitchFamily="34" charset="0"/>
            </a:endParaRPr>
          </a:p>
        </p:txBody>
      </p:sp>
    </p:spTree>
    <p:extLst>
      <p:ext uri="{BB962C8B-B14F-4D97-AF65-F5344CB8AC3E}">
        <p14:creationId xmlns:p14="http://schemas.microsoft.com/office/powerpoint/2010/main" val="51226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39825"/>
          </a:xfrm>
        </p:spPr>
        <p:txBody>
          <a:bodyPr/>
          <a:lstStyle/>
          <a:p>
            <a:r>
              <a:rPr lang="en-US" dirty="0"/>
              <a:t>Right </a:t>
            </a:r>
            <a:r>
              <a:rPr lang="en-US" dirty="0" err="1"/>
              <a:t>Outerjoin</a:t>
            </a:r>
            <a:r>
              <a:rPr lang="en-US" dirty="0"/>
              <a:t> </a:t>
            </a:r>
            <a:r>
              <a:rPr lang="en-GB" dirty="0">
                <a:solidFill>
                  <a:schemeClr val="accent4">
                    <a:lumMod val="50000"/>
                  </a:schemeClr>
                </a:solidFill>
                <a:sym typeface="MT Extra" pitchFamily="18" charset="2"/>
              </a:rPr>
              <a:t>⋈</a:t>
            </a:r>
            <a:r>
              <a:rPr lang="en-GB" i="1" baseline="-25000" dirty="0">
                <a:solidFill>
                  <a:schemeClr val="accent4">
                    <a:lumMod val="50000"/>
                  </a:schemeClr>
                </a:solidFill>
                <a:sym typeface="MT Extra" pitchFamily="18" charset="2"/>
              </a:rPr>
              <a:t>R</a:t>
            </a:r>
            <a:r>
              <a:rPr lang="en-GB" dirty="0">
                <a:solidFill>
                  <a:schemeClr val="accent4">
                    <a:lumMod val="50000"/>
                  </a:schemeClr>
                </a:solidFill>
                <a:sym typeface="MT Extra" pitchFamily="18" charset="2"/>
              </a:rPr>
              <a:t> </a:t>
            </a:r>
            <a:r>
              <a:rPr lang="en-GB" baseline="-25000" dirty="0">
                <a:solidFill>
                  <a:schemeClr val="accent4">
                    <a:lumMod val="50000"/>
                  </a:schemeClr>
                </a:solidFill>
                <a:sym typeface="MT Extra" pitchFamily="18" charset="2"/>
              </a:rPr>
              <a:t>condition</a:t>
            </a:r>
            <a:endParaRPr lang="en-SG" baseline="-25000" dirty="0"/>
          </a:p>
        </p:txBody>
      </p:sp>
      <p:sp>
        <p:nvSpPr>
          <p:cNvPr id="3" name="Content Placeholder 2"/>
          <p:cNvSpPr>
            <a:spLocks noGrp="1"/>
          </p:cNvSpPr>
          <p:nvPr>
            <p:ph idx="1"/>
          </p:nvPr>
        </p:nvSpPr>
        <p:spPr>
          <a:xfrm>
            <a:off x="457200" y="3573016"/>
            <a:ext cx="8229600" cy="2557909"/>
          </a:xfrm>
        </p:spPr>
        <p:txBody>
          <a:bodyPr>
            <a:normAutofit fontScale="85000" lnSpcReduction="10000"/>
          </a:bodyPr>
          <a:lstStyle/>
          <a:p>
            <a:r>
              <a:rPr lang="en-GB" dirty="0">
                <a:solidFill>
                  <a:schemeClr val="accent4">
                    <a:lumMod val="50000"/>
                  </a:schemeClr>
                </a:solidFill>
                <a:sym typeface="MT Extra" pitchFamily="18" charset="2"/>
              </a:rPr>
              <a:t>Query: “For each donator, find the school he/she is in”</a:t>
            </a:r>
          </a:p>
          <a:p>
            <a:r>
              <a:rPr lang="en-US" dirty="0"/>
              <a:t>Students </a:t>
            </a:r>
            <a:r>
              <a:rPr lang="en-GB" dirty="0">
                <a:solidFill>
                  <a:schemeClr val="accent4">
                    <a:lumMod val="50000"/>
                  </a:schemeClr>
                </a:solidFill>
                <a:sym typeface="MT Extra" pitchFamily="18" charset="2"/>
              </a:rPr>
              <a:t>⋈</a:t>
            </a:r>
            <a:r>
              <a:rPr lang="en-GB" sz="4100" i="1" baseline="-25000" dirty="0">
                <a:solidFill>
                  <a:schemeClr val="accent4">
                    <a:lumMod val="50000"/>
                  </a:schemeClr>
                </a:solidFill>
                <a:sym typeface="MT Extra" pitchFamily="18" charset="2"/>
              </a:rPr>
              <a:t>R</a:t>
            </a:r>
            <a:r>
              <a:rPr lang="en-GB" baseline="-25000" dirty="0">
                <a:solidFill>
                  <a:schemeClr val="accent4">
                    <a:lumMod val="50000"/>
                  </a:schemeClr>
                </a:solidFill>
                <a:sym typeface="MT Extra" pitchFamily="18" charset="2"/>
              </a:rPr>
              <a:t> </a:t>
            </a:r>
            <a:r>
              <a:rPr lang="en-GB" dirty="0">
                <a:solidFill>
                  <a:schemeClr val="accent4">
                    <a:lumMod val="50000"/>
                  </a:schemeClr>
                </a:solidFill>
                <a:sym typeface="MT Extra" pitchFamily="18" charset="2"/>
              </a:rPr>
              <a:t>Donations</a:t>
            </a:r>
          </a:p>
          <a:p>
            <a:r>
              <a:rPr lang="en-GB" dirty="0">
                <a:solidFill>
                  <a:schemeClr val="accent4">
                    <a:lumMod val="50000"/>
                  </a:schemeClr>
                </a:solidFill>
                <a:sym typeface="MT Extra" pitchFamily="18" charset="2"/>
              </a:rPr>
              <a:t>All tuples in Donations are retained in the results</a:t>
            </a:r>
          </a:p>
          <a:p>
            <a:r>
              <a:rPr lang="en-GB" dirty="0">
                <a:solidFill>
                  <a:schemeClr val="accent4">
                    <a:lumMod val="50000"/>
                  </a:schemeClr>
                </a:solidFill>
                <a:sym typeface="MT Extra" pitchFamily="18" charset="2"/>
              </a:rPr>
              <a:t>For each donator who is not students, a “NULL” value is given as his/her School</a:t>
            </a:r>
          </a:p>
          <a:p>
            <a:endParaRPr lang="en-GB" dirty="0">
              <a:solidFill>
                <a:schemeClr val="accent4">
                  <a:lumMod val="50000"/>
                </a:schemeClr>
              </a:solidFill>
              <a:sym typeface="MT Extra" pitchFamily="18" charset="2"/>
            </a:endParaRPr>
          </a:p>
          <a:p>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771800"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2787337"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Donations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220073" y="1637620"/>
          <a:ext cx="2880321" cy="1854200"/>
        </p:xfrm>
        <a:graphic>
          <a:graphicData uri="http://schemas.openxmlformats.org/drawingml/2006/table">
            <a:tbl>
              <a:tblPr firstRow="1" bandRow="1">
                <a:tableStyleId>{5C22544A-7EE6-4342-B048-85BDC9FD1C3A}</a:tableStyleId>
              </a:tblPr>
              <a:tblGrid>
                <a:gridCol w="832849">
                  <a:extLst>
                    <a:ext uri="{9D8B030D-6E8A-4147-A177-3AD203B41FA5}">
                      <a16:colId xmlns:a16="http://schemas.microsoft.com/office/drawing/2014/main" val="20000"/>
                    </a:ext>
                  </a:extLst>
                </a:gridCol>
                <a:gridCol w="967352">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tblGrid>
              <a:tr h="370840">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9" name="TextBox 8"/>
          <p:cNvSpPr txBox="1"/>
          <p:nvPr/>
        </p:nvSpPr>
        <p:spPr>
          <a:xfrm>
            <a:off x="5220072"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
        <p:nvSpPr>
          <p:cNvPr id="11" name="Rectangle 10"/>
          <p:cNvSpPr/>
          <p:nvPr/>
        </p:nvSpPr>
        <p:spPr>
          <a:xfrm>
            <a:off x="4283968" y="118373"/>
            <a:ext cx="369012" cy="646331"/>
          </a:xfrm>
          <a:prstGeom prst="rect">
            <a:avLst/>
          </a:prstGeom>
        </p:spPr>
        <p:txBody>
          <a:bodyPr wrap="none">
            <a:spAutoFit/>
          </a:bodyPr>
          <a:lstStyle/>
          <a:p>
            <a:r>
              <a:rPr lang="en-GB" sz="3600" dirty="0">
                <a:solidFill>
                  <a:schemeClr val="accent4">
                    <a:lumMod val="50000"/>
                  </a:schemeClr>
                </a:solidFill>
                <a:latin typeface="Calibri" pitchFamily="34" charset="0"/>
                <a:sym typeface="Symbol"/>
              </a:rPr>
              <a:t></a:t>
            </a:r>
            <a:endParaRPr lang="en-SG" sz="3600" dirty="0">
              <a:latin typeface="Calibri" pitchFamily="34" charset="0"/>
            </a:endParaRPr>
          </a:p>
        </p:txBody>
      </p:sp>
      <p:sp>
        <p:nvSpPr>
          <p:cNvPr id="12" name="Rectangle 11"/>
          <p:cNvSpPr/>
          <p:nvPr/>
        </p:nvSpPr>
        <p:spPr>
          <a:xfrm>
            <a:off x="2195736" y="3933056"/>
            <a:ext cx="308098" cy="461665"/>
          </a:xfrm>
          <a:prstGeom prst="rect">
            <a:avLst/>
          </a:prstGeom>
        </p:spPr>
        <p:txBody>
          <a:bodyPr wrap="none">
            <a:spAutoFit/>
          </a:bodyPr>
          <a:lstStyle/>
          <a:p>
            <a:r>
              <a:rPr lang="en-GB" sz="2400" dirty="0">
                <a:solidFill>
                  <a:schemeClr val="accent4">
                    <a:lumMod val="50000"/>
                  </a:schemeClr>
                </a:solidFill>
                <a:latin typeface="Calibri" pitchFamily="34" charset="0"/>
                <a:sym typeface="Symbol"/>
              </a:rPr>
              <a:t></a:t>
            </a:r>
            <a:endParaRPr lang="en-SG" sz="2400" dirty="0">
              <a:latin typeface="Calibri" pitchFamily="34" charset="0"/>
            </a:endParaRPr>
          </a:p>
        </p:txBody>
      </p:sp>
    </p:spTree>
    <p:extLst>
      <p:ext uri="{BB962C8B-B14F-4D97-AF65-F5344CB8AC3E}">
        <p14:creationId xmlns:p14="http://schemas.microsoft.com/office/powerpoint/2010/main" val="398197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39825"/>
          </a:xfrm>
        </p:spPr>
        <p:txBody>
          <a:bodyPr/>
          <a:lstStyle/>
          <a:p>
            <a:r>
              <a:rPr lang="en-US" dirty="0"/>
              <a:t>Right </a:t>
            </a:r>
            <a:r>
              <a:rPr lang="en-US" dirty="0" err="1"/>
              <a:t>Outerjoin</a:t>
            </a:r>
            <a:r>
              <a:rPr lang="en-US" dirty="0"/>
              <a:t> </a:t>
            </a:r>
            <a:r>
              <a:rPr lang="en-GB" dirty="0">
                <a:solidFill>
                  <a:schemeClr val="accent4">
                    <a:lumMod val="50000"/>
                  </a:schemeClr>
                </a:solidFill>
                <a:sym typeface="MT Extra" pitchFamily="18" charset="2"/>
              </a:rPr>
              <a:t>⋈</a:t>
            </a:r>
            <a:r>
              <a:rPr lang="en-GB" i="1" baseline="-25000" dirty="0">
                <a:solidFill>
                  <a:schemeClr val="accent4">
                    <a:lumMod val="50000"/>
                  </a:schemeClr>
                </a:solidFill>
                <a:sym typeface="MT Extra" pitchFamily="18" charset="2"/>
              </a:rPr>
              <a:t>R</a:t>
            </a:r>
            <a:r>
              <a:rPr lang="en-GB" dirty="0">
                <a:solidFill>
                  <a:schemeClr val="accent4">
                    <a:lumMod val="50000"/>
                  </a:schemeClr>
                </a:solidFill>
                <a:sym typeface="MT Extra" pitchFamily="18" charset="2"/>
              </a:rPr>
              <a:t> </a:t>
            </a:r>
            <a:r>
              <a:rPr lang="en-GB" baseline="-25000" dirty="0">
                <a:solidFill>
                  <a:schemeClr val="accent4">
                    <a:lumMod val="50000"/>
                  </a:schemeClr>
                </a:solidFill>
                <a:sym typeface="MT Extra" pitchFamily="18" charset="2"/>
              </a:rPr>
              <a:t>condition</a:t>
            </a:r>
            <a:endParaRPr lang="en-SG" baseline="-25000" dirty="0"/>
          </a:p>
        </p:txBody>
      </p:sp>
      <p:sp>
        <p:nvSpPr>
          <p:cNvPr id="3" name="Content Placeholder 2"/>
          <p:cNvSpPr>
            <a:spLocks noGrp="1"/>
          </p:cNvSpPr>
          <p:nvPr>
            <p:ph idx="1"/>
          </p:nvPr>
        </p:nvSpPr>
        <p:spPr>
          <a:xfrm>
            <a:off x="457200" y="3573016"/>
            <a:ext cx="8229600" cy="2557909"/>
          </a:xfrm>
        </p:spPr>
        <p:txBody>
          <a:bodyPr>
            <a:normAutofit lnSpcReduction="10000"/>
          </a:bodyPr>
          <a:lstStyle/>
          <a:p>
            <a:r>
              <a:rPr lang="en-GB" dirty="0">
                <a:solidFill>
                  <a:schemeClr val="accent4">
                    <a:lumMod val="50000"/>
                  </a:schemeClr>
                </a:solidFill>
                <a:sym typeface="MT Extra" pitchFamily="18" charset="2"/>
              </a:rPr>
              <a:t>Query: “For each donator, find the school he/she is in”</a:t>
            </a:r>
          </a:p>
          <a:p>
            <a:r>
              <a:rPr lang="en-US" dirty="0"/>
              <a:t>Students </a:t>
            </a:r>
            <a:r>
              <a:rPr lang="en-GB" dirty="0">
                <a:solidFill>
                  <a:schemeClr val="accent4">
                    <a:lumMod val="50000"/>
                  </a:schemeClr>
                </a:solidFill>
                <a:sym typeface="MT Extra" pitchFamily="18" charset="2"/>
              </a:rPr>
              <a:t>⋈</a:t>
            </a:r>
            <a:r>
              <a:rPr lang="en-GB" sz="4100" i="1" baseline="-25000" dirty="0">
                <a:solidFill>
                  <a:schemeClr val="accent4">
                    <a:lumMod val="50000"/>
                  </a:schemeClr>
                </a:solidFill>
                <a:sym typeface="MT Extra" pitchFamily="18" charset="2"/>
              </a:rPr>
              <a:t>R</a:t>
            </a:r>
            <a:r>
              <a:rPr lang="en-GB" sz="4100" baseline="-25000" dirty="0">
                <a:solidFill>
                  <a:schemeClr val="accent4">
                    <a:lumMod val="50000"/>
                  </a:schemeClr>
                </a:solidFill>
                <a:sym typeface="MT Extra" pitchFamily="18" charset="2"/>
              </a:rPr>
              <a:t> </a:t>
            </a:r>
            <a:r>
              <a:rPr lang="en-GB" sz="4100" baseline="-25000" dirty="0" err="1">
                <a:solidFill>
                  <a:schemeClr val="accent4">
                    <a:lumMod val="50000"/>
                  </a:schemeClr>
                </a:solidFill>
                <a:sym typeface="MT Extra" pitchFamily="18" charset="2"/>
              </a:rPr>
              <a:t>Sname</a:t>
            </a:r>
            <a:r>
              <a:rPr lang="en-GB" sz="4100" baseline="-25000" dirty="0">
                <a:solidFill>
                  <a:schemeClr val="accent4">
                    <a:lumMod val="50000"/>
                  </a:schemeClr>
                </a:solidFill>
                <a:sym typeface="MT Extra" pitchFamily="18" charset="2"/>
              </a:rPr>
              <a:t> = </a:t>
            </a:r>
            <a:r>
              <a:rPr lang="en-GB" sz="4100" baseline="-25000" dirty="0" err="1">
                <a:solidFill>
                  <a:schemeClr val="accent4">
                    <a:lumMod val="50000"/>
                  </a:schemeClr>
                </a:solidFill>
                <a:sym typeface="MT Extra" pitchFamily="18" charset="2"/>
              </a:rPr>
              <a:t>Name</a:t>
            </a:r>
            <a:r>
              <a:rPr lang="en-GB" dirty="0" err="1">
                <a:solidFill>
                  <a:schemeClr val="accent4">
                    <a:lumMod val="50000"/>
                  </a:schemeClr>
                </a:solidFill>
                <a:sym typeface="MT Extra" pitchFamily="18" charset="2"/>
              </a:rPr>
              <a:t>Donations</a:t>
            </a:r>
            <a:endParaRPr lang="en-GB" dirty="0">
              <a:solidFill>
                <a:schemeClr val="accent4">
                  <a:lumMod val="50000"/>
                </a:schemeClr>
              </a:solidFill>
              <a:sym typeface="MT Extra" pitchFamily="18" charset="2"/>
            </a:endParaRPr>
          </a:p>
          <a:p>
            <a:r>
              <a:rPr lang="en-GB" dirty="0">
                <a:solidFill>
                  <a:schemeClr val="accent4">
                    <a:lumMod val="50000"/>
                  </a:schemeClr>
                </a:solidFill>
                <a:sym typeface="MT Extra" pitchFamily="18" charset="2"/>
              </a:rPr>
              <a:t>Similar to theta joins in that all attributes are retained</a:t>
            </a:r>
          </a:p>
          <a:p>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err="1">
                          <a:solidFill>
                            <a:srgbClr val="FFFF00"/>
                          </a:solidFill>
                          <a:latin typeface="Calibri" pitchFamily="34" charset="0"/>
                        </a:rPr>
                        <a:t>SName</a:t>
                      </a:r>
                      <a:endParaRPr lang="en-SG" sz="2400" u="sng" dirty="0">
                        <a:solidFill>
                          <a:srgbClr val="FFFF00"/>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771800"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2787337"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Donations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148065" y="1637620"/>
          <a:ext cx="3816424"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1080120">
                  <a:extLst>
                    <a:ext uri="{9D8B030D-6E8A-4147-A177-3AD203B41FA5}">
                      <a16:colId xmlns:a16="http://schemas.microsoft.com/office/drawing/2014/main" val="20003"/>
                    </a:ext>
                  </a:extLst>
                </a:gridCol>
              </a:tblGrid>
              <a:tr h="370840">
                <a:tc>
                  <a:txBody>
                    <a:bodyPr/>
                    <a:lstStyle/>
                    <a:p>
                      <a:pPr algn="ctr"/>
                      <a:r>
                        <a:rPr lang="en-US" sz="2400" u="none" dirty="0" err="1">
                          <a:latin typeface="Calibri" pitchFamily="34" charset="0"/>
                        </a:rPr>
                        <a:t>SName</a:t>
                      </a:r>
                      <a:endParaRPr lang="en-SG" sz="2400" u="none" dirty="0">
                        <a:latin typeface="Calibri" pitchFamily="34" charset="0"/>
                      </a:endParaRPr>
                    </a:p>
                  </a:txBody>
                  <a:tcPr marL="0" marR="0" marT="0" marB="0"/>
                </a:tc>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9" name="TextBox 8"/>
          <p:cNvSpPr txBox="1"/>
          <p:nvPr/>
        </p:nvSpPr>
        <p:spPr>
          <a:xfrm>
            <a:off x="5220072"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
        <p:nvSpPr>
          <p:cNvPr id="11" name="Rectangle 10"/>
          <p:cNvSpPr/>
          <p:nvPr/>
        </p:nvSpPr>
        <p:spPr>
          <a:xfrm>
            <a:off x="4274996" y="118373"/>
            <a:ext cx="369012" cy="646331"/>
          </a:xfrm>
          <a:prstGeom prst="rect">
            <a:avLst/>
          </a:prstGeom>
        </p:spPr>
        <p:txBody>
          <a:bodyPr wrap="none">
            <a:spAutoFit/>
          </a:bodyPr>
          <a:lstStyle/>
          <a:p>
            <a:r>
              <a:rPr lang="en-GB" sz="3600" dirty="0">
                <a:solidFill>
                  <a:schemeClr val="accent4">
                    <a:lumMod val="50000"/>
                  </a:schemeClr>
                </a:solidFill>
                <a:latin typeface="Calibri" pitchFamily="34" charset="0"/>
                <a:sym typeface="Symbol"/>
              </a:rPr>
              <a:t></a:t>
            </a:r>
            <a:endParaRPr lang="en-SG" sz="3600" dirty="0">
              <a:latin typeface="Calibri" pitchFamily="34" charset="0"/>
            </a:endParaRPr>
          </a:p>
        </p:txBody>
      </p:sp>
      <p:sp>
        <p:nvSpPr>
          <p:cNvPr id="12" name="Rectangle 11"/>
          <p:cNvSpPr/>
          <p:nvPr/>
        </p:nvSpPr>
        <p:spPr>
          <a:xfrm>
            <a:off x="2463702" y="4479503"/>
            <a:ext cx="308098" cy="461665"/>
          </a:xfrm>
          <a:prstGeom prst="rect">
            <a:avLst/>
          </a:prstGeom>
        </p:spPr>
        <p:txBody>
          <a:bodyPr wrap="none">
            <a:spAutoFit/>
          </a:bodyPr>
          <a:lstStyle/>
          <a:p>
            <a:r>
              <a:rPr lang="en-GB" sz="2400" dirty="0">
                <a:solidFill>
                  <a:schemeClr val="accent4">
                    <a:lumMod val="50000"/>
                  </a:schemeClr>
                </a:solidFill>
                <a:latin typeface="Calibri" pitchFamily="34" charset="0"/>
                <a:sym typeface="Symbol"/>
              </a:rPr>
              <a:t></a:t>
            </a:r>
            <a:endParaRPr lang="en-SG" sz="2400" dirty="0">
              <a:latin typeface="Calibri" pitchFamily="34" charset="0"/>
            </a:endParaRPr>
          </a:p>
        </p:txBody>
      </p:sp>
    </p:spTree>
    <p:extLst>
      <p:ext uri="{BB962C8B-B14F-4D97-AF65-F5344CB8AC3E}">
        <p14:creationId xmlns:p14="http://schemas.microsoft.com/office/powerpoint/2010/main" val="344166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39825"/>
          </a:xfrm>
        </p:spPr>
        <p:txBody>
          <a:bodyPr/>
          <a:lstStyle/>
          <a:p>
            <a:r>
              <a:rPr lang="en-US" dirty="0"/>
              <a:t>Full </a:t>
            </a:r>
            <a:r>
              <a:rPr lang="en-US" dirty="0" err="1"/>
              <a:t>Outerjoin</a:t>
            </a:r>
            <a:r>
              <a:rPr lang="en-US" dirty="0"/>
              <a:t> </a:t>
            </a:r>
            <a:r>
              <a:rPr lang="en-GB" dirty="0">
                <a:solidFill>
                  <a:schemeClr val="accent4">
                    <a:lumMod val="50000"/>
                  </a:schemeClr>
                </a:solidFill>
                <a:sym typeface="MT Extra" pitchFamily="18" charset="2"/>
              </a:rPr>
              <a:t>⋈</a:t>
            </a:r>
            <a:r>
              <a:rPr lang="en-GB" baseline="-25000" dirty="0">
                <a:solidFill>
                  <a:schemeClr val="accent4">
                    <a:lumMod val="50000"/>
                  </a:schemeClr>
                </a:solidFill>
                <a:sym typeface="MT Extra" pitchFamily="18" charset="2"/>
              </a:rPr>
              <a:t>condition</a:t>
            </a:r>
            <a:endParaRPr lang="en-SG" baseline="-25000" dirty="0"/>
          </a:p>
        </p:txBody>
      </p:sp>
      <p:sp>
        <p:nvSpPr>
          <p:cNvPr id="3" name="Content Placeholder 2"/>
          <p:cNvSpPr>
            <a:spLocks noGrp="1"/>
          </p:cNvSpPr>
          <p:nvPr>
            <p:ph idx="1"/>
          </p:nvPr>
        </p:nvSpPr>
        <p:spPr>
          <a:xfrm>
            <a:off x="457200" y="4293096"/>
            <a:ext cx="8229600" cy="1837829"/>
          </a:xfrm>
        </p:spPr>
        <p:txBody>
          <a:bodyPr>
            <a:normAutofit/>
          </a:bodyPr>
          <a:lstStyle/>
          <a:p>
            <a:r>
              <a:rPr lang="en-GB" dirty="0">
                <a:solidFill>
                  <a:schemeClr val="accent4">
                    <a:lumMod val="50000"/>
                  </a:schemeClr>
                </a:solidFill>
                <a:sym typeface="MT Extra" pitchFamily="18" charset="2"/>
              </a:rPr>
              <a:t>The combination of left and right </a:t>
            </a:r>
            <a:r>
              <a:rPr lang="en-GB" dirty="0" err="1">
                <a:solidFill>
                  <a:schemeClr val="accent4">
                    <a:lumMod val="50000"/>
                  </a:schemeClr>
                </a:solidFill>
                <a:sym typeface="MT Extra" pitchFamily="18" charset="2"/>
              </a:rPr>
              <a:t>outerjoins</a:t>
            </a:r>
            <a:endParaRPr lang="en-GB" dirty="0">
              <a:solidFill>
                <a:schemeClr val="accent4">
                  <a:lumMod val="50000"/>
                </a:schemeClr>
              </a:solidFill>
              <a:sym typeface="MT Extra" pitchFamily="18" charset="2"/>
            </a:endParaRPr>
          </a:p>
          <a:p>
            <a:r>
              <a:rPr lang="en-US" dirty="0"/>
              <a:t>Students </a:t>
            </a:r>
            <a:r>
              <a:rPr lang="en-GB" dirty="0">
                <a:solidFill>
                  <a:schemeClr val="accent4">
                    <a:lumMod val="50000"/>
                  </a:schemeClr>
                </a:solidFill>
                <a:sym typeface="MT Extra" pitchFamily="18" charset="2"/>
              </a:rPr>
              <a:t>⋈</a:t>
            </a:r>
            <a:r>
              <a:rPr lang="en-GB" baseline="-25000" dirty="0">
                <a:solidFill>
                  <a:schemeClr val="accent4">
                    <a:lumMod val="50000"/>
                  </a:schemeClr>
                </a:solidFill>
                <a:sym typeface="MT Extra" pitchFamily="18" charset="2"/>
              </a:rPr>
              <a:t> </a:t>
            </a:r>
            <a:r>
              <a:rPr lang="en-GB" dirty="0">
                <a:solidFill>
                  <a:schemeClr val="accent4">
                    <a:lumMod val="50000"/>
                  </a:schemeClr>
                </a:solidFill>
                <a:sym typeface="MT Extra" pitchFamily="18" charset="2"/>
              </a:rPr>
              <a:t>Donations</a:t>
            </a:r>
          </a:p>
          <a:p>
            <a:endParaRPr lang="en-GB" dirty="0">
              <a:solidFill>
                <a:schemeClr val="accent4">
                  <a:lumMod val="50000"/>
                </a:schemeClr>
              </a:solidFill>
              <a:sym typeface="MT Extra" pitchFamily="18" charset="2"/>
            </a:endParaRPr>
          </a:p>
          <a:p>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a:solidFill>
                            <a:schemeClr val="bg1"/>
                          </a:solidFill>
                          <a:latin typeface="Calibri" pitchFamily="34" charset="0"/>
                        </a:rPr>
                        <a:t>Name</a:t>
                      </a:r>
                      <a:endParaRPr lang="en-SG" sz="2400" u="sng" dirty="0">
                        <a:solidFill>
                          <a:schemeClr val="bg1"/>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771800"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2787337"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Donations</a:t>
            </a:r>
            <a:endParaRPr lang="en-SG" sz="2800" b="1" dirty="0">
              <a:latin typeface="Calibri" pitchFamily="34" charset="0"/>
            </a:endParaRPr>
          </a:p>
        </p:txBody>
      </p:sp>
      <p:graphicFrame>
        <p:nvGraphicFramePr>
          <p:cNvPr id="8" name="Content Placeholder 3"/>
          <p:cNvGraphicFramePr>
            <a:graphicFrameLocks/>
          </p:cNvGraphicFramePr>
          <p:nvPr>
            <p:extLst/>
          </p:nvPr>
        </p:nvGraphicFramePr>
        <p:xfrm>
          <a:off x="5220073" y="1637620"/>
          <a:ext cx="2880321" cy="2595880"/>
        </p:xfrm>
        <a:graphic>
          <a:graphicData uri="http://schemas.openxmlformats.org/drawingml/2006/table">
            <a:tbl>
              <a:tblPr firstRow="1" bandRow="1">
                <a:tableStyleId>{5C22544A-7EE6-4342-B048-85BDC9FD1C3A}</a:tableStyleId>
              </a:tblPr>
              <a:tblGrid>
                <a:gridCol w="832849">
                  <a:extLst>
                    <a:ext uri="{9D8B030D-6E8A-4147-A177-3AD203B41FA5}">
                      <a16:colId xmlns:a16="http://schemas.microsoft.com/office/drawing/2014/main" val="20000"/>
                    </a:ext>
                  </a:extLst>
                </a:gridCol>
                <a:gridCol w="967352">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tblGrid>
              <a:tr h="370840">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5"/>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6"/>
                  </a:ext>
                </a:extLst>
              </a:tr>
            </a:tbl>
          </a:graphicData>
        </a:graphic>
      </p:graphicFrame>
      <p:sp>
        <p:nvSpPr>
          <p:cNvPr id="9" name="TextBox 8"/>
          <p:cNvSpPr txBox="1"/>
          <p:nvPr/>
        </p:nvSpPr>
        <p:spPr>
          <a:xfrm>
            <a:off x="5220072"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
        <p:nvSpPr>
          <p:cNvPr id="11" name="Rectangle 10"/>
          <p:cNvSpPr/>
          <p:nvPr/>
        </p:nvSpPr>
        <p:spPr>
          <a:xfrm>
            <a:off x="3923928" y="118373"/>
            <a:ext cx="369012" cy="646331"/>
          </a:xfrm>
          <a:prstGeom prst="rect">
            <a:avLst/>
          </a:prstGeom>
        </p:spPr>
        <p:txBody>
          <a:bodyPr wrap="none">
            <a:spAutoFit/>
          </a:bodyPr>
          <a:lstStyle/>
          <a:p>
            <a:r>
              <a:rPr lang="en-GB" sz="3600" dirty="0">
                <a:solidFill>
                  <a:schemeClr val="accent4">
                    <a:lumMod val="50000"/>
                  </a:schemeClr>
                </a:solidFill>
                <a:latin typeface="Calibri" pitchFamily="34" charset="0"/>
                <a:sym typeface="Symbol"/>
              </a:rPr>
              <a:t></a:t>
            </a:r>
            <a:endParaRPr lang="en-SG" sz="3600" dirty="0">
              <a:latin typeface="Calibri" pitchFamily="34" charset="0"/>
            </a:endParaRPr>
          </a:p>
        </p:txBody>
      </p:sp>
      <p:sp>
        <p:nvSpPr>
          <p:cNvPr id="12" name="Rectangle 11"/>
          <p:cNvSpPr/>
          <p:nvPr/>
        </p:nvSpPr>
        <p:spPr>
          <a:xfrm>
            <a:off x="2463702" y="4839543"/>
            <a:ext cx="308098" cy="461665"/>
          </a:xfrm>
          <a:prstGeom prst="rect">
            <a:avLst/>
          </a:prstGeom>
        </p:spPr>
        <p:txBody>
          <a:bodyPr wrap="none">
            <a:spAutoFit/>
          </a:bodyPr>
          <a:lstStyle/>
          <a:p>
            <a:r>
              <a:rPr lang="en-GB" sz="2400" dirty="0">
                <a:solidFill>
                  <a:schemeClr val="accent4">
                    <a:lumMod val="50000"/>
                  </a:schemeClr>
                </a:solidFill>
                <a:latin typeface="Calibri" pitchFamily="34" charset="0"/>
                <a:sym typeface="Symbol"/>
              </a:rPr>
              <a:t></a:t>
            </a:r>
            <a:endParaRPr lang="en-SG" sz="2400" dirty="0">
              <a:latin typeface="Calibri" pitchFamily="34" charset="0"/>
            </a:endParaRPr>
          </a:p>
        </p:txBody>
      </p:sp>
    </p:spTree>
    <p:extLst>
      <p:ext uri="{BB962C8B-B14F-4D97-AF65-F5344CB8AC3E}">
        <p14:creationId xmlns:p14="http://schemas.microsoft.com/office/powerpoint/2010/main" val="100697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39825"/>
          </a:xfrm>
        </p:spPr>
        <p:txBody>
          <a:bodyPr/>
          <a:lstStyle/>
          <a:p>
            <a:r>
              <a:rPr lang="en-US" dirty="0"/>
              <a:t>Full </a:t>
            </a:r>
            <a:r>
              <a:rPr lang="en-US" dirty="0" err="1"/>
              <a:t>Outerjoin</a:t>
            </a:r>
            <a:r>
              <a:rPr lang="en-US" dirty="0"/>
              <a:t> </a:t>
            </a:r>
            <a:r>
              <a:rPr lang="en-GB" dirty="0">
                <a:solidFill>
                  <a:schemeClr val="accent4">
                    <a:lumMod val="50000"/>
                  </a:schemeClr>
                </a:solidFill>
                <a:sym typeface="MT Extra" pitchFamily="18" charset="2"/>
              </a:rPr>
              <a:t>⋈</a:t>
            </a:r>
            <a:r>
              <a:rPr lang="en-GB" baseline="-25000" dirty="0">
                <a:solidFill>
                  <a:schemeClr val="accent4">
                    <a:lumMod val="50000"/>
                  </a:schemeClr>
                </a:solidFill>
                <a:sym typeface="MT Extra" pitchFamily="18" charset="2"/>
              </a:rPr>
              <a:t>condition</a:t>
            </a:r>
            <a:endParaRPr lang="en-SG" baseline="-25000" dirty="0"/>
          </a:p>
        </p:txBody>
      </p:sp>
      <p:sp>
        <p:nvSpPr>
          <p:cNvPr id="3" name="Content Placeholder 2"/>
          <p:cNvSpPr>
            <a:spLocks noGrp="1"/>
          </p:cNvSpPr>
          <p:nvPr>
            <p:ph idx="1"/>
          </p:nvPr>
        </p:nvSpPr>
        <p:spPr>
          <a:xfrm>
            <a:off x="457200" y="4581127"/>
            <a:ext cx="8229600" cy="1549797"/>
          </a:xfrm>
        </p:spPr>
        <p:txBody>
          <a:bodyPr>
            <a:normAutofit/>
          </a:bodyPr>
          <a:lstStyle/>
          <a:p>
            <a:r>
              <a:rPr lang="en-US" dirty="0"/>
              <a:t>Students </a:t>
            </a:r>
            <a:r>
              <a:rPr lang="en-GB" dirty="0">
                <a:solidFill>
                  <a:schemeClr val="accent4">
                    <a:lumMod val="50000"/>
                  </a:schemeClr>
                </a:solidFill>
                <a:sym typeface="MT Extra" pitchFamily="18" charset="2"/>
              </a:rPr>
              <a:t>⋈</a:t>
            </a:r>
            <a:r>
              <a:rPr lang="en-GB" sz="4100" baseline="-25000" dirty="0" err="1">
                <a:solidFill>
                  <a:schemeClr val="accent4">
                    <a:lumMod val="50000"/>
                  </a:schemeClr>
                </a:solidFill>
                <a:sym typeface="MT Extra" pitchFamily="18" charset="2"/>
              </a:rPr>
              <a:t>Sname</a:t>
            </a:r>
            <a:r>
              <a:rPr lang="en-GB" sz="4100" baseline="-25000" dirty="0">
                <a:solidFill>
                  <a:schemeClr val="accent4">
                    <a:lumMod val="50000"/>
                  </a:schemeClr>
                </a:solidFill>
                <a:sym typeface="MT Extra" pitchFamily="18" charset="2"/>
              </a:rPr>
              <a:t> = </a:t>
            </a:r>
            <a:r>
              <a:rPr lang="en-GB" sz="4100" baseline="-25000" dirty="0" err="1">
                <a:solidFill>
                  <a:schemeClr val="accent4">
                    <a:lumMod val="50000"/>
                  </a:schemeClr>
                </a:solidFill>
                <a:sym typeface="MT Extra" pitchFamily="18" charset="2"/>
              </a:rPr>
              <a:t>Name</a:t>
            </a:r>
            <a:r>
              <a:rPr lang="en-GB" dirty="0" err="1">
                <a:solidFill>
                  <a:schemeClr val="accent4">
                    <a:lumMod val="50000"/>
                  </a:schemeClr>
                </a:solidFill>
                <a:sym typeface="MT Extra" pitchFamily="18" charset="2"/>
              </a:rPr>
              <a:t>Donations</a:t>
            </a:r>
            <a:endParaRPr lang="en-GB" dirty="0">
              <a:solidFill>
                <a:schemeClr val="accent4">
                  <a:lumMod val="50000"/>
                </a:schemeClr>
              </a:solidFill>
              <a:sym typeface="MT Extra" pitchFamily="18" charset="2"/>
            </a:endParaRPr>
          </a:p>
          <a:p>
            <a:endParaRPr lang="en-SG" dirty="0"/>
          </a:p>
        </p:txBody>
      </p:sp>
      <p:graphicFrame>
        <p:nvGraphicFramePr>
          <p:cNvPr id="4" name="Content Placeholder 3"/>
          <p:cNvGraphicFramePr>
            <a:graphicFrameLocks/>
          </p:cNvGraphicFramePr>
          <p:nvPr>
            <p:extLst/>
          </p:nvPr>
        </p:nvGraphicFramePr>
        <p:xfrm>
          <a:off x="467545" y="1594212"/>
          <a:ext cx="1944216" cy="1854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tblGrid>
              <a:tr h="370840">
                <a:tc>
                  <a:txBody>
                    <a:bodyPr/>
                    <a:lstStyle/>
                    <a:p>
                      <a:pPr algn="ctr"/>
                      <a:r>
                        <a:rPr lang="en-US" sz="2400" u="sng" dirty="0" err="1">
                          <a:solidFill>
                            <a:srgbClr val="FFFF00"/>
                          </a:solidFill>
                          <a:latin typeface="Calibri" pitchFamily="34" charset="0"/>
                        </a:rPr>
                        <a:t>SName</a:t>
                      </a:r>
                      <a:endParaRPr lang="en-SG" sz="2400" u="sng" dirty="0">
                        <a:solidFill>
                          <a:srgbClr val="FFFF00"/>
                        </a:solidFill>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CEE</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467544" y="980728"/>
            <a:ext cx="1512168" cy="523220"/>
          </a:xfrm>
          <a:prstGeom prst="rect">
            <a:avLst/>
          </a:prstGeom>
          <a:noFill/>
          <a:ln w="25400">
            <a:solidFill>
              <a:schemeClr val="accent1"/>
            </a:solidFill>
          </a:ln>
        </p:spPr>
        <p:txBody>
          <a:bodyPr wrap="square" rtlCol="0">
            <a:spAutoFit/>
          </a:bodyPr>
          <a:lstStyle/>
          <a:p>
            <a:r>
              <a:rPr lang="en-US" sz="2800" b="1" dirty="0">
                <a:latin typeface="Calibri" pitchFamily="34" charset="0"/>
              </a:rPr>
              <a:t>Students</a:t>
            </a:r>
            <a:endParaRPr lang="en-SG" sz="2800" b="1" dirty="0">
              <a:latin typeface="Calibri" pitchFamily="34" charset="0"/>
            </a:endParaRPr>
          </a:p>
        </p:txBody>
      </p:sp>
      <p:graphicFrame>
        <p:nvGraphicFramePr>
          <p:cNvPr id="6" name="Content Placeholder 3"/>
          <p:cNvGraphicFramePr>
            <a:graphicFrameLocks/>
          </p:cNvGraphicFramePr>
          <p:nvPr>
            <p:extLst/>
          </p:nvPr>
        </p:nvGraphicFramePr>
        <p:xfrm>
          <a:off x="2771800" y="1612468"/>
          <a:ext cx="2016224" cy="185420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tblGrid>
              <a:tr h="370840">
                <a:tc>
                  <a:txBody>
                    <a:bodyPr/>
                    <a:lstStyle/>
                    <a:p>
                      <a:pPr algn="ctr"/>
                      <a:r>
                        <a:rPr lang="en-US" sz="2400" u="sng" dirty="0">
                          <a:latin typeface="Calibri" pitchFamily="34" charset="0"/>
                        </a:rPr>
                        <a:t>Name</a:t>
                      </a:r>
                      <a:endParaRPr lang="en-SG" sz="2400" u="sng"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bl>
          </a:graphicData>
        </a:graphic>
      </p:graphicFrame>
      <p:sp>
        <p:nvSpPr>
          <p:cNvPr id="7" name="TextBox 6"/>
          <p:cNvSpPr txBox="1"/>
          <p:nvPr/>
        </p:nvSpPr>
        <p:spPr>
          <a:xfrm>
            <a:off x="2787337" y="998984"/>
            <a:ext cx="1712655" cy="523220"/>
          </a:xfrm>
          <a:prstGeom prst="rect">
            <a:avLst/>
          </a:prstGeom>
          <a:noFill/>
          <a:ln w="25400">
            <a:solidFill>
              <a:schemeClr val="accent1"/>
            </a:solidFill>
          </a:ln>
        </p:spPr>
        <p:txBody>
          <a:bodyPr wrap="square" rtlCol="0">
            <a:spAutoFit/>
          </a:bodyPr>
          <a:lstStyle/>
          <a:p>
            <a:r>
              <a:rPr lang="en-US" sz="2800" b="1" dirty="0">
                <a:latin typeface="Calibri" pitchFamily="34" charset="0"/>
              </a:rPr>
              <a:t>Donations</a:t>
            </a:r>
            <a:endParaRPr lang="en-SG" sz="2800" b="1" dirty="0">
              <a:latin typeface="Calibri" pitchFamily="34" charset="0"/>
            </a:endParaRPr>
          </a:p>
        </p:txBody>
      </p:sp>
      <p:sp>
        <p:nvSpPr>
          <p:cNvPr id="9" name="TextBox 8"/>
          <p:cNvSpPr txBox="1"/>
          <p:nvPr/>
        </p:nvSpPr>
        <p:spPr>
          <a:xfrm>
            <a:off x="5220072" y="1018148"/>
            <a:ext cx="1368152" cy="523220"/>
          </a:xfrm>
          <a:prstGeom prst="rect">
            <a:avLst/>
          </a:prstGeom>
          <a:noFill/>
          <a:ln w="25400">
            <a:solidFill>
              <a:schemeClr val="accent1"/>
            </a:solidFill>
            <a:prstDash val="dash"/>
          </a:ln>
        </p:spPr>
        <p:txBody>
          <a:bodyPr wrap="square" rtlCol="0">
            <a:spAutoFit/>
          </a:bodyPr>
          <a:lstStyle/>
          <a:p>
            <a:r>
              <a:rPr lang="en-US" sz="2800" b="1" dirty="0">
                <a:latin typeface="Calibri" pitchFamily="34" charset="0"/>
              </a:rPr>
              <a:t>Results</a:t>
            </a:r>
            <a:endParaRPr lang="en-SG" sz="2800" b="1" dirty="0">
              <a:latin typeface="Calibri" pitchFamily="34" charset="0"/>
            </a:endParaRPr>
          </a:p>
        </p:txBody>
      </p:sp>
      <p:sp>
        <p:nvSpPr>
          <p:cNvPr id="11" name="Rectangle 10"/>
          <p:cNvSpPr/>
          <p:nvPr/>
        </p:nvSpPr>
        <p:spPr>
          <a:xfrm>
            <a:off x="3923928" y="118373"/>
            <a:ext cx="369012" cy="646331"/>
          </a:xfrm>
          <a:prstGeom prst="rect">
            <a:avLst/>
          </a:prstGeom>
        </p:spPr>
        <p:txBody>
          <a:bodyPr wrap="none">
            <a:spAutoFit/>
          </a:bodyPr>
          <a:lstStyle/>
          <a:p>
            <a:r>
              <a:rPr lang="en-GB" sz="3600" dirty="0">
                <a:solidFill>
                  <a:schemeClr val="accent4">
                    <a:lumMod val="50000"/>
                  </a:schemeClr>
                </a:solidFill>
                <a:latin typeface="Calibri" pitchFamily="34" charset="0"/>
                <a:sym typeface="Symbol"/>
              </a:rPr>
              <a:t></a:t>
            </a:r>
            <a:endParaRPr lang="en-SG" sz="3600" dirty="0">
              <a:latin typeface="Calibri" pitchFamily="34" charset="0"/>
            </a:endParaRPr>
          </a:p>
        </p:txBody>
      </p:sp>
      <p:sp>
        <p:nvSpPr>
          <p:cNvPr id="12" name="Rectangle 11"/>
          <p:cNvSpPr/>
          <p:nvPr/>
        </p:nvSpPr>
        <p:spPr>
          <a:xfrm>
            <a:off x="2463702" y="4551511"/>
            <a:ext cx="308098" cy="461665"/>
          </a:xfrm>
          <a:prstGeom prst="rect">
            <a:avLst/>
          </a:prstGeom>
        </p:spPr>
        <p:txBody>
          <a:bodyPr wrap="none">
            <a:spAutoFit/>
          </a:bodyPr>
          <a:lstStyle/>
          <a:p>
            <a:r>
              <a:rPr lang="en-GB" sz="2400" dirty="0">
                <a:solidFill>
                  <a:schemeClr val="accent4">
                    <a:lumMod val="50000"/>
                  </a:schemeClr>
                </a:solidFill>
                <a:latin typeface="Calibri" pitchFamily="34" charset="0"/>
                <a:sym typeface="Symbol"/>
              </a:rPr>
              <a:t></a:t>
            </a:r>
            <a:endParaRPr lang="en-SG" sz="2400" dirty="0">
              <a:latin typeface="Calibri" pitchFamily="34" charset="0"/>
            </a:endParaRPr>
          </a:p>
        </p:txBody>
      </p:sp>
      <p:graphicFrame>
        <p:nvGraphicFramePr>
          <p:cNvPr id="13" name="Content Placeholder 3"/>
          <p:cNvGraphicFramePr>
            <a:graphicFrameLocks/>
          </p:cNvGraphicFramePr>
          <p:nvPr>
            <p:extLst/>
          </p:nvPr>
        </p:nvGraphicFramePr>
        <p:xfrm>
          <a:off x="5148065" y="1637620"/>
          <a:ext cx="3816424" cy="25958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1080120">
                  <a:extLst>
                    <a:ext uri="{9D8B030D-6E8A-4147-A177-3AD203B41FA5}">
                      <a16:colId xmlns:a16="http://schemas.microsoft.com/office/drawing/2014/main" val="20003"/>
                    </a:ext>
                  </a:extLst>
                </a:gridCol>
              </a:tblGrid>
              <a:tr h="370840">
                <a:tc>
                  <a:txBody>
                    <a:bodyPr/>
                    <a:lstStyle/>
                    <a:p>
                      <a:pPr algn="ctr"/>
                      <a:r>
                        <a:rPr lang="en-US" sz="2400" u="none" dirty="0" err="1">
                          <a:latin typeface="Calibri" pitchFamily="34" charset="0"/>
                        </a:rPr>
                        <a:t>SName</a:t>
                      </a:r>
                      <a:endParaRPr lang="en-SG" sz="2400" u="none" dirty="0">
                        <a:latin typeface="Calibri" pitchFamily="34" charset="0"/>
                      </a:endParaRPr>
                    </a:p>
                  </a:txBody>
                  <a:tcPr marL="0" marR="0" marT="0" marB="0"/>
                </a:tc>
                <a:tc>
                  <a:txBody>
                    <a:bodyPr/>
                    <a:lstStyle/>
                    <a:p>
                      <a:pPr algn="ctr"/>
                      <a:r>
                        <a:rPr lang="en-US" sz="2400" u="none" dirty="0">
                          <a:latin typeface="Calibri" pitchFamily="34" charset="0"/>
                        </a:rPr>
                        <a:t>Name</a:t>
                      </a:r>
                      <a:endParaRPr lang="en-SG" sz="2400" u="none" dirty="0">
                        <a:latin typeface="Calibri" pitchFamily="34" charset="0"/>
                      </a:endParaRPr>
                    </a:p>
                  </a:txBody>
                  <a:tcPr marL="0" marR="0" marT="0" marB="0"/>
                </a:tc>
                <a:tc>
                  <a:txBody>
                    <a:bodyPr/>
                    <a:lstStyle/>
                    <a:p>
                      <a:pPr algn="ctr"/>
                      <a:r>
                        <a:rPr lang="en-US" sz="2400" dirty="0">
                          <a:latin typeface="Calibri" pitchFamily="34" charset="0"/>
                        </a:rPr>
                        <a:t>School</a:t>
                      </a:r>
                      <a:endParaRPr lang="en-SG" sz="2400" dirty="0">
                        <a:latin typeface="Calibri" pitchFamily="34" charset="0"/>
                      </a:endParaRPr>
                    </a:p>
                  </a:txBody>
                  <a:tcPr marL="0" marR="0" marT="0" marB="0"/>
                </a:tc>
                <a:tc>
                  <a:txBody>
                    <a:bodyPr/>
                    <a:lstStyle/>
                    <a:p>
                      <a:pPr algn="ctr"/>
                      <a:r>
                        <a:rPr lang="en-US" sz="2400" dirty="0">
                          <a:latin typeface="Calibri" pitchFamily="34" charset="0"/>
                        </a:rPr>
                        <a:t>Amount</a:t>
                      </a:r>
                      <a:endParaRPr lang="en-SG" sz="2400" u="none" dirty="0">
                        <a:latin typeface="Calibri" pitchFamily="34" charset="0"/>
                      </a:endParaRPr>
                    </a:p>
                  </a:txBody>
                  <a:tcPr marL="0" marR="0" marT="0" marB="0"/>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Alice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A50021"/>
                          </a:solidFill>
                          <a:latin typeface="Calibri" pitchFamily="34" charset="0"/>
                        </a:rPr>
                        <a:t>NULL</a:t>
                      </a:r>
                      <a:endParaRPr lang="en-SG" sz="2400" dirty="0">
                        <a:latin typeface="Calibri" pitchFamily="34" charset="0"/>
                      </a:endParaRPr>
                    </a:p>
                  </a:txBody>
                  <a:tcPr marL="0" marR="0" marT="0" marB="0"/>
                </a:tc>
                <a:extLst>
                  <a:ext uri="{0D108BD9-81ED-4DB2-BD59-A6C34878D82A}">
                    <a16:rowId xmlns:a16="http://schemas.microsoft.com/office/drawing/2014/main" val="10001"/>
                  </a:ext>
                </a:extLst>
              </a:tr>
              <a:tr h="370840">
                <a:tc>
                  <a:txBody>
                    <a:bodyPr/>
                    <a:lstStyle/>
                    <a:p>
                      <a:pPr algn="ctr"/>
                      <a:r>
                        <a:rPr lang="en-US" sz="2400" dirty="0">
                          <a:latin typeface="Calibri" pitchFamily="34" charset="0"/>
                        </a:rPr>
                        <a:t>Bob</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A50021"/>
                          </a:solidFill>
                          <a:latin typeface="Calibri" pitchFamily="34" charset="0"/>
                        </a:rPr>
                        <a:t>NULL</a:t>
                      </a:r>
                      <a:endParaRPr lang="en-SG" sz="2400" dirty="0">
                        <a:latin typeface="Calibri" pitchFamily="34" charset="0"/>
                      </a:endParaRPr>
                    </a:p>
                  </a:txBody>
                  <a:tcPr marL="0" marR="0" marT="0" marB="0"/>
                </a:tc>
                <a:extLst>
                  <a:ext uri="{0D108BD9-81ED-4DB2-BD59-A6C34878D82A}">
                    <a16:rowId xmlns:a16="http://schemas.microsoft.com/office/drawing/2014/main" val="10002"/>
                  </a:ext>
                </a:extLst>
              </a:tr>
              <a:tr h="370840">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Cathy</a:t>
                      </a:r>
                      <a:endParaRPr lang="en-SG" sz="2400" dirty="0">
                        <a:latin typeface="Calibri" pitchFamily="34" charset="0"/>
                      </a:endParaRPr>
                    </a:p>
                  </a:txBody>
                  <a:tcPr marL="0" marR="0" marT="0" marB="0"/>
                </a:tc>
                <a:tc>
                  <a:txBody>
                    <a:bodyPr/>
                    <a:lstStyle/>
                    <a:p>
                      <a:pPr algn="ctr"/>
                      <a:r>
                        <a:rPr lang="en-US" sz="2400" dirty="0">
                          <a:latin typeface="Calibri" pitchFamily="34" charset="0"/>
                        </a:rPr>
                        <a:t>SoC</a:t>
                      </a:r>
                      <a:endParaRPr lang="en-SG" sz="2400" dirty="0">
                        <a:latin typeface="Calibri" pitchFamily="34" charset="0"/>
                      </a:endParaRPr>
                    </a:p>
                  </a:txBody>
                  <a:tcPr marL="0" marR="0" marT="0" marB="0"/>
                </a:tc>
                <a:tc>
                  <a:txBody>
                    <a:bodyPr/>
                    <a:lstStyle/>
                    <a:p>
                      <a:pPr algn="ctr"/>
                      <a:r>
                        <a:rPr lang="en-US" sz="2400" dirty="0">
                          <a:latin typeface="Calibri" pitchFamily="34" charset="0"/>
                        </a:rPr>
                        <a:t>100</a:t>
                      </a:r>
                      <a:endParaRPr lang="en-SG" sz="2400" dirty="0">
                        <a:latin typeface="Calibri" pitchFamily="34" charset="0"/>
                      </a:endParaRPr>
                    </a:p>
                  </a:txBody>
                  <a:tcPr marL="0" marR="0" marT="0" marB="0"/>
                </a:tc>
                <a:extLst>
                  <a:ext uri="{0D108BD9-81ED-4DB2-BD59-A6C34878D82A}">
                    <a16:rowId xmlns:a16="http://schemas.microsoft.com/office/drawing/2014/main" val="10003"/>
                  </a:ext>
                </a:extLst>
              </a:tr>
              <a:tr h="370840">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David</a:t>
                      </a:r>
                      <a:endParaRPr lang="en-SG" sz="2400" dirty="0">
                        <a:latin typeface="Calibri" pitchFamily="34" charset="0"/>
                      </a:endParaRPr>
                    </a:p>
                  </a:txBody>
                  <a:tcPr marL="0" marR="0" marT="0" marB="0"/>
                </a:tc>
                <a:tc>
                  <a:txBody>
                    <a:bodyPr/>
                    <a:lstStyle/>
                    <a:p>
                      <a:pPr algn="ctr"/>
                      <a:r>
                        <a:rPr lang="en-US" sz="2400" dirty="0">
                          <a:latin typeface="Calibri" pitchFamily="34" charset="0"/>
                        </a:rPr>
                        <a:t>EE</a:t>
                      </a:r>
                      <a:endParaRPr lang="en-SG" sz="2400" dirty="0">
                        <a:latin typeface="Calibri" pitchFamily="34" charset="0"/>
                      </a:endParaRPr>
                    </a:p>
                  </a:txBody>
                  <a:tcPr marL="0" marR="0" marT="0" marB="0"/>
                </a:tc>
                <a:tc>
                  <a:txBody>
                    <a:bodyPr/>
                    <a:lstStyle/>
                    <a:p>
                      <a:pPr algn="ctr"/>
                      <a:r>
                        <a:rPr lang="en-US" sz="2400" dirty="0">
                          <a:latin typeface="Calibri" pitchFamily="34" charset="0"/>
                        </a:rPr>
                        <a:t>200</a:t>
                      </a:r>
                      <a:endParaRPr lang="en-SG" sz="2400" dirty="0">
                        <a:latin typeface="Calibri" pitchFamily="34" charset="0"/>
                      </a:endParaRPr>
                    </a:p>
                  </a:txBody>
                  <a:tcPr marL="0" marR="0" marT="0" marB="0"/>
                </a:tc>
                <a:extLst>
                  <a:ext uri="{0D108BD9-81ED-4DB2-BD59-A6C34878D82A}">
                    <a16:rowId xmlns:a16="http://schemas.microsoft.com/office/drawing/2014/main" val="10004"/>
                  </a:ext>
                </a:extLst>
              </a:tr>
              <a:tr h="370840">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Eddie</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300</a:t>
                      </a:r>
                      <a:endParaRPr lang="en-SG" sz="2400" dirty="0">
                        <a:latin typeface="Calibri" pitchFamily="34" charset="0"/>
                      </a:endParaRPr>
                    </a:p>
                  </a:txBody>
                  <a:tcPr marL="0" marR="0" marT="0" marB="0"/>
                </a:tc>
                <a:extLst>
                  <a:ext uri="{0D108BD9-81ED-4DB2-BD59-A6C34878D82A}">
                    <a16:rowId xmlns:a16="http://schemas.microsoft.com/office/drawing/2014/main" val="10005"/>
                  </a:ext>
                </a:extLst>
              </a:tr>
              <a:tr h="370840">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Fred</a:t>
                      </a:r>
                      <a:endParaRPr lang="en-SG" sz="2400" dirty="0">
                        <a:latin typeface="Calibri" pitchFamily="34" charset="0"/>
                      </a:endParaRPr>
                    </a:p>
                  </a:txBody>
                  <a:tcPr marL="0" marR="0" marT="0" marB="0"/>
                </a:tc>
                <a:tc>
                  <a:txBody>
                    <a:bodyPr/>
                    <a:lstStyle/>
                    <a:p>
                      <a:pPr algn="ctr"/>
                      <a:r>
                        <a:rPr lang="en-US" sz="2400" dirty="0">
                          <a:solidFill>
                            <a:srgbClr val="A50021"/>
                          </a:solidFill>
                          <a:latin typeface="Calibri" pitchFamily="34" charset="0"/>
                        </a:rPr>
                        <a:t>NULL</a:t>
                      </a:r>
                      <a:endParaRPr lang="en-SG" sz="2400" dirty="0">
                        <a:latin typeface="Calibri" pitchFamily="34" charset="0"/>
                      </a:endParaRPr>
                    </a:p>
                  </a:txBody>
                  <a:tcPr marL="0" marR="0" marT="0" marB="0"/>
                </a:tc>
                <a:tc>
                  <a:txBody>
                    <a:bodyPr/>
                    <a:lstStyle/>
                    <a:p>
                      <a:pPr algn="ctr"/>
                      <a:r>
                        <a:rPr lang="en-US" sz="2400" dirty="0">
                          <a:latin typeface="Calibri" pitchFamily="34" charset="0"/>
                        </a:rPr>
                        <a:t>400</a:t>
                      </a:r>
                      <a:endParaRPr lang="en-SG" sz="2400" dirty="0">
                        <a:latin typeface="Calibri" pitchFamily="34" charset="0"/>
                      </a:endParaRPr>
                    </a:p>
                  </a:txBody>
                  <a:tcPr marL="0" marR="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8562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Example</a:t>
            </a:r>
          </a:p>
        </p:txBody>
      </p:sp>
      <p:sp>
        <p:nvSpPr>
          <p:cNvPr id="3" name="Content Placeholder 2"/>
          <p:cNvSpPr>
            <a:spLocks noGrp="1"/>
          </p:cNvSpPr>
          <p:nvPr>
            <p:ph idx="1"/>
          </p:nvPr>
        </p:nvSpPr>
        <p:spPr>
          <a:xfrm>
            <a:off x="457200" y="2492896"/>
            <a:ext cx="8229600" cy="3638029"/>
          </a:xfrm>
        </p:spPr>
        <p:txBody>
          <a:bodyPr>
            <a:normAutofit/>
          </a:bodyPr>
          <a:lstStyle/>
          <a:p>
            <a:r>
              <a:rPr lang="en-US" dirty="0"/>
              <a:t>For each movie, list the number of male movie stars that were cast in the movie</a:t>
            </a:r>
          </a:p>
          <a:p>
            <a:r>
              <a:rPr lang="en-US" dirty="0"/>
              <a:t>R1 := </a:t>
            </a:r>
            <a:r>
              <a:rPr lang="en-US" dirty="0">
                <a:sym typeface="Symbol"/>
              </a:rPr>
              <a:t></a:t>
            </a:r>
            <a:r>
              <a:rPr lang="en-US" baseline="-25000" dirty="0">
                <a:sym typeface="Symbol"/>
              </a:rPr>
              <a:t>Gender = ‘Male’</a:t>
            </a:r>
            <a:r>
              <a:rPr lang="en-US" dirty="0">
                <a:sym typeface="Symbol"/>
              </a:rPr>
              <a:t> Stars</a:t>
            </a:r>
            <a:endParaRPr lang="en-US" dirty="0"/>
          </a:p>
          <a:p>
            <a:r>
              <a:rPr lang="en-US" dirty="0"/>
              <a:t>R2 := </a:t>
            </a:r>
            <a:r>
              <a:rPr lang="en-US" dirty="0" err="1"/>
              <a:t>CastIn</a:t>
            </a:r>
            <a:r>
              <a:rPr lang="en-US" dirty="0"/>
              <a:t> </a:t>
            </a:r>
            <a:r>
              <a:rPr lang="en-GB" dirty="0">
                <a:solidFill>
                  <a:schemeClr val="accent4">
                    <a:lumMod val="50000"/>
                  </a:schemeClr>
                </a:solidFill>
                <a:sym typeface="MT Extra" pitchFamily="18" charset="2"/>
              </a:rPr>
              <a:t>⋈</a:t>
            </a:r>
            <a:r>
              <a:rPr lang="en-GB" sz="4100" baseline="-25000" dirty="0">
                <a:solidFill>
                  <a:schemeClr val="accent4">
                    <a:lumMod val="50000"/>
                  </a:schemeClr>
                </a:solidFill>
                <a:sym typeface="MT Extra" pitchFamily="18" charset="2"/>
              </a:rPr>
              <a:t> </a:t>
            </a:r>
            <a:r>
              <a:rPr lang="en-GB" dirty="0">
                <a:solidFill>
                  <a:schemeClr val="accent4">
                    <a:lumMod val="50000"/>
                  </a:schemeClr>
                </a:solidFill>
                <a:sym typeface="MT Extra" pitchFamily="18" charset="2"/>
              </a:rPr>
              <a:t>R1</a:t>
            </a:r>
          </a:p>
          <a:p>
            <a:r>
              <a:rPr lang="en-US" dirty="0"/>
              <a:t>R3 := </a:t>
            </a:r>
            <a:r>
              <a:rPr lang="en-US" b="1" dirty="0">
                <a:sym typeface="Symbol"/>
              </a:rPr>
              <a:t></a:t>
            </a:r>
            <a:r>
              <a:rPr lang="en-US" baseline="-25000" dirty="0">
                <a:sym typeface="Symbol"/>
              </a:rPr>
              <a:t>School, COUNT(Gender)</a:t>
            </a:r>
            <a:r>
              <a:rPr lang="en-US" dirty="0">
                <a:sym typeface="Symbol"/>
              </a:rPr>
              <a:t>(Quiz1)</a:t>
            </a:r>
          </a:p>
          <a:p>
            <a:r>
              <a:rPr lang="en-US" dirty="0">
                <a:sym typeface="Symbol"/>
              </a:rPr>
              <a:t>Wrong!</a:t>
            </a:r>
            <a:endParaRPr lang="en-US" dirty="0"/>
          </a:p>
          <a:p>
            <a:endParaRPr lang="en-SG" dirty="0"/>
          </a:p>
        </p:txBody>
      </p:sp>
      <p:sp>
        <p:nvSpPr>
          <p:cNvPr id="4" name="TextBox 3"/>
          <p:cNvSpPr txBox="1"/>
          <p:nvPr/>
        </p:nvSpPr>
        <p:spPr>
          <a:xfrm>
            <a:off x="395536" y="1052736"/>
            <a:ext cx="1656184" cy="523220"/>
          </a:xfrm>
          <a:prstGeom prst="rect">
            <a:avLst/>
          </a:prstGeom>
          <a:solidFill>
            <a:schemeClr val="bg1"/>
          </a:solidFill>
          <a:ln w="25400">
            <a:solidFill>
              <a:schemeClr val="accent1"/>
            </a:solidFill>
          </a:ln>
        </p:spPr>
        <p:txBody>
          <a:bodyPr wrap="square" rtlCol="0">
            <a:spAutoFit/>
          </a:bodyPr>
          <a:lstStyle/>
          <a:p>
            <a:r>
              <a:rPr lang="en-US" sz="2800" b="1" dirty="0" err="1">
                <a:latin typeface="Calibri" panose="020F0502020204030204" pitchFamily="34" charset="0"/>
              </a:rPr>
              <a:t>CastIn</a:t>
            </a:r>
            <a:endParaRPr lang="en-SG" sz="2800" b="1" dirty="0">
              <a:latin typeface="Calibri" panose="020F0502020204030204" pitchFamily="34" charset="0"/>
            </a:endParaRPr>
          </a:p>
        </p:txBody>
      </p:sp>
      <p:graphicFrame>
        <p:nvGraphicFramePr>
          <p:cNvPr id="5" name="Content Placeholder 3"/>
          <p:cNvGraphicFramePr>
            <a:graphicFrameLocks/>
          </p:cNvGraphicFramePr>
          <p:nvPr>
            <p:extLst/>
          </p:nvPr>
        </p:nvGraphicFramePr>
        <p:xfrm>
          <a:off x="395536" y="1700808"/>
          <a:ext cx="2952328" cy="457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none" dirty="0">
                          <a:solidFill>
                            <a:srgbClr val="FFFF00"/>
                          </a:solidFill>
                          <a:latin typeface="Calibri" panose="020F0502020204030204" pitchFamily="34" charset="0"/>
                        </a:rPr>
                        <a:t>Name</a:t>
                      </a:r>
                      <a:endParaRPr lang="en-SG" sz="2400" u="none" dirty="0">
                        <a:solidFill>
                          <a:srgbClr val="FFFF00"/>
                        </a:solidFill>
                        <a:latin typeface="Calibri" panose="020F0502020204030204" pitchFamily="34" charset="0"/>
                      </a:endParaRPr>
                    </a:p>
                  </a:txBody>
                  <a:tcPr/>
                </a:tc>
                <a:tc>
                  <a:txBody>
                    <a:bodyPr/>
                    <a:lstStyle/>
                    <a:p>
                      <a:pPr algn="ctr"/>
                      <a:r>
                        <a:rPr lang="en-US" sz="2400" u="none" dirty="0">
                          <a:latin typeface="Calibri" panose="020F0502020204030204" pitchFamily="34" charset="0"/>
                        </a:rPr>
                        <a:t>Movie</a:t>
                      </a:r>
                      <a:endParaRPr lang="en-SG" sz="2400" u="none" dirty="0">
                        <a:latin typeface="Calibri" panose="020F0502020204030204" pitchFamily="34" charset="0"/>
                      </a:endParaRPr>
                    </a:p>
                  </a:txBody>
                  <a:tcPr/>
                </a:tc>
                <a:tc>
                  <a:txBody>
                    <a:bodyPr/>
                    <a:lstStyle/>
                    <a:p>
                      <a:pPr algn="ctr"/>
                      <a:r>
                        <a:rPr lang="en-US" sz="2400" dirty="0">
                          <a:latin typeface="Calibri" panose="020F0502020204030204" pitchFamily="34" charset="0"/>
                        </a:rPr>
                        <a:t>Year</a:t>
                      </a:r>
                      <a:endParaRPr lang="en-SG" sz="2400" dirty="0">
                        <a:latin typeface="Calibri" panose="020F0502020204030204" pitchFamily="34" charset="0"/>
                      </a:endParaRPr>
                    </a:p>
                  </a:txBody>
                  <a:tcPr/>
                </a:tc>
                <a:extLst>
                  <a:ext uri="{0D108BD9-81ED-4DB2-BD59-A6C34878D82A}">
                    <a16:rowId xmlns:a16="http://schemas.microsoft.com/office/drawing/2014/main" val="10000"/>
                  </a:ext>
                </a:extLst>
              </a:tr>
            </a:tbl>
          </a:graphicData>
        </a:graphic>
      </p:graphicFrame>
      <p:sp>
        <p:nvSpPr>
          <p:cNvPr id="6" name="TextBox 5"/>
          <p:cNvSpPr txBox="1"/>
          <p:nvPr/>
        </p:nvSpPr>
        <p:spPr>
          <a:xfrm>
            <a:off x="5076056" y="1052736"/>
            <a:ext cx="1152128" cy="523220"/>
          </a:xfrm>
          <a:prstGeom prst="rect">
            <a:avLst/>
          </a:prstGeom>
          <a:solidFill>
            <a:schemeClr val="bg1"/>
          </a:solidFill>
          <a:ln w="25400">
            <a:solidFill>
              <a:schemeClr val="accent1"/>
            </a:solidFill>
          </a:ln>
        </p:spPr>
        <p:txBody>
          <a:bodyPr wrap="square" rtlCol="0">
            <a:spAutoFit/>
          </a:bodyPr>
          <a:lstStyle/>
          <a:p>
            <a:r>
              <a:rPr lang="en-US" sz="2800" b="1" dirty="0">
                <a:latin typeface="Calibri" panose="020F0502020204030204" pitchFamily="34" charset="0"/>
              </a:rPr>
              <a:t>Stars</a:t>
            </a:r>
            <a:endParaRPr lang="en-SG" sz="2800" b="1" dirty="0">
              <a:latin typeface="Calibri" panose="020F0502020204030204" pitchFamily="34" charset="0"/>
            </a:endParaRPr>
          </a:p>
        </p:txBody>
      </p:sp>
      <p:graphicFrame>
        <p:nvGraphicFramePr>
          <p:cNvPr id="7" name="Content Placeholder 3"/>
          <p:cNvGraphicFramePr>
            <a:graphicFrameLocks/>
          </p:cNvGraphicFramePr>
          <p:nvPr>
            <p:extLst/>
          </p:nvPr>
        </p:nvGraphicFramePr>
        <p:xfrm>
          <a:off x="5076056" y="1700808"/>
          <a:ext cx="3312368" cy="45720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tblGrid>
              <a:tr h="370840">
                <a:tc>
                  <a:txBody>
                    <a:bodyPr/>
                    <a:lstStyle/>
                    <a:p>
                      <a:pPr algn="ctr"/>
                      <a:r>
                        <a:rPr lang="en-US" sz="2400" u="sng" dirty="0">
                          <a:solidFill>
                            <a:srgbClr val="FFFF00"/>
                          </a:solidFill>
                          <a:latin typeface="Calibri" panose="020F0502020204030204" pitchFamily="34" charset="0"/>
                        </a:rPr>
                        <a:t>Name</a:t>
                      </a:r>
                      <a:endParaRPr lang="en-SG" sz="2400" u="sng" dirty="0">
                        <a:solidFill>
                          <a:srgbClr val="FFFF00"/>
                        </a:solidFill>
                        <a:latin typeface="Calibri" panose="020F0502020204030204" pitchFamily="34" charset="0"/>
                      </a:endParaRPr>
                    </a:p>
                  </a:txBody>
                  <a:tcPr/>
                </a:tc>
                <a:tc>
                  <a:txBody>
                    <a:bodyPr/>
                    <a:lstStyle/>
                    <a:p>
                      <a:pPr algn="ctr"/>
                      <a:r>
                        <a:rPr lang="en-US" sz="2400" u="none" dirty="0">
                          <a:latin typeface="Calibri" panose="020F0502020204030204" pitchFamily="34" charset="0"/>
                        </a:rPr>
                        <a:t>Gender</a:t>
                      </a:r>
                      <a:endParaRPr lang="en-SG" sz="2400" u="none" dirty="0">
                        <a:latin typeface="Calibri" panose="020F0502020204030204" pitchFamily="34" charset="0"/>
                      </a:endParaRPr>
                    </a:p>
                  </a:txBody>
                  <a:tcPr/>
                </a:tc>
                <a:tc>
                  <a:txBody>
                    <a:bodyPr/>
                    <a:lstStyle/>
                    <a:p>
                      <a:pPr algn="ctr"/>
                      <a:r>
                        <a:rPr lang="en-US" sz="2400" dirty="0">
                          <a:latin typeface="Calibri" panose="020F0502020204030204" pitchFamily="34" charset="0"/>
                        </a:rPr>
                        <a:t>Birth</a:t>
                      </a:r>
                      <a:endParaRPr lang="en-SG" sz="2400" dirty="0">
                        <a:latin typeface="Calibri" panose="020F0502020204030204" pitchFamily="34" charset="0"/>
                      </a:endParaRP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14155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Example</a:t>
            </a:r>
          </a:p>
        </p:txBody>
      </p:sp>
      <p:sp>
        <p:nvSpPr>
          <p:cNvPr id="3" name="Content Placeholder 2"/>
          <p:cNvSpPr>
            <a:spLocks noGrp="1"/>
          </p:cNvSpPr>
          <p:nvPr>
            <p:ph idx="1"/>
          </p:nvPr>
        </p:nvSpPr>
        <p:spPr>
          <a:xfrm>
            <a:off x="457200" y="2492896"/>
            <a:ext cx="8229600" cy="3638029"/>
          </a:xfrm>
        </p:spPr>
        <p:txBody>
          <a:bodyPr>
            <a:normAutofit/>
          </a:bodyPr>
          <a:lstStyle/>
          <a:p>
            <a:r>
              <a:rPr lang="en-US" dirty="0"/>
              <a:t>For each movie, list the number of male movie stars that were cast in the movie</a:t>
            </a:r>
          </a:p>
          <a:p>
            <a:r>
              <a:rPr lang="en-US" dirty="0"/>
              <a:t>R1 := </a:t>
            </a:r>
            <a:r>
              <a:rPr lang="en-US" dirty="0">
                <a:sym typeface="Symbol"/>
              </a:rPr>
              <a:t></a:t>
            </a:r>
            <a:r>
              <a:rPr lang="en-US" baseline="-25000" dirty="0">
                <a:sym typeface="Symbol"/>
              </a:rPr>
              <a:t>Gender = ‘Male’</a:t>
            </a:r>
            <a:r>
              <a:rPr lang="en-US" dirty="0">
                <a:sym typeface="Symbol"/>
              </a:rPr>
              <a:t> Stars</a:t>
            </a:r>
            <a:endParaRPr lang="en-US" dirty="0"/>
          </a:p>
          <a:p>
            <a:r>
              <a:rPr lang="en-US" dirty="0"/>
              <a:t>R2 := </a:t>
            </a:r>
            <a:r>
              <a:rPr lang="en-US" dirty="0" err="1"/>
              <a:t>CastIn</a:t>
            </a:r>
            <a:r>
              <a:rPr lang="en-US" dirty="0"/>
              <a:t> </a:t>
            </a:r>
            <a:r>
              <a:rPr lang="en-GB" dirty="0">
                <a:solidFill>
                  <a:schemeClr val="accent4">
                    <a:lumMod val="50000"/>
                  </a:schemeClr>
                </a:solidFill>
                <a:sym typeface="MT Extra" pitchFamily="18" charset="2"/>
              </a:rPr>
              <a:t>⋈</a:t>
            </a:r>
            <a:r>
              <a:rPr lang="en-GB" sz="4100" i="1" baseline="-25000" dirty="0">
                <a:solidFill>
                  <a:schemeClr val="accent4">
                    <a:lumMod val="50000"/>
                  </a:schemeClr>
                </a:solidFill>
                <a:sym typeface="MT Extra" pitchFamily="18" charset="2"/>
              </a:rPr>
              <a:t>L</a:t>
            </a:r>
            <a:r>
              <a:rPr lang="en-GB" sz="4100" baseline="-25000" dirty="0">
                <a:solidFill>
                  <a:schemeClr val="accent4">
                    <a:lumMod val="50000"/>
                  </a:schemeClr>
                </a:solidFill>
                <a:sym typeface="MT Extra" pitchFamily="18" charset="2"/>
              </a:rPr>
              <a:t> </a:t>
            </a:r>
            <a:r>
              <a:rPr lang="en-GB" dirty="0">
                <a:solidFill>
                  <a:schemeClr val="accent4">
                    <a:lumMod val="50000"/>
                  </a:schemeClr>
                </a:solidFill>
                <a:sym typeface="MT Extra" pitchFamily="18" charset="2"/>
              </a:rPr>
              <a:t>R1</a:t>
            </a:r>
          </a:p>
          <a:p>
            <a:r>
              <a:rPr lang="en-US" dirty="0"/>
              <a:t>R3 := </a:t>
            </a:r>
            <a:r>
              <a:rPr lang="en-US" b="1" dirty="0">
                <a:sym typeface="Symbol"/>
              </a:rPr>
              <a:t></a:t>
            </a:r>
            <a:r>
              <a:rPr lang="en-US" baseline="-25000" dirty="0">
                <a:sym typeface="Symbol"/>
              </a:rPr>
              <a:t>School, COUNT(Gender)</a:t>
            </a:r>
            <a:r>
              <a:rPr lang="en-US" dirty="0">
                <a:sym typeface="Symbol"/>
              </a:rPr>
              <a:t>(Quiz1)</a:t>
            </a:r>
            <a:endParaRPr lang="en-US" dirty="0"/>
          </a:p>
          <a:p>
            <a:pPr marL="0" indent="0">
              <a:buNone/>
            </a:pPr>
            <a:endParaRPr lang="en-US" dirty="0"/>
          </a:p>
          <a:p>
            <a:endParaRPr lang="en-SG" dirty="0"/>
          </a:p>
        </p:txBody>
      </p:sp>
      <p:sp>
        <p:nvSpPr>
          <p:cNvPr id="4" name="TextBox 3"/>
          <p:cNvSpPr txBox="1"/>
          <p:nvPr/>
        </p:nvSpPr>
        <p:spPr>
          <a:xfrm>
            <a:off x="395536" y="1052736"/>
            <a:ext cx="1656184" cy="523220"/>
          </a:xfrm>
          <a:prstGeom prst="rect">
            <a:avLst/>
          </a:prstGeom>
          <a:solidFill>
            <a:schemeClr val="bg1"/>
          </a:solidFill>
          <a:ln w="25400">
            <a:solidFill>
              <a:schemeClr val="accent1"/>
            </a:solidFill>
          </a:ln>
        </p:spPr>
        <p:txBody>
          <a:bodyPr wrap="square" rtlCol="0">
            <a:spAutoFit/>
          </a:bodyPr>
          <a:lstStyle/>
          <a:p>
            <a:r>
              <a:rPr lang="en-US" sz="2800" b="1" dirty="0" err="1">
                <a:latin typeface="Calibri" panose="020F0502020204030204" pitchFamily="34" charset="0"/>
              </a:rPr>
              <a:t>CastIn</a:t>
            </a:r>
            <a:endParaRPr lang="en-SG" sz="2800" b="1" dirty="0">
              <a:latin typeface="Calibri" panose="020F0502020204030204" pitchFamily="34" charset="0"/>
            </a:endParaRPr>
          </a:p>
        </p:txBody>
      </p:sp>
      <p:graphicFrame>
        <p:nvGraphicFramePr>
          <p:cNvPr id="5" name="Content Placeholder 3"/>
          <p:cNvGraphicFramePr>
            <a:graphicFrameLocks/>
          </p:cNvGraphicFramePr>
          <p:nvPr>
            <p:extLst/>
          </p:nvPr>
        </p:nvGraphicFramePr>
        <p:xfrm>
          <a:off x="395536" y="1700808"/>
          <a:ext cx="2952328" cy="457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tblGrid>
              <a:tr h="370840">
                <a:tc>
                  <a:txBody>
                    <a:bodyPr/>
                    <a:lstStyle/>
                    <a:p>
                      <a:pPr algn="ctr"/>
                      <a:r>
                        <a:rPr lang="en-US" sz="2400" u="none" dirty="0">
                          <a:solidFill>
                            <a:srgbClr val="FFFF00"/>
                          </a:solidFill>
                          <a:latin typeface="Calibri" panose="020F0502020204030204" pitchFamily="34" charset="0"/>
                        </a:rPr>
                        <a:t>Name</a:t>
                      </a:r>
                      <a:endParaRPr lang="en-SG" sz="2400" u="none" dirty="0">
                        <a:solidFill>
                          <a:srgbClr val="FFFF00"/>
                        </a:solidFill>
                        <a:latin typeface="Calibri" panose="020F0502020204030204" pitchFamily="34" charset="0"/>
                      </a:endParaRPr>
                    </a:p>
                  </a:txBody>
                  <a:tcPr/>
                </a:tc>
                <a:tc>
                  <a:txBody>
                    <a:bodyPr/>
                    <a:lstStyle/>
                    <a:p>
                      <a:pPr algn="ctr"/>
                      <a:r>
                        <a:rPr lang="en-US" sz="2400" u="none" dirty="0">
                          <a:latin typeface="Calibri" panose="020F0502020204030204" pitchFamily="34" charset="0"/>
                        </a:rPr>
                        <a:t>Movie</a:t>
                      </a:r>
                      <a:endParaRPr lang="en-SG" sz="2400" u="none" dirty="0">
                        <a:latin typeface="Calibri" panose="020F0502020204030204" pitchFamily="34" charset="0"/>
                      </a:endParaRPr>
                    </a:p>
                  </a:txBody>
                  <a:tcPr/>
                </a:tc>
                <a:tc>
                  <a:txBody>
                    <a:bodyPr/>
                    <a:lstStyle/>
                    <a:p>
                      <a:pPr algn="ctr"/>
                      <a:r>
                        <a:rPr lang="en-US" sz="2400" dirty="0">
                          <a:latin typeface="Calibri" panose="020F0502020204030204" pitchFamily="34" charset="0"/>
                        </a:rPr>
                        <a:t>Year</a:t>
                      </a:r>
                      <a:endParaRPr lang="en-SG" sz="2400" dirty="0">
                        <a:latin typeface="Calibri" panose="020F0502020204030204" pitchFamily="34" charset="0"/>
                      </a:endParaRPr>
                    </a:p>
                  </a:txBody>
                  <a:tcPr/>
                </a:tc>
                <a:extLst>
                  <a:ext uri="{0D108BD9-81ED-4DB2-BD59-A6C34878D82A}">
                    <a16:rowId xmlns:a16="http://schemas.microsoft.com/office/drawing/2014/main" val="10000"/>
                  </a:ext>
                </a:extLst>
              </a:tr>
            </a:tbl>
          </a:graphicData>
        </a:graphic>
      </p:graphicFrame>
      <p:sp>
        <p:nvSpPr>
          <p:cNvPr id="6" name="TextBox 5"/>
          <p:cNvSpPr txBox="1"/>
          <p:nvPr/>
        </p:nvSpPr>
        <p:spPr>
          <a:xfrm>
            <a:off x="5076056" y="1052736"/>
            <a:ext cx="1152128" cy="523220"/>
          </a:xfrm>
          <a:prstGeom prst="rect">
            <a:avLst/>
          </a:prstGeom>
          <a:solidFill>
            <a:schemeClr val="bg1"/>
          </a:solidFill>
          <a:ln w="25400">
            <a:solidFill>
              <a:schemeClr val="accent1"/>
            </a:solidFill>
          </a:ln>
        </p:spPr>
        <p:txBody>
          <a:bodyPr wrap="square" rtlCol="0">
            <a:spAutoFit/>
          </a:bodyPr>
          <a:lstStyle/>
          <a:p>
            <a:r>
              <a:rPr lang="en-US" sz="2800" b="1" dirty="0">
                <a:latin typeface="Calibri" panose="020F0502020204030204" pitchFamily="34" charset="0"/>
              </a:rPr>
              <a:t>Stars</a:t>
            </a:r>
            <a:endParaRPr lang="en-SG" sz="2800" b="1" dirty="0">
              <a:latin typeface="Calibri" panose="020F0502020204030204" pitchFamily="34" charset="0"/>
            </a:endParaRPr>
          </a:p>
        </p:txBody>
      </p:sp>
      <p:graphicFrame>
        <p:nvGraphicFramePr>
          <p:cNvPr id="7" name="Content Placeholder 3"/>
          <p:cNvGraphicFramePr>
            <a:graphicFrameLocks/>
          </p:cNvGraphicFramePr>
          <p:nvPr>
            <p:extLst/>
          </p:nvPr>
        </p:nvGraphicFramePr>
        <p:xfrm>
          <a:off x="5076056" y="1700808"/>
          <a:ext cx="3312368" cy="45720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tblGrid>
              <a:tr h="370840">
                <a:tc>
                  <a:txBody>
                    <a:bodyPr/>
                    <a:lstStyle/>
                    <a:p>
                      <a:pPr algn="ctr"/>
                      <a:r>
                        <a:rPr lang="en-US" sz="2400" u="sng" dirty="0">
                          <a:solidFill>
                            <a:srgbClr val="FFFF00"/>
                          </a:solidFill>
                          <a:latin typeface="Calibri" panose="020F0502020204030204" pitchFamily="34" charset="0"/>
                        </a:rPr>
                        <a:t>Name</a:t>
                      </a:r>
                      <a:endParaRPr lang="en-SG" sz="2400" u="sng" dirty="0">
                        <a:solidFill>
                          <a:srgbClr val="FFFF00"/>
                        </a:solidFill>
                        <a:latin typeface="Calibri" panose="020F0502020204030204" pitchFamily="34" charset="0"/>
                      </a:endParaRPr>
                    </a:p>
                  </a:txBody>
                  <a:tcPr/>
                </a:tc>
                <a:tc>
                  <a:txBody>
                    <a:bodyPr/>
                    <a:lstStyle/>
                    <a:p>
                      <a:pPr algn="ctr"/>
                      <a:r>
                        <a:rPr lang="en-US" sz="2400" u="none" dirty="0">
                          <a:latin typeface="Calibri" panose="020F0502020204030204" pitchFamily="34" charset="0"/>
                        </a:rPr>
                        <a:t>Gender</a:t>
                      </a:r>
                      <a:endParaRPr lang="en-SG" sz="2400" u="none" dirty="0">
                        <a:latin typeface="Calibri" panose="020F0502020204030204" pitchFamily="34" charset="0"/>
                      </a:endParaRPr>
                    </a:p>
                  </a:txBody>
                  <a:tcPr/>
                </a:tc>
                <a:tc>
                  <a:txBody>
                    <a:bodyPr/>
                    <a:lstStyle/>
                    <a:p>
                      <a:pPr algn="ctr"/>
                      <a:r>
                        <a:rPr lang="en-US" sz="2400" dirty="0">
                          <a:latin typeface="Calibri" panose="020F0502020204030204" pitchFamily="34" charset="0"/>
                        </a:rPr>
                        <a:t>Birth</a:t>
                      </a:r>
                      <a:endParaRPr lang="en-SG" sz="2400" dirty="0">
                        <a:latin typeface="Calibri" panose="020F0502020204030204" pitchFamily="34" charset="0"/>
                      </a:endParaRPr>
                    </a:p>
                  </a:txBody>
                  <a:tcPr/>
                </a:tc>
                <a:extLst>
                  <a:ext uri="{0D108BD9-81ED-4DB2-BD59-A6C34878D82A}">
                    <a16:rowId xmlns:a16="http://schemas.microsoft.com/office/drawing/2014/main" val="10000"/>
                  </a:ext>
                </a:extLst>
              </a:tr>
            </a:tbl>
          </a:graphicData>
        </a:graphic>
      </p:graphicFrame>
      <p:sp>
        <p:nvSpPr>
          <p:cNvPr id="8" name="Rectangle 7"/>
          <p:cNvSpPr/>
          <p:nvPr/>
        </p:nvSpPr>
        <p:spPr>
          <a:xfrm>
            <a:off x="2948904" y="4149080"/>
            <a:ext cx="308098" cy="461665"/>
          </a:xfrm>
          <a:prstGeom prst="rect">
            <a:avLst/>
          </a:prstGeom>
        </p:spPr>
        <p:txBody>
          <a:bodyPr wrap="none">
            <a:spAutoFit/>
          </a:bodyPr>
          <a:lstStyle/>
          <a:p>
            <a:r>
              <a:rPr lang="en-GB" sz="2400" dirty="0">
                <a:solidFill>
                  <a:schemeClr val="accent4">
                    <a:lumMod val="50000"/>
                  </a:schemeClr>
                </a:solidFill>
                <a:latin typeface="Calibri" pitchFamily="34" charset="0"/>
                <a:sym typeface="Symbol"/>
              </a:rPr>
              <a:t></a:t>
            </a:r>
            <a:endParaRPr lang="en-SG" sz="2400" dirty="0">
              <a:latin typeface="Calibri" pitchFamily="34" charset="0"/>
            </a:endParaRPr>
          </a:p>
        </p:txBody>
      </p:sp>
    </p:spTree>
    <p:extLst>
      <p:ext uri="{BB962C8B-B14F-4D97-AF65-F5344CB8AC3E}">
        <p14:creationId xmlns:p14="http://schemas.microsoft.com/office/powerpoint/2010/main" val="32416623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C8F4C-D1F9-45F0-B6C5-6B6A6E2AAAF9}"/>
              </a:ext>
            </a:extLst>
          </p:cNvPr>
          <p:cNvSpPr>
            <a:spLocks noGrp="1"/>
          </p:cNvSpPr>
          <p:nvPr>
            <p:ph type="title"/>
          </p:nvPr>
        </p:nvSpPr>
        <p:spPr/>
        <p:txBody>
          <a:bodyPr>
            <a:normAutofit/>
          </a:bodyPr>
          <a:lstStyle/>
          <a:p>
            <a:r>
              <a:rPr lang="en-SG" dirty="0"/>
              <a:t>Operator Trees</a:t>
            </a:r>
          </a:p>
        </p:txBody>
      </p:sp>
      <p:sp>
        <p:nvSpPr>
          <p:cNvPr id="3" name="Content Placeholder 2">
            <a:extLst>
              <a:ext uri="{FF2B5EF4-FFF2-40B4-BE49-F238E27FC236}">
                <a16:creationId xmlns:a16="http://schemas.microsoft.com/office/drawing/2014/main" id="{353D3706-1F04-4E69-A1D6-7C3455A2965A}"/>
              </a:ext>
            </a:extLst>
          </p:cNvPr>
          <p:cNvSpPr>
            <a:spLocks noGrp="1"/>
          </p:cNvSpPr>
          <p:nvPr>
            <p:ph idx="1"/>
          </p:nvPr>
        </p:nvSpPr>
        <p:spPr>
          <a:xfrm>
            <a:off x="457200" y="1600201"/>
            <a:ext cx="8229600" cy="1828800"/>
          </a:xfrm>
        </p:spPr>
        <p:txBody>
          <a:bodyPr/>
          <a:lstStyle/>
          <a:p>
            <a:r>
              <a:rPr lang="en-SG" dirty="0"/>
              <a:t>A pictorial way of depicting relational algebra queries</a:t>
            </a:r>
          </a:p>
          <a:p>
            <a:r>
              <a:rPr lang="en-US" dirty="0">
                <a:sym typeface="Symbol"/>
              </a:rPr>
              <a:t></a:t>
            </a:r>
            <a:r>
              <a:rPr lang="en-US" baseline="-25000" dirty="0">
                <a:sym typeface="Symbol"/>
              </a:rPr>
              <a:t>Age, Name</a:t>
            </a:r>
            <a:r>
              <a:rPr lang="en-US" dirty="0">
                <a:sym typeface="Symbol"/>
              </a:rPr>
              <a:t> (</a:t>
            </a:r>
            <a:r>
              <a:rPr lang="en-US" b="1" dirty="0">
                <a:sym typeface="Symbol"/>
              </a:rPr>
              <a:t></a:t>
            </a:r>
            <a:r>
              <a:rPr lang="en-US" baseline="-25000" dirty="0">
                <a:sym typeface="Symbol"/>
              </a:rPr>
              <a:t>Age &lt; 40</a:t>
            </a:r>
            <a:r>
              <a:rPr lang="en-US" dirty="0">
                <a:sym typeface="Symbol"/>
              </a:rPr>
              <a:t> Employee</a:t>
            </a:r>
            <a:r>
              <a:rPr lang="en-SG" dirty="0">
                <a:sym typeface="Symbol"/>
              </a:rPr>
              <a:t>)</a:t>
            </a:r>
            <a:endParaRPr lang="en-SG" dirty="0"/>
          </a:p>
          <a:p>
            <a:endParaRPr lang="en-SG" dirty="0"/>
          </a:p>
        </p:txBody>
      </p:sp>
      <p:sp>
        <p:nvSpPr>
          <p:cNvPr id="4" name="TextBox 3">
            <a:extLst>
              <a:ext uri="{FF2B5EF4-FFF2-40B4-BE49-F238E27FC236}">
                <a16:creationId xmlns:a16="http://schemas.microsoft.com/office/drawing/2014/main" id="{A9B5A61C-E525-4168-8EA6-3C83873D34FC}"/>
              </a:ext>
            </a:extLst>
          </p:cNvPr>
          <p:cNvSpPr txBox="1"/>
          <p:nvPr/>
        </p:nvSpPr>
        <p:spPr>
          <a:xfrm>
            <a:off x="6714314" y="3699610"/>
            <a:ext cx="1626727"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rPr>
              <a:t>Name, Age</a:t>
            </a:r>
            <a:endParaRPr lang="en-SG" sz="3200" baseline="-25000" dirty="0">
              <a:latin typeface="Calibri" panose="020F0502020204030204" pitchFamily="34" charset="0"/>
            </a:endParaRPr>
          </a:p>
        </p:txBody>
      </p:sp>
      <p:cxnSp>
        <p:nvCxnSpPr>
          <p:cNvPr id="5" name="Straight Connector 4">
            <a:extLst>
              <a:ext uri="{FF2B5EF4-FFF2-40B4-BE49-F238E27FC236}">
                <a16:creationId xmlns:a16="http://schemas.microsoft.com/office/drawing/2014/main" id="{4E7004BF-A17D-4384-B4E4-69AF7DB4F297}"/>
              </a:ext>
            </a:extLst>
          </p:cNvPr>
          <p:cNvCxnSpPr/>
          <p:nvPr/>
        </p:nvCxnSpPr>
        <p:spPr bwMode="auto">
          <a:xfrm>
            <a:off x="7650418" y="4288741"/>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6" name="TextBox 5">
            <a:extLst>
              <a:ext uri="{FF2B5EF4-FFF2-40B4-BE49-F238E27FC236}">
                <a16:creationId xmlns:a16="http://schemas.microsoft.com/office/drawing/2014/main" id="{B684F027-1E2B-4DD3-BB20-7A206D71DBCE}"/>
              </a:ext>
            </a:extLst>
          </p:cNvPr>
          <p:cNvSpPr txBox="1"/>
          <p:nvPr/>
        </p:nvSpPr>
        <p:spPr>
          <a:xfrm>
            <a:off x="6834500" y="4419690"/>
            <a:ext cx="136383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σ</a:t>
            </a:r>
            <a:r>
              <a:rPr lang="en-US" sz="3200" baseline="-25000" dirty="0">
                <a:latin typeface="Calibri" panose="020F0502020204030204" pitchFamily="34" charset="0"/>
              </a:rPr>
              <a:t>Age &lt; 40</a:t>
            </a:r>
            <a:endParaRPr lang="en-SG" sz="3200" baseline="-25000" dirty="0">
              <a:latin typeface="Calibri" panose="020F0502020204030204" pitchFamily="34" charset="0"/>
            </a:endParaRPr>
          </a:p>
        </p:txBody>
      </p:sp>
      <p:cxnSp>
        <p:nvCxnSpPr>
          <p:cNvPr id="7" name="Straight Connector 6">
            <a:extLst>
              <a:ext uri="{FF2B5EF4-FFF2-40B4-BE49-F238E27FC236}">
                <a16:creationId xmlns:a16="http://schemas.microsoft.com/office/drawing/2014/main" id="{58149D42-4264-4D7E-8C03-7CA10538FEEC}"/>
              </a:ext>
            </a:extLst>
          </p:cNvPr>
          <p:cNvCxnSpPr/>
          <p:nvPr/>
        </p:nvCxnSpPr>
        <p:spPr bwMode="auto">
          <a:xfrm>
            <a:off x="7650418" y="5008821"/>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8" name="TextBox 7">
            <a:extLst>
              <a:ext uri="{FF2B5EF4-FFF2-40B4-BE49-F238E27FC236}">
                <a16:creationId xmlns:a16="http://schemas.microsoft.com/office/drawing/2014/main" id="{2185D237-1317-458F-A440-97D4C368A784}"/>
              </a:ext>
            </a:extLst>
          </p:cNvPr>
          <p:cNvSpPr txBox="1"/>
          <p:nvPr/>
        </p:nvSpPr>
        <p:spPr>
          <a:xfrm>
            <a:off x="6706045" y="5364505"/>
            <a:ext cx="1826975" cy="584775"/>
          </a:xfrm>
          <a:prstGeom prst="rect">
            <a:avLst/>
          </a:prstGeom>
          <a:noFill/>
        </p:spPr>
        <p:txBody>
          <a:bodyPr wrap="none" rtlCol="0">
            <a:spAutoFit/>
          </a:bodyPr>
          <a:lstStyle/>
          <a:p>
            <a:r>
              <a:rPr lang="en-US" sz="3200" dirty="0">
                <a:latin typeface="Calibri" panose="020F0502020204030204" pitchFamily="34" charset="0"/>
              </a:rPr>
              <a:t>Employee</a:t>
            </a:r>
            <a:endParaRPr lang="en-SG" sz="3200" dirty="0">
              <a:latin typeface="Calibri" panose="020F0502020204030204" pitchFamily="34" charset="0"/>
            </a:endParaRPr>
          </a:p>
        </p:txBody>
      </p:sp>
    </p:spTree>
    <p:extLst>
      <p:ext uri="{BB962C8B-B14F-4D97-AF65-F5344CB8AC3E}">
        <p14:creationId xmlns:p14="http://schemas.microsoft.com/office/powerpoint/2010/main" val="241642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C8F4C-D1F9-45F0-B6C5-6B6A6E2AAAF9}"/>
              </a:ext>
            </a:extLst>
          </p:cNvPr>
          <p:cNvSpPr>
            <a:spLocks noGrp="1"/>
          </p:cNvSpPr>
          <p:nvPr>
            <p:ph type="title"/>
          </p:nvPr>
        </p:nvSpPr>
        <p:spPr/>
        <p:txBody>
          <a:bodyPr>
            <a:normAutofit/>
          </a:bodyPr>
          <a:lstStyle/>
          <a:p>
            <a:r>
              <a:rPr lang="en-SG" dirty="0"/>
              <a:t>Operator Trees</a:t>
            </a:r>
          </a:p>
        </p:txBody>
      </p:sp>
      <p:sp>
        <p:nvSpPr>
          <p:cNvPr id="3" name="Content Placeholder 2">
            <a:extLst>
              <a:ext uri="{FF2B5EF4-FFF2-40B4-BE49-F238E27FC236}">
                <a16:creationId xmlns:a16="http://schemas.microsoft.com/office/drawing/2014/main" id="{353D3706-1F04-4E69-A1D6-7C3455A2965A}"/>
              </a:ext>
            </a:extLst>
          </p:cNvPr>
          <p:cNvSpPr>
            <a:spLocks noGrp="1"/>
          </p:cNvSpPr>
          <p:nvPr>
            <p:ph idx="1"/>
          </p:nvPr>
        </p:nvSpPr>
        <p:spPr>
          <a:xfrm>
            <a:off x="457200" y="1600201"/>
            <a:ext cx="8229600" cy="897557"/>
          </a:xfrm>
        </p:spPr>
        <p:txBody>
          <a:bodyPr/>
          <a:lstStyle/>
          <a:p>
            <a:r>
              <a:rPr lang="en-US" dirty="0">
                <a:sym typeface="Symbol"/>
              </a:rPr>
              <a:t>(</a:t>
            </a:r>
            <a:r>
              <a:rPr lang="en-US" baseline="-25000" dirty="0">
                <a:sym typeface="Symbol"/>
              </a:rPr>
              <a:t>Name</a:t>
            </a:r>
            <a:r>
              <a:rPr lang="en-US" dirty="0">
                <a:sym typeface="Symbol"/>
              </a:rPr>
              <a:t> Student</a:t>
            </a:r>
            <a:r>
              <a:rPr lang="en-SG" dirty="0">
                <a:sym typeface="Symbol"/>
              </a:rPr>
              <a:t>) </a:t>
            </a:r>
            <a:r>
              <a:rPr lang="en-US" b="1" dirty="0">
                <a:sym typeface="Symbol"/>
              </a:rPr>
              <a:t></a:t>
            </a:r>
            <a:r>
              <a:rPr lang="en-US" dirty="0">
                <a:sym typeface="Symbol"/>
              </a:rPr>
              <a:t> (</a:t>
            </a:r>
            <a:r>
              <a:rPr lang="en-US" baseline="-25000" dirty="0">
                <a:sym typeface="Symbol"/>
              </a:rPr>
              <a:t>Name</a:t>
            </a:r>
            <a:r>
              <a:rPr lang="en-US" dirty="0">
                <a:sym typeface="Symbol"/>
              </a:rPr>
              <a:t> Faculty</a:t>
            </a:r>
            <a:r>
              <a:rPr lang="en-SG" dirty="0">
                <a:sym typeface="Symbol"/>
              </a:rPr>
              <a:t>)</a:t>
            </a:r>
            <a:endParaRPr lang="en-SG" dirty="0"/>
          </a:p>
          <a:p>
            <a:endParaRPr lang="en-SG" dirty="0"/>
          </a:p>
        </p:txBody>
      </p:sp>
      <p:sp>
        <p:nvSpPr>
          <p:cNvPr id="9" name="TextBox 8">
            <a:extLst>
              <a:ext uri="{FF2B5EF4-FFF2-40B4-BE49-F238E27FC236}">
                <a16:creationId xmlns:a16="http://schemas.microsoft.com/office/drawing/2014/main" id="{C0FEBDED-C44F-4362-BC55-D68FAB470AEE}"/>
              </a:ext>
            </a:extLst>
          </p:cNvPr>
          <p:cNvSpPr txBox="1"/>
          <p:nvPr/>
        </p:nvSpPr>
        <p:spPr>
          <a:xfrm>
            <a:off x="4355976" y="4365104"/>
            <a:ext cx="500458" cy="584775"/>
          </a:xfrm>
          <a:prstGeom prst="rect">
            <a:avLst/>
          </a:prstGeom>
          <a:noFill/>
        </p:spPr>
        <p:txBody>
          <a:bodyPr wrap="none" rtlCol="0">
            <a:spAutoFit/>
          </a:bodyPr>
          <a:lstStyle/>
          <a:p>
            <a:r>
              <a:rPr lang="en-US" sz="3200" b="1" dirty="0">
                <a:sym typeface="Symbol"/>
              </a:rPr>
              <a:t></a:t>
            </a:r>
            <a:endParaRPr lang="en-SG" sz="3200" b="1" dirty="0">
              <a:latin typeface="Calibri" panose="020F0502020204030204" pitchFamily="34" charset="0"/>
            </a:endParaRPr>
          </a:p>
        </p:txBody>
      </p:sp>
      <p:sp>
        <p:nvSpPr>
          <p:cNvPr id="10" name="TextBox 9">
            <a:extLst>
              <a:ext uri="{FF2B5EF4-FFF2-40B4-BE49-F238E27FC236}">
                <a16:creationId xmlns:a16="http://schemas.microsoft.com/office/drawing/2014/main" id="{4FB47451-0823-45F2-BD41-B9ADA7F6ADBB}"/>
              </a:ext>
            </a:extLst>
          </p:cNvPr>
          <p:cNvSpPr txBox="1"/>
          <p:nvPr/>
        </p:nvSpPr>
        <p:spPr>
          <a:xfrm>
            <a:off x="2111755" y="4797152"/>
            <a:ext cx="1074333"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rPr>
              <a:t>Name</a:t>
            </a:r>
            <a:endParaRPr lang="en-SG" sz="3200" baseline="-25000" dirty="0">
              <a:latin typeface="Calibri" panose="020F0502020204030204" pitchFamily="34" charset="0"/>
            </a:endParaRPr>
          </a:p>
        </p:txBody>
      </p:sp>
      <p:sp>
        <p:nvSpPr>
          <p:cNvPr id="11" name="TextBox 10">
            <a:extLst>
              <a:ext uri="{FF2B5EF4-FFF2-40B4-BE49-F238E27FC236}">
                <a16:creationId xmlns:a16="http://schemas.microsoft.com/office/drawing/2014/main" id="{A2DA1128-1716-4316-97D6-905979052071}"/>
              </a:ext>
            </a:extLst>
          </p:cNvPr>
          <p:cNvSpPr txBox="1"/>
          <p:nvPr/>
        </p:nvSpPr>
        <p:spPr>
          <a:xfrm>
            <a:off x="1835696" y="5597951"/>
            <a:ext cx="1498552" cy="584775"/>
          </a:xfrm>
          <a:prstGeom prst="rect">
            <a:avLst/>
          </a:prstGeom>
          <a:noFill/>
        </p:spPr>
        <p:txBody>
          <a:bodyPr wrap="none" rtlCol="0">
            <a:spAutoFit/>
          </a:bodyPr>
          <a:lstStyle/>
          <a:p>
            <a:r>
              <a:rPr lang="en-US" sz="3200" dirty="0">
                <a:latin typeface="Calibri" panose="020F0502020204030204" pitchFamily="34" charset="0"/>
              </a:rPr>
              <a:t>Student</a:t>
            </a:r>
            <a:endParaRPr lang="en-SG" sz="3200" dirty="0">
              <a:latin typeface="Calibri" panose="020F0502020204030204" pitchFamily="34" charset="0"/>
            </a:endParaRPr>
          </a:p>
        </p:txBody>
      </p:sp>
      <p:sp>
        <p:nvSpPr>
          <p:cNvPr id="12" name="TextBox 11">
            <a:extLst>
              <a:ext uri="{FF2B5EF4-FFF2-40B4-BE49-F238E27FC236}">
                <a16:creationId xmlns:a16="http://schemas.microsoft.com/office/drawing/2014/main" id="{FC670495-F846-48D1-841B-DC2D8EB8469A}"/>
              </a:ext>
            </a:extLst>
          </p:cNvPr>
          <p:cNvSpPr txBox="1"/>
          <p:nvPr/>
        </p:nvSpPr>
        <p:spPr>
          <a:xfrm>
            <a:off x="5796136" y="5589240"/>
            <a:ext cx="1367875" cy="584775"/>
          </a:xfrm>
          <a:prstGeom prst="rect">
            <a:avLst/>
          </a:prstGeom>
          <a:noFill/>
        </p:spPr>
        <p:txBody>
          <a:bodyPr wrap="none" rtlCol="0">
            <a:spAutoFit/>
          </a:bodyPr>
          <a:lstStyle/>
          <a:p>
            <a:r>
              <a:rPr lang="en-US" sz="3200" dirty="0">
                <a:latin typeface="Calibri" panose="020F0502020204030204" pitchFamily="34" charset="0"/>
              </a:rPr>
              <a:t>Faculty</a:t>
            </a:r>
            <a:endParaRPr lang="en-SG" sz="3200" dirty="0">
              <a:latin typeface="Calibri" panose="020F0502020204030204" pitchFamily="34" charset="0"/>
            </a:endParaRPr>
          </a:p>
        </p:txBody>
      </p:sp>
      <p:cxnSp>
        <p:nvCxnSpPr>
          <p:cNvPr id="13" name="Straight Connector 12">
            <a:extLst>
              <a:ext uri="{FF2B5EF4-FFF2-40B4-BE49-F238E27FC236}">
                <a16:creationId xmlns:a16="http://schemas.microsoft.com/office/drawing/2014/main" id="{8063B010-56E3-44F5-B60C-F91BCD202838}"/>
              </a:ext>
            </a:extLst>
          </p:cNvPr>
          <p:cNvCxnSpPr/>
          <p:nvPr/>
        </p:nvCxnSpPr>
        <p:spPr bwMode="auto">
          <a:xfrm>
            <a:off x="2699792" y="5373216"/>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4" name="Straight Connector 13">
            <a:extLst>
              <a:ext uri="{FF2B5EF4-FFF2-40B4-BE49-F238E27FC236}">
                <a16:creationId xmlns:a16="http://schemas.microsoft.com/office/drawing/2014/main" id="{34EDD5AB-26A8-44DB-B8ED-DDC6886552CE}"/>
              </a:ext>
            </a:extLst>
          </p:cNvPr>
          <p:cNvCxnSpPr>
            <a:stCxn id="9" idx="1"/>
          </p:cNvCxnSpPr>
          <p:nvPr/>
        </p:nvCxnSpPr>
        <p:spPr bwMode="auto">
          <a:xfrm flipH="1">
            <a:off x="3059832" y="4657492"/>
            <a:ext cx="1296144" cy="29238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EE7001CA-84D5-4061-B6F3-C2EE54E68964}"/>
              </a:ext>
            </a:extLst>
          </p:cNvPr>
          <p:cNvCxnSpPr>
            <a:stCxn id="9" idx="3"/>
          </p:cNvCxnSpPr>
          <p:nvPr/>
        </p:nvCxnSpPr>
        <p:spPr bwMode="auto">
          <a:xfrm>
            <a:off x="4856434" y="4657492"/>
            <a:ext cx="1227734" cy="292387"/>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6" name="TextBox 15">
            <a:extLst>
              <a:ext uri="{FF2B5EF4-FFF2-40B4-BE49-F238E27FC236}">
                <a16:creationId xmlns:a16="http://schemas.microsoft.com/office/drawing/2014/main" id="{91D9FC80-286A-4BDA-BCD3-E087D6CB7386}"/>
              </a:ext>
            </a:extLst>
          </p:cNvPr>
          <p:cNvSpPr txBox="1"/>
          <p:nvPr/>
        </p:nvSpPr>
        <p:spPr>
          <a:xfrm>
            <a:off x="6072195" y="4788441"/>
            <a:ext cx="1074333"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rPr>
              <a:t>Name</a:t>
            </a:r>
            <a:endParaRPr lang="en-SG" sz="3200" baseline="-25000" dirty="0">
              <a:latin typeface="Calibri" panose="020F0502020204030204" pitchFamily="34" charset="0"/>
            </a:endParaRPr>
          </a:p>
        </p:txBody>
      </p:sp>
      <p:cxnSp>
        <p:nvCxnSpPr>
          <p:cNvPr id="17" name="Straight Connector 16">
            <a:extLst>
              <a:ext uri="{FF2B5EF4-FFF2-40B4-BE49-F238E27FC236}">
                <a16:creationId xmlns:a16="http://schemas.microsoft.com/office/drawing/2014/main" id="{8DDADA6F-EC6C-476E-AD5B-874DD3B90019}"/>
              </a:ext>
            </a:extLst>
          </p:cNvPr>
          <p:cNvCxnSpPr/>
          <p:nvPr/>
        </p:nvCxnSpPr>
        <p:spPr bwMode="auto">
          <a:xfrm>
            <a:off x="6588224" y="5373216"/>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73417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C8F4C-D1F9-45F0-B6C5-6B6A6E2AAAF9}"/>
              </a:ext>
            </a:extLst>
          </p:cNvPr>
          <p:cNvSpPr>
            <a:spLocks noGrp="1"/>
          </p:cNvSpPr>
          <p:nvPr>
            <p:ph type="title"/>
          </p:nvPr>
        </p:nvSpPr>
        <p:spPr/>
        <p:txBody>
          <a:bodyPr>
            <a:normAutofit/>
          </a:bodyPr>
          <a:lstStyle/>
          <a:p>
            <a:r>
              <a:rPr lang="en-SG" dirty="0"/>
              <a:t>Operator Trees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3D3706-1F04-4E69-A1D6-7C3455A2965A}"/>
                  </a:ext>
                </a:extLst>
              </p:cNvPr>
              <p:cNvSpPr>
                <a:spLocks noGrp="1"/>
              </p:cNvSpPr>
              <p:nvPr>
                <p:ph idx="1"/>
              </p:nvPr>
            </p:nvSpPr>
            <p:spPr>
              <a:xfrm>
                <a:off x="457200" y="1600201"/>
                <a:ext cx="8229600" cy="897557"/>
              </a:xfrm>
            </p:spPr>
            <p:txBody>
              <a:bodyPr/>
              <a:lstStyle/>
              <a:p>
                <a:r>
                  <a:rPr lang="en-US" dirty="0"/>
                  <a:t>T1 </a:t>
                </a:r>
                <a14:m>
                  <m:oMath xmlns:m="http://schemas.openxmlformats.org/officeDocument/2006/math">
                    <m:r>
                      <a:rPr lang="en-SG" b="0" i="1" smtClean="0">
                        <a:solidFill>
                          <a:srgbClr val="0000FF"/>
                        </a:solidFill>
                        <a:latin typeface="Cambria Math" panose="02040503050406030204" pitchFamily="18" charset="0"/>
                      </a:rPr>
                      <m:t>⋈</m:t>
                    </m:r>
                  </m:oMath>
                </a14:m>
                <a:r>
                  <a:rPr lang="en-US" baseline="-25000" dirty="0"/>
                  <a:t>T1.B = T2.B </a:t>
                </a:r>
                <a:r>
                  <a:rPr lang="en-US" dirty="0"/>
                  <a:t>(T2</a:t>
                </a:r>
                <a:r>
                  <a:rPr lang="en-SG" dirty="0">
                    <a:solidFill>
                      <a:srgbClr val="0000FF"/>
                    </a:solidFill>
                  </a:rPr>
                  <a:t> </a:t>
                </a:r>
                <a14:m>
                  <m:oMath xmlns:m="http://schemas.openxmlformats.org/officeDocument/2006/math">
                    <m:r>
                      <a:rPr lang="en-SG" i="1">
                        <a:solidFill>
                          <a:srgbClr val="0000FF"/>
                        </a:solidFill>
                        <a:latin typeface="Cambria Math" panose="02040503050406030204" pitchFamily="18" charset="0"/>
                      </a:rPr>
                      <m:t>⋈</m:t>
                    </m:r>
                  </m:oMath>
                </a14:m>
                <a:r>
                  <a:rPr lang="en-US" baseline="-25000" dirty="0"/>
                  <a:t>T2.C = T3.C </a:t>
                </a:r>
                <a:r>
                  <a:rPr lang="en-US" dirty="0"/>
                  <a:t>T3)</a:t>
                </a:r>
                <a:endParaRPr lang="en-US" dirty="0">
                  <a:solidFill>
                    <a:srgbClr val="C00000"/>
                  </a:solidFill>
                </a:endParaRPr>
              </a:p>
              <a:p>
                <a:endParaRPr lang="en-SG" dirty="0"/>
              </a:p>
            </p:txBody>
          </p:sp>
        </mc:Choice>
        <mc:Fallback xmlns="">
          <p:sp>
            <p:nvSpPr>
              <p:cNvPr id="3" name="Content Placeholder 2">
                <a:extLst>
                  <a:ext uri="{FF2B5EF4-FFF2-40B4-BE49-F238E27FC236}">
                    <a16:creationId xmlns:a16="http://schemas.microsoft.com/office/drawing/2014/main" id="{353D3706-1F04-4E69-A1D6-7C3455A2965A}"/>
                  </a:ext>
                </a:extLst>
              </p:cNvPr>
              <p:cNvSpPr>
                <a:spLocks noGrp="1" noRot="1" noChangeAspect="1" noMove="1" noResize="1" noEditPoints="1" noAdjustHandles="1" noChangeArrowheads="1" noChangeShapeType="1" noTextEdit="1"/>
              </p:cNvSpPr>
              <p:nvPr>
                <p:ph idx="1"/>
              </p:nvPr>
            </p:nvSpPr>
            <p:spPr>
              <a:xfrm>
                <a:off x="457200" y="1600201"/>
                <a:ext cx="8229600" cy="897557"/>
              </a:xfrm>
              <a:blipFill>
                <a:blip r:embed="rId2"/>
                <a:stretch>
                  <a:fillRect l="-667" t="-8163"/>
                </a:stretch>
              </a:blipFill>
            </p:spPr>
            <p:txBody>
              <a:bodyPr/>
              <a:lstStyle/>
              <a:p>
                <a:r>
                  <a:rPr lang="en-SG">
                    <a:noFill/>
                  </a:rPr>
                  <a:t> </a:t>
                </a:r>
              </a:p>
            </p:txBody>
          </p:sp>
        </mc:Fallback>
      </mc:AlternateContent>
      <p:sp>
        <p:nvSpPr>
          <p:cNvPr id="18" name="TextBox 17">
            <a:extLst>
              <a:ext uri="{FF2B5EF4-FFF2-40B4-BE49-F238E27FC236}">
                <a16:creationId xmlns:a16="http://schemas.microsoft.com/office/drawing/2014/main" id="{3811CDA9-7798-417E-B663-5E08920E0E09}"/>
              </a:ext>
            </a:extLst>
          </p:cNvPr>
          <p:cNvSpPr txBox="1"/>
          <p:nvPr/>
        </p:nvSpPr>
        <p:spPr>
          <a:xfrm>
            <a:off x="2904395" y="4797152"/>
            <a:ext cx="1410451" cy="420628"/>
          </a:xfrm>
          <a:prstGeom prst="rect">
            <a:avLst/>
          </a:prstGeom>
          <a:noFill/>
        </p:spPr>
        <p:txBody>
          <a:bodyPr wrap="none" rtlCol="0">
            <a:spAutoFit/>
          </a:bodyPr>
          <a:lstStyle/>
          <a:p>
            <a:r>
              <a:rPr lang="en-US" sz="3200" baseline="-25000" dirty="0">
                <a:latin typeface="Calibri" panose="020F0502020204030204" pitchFamily="34" charset="0"/>
              </a:rPr>
              <a:t>T2.C = T3.C</a:t>
            </a:r>
            <a:endParaRPr lang="en-SG" sz="3200" baseline="-25000" dirty="0">
              <a:latin typeface="Calibri" panose="020F0502020204030204" pitchFamily="34" charset="0"/>
            </a:endParaRPr>
          </a:p>
        </p:txBody>
      </p:sp>
      <p:sp>
        <p:nvSpPr>
          <p:cNvPr id="19" name="TextBox 18">
            <a:extLst>
              <a:ext uri="{FF2B5EF4-FFF2-40B4-BE49-F238E27FC236}">
                <a16:creationId xmlns:a16="http://schemas.microsoft.com/office/drawing/2014/main" id="{4AE8F634-78BC-4FCB-9138-B7AFF457DE15}"/>
              </a:ext>
            </a:extLst>
          </p:cNvPr>
          <p:cNvSpPr txBox="1"/>
          <p:nvPr/>
        </p:nvSpPr>
        <p:spPr>
          <a:xfrm>
            <a:off x="1403648" y="5580529"/>
            <a:ext cx="593432" cy="584775"/>
          </a:xfrm>
          <a:prstGeom prst="rect">
            <a:avLst/>
          </a:prstGeom>
          <a:noFill/>
        </p:spPr>
        <p:txBody>
          <a:bodyPr wrap="none" rtlCol="0">
            <a:spAutoFit/>
          </a:bodyPr>
          <a:lstStyle/>
          <a:p>
            <a:r>
              <a:rPr lang="en-US" sz="3200" dirty="0">
                <a:latin typeface="Calibri" panose="020F0502020204030204" pitchFamily="34" charset="0"/>
              </a:rPr>
              <a:t>T2</a:t>
            </a:r>
            <a:endParaRPr lang="en-SG" sz="3200" dirty="0">
              <a:latin typeface="Calibri" panose="020F0502020204030204" pitchFamily="34" charset="0"/>
            </a:endParaRPr>
          </a:p>
        </p:txBody>
      </p:sp>
      <p:sp>
        <p:nvSpPr>
          <p:cNvPr id="20" name="TextBox 19">
            <a:extLst>
              <a:ext uri="{FF2B5EF4-FFF2-40B4-BE49-F238E27FC236}">
                <a16:creationId xmlns:a16="http://schemas.microsoft.com/office/drawing/2014/main" id="{F3474EB0-A9A8-415A-8C21-C2146D8E5DC8}"/>
              </a:ext>
            </a:extLst>
          </p:cNvPr>
          <p:cNvSpPr txBox="1"/>
          <p:nvPr/>
        </p:nvSpPr>
        <p:spPr>
          <a:xfrm>
            <a:off x="5043515" y="5571818"/>
            <a:ext cx="593432" cy="584775"/>
          </a:xfrm>
          <a:prstGeom prst="rect">
            <a:avLst/>
          </a:prstGeom>
          <a:noFill/>
        </p:spPr>
        <p:txBody>
          <a:bodyPr wrap="none" rtlCol="0">
            <a:spAutoFit/>
          </a:bodyPr>
          <a:lstStyle/>
          <a:p>
            <a:r>
              <a:rPr lang="en-US" sz="3200" dirty="0">
                <a:latin typeface="Calibri" panose="020F0502020204030204" pitchFamily="34" charset="0"/>
              </a:rPr>
              <a:t>T2</a:t>
            </a:r>
            <a:endParaRPr lang="en-SG" sz="3200" dirty="0">
              <a:latin typeface="Calibri" panose="020F0502020204030204" pitchFamily="34" charset="0"/>
            </a:endParaRPr>
          </a:p>
        </p:txBody>
      </p:sp>
      <p:cxnSp>
        <p:nvCxnSpPr>
          <p:cNvPr id="21" name="Straight Connector 20">
            <a:extLst>
              <a:ext uri="{FF2B5EF4-FFF2-40B4-BE49-F238E27FC236}">
                <a16:creationId xmlns:a16="http://schemas.microsoft.com/office/drawing/2014/main" id="{DDA2AB70-2050-4363-A355-F3C0D2543F91}"/>
              </a:ext>
            </a:extLst>
          </p:cNvPr>
          <p:cNvCxnSpPr/>
          <p:nvPr/>
        </p:nvCxnSpPr>
        <p:spPr bwMode="auto">
          <a:xfrm flipH="1">
            <a:off x="2019179" y="5301208"/>
            <a:ext cx="1053289" cy="414626"/>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98A031BD-57DE-457A-9F6C-E88B462277EE}"/>
              </a:ext>
            </a:extLst>
          </p:cNvPr>
          <p:cNvCxnSpPr/>
          <p:nvPr/>
        </p:nvCxnSpPr>
        <p:spPr bwMode="auto">
          <a:xfrm>
            <a:off x="4152588" y="5301208"/>
            <a:ext cx="890927" cy="41462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3" name="Flowchart: Collate 22">
            <a:extLst>
              <a:ext uri="{FF2B5EF4-FFF2-40B4-BE49-F238E27FC236}">
                <a16:creationId xmlns:a16="http://schemas.microsoft.com/office/drawing/2014/main" id="{70BD861D-AC32-44EF-86A1-1DD143A75FB4}"/>
              </a:ext>
            </a:extLst>
          </p:cNvPr>
          <p:cNvSpPr/>
          <p:nvPr/>
        </p:nvSpPr>
        <p:spPr bwMode="auto">
          <a:xfrm rot="16200000">
            <a:off x="2588925" y="4841722"/>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4" name="TextBox 23">
            <a:extLst>
              <a:ext uri="{FF2B5EF4-FFF2-40B4-BE49-F238E27FC236}">
                <a16:creationId xmlns:a16="http://schemas.microsoft.com/office/drawing/2014/main" id="{B6AE9109-BFBA-4214-8431-106BD20A874C}"/>
              </a:ext>
            </a:extLst>
          </p:cNvPr>
          <p:cNvSpPr txBox="1"/>
          <p:nvPr/>
        </p:nvSpPr>
        <p:spPr>
          <a:xfrm>
            <a:off x="4959227" y="3933056"/>
            <a:ext cx="1426994" cy="420628"/>
          </a:xfrm>
          <a:prstGeom prst="rect">
            <a:avLst/>
          </a:prstGeom>
          <a:noFill/>
        </p:spPr>
        <p:txBody>
          <a:bodyPr wrap="none" rtlCol="0">
            <a:spAutoFit/>
          </a:bodyPr>
          <a:lstStyle/>
          <a:p>
            <a:r>
              <a:rPr lang="en-US" sz="3200" baseline="-25000" dirty="0">
                <a:latin typeface="Calibri" panose="020F0502020204030204" pitchFamily="34" charset="0"/>
              </a:rPr>
              <a:t>T1.B = T2.B</a:t>
            </a:r>
            <a:endParaRPr lang="en-SG" sz="3200" baseline="-25000" dirty="0">
              <a:latin typeface="Calibri" panose="020F0502020204030204" pitchFamily="34" charset="0"/>
            </a:endParaRPr>
          </a:p>
        </p:txBody>
      </p:sp>
      <p:sp>
        <p:nvSpPr>
          <p:cNvPr id="25" name="Flowchart: Collate 24">
            <a:extLst>
              <a:ext uri="{FF2B5EF4-FFF2-40B4-BE49-F238E27FC236}">
                <a16:creationId xmlns:a16="http://schemas.microsoft.com/office/drawing/2014/main" id="{6A90302B-38C7-4FB4-9885-E03BC527DBA8}"/>
              </a:ext>
            </a:extLst>
          </p:cNvPr>
          <p:cNvSpPr/>
          <p:nvPr/>
        </p:nvSpPr>
        <p:spPr bwMode="auto">
          <a:xfrm rot="16200000">
            <a:off x="4643757" y="3977626"/>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cxnSp>
        <p:nvCxnSpPr>
          <p:cNvPr id="26" name="Straight Connector 25">
            <a:extLst>
              <a:ext uri="{FF2B5EF4-FFF2-40B4-BE49-F238E27FC236}">
                <a16:creationId xmlns:a16="http://schemas.microsoft.com/office/drawing/2014/main" id="{64C6002E-7292-4322-81FF-7C67AFD58B77}"/>
              </a:ext>
            </a:extLst>
          </p:cNvPr>
          <p:cNvCxnSpPr/>
          <p:nvPr/>
        </p:nvCxnSpPr>
        <p:spPr bwMode="auto">
          <a:xfrm flipH="1">
            <a:off x="3765777" y="4437112"/>
            <a:ext cx="1053289" cy="41462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7" name="TextBox 26">
            <a:extLst>
              <a:ext uri="{FF2B5EF4-FFF2-40B4-BE49-F238E27FC236}">
                <a16:creationId xmlns:a16="http://schemas.microsoft.com/office/drawing/2014/main" id="{D8383305-7A85-403B-8618-B42B298F0CE0}"/>
              </a:ext>
            </a:extLst>
          </p:cNvPr>
          <p:cNvSpPr txBox="1"/>
          <p:nvPr/>
        </p:nvSpPr>
        <p:spPr>
          <a:xfrm>
            <a:off x="6975095" y="4721142"/>
            <a:ext cx="593432" cy="584775"/>
          </a:xfrm>
          <a:prstGeom prst="rect">
            <a:avLst/>
          </a:prstGeom>
          <a:noFill/>
        </p:spPr>
        <p:txBody>
          <a:bodyPr wrap="none" rtlCol="0">
            <a:spAutoFit/>
          </a:bodyPr>
          <a:lstStyle/>
          <a:p>
            <a:r>
              <a:rPr lang="en-US" sz="3200" dirty="0">
                <a:latin typeface="Calibri" panose="020F0502020204030204" pitchFamily="34" charset="0"/>
              </a:rPr>
              <a:t>T1</a:t>
            </a:r>
            <a:endParaRPr lang="en-SG" sz="3200" dirty="0">
              <a:latin typeface="Calibri" panose="020F0502020204030204" pitchFamily="34" charset="0"/>
            </a:endParaRPr>
          </a:p>
        </p:txBody>
      </p:sp>
      <p:cxnSp>
        <p:nvCxnSpPr>
          <p:cNvPr id="28" name="Straight Connector 27">
            <a:extLst>
              <a:ext uri="{FF2B5EF4-FFF2-40B4-BE49-F238E27FC236}">
                <a16:creationId xmlns:a16="http://schemas.microsoft.com/office/drawing/2014/main" id="{B9A41B4C-ED2C-40EA-AB85-8564A80DC9B7}"/>
              </a:ext>
            </a:extLst>
          </p:cNvPr>
          <p:cNvCxnSpPr/>
          <p:nvPr/>
        </p:nvCxnSpPr>
        <p:spPr bwMode="auto">
          <a:xfrm>
            <a:off x="6084168" y="4450532"/>
            <a:ext cx="890927" cy="41462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21150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3" grpId="0" animBg="1"/>
      <p:bldP spid="24" grpId="0"/>
      <p:bldP spid="25" grpId="0" animBg="1"/>
      <p:bldP spid="2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35AF3-2C42-499E-8315-F47341937EB2}"/>
              </a:ext>
            </a:extLst>
          </p:cNvPr>
          <p:cNvSpPr>
            <a:spLocks noGrp="1"/>
          </p:cNvSpPr>
          <p:nvPr>
            <p:ph type="title"/>
          </p:nvPr>
        </p:nvSpPr>
        <p:spPr/>
        <p:txBody>
          <a:bodyPr>
            <a:normAutofit fontScale="90000"/>
          </a:bodyPr>
          <a:lstStyle/>
          <a:p>
            <a:r>
              <a:rPr lang="en-SG" dirty="0"/>
              <a:t>“So relational algebra is just a more complicated way of writing SQL?”</a:t>
            </a:r>
          </a:p>
        </p:txBody>
      </p:sp>
      <p:sp>
        <p:nvSpPr>
          <p:cNvPr id="3" name="Content Placeholder 2">
            <a:extLst>
              <a:ext uri="{FF2B5EF4-FFF2-40B4-BE49-F238E27FC236}">
                <a16:creationId xmlns:a16="http://schemas.microsoft.com/office/drawing/2014/main" id="{7814D21A-EF89-454D-9869-719C85B7BF84}"/>
              </a:ext>
            </a:extLst>
          </p:cNvPr>
          <p:cNvSpPr>
            <a:spLocks noGrp="1"/>
          </p:cNvSpPr>
          <p:nvPr>
            <p:ph idx="1"/>
          </p:nvPr>
        </p:nvSpPr>
        <p:spPr/>
        <p:txBody>
          <a:bodyPr>
            <a:normAutofit fontScale="92500" lnSpcReduction="20000"/>
          </a:bodyPr>
          <a:lstStyle/>
          <a:p>
            <a:r>
              <a:rPr lang="en-SG" dirty="0"/>
              <a:t>Well, it exists for a reason</a:t>
            </a:r>
          </a:p>
          <a:p>
            <a:r>
              <a:rPr lang="en-SG" dirty="0"/>
              <a:t>Consider the following query:</a:t>
            </a:r>
          </a:p>
          <a:p>
            <a:pPr lvl="1"/>
            <a:r>
              <a:rPr lang="en-US" sz="2400" dirty="0"/>
              <a:t>SELECT 	P.name </a:t>
            </a:r>
            <a:br>
              <a:rPr lang="en-US" sz="2400" dirty="0"/>
            </a:br>
            <a:r>
              <a:rPr lang="en-US" sz="2400" dirty="0"/>
              <a:t>FROM 	Person P, Purchase U, Product R, Company C</a:t>
            </a:r>
            <a:br>
              <a:rPr lang="en-US" sz="2400" dirty="0"/>
            </a:br>
            <a:r>
              <a:rPr lang="en-US" sz="2400" dirty="0"/>
              <a:t>WHERE	</a:t>
            </a:r>
            <a:r>
              <a:rPr lang="en-US" sz="2400" dirty="0" err="1"/>
              <a:t>P.ssn</a:t>
            </a:r>
            <a:r>
              <a:rPr lang="en-US" sz="2400" dirty="0"/>
              <a:t> = buyer AND </a:t>
            </a:r>
            <a:r>
              <a:rPr lang="en-US" sz="2400" dirty="0" err="1"/>
              <a:t>U.pid</a:t>
            </a:r>
            <a:r>
              <a:rPr lang="en-US" sz="2400" dirty="0"/>
              <a:t> = </a:t>
            </a:r>
            <a:r>
              <a:rPr lang="en-US" sz="2400" dirty="0" err="1"/>
              <a:t>R.pid</a:t>
            </a:r>
            <a:r>
              <a:rPr lang="en-US" sz="2400" dirty="0"/>
              <a:t> </a:t>
            </a:r>
            <a:br>
              <a:rPr lang="en-US" sz="2400" dirty="0"/>
            </a:br>
            <a:r>
              <a:rPr lang="en-US" sz="2400" dirty="0"/>
              <a:t>		AND </a:t>
            </a:r>
            <a:r>
              <a:rPr lang="en-US" sz="2400" dirty="0" err="1"/>
              <a:t>R.maker</a:t>
            </a:r>
            <a:r>
              <a:rPr lang="en-US" sz="2400" dirty="0"/>
              <a:t> = </a:t>
            </a:r>
            <a:r>
              <a:rPr lang="en-US" sz="2400" dirty="0" err="1"/>
              <a:t>C.cid</a:t>
            </a:r>
            <a:r>
              <a:rPr lang="en-US" sz="2400" dirty="0"/>
              <a:t> AND </a:t>
            </a:r>
            <a:r>
              <a:rPr lang="en-US" sz="2400" dirty="0" err="1"/>
              <a:t>P.city</a:t>
            </a:r>
            <a:r>
              <a:rPr lang="en-US" sz="2400" dirty="0"/>
              <a:t> = ‘Singapore’ 		AND </a:t>
            </a:r>
            <a:r>
              <a:rPr lang="en-US" sz="2400" dirty="0" err="1"/>
              <a:t>C.country</a:t>
            </a:r>
            <a:r>
              <a:rPr lang="en-US" sz="2400" dirty="0"/>
              <a:t> = ‘US’</a:t>
            </a:r>
          </a:p>
          <a:p>
            <a:r>
              <a:rPr lang="en-US" dirty="0"/>
              <a:t>How would you execute it if you are a DBMS?</a:t>
            </a:r>
            <a:endParaRPr lang="en-SG" dirty="0"/>
          </a:p>
          <a:p>
            <a:pPr lvl="1"/>
            <a:r>
              <a:rPr lang="en-SG" dirty="0"/>
              <a:t>There are just too many possible ways to do it</a:t>
            </a:r>
          </a:p>
          <a:p>
            <a:r>
              <a:rPr lang="en-SG" dirty="0"/>
              <a:t>What a DBMS would do:</a:t>
            </a:r>
          </a:p>
          <a:p>
            <a:pPr lvl="1"/>
            <a:r>
              <a:rPr lang="en-SG" dirty="0"/>
              <a:t>Translate it into relational algebra</a:t>
            </a:r>
          </a:p>
          <a:p>
            <a:pPr lvl="1"/>
            <a:r>
              <a:rPr lang="en-SG" dirty="0"/>
              <a:t>Optimize it in the relational algebra space</a:t>
            </a:r>
          </a:p>
        </p:txBody>
      </p:sp>
    </p:spTree>
    <p:extLst>
      <p:ext uri="{BB962C8B-B14F-4D97-AF65-F5344CB8AC3E}">
        <p14:creationId xmlns:p14="http://schemas.microsoft.com/office/powerpoint/2010/main" val="125738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08EE3-2D0C-4C8C-8946-5A4F6AE5D45E}"/>
              </a:ext>
            </a:extLst>
          </p:cNvPr>
          <p:cNvSpPr>
            <a:spLocks noGrp="1"/>
          </p:cNvSpPr>
          <p:nvPr>
            <p:ph type="title"/>
          </p:nvPr>
        </p:nvSpPr>
        <p:spPr/>
        <p:txBody>
          <a:bodyPr>
            <a:normAutofit fontScale="90000"/>
          </a:bodyPr>
          <a:lstStyle/>
          <a:p>
            <a:r>
              <a:rPr lang="en-SG" dirty="0"/>
              <a:t>It starts with a simple operator tree</a:t>
            </a:r>
          </a:p>
        </p:txBody>
      </p:sp>
      <p:sp>
        <p:nvSpPr>
          <p:cNvPr id="4" name="Content Placeholder 2">
            <a:extLst>
              <a:ext uri="{FF2B5EF4-FFF2-40B4-BE49-F238E27FC236}">
                <a16:creationId xmlns:a16="http://schemas.microsoft.com/office/drawing/2014/main" id="{0353E67B-D57B-452D-B85F-4A1E61F6881D}"/>
              </a:ext>
            </a:extLst>
          </p:cNvPr>
          <p:cNvSpPr>
            <a:spLocks noGrp="1"/>
          </p:cNvSpPr>
          <p:nvPr>
            <p:ph idx="1"/>
          </p:nvPr>
        </p:nvSpPr>
        <p:spPr>
          <a:xfrm>
            <a:off x="457200" y="1052736"/>
            <a:ext cx="8229600" cy="1684783"/>
          </a:xfrm>
        </p:spPr>
        <p:txBody>
          <a:bodyPr>
            <a:normAutofit fontScale="77500" lnSpcReduction="20000"/>
          </a:bodyPr>
          <a:lstStyle/>
          <a:p>
            <a:r>
              <a:rPr lang="en-US" dirty="0"/>
              <a:t>SELECT 	P.name </a:t>
            </a:r>
            <a:br>
              <a:rPr lang="en-US" dirty="0"/>
            </a:br>
            <a:r>
              <a:rPr lang="en-US" dirty="0"/>
              <a:t>FROM 	Person P, Purchase U, Product R, Company C</a:t>
            </a:r>
            <a:br>
              <a:rPr lang="en-US" dirty="0"/>
            </a:br>
            <a:r>
              <a:rPr lang="en-US" dirty="0"/>
              <a:t>WHERE	</a:t>
            </a:r>
            <a:r>
              <a:rPr lang="en-US" dirty="0" err="1"/>
              <a:t>P.ssn</a:t>
            </a:r>
            <a:r>
              <a:rPr lang="en-US" dirty="0"/>
              <a:t> = buyer AND 	</a:t>
            </a:r>
            <a:r>
              <a:rPr lang="en-US" dirty="0" err="1"/>
              <a:t>U.pid</a:t>
            </a:r>
            <a:r>
              <a:rPr lang="en-US" dirty="0"/>
              <a:t> = </a:t>
            </a:r>
            <a:r>
              <a:rPr lang="en-US" dirty="0" err="1"/>
              <a:t>R.pid</a:t>
            </a:r>
            <a:r>
              <a:rPr lang="en-US" dirty="0"/>
              <a:t> </a:t>
            </a:r>
            <a:br>
              <a:rPr lang="en-US" dirty="0"/>
            </a:br>
            <a:r>
              <a:rPr lang="en-US" dirty="0"/>
              <a:t>		AND </a:t>
            </a:r>
            <a:r>
              <a:rPr lang="en-US" dirty="0" err="1"/>
              <a:t>R.maker</a:t>
            </a:r>
            <a:r>
              <a:rPr lang="en-US" dirty="0"/>
              <a:t> = </a:t>
            </a:r>
            <a:r>
              <a:rPr lang="en-US" dirty="0" err="1"/>
              <a:t>C.cid</a:t>
            </a:r>
            <a:r>
              <a:rPr lang="en-US" dirty="0"/>
              <a:t> AND </a:t>
            </a:r>
            <a:r>
              <a:rPr lang="en-US" dirty="0" err="1"/>
              <a:t>P.city</a:t>
            </a:r>
            <a:r>
              <a:rPr lang="en-US" dirty="0"/>
              <a:t> = ‘Singapore’ 		AND </a:t>
            </a:r>
            <a:r>
              <a:rPr lang="en-US" dirty="0" err="1"/>
              <a:t>C.country</a:t>
            </a:r>
            <a:r>
              <a:rPr lang="en-US" dirty="0"/>
              <a:t> = ‘US’</a:t>
            </a:r>
            <a:endParaRPr lang="en-SG" dirty="0"/>
          </a:p>
          <a:p>
            <a:endParaRPr lang="en-SG" dirty="0"/>
          </a:p>
        </p:txBody>
      </p:sp>
      <p:sp>
        <p:nvSpPr>
          <p:cNvPr id="5" name="TextBox 4">
            <a:extLst>
              <a:ext uri="{FF2B5EF4-FFF2-40B4-BE49-F238E27FC236}">
                <a16:creationId xmlns:a16="http://schemas.microsoft.com/office/drawing/2014/main" id="{024E8816-E35E-4DE1-834C-F1702C2AA286}"/>
              </a:ext>
            </a:extLst>
          </p:cNvPr>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6" name="TextBox 5">
            <a:extLst>
              <a:ext uri="{FF2B5EF4-FFF2-40B4-BE49-F238E27FC236}">
                <a16:creationId xmlns:a16="http://schemas.microsoft.com/office/drawing/2014/main" id="{7A53E8D2-3E3C-4E0D-88DE-140407A3D36A}"/>
              </a:ext>
            </a:extLst>
          </p:cNvPr>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sp>
        <p:nvSpPr>
          <p:cNvPr id="7" name="TextBox 6">
            <a:extLst>
              <a:ext uri="{FF2B5EF4-FFF2-40B4-BE49-F238E27FC236}">
                <a16:creationId xmlns:a16="http://schemas.microsoft.com/office/drawing/2014/main" id="{C304C87B-8490-4C01-8C47-976A1D9FE1DA}"/>
              </a:ext>
            </a:extLst>
          </p:cNvPr>
          <p:cNvSpPr txBox="1"/>
          <p:nvPr/>
        </p:nvSpPr>
        <p:spPr>
          <a:xfrm>
            <a:off x="2195736" y="5210036"/>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dirty="0">
              <a:solidFill>
                <a:srgbClr val="0000FF"/>
              </a:solidFill>
              <a:latin typeface="Calibri" panose="020F0502020204030204" pitchFamily="34" charset="0"/>
            </a:endParaRPr>
          </a:p>
        </p:txBody>
      </p:sp>
      <p:cxnSp>
        <p:nvCxnSpPr>
          <p:cNvPr id="8" name="Straight Connector 7">
            <a:extLst>
              <a:ext uri="{FF2B5EF4-FFF2-40B4-BE49-F238E27FC236}">
                <a16:creationId xmlns:a16="http://schemas.microsoft.com/office/drawing/2014/main" id="{A4AB910A-1EA8-4CC7-A2B1-C96F1221D170}"/>
              </a:ext>
            </a:extLst>
          </p:cNvPr>
          <p:cNvCxnSpPr>
            <a:stCxn id="7" idx="1"/>
            <a:endCxn id="5" idx="0"/>
          </p:cNvCxnSpPr>
          <p:nvPr/>
        </p:nvCxnSpPr>
        <p:spPr bwMode="auto">
          <a:xfrm flipH="1">
            <a:off x="1191204" y="5471646"/>
            <a:ext cx="1004532" cy="17043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B33502F7-6EA8-4B4E-8A98-7FF2CB23C575}"/>
              </a:ext>
            </a:extLst>
          </p:cNvPr>
          <p:cNvCxnSpPr>
            <a:stCxn id="7" idx="3"/>
            <a:endCxn id="6" idx="0"/>
          </p:cNvCxnSpPr>
          <p:nvPr/>
        </p:nvCxnSpPr>
        <p:spPr bwMode="auto">
          <a:xfrm>
            <a:off x="2566350" y="5471646"/>
            <a:ext cx="939142" cy="17043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0" name="TextBox 9">
            <a:extLst>
              <a:ext uri="{FF2B5EF4-FFF2-40B4-BE49-F238E27FC236}">
                <a16:creationId xmlns:a16="http://schemas.microsoft.com/office/drawing/2014/main" id="{E4C6C84C-D266-49EF-AC1C-E15A53054627}"/>
              </a:ext>
            </a:extLst>
          </p:cNvPr>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1" name="TextBox 10">
            <a:extLst>
              <a:ext uri="{FF2B5EF4-FFF2-40B4-BE49-F238E27FC236}">
                <a16:creationId xmlns:a16="http://schemas.microsoft.com/office/drawing/2014/main" id="{CC5A1182-6ACE-40CE-94A2-4CEC268EE8C6}"/>
              </a:ext>
            </a:extLst>
          </p:cNvPr>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sp>
        <p:nvSpPr>
          <p:cNvPr id="12" name="TextBox 11">
            <a:extLst>
              <a:ext uri="{FF2B5EF4-FFF2-40B4-BE49-F238E27FC236}">
                <a16:creationId xmlns:a16="http://schemas.microsoft.com/office/drawing/2014/main" id="{E622E2CC-324D-423C-88EF-EAE03B567146}"/>
              </a:ext>
            </a:extLst>
          </p:cNvPr>
          <p:cNvSpPr txBox="1"/>
          <p:nvPr/>
        </p:nvSpPr>
        <p:spPr>
          <a:xfrm>
            <a:off x="3706121" y="4706182"/>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baseline="-25000" dirty="0">
              <a:latin typeface="Calibri" panose="020F0502020204030204" pitchFamily="34" charset="0"/>
            </a:endParaRPr>
          </a:p>
        </p:txBody>
      </p:sp>
      <p:cxnSp>
        <p:nvCxnSpPr>
          <p:cNvPr id="13" name="Straight Connector 12">
            <a:extLst>
              <a:ext uri="{FF2B5EF4-FFF2-40B4-BE49-F238E27FC236}">
                <a16:creationId xmlns:a16="http://schemas.microsoft.com/office/drawing/2014/main" id="{4AFE6B47-0B21-4E16-B22D-C21602CB2336}"/>
              </a:ext>
            </a:extLst>
          </p:cNvPr>
          <p:cNvCxnSpPr>
            <a:stCxn id="12" idx="1"/>
            <a:endCxn id="7" idx="0"/>
          </p:cNvCxnSpPr>
          <p:nvPr/>
        </p:nvCxnSpPr>
        <p:spPr bwMode="auto">
          <a:xfrm flipH="1">
            <a:off x="2381043" y="4967792"/>
            <a:ext cx="1325078" cy="2422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4" name="TextBox 13">
            <a:extLst>
              <a:ext uri="{FF2B5EF4-FFF2-40B4-BE49-F238E27FC236}">
                <a16:creationId xmlns:a16="http://schemas.microsoft.com/office/drawing/2014/main" id="{5CC68C4B-D1E8-4726-915A-7684E8091A80}"/>
              </a:ext>
            </a:extLst>
          </p:cNvPr>
          <p:cNvSpPr txBox="1"/>
          <p:nvPr/>
        </p:nvSpPr>
        <p:spPr>
          <a:xfrm>
            <a:off x="1211077" y="3149679"/>
            <a:ext cx="6690037" cy="913070"/>
          </a:xfrm>
          <a:prstGeom prst="rect">
            <a:avLst/>
          </a:prstGeom>
          <a:noFill/>
        </p:spPr>
        <p:txBody>
          <a:bodyPr wrap="none" rtlCol="0">
            <a:spAutoFit/>
          </a:bodyPr>
          <a:lstStyle/>
          <a:p>
            <a:r>
              <a:rPr lang="el-GR" sz="3200" dirty="0">
                <a:solidFill>
                  <a:srgbClr val="0000FF"/>
                </a:solidFill>
              </a:rPr>
              <a:t>σ</a:t>
            </a:r>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r>
              <a:rPr lang="en-US" sz="3200" baseline="-25000" dirty="0">
                <a:latin typeface="Calibri" panose="020F0502020204030204" pitchFamily="34" charset="0"/>
              </a:rPr>
              <a:t> AND </a:t>
            </a:r>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r>
              <a:rPr lang="en-US" sz="3200" baseline="-25000" dirty="0">
                <a:latin typeface="Calibri" panose="020F0502020204030204" pitchFamily="34" charset="0"/>
              </a:rPr>
              <a:t> AND </a:t>
            </a:r>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r>
              <a:rPr lang="en-US" sz="3200" baseline="-25000" dirty="0">
                <a:latin typeface="Calibri" panose="020F0502020204030204" pitchFamily="34" charset="0"/>
              </a:rPr>
              <a:t> </a:t>
            </a:r>
            <a:br>
              <a:rPr lang="en-US" sz="3200" baseline="-25000" dirty="0">
                <a:latin typeface="Calibri" panose="020F0502020204030204" pitchFamily="34" charset="0"/>
              </a:rPr>
            </a:br>
            <a:r>
              <a:rPr lang="en-US" sz="3200" baseline="-25000" dirty="0">
                <a:latin typeface="Calibri" panose="020F0502020204030204" pitchFamily="34" charset="0"/>
              </a:rPr>
              <a:t>	AND </a:t>
            </a:r>
            <a:r>
              <a:rPr lang="en-US" sz="3200" baseline="-25000" dirty="0" err="1">
                <a:latin typeface="Calibri" panose="020F0502020204030204" pitchFamily="34" charset="0"/>
              </a:rPr>
              <a:t>P.city</a:t>
            </a:r>
            <a:r>
              <a:rPr lang="en-US" sz="3200" baseline="-25000" dirty="0">
                <a:latin typeface="Calibri" panose="020F0502020204030204" pitchFamily="34" charset="0"/>
              </a:rPr>
              <a:t> = ‘Singapore’ AND </a:t>
            </a:r>
            <a:r>
              <a:rPr lang="en-US" sz="3200" baseline="-25000" dirty="0" err="1">
                <a:latin typeface="Calibri" panose="020F0502020204030204" pitchFamily="34" charset="0"/>
              </a:rPr>
              <a:t>C.country</a:t>
            </a:r>
            <a:r>
              <a:rPr lang="en-US" sz="3200" baseline="-25000" dirty="0">
                <a:latin typeface="Calibri" panose="020F0502020204030204" pitchFamily="34" charset="0"/>
              </a:rPr>
              <a:t> = ‘US’</a:t>
            </a:r>
            <a:endParaRPr lang="en-SG" sz="3200" baseline="-25000" dirty="0">
              <a:latin typeface="Calibri" panose="020F0502020204030204" pitchFamily="34" charset="0"/>
            </a:endParaRPr>
          </a:p>
        </p:txBody>
      </p:sp>
      <p:cxnSp>
        <p:nvCxnSpPr>
          <p:cNvPr id="15" name="Straight Connector 14">
            <a:extLst>
              <a:ext uri="{FF2B5EF4-FFF2-40B4-BE49-F238E27FC236}">
                <a16:creationId xmlns:a16="http://schemas.microsoft.com/office/drawing/2014/main" id="{E26DB55A-50C5-42D2-B43B-66AFE0313330}"/>
              </a:ext>
            </a:extLst>
          </p:cNvPr>
          <p:cNvCxnSpPr>
            <a:stCxn id="12" idx="3"/>
            <a:endCxn id="10" idx="0"/>
          </p:cNvCxnSpPr>
          <p:nvPr/>
        </p:nvCxnSpPr>
        <p:spPr bwMode="auto">
          <a:xfrm>
            <a:off x="4076735" y="4967792"/>
            <a:ext cx="1708291" cy="67429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15FE9DC4-6113-4B1E-9D76-B6D72746E457}"/>
              </a:ext>
            </a:extLst>
          </p:cNvPr>
          <p:cNvCxnSpPr>
            <a:stCxn id="20" idx="3"/>
            <a:endCxn id="11" idx="0"/>
          </p:cNvCxnSpPr>
          <p:nvPr/>
        </p:nvCxnSpPr>
        <p:spPr bwMode="auto">
          <a:xfrm>
            <a:off x="5729878" y="4482698"/>
            <a:ext cx="2268639" cy="1159386"/>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1DB98B21-1CFD-40F0-9653-AE357F325E94}"/>
              </a:ext>
            </a:extLst>
          </p:cNvPr>
          <p:cNvCxnSpPr>
            <a:stCxn id="20" idx="1"/>
            <a:endCxn id="12" idx="0"/>
          </p:cNvCxnSpPr>
          <p:nvPr/>
        </p:nvCxnSpPr>
        <p:spPr bwMode="auto">
          <a:xfrm flipH="1">
            <a:off x="3891428" y="4482698"/>
            <a:ext cx="1467836" cy="2234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8" name="TextBox 17">
            <a:extLst>
              <a:ext uri="{FF2B5EF4-FFF2-40B4-BE49-F238E27FC236}">
                <a16:creationId xmlns:a16="http://schemas.microsoft.com/office/drawing/2014/main" id="{78DFD0F8-EF7B-4BD2-BABD-B2B5F43597B5}"/>
              </a:ext>
            </a:extLst>
          </p:cNvPr>
          <p:cNvSpPr txBox="1"/>
          <p:nvPr/>
        </p:nvSpPr>
        <p:spPr>
          <a:xfrm>
            <a:off x="4855820" y="2420888"/>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9" name="Straight Connector 18">
            <a:extLst>
              <a:ext uri="{FF2B5EF4-FFF2-40B4-BE49-F238E27FC236}">
                <a16:creationId xmlns:a16="http://schemas.microsoft.com/office/drawing/2014/main" id="{BAA2481F-B005-4579-8B09-86851E33332C}"/>
              </a:ext>
            </a:extLst>
          </p:cNvPr>
          <p:cNvCxnSpPr/>
          <p:nvPr/>
        </p:nvCxnSpPr>
        <p:spPr bwMode="auto">
          <a:xfrm>
            <a:off x="5565111" y="3010019"/>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0" name="TextBox 19">
            <a:extLst>
              <a:ext uri="{FF2B5EF4-FFF2-40B4-BE49-F238E27FC236}">
                <a16:creationId xmlns:a16="http://schemas.microsoft.com/office/drawing/2014/main" id="{F1D4B168-2C4B-41E1-A8EC-33A7BFA8C6D9}"/>
              </a:ext>
            </a:extLst>
          </p:cNvPr>
          <p:cNvSpPr txBox="1"/>
          <p:nvPr/>
        </p:nvSpPr>
        <p:spPr>
          <a:xfrm>
            <a:off x="5359264" y="4221088"/>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baseline="-25000" dirty="0">
              <a:latin typeface="Calibri" panose="020F0502020204030204" pitchFamily="34" charset="0"/>
            </a:endParaRPr>
          </a:p>
        </p:txBody>
      </p:sp>
      <p:cxnSp>
        <p:nvCxnSpPr>
          <p:cNvPr id="21" name="Straight Connector 20">
            <a:extLst>
              <a:ext uri="{FF2B5EF4-FFF2-40B4-BE49-F238E27FC236}">
                <a16:creationId xmlns:a16="http://schemas.microsoft.com/office/drawing/2014/main" id="{6AC9D628-1ECA-4D71-89BF-D3D347634680}"/>
              </a:ext>
            </a:extLst>
          </p:cNvPr>
          <p:cNvCxnSpPr/>
          <p:nvPr/>
        </p:nvCxnSpPr>
        <p:spPr bwMode="auto">
          <a:xfrm>
            <a:off x="5581440" y="4062749"/>
            <a:ext cx="0" cy="188049"/>
          </a:xfrm>
          <a:prstGeom prst="line">
            <a:avLst/>
          </a:prstGeom>
          <a:solidFill>
            <a:schemeClr val="accent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4768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P spid="11" grpId="0"/>
      <p:bldP spid="12" grpId="0"/>
      <p:bldP spid="14" grpId="0"/>
      <p:bldP spid="18" grpId="0"/>
      <p:bldP spid="2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Then gradually improves it</a:t>
            </a:r>
          </a:p>
        </p:txBody>
      </p:sp>
      <p:sp>
        <p:nvSpPr>
          <p:cNvPr id="3" name="Content Placeholder 2"/>
          <p:cNvSpPr>
            <a:spLocks noGrp="1"/>
          </p:cNvSpPr>
          <p:nvPr>
            <p:ph idx="1"/>
          </p:nvPr>
        </p:nvSpPr>
        <p:spPr>
          <a:xfrm>
            <a:off x="457200" y="1124746"/>
            <a:ext cx="8229600" cy="913070"/>
          </a:xfrm>
        </p:spPr>
        <p:txBody>
          <a:bodyPr>
            <a:normAutofit fontScale="92500" lnSpcReduction="20000"/>
          </a:bodyPr>
          <a:lstStyle/>
          <a:p>
            <a:r>
              <a:rPr lang="en-US" dirty="0"/>
              <a:t>Improvement 1: Push selections down as far as possible</a:t>
            </a:r>
            <a:endParaRPr lang="en-SG" dirty="0"/>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sp>
        <p:nvSpPr>
          <p:cNvPr id="6" name="TextBox 5"/>
          <p:cNvSpPr txBox="1"/>
          <p:nvPr/>
        </p:nvSpPr>
        <p:spPr>
          <a:xfrm>
            <a:off x="2195736" y="5210036"/>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dirty="0">
              <a:solidFill>
                <a:srgbClr val="0000FF"/>
              </a:solidFill>
              <a:latin typeface="Calibri" panose="020F0502020204030204" pitchFamily="34" charset="0"/>
            </a:endParaRPr>
          </a:p>
        </p:txBody>
      </p:sp>
      <p:cxnSp>
        <p:nvCxnSpPr>
          <p:cNvPr id="7" name="Straight Connector 6"/>
          <p:cNvCxnSpPr>
            <a:stCxn id="6" idx="1"/>
            <a:endCxn id="4" idx="0"/>
          </p:cNvCxnSpPr>
          <p:nvPr/>
        </p:nvCxnSpPr>
        <p:spPr bwMode="auto">
          <a:xfrm flipH="1">
            <a:off x="1191204" y="5471646"/>
            <a:ext cx="1004532" cy="17043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a:stCxn id="6" idx="3"/>
            <a:endCxn id="5" idx="0"/>
          </p:cNvCxnSpPr>
          <p:nvPr/>
        </p:nvCxnSpPr>
        <p:spPr bwMode="auto">
          <a:xfrm>
            <a:off x="2566350" y="5471646"/>
            <a:ext cx="939142" cy="17043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sp>
        <p:nvSpPr>
          <p:cNvPr id="11" name="TextBox 10"/>
          <p:cNvSpPr txBox="1"/>
          <p:nvPr/>
        </p:nvSpPr>
        <p:spPr>
          <a:xfrm>
            <a:off x="3706121" y="4706182"/>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baseline="-25000" dirty="0">
              <a:latin typeface="Calibri" panose="020F0502020204030204" pitchFamily="34" charset="0"/>
            </a:endParaRPr>
          </a:p>
        </p:txBody>
      </p:sp>
      <p:cxnSp>
        <p:nvCxnSpPr>
          <p:cNvPr id="12" name="Straight Connector 11"/>
          <p:cNvCxnSpPr>
            <a:stCxn id="11" idx="1"/>
            <a:endCxn id="6" idx="0"/>
          </p:cNvCxnSpPr>
          <p:nvPr/>
        </p:nvCxnSpPr>
        <p:spPr bwMode="auto">
          <a:xfrm flipH="1">
            <a:off x="2381043" y="4967792"/>
            <a:ext cx="1325078" cy="2422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TextBox 12"/>
          <p:cNvSpPr txBox="1"/>
          <p:nvPr/>
        </p:nvSpPr>
        <p:spPr>
          <a:xfrm>
            <a:off x="1211077" y="3149679"/>
            <a:ext cx="6690037" cy="913070"/>
          </a:xfrm>
          <a:prstGeom prst="rect">
            <a:avLst/>
          </a:prstGeom>
          <a:noFill/>
        </p:spPr>
        <p:txBody>
          <a:bodyPr wrap="none" rtlCol="0">
            <a:spAutoFit/>
          </a:bodyPr>
          <a:lstStyle/>
          <a:p>
            <a:r>
              <a:rPr lang="el-GR" sz="3200" dirty="0">
                <a:solidFill>
                  <a:srgbClr val="0000FF"/>
                </a:solidFill>
              </a:rPr>
              <a:t>σ</a:t>
            </a:r>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r>
              <a:rPr lang="en-US" sz="3200" baseline="-25000" dirty="0">
                <a:latin typeface="Calibri" panose="020F0502020204030204" pitchFamily="34" charset="0"/>
              </a:rPr>
              <a:t> AND </a:t>
            </a:r>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r>
              <a:rPr lang="en-US" sz="3200" baseline="-25000" dirty="0">
                <a:latin typeface="Calibri" panose="020F0502020204030204" pitchFamily="34" charset="0"/>
              </a:rPr>
              <a:t> AND </a:t>
            </a:r>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r>
              <a:rPr lang="en-US" sz="3200" baseline="-25000" dirty="0">
                <a:latin typeface="Calibri" panose="020F0502020204030204" pitchFamily="34" charset="0"/>
              </a:rPr>
              <a:t> </a:t>
            </a:r>
            <a:br>
              <a:rPr lang="en-US" sz="3200" baseline="-25000" dirty="0">
                <a:latin typeface="Calibri" panose="020F0502020204030204" pitchFamily="34" charset="0"/>
              </a:rPr>
            </a:br>
            <a:r>
              <a:rPr lang="en-US" sz="3200" baseline="-25000" dirty="0">
                <a:latin typeface="Calibri" panose="020F0502020204030204" pitchFamily="34" charset="0"/>
              </a:rPr>
              <a:t>	AND </a:t>
            </a:r>
            <a:r>
              <a:rPr lang="en-US" sz="3200" baseline="-25000" dirty="0" err="1">
                <a:latin typeface="Calibri" panose="020F0502020204030204" pitchFamily="34" charset="0"/>
              </a:rPr>
              <a:t>P.city</a:t>
            </a:r>
            <a:r>
              <a:rPr lang="en-US" sz="3200" baseline="-25000" dirty="0">
                <a:latin typeface="Calibri" panose="020F0502020204030204" pitchFamily="34" charset="0"/>
              </a:rPr>
              <a:t> = ‘Singapore’ AND </a:t>
            </a:r>
            <a:r>
              <a:rPr lang="en-US" sz="3200" baseline="-25000" dirty="0" err="1">
                <a:latin typeface="Calibri" panose="020F0502020204030204" pitchFamily="34" charset="0"/>
              </a:rPr>
              <a:t>C.country</a:t>
            </a:r>
            <a:r>
              <a:rPr lang="en-US" sz="3200" baseline="-25000" dirty="0">
                <a:latin typeface="Calibri" panose="020F0502020204030204" pitchFamily="34" charset="0"/>
              </a:rPr>
              <a:t> = ‘US’</a:t>
            </a:r>
            <a:endParaRPr lang="en-SG" sz="3200" baseline="-25000" dirty="0">
              <a:latin typeface="Calibri" panose="020F0502020204030204" pitchFamily="34" charset="0"/>
            </a:endParaRPr>
          </a:p>
        </p:txBody>
      </p:sp>
      <p:cxnSp>
        <p:nvCxnSpPr>
          <p:cNvPr id="14" name="Straight Connector 13"/>
          <p:cNvCxnSpPr>
            <a:stCxn id="11" idx="3"/>
            <a:endCxn id="9" idx="0"/>
          </p:cNvCxnSpPr>
          <p:nvPr/>
        </p:nvCxnSpPr>
        <p:spPr bwMode="auto">
          <a:xfrm>
            <a:off x="4076735" y="4967792"/>
            <a:ext cx="1708291" cy="67429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a:stCxn id="19" idx="3"/>
            <a:endCxn id="10" idx="0"/>
          </p:cNvCxnSpPr>
          <p:nvPr/>
        </p:nvCxnSpPr>
        <p:spPr bwMode="auto">
          <a:xfrm>
            <a:off x="5729878" y="4482698"/>
            <a:ext cx="2268639" cy="1159386"/>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a:stCxn id="19" idx="1"/>
            <a:endCxn id="11" idx="0"/>
          </p:cNvCxnSpPr>
          <p:nvPr/>
        </p:nvCxnSpPr>
        <p:spPr bwMode="auto">
          <a:xfrm flipH="1">
            <a:off x="3891428" y="4482698"/>
            <a:ext cx="1467836" cy="2234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2420888"/>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3010019"/>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9" name="TextBox 18"/>
          <p:cNvSpPr txBox="1"/>
          <p:nvPr/>
        </p:nvSpPr>
        <p:spPr>
          <a:xfrm>
            <a:off x="5359264" y="4221088"/>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baseline="-25000" dirty="0">
              <a:latin typeface="Calibri" panose="020F0502020204030204" pitchFamily="34" charset="0"/>
            </a:endParaRPr>
          </a:p>
        </p:txBody>
      </p:sp>
      <p:cxnSp>
        <p:nvCxnSpPr>
          <p:cNvPr id="20" name="Straight Connector 19"/>
          <p:cNvCxnSpPr/>
          <p:nvPr/>
        </p:nvCxnSpPr>
        <p:spPr bwMode="auto">
          <a:xfrm>
            <a:off x="5581440" y="4062749"/>
            <a:ext cx="0" cy="188049"/>
          </a:xfrm>
          <a:prstGeom prst="line">
            <a:avLst/>
          </a:prstGeom>
          <a:solidFill>
            <a:schemeClr val="accent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78810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Then gradually improves it</a:t>
            </a:r>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sp>
        <p:nvSpPr>
          <p:cNvPr id="6" name="TextBox 5"/>
          <p:cNvSpPr txBox="1"/>
          <p:nvPr/>
        </p:nvSpPr>
        <p:spPr>
          <a:xfrm>
            <a:off x="2195736" y="5210036"/>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dirty="0">
              <a:solidFill>
                <a:srgbClr val="0000FF"/>
              </a:solidFill>
              <a:latin typeface="Calibri" panose="020F0502020204030204" pitchFamily="34" charset="0"/>
            </a:endParaRPr>
          </a:p>
        </p:txBody>
      </p:sp>
      <p:cxnSp>
        <p:nvCxnSpPr>
          <p:cNvPr id="7" name="Straight Connector 6"/>
          <p:cNvCxnSpPr>
            <a:stCxn id="6" idx="1"/>
            <a:endCxn id="4" idx="0"/>
          </p:cNvCxnSpPr>
          <p:nvPr/>
        </p:nvCxnSpPr>
        <p:spPr bwMode="auto">
          <a:xfrm flipH="1">
            <a:off x="1191204" y="5471646"/>
            <a:ext cx="1004532" cy="17043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a:stCxn id="6" idx="3"/>
            <a:endCxn id="5" idx="0"/>
          </p:cNvCxnSpPr>
          <p:nvPr/>
        </p:nvCxnSpPr>
        <p:spPr bwMode="auto">
          <a:xfrm>
            <a:off x="2566350" y="5471646"/>
            <a:ext cx="939142" cy="17043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sp>
        <p:nvSpPr>
          <p:cNvPr id="11" name="TextBox 10"/>
          <p:cNvSpPr txBox="1"/>
          <p:nvPr/>
        </p:nvSpPr>
        <p:spPr>
          <a:xfrm>
            <a:off x="3706121" y="4706182"/>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baseline="-25000" dirty="0">
              <a:latin typeface="Calibri" panose="020F0502020204030204" pitchFamily="34" charset="0"/>
            </a:endParaRPr>
          </a:p>
        </p:txBody>
      </p:sp>
      <p:cxnSp>
        <p:nvCxnSpPr>
          <p:cNvPr id="12" name="Straight Connector 11"/>
          <p:cNvCxnSpPr>
            <a:stCxn id="11" idx="1"/>
            <a:endCxn id="6" idx="0"/>
          </p:cNvCxnSpPr>
          <p:nvPr/>
        </p:nvCxnSpPr>
        <p:spPr bwMode="auto">
          <a:xfrm flipH="1">
            <a:off x="2381043" y="4967792"/>
            <a:ext cx="1325078" cy="2422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TextBox 12"/>
          <p:cNvSpPr txBox="1"/>
          <p:nvPr/>
        </p:nvSpPr>
        <p:spPr>
          <a:xfrm>
            <a:off x="1211077" y="3149679"/>
            <a:ext cx="6667723" cy="913070"/>
          </a:xfrm>
          <a:prstGeom prst="rect">
            <a:avLst/>
          </a:prstGeom>
          <a:noFill/>
        </p:spPr>
        <p:txBody>
          <a:bodyPr wrap="none" rtlCol="0">
            <a:spAutoFit/>
          </a:bodyPr>
          <a:lstStyle/>
          <a:p>
            <a:r>
              <a:rPr lang="el-GR" sz="3200" dirty="0">
                <a:solidFill>
                  <a:srgbClr val="0000FF"/>
                </a:solidFill>
              </a:rPr>
              <a:t>σ</a:t>
            </a:r>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r>
              <a:rPr lang="en-US" sz="3200" baseline="-25000" dirty="0">
                <a:latin typeface="Calibri" panose="020F0502020204030204" pitchFamily="34" charset="0"/>
              </a:rPr>
              <a:t> AND </a:t>
            </a:r>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r>
              <a:rPr lang="en-US" sz="3200" baseline="-25000" dirty="0">
                <a:latin typeface="Calibri" panose="020F0502020204030204" pitchFamily="34" charset="0"/>
              </a:rPr>
              <a:t> AND </a:t>
            </a:r>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r>
              <a:rPr lang="en-US" sz="3200" baseline="-25000" dirty="0">
                <a:latin typeface="Calibri" panose="020F0502020204030204" pitchFamily="34" charset="0"/>
              </a:rPr>
              <a:t> </a:t>
            </a:r>
            <a:br>
              <a:rPr lang="en-US" sz="3200" baseline="-25000" dirty="0">
                <a:latin typeface="Calibri" panose="020F0502020204030204" pitchFamily="34" charset="0"/>
              </a:rPr>
            </a:br>
            <a:r>
              <a:rPr lang="en-US" sz="3200" baseline="-25000" dirty="0">
                <a:latin typeface="Calibri" panose="020F0502020204030204" pitchFamily="34" charset="0"/>
              </a:rPr>
              <a:t>	AND </a:t>
            </a:r>
            <a:r>
              <a:rPr lang="en-US" sz="3200" baseline="-25000" dirty="0" err="1">
                <a:latin typeface="Calibri" panose="020F0502020204030204" pitchFamily="34" charset="0"/>
              </a:rPr>
              <a:t>P.city</a:t>
            </a:r>
            <a:r>
              <a:rPr lang="en-US" sz="3200" baseline="-25000" dirty="0">
                <a:latin typeface="Calibri" panose="020F0502020204030204" pitchFamily="34" charset="0"/>
              </a:rPr>
              <a:t> = ‘Singapore’</a:t>
            </a:r>
            <a:endParaRPr lang="en-SG" sz="3200" baseline="-25000" dirty="0">
              <a:latin typeface="Calibri" panose="020F0502020204030204" pitchFamily="34" charset="0"/>
            </a:endParaRPr>
          </a:p>
        </p:txBody>
      </p:sp>
      <p:cxnSp>
        <p:nvCxnSpPr>
          <p:cNvPr id="14" name="Straight Connector 13"/>
          <p:cNvCxnSpPr>
            <a:stCxn id="11" idx="3"/>
            <a:endCxn id="9" idx="0"/>
          </p:cNvCxnSpPr>
          <p:nvPr/>
        </p:nvCxnSpPr>
        <p:spPr bwMode="auto">
          <a:xfrm>
            <a:off x="4076735" y="4967792"/>
            <a:ext cx="1708291" cy="67429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a:stCxn id="19" idx="3"/>
            <a:endCxn id="21" idx="0"/>
          </p:cNvCxnSpPr>
          <p:nvPr/>
        </p:nvCxnSpPr>
        <p:spPr bwMode="auto">
          <a:xfrm>
            <a:off x="5729878" y="4482698"/>
            <a:ext cx="2234076" cy="31445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a:stCxn id="19" idx="1"/>
            <a:endCxn id="11" idx="0"/>
          </p:cNvCxnSpPr>
          <p:nvPr/>
        </p:nvCxnSpPr>
        <p:spPr bwMode="auto">
          <a:xfrm flipH="1">
            <a:off x="3891428" y="4482698"/>
            <a:ext cx="1467836" cy="2234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2420888"/>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3010019"/>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9" name="TextBox 18"/>
          <p:cNvSpPr txBox="1"/>
          <p:nvPr/>
        </p:nvSpPr>
        <p:spPr>
          <a:xfrm>
            <a:off x="5359264" y="4221088"/>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baseline="-25000" dirty="0">
              <a:latin typeface="Calibri" panose="020F0502020204030204" pitchFamily="34" charset="0"/>
            </a:endParaRPr>
          </a:p>
        </p:txBody>
      </p:sp>
      <p:cxnSp>
        <p:nvCxnSpPr>
          <p:cNvPr id="20" name="Straight Connector 19"/>
          <p:cNvCxnSpPr/>
          <p:nvPr/>
        </p:nvCxnSpPr>
        <p:spPr bwMode="auto">
          <a:xfrm>
            <a:off x="5581440" y="4062749"/>
            <a:ext cx="0" cy="188049"/>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5" name="Content Placeholder 2">
            <a:extLst>
              <a:ext uri="{FF2B5EF4-FFF2-40B4-BE49-F238E27FC236}">
                <a16:creationId xmlns:a16="http://schemas.microsoft.com/office/drawing/2014/main" id="{EA714D0E-6120-47B3-B7CA-D4840915B510}"/>
              </a:ext>
            </a:extLst>
          </p:cNvPr>
          <p:cNvSpPr>
            <a:spLocks noGrp="1"/>
          </p:cNvSpPr>
          <p:nvPr>
            <p:ph idx="1"/>
          </p:nvPr>
        </p:nvSpPr>
        <p:spPr>
          <a:xfrm>
            <a:off x="457200" y="1124746"/>
            <a:ext cx="8229600" cy="913070"/>
          </a:xfrm>
        </p:spPr>
        <p:txBody>
          <a:bodyPr>
            <a:normAutofit fontScale="92500" lnSpcReduction="20000"/>
          </a:bodyPr>
          <a:lstStyle/>
          <a:p>
            <a:r>
              <a:rPr lang="en-US" dirty="0"/>
              <a:t>Improvement 1: Push selections down as far as possible</a:t>
            </a:r>
            <a:endParaRPr lang="en-SG" dirty="0"/>
          </a:p>
        </p:txBody>
      </p:sp>
    </p:spTree>
    <p:extLst>
      <p:ext uri="{BB962C8B-B14F-4D97-AF65-F5344CB8AC3E}">
        <p14:creationId xmlns:p14="http://schemas.microsoft.com/office/powerpoint/2010/main" val="31547553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sp>
        <p:nvSpPr>
          <p:cNvPr id="6" name="TextBox 5"/>
          <p:cNvSpPr txBox="1"/>
          <p:nvPr/>
        </p:nvSpPr>
        <p:spPr>
          <a:xfrm>
            <a:off x="2399456" y="4797152"/>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dirty="0">
              <a:solidFill>
                <a:srgbClr val="0000FF"/>
              </a:solidFill>
              <a:latin typeface="Calibri" panose="020F0502020204030204" pitchFamily="34" charset="0"/>
            </a:endParaRPr>
          </a:p>
        </p:txBody>
      </p:sp>
      <p:cxnSp>
        <p:nvCxnSpPr>
          <p:cNvPr id="7" name="Straight Connector 6"/>
          <p:cNvCxnSpPr>
            <a:stCxn id="6" idx="1"/>
          </p:cNvCxnSpPr>
          <p:nvPr/>
        </p:nvCxnSpPr>
        <p:spPr bwMode="auto">
          <a:xfrm flipH="1">
            <a:off x="1763688" y="5058762"/>
            <a:ext cx="635768"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a:stCxn id="6" idx="3"/>
            <a:endCxn id="5" idx="0"/>
          </p:cNvCxnSpPr>
          <p:nvPr/>
        </p:nvCxnSpPr>
        <p:spPr bwMode="auto">
          <a:xfrm>
            <a:off x="2770070" y="5058762"/>
            <a:ext cx="735422" cy="583322"/>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sp>
        <p:nvSpPr>
          <p:cNvPr id="11" name="TextBox 10"/>
          <p:cNvSpPr txBox="1"/>
          <p:nvPr/>
        </p:nvSpPr>
        <p:spPr>
          <a:xfrm>
            <a:off x="3706121" y="4365104"/>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baseline="-25000" dirty="0">
              <a:latin typeface="Calibri" panose="020F0502020204030204" pitchFamily="34" charset="0"/>
            </a:endParaRPr>
          </a:p>
        </p:txBody>
      </p:sp>
      <p:cxnSp>
        <p:nvCxnSpPr>
          <p:cNvPr id="12" name="Straight Connector 11"/>
          <p:cNvCxnSpPr>
            <a:stCxn id="11" idx="1"/>
            <a:endCxn id="6" idx="0"/>
          </p:cNvCxnSpPr>
          <p:nvPr/>
        </p:nvCxnSpPr>
        <p:spPr bwMode="auto">
          <a:xfrm flipH="1">
            <a:off x="2584763" y="4626714"/>
            <a:ext cx="1121358" cy="17043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TextBox 12"/>
          <p:cNvSpPr txBox="1"/>
          <p:nvPr/>
        </p:nvSpPr>
        <p:spPr>
          <a:xfrm>
            <a:off x="1211077" y="3149679"/>
            <a:ext cx="6667723" cy="913070"/>
          </a:xfrm>
          <a:prstGeom prst="rect">
            <a:avLst/>
          </a:prstGeom>
          <a:noFill/>
        </p:spPr>
        <p:txBody>
          <a:bodyPr wrap="none" rtlCol="0">
            <a:spAutoFit/>
          </a:bodyPr>
          <a:lstStyle/>
          <a:p>
            <a:r>
              <a:rPr lang="el-GR" sz="3200" dirty="0">
                <a:solidFill>
                  <a:srgbClr val="0000FF"/>
                </a:solidFill>
              </a:rPr>
              <a:t>σ</a:t>
            </a:r>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r>
              <a:rPr lang="en-US" sz="3200" baseline="-25000" dirty="0">
                <a:latin typeface="Calibri" panose="020F0502020204030204" pitchFamily="34" charset="0"/>
              </a:rPr>
              <a:t> AND </a:t>
            </a:r>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r>
              <a:rPr lang="en-US" sz="3200" baseline="-25000" dirty="0">
                <a:latin typeface="Calibri" panose="020F0502020204030204" pitchFamily="34" charset="0"/>
              </a:rPr>
              <a:t> AND </a:t>
            </a:r>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r>
              <a:rPr lang="en-US" sz="3200" baseline="-25000" dirty="0">
                <a:latin typeface="Calibri" panose="020F0502020204030204" pitchFamily="34" charset="0"/>
              </a:rPr>
              <a:t> </a:t>
            </a:r>
            <a:br>
              <a:rPr lang="en-US" sz="3200" baseline="-25000" dirty="0">
                <a:latin typeface="Calibri" panose="020F0502020204030204" pitchFamily="34" charset="0"/>
              </a:rPr>
            </a:br>
            <a:r>
              <a:rPr lang="en-US" sz="3200" baseline="-25000" dirty="0">
                <a:latin typeface="Calibri" panose="020F0502020204030204" pitchFamily="34" charset="0"/>
              </a:rPr>
              <a:t>	</a:t>
            </a:r>
            <a:endParaRPr lang="en-SG" sz="3200" baseline="-25000" dirty="0">
              <a:latin typeface="Calibri" panose="020F0502020204030204" pitchFamily="34" charset="0"/>
            </a:endParaRPr>
          </a:p>
        </p:txBody>
      </p:sp>
      <p:cxnSp>
        <p:nvCxnSpPr>
          <p:cNvPr id="14" name="Straight Connector 13"/>
          <p:cNvCxnSpPr>
            <a:stCxn id="11" idx="3"/>
            <a:endCxn id="9" idx="0"/>
          </p:cNvCxnSpPr>
          <p:nvPr/>
        </p:nvCxnSpPr>
        <p:spPr bwMode="auto">
          <a:xfrm>
            <a:off x="4076735" y="4626714"/>
            <a:ext cx="1708291" cy="101537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a:stCxn id="19" idx="3"/>
            <a:endCxn id="21" idx="0"/>
          </p:cNvCxnSpPr>
          <p:nvPr/>
        </p:nvCxnSpPr>
        <p:spPr bwMode="auto">
          <a:xfrm>
            <a:off x="5729878" y="4266674"/>
            <a:ext cx="2234076" cy="53047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a:stCxn id="19" idx="1"/>
            <a:endCxn id="11" idx="0"/>
          </p:cNvCxnSpPr>
          <p:nvPr/>
        </p:nvCxnSpPr>
        <p:spPr bwMode="auto">
          <a:xfrm flipH="1">
            <a:off x="3891428" y="4266674"/>
            <a:ext cx="1467836" cy="9843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2420888"/>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3010019"/>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9" name="TextBox 18"/>
          <p:cNvSpPr txBox="1"/>
          <p:nvPr/>
        </p:nvSpPr>
        <p:spPr>
          <a:xfrm>
            <a:off x="5359264" y="4005064"/>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baseline="-25000" dirty="0">
              <a:latin typeface="Calibri" panose="020F0502020204030204" pitchFamily="34" charset="0"/>
            </a:endParaRPr>
          </a:p>
        </p:txBody>
      </p:sp>
      <p:cxnSp>
        <p:nvCxnSpPr>
          <p:cNvPr id="20" name="Straight Connector 19"/>
          <p:cNvCxnSpPr/>
          <p:nvPr/>
        </p:nvCxnSpPr>
        <p:spPr bwMode="auto">
          <a:xfrm>
            <a:off x="5581440" y="3717032"/>
            <a:ext cx="0" cy="332065"/>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9" name="Title 1">
            <a:extLst>
              <a:ext uri="{FF2B5EF4-FFF2-40B4-BE49-F238E27FC236}">
                <a16:creationId xmlns:a16="http://schemas.microsoft.com/office/drawing/2014/main" id="{69D41731-29AB-4CCE-97E0-F68B4CE314B3}"/>
              </a:ext>
            </a:extLst>
          </p:cNvPr>
          <p:cNvSpPr>
            <a:spLocks noGrp="1"/>
          </p:cNvSpPr>
          <p:nvPr>
            <p:ph type="title"/>
          </p:nvPr>
        </p:nvSpPr>
        <p:spPr>
          <a:xfrm>
            <a:off x="457200" y="277813"/>
            <a:ext cx="8229600" cy="1139825"/>
          </a:xfrm>
        </p:spPr>
        <p:txBody>
          <a:bodyPr/>
          <a:lstStyle/>
          <a:p>
            <a:r>
              <a:rPr lang="en-SG" dirty="0"/>
              <a:t>Then gradually improves it</a:t>
            </a:r>
          </a:p>
        </p:txBody>
      </p:sp>
      <p:sp>
        <p:nvSpPr>
          <p:cNvPr id="30" name="Content Placeholder 2">
            <a:extLst>
              <a:ext uri="{FF2B5EF4-FFF2-40B4-BE49-F238E27FC236}">
                <a16:creationId xmlns:a16="http://schemas.microsoft.com/office/drawing/2014/main" id="{8357F2F3-7FD0-463D-82E3-4B063C9AD0EC}"/>
              </a:ext>
            </a:extLst>
          </p:cNvPr>
          <p:cNvSpPr>
            <a:spLocks noGrp="1"/>
          </p:cNvSpPr>
          <p:nvPr>
            <p:ph idx="1"/>
          </p:nvPr>
        </p:nvSpPr>
        <p:spPr>
          <a:xfrm>
            <a:off x="457200" y="1124746"/>
            <a:ext cx="8229600" cy="913070"/>
          </a:xfrm>
        </p:spPr>
        <p:txBody>
          <a:bodyPr>
            <a:normAutofit fontScale="92500" lnSpcReduction="20000"/>
          </a:bodyPr>
          <a:lstStyle/>
          <a:p>
            <a:r>
              <a:rPr lang="en-US" dirty="0"/>
              <a:t>Improvement 1: Push selections down as far as possible</a:t>
            </a:r>
            <a:endParaRPr lang="en-SG" dirty="0"/>
          </a:p>
        </p:txBody>
      </p:sp>
    </p:spTree>
    <p:extLst>
      <p:ext uri="{BB962C8B-B14F-4D97-AF65-F5344CB8AC3E}">
        <p14:creationId xmlns:p14="http://schemas.microsoft.com/office/powerpoint/2010/main" val="7168726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2" name="Title 1"/>
          <p:cNvSpPr>
            <a:spLocks noGrp="1"/>
          </p:cNvSpPr>
          <p:nvPr>
            <p:ph type="title"/>
          </p:nvPr>
        </p:nvSpPr>
        <p:spPr/>
        <p:txBody>
          <a:bodyPr/>
          <a:lstStyle/>
          <a:p>
            <a:r>
              <a:rPr lang="en-SG" dirty="0"/>
              <a:t>Then gradually improves it</a:t>
            </a:r>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sp>
        <p:nvSpPr>
          <p:cNvPr id="6" name="TextBox 5"/>
          <p:cNvSpPr txBox="1"/>
          <p:nvPr/>
        </p:nvSpPr>
        <p:spPr>
          <a:xfrm>
            <a:off x="2399456" y="4797152"/>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dirty="0">
              <a:solidFill>
                <a:srgbClr val="0000FF"/>
              </a:solidFill>
              <a:latin typeface="Calibri" panose="020F0502020204030204" pitchFamily="34" charset="0"/>
            </a:endParaRPr>
          </a:p>
        </p:txBody>
      </p:sp>
      <p:cxnSp>
        <p:nvCxnSpPr>
          <p:cNvPr id="7" name="Straight Connector 6"/>
          <p:cNvCxnSpPr>
            <a:stCxn id="6" idx="1"/>
          </p:cNvCxnSpPr>
          <p:nvPr/>
        </p:nvCxnSpPr>
        <p:spPr bwMode="auto">
          <a:xfrm flipH="1">
            <a:off x="1763688" y="5058762"/>
            <a:ext cx="635768"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a:stCxn id="6" idx="3"/>
            <a:endCxn id="5" idx="0"/>
          </p:cNvCxnSpPr>
          <p:nvPr/>
        </p:nvCxnSpPr>
        <p:spPr bwMode="auto">
          <a:xfrm>
            <a:off x="2770070" y="5058762"/>
            <a:ext cx="735422" cy="583322"/>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sp>
        <p:nvSpPr>
          <p:cNvPr id="11" name="TextBox 10"/>
          <p:cNvSpPr txBox="1"/>
          <p:nvPr/>
        </p:nvSpPr>
        <p:spPr>
          <a:xfrm>
            <a:off x="3706121" y="4365104"/>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baseline="-25000" dirty="0">
              <a:latin typeface="Calibri" panose="020F0502020204030204" pitchFamily="34" charset="0"/>
            </a:endParaRPr>
          </a:p>
        </p:txBody>
      </p:sp>
      <p:cxnSp>
        <p:nvCxnSpPr>
          <p:cNvPr id="12" name="Straight Connector 11"/>
          <p:cNvCxnSpPr>
            <a:stCxn id="11" idx="1"/>
            <a:endCxn id="6" idx="0"/>
          </p:cNvCxnSpPr>
          <p:nvPr/>
        </p:nvCxnSpPr>
        <p:spPr bwMode="auto">
          <a:xfrm flipH="1">
            <a:off x="2584763" y="4626714"/>
            <a:ext cx="1121358" cy="17043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TextBox 12"/>
          <p:cNvSpPr txBox="1"/>
          <p:nvPr/>
        </p:nvSpPr>
        <p:spPr>
          <a:xfrm>
            <a:off x="3275856" y="2933655"/>
            <a:ext cx="4261359" cy="913070"/>
          </a:xfrm>
          <a:prstGeom prst="rect">
            <a:avLst/>
          </a:prstGeom>
          <a:noFill/>
        </p:spPr>
        <p:txBody>
          <a:bodyPr wrap="none" rtlCol="0">
            <a:spAutoFit/>
          </a:bodyPr>
          <a:lstStyle/>
          <a:p>
            <a:r>
              <a:rPr lang="el-GR" sz="3200" dirty="0">
                <a:solidFill>
                  <a:srgbClr val="0000FF"/>
                </a:solidFill>
              </a:rPr>
              <a:t>σ</a:t>
            </a:r>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r>
              <a:rPr lang="en-US" sz="3200" baseline="-25000" dirty="0">
                <a:latin typeface="Calibri" panose="020F0502020204030204" pitchFamily="34" charset="0"/>
              </a:rPr>
              <a:t> AND </a:t>
            </a:r>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r>
              <a:rPr lang="en-US" sz="3200" baseline="-25000" dirty="0">
                <a:latin typeface="Calibri" panose="020F0502020204030204" pitchFamily="34" charset="0"/>
              </a:rPr>
              <a:t/>
            </a:r>
            <a:br>
              <a:rPr lang="en-US" sz="3200" baseline="-25000" dirty="0">
                <a:latin typeface="Calibri" panose="020F0502020204030204" pitchFamily="34" charset="0"/>
              </a:rPr>
            </a:br>
            <a:r>
              <a:rPr lang="en-US" sz="3200" baseline="-25000" dirty="0">
                <a:latin typeface="Calibri" panose="020F0502020204030204" pitchFamily="34" charset="0"/>
              </a:rPr>
              <a:t>	</a:t>
            </a:r>
            <a:endParaRPr lang="en-SG" sz="3200" baseline="-25000" dirty="0">
              <a:latin typeface="Calibri" panose="020F0502020204030204" pitchFamily="34" charset="0"/>
            </a:endParaRPr>
          </a:p>
        </p:txBody>
      </p:sp>
      <p:cxnSp>
        <p:nvCxnSpPr>
          <p:cNvPr id="14" name="Straight Connector 13"/>
          <p:cNvCxnSpPr>
            <a:stCxn id="11" idx="3"/>
            <a:endCxn id="9" idx="0"/>
          </p:cNvCxnSpPr>
          <p:nvPr/>
        </p:nvCxnSpPr>
        <p:spPr bwMode="auto">
          <a:xfrm>
            <a:off x="4076735" y="4626714"/>
            <a:ext cx="1708291" cy="101537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a:endCxn id="21" idx="0"/>
          </p:cNvCxnSpPr>
          <p:nvPr/>
        </p:nvCxnSpPr>
        <p:spPr bwMode="auto">
          <a:xfrm>
            <a:off x="6516216" y="4137660"/>
            <a:ext cx="1447738" cy="65949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a:endCxn id="11" idx="0"/>
          </p:cNvCxnSpPr>
          <p:nvPr/>
        </p:nvCxnSpPr>
        <p:spPr bwMode="auto">
          <a:xfrm flipH="1">
            <a:off x="3891428" y="4137660"/>
            <a:ext cx="1129461" cy="2274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2204864"/>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2793995"/>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5581440" y="3501008"/>
            <a:ext cx="0" cy="332065"/>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7" name="TextBox 26"/>
          <p:cNvSpPr txBox="1"/>
          <p:nvPr/>
        </p:nvSpPr>
        <p:spPr>
          <a:xfrm>
            <a:off x="4819155" y="3717032"/>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28" name="Flowchart: Collate 27"/>
          <p:cNvSpPr/>
          <p:nvPr/>
        </p:nvSpPr>
        <p:spPr bwMode="auto">
          <a:xfrm rot="16200000">
            <a:off x="4503685" y="3761602"/>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9" name="Content Placeholder 2">
            <a:extLst>
              <a:ext uri="{FF2B5EF4-FFF2-40B4-BE49-F238E27FC236}">
                <a16:creationId xmlns:a16="http://schemas.microsoft.com/office/drawing/2014/main" id="{701C24F0-F074-4D17-A3BA-37D91F28904E}"/>
              </a:ext>
            </a:extLst>
          </p:cNvPr>
          <p:cNvSpPr>
            <a:spLocks noGrp="1"/>
          </p:cNvSpPr>
          <p:nvPr>
            <p:ph idx="1"/>
          </p:nvPr>
        </p:nvSpPr>
        <p:spPr>
          <a:xfrm>
            <a:off x="457200" y="1124746"/>
            <a:ext cx="8229600" cy="913070"/>
          </a:xfrm>
        </p:spPr>
        <p:txBody>
          <a:bodyPr>
            <a:normAutofit fontScale="92500" lnSpcReduction="20000"/>
          </a:bodyPr>
          <a:lstStyle/>
          <a:p>
            <a:r>
              <a:rPr lang="en-US" dirty="0"/>
              <a:t>Improvement 1: Push selections down as far as possible</a:t>
            </a:r>
            <a:endParaRPr lang="en-SG" dirty="0"/>
          </a:p>
        </p:txBody>
      </p:sp>
    </p:spTree>
    <p:extLst>
      <p:ext uri="{BB962C8B-B14F-4D97-AF65-F5344CB8AC3E}">
        <p14:creationId xmlns:p14="http://schemas.microsoft.com/office/powerpoint/2010/main" val="18204014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sp>
        <p:nvSpPr>
          <p:cNvPr id="6" name="TextBox 5"/>
          <p:cNvSpPr txBox="1"/>
          <p:nvPr/>
        </p:nvSpPr>
        <p:spPr>
          <a:xfrm>
            <a:off x="2399456" y="4797152"/>
            <a:ext cx="370614" cy="523220"/>
          </a:xfrm>
          <a:prstGeom prst="rect">
            <a:avLst/>
          </a:prstGeom>
          <a:noFill/>
        </p:spPr>
        <p:txBody>
          <a:bodyPr wrap="none" rtlCol="0">
            <a:spAutoFit/>
          </a:bodyPr>
          <a:lstStyle/>
          <a:p>
            <a:r>
              <a:rPr lang="el-GR" sz="2800" dirty="0">
                <a:solidFill>
                  <a:srgbClr val="0000FF"/>
                </a:solidFill>
                <a:latin typeface="Calibri" panose="020F0502020204030204" pitchFamily="34" charset="0"/>
              </a:rPr>
              <a:t>Χ</a:t>
            </a:r>
            <a:endParaRPr lang="en-SG" sz="2800" dirty="0">
              <a:solidFill>
                <a:srgbClr val="0000FF"/>
              </a:solidFill>
              <a:latin typeface="Calibri" panose="020F0502020204030204" pitchFamily="34" charset="0"/>
            </a:endParaRPr>
          </a:p>
        </p:txBody>
      </p:sp>
      <p:cxnSp>
        <p:nvCxnSpPr>
          <p:cNvPr id="7" name="Straight Connector 6"/>
          <p:cNvCxnSpPr>
            <a:stCxn id="6" idx="1"/>
          </p:cNvCxnSpPr>
          <p:nvPr/>
        </p:nvCxnSpPr>
        <p:spPr bwMode="auto">
          <a:xfrm flipH="1">
            <a:off x="1763688" y="5058762"/>
            <a:ext cx="635768"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a:stCxn id="6" idx="3"/>
            <a:endCxn id="5" idx="0"/>
          </p:cNvCxnSpPr>
          <p:nvPr/>
        </p:nvCxnSpPr>
        <p:spPr bwMode="auto">
          <a:xfrm>
            <a:off x="2770070" y="5058762"/>
            <a:ext cx="735422" cy="583322"/>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cxnSp>
        <p:nvCxnSpPr>
          <p:cNvPr id="12" name="Straight Connector 11"/>
          <p:cNvCxnSpPr>
            <a:endCxn id="6" idx="0"/>
          </p:cNvCxnSpPr>
          <p:nvPr/>
        </p:nvCxnSpPr>
        <p:spPr bwMode="auto">
          <a:xfrm flipH="1">
            <a:off x="2584763" y="4448532"/>
            <a:ext cx="907117" cy="34862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TextBox 12"/>
          <p:cNvSpPr txBox="1"/>
          <p:nvPr/>
        </p:nvSpPr>
        <p:spPr>
          <a:xfrm>
            <a:off x="4534457" y="2645623"/>
            <a:ext cx="2114938" cy="913070"/>
          </a:xfrm>
          <a:prstGeom prst="rect">
            <a:avLst/>
          </a:prstGeom>
          <a:noFill/>
        </p:spPr>
        <p:txBody>
          <a:bodyPr wrap="none" rtlCol="0">
            <a:spAutoFit/>
          </a:bodyPr>
          <a:lstStyle/>
          <a:p>
            <a:r>
              <a:rPr lang="el-GR" sz="3200" dirty="0">
                <a:solidFill>
                  <a:srgbClr val="0000FF"/>
                </a:solidFill>
              </a:rPr>
              <a:t>σ</a:t>
            </a:r>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r>
              <a:rPr lang="en-US" sz="3200" baseline="-25000" dirty="0">
                <a:latin typeface="Calibri" panose="020F0502020204030204" pitchFamily="34" charset="0"/>
              </a:rPr>
              <a:t/>
            </a:r>
            <a:br>
              <a:rPr lang="en-US" sz="3200" baseline="-25000" dirty="0">
                <a:latin typeface="Calibri" panose="020F0502020204030204" pitchFamily="34" charset="0"/>
              </a:rPr>
            </a:br>
            <a:r>
              <a:rPr lang="en-US" sz="3200" baseline="-25000" dirty="0">
                <a:latin typeface="Calibri" panose="020F0502020204030204" pitchFamily="34" charset="0"/>
              </a:rPr>
              <a:t>	</a:t>
            </a:r>
            <a:endParaRPr lang="en-SG" sz="3200" baseline="-25000" dirty="0">
              <a:latin typeface="Calibri" panose="020F0502020204030204" pitchFamily="34" charset="0"/>
            </a:endParaRPr>
          </a:p>
        </p:txBody>
      </p:sp>
      <p:cxnSp>
        <p:nvCxnSpPr>
          <p:cNvPr id="14" name="Straight Connector 13"/>
          <p:cNvCxnSpPr>
            <a:endCxn id="9" idx="0"/>
          </p:cNvCxnSpPr>
          <p:nvPr/>
        </p:nvCxnSpPr>
        <p:spPr bwMode="auto">
          <a:xfrm>
            <a:off x="4474593" y="4448532"/>
            <a:ext cx="1310433" cy="119355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a:endCxn id="21" idx="0"/>
          </p:cNvCxnSpPr>
          <p:nvPr/>
        </p:nvCxnSpPr>
        <p:spPr bwMode="auto">
          <a:xfrm>
            <a:off x="6516216" y="4005064"/>
            <a:ext cx="1447738" cy="7920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flipH="1">
            <a:off x="3928297" y="3933056"/>
            <a:ext cx="1092592" cy="2274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1916832"/>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2505963"/>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5581440" y="3212976"/>
            <a:ext cx="0" cy="332065"/>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7" name="TextBox 26"/>
          <p:cNvSpPr txBox="1"/>
          <p:nvPr/>
        </p:nvSpPr>
        <p:spPr>
          <a:xfrm>
            <a:off x="4819155" y="3429000"/>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28" name="Flowchart: Collate 27"/>
          <p:cNvSpPr/>
          <p:nvPr/>
        </p:nvSpPr>
        <p:spPr bwMode="auto">
          <a:xfrm rot="16200000">
            <a:off x="4503685" y="3473570"/>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9" name="TextBox 28"/>
          <p:cNvSpPr txBox="1"/>
          <p:nvPr/>
        </p:nvSpPr>
        <p:spPr>
          <a:xfrm>
            <a:off x="3382837" y="4027904"/>
            <a:ext cx="1661032" cy="420628"/>
          </a:xfrm>
          <a:prstGeom prst="rect">
            <a:avLst/>
          </a:prstGeom>
          <a:noFill/>
        </p:spPr>
        <p:txBody>
          <a:bodyPr wrap="none" rtlCol="0">
            <a:spAutoFit/>
          </a:bodyPr>
          <a:lstStyle/>
          <a:p>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endParaRPr lang="en-SG" sz="3200" baseline="-25000" dirty="0">
              <a:latin typeface="Calibri" panose="020F0502020204030204" pitchFamily="34" charset="0"/>
            </a:endParaRPr>
          </a:p>
        </p:txBody>
      </p:sp>
      <p:sp>
        <p:nvSpPr>
          <p:cNvPr id="30" name="Flowchart: Collate 29"/>
          <p:cNvSpPr/>
          <p:nvPr/>
        </p:nvSpPr>
        <p:spPr bwMode="auto">
          <a:xfrm rot="16200000">
            <a:off x="3067367" y="4072474"/>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3" name="Title 1">
            <a:extLst>
              <a:ext uri="{FF2B5EF4-FFF2-40B4-BE49-F238E27FC236}">
                <a16:creationId xmlns:a16="http://schemas.microsoft.com/office/drawing/2014/main" id="{3B468396-6BE3-42D5-AB39-A2DD0C41A545}"/>
              </a:ext>
            </a:extLst>
          </p:cNvPr>
          <p:cNvSpPr>
            <a:spLocks noGrp="1"/>
          </p:cNvSpPr>
          <p:nvPr>
            <p:ph type="title"/>
          </p:nvPr>
        </p:nvSpPr>
        <p:spPr>
          <a:xfrm>
            <a:off x="457200" y="277813"/>
            <a:ext cx="8229600" cy="1139825"/>
          </a:xfrm>
        </p:spPr>
        <p:txBody>
          <a:bodyPr/>
          <a:lstStyle/>
          <a:p>
            <a:r>
              <a:rPr lang="en-SG" dirty="0"/>
              <a:t>Then gradually improves it</a:t>
            </a:r>
          </a:p>
        </p:txBody>
      </p:sp>
      <p:sp>
        <p:nvSpPr>
          <p:cNvPr id="34" name="Content Placeholder 2">
            <a:extLst>
              <a:ext uri="{FF2B5EF4-FFF2-40B4-BE49-F238E27FC236}">
                <a16:creationId xmlns:a16="http://schemas.microsoft.com/office/drawing/2014/main" id="{2F63C6FC-9C3D-4E73-BCA5-9EB17991AE80}"/>
              </a:ext>
            </a:extLst>
          </p:cNvPr>
          <p:cNvSpPr>
            <a:spLocks noGrp="1"/>
          </p:cNvSpPr>
          <p:nvPr>
            <p:ph idx="1"/>
          </p:nvPr>
        </p:nvSpPr>
        <p:spPr>
          <a:xfrm>
            <a:off x="457200" y="1124746"/>
            <a:ext cx="8229600" cy="913070"/>
          </a:xfrm>
        </p:spPr>
        <p:txBody>
          <a:bodyPr>
            <a:normAutofit fontScale="92500" lnSpcReduction="20000"/>
          </a:bodyPr>
          <a:lstStyle/>
          <a:p>
            <a:r>
              <a:rPr lang="en-US" dirty="0"/>
              <a:t>Improvement 1: Push selections down as far as possible</a:t>
            </a:r>
            <a:endParaRPr lang="en-SG" dirty="0"/>
          </a:p>
        </p:txBody>
      </p:sp>
    </p:spTree>
    <p:extLst>
      <p:ext uri="{BB962C8B-B14F-4D97-AF65-F5344CB8AC3E}">
        <p14:creationId xmlns:p14="http://schemas.microsoft.com/office/powerpoint/2010/main" val="9842949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cxnSp>
        <p:nvCxnSpPr>
          <p:cNvPr id="7" name="Straight Connector 6"/>
          <p:cNvCxnSpPr/>
          <p:nvPr/>
        </p:nvCxnSpPr>
        <p:spPr bwMode="auto">
          <a:xfrm flipH="1">
            <a:off x="1763688" y="5058762"/>
            <a:ext cx="635768"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a:endCxn id="5" idx="0"/>
          </p:cNvCxnSpPr>
          <p:nvPr/>
        </p:nvCxnSpPr>
        <p:spPr bwMode="auto">
          <a:xfrm>
            <a:off x="2843808" y="5058762"/>
            <a:ext cx="661684" cy="583322"/>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cxnSp>
        <p:nvCxnSpPr>
          <p:cNvPr id="12" name="Straight Connector 11"/>
          <p:cNvCxnSpPr/>
          <p:nvPr/>
        </p:nvCxnSpPr>
        <p:spPr bwMode="auto">
          <a:xfrm flipH="1">
            <a:off x="2843808" y="4448532"/>
            <a:ext cx="648072" cy="28232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4" name="Straight Connector 13"/>
          <p:cNvCxnSpPr>
            <a:endCxn id="9" idx="0"/>
          </p:cNvCxnSpPr>
          <p:nvPr/>
        </p:nvCxnSpPr>
        <p:spPr bwMode="auto">
          <a:xfrm>
            <a:off x="4474593" y="4448532"/>
            <a:ext cx="1310433" cy="119355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a:endCxn id="21" idx="0"/>
          </p:cNvCxnSpPr>
          <p:nvPr/>
        </p:nvCxnSpPr>
        <p:spPr bwMode="auto">
          <a:xfrm>
            <a:off x="6516216" y="4005064"/>
            <a:ext cx="1447738" cy="7920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flipH="1">
            <a:off x="3928297" y="3933056"/>
            <a:ext cx="1092592" cy="2274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2556193"/>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3145324"/>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7" name="TextBox 26"/>
          <p:cNvSpPr txBox="1"/>
          <p:nvPr/>
        </p:nvSpPr>
        <p:spPr>
          <a:xfrm>
            <a:off x="4819155" y="3429000"/>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28" name="Flowchart: Collate 27"/>
          <p:cNvSpPr/>
          <p:nvPr/>
        </p:nvSpPr>
        <p:spPr bwMode="auto">
          <a:xfrm rot="16200000">
            <a:off x="4503685" y="3473570"/>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9" name="TextBox 28"/>
          <p:cNvSpPr txBox="1"/>
          <p:nvPr/>
        </p:nvSpPr>
        <p:spPr>
          <a:xfrm>
            <a:off x="3382837" y="4027904"/>
            <a:ext cx="1661032" cy="420628"/>
          </a:xfrm>
          <a:prstGeom prst="rect">
            <a:avLst/>
          </a:prstGeom>
          <a:noFill/>
        </p:spPr>
        <p:txBody>
          <a:bodyPr wrap="none" rtlCol="0">
            <a:spAutoFit/>
          </a:bodyPr>
          <a:lstStyle/>
          <a:p>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endParaRPr lang="en-SG" sz="3200" baseline="-25000" dirty="0">
              <a:latin typeface="Calibri" panose="020F0502020204030204" pitchFamily="34" charset="0"/>
            </a:endParaRPr>
          </a:p>
        </p:txBody>
      </p:sp>
      <p:sp>
        <p:nvSpPr>
          <p:cNvPr id="30" name="Flowchart: Collate 29"/>
          <p:cNvSpPr/>
          <p:nvPr/>
        </p:nvSpPr>
        <p:spPr bwMode="auto">
          <a:xfrm rot="16200000">
            <a:off x="3067367" y="4072474"/>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1" name="TextBox 30"/>
          <p:cNvSpPr txBox="1"/>
          <p:nvPr/>
        </p:nvSpPr>
        <p:spPr>
          <a:xfrm>
            <a:off x="1716653" y="4581128"/>
            <a:ext cx="1861663" cy="420628"/>
          </a:xfrm>
          <a:prstGeom prst="rect">
            <a:avLst/>
          </a:prstGeom>
          <a:noFill/>
        </p:spPr>
        <p:txBody>
          <a:bodyPr wrap="none" rtlCol="0">
            <a:spAutoFit/>
          </a:bodyPr>
          <a:lstStyle/>
          <a:p>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endParaRPr lang="en-SG" sz="3200" baseline="-25000" dirty="0">
              <a:latin typeface="Calibri" panose="020F0502020204030204" pitchFamily="34" charset="0"/>
            </a:endParaRPr>
          </a:p>
        </p:txBody>
      </p:sp>
      <p:sp>
        <p:nvSpPr>
          <p:cNvPr id="32" name="Flowchart: Collate 31"/>
          <p:cNvSpPr/>
          <p:nvPr/>
        </p:nvSpPr>
        <p:spPr bwMode="auto">
          <a:xfrm rot="16200000">
            <a:off x="1401183" y="4625698"/>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3" name="Title 1">
            <a:extLst>
              <a:ext uri="{FF2B5EF4-FFF2-40B4-BE49-F238E27FC236}">
                <a16:creationId xmlns:a16="http://schemas.microsoft.com/office/drawing/2014/main" id="{729210DF-3869-4FB5-A0A7-8F8C19722F14}"/>
              </a:ext>
            </a:extLst>
          </p:cNvPr>
          <p:cNvSpPr>
            <a:spLocks noGrp="1"/>
          </p:cNvSpPr>
          <p:nvPr>
            <p:ph type="title"/>
          </p:nvPr>
        </p:nvSpPr>
        <p:spPr>
          <a:xfrm>
            <a:off x="457200" y="277813"/>
            <a:ext cx="8229600" cy="1139825"/>
          </a:xfrm>
        </p:spPr>
        <p:txBody>
          <a:bodyPr/>
          <a:lstStyle/>
          <a:p>
            <a:r>
              <a:rPr lang="en-SG" dirty="0"/>
              <a:t>Then gradually improves it</a:t>
            </a:r>
          </a:p>
        </p:txBody>
      </p:sp>
      <p:sp>
        <p:nvSpPr>
          <p:cNvPr id="34" name="Content Placeholder 2">
            <a:extLst>
              <a:ext uri="{FF2B5EF4-FFF2-40B4-BE49-F238E27FC236}">
                <a16:creationId xmlns:a16="http://schemas.microsoft.com/office/drawing/2014/main" id="{9EA11C20-B790-4444-8629-DFE1E62C24FB}"/>
              </a:ext>
            </a:extLst>
          </p:cNvPr>
          <p:cNvSpPr>
            <a:spLocks noGrp="1"/>
          </p:cNvSpPr>
          <p:nvPr>
            <p:ph idx="1"/>
          </p:nvPr>
        </p:nvSpPr>
        <p:spPr>
          <a:xfrm>
            <a:off x="457200" y="1124746"/>
            <a:ext cx="8229600" cy="913070"/>
          </a:xfrm>
        </p:spPr>
        <p:txBody>
          <a:bodyPr>
            <a:normAutofit fontScale="92500" lnSpcReduction="20000"/>
          </a:bodyPr>
          <a:lstStyle/>
          <a:p>
            <a:r>
              <a:rPr lang="en-US" dirty="0"/>
              <a:t>Improvement 1: Push selections down as far as possible</a:t>
            </a:r>
            <a:endParaRPr lang="en-SG" dirty="0"/>
          </a:p>
        </p:txBody>
      </p:sp>
    </p:spTree>
    <p:extLst>
      <p:ext uri="{BB962C8B-B14F-4D97-AF65-F5344CB8AC3E}">
        <p14:creationId xmlns:p14="http://schemas.microsoft.com/office/powerpoint/2010/main" val="18780893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cxnSp>
        <p:nvCxnSpPr>
          <p:cNvPr id="7" name="Straight Connector 6"/>
          <p:cNvCxnSpPr/>
          <p:nvPr/>
        </p:nvCxnSpPr>
        <p:spPr bwMode="auto">
          <a:xfrm flipH="1">
            <a:off x="1763688" y="5058762"/>
            <a:ext cx="635768"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a:endCxn id="5" idx="0"/>
          </p:cNvCxnSpPr>
          <p:nvPr/>
        </p:nvCxnSpPr>
        <p:spPr bwMode="auto">
          <a:xfrm>
            <a:off x="2843808" y="5058762"/>
            <a:ext cx="661684" cy="583322"/>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cxnSp>
        <p:nvCxnSpPr>
          <p:cNvPr id="12" name="Straight Connector 11"/>
          <p:cNvCxnSpPr/>
          <p:nvPr/>
        </p:nvCxnSpPr>
        <p:spPr bwMode="auto">
          <a:xfrm flipH="1">
            <a:off x="2843808" y="4448532"/>
            <a:ext cx="648072" cy="28232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4" name="Straight Connector 13"/>
          <p:cNvCxnSpPr>
            <a:endCxn id="9" idx="0"/>
          </p:cNvCxnSpPr>
          <p:nvPr/>
        </p:nvCxnSpPr>
        <p:spPr bwMode="auto">
          <a:xfrm>
            <a:off x="4474593" y="4448532"/>
            <a:ext cx="1310433" cy="119355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a:endCxn id="21" idx="0"/>
          </p:cNvCxnSpPr>
          <p:nvPr/>
        </p:nvCxnSpPr>
        <p:spPr bwMode="auto">
          <a:xfrm>
            <a:off x="6516216" y="4005064"/>
            <a:ext cx="1447738" cy="79208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flipH="1">
            <a:off x="3928297" y="3933056"/>
            <a:ext cx="1092592" cy="2274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2556193"/>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3145324"/>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7" name="TextBox 26"/>
          <p:cNvSpPr txBox="1"/>
          <p:nvPr/>
        </p:nvSpPr>
        <p:spPr>
          <a:xfrm>
            <a:off x="4819155" y="3429000"/>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28" name="Flowchart: Collate 27"/>
          <p:cNvSpPr/>
          <p:nvPr/>
        </p:nvSpPr>
        <p:spPr bwMode="auto">
          <a:xfrm rot="16200000">
            <a:off x="4503685" y="3473570"/>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9" name="TextBox 28"/>
          <p:cNvSpPr txBox="1"/>
          <p:nvPr/>
        </p:nvSpPr>
        <p:spPr>
          <a:xfrm>
            <a:off x="3382837" y="4027904"/>
            <a:ext cx="1661032" cy="420628"/>
          </a:xfrm>
          <a:prstGeom prst="rect">
            <a:avLst/>
          </a:prstGeom>
          <a:noFill/>
        </p:spPr>
        <p:txBody>
          <a:bodyPr wrap="none" rtlCol="0">
            <a:spAutoFit/>
          </a:bodyPr>
          <a:lstStyle/>
          <a:p>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endParaRPr lang="en-SG" sz="3200" baseline="-25000" dirty="0">
              <a:latin typeface="Calibri" panose="020F0502020204030204" pitchFamily="34" charset="0"/>
            </a:endParaRPr>
          </a:p>
        </p:txBody>
      </p:sp>
      <p:sp>
        <p:nvSpPr>
          <p:cNvPr id="30" name="Flowchart: Collate 29"/>
          <p:cNvSpPr/>
          <p:nvPr/>
        </p:nvSpPr>
        <p:spPr bwMode="auto">
          <a:xfrm rot="16200000">
            <a:off x="3067367" y="4072474"/>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1" name="TextBox 30"/>
          <p:cNvSpPr txBox="1"/>
          <p:nvPr/>
        </p:nvSpPr>
        <p:spPr>
          <a:xfrm>
            <a:off x="1716653" y="4581128"/>
            <a:ext cx="1861663" cy="420628"/>
          </a:xfrm>
          <a:prstGeom prst="rect">
            <a:avLst/>
          </a:prstGeom>
          <a:noFill/>
        </p:spPr>
        <p:txBody>
          <a:bodyPr wrap="none" rtlCol="0">
            <a:spAutoFit/>
          </a:bodyPr>
          <a:lstStyle/>
          <a:p>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endParaRPr lang="en-SG" sz="3200" baseline="-25000" dirty="0">
              <a:latin typeface="Calibri" panose="020F0502020204030204" pitchFamily="34" charset="0"/>
            </a:endParaRPr>
          </a:p>
        </p:txBody>
      </p:sp>
      <p:sp>
        <p:nvSpPr>
          <p:cNvPr id="32" name="Flowchart: Collate 31"/>
          <p:cNvSpPr/>
          <p:nvPr/>
        </p:nvSpPr>
        <p:spPr bwMode="auto">
          <a:xfrm rot="16200000">
            <a:off x="1401183" y="4625698"/>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3" name="Title 1">
            <a:extLst>
              <a:ext uri="{FF2B5EF4-FFF2-40B4-BE49-F238E27FC236}">
                <a16:creationId xmlns:a16="http://schemas.microsoft.com/office/drawing/2014/main" id="{D30B6475-237D-4F5C-B79D-0AA47D9BD992}"/>
              </a:ext>
            </a:extLst>
          </p:cNvPr>
          <p:cNvSpPr>
            <a:spLocks noGrp="1"/>
          </p:cNvSpPr>
          <p:nvPr>
            <p:ph type="title"/>
          </p:nvPr>
        </p:nvSpPr>
        <p:spPr>
          <a:xfrm>
            <a:off x="457200" y="277813"/>
            <a:ext cx="8229600" cy="1139825"/>
          </a:xfrm>
        </p:spPr>
        <p:txBody>
          <a:bodyPr/>
          <a:lstStyle/>
          <a:p>
            <a:r>
              <a:rPr lang="en-SG" dirty="0"/>
              <a:t>Then gradually improves it</a:t>
            </a:r>
          </a:p>
        </p:txBody>
      </p:sp>
      <p:sp>
        <p:nvSpPr>
          <p:cNvPr id="35" name="Content Placeholder 2">
            <a:extLst>
              <a:ext uri="{FF2B5EF4-FFF2-40B4-BE49-F238E27FC236}">
                <a16:creationId xmlns:a16="http://schemas.microsoft.com/office/drawing/2014/main" id="{748756D4-F0E1-4F48-B9A7-8CD36FCAFC05}"/>
              </a:ext>
            </a:extLst>
          </p:cNvPr>
          <p:cNvSpPr>
            <a:spLocks noGrp="1"/>
          </p:cNvSpPr>
          <p:nvPr>
            <p:ph idx="1"/>
          </p:nvPr>
        </p:nvSpPr>
        <p:spPr>
          <a:xfrm>
            <a:off x="457200" y="1124745"/>
            <a:ext cx="8229600" cy="792087"/>
          </a:xfrm>
        </p:spPr>
        <p:txBody>
          <a:bodyPr>
            <a:normAutofit fontScale="85000" lnSpcReduction="20000"/>
          </a:bodyPr>
          <a:lstStyle/>
          <a:p>
            <a:r>
              <a:rPr lang="en-US" dirty="0"/>
              <a:t>Improvement 2: Push projections down as far as possible, create new projections whenever possible</a:t>
            </a:r>
            <a:endParaRPr lang="en-SG" dirty="0"/>
          </a:p>
        </p:txBody>
      </p:sp>
    </p:spTree>
    <p:extLst>
      <p:ext uri="{BB962C8B-B14F-4D97-AF65-F5344CB8AC3E}">
        <p14:creationId xmlns:p14="http://schemas.microsoft.com/office/powerpoint/2010/main" val="7516619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765995" y="4401108"/>
            <a:ext cx="1883016"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P.ssn</a:t>
            </a:r>
            <a:endParaRPr lang="en-SG" sz="3200" baseline="-25000" dirty="0">
              <a:latin typeface="Calibri" panose="020F0502020204030204" pitchFamily="34" charset="0"/>
            </a:endParaRPr>
          </a:p>
        </p:txBody>
      </p:sp>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2" name="Title 1"/>
          <p:cNvSpPr>
            <a:spLocks noGrp="1"/>
          </p:cNvSpPr>
          <p:nvPr>
            <p:ph type="title"/>
          </p:nvPr>
        </p:nvSpPr>
        <p:spPr/>
        <p:txBody>
          <a:bodyPr/>
          <a:lstStyle/>
          <a:p>
            <a:r>
              <a:rPr lang="en-SG" dirty="0"/>
              <a:t>Then gradually improves it</a:t>
            </a:r>
          </a:p>
        </p:txBody>
      </p:sp>
      <p:sp>
        <p:nvSpPr>
          <p:cNvPr id="3" name="Content Placeholder 2"/>
          <p:cNvSpPr>
            <a:spLocks noGrp="1"/>
          </p:cNvSpPr>
          <p:nvPr>
            <p:ph idx="1"/>
          </p:nvPr>
        </p:nvSpPr>
        <p:spPr>
          <a:xfrm>
            <a:off x="457200" y="1124745"/>
            <a:ext cx="8229600" cy="792087"/>
          </a:xfrm>
        </p:spPr>
        <p:txBody>
          <a:bodyPr>
            <a:normAutofit fontScale="85000" lnSpcReduction="20000"/>
          </a:bodyPr>
          <a:lstStyle/>
          <a:p>
            <a:r>
              <a:rPr lang="en-US" dirty="0"/>
              <a:t>Improvement 2: Push projections down as far as possible, create new projections whenever possible</a:t>
            </a:r>
            <a:endParaRPr lang="en-SG" dirty="0"/>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cxnSp>
        <p:nvCxnSpPr>
          <p:cNvPr id="7" name="Straight Connector 6"/>
          <p:cNvCxnSpPr/>
          <p:nvPr/>
        </p:nvCxnSpPr>
        <p:spPr bwMode="auto">
          <a:xfrm flipH="1">
            <a:off x="1763688" y="4450324"/>
            <a:ext cx="317884"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a:endCxn id="5" idx="0"/>
          </p:cNvCxnSpPr>
          <p:nvPr/>
        </p:nvCxnSpPr>
        <p:spPr bwMode="auto">
          <a:xfrm>
            <a:off x="3231268" y="4581128"/>
            <a:ext cx="274224" cy="106095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cxnSp>
        <p:nvCxnSpPr>
          <p:cNvPr id="12" name="Straight Connector 11"/>
          <p:cNvCxnSpPr/>
          <p:nvPr/>
        </p:nvCxnSpPr>
        <p:spPr bwMode="auto">
          <a:xfrm flipH="1">
            <a:off x="2843808" y="3840094"/>
            <a:ext cx="648072" cy="28232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4" name="Straight Connector 13"/>
          <p:cNvCxnSpPr>
            <a:endCxn id="9" idx="0"/>
          </p:cNvCxnSpPr>
          <p:nvPr/>
        </p:nvCxnSpPr>
        <p:spPr bwMode="auto">
          <a:xfrm>
            <a:off x="4819155" y="3981255"/>
            <a:ext cx="965871" cy="1660829"/>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6660232" y="3419466"/>
            <a:ext cx="1353544" cy="166571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flipH="1">
            <a:off x="3928297" y="3324618"/>
            <a:ext cx="1092592" cy="2274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1947755"/>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2536886"/>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7" name="TextBox 26"/>
          <p:cNvSpPr txBox="1"/>
          <p:nvPr/>
        </p:nvSpPr>
        <p:spPr>
          <a:xfrm>
            <a:off x="4819155" y="2820562"/>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28" name="Flowchart: Collate 27"/>
          <p:cNvSpPr/>
          <p:nvPr/>
        </p:nvSpPr>
        <p:spPr bwMode="auto">
          <a:xfrm rot="16200000">
            <a:off x="4503685" y="2865132"/>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9" name="TextBox 28"/>
          <p:cNvSpPr txBox="1"/>
          <p:nvPr/>
        </p:nvSpPr>
        <p:spPr>
          <a:xfrm>
            <a:off x="3382837" y="3419466"/>
            <a:ext cx="1661032" cy="420628"/>
          </a:xfrm>
          <a:prstGeom prst="rect">
            <a:avLst/>
          </a:prstGeom>
          <a:noFill/>
        </p:spPr>
        <p:txBody>
          <a:bodyPr wrap="none" rtlCol="0">
            <a:spAutoFit/>
          </a:bodyPr>
          <a:lstStyle/>
          <a:p>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endParaRPr lang="en-SG" sz="3200" baseline="-25000" dirty="0">
              <a:latin typeface="Calibri" panose="020F0502020204030204" pitchFamily="34" charset="0"/>
            </a:endParaRPr>
          </a:p>
        </p:txBody>
      </p:sp>
      <p:sp>
        <p:nvSpPr>
          <p:cNvPr id="30" name="Flowchart: Collate 29"/>
          <p:cNvSpPr/>
          <p:nvPr/>
        </p:nvSpPr>
        <p:spPr bwMode="auto">
          <a:xfrm rot="16200000">
            <a:off x="3067367" y="3464036"/>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1" name="TextBox 30"/>
          <p:cNvSpPr txBox="1"/>
          <p:nvPr/>
        </p:nvSpPr>
        <p:spPr>
          <a:xfrm>
            <a:off x="1716653" y="3972690"/>
            <a:ext cx="1861663" cy="420628"/>
          </a:xfrm>
          <a:prstGeom prst="rect">
            <a:avLst/>
          </a:prstGeom>
          <a:noFill/>
        </p:spPr>
        <p:txBody>
          <a:bodyPr wrap="none" rtlCol="0">
            <a:spAutoFit/>
          </a:bodyPr>
          <a:lstStyle/>
          <a:p>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endParaRPr lang="en-SG" sz="3200" baseline="-25000" dirty="0">
              <a:latin typeface="Calibri" panose="020F0502020204030204" pitchFamily="34" charset="0"/>
            </a:endParaRPr>
          </a:p>
        </p:txBody>
      </p:sp>
      <p:sp>
        <p:nvSpPr>
          <p:cNvPr id="32" name="Flowchart: Collate 31"/>
          <p:cNvSpPr/>
          <p:nvPr/>
        </p:nvSpPr>
        <p:spPr bwMode="auto">
          <a:xfrm rot="16200000">
            <a:off x="1401183" y="4017260"/>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cxnSp>
        <p:nvCxnSpPr>
          <p:cNvPr id="34" name="Straight Connector 33"/>
          <p:cNvCxnSpPr/>
          <p:nvPr/>
        </p:nvCxnSpPr>
        <p:spPr bwMode="auto">
          <a:xfrm>
            <a:off x="1721977" y="4990239"/>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1280442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765995" y="4401108"/>
            <a:ext cx="1883016"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P.ssn</a:t>
            </a:r>
            <a:endParaRPr lang="en-SG" sz="3200" baseline="-25000" dirty="0">
              <a:latin typeface="Calibri" panose="020F0502020204030204" pitchFamily="34" charset="0"/>
            </a:endParaRPr>
          </a:p>
        </p:txBody>
      </p:sp>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cxnSp>
        <p:nvCxnSpPr>
          <p:cNvPr id="7" name="Straight Connector 6"/>
          <p:cNvCxnSpPr/>
          <p:nvPr/>
        </p:nvCxnSpPr>
        <p:spPr bwMode="auto">
          <a:xfrm flipH="1">
            <a:off x="1763688" y="4450324"/>
            <a:ext cx="317884"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3167844" y="4515726"/>
            <a:ext cx="540060" cy="56945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cxnSp>
        <p:nvCxnSpPr>
          <p:cNvPr id="12" name="Straight Connector 11"/>
          <p:cNvCxnSpPr/>
          <p:nvPr/>
        </p:nvCxnSpPr>
        <p:spPr bwMode="auto">
          <a:xfrm flipH="1">
            <a:off x="2843808" y="3840094"/>
            <a:ext cx="648072" cy="28232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4" name="Straight Connector 13"/>
          <p:cNvCxnSpPr>
            <a:endCxn id="9" idx="0"/>
          </p:cNvCxnSpPr>
          <p:nvPr/>
        </p:nvCxnSpPr>
        <p:spPr bwMode="auto">
          <a:xfrm>
            <a:off x="4819155" y="3981255"/>
            <a:ext cx="965871" cy="1660829"/>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6660232" y="3419466"/>
            <a:ext cx="1353544" cy="166571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flipH="1">
            <a:off x="3928297" y="3324618"/>
            <a:ext cx="1092592" cy="2274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1947755"/>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2536886"/>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7" name="TextBox 26"/>
          <p:cNvSpPr txBox="1"/>
          <p:nvPr/>
        </p:nvSpPr>
        <p:spPr>
          <a:xfrm>
            <a:off x="4819155" y="2820562"/>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28" name="Flowchart: Collate 27"/>
          <p:cNvSpPr/>
          <p:nvPr/>
        </p:nvSpPr>
        <p:spPr bwMode="auto">
          <a:xfrm rot="16200000">
            <a:off x="4503685" y="2865132"/>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9" name="TextBox 28"/>
          <p:cNvSpPr txBox="1"/>
          <p:nvPr/>
        </p:nvSpPr>
        <p:spPr>
          <a:xfrm>
            <a:off x="3382837" y="3419466"/>
            <a:ext cx="1661032" cy="420628"/>
          </a:xfrm>
          <a:prstGeom prst="rect">
            <a:avLst/>
          </a:prstGeom>
          <a:noFill/>
        </p:spPr>
        <p:txBody>
          <a:bodyPr wrap="none" rtlCol="0">
            <a:spAutoFit/>
          </a:bodyPr>
          <a:lstStyle/>
          <a:p>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endParaRPr lang="en-SG" sz="3200" baseline="-25000" dirty="0">
              <a:latin typeface="Calibri" panose="020F0502020204030204" pitchFamily="34" charset="0"/>
            </a:endParaRPr>
          </a:p>
        </p:txBody>
      </p:sp>
      <p:sp>
        <p:nvSpPr>
          <p:cNvPr id="30" name="Flowchart: Collate 29"/>
          <p:cNvSpPr/>
          <p:nvPr/>
        </p:nvSpPr>
        <p:spPr bwMode="auto">
          <a:xfrm rot="16200000">
            <a:off x="3067367" y="3464036"/>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1" name="TextBox 30"/>
          <p:cNvSpPr txBox="1"/>
          <p:nvPr/>
        </p:nvSpPr>
        <p:spPr>
          <a:xfrm>
            <a:off x="1716653" y="3972690"/>
            <a:ext cx="1861663" cy="420628"/>
          </a:xfrm>
          <a:prstGeom prst="rect">
            <a:avLst/>
          </a:prstGeom>
          <a:noFill/>
        </p:spPr>
        <p:txBody>
          <a:bodyPr wrap="none" rtlCol="0">
            <a:spAutoFit/>
          </a:bodyPr>
          <a:lstStyle/>
          <a:p>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endParaRPr lang="en-SG" sz="3200" baseline="-25000" dirty="0">
              <a:latin typeface="Calibri" panose="020F0502020204030204" pitchFamily="34" charset="0"/>
            </a:endParaRPr>
          </a:p>
        </p:txBody>
      </p:sp>
      <p:sp>
        <p:nvSpPr>
          <p:cNvPr id="32" name="Flowchart: Collate 31"/>
          <p:cNvSpPr/>
          <p:nvPr/>
        </p:nvSpPr>
        <p:spPr bwMode="auto">
          <a:xfrm rot="16200000">
            <a:off x="1401183" y="4017260"/>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cxnSp>
        <p:nvCxnSpPr>
          <p:cNvPr id="34" name="Straight Connector 33"/>
          <p:cNvCxnSpPr/>
          <p:nvPr/>
        </p:nvCxnSpPr>
        <p:spPr bwMode="auto">
          <a:xfrm>
            <a:off x="1721977" y="4990239"/>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5" name="TextBox 34"/>
          <p:cNvSpPr txBox="1"/>
          <p:nvPr/>
        </p:nvSpPr>
        <p:spPr>
          <a:xfrm>
            <a:off x="2699792" y="4860449"/>
            <a:ext cx="1994329"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err="1">
                <a:latin typeface="Calibri" panose="020F0502020204030204" pitchFamily="34" charset="0"/>
                <a:sym typeface="Wingdings" pitchFamily="2" charset="2"/>
              </a:rPr>
              <a:t>U,buyer</a:t>
            </a:r>
            <a:r>
              <a:rPr lang="en-US" sz="3200" baseline="-25000" dirty="0">
                <a:latin typeface="Calibri" panose="020F0502020204030204" pitchFamily="34" charset="0"/>
                <a:sym typeface="Wingdings" pitchFamily="2" charset="2"/>
              </a:rPr>
              <a:t>, </a:t>
            </a:r>
            <a:r>
              <a:rPr lang="en-US" sz="3200" baseline="-25000" dirty="0" err="1">
                <a:latin typeface="Calibri" panose="020F0502020204030204" pitchFamily="34" charset="0"/>
                <a:sym typeface="Wingdings" pitchFamily="2" charset="2"/>
              </a:rPr>
              <a:t>U.pid</a:t>
            </a:r>
            <a:endParaRPr lang="en-SG" sz="3200" baseline="-25000" dirty="0">
              <a:latin typeface="Calibri" panose="020F0502020204030204" pitchFamily="34" charset="0"/>
            </a:endParaRPr>
          </a:p>
        </p:txBody>
      </p:sp>
      <p:cxnSp>
        <p:nvCxnSpPr>
          <p:cNvPr id="36" name="Straight Connector 35"/>
          <p:cNvCxnSpPr/>
          <p:nvPr/>
        </p:nvCxnSpPr>
        <p:spPr bwMode="auto">
          <a:xfrm>
            <a:off x="3707904" y="5489940"/>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7" name="Title 1">
            <a:extLst>
              <a:ext uri="{FF2B5EF4-FFF2-40B4-BE49-F238E27FC236}">
                <a16:creationId xmlns:a16="http://schemas.microsoft.com/office/drawing/2014/main" id="{B382C678-7BCF-4D66-BC3A-1FB443CD11D7}"/>
              </a:ext>
            </a:extLst>
          </p:cNvPr>
          <p:cNvSpPr>
            <a:spLocks noGrp="1"/>
          </p:cNvSpPr>
          <p:nvPr>
            <p:ph type="title"/>
          </p:nvPr>
        </p:nvSpPr>
        <p:spPr>
          <a:xfrm>
            <a:off x="457200" y="277813"/>
            <a:ext cx="8229600" cy="1139825"/>
          </a:xfrm>
        </p:spPr>
        <p:txBody>
          <a:bodyPr/>
          <a:lstStyle/>
          <a:p>
            <a:r>
              <a:rPr lang="en-SG" dirty="0"/>
              <a:t>Then gradually improves it</a:t>
            </a:r>
          </a:p>
        </p:txBody>
      </p:sp>
      <p:sp>
        <p:nvSpPr>
          <p:cNvPr id="38" name="Content Placeholder 2">
            <a:extLst>
              <a:ext uri="{FF2B5EF4-FFF2-40B4-BE49-F238E27FC236}">
                <a16:creationId xmlns:a16="http://schemas.microsoft.com/office/drawing/2014/main" id="{BC8F72DE-A793-4A43-919C-DC417344FC8C}"/>
              </a:ext>
            </a:extLst>
          </p:cNvPr>
          <p:cNvSpPr>
            <a:spLocks noGrp="1"/>
          </p:cNvSpPr>
          <p:nvPr>
            <p:ph idx="1"/>
          </p:nvPr>
        </p:nvSpPr>
        <p:spPr>
          <a:xfrm>
            <a:off x="457200" y="1124745"/>
            <a:ext cx="8229600" cy="792087"/>
          </a:xfrm>
        </p:spPr>
        <p:txBody>
          <a:bodyPr>
            <a:normAutofit fontScale="85000" lnSpcReduction="20000"/>
          </a:bodyPr>
          <a:lstStyle/>
          <a:p>
            <a:r>
              <a:rPr lang="en-US" dirty="0"/>
              <a:t>Improvement 2: Push projections down as far as possible, create new projections whenever possible</a:t>
            </a:r>
            <a:endParaRPr lang="en-SG" dirty="0"/>
          </a:p>
        </p:txBody>
      </p:sp>
    </p:spTree>
    <p:extLst>
      <p:ext uri="{BB962C8B-B14F-4D97-AF65-F5344CB8AC3E}">
        <p14:creationId xmlns:p14="http://schemas.microsoft.com/office/powerpoint/2010/main" val="38578927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765995" y="4401108"/>
            <a:ext cx="1883016"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P.ssn</a:t>
            </a:r>
            <a:endParaRPr lang="en-SG" sz="3200" baseline="-25000" dirty="0">
              <a:latin typeface="Calibri" panose="020F0502020204030204" pitchFamily="34" charset="0"/>
            </a:endParaRPr>
          </a:p>
        </p:txBody>
      </p:sp>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2" name="Title 1"/>
          <p:cNvSpPr>
            <a:spLocks noGrp="1"/>
          </p:cNvSpPr>
          <p:nvPr>
            <p:ph type="title"/>
          </p:nvPr>
        </p:nvSpPr>
        <p:spPr/>
        <p:txBody>
          <a:bodyPr/>
          <a:lstStyle/>
          <a:p>
            <a:r>
              <a:rPr lang="en-US" dirty="0"/>
              <a:t>Then gradually improves it</a:t>
            </a:r>
            <a:endParaRPr lang="en-SG" dirty="0"/>
          </a:p>
        </p:txBody>
      </p:sp>
      <p:sp>
        <p:nvSpPr>
          <p:cNvPr id="3" name="Content Placeholder 2"/>
          <p:cNvSpPr>
            <a:spLocks noGrp="1"/>
          </p:cNvSpPr>
          <p:nvPr>
            <p:ph idx="1"/>
          </p:nvPr>
        </p:nvSpPr>
        <p:spPr>
          <a:xfrm>
            <a:off x="457200" y="1124745"/>
            <a:ext cx="8229600" cy="792087"/>
          </a:xfrm>
        </p:spPr>
        <p:txBody>
          <a:bodyPr>
            <a:normAutofit fontScale="85000" lnSpcReduction="20000"/>
          </a:bodyPr>
          <a:lstStyle/>
          <a:p>
            <a:r>
              <a:rPr lang="en-US" dirty="0"/>
              <a:t>Improvement 2: Push projections down as far as possible, create new projections whenever possible</a:t>
            </a:r>
            <a:endParaRPr lang="en-SG" dirty="0"/>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cxnSp>
        <p:nvCxnSpPr>
          <p:cNvPr id="7" name="Straight Connector 6"/>
          <p:cNvCxnSpPr/>
          <p:nvPr/>
        </p:nvCxnSpPr>
        <p:spPr bwMode="auto">
          <a:xfrm flipH="1">
            <a:off x="1763688" y="4450324"/>
            <a:ext cx="317884"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3167844" y="4515726"/>
            <a:ext cx="540060" cy="56945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cxnSp>
        <p:nvCxnSpPr>
          <p:cNvPr id="12" name="Straight Connector 11"/>
          <p:cNvCxnSpPr/>
          <p:nvPr/>
        </p:nvCxnSpPr>
        <p:spPr bwMode="auto">
          <a:xfrm flipH="1">
            <a:off x="2589731" y="3941767"/>
            <a:ext cx="254077" cy="17208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4" name="Straight Connector 13"/>
          <p:cNvCxnSpPr>
            <a:endCxn id="9" idx="0"/>
          </p:cNvCxnSpPr>
          <p:nvPr/>
        </p:nvCxnSpPr>
        <p:spPr bwMode="auto">
          <a:xfrm>
            <a:off x="4608841" y="3534422"/>
            <a:ext cx="1176185" cy="210766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6660232" y="3028503"/>
            <a:ext cx="1353544" cy="2056681"/>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flipH="1">
            <a:off x="3928297" y="2933655"/>
            <a:ext cx="1092592" cy="2274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1556792"/>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2145923"/>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7" name="TextBox 26"/>
          <p:cNvSpPr txBox="1"/>
          <p:nvPr/>
        </p:nvSpPr>
        <p:spPr>
          <a:xfrm>
            <a:off x="4819155" y="2429599"/>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28" name="Flowchart: Collate 27"/>
          <p:cNvSpPr/>
          <p:nvPr/>
        </p:nvSpPr>
        <p:spPr bwMode="auto">
          <a:xfrm rot="16200000">
            <a:off x="4503685" y="2474169"/>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9" name="TextBox 28"/>
          <p:cNvSpPr txBox="1"/>
          <p:nvPr/>
        </p:nvSpPr>
        <p:spPr>
          <a:xfrm>
            <a:off x="3382837" y="3028503"/>
            <a:ext cx="1661032" cy="420628"/>
          </a:xfrm>
          <a:prstGeom prst="rect">
            <a:avLst/>
          </a:prstGeom>
          <a:noFill/>
        </p:spPr>
        <p:txBody>
          <a:bodyPr wrap="none" rtlCol="0">
            <a:spAutoFit/>
          </a:bodyPr>
          <a:lstStyle/>
          <a:p>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endParaRPr lang="en-SG" sz="3200" baseline="-25000" dirty="0">
              <a:latin typeface="Calibri" panose="020F0502020204030204" pitchFamily="34" charset="0"/>
            </a:endParaRPr>
          </a:p>
        </p:txBody>
      </p:sp>
      <p:sp>
        <p:nvSpPr>
          <p:cNvPr id="30" name="Flowchart: Collate 29"/>
          <p:cNvSpPr/>
          <p:nvPr/>
        </p:nvSpPr>
        <p:spPr bwMode="auto">
          <a:xfrm rot="16200000">
            <a:off x="3067367" y="3073073"/>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1" name="TextBox 30"/>
          <p:cNvSpPr txBox="1"/>
          <p:nvPr/>
        </p:nvSpPr>
        <p:spPr>
          <a:xfrm>
            <a:off x="1716653" y="3972690"/>
            <a:ext cx="1861663" cy="420628"/>
          </a:xfrm>
          <a:prstGeom prst="rect">
            <a:avLst/>
          </a:prstGeom>
          <a:noFill/>
        </p:spPr>
        <p:txBody>
          <a:bodyPr wrap="none" rtlCol="0">
            <a:spAutoFit/>
          </a:bodyPr>
          <a:lstStyle/>
          <a:p>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endParaRPr lang="en-SG" sz="3200" baseline="-25000" dirty="0">
              <a:latin typeface="Calibri" panose="020F0502020204030204" pitchFamily="34" charset="0"/>
            </a:endParaRPr>
          </a:p>
        </p:txBody>
      </p:sp>
      <p:sp>
        <p:nvSpPr>
          <p:cNvPr id="32" name="Flowchart: Collate 31"/>
          <p:cNvSpPr/>
          <p:nvPr/>
        </p:nvSpPr>
        <p:spPr bwMode="auto">
          <a:xfrm rot="16200000">
            <a:off x="1401183" y="4017260"/>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cxnSp>
        <p:nvCxnSpPr>
          <p:cNvPr id="34" name="Straight Connector 33"/>
          <p:cNvCxnSpPr/>
          <p:nvPr/>
        </p:nvCxnSpPr>
        <p:spPr bwMode="auto">
          <a:xfrm>
            <a:off x="1721977" y="4990239"/>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5" name="TextBox 34"/>
          <p:cNvSpPr txBox="1"/>
          <p:nvPr/>
        </p:nvSpPr>
        <p:spPr>
          <a:xfrm>
            <a:off x="2699792" y="4860449"/>
            <a:ext cx="1994329"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err="1">
                <a:latin typeface="Calibri" panose="020F0502020204030204" pitchFamily="34" charset="0"/>
                <a:sym typeface="Wingdings" pitchFamily="2" charset="2"/>
              </a:rPr>
              <a:t>U,buyer</a:t>
            </a:r>
            <a:r>
              <a:rPr lang="en-US" sz="3200" baseline="-25000" dirty="0">
                <a:latin typeface="Calibri" panose="020F0502020204030204" pitchFamily="34" charset="0"/>
                <a:sym typeface="Wingdings" pitchFamily="2" charset="2"/>
              </a:rPr>
              <a:t>, </a:t>
            </a:r>
            <a:r>
              <a:rPr lang="en-US" sz="3200" baseline="-25000" dirty="0" err="1">
                <a:latin typeface="Calibri" panose="020F0502020204030204" pitchFamily="34" charset="0"/>
                <a:sym typeface="Wingdings" pitchFamily="2" charset="2"/>
              </a:rPr>
              <a:t>U.pid</a:t>
            </a:r>
            <a:endParaRPr lang="en-SG" sz="3200" baseline="-25000" dirty="0">
              <a:latin typeface="Calibri" panose="020F0502020204030204" pitchFamily="34" charset="0"/>
            </a:endParaRPr>
          </a:p>
        </p:txBody>
      </p:sp>
      <p:cxnSp>
        <p:nvCxnSpPr>
          <p:cNvPr id="36" name="Straight Connector 35"/>
          <p:cNvCxnSpPr/>
          <p:nvPr/>
        </p:nvCxnSpPr>
        <p:spPr bwMode="auto">
          <a:xfrm>
            <a:off x="3707904" y="5489940"/>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7" name="TextBox 36"/>
          <p:cNvSpPr txBox="1"/>
          <p:nvPr/>
        </p:nvSpPr>
        <p:spPr>
          <a:xfrm>
            <a:off x="1975500" y="3356992"/>
            <a:ext cx="1999650"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U.Pid</a:t>
            </a:r>
            <a:endParaRPr lang="en-SG" sz="3200" baseline="-25000" dirty="0">
              <a:latin typeface="Calibri" panose="020F0502020204030204" pitchFamily="34" charset="0"/>
            </a:endParaRPr>
          </a:p>
        </p:txBody>
      </p:sp>
      <p:cxnSp>
        <p:nvCxnSpPr>
          <p:cNvPr id="38" name="Straight Connector 37"/>
          <p:cNvCxnSpPr/>
          <p:nvPr/>
        </p:nvCxnSpPr>
        <p:spPr bwMode="auto">
          <a:xfrm flipH="1">
            <a:off x="2962210" y="3419466"/>
            <a:ext cx="450392" cy="229913"/>
          </a:xfrm>
          <a:prstGeom prst="line">
            <a:avLst/>
          </a:prstGeom>
          <a:solidFill>
            <a:schemeClr val="accent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1988499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765995" y="4401108"/>
            <a:ext cx="1883016"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P.ssn</a:t>
            </a:r>
            <a:endParaRPr lang="en-SG" sz="3200" baseline="-25000" dirty="0">
              <a:latin typeface="Calibri" panose="020F0502020204030204" pitchFamily="34" charset="0"/>
            </a:endParaRPr>
          </a:p>
        </p:txBody>
      </p:sp>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2" name="Title 1"/>
          <p:cNvSpPr>
            <a:spLocks noGrp="1"/>
          </p:cNvSpPr>
          <p:nvPr>
            <p:ph type="title"/>
          </p:nvPr>
        </p:nvSpPr>
        <p:spPr/>
        <p:txBody>
          <a:bodyPr/>
          <a:lstStyle/>
          <a:p>
            <a:r>
              <a:rPr lang="en-US" dirty="0"/>
              <a:t>Then gradually improves it</a:t>
            </a:r>
            <a:endParaRPr lang="en-SG" dirty="0"/>
          </a:p>
        </p:txBody>
      </p:sp>
      <p:sp>
        <p:nvSpPr>
          <p:cNvPr id="3" name="Content Placeholder 2"/>
          <p:cNvSpPr>
            <a:spLocks noGrp="1"/>
          </p:cNvSpPr>
          <p:nvPr>
            <p:ph idx="1"/>
          </p:nvPr>
        </p:nvSpPr>
        <p:spPr>
          <a:xfrm>
            <a:off x="457200" y="1124745"/>
            <a:ext cx="8229600" cy="792087"/>
          </a:xfrm>
        </p:spPr>
        <p:txBody>
          <a:bodyPr>
            <a:normAutofit fontScale="85000" lnSpcReduction="20000"/>
          </a:bodyPr>
          <a:lstStyle/>
          <a:p>
            <a:r>
              <a:rPr lang="en-US" dirty="0"/>
              <a:t>Improvement 2: Push projections down as far as possible, create new projections whenever possible</a:t>
            </a:r>
            <a:endParaRPr lang="en-SG" dirty="0"/>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cxnSp>
        <p:nvCxnSpPr>
          <p:cNvPr id="7" name="Straight Connector 6"/>
          <p:cNvCxnSpPr/>
          <p:nvPr/>
        </p:nvCxnSpPr>
        <p:spPr bwMode="auto">
          <a:xfrm flipH="1">
            <a:off x="1763688" y="4450324"/>
            <a:ext cx="317884"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3167844" y="4515726"/>
            <a:ext cx="540060" cy="56945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cxnSp>
        <p:nvCxnSpPr>
          <p:cNvPr id="12" name="Straight Connector 11"/>
          <p:cNvCxnSpPr/>
          <p:nvPr/>
        </p:nvCxnSpPr>
        <p:spPr bwMode="auto">
          <a:xfrm flipH="1">
            <a:off x="2589731" y="3941767"/>
            <a:ext cx="254077" cy="17208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4608841" y="3534422"/>
            <a:ext cx="539223" cy="858896"/>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6660232" y="3028503"/>
            <a:ext cx="1353544" cy="2056681"/>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flipH="1">
            <a:off x="3928297" y="2933655"/>
            <a:ext cx="1092592" cy="22744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1556792"/>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2145923"/>
            <a:ext cx="0" cy="355684"/>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7" name="TextBox 26"/>
          <p:cNvSpPr txBox="1"/>
          <p:nvPr/>
        </p:nvSpPr>
        <p:spPr>
          <a:xfrm>
            <a:off x="4819155" y="2429599"/>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28" name="Flowchart: Collate 27"/>
          <p:cNvSpPr/>
          <p:nvPr/>
        </p:nvSpPr>
        <p:spPr bwMode="auto">
          <a:xfrm rot="16200000">
            <a:off x="4503685" y="2474169"/>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9" name="TextBox 28"/>
          <p:cNvSpPr txBox="1"/>
          <p:nvPr/>
        </p:nvSpPr>
        <p:spPr>
          <a:xfrm>
            <a:off x="3382837" y="3028503"/>
            <a:ext cx="1661032" cy="420628"/>
          </a:xfrm>
          <a:prstGeom prst="rect">
            <a:avLst/>
          </a:prstGeom>
          <a:noFill/>
        </p:spPr>
        <p:txBody>
          <a:bodyPr wrap="none" rtlCol="0">
            <a:spAutoFit/>
          </a:bodyPr>
          <a:lstStyle/>
          <a:p>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endParaRPr lang="en-SG" sz="3200" baseline="-25000" dirty="0">
              <a:latin typeface="Calibri" panose="020F0502020204030204" pitchFamily="34" charset="0"/>
            </a:endParaRPr>
          </a:p>
        </p:txBody>
      </p:sp>
      <p:sp>
        <p:nvSpPr>
          <p:cNvPr id="30" name="Flowchart: Collate 29"/>
          <p:cNvSpPr/>
          <p:nvPr/>
        </p:nvSpPr>
        <p:spPr bwMode="auto">
          <a:xfrm rot="16200000">
            <a:off x="3067367" y="3073073"/>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1" name="TextBox 30"/>
          <p:cNvSpPr txBox="1"/>
          <p:nvPr/>
        </p:nvSpPr>
        <p:spPr>
          <a:xfrm>
            <a:off x="1716653" y="3972690"/>
            <a:ext cx="1861663" cy="420628"/>
          </a:xfrm>
          <a:prstGeom prst="rect">
            <a:avLst/>
          </a:prstGeom>
          <a:noFill/>
        </p:spPr>
        <p:txBody>
          <a:bodyPr wrap="none" rtlCol="0">
            <a:spAutoFit/>
          </a:bodyPr>
          <a:lstStyle/>
          <a:p>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endParaRPr lang="en-SG" sz="3200" baseline="-25000" dirty="0">
              <a:latin typeface="Calibri" panose="020F0502020204030204" pitchFamily="34" charset="0"/>
            </a:endParaRPr>
          </a:p>
        </p:txBody>
      </p:sp>
      <p:sp>
        <p:nvSpPr>
          <p:cNvPr id="32" name="Flowchart: Collate 31"/>
          <p:cNvSpPr/>
          <p:nvPr/>
        </p:nvSpPr>
        <p:spPr bwMode="auto">
          <a:xfrm rot="16200000">
            <a:off x="1401183" y="4017260"/>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cxnSp>
        <p:nvCxnSpPr>
          <p:cNvPr id="34" name="Straight Connector 33"/>
          <p:cNvCxnSpPr/>
          <p:nvPr/>
        </p:nvCxnSpPr>
        <p:spPr bwMode="auto">
          <a:xfrm>
            <a:off x="1721977" y="4990239"/>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5" name="TextBox 34"/>
          <p:cNvSpPr txBox="1"/>
          <p:nvPr/>
        </p:nvSpPr>
        <p:spPr>
          <a:xfrm>
            <a:off x="2699792" y="4860449"/>
            <a:ext cx="1994329"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err="1">
                <a:latin typeface="Calibri" panose="020F0502020204030204" pitchFamily="34" charset="0"/>
                <a:sym typeface="Wingdings" pitchFamily="2" charset="2"/>
              </a:rPr>
              <a:t>U,buyer</a:t>
            </a:r>
            <a:r>
              <a:rPr lang="en-US" sz="3200" baseline="-25000" dirty="0">
                <a:latin typeface="Calibri" panose="020F0502020204030204" pitchFamily="34" charset="0"/>
                <a:sym typeface="Wingdings" pitchFamily="2" charset="2"/>
              </a:rPr>
              <a:t>, </a:t>
            </a:r>
            <a:r>
              <a:rPr lang="en-US" sz="3200" baseline="-25000" dirty="0" err="1">
                <a:latin typeface="Calibri" panose="020F0502020204030204" pitchFamily="34" charset="0"/>
                <a:sym typeface="Wingdings" pitchFamily="2" charset="2"/>
              </a:rPr>
              <a:t>U.pid</a:t>
            </a:r>
            <a:endParaRPr lang="en-SG" sz="3200" baseline="-25000" dirty="0">
              <a:latin typeface="Calibri" panose="020F0502020204030204" pitchFamily="34" charset="0"/>
            </a:endParaRPr>
          </a:p>
        </p:txBody>
      </p:sp>
      <p:cxnSp>
        <p:nvCxnSpPr>
          <p:cNvPr id="36" name="Straight Connector 35"/>
          <p:cNvCxnSpPr/>
          <p:nvPr/>
        </p:nvCxnSpPr>
        <p:spPr bwMode="auto">
          <a:xfrm>
            <a:off x="3707904" y="5489940"/>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7" name="TextBox 36"/>
          <p:cNvSpPr txBox="1"/>
          <p:nvPr/>
        </p:nvSpPr>
        <p:spPr>
          <a:xfrm>
            <a:off x="1975500" y="3356992"/>
            <a:ext cx="1999650"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U.Pid</a:t>
            </a:r>
            <a:endParaRPr lang="en-SG" sz="3200" baseline="-25000" dirty="0">
              <a:latin typeface="Calibri" panose="020F0502020204030204" pitchFamily="34" charset="0"/>
            </a:endParaRPr>
          </a:p>
        </p:txBody>
      </p:sp>
      <p:cxnSp>
        <p:nvCxnSpPr>
          <p:cNvPr id="38" name="Straight Connector 37"/>
          <p:cNvCxnSpPr/>
          <p:nvPr/>
        </p:nvCxnSpPr>
        <p:spPr bwMode="auto">
          <a:xfrm flipH="1">
            <a:off x="2962210" y="3419466"/>
            <a:ext cx="450392" cy="229913"/>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9" name="TextBox 38"/>
          <p:cNvSpPr txBox="1"/>
          <p:nvPr/>
        </p:nvSpPr>
        <p:spPr>
          <a:xfrm>
            <a:off x="4139952" y="4212377"/>
            <a:ext cx="2028376"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err="1">
                <a:latin typeface="Calibri" panose="020F0502020204030204" pitchFamily="34" charset="0"/>
                <a:sym typeface="Wingdings" pitchFamily="2" charset="2"/>
              </a:rPr>
              <a:t>R.Pid</a:t>
            </a:r>
            <a:r>
              <a:rPr lang="en-US" sz="3200" baseline="-25000" dirty="0">
                <a:latin typeface="Calibri" panose="020F0502020204030204" pitchFamily="34" charset="0"/>
                <a:sym typeface="Wingdings" pitchFamily="2" charset="2"/>
              </a:rPr>
              <a:t>, </a:t>
            </a:r>
            <a:r>
              <a:rPr lang="en-US" sz="3200" baseline="-25000" dirty="0" err="1">
                <a:latin typeface="Calibri" panose="020F0502020204030204" pitchFamily="34" charset="0"/>
                <a:sym typeface="Wingdings" pitchFamily="2" charset="2"/>
              </a:rPr>
              <a:t>R.maker</a:t>
            </a:r>
            <a:endParaRPr lang="en-SG" sz="3200" baseline="-25000" dirty="0">
              <a:latin typeface="Calibri" panose="020F0502020204030204" pitchFamily="34" charset="0"/>
            </a:endParaRPr>
          </a:p>
        </p:txBody>
      </p:sp>
      <p:cxnSp>
        <p:nvCxnSpPr>
          <p:cNvPr id="40" name="Straight Connector 39"/>
          <p:cNvCxnSpPr/>
          <p:nvPr/>
        </p:nvCxnSpPr>
        <p:spPr bwMode="auto">
          <a:xfrm>
            <a:off x="5368587" y="4860449"/>
            <a:ext cx="539223" cy="85889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18039012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4819155" y="2132856"/>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41" name="TextBox 40"/>
          <p:cNvSpPr txBox="1"/>
          <p:nvPr/>
        </p:nvSpPr>
        <p:spPr>
          <a:xfrm>
            <a:off x="2915816" y="2412177"/>
            <a:ext cx="2266261"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R.maker</a:t>
            </a:r>
            <a:endParaRPr lang="en-SG" sz="3200" baseline="-25000" dirty="0">
              <a:latin typeface="Calibri" panose="020F0502020204030204" pitchFamily="34" charset="0"/>
            </a:endParaRPr>
          </a:p>
        </p:txBody>
      </p:sp>
      <p:sp>
        <p:nvSpPr>
          <p:cNvPr id="29" name="TextBox 28"/>
          <p:cNvSpPr txBox="1"/>
          <p:nvPr/>
        </p:nvSpPr>
        <p:spPr>
          <a:xfrm>
            <a:off x="3382837" y="3028503"/>
            <a:ext cx="1661032" cy="420628"/>
          </a:xfrm>
          <a:prstGeom prst="rect">
            <a:avLst/>
          </a:prstGeom>
          <a:noFill/>
        </p:spPr>
        <p:txBody>
          <a:bodyPr wrap="none" rtlCol="0">
            <a:spAutoFit/>
          </a:bodyPr>
          <a:lstStyle/>
          <a:p>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endParaRPr lang="en-SG" sz="3200" baseline="-25000" dirty="0">
              <a:latin typeface="Calibri" panose="020F0502020204030204" pitchFamily="34" charset="0"/>
            </a:endParaRPr>
          </a:p>
        </p:txBody>
      </p:sp>
      <p:sp>
        <p:nvSpPr>
          <p:cNvPr id="33" name="TextBox 32"/>
          <p:cNvSpPr txBox="1"/>
          <p:nvPr/>
        </p:nvSpPr>
        <p:spPr>
          <a:xfrm>
            <a:off x="765995" y="4401108"/>
            <a:ext cx="1883016"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P.ssn</a:t>
            </a:r>
            <a:endParaRPr lang="en-SG" sz="3200" baseline="-25000" dirty="0">
              <a:latin typeface="Calibri" panose="020F0502020204030204" pitchFamily="34" charset="0"/>
            </a:endParaRPr>
          </a:p>
        </p:txBody>
      </p:sp>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2" name="Title 1"/>
          <p:cNvSpPr>
            <a:spLocks noGrp="1"/>
          </p:cNvSpPr>
          <p:nvPr>
            <p:ph type="title"/>
          </p:nvPr>
        </p:nvSpPr>
        <p:spPr/>
        <p:txBody>
          <a:bodyPr/>
          <a:lstStyle/>
          <a:p>
            <a:r>
              <a:rPr lang="en-US" dirty="0"/>
              <a:t>Then gradually improves it</a:t>
            </a:r>
            <a:endParaRPr lang="en-SG" dirty="0"/>
          </a:p>
        </p:txBody>
      </p:sp>
      <p:sp>
        <p:nvSpPr>
          <p:cNvPr id="3" name="Content Placeholder 2"/>
          <p:cNvSpPr>
            <a:spLocks noGrp="1"/>
          </p:cNvSpPr>
          <p:nvPr>
            <p:ph idx="1"/>
          </p:nvPr>
        </p:nvSpPr>
        <p:spPr>
          <a:xfrm>
            <a:off x="457200" y="1124745"/>
            <a:ext cx="8229600" cy="792087"/>
          </a:xfrm>
        </p:spPr>
        <p:txBody>
          <a:bodyPr>
            <a:normAutofit fontScale="85000" lnSpcReduction="20000"/>
          </a:bodyPr>
          <a:lstStyle/>
          <a:p>
            <a:r>
              <a:rPr lang="en-US" dirty="0"/>
              <a:t>Improvement 2: Push projections down as far as possible, create new projections whenever possible</a:t>
            </a:r>
            <a:endParaRPr lang="en-SG" dirty="0"/>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cxnSp>
        <p:nvCxnSpPr>
          <p:cNvPr id="7" name="Straight Connector 6"/>
          <p:cNvCxnSpPr/>
          <p:nvPr/>
        </p:nvCxnSpPr>
        <p:spPr bwMode="auto">
          <a:xfrm flipH="1">
            <a:off x="1763688" y="4450324"/>
            <a:ext cx="317884"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3167844" y="4515726"/>
            <a:ext cx="540060" cy="56945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cxnSp>
        <p:nvCxnSpPr>
          <p:cNvPr id="12" name="Straight Connector 11"/>
          <p:cNvCxnSpPr/>
          <p:nvPr/>
        </p:nvCxnSpPr>
        <p:spPr bwMode="auto">
          <a:xfrm flipH="1">
            <a:off x="2589731" y="3941767"/>
            <a:ext cx="254077" cy="17208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4608841" y="3534422"/>
            <a:ext cx="539223" cy="858896"/>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6382874" y="2685114"/>
            <a:ext cx="1630902" cy="240007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a:stCxn id="29" idx="0"/>
          </p:cNvCxnSpPr>
          <p:nvPr/>
        </p:nvCxnSpPr>
        <p:spPr bwMode="auto">
          <a:xfrm flipH="1">
            <a:off x="3928297" y="3028503"/>
            <a:ext cx="285056" cy="13259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1556792"/>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2074496"/>
            <a:ext cx="0" cy="197247"/>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2" y="5525943"/>
            <a:ext cx="133945"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8" name="Flowchart: Collate 27"/>
          <p:cNvSpPr/>
          <p:nvPr/>
        </p:nvSpPr>
        <p:spPr bwMode="auto">
          <a:xfrm rot="16200000">
            <a:off x="4503685" y="2177426"/>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0" name="Flowchart: Collate 29"/>
          <p:cNvSpPr/>
          <p:nvPr/>
        </p:nvSpPr>
        <p:spPr bwMode="auto">
          <a:xfrm rot="16200000">
            <a:off x="3067367" y="3073073"/>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1" name="TextBox 30"/>
          <p:cNvSpPr txBox="1"/>
          <p:nvPr/>
        </p:nvSpPr>
        <p:spPr>
          <a:xfrm>
            <a:off x="1716653" y="3972690"/>
            <a:ext cx="1861663" cy="420628"/>
          </a:xfrm>
          <a:prstGeom prst="rect">
            <a:avLst/>
          </a:prstGeom>
          <a:noFill/>
        </p:spPr>
        <p:txBody>
          <a:bodyPr wrap="none" rtlCol="0">
            <a:spAutoFit/>
          </a:bodyPr>
          <a:lstStyle/>
          <a:p>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endParaRPr lang="en-SG" sz="3200" baseline="-25000" dirty="0">
              <a:latin typeface="Calibri" panose="020F0502020204030204" pitchFamily="34" charset="0"/>
            </a:endParaRPr>
          </a:p>
        </p:txBody>
      </p:sp>
      <p:sp>
        <p:nvSpPr>
          <p:cNvPr id="32" name="Flowchart: Collate 31"/>
          <p:cNvSpPr/>
          <p:nvPr/>
        </p:nvSpPr>
        <p:spPr bwMode="auto">
          <a:xfrm rot="16200000">
            <a:off x="1401183" y="4017260"/>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cxnSp>
        <p:nvCxnSpPr>
          <p:cNvPr id="34" name="Straight Connector 33"/>
          <p:cNvCxnSpPr/>
          <p:nvPr/>
        </p:nvCxnSpPr>
        <p:spPr bwMode="auto">
          <a:xfrm>
            <a:off x="1721977" y="4990239"/>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5" name="TextBox 34"/>
          <p:cNvSpPr txBox="1"/>
          <p:nvPr/>
        </p:nvSpPr>
        <p:spPr>
          <a:xfrm>
            <a:off x="2699792" y="4860449"/>
            <a:ext cx="1994329"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err="1">
                <a:latin typeface="Calibri" panose="020F0502020204030204" pitchFamily="34" charset="0"/>
                <a:sym typeface="Wingdings" pitchFamily="2" charset="2"/>
              </a:rPr>
              <a:t>U,buyer</a:t>
            </a:r>
            <a:r>
              <a:rPr lang="en-US" sz="3200" baseline="-25000" dirty="0">
                <a:latin typeface="Calibri" panose="020F0502020204030204" pitchFamily="34" charset="0"/>
                <a:sym typeface="Wingdings" pitchFamily="2" charset="2"/>
              </a:rPr>
              <a:t>, </a:t>
            </a:r>
            <a:r>
              <a:rPr lang="en-US" sz="3200" baseline="-25000" dirty="0" err="1">
                <a:latin typeface="Calibri" panose="020F0502020204030204" pitchFamily="34" charset="0"/>
                <a:sym typeface="Wingdings" pitchFamily="2" charset="2"/>
              </a:rPr>
              <a:t>U.pid</a:t>
            </a:r>
            <a:endParaRPr lang="en-SG" sz="3200" baseline="-25000" dirty="0">
              <a:latin typeface="Calibri" panose="020F0502020204030204" pitchFamily="34" charset="0"/>
            </a:endParaRPr>
          </a:p>
        </p:txBody>
      </p:sp>
      <p:cxnSp>
        <p:nvCxnSpPr>
          <p:cNvPr id="36" name="Straight Connector 35"/>
          <p:cNvCxnSpPr/>
          <p:nvPr/>
        </p:nvCxnSpPr>
        <p:spPr bwMode="auto">
          <a:xfrm>
            <a:off x="3707904" y="5489940"/>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7" name="TextBox 36"/>
          <p:cNvSpPr txBox="1"/>
          <p:nvPr/>
        </p:nvSpPr>
        <p:spPr>
          <a:xfrm>
            <a:off x="1975500" y="3356992"/>
            <a:ext cx="1999650"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U.Pid</a:t>
            </a:r>
            <a:endParaRPr lang="en-SG" sz="3200" baseline="-25000" dirty="0">
              <a:latin typeface="Calibri" panose="020F0502020204030204" pitchFamily="34" charset="0"/>
            </a:endParaRPr>
          </a:p>
        </p:txBody>
      </p:sp>
      <p:cxnSp>
        <p:nvCxnSpPr>
          <p:cNvPr id="38" name="Straight Connector 37"/>
          <p:cNvCxnSpPr/>
          <p:nvPr/>
        </p:nvCxnSpPr>
        <p:spPr bwMode="auto">
          <a:xfrm flipH="1">
            <a:off x="2962210" y="3419466"/>
            <a:ext cx="450392" cy="229913"/>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9" name="TextBox 38"/>
          <p:cNvSpPr txBox="1"/>
          <p:nvPr/>
        </p:nvSpPr>
        <p:spPr>
          <a:xfrm>
            <a:off x="4139952" y="4212377"/>
            <a:ext cx="2028376"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err="1">
                <a:latin typeface="Calibri" panose="020F0502020204030204" pitchFamily="34" charset="0"/>
                <a:sym typeface="Wingdings" pitchFamily="2" charset="2"/>
              </a:rPr>
              <a:t>R.Pid</a:t>
            </a:r>
            <a:r>
              <a:rPr lang="en-US" sz="3200" baseline="-25000" dirty="0">
                <a:latin typeface="Calibri" panose="020F0502020204030204" pitchFamily="34" charset="0"/>
                <a:sym typeface="Wingdings" pitchFamily="2" charset="2"/>
              </a:rPr>
              <a:t>, </a:t>
            </a:r>
            <a:r>
              <a:rPr lang="en-US" sz="3200" baseline="-25000" dirty="0" err="1">
                <a:latin typeface="Calibri" panose="020F0502020204030204" pitchFamily="34" charset="0"/>
                <a:sym typeface="Wingdings" pitchFamily="2" charset="2"/>
              </a:rPr>
              <a:t>R.maker</a:t>
            </a:r>
            <a:endParaRPr lang="en-SG" sz="3200" baseline="-25000" dirty="0">
              <a:latin typeface="Calibri" panose="020F0502020204030204" pitchFamily="34" charset="0"/>
            </a:endParaRPr>
          </a:p>
        </p:txBody>
      </p:sp>
      <p:cxnSp>
        <p:nvCxnSpPr>
          <p:cNvPr id="40" name="Straight Connector 39"/>
          <p:cNvCxnSpPr/>
          <p:nvPr/>
        </p:nvCxnSpPr>
        <p:spPr bwMode="auto">
          <a:xfrm>
            <a:off x="5368587" y="4860449"/>
            <a:ext cx="539223" cy="858896"/>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42" name="Straight Connector 41"/>
          <p:cNvCxnSpPr/>
          <p:nvPr/>
        </p:nvCxnSpPr>
        <p:spPr bwMode="auto">
          <a:xfrm flipH="1">
            <a:off x="4518666" y="2552518"/>
            <a:ext cx="337154" cy="13259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858200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4819155" y="2132856"/>
            <a:ext cx="1900392" cy="420628"/>
          </a:xfrm>
          <a:prstGeom prst="rect">
            <a:avLst/>
          </a:prstGeom>
          <a:noFill/>
        </p:spPr>
        <p:txBody>
          <a:bodyPr wrap="none" rtlCol="0">
            <a:spAutoFit/>
          </a:bodyPr>
          <a:lstStyle/>
          <a:p>
            <a:r>
              <a:rPr lang="en-US" sz="3200" baseline="-25000" dirty="0" err="1">
                <a:latin typeface="Calibri" panose="020F0502020204030204" pitchFamily="34" charset="0"/>
              </a:rPr>
              <a:t>R.maker</a:t>
            </a:r>
            <a:r>
              <a:rPr lang="en-US" sz="3200" baseline="-25000" dirty="0">
                <a:latin typeface="Calibri" panose="020F0502020204030204" pitchFamily="34" charset="0"/>
              </a:rPr>
              <a:t> = </a:t>
            </a:r>
            <a:r>
              <a:rPr lang="en-US" sz="3200" baseline="-25000" dirty="0" err="1">
                <a:latin typeface="Calibri" panose="020F0502020204030204" pitchFamily="34" charset="0"/>
              </a:rPr>
              <a:t>C.cid</a:t>
            </a:r>
            <a:endParaRPr lang="en-SG" sz="3200" baseline="-25000" dirty="0">
              <a:latin typeface="Calibri" panose="020F0502020204030204" pitchFamily="34" charset="0"/>
            </a:endParaRPr>
          </a:p>
        </p:txBody>
      </p:sp>
      <p:sp>
        <p:nvSpPr>
          <p:cNvPr id="41" name="TextBox 40"/>
          <p:cNvSpPr txBox="1"/>
          <p:nvPr/>
        </p:nvSpPr>
        <p:spPr>
          <a:xfrm>
            <a:off x="2915816" y="2412177"/>
            <a:ext cx="2266261"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R.maker</a:t>
            </a:r>
            <a:endParaRPr lang="en-SG" sz="3200" baseline="-25000" dirty="0">
              <a:latin typeface="Calibri" panose="020F0502020204030204" pitchFamily="34" charset="0"/>
            </a:endParaRPr>
          </a:p>
        </p:txBody>
      </p:sp>
      <p:sp>
        <p:nvSpPr>
          <p:cNvPr id="29" name="TextBox 28"/>
          <p:cNvSpPr txBox="1"/>
          <p:nvPr/>
        </p:nvSpPr>
        <p:spPr>
          <a:xfrm>
            <a:off x="3382837" y="3028503"/>
            <a:ext cx="1661032" cy="420628"/>
          </a:xfrm>
          <a:prstGeom prst="rect">
            <a:avLst/>
          </a:prstGeom>
          <a:noFill/>
        </p:spPr>
        <p:txBody>
          <a:bodyPr wrap="none" rtlCol="0">
            <a:spAutoFit/>
          </a:bodyPr>
          <a:lstStyle/>
          <a:p>
            <a:r>
              <a:rPr lang="en-US" sz="3200" baseline="-25000" dirty="0" err="1">
                <a:latin typeface="Calibri" panose="020F0502020204030204" pitchFamily="34" charset="0"/>
              </a:rPr>
              <a:t>U.pid</a:t>
            </a:r>
            <a:r>
              <a:rPr lang="en-US" sz="3200" baseline="-25000" dirty="0">
                <a:latin typeface="Calibri" panose="020F0502020204030204" pitchFamily="34" charset="0"/>
              </a:rPr>
              <a:t> = </a:t>
            </a:r>
            <a:r>
              <a:rPr lang="en-US" sz="3200" baseline="-25000" dirty="0" err="1">
                <a:latin typeface="Calibri" panose="020F0502020204030204" pitchFamily="34" charset="0"/>
              </a:rPr>
              <a:t>R.pid</a:t>
            </a:r>
            <a:endParaRPr lang="en-SG" sz="3200" baseline="-25000" dirty="0">
              <a:latin typeface="Calibri" panose="020F0502020204030204" pitchFamily="34" charset="0"/>
            </a:endParaRPr>
          </a:p>
        </p:txBody>
      </p:sp>
      <p:sp>
        <p:nvSpPr>
          <p:cNvPr id="33" name="TextBox 32"/>
          <p:cNvSpPr txBox="1"/>
          <p:nvPr/>
        </p:nvSpPr>
        <p:spPr>
          <a:xfrm>
            <a:off x="765995" y="4401108"/>
            <a:ext cx="1883016"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P.ssn</a:t>
            </a:r>
            <a:endParaRPr lang="en-SG" sz="3200" baseline="-25000" dirty="0">
              <a:latin typeface="Calibri" panose="020F0502020204030204" pitchFamily="34" charset="0"/>
            </a:endParaRPr>
          </a:p>
        </p:txBody>
      </p:sp>
      <p:sp>
        <p:nvSpPr>
          <p:cNvPr id="25" name="TextBox 24"/>
          <p:cNvSpPr txBox="1"/>
          <p:nvPr/>
        </p:nvSpPr>
        <p:spPr>
          <a:xfrm>
            <a:off x="178201" y="4941168"/>
            <a:ext cx="2333652"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city = ‘Singapore’</a:t>
            </a:r>
            <a:endParaRPr lang="en-SG" sz="3200" baseline="-25000" dirty="0">
              <a:latin typeface="Calibri" panose="020F0502020204030204" pitchFamily="34" charset="0"/>
            </a:endParaRPr>
          </a:p>
        </p:txBody>
      </p:sp>
      <p:sp>
        <p:nvSpPr>
          <p:cNvPr id="2" name="Title 1"/>
          <p:cNvSpPr>
            <a:spLocks noGrp="1"/>
          </p:cNvSpPr>
          <p:nvPr>
            <p:ph type="title"/>
          </p:nvPr>
        </p:nvSpPr>
        <p:spPr/>
        <p:txBody>
          <a:bodyPr/>
          <a:lstStyle/>
          <a:p>
            <a:r>
              <a:rPr lang="en-US" dirty="0"/>
              <a:t>Then gradually improves it</a:t>
            </a:r>
            <a:endParaRPr lang="en-SG" dirty="0"/>
          </a:p>
        </p:txBody>
      </p:sp>
      <p:sp>
        <p:nvSpPr>
          <p:cNvPr id="3" name="Content Placeholder 2"/>
          <p:cNvSpPr>
            <a:spLocks noGrp="1"/>
          </p:cNvSpPr>
          <p:nvPr>
            <p:ph idx="1"/>
          </p:nvPr>
        </p:nvSpPr>
        <p:spPr>
          <a:xfrm>
            <a:off x="457200" y="1124745"/>
            <a:ext cx="8229600" cy="792087"/>
          </a:xfrm>
        </p:spPr>
        <p:txBody>
          <a:bodyPr>
            <a:normAutofit fontScale="85000" lnSpcReduction="20000"/>
          </a:bodyPr>
          <a:lstStyle/>
          <a:p>
            <a:r>
              <a:rPr lang="en-US" dirty="0"/>
              <a:t>Improvement 2: Push projections down as far as possible, create new projections whenever possible</a:t>
            </a:r>
            <a:endParaRPr lang="en-SG" dirty="0"/>
          </a:p>
        </p:txBody>
      </p:sp>
      <p:sp>
        <p:nvSpPr>
          <p:cNvPr id="4" name="TextBox 3"/>
          <p:cNvSpPr txBox="1"/>
          <p:nvPr/>
        </p:nvSpPr>
        <p:spPr>
          <a:xfrm>
            <a:off x="467544" y="5642084"/>
            <a:ext cx="1447319" cy="523220"/>
          </a:xfrm>
          <a:prstGeom prst="rect">
            <a:avLst/>
          </a:prstGeom>
          <a:noFill/>
        </p:spPr>
        <p:txBody>
          <a:bodyPr wrap="none" rtlCol="0">
            <a:spAutoFit/>
          </a:bodyPr>
          <a:lstStyle/>
          <a:p>
            <a:r>
              <a:rPr lang="en-US" sz="2800" dirty="0">
                <a:latin typeface="Calibri" panose="020F0502020204030204" pitchFamily="34" charset="0"/>
              </a:rPr>
              <a:t>Person P</a:t>
            </a:r>
            <a:endParaRPr lang="en-SG" sz="2800" dirty="0">
              <a:latin typeface="Calibri" panose="020F0502020204030204" pitchFamily="34" charset="0"/>
            </a:endParaRPr>
          </a:p>
        </p:txBody>
      </p:sp>
      <p:sp>
        <p:nvSpPr>
          <p:cNvPr id="5" name="TextBox 4"/>
          <p:cNvSpPr txBox="1"/>
          <p:nvPr/>
        </p:nvSpPr>
        <p:spPr>
          <a:xfrm>
            <a:off x="2593447" y="5642084"/>
            <a:ext cx="1824089" cy="523220"/>
          </a:xfrm>
          <a:prstGeom prst="rect">
            <a:avLst/>
          </a:prstGeom>
          <a:noFill/>
        </p:spPr>
        <p:txBody>
          <a:bodyPr wrap="none" rtlCol="0">
            <a:spAutoFit/>
          </a:bodyPr>
          <a:lstStyle/>
          <a:p>
            <a:r>
              <a:rPr lang="en-US" sz="2800" dirty="0">
                <a:latin typeface="Calibri" panose="020F0502020204030204" pitchFamily="34" charset="0"/>
              </a:rPr>
              <a:t>Purchase U</a:t>
            </a:r>
            <a:endParaRPr lang="en-SG" sz="2800" dirty="0">
              <a:latin typeface="Calibri" panose="020F0502020204030204" pitchFamily="34" charset="0"/>
            </a:endParaRPr>
          </a:p>
        </p:txBody>
      </p:sp>
      <p:cxnSp>
        <p:nvCxnSpPr>
          <p:cNvPr id="7" name="Straight Connector 6"/>
          <p:cNvCxnSpPr/>
          <p:nvPr/>
        </p:nvCxnSpPr>
        <p:spPr bwMode="auto">
          <a:xfrm flipH="1">
            <a:off x="1763688" y="4450324"/>
            <a:ext cx="317884" cy="13080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3167844" y="4515726"/>
            <a:ext cx="540060" cy="56945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TextBox 8"/>
          <p:cNvSpPr txBox="1"/>
          <p:nvPr/>
        </p:nvSpPr>
        <p:spPr>
          <a:xfrm>
            <a:off x="4981440" y="5642084"/>
            <a:ext cx="1607171" cy="523220"/>
          </a:xfrm>
          <a:prstGeom prst="rect">
            <a:avLst/>
          </a:prstGeom>
          <a:noFill/>
        </p:spPr>
        <p:txBody>
          <a:bodyPr wrap="none" rtlCol="0">
            <a:spAutoFit/>
          </a:bodyPr>
          <a:lstStyle/>
          <a:p>
            <a:r>
              <a:rPr lang="en-US" sz="2800" dirty="0">
                <a:latin typeface="Calibri" panose="020F0502020204030204" pitchFamily="34" charset="0"/>
              </a:rPr>
              <a:t>Product R</a:t>
            </a:r>
            <a:endParaRPr lang="en-SG" sz="2800" dirty="0">
              <a:latin typeface="Calibri" panose="020F0502020204030204" pitchFamily="34" charset="0"/>
            </a:endParaRPr>
          </a:p>
        </p:txBody>
      </p:sp>
      <p:sp>
        <p:nvSpPr>
          <p:cNvPr id="10" name="TextBox 9"/>
          <p:cNvSpPr txBox="1"/>
          <p:nvPr/>
        </p:nvSpPr>
        <p:spPr>
          <a:xfrm>
            <a:off x="7083972" y="5642084"/>
            <a:ext cx="1829090" cy="523220"/>
          </a:xfrm>
          <a:prstGeom prst="rect">
            <a:avLst/>
          </a:prstGeom>
          <a:noFill/>
        </p:spPr>
        <p:txBody>
          <a:bodyPr wrap="none" rtlCol="0">
            <a:spAutoFit/>
          </a:bodyPr>
          <a:lstStyle/>
          <a:p>
            <a:r>
              <a:rPr lang="en-US" sz="2800" dirty="0">
                <a:latin typeface="Calibri" panose="020F0502020204030204" pitchFamily="34" charset="0"/>
              </a:rPr>
              <a:t>Company C</a:t>
            </a:r>
            <a:endParaRPr lang="en-SG" sz="2800" dirty="0">
              <a:latin typeface="Calibri" panose="020F0502020204030204" pitchFamily="34" charset="0"/>
            </a:endParaRPr>
          </a:p>
        </p:txBody>
      </p:sp>
      <p:cxnSp>
        <p:nvCxnSpPr>
          <p:cNvPr id="12" name="Straight Connector 11"/>
          <p:cNvCxnSpPr/>
          <p:nvPr/>
        </p:nvCxnSpPr>
        <p:spPr bwMode="auto">
          <a:xfrm flipH="1">
            <a:off x="2589731" y="3941767"/>
            <a:ext cx="254077" cy="17208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4608841" y="3534422"/>
            <a:ext cx="539223" cy="858896"/>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6382874" y="2685114"/>
            <a:ext cx="565390" cy="849308"/>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p:cNvCxnSpPr>
            <a:stCxn id="29" idx="0"/>
          </p:cNvCxnSpPr>
          <p:nvPr/>
        </p:nvCxnSpPr>
        <p:spPr bwMode="auto">
          <a:xfrm flipH="1">
            <a:off x="3928297" y="3028503"/>
            <a:ext cx="285056" cy="13259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7" name="TextBox 16"/>
          <p:cNvSpPr txBox="1"/>
          <p:nvPr/>
        </p:nvSpPr>
        <p:spPr>
          <a:xfrm>
            <a:off x="4855820" y="1556792"/>
            <a:ext cx="1217385"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a:t>
            </a:r>
            <a:endParaRPr lang="en-SG" sz="3200" baseline="-25000" dirty="0">
              <a:latin typeface="Calibri" panose="020F0502020204030204" pitchFamily="34" charset="0"/>
            </a:endParaRPr>
          </a:p>
        </p:txBody>
      </p:sp>
      <p:cxnSp>
        <p:nvCxnSpPr>
          <p:cNvPr id="18" name="Straight Connector 17"/>
          <p:cNvCxnSpPr/>
          <p:nvPr/>
        </p:nvCxnSpPr>
        <p:spPr bwMode="auto">
          <a:xfrm>
            <a:off x="5565111" y="2074496"/>
            <a:ext cx="0" cy="197247"/>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1" name="TextBox 20"/>
          <p:cNvSpPr txBox="1"/>
          <p:nvPr/>
        </p:nvSpPr>
        <p:spPr>
          <a:xfrm>
            <a:off x="6929985" y="4797152"/>
            <a:ext cx="2067938" cy="584775"/>
          </a:xfrm>
          <a:prstGeom prst="rect">
            <a:avLst/>
          </a:prstGeom>
          <a:noFill/>
        </p:spPr>
        <p:txBody>
          <a:bodyPr wrap="none" rtlCol="0">
            <a:spAutoFit/>
          </a:bodyPr>
          <a:lstStyle/>
          <a:p>
            <a:r>
              <a:rPr lang="el-GR" sz="3200" dirty="0">
                <a:solidFill>
                  <a:srgbClr val="0000FF"/>
                </a:solidFill>
              </a:rPr>
              <a:t>σ</a:t>
            </a:r>
            <a:r>
              <a:rPr lang="en-US" sz="3200" baseline="-25000" dirty="0">
                <a:latin typeface="Calibri" panose="020F0502020204030204" pitchFamily="34" charset="0"/>
              </a:rPr>
              <a:t>country = ‘US’</a:t>
            </a:r>
            <a:endParaRPr lang="en-SG" sz="3200" baseline="-25000" dirty="0">
              <a:latin typeface="Calibri" panose="020F0502020204030204" pitchFamily="34" charset="0"/>
            </a:endParaRPr>
          </a:p>
        </p:txBody>
      </p:sp>
      <p:cxnSp>
        <p:nvCxnSpPr>
          <p:cNvPr id="24" name="Straight Connector 23"/>
          <p:cNvCxnSpPr>
            <a:stCxn id="21" idx="2"/>
            <a:endCxn id="10" idx="0"/>
          </p:cNvCxnSpPr>
          <p:nvPr/>
        </p:nvCxnSpPr>
        <p:spPr bwMode="auto">
          <a:xfrm>
            <a:off x="7963954" y="5381927"/>
            <a:ext cx="34563" cy="26015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6" name="Straight Connector 25"/>
          <p:cNvCxnSpPr>
            <a:stCxn id="25" idx="2"/>
          </p:cNvCxnSpPr>
          <p:nvPr/>
        </p:nvCxnSpPr>
        <p:spPr bwMode="auto">
          <a:xfrm flipH="1">
            <a:off x="1211080" y="5525943"/>
            <a:ext cx="133947" cy="27932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8" name="Flowchart: Collate 27"/>
          <p:cNvSpPr/>
          <p:nvPr/>
        </p:nvSpPr>
        <p:spPr bwMode="auto">
          <a:xfrm rot="16200000">
            <a:off x="4503685" y="2177426"/>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0" name="Flowchart: Collate 29"/>
          <p:cNvSpPr/>
          <p:nvPr/>
        </p:nvSpPr>
        <p:spPr bwMode="auto">
          <a:xfrm rot="16200000">
            <a:off x="3067367" y="3073073"/>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31" name="TextBox 30"/>
          <p:cNvSpPr txBox="1"/>
          <p:nvPr/>
        </p:nvSpPr>
        <p:spPr>
          <a:xfrm>
            <a:off x="1716653" y="3972690"/>
            <a:ext cx="1861663" cy="420628"/>
          </a:xfrm>
          <a:prstGeom prst="rect">
            <a:avLst/>
          </a:prstGeom>
          <a:noFill/>
        </p:spPr>
        <p:txBody>
          <a:bodyPr wrap="none" rtlCol="0">
            <a:spAutoFit/>
          </a:bodyPr>
          <a:lstStyle/>
          <a:p>
            <a:r>
              <a:rPr lang="en-US" sz="3200" baseline="-25000" dirty="0" err="1">
                <a:latin typeface="Calibri" panose="020F0502020204030204" pitchFamily="34" charset="0"/>
              </a:rPr>
              <a:t>P.ssn</a:t>
            </a:r>
            <a:r>
              <a:rPr lang="en-US" sz="3200" baseline="-25000" dirty="0">
                <a:latin typeface="Calibri" panose="020F0502020204030204" pitchFamily="34" charset="0"/>
              </a:rPr>
              <a:t> = </a:t>
            </a:r>
            <a:r>
              <a:rPr lang="en-US" sz="3200" baseline="-25000" dirty="0" err="1">
                <a:latin typeface="Calibri" panose="020F0502020204030204" pitchFamily="34" charset="0"/>
              </a:rPr>
              <a:t>U.buyer</a:t>
            </a:r>
            <a:endParaRPr lang="en-SG" sz="3200" baseline="-25000" dirty="0">
              <a:latin typeface="Calibri" panose="020F0502020204030204" pitchFamily="34" charset="0"/>
            </a:endParaRPr>
          </a:p>
        </p:txBody>
      </p:sp>
      <p:sp>
        <p:nvSpPr>
          <p:cNvPr id="32" name="Flowchart: Collate 31"/>
          <p:cNvSpPr/>
          <p:nvPr/>
        </p:nvSpPr>
        <p:spPr bwMode="auto">
          <a:xfrm rot="16200000">
            <a:off x="1401183" y="4017260"/>
            <a:ext cx="210313" cy="420626"/>
          </a:xfrm>
          <a:prstGeom prst="flowChartCollate">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cxnSp>
        <p:nvCxnSpPr>
          <p:cNvPr id="34" name="Straight Connector 33"/>
          <p:cNvCxnSpPr/>
          <p:nvPr/>
        </p:nvCxnSpPr>
        <p:spPr bwMode="auto">
          <a:xfrm>
            <a:off x="1721977" y="4990239"/>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5" name="TextBox 34"/>
          <p:cNvSpPr txBox="1"/>
          <p:nvPr/>
        </p:nvSpPr>
        <p:spPr>
          <a:xfrm>
            <a:off x="2699792" y="4860449"/>
            <a:ext cx="1994329"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err="1">
                <a:latin typeface="Calibri" panose="020F0502020204030204" pitchFamily="34" charset="0"/>
                <a:sym typeface="Wingdings" pitchFamily="2" charset="2"/>
              </a:rPr>
              <a:t>U,buyer</a:t>
            </a:r>
            <a:r>
              <a:rPr lang="en-US" sz="3200" baseline="-25000" dirty="0">
                <a:latin typeface="Calibri" panose="020F0502020204030204" pitchFamily="34" charset="0"/>
                <a:sym typeface="Wingdings" pitchFamily="2" charset="2"/>
              </a:rPr>
              <a:t>, </a:t>
            </a:r>
            <a:r>
              <a:rPr lang="en-US" sz="3200" baseline="-25000" dirty="0" err="1">
                <a:latin typeface="Calibri" panose="020F0502020204030204" pitchFamily="34" charset="0"/>
                <a:sym typeface="Wingdings" pitchFamily="2" charset="2"/>
              </a:rPr>
              <a:t>U.pid</a:t>
            </a:r>
            <a:endParaRPr lang="en-SG" sz="3200" baseline="-25000" dirty="0">
              <a:latin typeface="Calibri" panose="020F0502020204030204" pitchFamily="34" charset="0"/>
            </a:endParaRPr>
          </a:p>
        </p:txBody>
      </p:sp>
      <p:cxnSp>
        <p:nvCxnSpPr>
          <p:cNvPr id="36" name="Straight Connector 35"/>
          <p:cNvCxnSpPr/>
          <p:nvPr/>
        </p:nvCxnSpPr>
        <p:spPr bwMode="auto">
          <a:xfrm>
            <a:off x="3707904" y="5489940"/>
            <a:ext cx="0" cy="24331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7" name="TextBox 36"/>
          <p:cNvSpPr txBox="1"/>
          <p:nvPr/>
        </p:nvSpPr>
        <p:spPr>
          <a:xfrm>
            <a:off x="1975500" y="3356992"/>
            <a:ext cx="1999650"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a:latin typeface="Calibri" panose="020F0502020204030204" pitchFamily="34" charset="0"/>
                <a:sym typeface="Wingdings" pitchFamily="2" charset="2"/>
              </a:rPr>
              <a:t>P.name, </a:t>
            </a:r>
            <a:r>
              <a:rPr lang="en-US" sz="3200" baseline="-25000" dirty="0" err="1">
                <a:latin typeface="Calibri" panose="020F0502020204030204" pitchFamily="34" charset="0"/>
                <a:sym typeface="Wingdings" pitchFamily="2" charset="2"/>
              </a:rPr>
              <a:t>U.Pid</a:t>
            </a:r>
            <a:endParaRPr lang="en-SG" sz="3200" baseline="-25000" dirty="0">
              <a:latin typeface="Calibri" panose="020F0502020204030204" pitchFamily="34" charset="0"/>
            </a:endParaRPr>
          </a:p>
        </p:txBody>
      </p:sp>
      <p:cxnSp>
        <p:nvCxnSpPr>
          <p:cNvPr id="38" name="Straight Connector 37"/>
          <p:cNvCxnSpPr/>
          <p:nvPr/>
        </p:nvCxnSpPr>
        <p:spPr bwMode="auto">
          <a:xfrm flipH="1">
            <a:off x="2962210" y="3419466"/>
            <a:ext cx="450392" cy="229913"/>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9" name="TextBox 38"/>
          <p:cNvSpPr txBox="1"/>
          <p:nvPr/>
        </p:nvSpPr>
        <p:spPr>
          <a:xfrm>
            <a:off x="4139952" y="4212377"/>
            <a:ext cx="2028376"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err="1">
                <a:latin typeface="Calibri" panose="020F0502020204030204" pitchFamily="34" charset="0"/>
                <a:sym typeface="Wingdings" pitchFamily="2" charset="2"/>
              </a:rPr>
              <a:t>R.Pid</a:t>
            </a:r>
            <a:r>
              <a:rPr lang="en-US" sz="3200" baseline="-25000" dirty="0">
                <a:latin typeface="Calibri" panose="020F0502020204030204" pitchFamily="34" charset="0"/>
                <a:sym typeface="Wingdings" pitchFamily="2" charset="2"/>
              </a:rPr>
              <a:t>, </a:t>
            </a:r>
            <a:r>
              <a:rPr lang="en-US" sz="3200" baseline="-25000" dirty="0" err="1">
                <a:latin typeface="Calibri" panose="020F0502020204030204" pitchFamily="34" charset="0"/>
                <a:sym typeface="Wingdings" pitchFamily="2" charset="2"/>
              </a:rPr>
              <a:t>R.maker</a:t>
            </a:r>
            <a:endParaRPr lang="en-SG" sz="3200" baseline="-25000" dirty="0">
              <a:latin typeface="Calibri" panose="020F0502020204030204" pitchFamily="34" charset="0"/>
            </a:endParaRPr>
          </a:p>
        </p:txBody>
      </p:sp>
      <p:cxnSp>
        <p:nvCxnSpPr>
          <p:cNvPr id="40" name="Straight Connector 39"/>
          <p:cNvCxnSpPr/>
          <p:nvPr/>
        </p:nvCxnSpPr>
        <p:spPr bwMode="auto">
          <a:xfrm>
            <a:off x="5368587" y="4860449"/>
            <a:ext cx="539223" cy="858896"/>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42" name="Straight Connector 41"/>
          <p:cNvCxnSpPr/>
          <p:nvPr/>
        </p:nvCxnSpPr>
        <p:spPr bwMode="auto">
          <a:xfrm flipH="1">
            <a:off x="4518666" y="2552518"/>
            <a:ext cx="337154" cy="132596"/>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43" name="TextBox 42"/>
          <p:cNvSpPr txBox="1"/>
          <p:nvPr/>
        </p:nvSpPr>
        <p:spPr>
          <a:xfrm>
            <a:off x="6685255" y="3420289"/>
            <a:ext cx="949299" cy="584775"/>
          </a:xfrm>
          <a:prstGeom prst="rect">
            <a:avLst/>
          </a:prstGeom>
          <a:noFill/>
        </p:spPr>
        <p:txBody>
          <a:bodyPr wrap="none" rtlCol="0">
            <a:spAutoFit/>
          </a:bodyPr>
          <a:lstStyle/>
          <a:p>
            <a:r>
              <a:rPr lang="el-GR" sz="3200" dirty="0">
                <a:solidFill>
                  <a:srgbClr val="0000FF"/>
                </a:solidFill>
                <a:latin typeface="Calibri" panose="020F0502020204030204" pitchFamily="34" charset="0"/>
              </a:rPr>
              <a:t>π</a:t>
            </a:r>
            <a:r>
              <a:rPr lang="en-US" sz="3200" baseline="-25000" dirty="0" err="1">
                <a:latin typeface="Calibri" panose="020F0502020204030204" pitchFamily="34" charset="0"/>
                <a:sym typeface="Wingdings" pitchFamily="2" charset="2"/>
              </a:rPr>
              <a:t>C.cid</a:t>
            </a:r>
            <a:endParaRPr lang="en-SG" sz="3200" baseline="-25000" dirty="0">
              <a:latin typeface="Calibri" panose="020F0502020204030204" pitchFamily="34" charset="0"/>
            </a:endParaRPr>
          </a:p>
        </p:txBody>
      </p:sp>
      <p:cxnSp>
        <p:nvCxnSpPr>
          <p:cNvPr id="44" name="Straight Connector 43"/>
          <p:cNvCxnSpPr/>
          <p:nvPr/>
        </p:nvCxnSpPr>
        <p:spPr bwMode="auto">
          <a:xfrm>
            <a:off x="7212803" y="4035335"/>
            <a:ext cx="565390" cy="849308"/>
          </a:xfrm>
          <a:prstGeom prst="line">
            <a:avLst/>
          </a:prstGeom>
          <a:solidFill>
            <a:schemeClr val="accent1"/>
          </a:solidFill>
          <a:ln w="381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1875374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DD4B5-2413-44F7-A885-6FCFC081A6E3}"/>
              </a:ext>
            </a:extLst>
          </p:cNvPr>
          <p:cNvSpPr>
            <a:spLocks noGrp="1"/>
          </p:cNvSpPr>
          <p:nvPr>
            <p:ph type="title"/>
          </p:nvPr>
        </p:nvSpPr>
        <p:spPr/>
        <p:txBody>
          <a:bodyPr/>
          <a:lstStyle/>
          <a:p>
            <a:r>
              <a:rPr lang="en-SG" dirty="0"/>
              <a:t>Optimization in the RA form</a:t>
            </a:r>
          </a:p>
        </p:txBody>
      </p:sp>
      <p:sp>
        <p:nvSpPr>
          <p:cNvPr id="3" name="Content Placeholder 2">
            <a:extLst>
              <a:ext uri="{FF2B5EF4-FFF2-40B4-BE49-F238E27FC236}">
                <a16:creationId xmlns:a16="http://schemas.microsoft.com/office/drawing/2014/main" id="{0DB77E1E-5F29-414C-BF30-A32D40424292}"/>
              </a:ext>
            </a:extLst>
          </p:cNvPr>
          <p:cNvSpPr>
            <a:spLocks noGrp="1"/>
          </p:cNvSpPr>
          <p:nvPr>
            <p:ph idx="1"/>
          </p:nvPr>
        </p:nvSpPr>
        <p:spPr>
          <a:xfrm>
            <a:off x="457200" y="1268760"/>
            <a:ext cx="8229600" cy="4862165"/>
          </a:xfrm>
        </p:spPr>
        <p:txBody>
          <a:bodyPr>
            <a:normAutofit fontScale="92500" lnSpcReduction="20000"/>
          </a:bodyPr>
          <a:lstStyle/>
          <a:p>
            <a:r>
              <a:rPr lang="en-SG" dirty="0"/>
              <a:t>In general, there are many more ways to optimize a relational algebra query</a:t>
            </a:r>
          </a:p>
          <a:p>
            <a:r>
              <a:rPr lang="en-SG" dirty="0"/>
              <a:t>And we can prove that those optimizations are </a:t>
            </a:r>
            <a:r>
              <a:rPr lang="en-SG" dirty="0">
                <a:solidFill>
                  <a:srgbClr val="0000FF"/>
                </a:solidFill>
              </a:rPr>
              <a:t>correct</a:t>
            </a:r>
          </a:p>
          <a:p>
            <a:pPr lvl="1"/>
            <a:r>
              <a:rPr lang="en-SG" dirty="0"/>
              <a:t>i.e., they generate a query that is equivalent to the original one</a:t>
            </a:r>
          </a:p>
          <a:p>
            <a:r>
              <a:rPr lang="en-SG" dirty="0"/>
              <a:t>Such proofs can be done rigorously since relational algebra is a form of math anyway</a:t>
            </a:r>
          </a:p>
          <a:p>
            <a:pPr lvl="1"/>
            <a:r>
              <a:rPr lang="en-SG" dirty="0"/>
              <a:t>It is </a:t>
            </a:r>
            <a:r>
              <a:rPr lang="en-SG"/>
              <a:t>much more difficult </a:t>
            </a:r>
            <a:r>
              <a:rPr lang="en-SG" dirty="0"/>
              <a:t>to do it properly using SQL instead of relational algebra</a:t>
            </a:r>
          </a:p>
          <a:p>
            <a:r>
              <a:rPr lang="en-SG" dirty="0"/>
              <a:t>You can learn more about query optimization in CS3223 Database Systems Implementation</a:t>
            </a:r>
          </a:p>
        </p:txBody>
      </p:sp>
    </p:spTree>
    <p:extLst>
      <p:ext uri="{BB962C8B-B14F-4D97-AF65-F5344CB8AC3E}">
        <p14:creationId xmlns:p14="http://schemas.microsoft.com/office/powerpoint/2010/main" val="2777338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Edge">
  <a:themeElements>
    <a:clrScheme name="Edge 12">
      <a:dk1>
        <a:srgbClr val="000000"/>
      </a:dk1>
      <a:lt1>
        <a:srgbClr val="FFFFFF"/>
      </a:lt1>
      <a:dk2>
        <a:srgbClr val="000000"/>
      </a:dk2>
      <a:lt2>
        <a:srgbClr val="666699"/>
      </a:lt2>
      <a:accent1>
        <a:srgbClr val="3366FF"/>
      </a:accent1>
      <a:accent2>
        <a:srgbClr val="3366FF"/>
      </a:accent2>
      <a:accent3>
        <a:srgbClr val="FFFFFF"/>
      </a:accent3>
      <a:accent4>
        <a:srgbClr val="000000"/>
      </a:accent4>
      <a:accent5>
        <a:srgbClr val="ADB8FF"/>
      </a:accent5>
      <a:accent6>
        <a:srgbClr val="2D5CE7"/>
      </a:accent6>
      <a:hlink>
        <a:srgbClr val="006666"/>
      </a:hlink>
      <a:folHlink>
        <a:srgbClr val="B2B2B2"/>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10">
        <a:dk1>
          <a:srgbClr val="000000"/>
        </a:dk1>
        <a:lt1>
          <a:srgbClr val="FFFFFF"/>
        </a:lt1>
        <a:dk2>
          <a:srgbClr val="000000"/>
        </a:dk2>
        <a:lt2>
          <a:srgbClr val="666699"/>
        </a:lt2>
        <a:accent1>
          <a:srgbClr val="3366FF"/>
        </a:accent1>
        <a:accent2>
          <a:srgbClr val="3366FF"/>
        </a:accent2>
        <a:accent3>
          <a:srgbClr val="FFFFFF"/>
        </a:accent3>
        <a:accent4>
          <a:srgbClr val="000000"/>
        </a:accent4>
        <a:accent5>
          <a:srgbClr val="ADB8FF"/>
        </a:accent5>
        <a:accent6>
          <a:srgbClr val="2D5CE7"/>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11">
        <a:dk1>
          <a:srgbClr val="000000"/>
        </a:dk1>
        <a:lt1>
          <a:srgbClr val="FFFFFF"/>
        </a:lt1>
        <a:dk2>
          <a:srgbClr val="000000"/>
        </a:dk2>
        <a:lt2>
          <a:srgbClr val="666699"/>
        </a:lt2>
        <a:accent1>
          <a:srgbClr val="009999"/>
        </a:accent1>
        <a:accent2>
          <a:srgbClr val="009999"/>
        </a:accent2>
        <a:accent3>
          <a:srgbClr val="FFFFFF"/>
        </a:accent3>
        <a:accent4>
          <a:srgbClr val="000000"/>
        </a:accent4>
        <a:accent5>
          <a:srgbClr val="AACACA"/>
        </a:accent5>
        <a:accent6>
          <a:srgbClr val="008A8A"/>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12">
        <a:dk1>
          <a:srgbClr val="000000"/>
        </a:dk1>
        <a:lt1>
          <a:srgbClr val="FFFFFF"/>
        </a:lt1>
        <a:dk2>
          <a:srgbClr val="000000"/>
        </a:dk2>
        <a:lt2>
          <a:srgbClr val="666699"/>
        </a:lt2>
        <a:accent1>
          <a:srgbClr val="3366FF"/>
        </a:accent1>
        <a:accent2>
          <a:srgbClr val="3366FF"/>
        </a:accent2>
        <a:accent3>
          <a:srgbClr val="FFFFFF"/>
        </a:accent3>
        <a:accent4>
          <a:srgbClr val="000000"/>
        </a:accent4>
        <a:accent5>
          <a:srgbClr val="ADB8FF"/>
        </a:accent5>
        <a:accent6>
          <a:srgbClr val="2D5CE7"/>
        </a:accent6>
        <a:hlink>
          <a:srgbClr val="006666"/>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0</TotalTime>
  <Words>5383</Words>
  <Application>Microsoft Office PowerPoint</Application>
  <PresentationFormat>On-screen Show (4:3)</PresentationFormat>
  <Paragraphs>2370</Paragraphs>
  <Slides>90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90</vt:i4>
      </vt:variant>
    </vt:vector>
  </HeadingPairs>
  <TitlesOfParts>
    <vt:vector size="100" baseType="lpstr">
      <vt:lpstr>Iskoola Pota</vt:lpstr>
      <vt:lpstr>MT Extra</vt:lpstr>
      <vt:lpstr>宋体</vt:lpstr>
      <vt:lpstr>Arial</vt:lpstr>
      <vt:lpstr>Calibri</vt:lpstr>
      <vt:lpstr>Cambria Math</vt:lpstr>
      <vt:lpstr>Garamond</vt:lpstr>
      <vt:lpstr>Symbol</vt:lpstr>
      <vt:lpstr>Wingdings</vt:lpstr>
      <vt:lpstr>Edge</vt:lpstr>
      <vt:lpstr>CS2102 Database Systems</vt:lpstr>
      <vt:lpstr>Relational Algebra: Motivation</vt:lpstr>
      <vt:lpstr>Relational Algebra: Motivation</vt:lpstr>
      <vt:lpstr>Relational Algebra</vt:lpstr>
      <vt:lpstr>Selection </vt:lpstr>
      <vt:lpstr>Selection </vt:lpstr>
      <vt:lpstr>Selection </vt:lpstr>
      <vt:lpstr>Selection </vt:lpstr>
      <vt:lpstr>Projection </vt:lpstr>
      <vt:lpstr>Combining Operators</vt:lpstr>
      <vt:lpstr>Combining Operators</vt:lpstr>
      <vt:lpstr>Union </vt:lpstr>
      <vt:lpstr>Union </vt:lpstr>
      <vt:lpstr>Union </vt:lpstr>
      <vt:lpstr>Intersection  </vt:lpstr>
      <vt:lpstr>Intersection  </vt:lpstr>
      <vt:lpstr>Difference </vt:lpstr>
      <vt:lpstr>Difference </vt:lpstr>
      <vt:lpstr>Difference </vt:lpstr>
      <vt:lpstr>Exercise</vt:lpstr>
      <vt:lpstr>Exercise</vt:lpstr>
      <vt:lpstr>Exercise</vt:lpstr>
      <vt:lpstr>Coming Next</vt:lpstr>
      <vt:lpstr>Natural Join ⋈</vt:lpstr>
      <vt:lpstr>Natural Join ⋈</vt:lpstr>
      <vt:lpstr>Natural Join ⋈</vt:lpstr>
      <vt:lpstr>Exercise</vt:lpstr>
      <vt:lpstr>Exercise</vt:lpstr>
      <vt:lpstr>Theta Join ⋈condition</vt:lpstr>
      <vt:lpstr>Theta Join ⋈condition</vt:lpstr>
      <vt:lpstr>Exercise</vt:lpstr>
      <vt:lpstr>Exercise</vt:lpstr>
      <vt:lpstr>Exercise</vt:lpstr>
      <vt:lpstr>Cartesian Product </vt:lpstr>
      <vt:lpstr>Assignment :=</vt:lpstr>
      <vt:lpstr>Assignment :=</vt:lpstr>
      <vt:lpstr>Rename </vt:lpstr>
      <vt:lpstr>Exercise</vt:lpstr>
      <vt:lpstr>Duplicate Elimination </vt:lpstr>
      <vt:lpstr>Extended Projection </vt:lpstr>
      <vt:lpstr>Extended Projection </vt:lpstr>
      <vt:lpstr>Coming Next</vt:lpstr>
      <vt:lpstr>Grouping and Aggregation </vt:lpstr>
      <vt:lpstr>Grouping and Aggregation </vt:lpstr>
      <vt:lpstr>Grouping and Aggregation </vt:lpstr>
      <vt:lpstr>Grouping and Aggregation </vt:lpstr>
      <vt:lpstr>Grouping and Aggregation </vt:lpstr>
      <vt:lpstr>Aggregate Functions</vt:lpstr>
      <vt:lpstr>Grouping and Aggregation </vt:lpstr>
      <vt:lpstr>Grouping and Aggregation </vt:lpstr>
      <vt:lpstr>Grouping and Aggregation </vt:lpstr>
      <vt:lpstr>Example</vt:lpstr>
      <vt:lpstr>Exercise</vt:lpstr>
      <vt:lpstr>Exercise</vt:lpstr>
      <vt:lpstr>Exercise</vt:lpstr>
      <vt:lpstr>Exercise</vt:lpstr>
      <vt:lpstr>Division </vt:lpstr>
      <vt:lpstr>Division </vt:lpstr>
      <vt:lpstr>Division </vt:lpstr>
      <vt:lpstr>Division </vt:lpstr>
      <vt:lpstr>Division </vt:lpstr>
      <vt:lpstr>Exercise</vt:lpstr>
      <vt:lpstr>Exercise</vt:lpstr>
      <vt:lpstr>Left Outerjoin ⋈L condition</vt:lpstr>
      <vt:lpstr>Left Outerjoin ⋈L condition</vt:lpstr>
      <vt:lpstr>Right Outerjoin ⋈R condition</vt:lpstr>
      <vt:lpstr>Right Outerjoin ⋈R condition</vt:lpstr>
      <vt:lpstr>Full Outerjoin ⋈condition</vt:lpstr>
      <vt:lpstr>Full Outerjoin ⋈condition</vt:lpstr>
      <vt:lpstr>Example</vt:lpstr>
      <vt:lpstr>Example</vt:lpstr>
      <vt:lpstr>Operator Trees</vt:lpstr>
      <vt:lpstr>Operator Trees</vt:lpstr>
      <vt:lpstr>Operator Trees</vt:lpstr>
      <vt:lpstr>“So relational algebra is just a more complicated way of writing SQL?”</vt:lpstr>
      <vt:lpstr>It starts with a simple operator tree</vt:lpstr>
      <vt:lpstr>Then gradually improves it</vt:lpstr>
      <vt:lpstr>Then gradually improves it</vt:lpstr>
      <vt:lpstr>Then gradually improves it</vt:lpstr>
      <vt:lpstr>Then gradually improves it</vt:lpstr>
      <vt:lpstr>Then gradually improves it</vt:lpstr>
      <vt:lpstr>Then gradually improves it</vt:lpstr>
      <vt:lpstr>Then gradually improves it</vt:lpstr>
      <vt:lpstr>Then gradually improves it</vt:lpstr>
      <vt:lpstr>Then gradually improves it</vt:lpstr>
      <vt:lpstr>Then gradually improves it</vt:lpstr>
      <vt:lpstr>Then gradually improves it</vt:lpstr>
      <vt:lpstr>Then gradually improves it</vt:lpstr>
      <vt:lpstr>Then gradually improves it</vt:lpstr>
      <vt:lpstr>Optimization in the RA 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 Preserving Data Publishing</dc:title>
  <dc:creator>xiaokui</dc:creator>
  <cp:lastModifiedBy>Xiaokui XIAO</cp:lastModifiedBy>
  <cp:revision>1304</cp:revision>
  <cp:lastPrinted>2016-09-07T15:07:15Z</cp:lastPrinted>
  <dcterms:created xsi:type="dcterms:W3CDTF">2009-03-02T02:47:37Z</dcterms:created>
  <dcterms:modified xsi:type="dcterms:W3CDTF">2019-06-18T03:02:50Z</dcterms:modified>
</cp:coreProperties>
</file>