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107"/>
  </p:notesMasterIdLst>
  <p:handoutMasterIdLst>
    <p:handoutMasterId r:id="rId108"/>
  </p:handoutMasterIdLst>
  <p:sldIdLst>
    <p:sldId id="256" r:id="rId2"/>
    <p:sldId id="572" r:id="rId3"/>
    <p:sldId id="557" r:id="rId4"/>
    <p:sldId id="558" r:id="rId5"/>
    <p:sldId id="559" r:id="rId6"/>
    <p:sldId id="560" r:id="rId7"/>
    <p:sldId id="561" r:id="rId8"/>
    <p:sldId id="562" r:id="rId9"/>
    <p:sldId id="563" r:id="rId10"/>
    <p:sldId id="564" r:id="rId11"/>
    <p:sldId id="565" r:id="rId12"/>
    <p:sldId id="566" r:id="rId13"/>
    <p:sldId id="392" r:id="rId14"/>
    <p:sldId id="523" r:id="rId15"/>
    <p:sldId id="522" r:id="rId16"/>
    <p:sldId id="395" r:id="rId17"/>
    <p:sldId id="397" r:id="rId18"/>
    <p:sldId id="400" r:id="rId19"/>
    <p:sldId id="403" r:id="rId20"/>
    <p:sldId id="404" r:id="rId21"/>
    <p:sldId id="406" r:id="rId22"/>
    <p:sldId id="408" r:id="rId23"/>
    <p:sldId id="410" r:id="rId24"/>
    <p:sldId id="411" r:id="rId25"/>
    <p:sldId id="445" r:id="rId26"/>
    <p:sldId id="443" r:id="rId27"/>
    <p:sldId id="444" r:id="rId28"/>
    <p:sldId id="417" r:id="rId29"/>
    <p:sldId id="418" r:id="rId30"/>
    <p:sldId id="520" r:id="rId31"/>
    <p:sldId id="521" r:id="rId32"/>
    <p:sldId id="415" r:id="rId33"/>
    <p:sldId id="416" r:id="rId34"/>
    <p:sldId id="421" r:id="rId35"/>
    <p:sldId id="582" r:id="rId36"/>
    <p:sldId id="422" r:id="rId37"/>
    <p:sldId id="423" r:id="rId38"/>
    <p:sldId id="424" r:id="rId39"/>
    <p:sldId id="425" r:id="rId40"/>
    <p:sldId id="426" r:id="rId41"/>
    <p:sldId id="427" r:id="rId42"/>
    <p:sldId id="429" r:id="rId43"/>
    <p:sldId id="431" r:id="rId44"/>
    <p:sldId id="430" r:id="rId45"/>
    <p:sldId id="428" r:id="rId46"/>
    <p:sldId id="432" r:id="rId47"/>
    <p:sldId id="433" r:id="rId48"/>
    <p:sldId id="434" r:id="rId49"/>
    <p:sldId id="435" r:id="rId50"/>
    <p:sldId id="441" r:id="rId51"/>
    <p:sldId id="439" r:id="rId52"/>
    <p:sldId id="581" r:id="rId53"/>
    <p:sldId id="442" r:id="rId54"/>
    <p:sldId id="583" r:id="rId55"/>
    <p:sldId id="447" r:id="rId56"/>
    <p:sldId id="481" r:id="rId57"/>
    <p:sldId id="449" r:id="rId58"/>
    <p:sldId id="450" r:id="rId59"/>
    <p:sldId id="452" r:id="rId60"/>
    <p:sldId id="451" r:id="rId61"/>
    <p:sldId id="453" r:id="rId62"/>
    <p:sldId id="454" r:id="rId63"/>
    <p:sldId id="455" r:id="rId64"/>
    <p:sldId id="456" r:id="rId65"/>
    <p:sldId id="457" r:id="rId66"/>
    <p:sldId id="463" r:id="rId67"/>
    <p:sldId id="458" r:id="rId68"/>
    <p:sldId id="460" r:id="rId69"/>
    <p:sldId id="459" r:id="rId70"/>
    <p:sldId id="464" r:id="rId71"/>
    <p:sldId id="465" r:id="rId72"/>
    <p:sldId id="466" r:id="rId73"/>
    <p:sldId id="584" r:id="rId74"/>
    <p:sldId id="461" r:id="rId75"/>
    <p:sldId id="462" r:id="rId76"/>
    <p:sldId id="467" r:id="rId77"/>
    <p:sldId id="469" r:id="rId78"/>
    <p:sldId id="471" r:id="rId79"/>
    <p:sldId id="472" r:id="rId80"/>
    <p:sldId id="474" r:id="rId81"/>
    <p:sldId id="475" r:id="rId82"/>
    <p:sldId id="476" r:id="rId83"/>
    <p:sldId id="478" r:id="rId84"/>
    <p:sldId id="479" r:id="rId85"/>
    <p:sldId id="482" r:id="rId86"/>
    <p:sldId id="480" r:id="rId87"/>
    <p:sldId id="484" r:id="rId88"/>
    <p:sldId id="485" r:id="rId89"/>
    <p:sldId id="486" r:id="rId90"/>
    <p:sldId id="487" r:id="rId91"/>
    <p:sldId id="488" r:id="rId92"/>
    <p:sldId id="586" r:id="rId93"/>
    <p:sldId id="526" r:id="rId94"/>
    <p:sldId id="527" r:id="rId95"/>
    <p:sldId id="528" r:id="rId96"/>
    <p:sldId id="529" r:id="rId97"/>
    <p:sldId id="530" r:id="rId98"/>
    <p:sldId id="531" r:id="rId99"/>
    <p:sldId id="532" r:id="rId100"/>
    <p:sldId id="533" r:id="rId101"/>
    <p:sldId id="534" r:id="rId102"/>
    <p:sldId id="535" r:id="rId103"/>
    <p:sldId id="536" r:id="rId104"/>
    <p:sldId id="537" r:id="rId105"/>
    <p:sldId id="538" r:id="rId106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008000"/>
    <a:srgbClr val="0000FF"/>
    <a:srgbClr val="FFFFCC"/>
    <a:srgbClr val="FF99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49"/>
    <p:restoredTop sz="81925" autoAdjust="0"/>
  </p:normalViewPr>
  <p:slideViewPr>
    <p:cSldViewPr>
      <p:cViewPr varScale="1">
        <p:scale>
          <a:sx n="125" d="100"/>
          <a:sy n="125" d="100"/>
        </p:scale>
        <p:origin x="20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2019/7/7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2019/7/7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</a:t>
            </a:r>
            <a:br>
              <a:rPr lang="en-US" altLang="zh-CN" sz="4400" dirty="0"/>
            </a:br>
            <a:r>
              <a:rPr lang="en-US" altLang="zh-CN" sz="4400" dirty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Table</a:t>
            </a:r>
          </a:p>
          <a:p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>
                <a:solidFill>
                  <a:srgbClr val="C00000"/>
                </a:solidFill>
              </a:rPr>
              <a:t>UNION, INTERSECT, EXCEPT</a:t>
            </a:r>
            <a:br>
              <a:rPr lang="en-US" dirty="0"/>
            </a:b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1076461"/>
              </p:ext>
            </p:extLst>
          </p:nvPr>
        </p:nvGraphicFramePr>
        <p:xfrm>
          <a:off x="4427984" y="215111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7984" y="155679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7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the users whose real name starts with ‘Cedric’ or who wrote more than 10 articles</a:t>
            </a:r>
          </a:p>
          <a:p>
            <a:r>
              <a:rPr lang="en-US" dirty="0"/>
              <a:t>(SELECT </a:t>
            </a:r>
            <a:r>
              <a:rPr lang="en-US" dirty="0" err="1"/>
              <a:t>A.UserName</a:t>
            </a:r>
            <a:br>
              <a:rPr lang="en-US" dirty="0"/>
            </a:br>
            <a:r>
              <a:rPr lang="en-US" dirty="0"/>
              <a:t> FROM Author AS A</a:t>
            </a:r>
            <a:br>
              <a:rPr lang="en-US" dirty="0"/>
            </a:br>
            <a:r>
              <a:rPr lang="en-US" dirty="0"/>
              <a:t> WHERE </a:t>
            </a:r>
            <a:r>
              <a:rPr lang="en-US" dirty="0" err="1"/>
              <a:t>RealName</a:t>
            </a:r>
            <a:r>
              <a:rPr lang="en-US" dirty="0"/>
              <a:t> LIKE ‘Cedric%’)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UNION</a:t>
            </a:r>
            <a:br>
              <a:rPr lang="en-US" dirty="0"/>
            </a:br>
            <a:r>
              <a:rPr lang="en-US" dirty="0"/>
              <a:t>(SELECT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FROM Wrote AS W</a:t>
            </a:r>
            <a:br>
              <a:rPr lang="en-US" dirty="0"/>
            </a:br>
            <a:r>
              <a:rPr lang="en-US" dirty="0"/>
              <a:t> GROUP BY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HAVING  COUNT(*) &gt; 10)</a:t>
            </a:r>
          </a:p>
          <a:p>
            <a:pPr marL="0" indent="0">
              <a:buNone/>
            </a:pP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3401276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987068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4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4769748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1722045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1165401"/>
            <a:ext cx="6591035" cy="1471511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</a:rPr>
              <a:t>Note: UNION automatically removes duplicates</a:t>
            </a:r>
            <a:endParaRPr lang="en-SG" sz="3600" dirty="0">
              <a:latin typeface="Calibri" panose="020F050202020403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57200" y="2708920"/>
            <a:ext cx="8229600" cy="342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>
                <a:latin typeface="Calibri" panose="020F0502020204030204" pitchFamily="34" charset="0"/>
              </a:rPr>
              <a:t>Find the users whose real name starts with ‘Cedric’ or who wrote more than 10 articles</a:t>
            </a:r>
          </a:p>
          <a:p>
            <a:r>
              <a:rPr lang="en-US" dirty="0">
                <a:latin typeface="Calibri" panose="020F0502020204030204" pitchFamily="34" charset="0"/>
              </a:rPr>
              <a:t>(SELECT </a:t>
            </a:r>
            <a:r>
              <a:rPr lang="en-US" dirty="0" err="1">
                <a:latin typeface="Calibri" panose="020F0502020204030204" pitchFamily="34" charset="0"/>
              </a:rPr>
              <a:t>A.UserName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FROM Author AS A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WHERE </a:t>
            </a:r>
            <a:r>
              <a:rPr lang="en-US" dirty="0" err="1">
                <a:latin typeface="Calibri" panose="020F0502020204030204" pitchFamily="34" charset="0"/>
              </a:rPr>
              <a:t>RealName</a:t>
            </a:r>
            <a:r>
              <a:rPr lang="en-US" dirty="0">
                <a:latin typeface="Calibri" panose="020F0502020204030204" pitchFamily="34" charset="0"/>
              </a:rPr>
              <a:t> LIKE ‘Cedric%’)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</a:rPr>
              <a:t>UNION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(SELECT </a:t>
            </a:r>
            <a:r>
              <a:rPr lang="en-US" dirty="0" err="1">
                <a:latin typeface="Calibri" panose="020F0502020204030204" pitchFamily="34" charset="0"/>
              </a:rPr>
              <a:t>W.UserName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FROM Wrote AS W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GROUP BY </a:t>
            </a:r>
            <a:r>
              <a:rPr lang="en-US" dirty="0" err="1">
                <a:latin typeface="Calibri" panose="020F0502020204030204" pitchFamily="34" charset="0"/>
              </a:rPr>
              <a:t>W.UserName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HAVING  COUNT(*) &gt; 10)</a:t>
            </a:r>
          </a:p>
          <a:p>
            <a:pPr marL="0" indent="0">
              <a:buFont typeface="Wingdings" pitchFamily="2" charset="2"/>
              <a:buNone/>
            </a:pPr>
            <a:endParaRPr lang="en-SG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3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the users whose real name starts with ‘Cedric’ or who wrote more than 10 articles</a:t>
            </a:r>
          </a:p>
          <a:p>
            <a:r>
              <a:rPr lang="en-US" dirty="0"/>
              <a:t>(SELECT *</a:t>
            </a:r>
            <a:br>
              <a:rPr lang="en-US" dirty="0"/>
            </a:br>
            <a:r>
              <a:rPr lang="en-US" dirty="0"/>
              <a:t> FROM Author AS A</a:t>
            </a:r>
            <a:br>
              <a:rPr lang="en-US" dirty="0"/>
            </a:br>
            <a:r>
              <a:rPr lang="en-US" dirty="0"/>
              <a:t> WHERE </a:t>
            </a:r>
            <a:r>
              <a:rPr lang="en-US" dirty="0" err="1"/>
              <a:t>RealName</a:t>
            </a:r>
            <a:r>
              <a:rPr lang="en-US" dirty="0"/>
              <a:t> LIKE ‘Cedric%’)</a:t>
            </a:r>
            <a:br>
              <a:rPr lang="en-US" dirty="0"/>
            </a:br>
            <a:r>
              <a:rPr lang="en-US" dirty="0"/>
              <a:t>UNION</a:t>
            </a:r>
            <a:br>
              <a:rPr lang="en-US" dirty="0"/>
            </a:br>
            <a:r>
              <a:rPr lang="en-US" dirty="0"/>
              <a:t>(SELECT *</a:t>
            </a:r>
            <a:br>
              <a:rPr lang="en-US" dirty="0"/>
            </a:br>
            <a:r>
              <a:rPr lang="en-US" dirty="0"/>
              <a:t> FROM Wrote AS W</a:t>
            </a:r>
            <a:br>
              <a:rPr lang="en-US" dirty="0"/>
            </a:br>
            <a:r>
              <a:rPr lang="en-US" dirty="0"/>
              <a:t> GROUP BY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HAVING  COUNT(*) &gt; 10)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85056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551801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2200" y="4365104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3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 (Not in some DBMS)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the users whose real name starts with ‘Cedric’ and who wrote more than 10 articles</a:t>
            </a:r>
          </a:p>
          <a:p>
            <a:r>
              <a:rPr lang="en-US" dirty="0"/>
              <a:t>(SELECT </a:t>
            </a:r>
            <a:r>
              <a:rPr lang="en-US" dirty="0" err="1"/>
              <a:t>A.UserName</a:t>
            </a:r>
            <a:br>
              <a:rPr lang="en-US" dirty="0"/>
            </a:br>
            <a:r>
              <a:rPr lang="en-US" dirty="0"/>
              <a:t> FROM Author AS A</a:t>
            </a:r>
            <a:br>
              <a:rPr lang="en-US" dirty="0"/>
            </a:br>
            <a:r>
              <a:rPr lang="en-US" dirty="0"/>
              <a:t> WHERE </a:t>
            </a:r>
            <a:r>
              <a:rPr lang="en-US" dirty="0" err="1"/>
              <a:t>RealName</a:t>
            </a:r>
            <a:r>
              <a:rPr lang="en-US" dirty="0"/>
              <a:t> LIKE ‘Cedric%’)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INTERSECT</a:t>
            </a:r>
            <a:br>
              <a:rPr lang="en-US" dirty="0"/>
            </a:br>
            <a:r>
              <a:rPr lang="en-US" dirty="0"/>
              <a:t>(SELECT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FROM Wrote AS W</a:t>
            </a:r>
            <a:br>
              <a:rPr lang="en-US" dirty="0"/>
            </a:br>
            <a:r>
              <a:rPr lang="en-US" dirty="0"/>
              <a:t> GROUP BY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HAVING  COUNT(*) &gt; 10)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652121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858408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93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 (Not in some DBMS)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the users who wrote more than 10 articles but do not have a real name starting with ‘Cedric’</a:t>
            </a:r>
          </a:p>
          <a:p>
            <a:r>
              <a:rPr lang="en-US" dirty="0"/>
              <a:t>(SELECT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FROM Wrote AS W</a:t>
            </a:r>
            <a:br>
              <a:rPr lang="en-US" dirty="0"/>
            </a:br>
            <a:r>
              <a:rPr lang="en-US" dirty="0"/>
              <a:t> GROUP BY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 HAVING  COUNT(*) &gt; 10)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EXCEPT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/>
              <a:t>(SELECT </a:t>
            </a:r>
            <a:r>
              <a:rPr lang="en-US" dirty="0" err="1"/>
              <a:t>A.UserName</a:t>
            </a:r>
            <a:br>
              <a:rPr lang="en-US" dirty="0"/>
            </a:br>
            <a:r>
              <a:rPr lang="en-US" dirty="0"/>
              <a:t> FROM Author AS A</a:t>
            </a:r>
            <a:br>
              <a:rPr lang="en-US" dirty="0"/>
            </a:br>
            <a:r>
              <a:rPr lang="en-US" dirty="0"/>
              <a:t> WHERE </a:t>
            </a:r>
            <a:r>
              <a:rPr lang="en-US" dirty="0" err="1"/>
              <a:t>RealName</a:t>
            </a:r>
            <a:r>
              <a:rPr lang="en-US" dirty="0"/>
              <a:t> LIKE ‘Cedric%’)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551686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054262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6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Player (PID, </a:t>
            </a:r>
            <a:r>
              <a:rPr lang="en-SG" dirty="0" err="1"/>
              <a:t>PName</a:t>
            </a:r>
            <a:r>
              <a:rPr lang="en-SG" dirty="0"/>
              <a:t>, Ranking, Age)</a:t>
            </a:r>
            <a:br>
              <a:rPr lang="en-SG" dirty="0"/>
            </a:br>
            <a:r>
              <a:rPr lang="en-SG" dirty="0"/>
              <a:t>Court (CID, Type, Location)</a:t>
            </a:r>
            <a:br>
              <a:rPr lang="en-SG" dirty="0"/>
            </a:br>
            <a:r>
              <a:rPr lang="en-SG" dirty="0" err="1"/>
              <a:t>Rerserves</a:t>
            </a:r>
            <a:r>
              <a:rPr lang="en-SG" dirty="0"/>
              <a:t> (PID, CID, Date)</a:t>
            </a:r>
          </a:p>
          <a:p>
            <a:r>
              <a:rPr lang="en-US" dirty="0"/>
              <a:t>Find </a:t>
            </a:r>
            <a:r>
              <a:rPr lang="en-SG" dirty="0"/>
              <a:t>the names of the players who have reserved courts of ‘Clay’ type</a:t>
            </a:r>
          </a:p>
          <a:p>
            <a:r>
              <a:rPr lang="en-SG" dirty="0"/>
              <a:t>SELECT	</a:t>
            </a:r>
            <a:r>
              <a:rPr lang="en-SG" dirty="0" err="1"/>
              <a:t>PName</a:t>
            </a:r>
            <a:br>
              <a:rPr lang="en-SG" dirty="0"/>
            </a:br>
            <a:r>
              <a:rPr lang="en-SG" dirty="0"/>
              <a:t>FROM 	Player, Court, Reserves</a:t>
            </a:r>
            <a:br>
              <a:rPr lang="en-SG" dirty="0"/>
            </a:br>
            <a:r>
              <a:rPr lang="en-SG" dirty="0"/>
              <a:t>WHERE 	</a:t>
            </a:r>
            <a:r>
              <a:rPr lang="en-SG" dirty="0" err="1"/>
              <a:t>Player.PID</a:t>
            </a:r>
            <a:r>
              <a:rPr lang="en-SG" dirty="0"/>
              <a:t> = </a:t>
            </a:r>
            <a:r>
              <a:rPr lang="en-SG" dirty="0" err="1"/>
              <a:t>Reserves.PID</a:t>
            </a:r>
            <a:r>
              <a:rPr lang="en-SG" dirty="0"/>
              <a:t> AND 	</a:t>
            </a:r>
            <a:r>
              <a:rPr lang="en-SG" dirty="0" err="1"/>
              <a:t>Court.CID</a:t>
            </a:r>
            <a:r>
              <a:rPr lang="en-SG" dirty="0"/>
              <a:t> = </a:t>
            </a:r>
            <a:r>
              <a:rPr lang="en-SG" dirty="0" err="1"/>
              <a:t>Reserves.CID</a:t>
            </a:r>
            <a:r>
              <a:rPr lang="en-SG" dirty="0"/>
              <a:t> AND Type='Clay';</a:t>
            </a:r>
          </a:p>
        </p:txBody>
      </p:sp>
    </p:spTree>
    <p:extLst>
      <p:ext uri="{BB962C8B-B14F-4D97-AF65-F5344CB8AC3E}">
        <p14:creationId xmlns:p14="http://schemas.microsoft.com/office/powerpoint/2010/main" val="232178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Player (PID, </a:t>
            </a:r>
            <a:r>
              <a:rPr lang="en-SG" dirty="0" err="1"/>
              <a:t>PName</a:t>
            </a:r>
            <a:r>
              <a:rPr lang="en-SG" dirty="0"/>
              <a:t>, Ranking, Age)</a:t>
            </a:r>
            <a:br>
              <a:rPr lang="en-SG" dirty="0"/>
            </a:br>
            <a:r>
              <a:rPr lang="en-SG" dirty="0"/>
              <a:t>Court (CID, Type, Location)</a:t>
            </a:r>
            <a:br>
              <a:rPr lang="en-SG" dirty="0"/>
            </a:br>
            <a:r>
              <a:rPr lang="en-SG" dirty="0" err="1"/>
              <a:t>Rerserves</a:t>
            </a:r>
            <a:r>
              <a:rPr lang="en-SG" dirty="0"/>
              <a:t> (PID, CID, Date)</a:t>
            </a:r>
          </a:p>
          <a:p>
            <a:r>
              <a:rPr lang="en-SG" dirty="0"/>
              <a:t>Find the PID of the players who have reserved ‘Clay’ courts but not ‘Grass’ courts</a:t>
            </a:r>
          </a:p>
          <a:p>
            <a:r>
              <a:rPr lang="en-SG" dirty="0"/>
              <a:t>(SELECT 	R1.PID</a:t>
            </a:r>
            <a:br>
              <a:rPr lang="en-SG" dirty="0"/>
            </a:br>
            <a:r>
              <a:rPr lang="en-SG" dirty="0"/>
              <a:t>FROM 	Court AS C1, Reserves AS R1</a:t>
            </a:r>
            <a:br>
              <a:rPr lang="en-SG" dirty="0"/>
            </a:br>
            <a:r>
              <a:rPr lang="en-SG" dirty="0"/>
              <a:t>WHERE 	R1.CID = C1.CID AND Type = 'Clay‘)</a:t>
            </a:r>
            <a:br>
              <a:rPr lang="en-SG" dirty="0"/>
            </a:br>
            <a:r>
              <a:rPr lang="en-SG" dirty="0"/>
              <a:t>EXCEPT</a:t>
            </a:r>
            <a:br>
              <a:rPr lang="en-SG" dirty="0"/>
            </a:br>
            <a:r>
              <a:rPr lang="en-SG" dirty="0"/>
              <a:t>(SELECT 	R2.PID</a:t>
            </a:r>
            <a:br>
              <a:rPr lang="en-SG" dirty="0"/>
            </a:br>
            <a:r>
              <a:rPr lang="en-SG" dirty="0"/>
              <a:t>FROM 	Court AS C2, Reserves AS R2</a:t>
            </a:r>
            <a:br>
              <a:rPr lang="en-SG" dirty="0"/>
            </a:br>
            <a:r>
              <a:rPr lang="en-SG" dirty="0"/>
              <a:t>WHERE 	R2.CID = C2.CID AND Type = 'Grass‘)</a:t>
            </a:r>
          </a:p>
        </p:txBody>
      </p:sp>
    </p:spTree>
    <p:extLst>
      <p:ext uri="{BB962C8B-B14F-4D97-AF65-F5344CB8AC3E}">
        <p14:creationId xmlns:p14="http://schemas.microsoft.com/office/powerpoint/2010/main" val="217512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Player (PID, </a:t>
            </a:r>
            <a:r>
              <a:rPr lang="en-SG" dirty="0" err="1"/>
              <a:t>PName</a:t>
            </a:r>
            <a:r>
              <a:rPr lang="en-SG" dirty="0"/>
              <a:t>, Ranking, Age)</a:t>
            </a:r>
            <a:br>
              <a:rPr lang="en-SG" dirty="0"/>
            </a:br>
            <a:r>
              <a:rPr lang="en-SG" dirty="0"/>
              <a:t>Court (CID, Type, Location)</a:t>
            </a:r>
            <a:br>
              <a:rPr lang="en-SG" dirty="0"/>
            </a:br>
            <a:r>
              <a:rPr lang="en-SG" dirty="0" err="1"/>
              <a:t>Rerserves</a:t>
            </a:r>
            <a:r>
              <a:rPr lang="en-SG" dirty="0"/>
              <a:t> (PID, CID, Date)</a:t>
            </a:r>
          </a:p>
          <a:p>
            <a:r>
              <a:rPr lang="en-SG" dirty="0"/>
              <a:t>Find the PIDs of players who have a ranking of 3 or who have reserved court with CID 100</a:t>
            </a:r>
          </a:p>
          <a:p>
            <a:r>
              <a:rPr lang="en-SG" dirty="0"/>
              <a:t>(SELECT	</a:t>
            </a:r>
            <a:r>
              <a:rPr lang="en-SG" dirty="0" err="1"/>
              <a:t>Player.PID</a:t>
            </a: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 FROM	Player</a:t>
            </a:r>
            <a:br>
              <a:rPr lang="en-SG" dirty="0"/>
            </a:br>
            <a:r>
              <a:rPr lang="en-SG" dirty="0"/>
              <a:t> WHERE  	Ranking = 3)</a:t>
            </a:r>
            <a:br>
              <a:rPr lang="en-SG" dirty="0"/>
            </a:br>
            <a:r>
              <a:rPr lang="en-SG" dirty="0"/>
              <a:t>UNION</a:t>
            </a:r>
            <a:br>
              <a:rPr lang="en-SG" dirty="0"/>
            </a:br>
            <a:r>
              <a:rPr lang="en-SG" dirty="0"/>
              <a:t>(SELECT	</a:t>
            </a:r>
            <a:r>
              <a:rPr lang="en-SG" dirty="0" err="1"/>
              <a:t>Reserves.PID</a:t>
            </a:r>
            <a:br>
              <a:rPr lang="en-SG" dirty="0"/>
            </a:br>
            <a:r>
              <a:rPr lang="en-SG" dirty="0"/>
              <a:t> FROM 	Reserves</a:t>
            </a:r>
            <a:br>
              <a:rPr lang="en-SG" dirty="0"/>
            </a:br>
            <a:r>
              <a:rPr lang="en-SG" dirty="0"/>
              <a:t> WHERE   	CID = 100)</a:t>
            </a:r>
          </a:p>
        </p:txBody>
      </p:sp>
    </p:spTree>
    <p:extLst>
      <p:ext uri="{BB962C8B-B14F-4D97-AF65-F5344CB8AC3E}">
        <p14:creationId xmlns:p14="http://schemas.microsoft.com/office/powerpoint/2010/main" val="35840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Player (PID, </a:t>
            </a:r>
            <a:r>
              <a:rPr lang="en-SG" dirty="0" err="1"/>
              <a:t>PName</a:t>
            </a:r>
            <a:r>
              <a:rPr lang="en-SG" dirty="0"/>
              <a:t>, Ranking, Age)</a:t>
            </a:r>
            <a:br>
              <a:rPr lang="en-SG" dirty="0"/>
            </a:br>
            <a:r>
              <a:rPr lang="en-SG" dirty="0"/>
              <a:t>Court (CID, Type, Location)</a:t>
            </a:r>
            <a:br>
              <a:rPr lang="en-SG" dirty="0"/>
            </a:br>
            <a:r>
              <a:rPr lang="en-SG" dirty="0" err="1"/>
              <a:t>Rerserves</a:t>
            </a:r>
            <a:r>
              <a:rPr lang="en-SG" dirty="0"/>
              <a:t> (PID, CID, Date)</a:t>
            </a:r>
          </a:p>
          <a:p>
            <a:r>
              <a:rPr lang="en-SG" dirty="0"/>
              <a:t>Find the PIDs of players who have NOT reserved a ‘Clay’ court before</a:t>
            </a:r>
          </a:p>
          <a:p>
            <a:r>
              <a:rPr lang="en-SG" dirty="0"/>
              <a:t>(SELECT	</a:t>
            </a:r>
            <a:r>
              <a:rPr lang="en-SG" dirty="0" err="1"/>
              <a:t>Player.PID</a:t>
            </a: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 FROM 	Player)</a:t>
            </a:r>
            <a:br>
              <a:rPr lang="en-SG" dirty="0"/>
            </a:br>
            <a:r>
              <a:rPr lang="en-SG" dirty="0"/>
              <a:t>EXCEPT</a:t>
            </a:r>
            <a:br>
              <a:rPr lang="en-SG" dirty="0"/>
            </a:br>
            <a:r>
              <a:rPr lang="en-SG" dirty="0"/>
              <a:t>(SELECT	</a:t>
            </a:r>
            <a:r>
              <a:rPr lang="en-SG" dirty="0" err="1"/>
              <a:t>Reserves.PID</a:t>
            </a:r>
            <a:br>
              <a:rPr lang="en-SG" dirty="0"/>
            </a:br>
            <a:r>
              <a:rPr lang="en-SG" dirty="0"/>
              <a:t> FROM 	Reserves, Court</a:t>
            </a:r>
            <a:br>
              <a:rPr lang="en-SG" dirty="0"/>
            </a:br>
            <a:r>
              <a:rPr lang="en-SG" dirty="0"/>
              <a:t> WHERE 	</a:t>
            </a:r>
            <a:r>
              <a:rPr lang="en-SG" dirty="0" err="1"/>
              <a:t>Reserves.CID</a:t>
            </a:r>
            <a:r>
              <a:rPr lang="en-SG" dirty="0"/>
              <a:t> = </a:t>
            </a:r>
            <a:r>
              <a:rPr lang="en-SG" dirty="0" err="1"/>
              <a:t>Court.CID</a:t>
            </a:r>
            <a:br>
              <a:rPr lang="en-SG" dirty="0"/>
            </a:br>
            <a:r>
              <a:rPr lang="en-SG" dirty="0"/>
              <a:t>              	AND Type = ‘Clay’)</a:t>
            </a:r>
          </a:p>
        </p:txBody>
      </p:sp>
    </p:spTree>
    <p:extLst>
      <p:ext uri="{BB962C8B-B14F-4D97-AF65-F5344CB8AC3E}">
        <p14:creationId xmlns:p14="http://schemas.microsoft.com/office/powerpoint/2010/main" val="16411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Player (PID, </a:t>
            </a:r>
            <a:r>
              <a:rPr lang="en-SG" dirty="0" err="1"/>
              <a:t>PName</a:t>
            </a:r>
            <a:r>
              <a:rPr lang="en-SG" dirty="0"/>
              <a:t>, Ranking, Age)</a:t>
            </a:r>
            <a:br>
              <a:rPr lang="en-SG" dirty="0"/>
            </a:br>
            <a:r>
              <a:rPr lang="en-SG" dirty="0"/>
              <a:t>Court (CID, Type, Location)</a:t>
            </a:r>
            <a:br>
              <a:rPr lang="en-SG" dirty="0"/>
            </a:br>
            <a:r>
              <a:rPr lang="en-SG" dirty="0" err="1"/>
              <a:t>Rerserves</a:t>
            </a:r>
            <a:r>
              <a:rPr lang="en-SG" dirty="0"/>
              <a:t> (PID, CID, Date)</a:t>
            </a:r>
          </a:p>
          <a:p>
            <a:r>
              <a:rPr lang="en-SG" dirty="0"/>
              <a:t>Find the PIDs of players who have reserved each court at least once</a:t>
            </a:r>
          </a:p>
          <a:p>
            <a:r>
              <a:rPr lang="en-SG" dirty="0"/>
              <a:t>SELECT  P.PID	</a:t>
            </a:r>
            <a:br>
              <a:rPr lang="en-SG" dirty="0"/>
            </a:br>
            <a:r>
              <a:rPr lang="en-SG" dirty="0"/>
              <a:t>FROM   Player AS P</a:t>
            </a:r>
            <a:br>
              <a:rPr lang="en-SG" dirty="0"/>
            </a:br>
            <a:r>
              <a:rPr lang="en-SG" dirty="0"/>
              <a:t>WHERE NOT EXIST</a:t>
            </a:r>
            <a:br>
              <a:rPr lang="en-SG" dirty="0"/>
            </a:br>
            <a:r>
              <a:rPr lang="en-SG" dirty="0"/>
              <a:t>    ( (SELECT C.CID</a:t>
            </a:r>
            <a:br>
              <a:rPr lang="en-SG" dirty="0"/>
            </a:br>
            <a:r>
              <a:rPr lang="en-SG" dirty="0"/>
              <a:t>        FROM Count AS C</a:t>
            </a:r>
            <a:br>
              <a:rPr lang="en-SG" dirty="0"/>
            </a:br>
            <a:r>
              <a:rPr lang="en-SG" dirty="0"/>
              <a:t>        EXCEPT</a:t>
            </a:r>
            <a:br>
              <a:rPr lang="en-SG" dirty="0"/>
            </a:br>
            <a:r>
              <a:rPr lang="en-SG" dirty="0"/>
              <a:t>       (SELECT R.CID</a:t>
            </a:r>
            <a:br>
              <a:rPr lang="en-SG" dirty="0"/>
            </a:br>
            <a:r>
              <a:rPr lang="en-SG" dirty="0"/>
              <a:t>         FROM Reserves AS R</a:t>
            </a:r>
            <a:br>
              <a:rPr lang="en-SG" dirty="0"/>
            </a:br>
            <a:r>
              <a:rPr lang="en-SG" dirty="0"/>
              <a:t>         WHERE R.PID = P.PID) )</a:t>
            </a:r>
          </a:p>
        </p:txBody>
      </p:sp>
    </p:spTree>
    <p:extLst>
      <p:ext uri="{BB962C8B-B14F-4D97-AF65-F5344CB8AC3E}">
        <p14:creationId xmlns:p14="http://schemas.microsoft.com/office/powerpoint/2010/main" val="128333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Table</a:t>
            </a:r>
          </a:p>
          <a:p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/>
              <a:t>UNION, INTERSECT, EXCEPT</a:t>
            </a:r>
            <a:br>
              <a:rPr lang="en-US" dirty="0"/>
            </a:b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0428519"/>
              </p:ext>
            </p:extLst>
          </p:nvPr>
        </p:nvGraphicFramePr>
        <p:xfrm>
          <a:off x="4427984" y="215111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7984" y="155679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51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Table</a:t>
            </a:r>
          </a:p>
          <a:p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/>
              <a:t>UNION, INTERSECT, EXCEPT</a:t>
            </a:r>
            <a:br>
              <a:rPr lang="en-US" dirty="0"/>
            </a:b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1965615"/>
              </p:ext>
            </p:extLst>
          </p:nvPr>
        </p:nvGraphicFramePr>
        <p:xfrm>
          <a:off x="4427984" y="215111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?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7984" y="155679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437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Table</a:t>
            </a:r>
          </a:p>
          <a:p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/>
              <a:t>UNION, INTERSECT, EXCEPT</a:t>
            </a:r>
            <a:br>
              <a:rPr lang="en-US" dirty="0"/>
            </a:b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8341"/>
              </p:ext>
            </p:extLst>
          </p:nvPr>
        </p:nvGraphicFramePr>
        <p:xfrm>
          <a:off x="4427984" y="215111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7984" y="155679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498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in SQL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SQL, whenever we want to leave a value blank, we set it as </a:t>
            </a:r>
            <a:r>
              <a:rPr lang="en-US" dirty="0">
                <a:solidFill>
                  <a:srgbClr val="C00000"/>
                </a:solidFill>
              </a:rPr>
              <a:t>NULL</a:t>
            </a:r>
          </a:p>
          <a:p>
            <a:endParaRPr lang="en-US" dirty="0"/>
          </a:p>
          <a:p>
            <a:r>
              <a:rPr lang="en-US" dirty="0"/>
              <a:t>The DBMS regards NULL as “an unknown value”</a:t>
            </a:r>
          </a:p>
          <a:p>
            <a:endParaRPr lang="en-US" dirty="0"/>
          </a:p>
          <a:p>
            <a:r>
              <a:rPr lang="en-US" dirty="0"/>
              <a:t>This makes sense but it leads to a lot of complications…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78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arithmetic operations </a:t>
            </a:r>
            <a:br>
              <a:rPr lang="en-US" sz="2800" dirty="0"/>
            </a:br>
            <a:r>
              <a:rPr lang="en-US" sz="2800" dirty="0"/>
              <a:t>involving NULL would </a:t>
            </a:r>
            <a:br>
              <a:rPr lang="en-US" sz="2800" dirty="0"/>
            </a:br>
            <a:r>
              <a:rPr lang="en-US" sz="2800" dirty="0"/>
              <a:t>result in NULL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	Price * 10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	</a:t>
            </a:r>
            <a:r>
              <a:rPr lang="en-US" sz="2800" dirty="0" err="1"/>
              <a:t>PName</a:t>
            </a:r>
            <a:r>
              <a:rPr lang="en-US" sz="2800" dirty="0"/>
              <a:t> = ‘Galaxy S10’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669548"/>
              </p:ext>
            </p:extLst>
          </p:nvPr>
        </p:nvGraphicFramePr>
        <p:xfrm>
          <a:off x="5580112" y="186308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26876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07430"/>
              </p:ext>
            </p:extLst>
          </p:nvPr>
        </p:nvGraphicFramePr>
        <p:xfrm>
          <a:off x="5652120" y="5013176"/>
          <a:ext cx="151216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>
            <a:off x="6156176" y="4293097"/>
            <a:ext cx="432048" cy="60016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33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	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&lt; 1000</a:t>
            </a:r>
            <a:br>
              <a:rPr lang="en-US" sz="2800" dirty="0"/>
            </a:br>
            <a:endParaRPr lang="en-US" sz="2800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4171136"/>
              </p:ext>
            </p:extLst>
          </p:nvPr>
        </p:nvGraphicFramePr>
        <p:xfrm>
          <a:off x="5580112" y="186308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26876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422108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562249"/>
              </p:ext>
            </p:extLst>
          </p:nvPr>
        </p:nvGraphicFramePr>
        <p:xfrm>
          <a:off x="5603611" y="4725144"/>
          <a:ext cx="33227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82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	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&gt;= 1000</a:t>
            </a:r>
            <a:br>
              <a:rPr lang="en-US" sz="2800" dirty="0"/>
            </a:br>
            <a:endParaRPr lang="en-US" sz="2800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031626"/>
              </p:ext>
            </p:extLst>
          </p:nvPr>
        </p:nvGraphicFramePr>
        <p:xfrm>
          <a:off x="5580112" y="186308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26876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422108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677047"/>
              </p:ext>
            </p:extLst>
          </p:nvPr>
        </p:nvGraphicFramePr>
        <p:xfrm>
          <a:off x="5603611" y="4725144"/>
          <a:ext cx="33227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9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SELECT 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&lt; 1000</a:t>
            </a:r>
            <a:br>
              <a:rPr lang="en-US" sz="2800" dirty="0"/>
            </a:br>
            <a:r>
              <a:rPr lang="en-US" sz="2800" dirty="0"/>
              <a:t>	OR 	Price &gt;= 1000</a:t>
            </a:r>
            <a:br>
              <a:rPr lang="en-US" sz="2800" dirty="0"/>
            </a:br>
            <a:endParaRPr lang="en-US" sz="2800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6643937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568272"/>
              </p:ext>
            </p:extLst>
          </p:nvPr>
        </p:nvGraphicFramePr>
        <p:xfrm>
          <a:off x="5587568" y="4336504"/>
          <a:ext cx="33227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34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&lt; 1000</a:t>
            </a:r>
            <a:br>
              <a:rPr lang="en-US" sz="2800" dirty="0"/>
            </a:br>
            <a:r>
              <a:rPr lang="en-US" sz="2800" dirty="0"/>
              <a:t>	OR 	Price &gt;= 1000</a:t>
            </a:r>
            <a:br>
              <a:rPr lang="en-US" sz="2800" dirty="0"/>
            </a:br>
            <a:r>
              <a:rPr lang="en-US" sz="2800" dirty="0"/>
              <a:t>	OR 	Price = NULL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4980951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9990041"/>
              </p:ext>
            </p:extLst>
          </p:nvPr>
        </p:nvGraphicFramePr>
        <p:xfrm>
          <a:off x="5587568" y="4336504"/>
          <a:ext cx="33227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25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r>
              <a:rPr lang="en-US" sz="2800" dirty="0"/>
              <a:t>Use IS NULL to check</a:t>
            </a:r>
            <a:br>
              <a:rPr lang="en-US" sz="2800" dirty="0"/>
            </a:br>
            <a:r>
              <a:rPr lang="en-US" sz="2800" dirty="0"/>
              <a:t>whether a value is NULL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SELECT 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&lt; 1000</a:t>
            </a:r>
            <a:br>
              <a:rPr lang="en-US" sz="2800" dirty="0"/>
            </a:br>
            <a:r>
              <a:rPr lang="en-US" sz="2800" dirty="0"/>
              <a:t>	OR 	Price &gt;= 1000</a:t>
            </a:r>
            <a:br>
              <a:rPr lang="en-US" sz="2800" dirty="0"/>
            </a:br>
            <a:r>
              <a:rPr lang="en-US" sz="2800" dirty="0"/>
              <a:t>	OR 	Price </a:t>
            </a:r>
            <a:r>
              <a:rPr lang="en-US" sz="2800" dirty="0">
                <a:solidFill>
                  <a:srgbClr val="C00000"/>
                </a:solidFill>
              </a:rPr>
              <a:t>IS NULL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4288297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721335"/>
              </p:ext>
            </p:extLst>
          </p:nvPr>
        </p:nvGraphicFramePr>
        <p:xfrm>
          <a:off x="5580112" y="436510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55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*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WHERE  	Price &lt;&gt; NULL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488548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978083"/>
              </p:ext>
            </p:extLst>
          </p:nvPr>
        </p:nvGraphicFramePr>
        <p:xfrm>
          <a:off x="5587568" y="4336504"/>
          <a:ext cx="33227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07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Any comparison involving </a:t>
            </a:r>
            <a:br>
              <a:rPr lang="en-US" sz="2800" dirty="0"/>
            </a:br>
            <a:r>
              <a:rPr lang="en-US" sz="2800" dirty="0"/>
              <a:t>NULL results in FALSE</a:t>
            </a:r>
          </a:p>
          <a:p>
            <a:r>
              <a:rPr lang="en-US" sz="2800" dirty="0"/>
              <a:t>Use IS NOT NULL to </a:t>
            </a:r>
            <a:br>
              <a:rPr lang="en-US" sz="2800" dirty="0"/>
            </a:br>
            <a:r>
              <a:rPr lang="en-US" sz="2800" dirty="0"/>
              <a:t>check whether a value is </a:t>
            </a:r>
            <a:br>
              <a:rPr lang="en-US" sz="2800" dirty="0"/>
            </a:br>
            <a:r>
              <a:rPr lang="en-US" sz="2800" dirty="0"/>
              <a:t>not NULL</a:t>
            </a:r>
          </a:p>
          <a:p>
            <a:endParaRPr lang="en-US" sz="2800" dirty="0"/>
          </a:p>
          <a:p>
            <a:r>
              <a:rPr lang="en-US" sz="2600" dirty="0"/>
              <a:t>SELECT	*</a:t>
            </a:r>
            <a:br>
              <a:rPr lang="en-US" sz="2600" dirty="0"/>
            </a:br>
            <a:r>
              <a:rPr lang="en-US" sz="2600" dirty="0"/>
              <a:t>FROM	Product</a:t>
            </a:r>
            <a:br>
              <a:rPr lang="en-US" sz="2600" dirty="0"/>
            </a:br>
            <a:r>
              <a:rPr lang="en-US" sz="2600" dirty="0"/>
              <a:t>WHERE  	Price </a:t>
            </a:r>
            <a:r>
              <a:rPr lang="en-US" sz="2600" dirty="0">
                <a:solidFill>
                  <a:srgbClr val="C00000"/>
                </a:solidFill>
              </a:rPr>
              <a:t>IS NOT NULL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185732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520629"/>
              </p:ext>
            </p:extLst>
          </p:nvPr>
        </p:nvGraphicFramePr>
        <p:xfrm>
          <a:off x="5580112" y="4336504"/>
          <a:ext cx="33227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4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What about GROUP BY?</a:t>
            </a:r>
          </a:p>
          <a:p>
            <a:r>
              <a:rPr lang="en-US" sz="2800" dirty="0"/>
              <a:t>NULLs are taken into</a:t>
            </a:r>
            <a:br>
              <a:rPr lang="en-US" sz="2800" dirty="0"/>
            </a:br>
            <a:r>
              <a:rPr lang="en-US" sz="2800" dirty="0"/>
              <a:t>account in group formation</a:t>
            </a:r>
            <a:br>
              <a:rPr lang="en-US" sz="2800" dirty="0"/>
            </a:br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SELECT 	Price, </a:t>
            </a:r>
            <a:br>
              <a:rPr lang="en-US" sz="2800" dirty="0"/>
            </a:br>
            <a:r>
              <a:rPr lang="en-US" sz="2800" dirty="0"/>
              <a:t>		COUNT(*) AS </a:t>
            </a:r>
            <a:r>
              <a:rPr lang="en-US" sz="2800" dirty="0" err="1"/>
              <a:t>Cnt</a:t>
            </a:r>
            <a:br>
              <a:rPr lang="en-US" sz="2800" dirty="0"/>
            </a:br>
            <a:r>
              <a:rPr lang="en-US" sz="2800" dirty="0"/>
              <a:t>FROM	Product</a:t>
            </a:r>
            <a:br>
              <a:rPr lang="en-US" sz="2800" dirty="0"/>
            </a:br>
            <a:r>
              <a:rPr lang="en-US" sz="2800" dirty="0"/>
              <a:t>GROUP BY Price</a:t>
            </a:r>
            <a:endParaRPr lang="en-US" sz="2800" dirty="0">
              <a:solidFill>
                <a:srgbClr val="C00000"/>
              </a:solidFill>
            </a:endParaRP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804998"/>
              </p:ext>
            </p:extLst>
          </p:nvPr>
        </p:nvGraphicFramePr>
        <p:xfrm>
          <a:off x="5580112" y="1474440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88012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812360" y="3832448"/>
            <a:ext cx="432048" cy="43204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490709"/>
              </p:ext>
            </p:extLst>
          </p:nvPr>
        </p:nvGraphicFramePr>
        <p:xfrm>
          <a:off x="5580112" y="436510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Cnt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91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What about joins?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	</a:t>
            </a:r>
            <a:r>
              <a:rPr lang="en-US" sz="2800" dirty="0" err="1"/>
              <a:t>P.PName</a:t>
            </a:r>
            <a:r>
              <a:rPr lang="en-US" sz="2800" dirty="0"/>
              <a:t>, </a:t>
            </a:r>
            <a:r>
              <a:rPr lang="en-US" sz="2800" dirty="0" err="1"/>
              <a:t>T.PName</a:t>
            </a:r>
            <a:br>
              <a:rPr lang="en-US" sz="2800" dirty="0"/>
            </a:br>
            <a:r>
              <a:rPr lang="en-US" sz="2800" dirty="0"/>
              <a:t>FROM 	Phone P, Tablet T</a:t>
            </a:r>
            <a:br>
              <a:rPr lang="en-US" sz="2800" dirty="0"/>
            </a:br>
            <a:r>
              <a:rPr lang="en-US" sz="2800" dirty="0"/>
              <a:t>WHERE  	</a:t>
            </a:r>
            <a:r>
              <a:rPr lang="en-US" sz="2800" dirty="0" err="1"/>
              <a:t>P.Price</a:t>
            </a:r>
            <a:r>
              <a:rPr lang="en-US" sz="2800" dirty="0"/>
              <a:t> &gt; </a:t>
            </a:r>
            <a:r>
              <a:rPr lang="en-US" sz="2800" dirty="0" err="1"/>
              <a:t>T.Price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sz="2800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769304"/>
              </p:ext>
            </p:extLst>
          </p:nvPr>
        </p:nvGraphicFramePr>
        <p:xfrm>
          <a:off x="899592" y="2705472"/>
          <a:ext cx="273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2225551"/>
            <a:ext cx="1080120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Phone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321816"/>
              </p:ext>
            </p:extLst>
          </p:nvPr>
        </p:nvGraphicFramePr>
        <p:xfrm>
          <a:off x="5724128" y="2684785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IdeaPad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24128" y="2204864"/>
            <a:ext cx="1152128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Tablet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11" name="Down Arrow 10"/>
          <p:cNvSpPr/>
          <p:nvPr/>
        </p:nvSpPr>
        <p:spPr bwMode="auto">
          <a:xfrm rot="16200000">
            <a:off x="5374992" y="5168096"/>
            <a:ext cx="432048" cy="554256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282758"/>
              </p:ext>
            </p:extLst>
          </p:nvPr>
        </p:nvGraphicFramePr>
        <p:xfrm>
          <a:off x="6084168" y="4962872"/>
          <a:ext cx="266429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69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What about joins?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SELECT 	</a:t>
            </a:r>
            <a:r>
              <a:rPr lang="en-US" sz="2800" dirty="0" err="1"/>
              <a:t>P.PName</a:t>
            </a:r>
            <a:r>
              <a:rPr lang="en-US" sz="2800" dirty="0"/>
              <a:t>, </a:t>
            </a:r>
            <a:r>
              <a:rPr lang="en-US" sz="2800" dirty="0" err="1"/>
              <a:t>T.PName</a:t>
            </a:r>
            <a:br>
              <a:rPr lang="en-US" sz="2800" dirty="0"/>
            </a:br>
            <a:r>
              <a:rPr lang="en-US" sz="2800" dirty="0"/>
              <a:t>FROM 	Phone P, Tablet T</a:t>
            </a:r>
            <a:br>
              <a:rPr lang="en-US" sz="2800" dirty="0"/>
            </a:br>
            <a:r>
              <a:rPr lang="en-US" sz="2800" dirty="0"/>
              <a:t>WHERE  	</a:t>
            </a:r>
            <a:r>
              <a:rPr lang="en-US" sz="2800" dirty="0" err="1"/>
              <a:t>P.Price</a:t>
            </a:r>
            <a:r>
              <a:rPr lang="en-US" sz="2800" dirty="0"/>
              <a:t> = </a:t>
            </a:r>
            <a:r>
              <a:rPr lang="en-US" sz="2800" dirty="0" err="1"/>
              <a:t>T.Price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sz="2800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180498"/>
              </p:ext>
            </p:extLst>
          </p:nvPr>
        </p:nvGraphicFramePr>
        <p:xfrm>
          <a:off x="899592" y="2705472"/>
          <a:ext cx="273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2225551"/>
            <a:ext cx="1080120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Phone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788809"/>
              </p:ext>
            </p:extLst>
          </p:nvPr>
        </p:nvGraphicFramePr>
        <p:xfrm>
          <a:off x="5724128" y="2684785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IdeaPad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24128" y="2204864"/>
            <a:ext cx="1152128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Tablet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11" name="Down Arrow 10"/>
          <p:cNvSpPr/>
          <p:nvPr/>
        </p:nvSpPr>
        <p:spPr bwMode="auto">
          <a:xfrm rot="16200000">
            <a:off x="5302984" y="5168096"/>
            <a:ext cx="432048" cy="554256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60504"/>
              </p:ext>
            </p:extLst>
          </p:nvPr>
        </p:nvGraphicFramePr>
        <p:xfrm>
          <a:off x="5868144" y="496287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1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NULLs are ignored in MIN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SELECT	MIN(Price) as </a:t>
            </a:r>
            <a:r>
              <a:rPr lang="en-US" sz="2600" dirty="0" err="1"/>
              <a:t>MinPrice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2079343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6336196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676707"/>
              </p:ext>
            </p:extLst>
          </p:nvPr>
        </p:nvGraphicFramePr>
        <p:xfrm>
          <a:off x="7164288" y="4725144"/>
          <a:ext cx="151216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MinPrice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73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NULLs are ignored in MAX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SELECT	MAX(Price) as </a:t>
            </a:r>
            <a:r>
              <a:rPr lang="en-US" sz="2600" dirty="0" err="1"/>
              <a:t>MaxPrice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0165624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6480212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12935"/>
              </p:ext>
            </p:extLst>
          </p:nvPr>
        </p:nvGraphicFramePr>
        <p:xfrm>
          <a:off x="7164288" y="4725144"/>
          <a:ext cx="15841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MaxPrice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53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NULLs are ignored in SUM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SELECT	SUM(Price) as </a:t>
            </a:r>
            <a:r>
              <a:rPr lang="en-US" sz="2600" dirty="0" err="1"/>
              <a:t>SumPrice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692267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6480212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73219"/>
              </p:ext>
            </p:extLst>
          </p:nvPr>
        </p:nvGraphicFramePr>
        <p:xfrm>
          <a:off x="7164288" y="4725144"/>
          <a:ext cx="15841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SumPrice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2755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8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NULLs are ignored in AVG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SELECT	AVG(Price) as </a:t>
            </a:r>
            <a:r>
              <a:rPr lang="en-US" sz="2600" dirty="0" err="1"/>
              <a:t>AvgPrice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9429141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6480212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722784"/>
              </p:ext>
            </p:extLst>
          </p:nvPr>
        </p:nvGraphicFramePr>
        <p:xfrm>
          <a:off x="7164288" y="4725144"/>
          <a:ext cx="15841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AvgPrice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918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1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SQL ignores NULLs when</a:t>
            </a:r>
            <a:br>
              <a:rPr lang="en-US" sz="2800" dirty="0"/>
            </a:br>
            <a:r>
              <a:rPr lang="en-US" sz="2800" dirty="0"/>
              <a:t>counting the number of </a:t>
            </a:r>
            <a:br>
              <a:rPr lang="en-US" sz="2800" dirty="0"/>
            </a:br>
            <a:r>
              <a:rPr lang="en-US" sz="2800" dirty="0"/>
              <a:t>values in a column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600" dirty="0"/>
              <a:t>SELECT	COUNT(Price)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549893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5112060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84168" y="4860449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3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184820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But NULLs are still counted</a:t>
            </a:r>
            <a:br>
              <a:rPr lang="en-US" sz="2800" dirty="0"/>
            </a:br>
            <a:r>
              <a:rPr lang="en-US" sz="2800" dirty="0"/>
              <a:t>in COUNT(*)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600" dirty="0"/>
              <a:t>SELECT	COUNT(*)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187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5112060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4168" y="4860449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4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217037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en-US" sz="2800" dirty="0"/>
              <a:t>But NULLs are still counted</a:t>
            </a:r>
            <a:br>
              <a:rPr lang="en-US" sz="2800" dirty="0"/>
            </a:br>
            <a:r>
              <a:rPr lang="en-US" sz="2800" dirty="0"/>
              <a:t>in COUNT(*)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600" dirty="0"/>
              <a:t>SELECT	COUNT(*)</a:t>
            </a:r>
            <a:br>
              <a:rPr lang="en-US" sz="2600" dirty="0"/>
            </a:br>
            <a:r>
              <a:rPr lang="en-US" sz="2600" dirty="0"/>
              <a:t>FROM	Product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206623"/>
              </p:ext>
            </p:extLst>
          </p:nvPr>
        </p:nvGraphicFramePr>
        <p:xfrm>
          <a:off x="5580112" y="179107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0112" y="119675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 rot="16200000">
            <a:off x="5112060" y="4761149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4168" y="4860449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4</a:t>
            </a:r>
            <a:endParaRPr lang="en-SG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2023687"/>
            <a:ext cx="8229600" cy="2579507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</a:rPr>
              <a:t>Avoid having too many NULLs in tables.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</a:rPr>
              <a:t>This can usually be achieved with proper schema design. </a:t>
            </a:r>
            <a:br>
              <a:rPr lang="en-US" sz="3600" dirty="0">
                <a:latin typeface="Calibri" panose="020F0502020204030204" pitchFamily="34" charset="0"/>
              </a:rPr>
            </a:br>
            <a:r>
              <a:rPr lang="en-US" sz="3600" dirty="0">
                <a:latin typeface="Calibri" panose="020F0502020204030204" pitchFamily="34" charset="0"/>
              </a:rPr>
              <a:t>(more details later)</a:t>
            </a:r>
            <a:endParaRPr lang="en-SG" sz="3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05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3072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Table</a:t>
            </a:r>
          </a:p>
          <a:p>
            <a:r>
              <a:rPr lang="en-US" dirty="0"/>
              <a:t>SELECT 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/>
              <a:t>UNION, INTERSECT, EXCEPT</a:t>
            </a:r>
          </a:p>
          <a:p>
            <a:r>
              <a:rPr lang="en-US" dirty="0" err="1">
                <a:solidFill>
                  <a:srgbClr val="C00000"/>
                </a:solidFill>
              </a:rPr>
              <a:t>Outerjoins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4427984" y="2151112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?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7984" y="155679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87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636912"/>
            <a:ext cx="8229600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P,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WHERE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1530118"/>
              </p:ext>
            </p:extLst>
          </p:nvPr>
        </p:nvGraphicFramePr>
        <p:xfrm>
          <a:off x="1979712" y="1124744"/>
          <a:ext cx="2520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666583"/>
              </p:ext>
            </p:extLst>
          </p:nvPr>
        </p:nvGraphicFramePr>
        <p:xfrm>
          <a:off x="6012160" y="112474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7775012"/>
              </p:ext>
            </p:extLst>
          </p:nvPr>
        </p:nvGraphicFramePr>
        <p:xfrm>
          <a:off x="3347864" y="3810744"/>
          <a:ext cx="51845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64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636912"/>
            <a:ext cx="8229600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</a:rPr>
              <a:t> </a:t>
            </a:r>
            <a:br>
              <a:rPr lang="en-US" sz="2400" dirty="0">
                <a:latin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857127"/>
              </p:ext>
            </p:extLst>
          </p:nvPr>
        </p:nvGraphicFramePr>
        <p:xfrm>
          <a:off x="1979712" y="112474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95299"/>
              </p:ext>
            </p:extLst>
          </p:nvPr>
        </p:nvGraphicFramePr>
        <p:xfrm>
          <a:off x="6012160" y="112474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446486"/>
              </p:ext>
            </p:extLst>
          </p:nvPr>
        </p:nvGraphicFramePr>
        <p:xfrm>
          <a:off x="3347864" y="3810744"/>
          <a:ext cx="51845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980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636912"/>
            <a:ext cx="8229600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br>
              <a:rPr lang="en-US" sz="2400" dirty="0">
                <a:latin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6307184"/>
              </p:ext>
            </p:extLst>
          </p:nvPr>
        </p:nvGraphicFramePr>
        <p:xfrm>
          <a:off x="1979712" y="112474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328342"/>
              </p:ext>
            </p:extLst>
          </p:nvPr>
        </p:nvGraphicFramePr>
        <p:xfrm>
          <a:off x="6012160" y="112474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131487"/>
              </p:ext>
            </p:extLst>
          </p:nvPr>
        </p:nvGraphicFramePr>
        <p:xfrm>
          <a:off x="3347864" y="3068960"/>
          <a:ext cx="5184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75633" y="3429000"/>
            <a:ext cx="1140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How?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4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636912"/>
            <a:ext cx="8507288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br>
              <a:rPr lang="en-US" sz="2400" dirty="0">
                <a:latin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LEFT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0819134"/>
              </p:ext>
            </p:extLst>
          </p:nvPr>
        </p:nvGraphicFramePr>
        <p:xfrm>
          <a:off x="1979712" y="112474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518798"/>
              </p:ext>
            </p:extLst>
          </p:nvPr>
        </p:nvGraphicFramePr>
        <p:xfrm>
          <a:off x="6012160" y="112474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502962"/>
              </p:ext>
            </p:extLst>
          </p:nvPr>
        </p:nvGraphicFramePr>
        <p:xfrm>
          <a:off x="3347864" y="3068960"/>
          <a:ext cx="5184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562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51520" y="2636912"/>
            <a:ext cx="8640960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br>
              <a:rPr lang="en-US" sz="2400" dirty="0">
                <a:latin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RIGHT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3093220"/>
              </p:ext>
            </p:extLst>
          </p:nvPr>
        </p:nvGraphicFramePr>
        <p:xfrm>
          <a:off x="1979712" y="1124744"/>
          <a:ext cx="2520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5561177"/>
              </p:ext>
            </p:extLst>
          </p:nvPr>
        </p:nvGraphicFramePr>
        <p:xfrm>
          <a:off x="6012160" y="1124744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8889895"/>
              </p:ext>
            </p:extLst>
          </p:nvPr>
        </p:nvGraphicFramePr>
        <p:xfrm>
          <a:off x="3347864" y="3068960"/>
          <a:ext cx="5184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3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51520" y="2636912"/>
            <a:ext cx="8640960" cy="34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omic Sans MS" pitchFamily="66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omic Sans MS" pitchFamily="66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br>
              <a:rPr lang="en-US" sz="2400" dirty="0">
                <a:latin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SELECT 	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FULL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5536" y="112474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707311"/>
              </p:ext>
            </p:extLst>
          </p:nvPr>
        </p:nvGraphicFramePr>
        <p:xfrm>
          <a:off x="6012160" y="1124744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12160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644147"/>
              </p:ext>
            </p:extLst>
          </p:nvPr>
        </p:nvGraphicFramePr>
        <p:xfrm>
          <a:off x="3347864" y="2824336"/>
          <a:ext cx="51845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184772"/>
              </p:ext>
            </p:extLst>
          </p:nvPr>
        </p:nvGraphicFramePr>
        <p:xfrm>
          <a:off x="1979712" y="112474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31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/>
          </a:bodyPr>
          <a:lstStyle/>
          <a:p>
            <a:r>
              <a:rPr lang="en-US" dirty="0"/>
              <a:t>LEFT OUTER JOIN</a:t>
            </a:r>
          </a:p>
          <a:p>
            <a:pPr lvl="1"/>
            <a:r>
              <a:rPr lang="en-US" dirty="0"/>
              <a:t>Include the left tuples even when there is no match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284948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932313"/>
              </p:ext>
            </p:extLst>
          </p:nvPr>
        </p:nvGraphicFramePr>
        <p:xfrm>
          <a:off x="6001816" y="2852936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01816" y="2276872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1763088"/>
              </p:ext>
            </p:extLst>
          </p:nvPr>
        </p:nvGraphicFramePr>
        <p:xfrm>
          <a:off x="2051720" y="2849488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120815"/>
              </p:ext>
            </p:extLst>
          </p:nvPr>
        </p:nvGraphicFramePr>
        <p:xfrm>
          <a:off x="5292080" y="4649688"/>
          <a:ext cx="36724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51520" y="4509120"/>
            <a:ext cx="52106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SELECT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LEFT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40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/>
          </a:bodyPr>
          <a:lstStyle/>
          <a:p>
            <a:r>
              <a:rPr lang="en-US" dirty="0"/>
              <a:t>LEFT OUTER JOIN</a:t>
            </a:r>
          </a:p>
          <a:p>
            <a:pPr lvl="1"/>
            <a:r>
              <a:rPr lang="en-US" dirty="0"/>
              <a:t>Include the left tuples even when there is no match</a:t>
            </a:r>
          </a:p>
          <a:p>
            <a:endParaRPr lang="en-US" dirty="0"/>
          </a:p>
          <a:p>
            <a:r>
              <a:rPr lang="en-US" dirty="0"/>
              <a:t>RIGHT OUTER JOIN</a:t>
            </a:r>
          </a:p>
          <a:p>
            <a:pPr lvl="1"/>
            <a:r>
              <a:rPr lang="en-US" dirty="0"/>
              <a:t>Include the right tuples even when there is no match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095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/>
          </a:bodyPr>
          <a:lstStyle/>
          <a:p>
            <a:r>
              <a:rPr lang="en-US" dirty="0"/>
              <a:t>LEFT OUTER JOIN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Include the left tuples even when there are no match</a:t>
            </a:r>
          </a:p>
          <a:p>
            <a:endParaRPr lang="en-US" dirty="0"/>
          </a:p>
          <a:p>
            <a:r>
              <a:rPr lang="en-US" dirty="0"/>
              <a:t>RIGHT OUTER JOIN</a:t>
            </a:r>
          </a:p>
          <a:p>
            <a:pPr lvl="1"/>
            <a:r>
              <a:rPr lang="en-US" dirty="0"/>
              <a:t>Include the right tuples even when there is no match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126876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298621"/>
              </p:ext>
            </p:extLst>
          </p:nvPr>
        </p:nvGraphicFramePr>
        <p:xfrm>
          <a:off x="6012160" y="1268760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160" y="692696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285047"/>
              </p:ext>
            </p:extLst>
          </p:nvPr>
        </p:nvGraphicFramePr>
        <p:xfrm>
          <a:off x="1979712" y="1268760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765608"/>
              </p:ext>
            </p:extLst>
          </p:nvPr>
        </p:nvGraphicFramePr>
        <p:xfrm>
          <a:off x="5194412" y="4653136"/>
          <a:ext cx="36724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51520" y="4667652"/>
            <a:ext cx="52106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SELECT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RIGHT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601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/>
          </a:bodyPr>
          <a:lstStyle/>
          <a:p>
            <a:r>
              <a:rPr lang="en-US" dirty="0"/>
              <a:t>LEFT OUTER JOIN</a:t>
            </a:r>
          </a:p>
          <a:p>
            <a:pPr lvl="1"/>
            <a:r>
              <a:rPr lang="en-US" dirty="0"/>
              <a:t>Include the left tuples even when there is no match</a:t>
            </a:r>
          </a:p>
          <a:p>
            <a:endParaRPr lang="en-US" dirty="0"/>
          </a:p>
          <a:p>
            <a:r>
              <a:rPr lang="en-US" dirty="0"/>
              <a:t>RIGHT OUTER JOIN</a:t>
            </a:r>
          </a:p>
          <a:p>
            <a:pPr lvl="1"/>
            <a:r>
              <a:rPr lang="en-US" dirty="0"/>
              <a:t>Include the right tuples even when there is no match</a:t>
            </a:r>
          </a:p>
          <a:p>
            <a:endParaRPr lang="en-US" dirty="0"/>
          </a:p>
          <a:p>
            <a:r>
              <a:rPr lang="en-US" dirty="0"/>
              <a:t>FULL OUTER JOIN</a:t>
            </a:r>
          </a:p>
          <a:p>
            <a:pPr lvl="1"/>
            <a:r>
              <a:rPr lang="en-US" dirty="0"/>
              <a:t>Include both left and right tuples even if there is no match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12409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LEFT OUTER JOIN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Include the left tuples even when there are no match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RIGHT OUTER JOIN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Include the right tuples even there are no match</a:t>
            </a:r>
          </a:p>
          <a:p>
            <a:endParaRPr lang="en-US" dirty="0"/>
          </a:p>
          <a:p>
            <a:r>
              <a:rPr lang="en-US" dirty="0"/>
              <a:t>FULL OUTER JOIN</a:t>
            </a:r>
          </a:p>
          <a:p>
            <a:pPr lvl="1"/>
            <a:r>
              <a:rPr lang="en-US" dirty="0"/>
              <a:t>Include both left and right tuples even if there is no match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Outerjoins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412627"/>
              </p:ext>
            </p:extLst>
          </p:nvPr>
        </p:nvGraphicFramePr>
        <p:xfrm>
          <a:off x="5929808" y="1124744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29808" y="548680"/>
            <a:ext cx="1018456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8980723"/>
              </p:ext>
            </p:extLst>
          </p:nvPr>
        </p:nvGraphicFramePr>
        <p:xfrm>
          <a:off x="2123728" y="112474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5458" y="2723436"/>
            <a:ext cx="5210678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SELECT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, Price, Shop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FROM	Product AS P 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FULL OUTER JOIN</a:t>
            </a:r>
            <a:r>
              <a:rPr lang="en-US" sz="2400" dirty="0">
                <a:latin typeface="Calibri" panose="020F0502020204030204" pitchFamily="34" charset="0"/>
              </a:rPr>
              <a:t> Sold AS S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ON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P.PName</a:t>
            </a:r>
            <a:r>
              <a:rPr lang="en-US" sz="2400" dirty="0">
                <a:latin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</a:rPr>
              <a:t>S.PName</a:t>
            </a:r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53480"/>
              </p:ext>
            </p:extLst>
          </p:nvPr>
        </p:nvGraphicFramePr>
        <p:xfrm>
          <a:off x="5220072" y="2780928"/>
          <a:ext cx="360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05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/>
          <a:lstStyle/>
          <a:p>
            <a:r>
              <a:rPr lang="en-US" dirty="0"/>
              <a:t>What does the following query mean?</a:t>
            </a:r>
          </a:p>
          <a:p>
            <a:r>
              <a:rPr lang="en-US" dirty="0"/>
              <a:t>SELECT	</a:t>
            </a:r>
            <a:r>
              <a:rPr lang="en-US" dirty="0" err="1"/>
              <a:t>Stars.Name</a:t>
            </a:r>
            <a:r>
              <a:rPr lang="en-US" dirty="0"/>
              <a:t>, Year</a:t>
            </a:r>
            <a:br>
              <a:rPr lang="en-US" dirty="0"/>
            </a:br>
            <a:r>
              <a:rPr lang="en-US" dirty="0"/>
              <a:t>FROM	Stars  LEFT OUTER JOIN </a:t>
            </a:r>
            <a:r>
              <a:rPr lang="en-US" dirty="0" err="1"/>
              <a:t>CastIn</a:t>
            </a:r>
            <a:br>
              <a:rPr lang="en-US" dirty="0"/>
            </a:br>
            <a:r>
              <a:rPr lang="en-US" dirty="0"/>
              <a:t>		ON </a:t>
            </a:r>
            <a:r>
              <a:rPr lang="en-US" dirty="0" err="1"/>
              <a:t>Stars.Name</a:t>
            </a:r>
            <a:r>
              <a:rPr lang="en-US" dirty="0"/>
              <a:t> = </a:t>
            </a:r>
            <a:r>
              <a:rPr lang="en-US" dirty="0" err="1"/>
              <a:t>CastIn.Name</a:t>
            </a:r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297328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7557499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151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91264" cy="3061965"/>
          </a:xfrm>
        </p:spPr>
        <p:txBody>
          <a:bodyPr/>
          <a:lstStyle/>
          <a:p>
            <a:r>
              <a:rPr lang="en-US" dirty="0"/>
              <a:t>What does the following query mean?</a:t>
            </a:r>
          </a:p>
          <a:p>
            <a:r>
              <a:rPr lang="en-US" dirty="0"/>
              <a:t>SELECT	</a:t>
            </a:r>
            <a:r>
              <a:rPr lang="en-US" dirty="0" err="1"/>
              <a:t>Stars.Name</a:t>
            </a:r>
            <a:r>
              <a:rPr lang="en-US" dirty="0"/>
              <a:t>, Year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CastIn</a:t>
            </a:r>
            <a:r>
              <a:rPr lang="en-US" dirty="0"/>
              <a:t>  RIGHT OUTER JOIN Stars</a:t>
            </a:r>
            <a:br>
              <a:rPr lang="en-US" dirty="0"/>
            </a:br>
            <a:r>
              <a:rPr lang="en-US" dirty="0"/>
              <a:t>		ON </a:t>
            </a:r>
            <a:r>
              <a:rPr lang="en-US" dirty="0" err="1"/>
              <a:t>CastIn.Name</a:t>
            </a:r>
            <a:r>
              <a:rPr lang="en-US" dirty="0"/>
              <a:t> = </a:t>
            </a:r>
            <a:r>
              <a:rPr lang="en-US" dirty="0" err="1"/>
              <a:t>Stars.Name</a:t>
            </a:r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235755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152895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3690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/>
          <a:lstStyle/>
          <a:p>
            <a:r>
              <a:rPr lang="en-US" dirty="0"/>
              <a:t>What does the following query mean?</a:t>
            </a:r>
          </a:p>
          <a:p>
            <a:r>
              <a:rPr lang="en-US" dirty="0"/>
              <a:t>SELECT	</a:t>
            </a:r>
            <a:r>
              <a:rPr lang="en-US" dirty="0" err="1"/>
              <a:t>Stars.Name</a:t>
            </a:r>
            <a:r>
              <a:rPr lang="en-US" dirty="0"/>
              <a:t>, Year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CastIn</a:t>
            </a:r>
            <a:r>
              <a:rPr lang="en-US" dirty="0"/>
              <a:t>  FULL OUTER JOIN Stars</a:t>
            </a:r>
            <a:br>
              <a:rPr lang="en-US" dirty="0"/>
            </a:br>
            <a:r>
              <a:rPr lang="en-US" dirty="0"/>
              <a:t>		ON </a:t>
            </a:r>
            <a:r>
              <a:rPr lang="en-US" dirty="0" err="1"/>
              <a:t>CastIn.Name</a:t>
            </a:r>
            <a:r>
              <a:rPr lang="en-US" dirty="0"/>
              <a:t> = </a:t>
            </a:r>
            <a:r>
              <a:rPr lang="en-US" dirty="0" err="1"/>
              <a:t>Stars.Name</a:t>
            </a:r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1923476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3119867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571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each movie, list the number of male movie stars that were cast in the movie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3695750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262442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204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each movie, list the number of male movie stars that were cast in the movie</a:t>
            </a:r>
          </a:p>
          <a:p>
            <a:r>
              <a:rPr lang="en-US" dirty="0"/>
              <a:t>SELECT	Movie, COUNT(*)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CastIn</a:t>
            </a:r>
            <a:r>
              <a:rPr lang="en-US" dirty="0"/>
              <a:t>, Stars</a:t>
            </a:r>
            <a:br>
              <a:rPr lang="en-US" dirty="0"/>
            </a:br>
            <a:r>
              <a:rPr lang="en-US" dirty="0"/>
              <a:t>WHERE	</a:t>
            </a:r>
            <a:r>
              <a:rPr lang="en-US" dirty="0" err="1"/>
              <a:t>CastIn.Name</a:t>
            </a:r>
            <a:r>
              <a:rPr lang="en-US" dirty="0"/>
              <a:t> = </a:t>
            </a:r>
            <a:r>
              <a:rPr lang="en-US" dirty="0" err="1"/>
              <a:t>Stars.Name</a:t>
            </a:r>
            <a:br>
              <a:rPr lang="en-US" dirty="0"/>
            </a:br>
            <a:r>
              <a:rPr lang="en-US" dirty="0"/>
              <a:t>		AND Gender = ‘male’</a:t>
            </a:r>
            <a:br>
              <a:rPr lang="en-US" dirty="0"/>
            </a:br>
            <a:r>
              <a:rPr lang="en-US" dirty="0"/>
              <a:t>GROUP BY	Movie</a:t>
            </a:r>
          </a:p>
          <a:p>
            <a:pPr marL="0" indent="0">
              <a:buNone/>
            </a:pPr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021467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659417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8304" y="4509120"/>
            <a:ext cx="11558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1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each movie, list the number of male movie stars that were cast in the movie</a:t>
            </a:r>
          </a:p>
          <a:p>
            <a:r>
              <a:rPr lang="en-US" dirty="0"/>
              <a:t>SELECT	Movie, COUNT(*)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CastIn</a:t>
            </a:r>
            <a:r>
              <a:rPr lang="en-US" dirty="0"/>
              <a:t> LEFT OUTER JOIN Stars</a:t>
            </a:r>
            <a:br>
              <a:rPr lang="en-US" dirty="0"/>
            </a:br>
            <a:r>
              <a:rPr lang="en-US" dirty="0"/>
              <a:t>		ON	</a:t>
            </a:r>
            <a:r>
              <a:rPr lang="en-US" dirty="0" err="1"/>
              <a:t>CastIn.Name</a:t>
            </a:r>
            <a:r>
              <a:rPr lang="en-US" dirty="0"/>
              <a:t> = </a:t>
            </a:r>
            <a:r>
              <a:rPr lang="en-US" dirty="0" err="1"/>
              <a:t>Stars.Name</a:t>
            </a:r>
            <a:br>
              <a:rPr lang="en-US" dirty="0"/>
            </a:br>
            <a:r>
              <a:rPr lang="en-US" dirty="0"/>
              <a:t>		AND	Gender = ‘male’</a:t>
            </a:r>
            <a:br>
              <a:rPr lang="en-US" dirty="0"/>
            </a:br>
            <a:r>
              <a:rPr lang="en-US" dirty="0"/>
              <a:t>GROUP BY	Movie</a:t>
            </a:r>
          </a:p>
          <a:p>
            <a:pPr marL="0" indent="0">
              <a:buNone/>
            </a:pPr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945261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6505656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8304" y="4509120"/>
            <a:ext cx="11558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7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each movie, list the number of male movie stars that were cast in the movie</a:t>
            </a:r>
          </a:p>
          <a:p>
            <a:r>
              <a:rPr lang="en-US" dirty="0"/>
              <a:t>SELECT	Movie, COUNT(Gender)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CastIn</a:t>
            </a:r>
            <a:r>
              <a:rPr lang="en-US" dirty="0"/>
              <a:t> LEFT OUTER JOIN Stars</a:t>
            </a:r>
            <a:br>
              <a:rPr lang="en-US" dirty="0"/>
            </a:br>
            <a:r>
              <a:rPr lang="en-US" dirty="0"/>
              <a:t>		ON	</a:t>
            </a:r>
            <a:r>
              <a:rPr lang="en-US" dirty="0" err="1"/>
              <a:t>CastIn.Name</a:t>
            </a:r>
            <a:r>
              <a:rPr lang="en-US" dirty="0"/>
              <a:t> = </a:t>
            </a:r>
            <a:r>
              <a:rPr lang="en-US" dirty="0" err="1"/>
              <a:t>Stars.Name</a:t>
            </a:r>
            <a:br>
              <a:rPr lang="en-US" dirty="0"/>
            </a:br>
            <a:r>
              <a:rPr lang="en-US" dirty="0"/>
              <a:t>		AND	Gender = ‘male’</a:t>
            </a:r>
            <a:br>
              <a:rPr lang="en-US" dirty="0"/>
            </a:br>
            <a:r>
              <a:rPr lang="en-US" dirty="0"/>
              <a:t>GROUP BY	Movie</a:t>
            </a:r>
          </a:p>
          <a:p>
            <a:pPr marL="0" indent="0">
              <a:buNone/>
            </a:pPr>
            <a:endParaRPr lang="en-US" dirty="0"/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268760"/>
            <a:ext cx="1656184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CastIn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8735959"/>
              </p:ext>
            </p:extLst>
          </p:nvPr>
        </p:nvGraphicFramePr>
        <p:xfrm>
          <a:off x="395536" y="1916832"/>
          <a:ext cx="29523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Movie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6056" y="126876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Stars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049244"/>
              </p:ext>
            </p:extLst>
          </p:nvPr>
        </p:nvGraphicFramePr>
        <p:xfrm>
          <a:off x="5076056" y="1916832"/>
          <a:ext cx="33123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Gender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Birth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800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9581-44CD-4C41-8790-266DC300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Coming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7159-39F3-4F01-821C-DD06B79C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Create, alter, and remove tables and tuples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62547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One Tuple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INSERT INTO</a:t>
            </a:r>
            <a:r>
              <a:rPr lang="en-US" dirty="0"/>
              <a:t> 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VALUES</a:t>
            </a:r>
            <a:r>
              <a:rPr lang="en-US" dirty="0"/>
              <a:t>( ‘iPhone XI’, 999 )</a:t>
            </a:r>
          </a:p>
          <a:p>
            <a:endParaRPr lang="en-US" dirty="0"/>
          </a:p>
          <a:p>
            <a:r>
              <a:rPr lang="en-US" dirty="0"/>
              <a:t>Alternative approaches:</a:t>
            </a:r>
          </a:p>
          <a:p>
            <a:endParaRPr lang="en-US" sz="1900" dirty="0"/>
          </a:p>
          <a:p>
            <a:r>
              <a:rPr lang="en-US" dirty="0">
                <a:solidFill>
                  <a:srgbClr val="C00000"/>
                </a:solidFill>
              </a:rPr>
              <a:t>INSERT INTO </a:t>
            </a:r>
            <a:br>
              <a:rPr lang="en-US" dirty="0"/>
            </a:br>
            <a:r>
              <a:rPr lang="en-US" dirty="0"/>
              <a:t>Product( </a:t>
            </a:r>
            <a:r>
              <a:rPr lang="en-US" dirty="0" err="1"/>
              <a:t>PName</a:t>
            </a:r>
            <a:r>
              <a:rPr lang="en-US" dirty="0"/>
              <a:t>, Price)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VALUES</a:t>
            </a:r>
            <a:r>
              <a:rPr lang="en-US" dirty="0"/>
              <a:t>( ‘iPhone XI’, 999 )</a:t>
            </a:r>
          </a:p>
          <a:p>
            <a:endParaRPr lang="en-US" sz="1900" dirty="0"/>
          </a:p>
          <a:p>
            <a:r>
              <a:rPr lang="en-US" dirty="0">
                <a:solidFill>
                  <a:srgbClr val="C00000"/>
                </a:solidFill>
              </a:rPr>
              <a:t>INSERT INTO</a:t>
            </a:r>
            <a:br>
              <a:rPr lang="en-US" dirty="0"/>
            </a:br>
            <a:r>
              <a:rPr lang="en-US" dirty="0"/>
              <a:t>Product( Price, </a:t>
            </a:r>
            <a:r>
              <a:rPr lang="en-US" dirty="0" err="1"/>
              <a:t>PName</a:t>
            </a:r>
            <a:r>
              <a:rPr lang="en-US" dirty="0"/>
              <a:t>,)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VALUES</a:t>
            </a:r>
            <a:r>
              <a:rPr lang="en-US" dirty="0"/>
              <a:t>( 999, ‘iPhone XI’ 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4893991"/>
              </p:ext>
            </p:extLst>
          </p:nvPr>
        </p:nvGraphicFramePr>
        <p:xfrm>
          <a:off x="6156176" y="1625352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83631" y="98072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885297"/>
              </p:ext>
            </p:extLst>
          </p:nvPr>
        </p:nvGraphicFramePr>
        <p:xfrm>
          <a:off x="6156176" y="4073624"/>
          <a:ext cx="2520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XI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999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>
            <a:off x="7380312" y="3140968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16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Insertion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INSERT INTO </a:t>
            </a:r>
            <a:br>
              <a:rPr lang="en-US" dirty="0"/>
            </a:br>
            <a:r>
              <a:rPr lang="en-US" dirty="0"/>
              <a:t>Product( </a:t>
            </a:r>
            <a:r>
              <a:rPr lang="en-US" dirty="0" err="1"/>
              <a:t>PName</a:t>
            </a:r>
            <a:r>
              <a:rPr lang="en-US" dirty="0"/>
              <a:t> )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VALUES</a:t>
            </a:r>
            <a:r>
              <a:rPr lang="en-US" dirty="0"/>
              <a:t>( ‘iPhone XI’ )</a:t>
            </a:r>
          </a:p>
          <a:p>
            <a:endParaRPr lang="en-US" sz="1900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7383407"/>
              </p:ext>
            </p:extLst>
          </p:nvPr>
        </p:nvGraphicFramePr>
        <p:xfrm>
          <a:off x="6156176" y="1625352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83631" y="98072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635478"/>
              </p:ext>
            </p:extLst>
          </p:nvPr>
        </p:nvGraphicFramePr>
        <p:xfrm>
          <a:off x="6156176" y="4073624"/>
          <a:ext cx="2520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XI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NULL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>
            <a:off x="7380312" y="3140968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687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Insertion via </a:t>
            </a:r>
            <a:r>
              <a:rPr lang="en-US" dirty="0" err="1"/>
              <a:t>Subqueries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‘Sold’ table is initially </a:t>
            </a:r>
            <a:br>
              <a:rPr lang="en-US" dirty="0"/>
            </a:br>
            <a:r>
              <a:rPr lang="en-US" dirty="0"/>
              <a:t>empty.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INSERT INTO</a:t>
            </a:r>
            <a:r>
              <a:rPr lang="en-US" dirty="0"/>
              <a:t> Sold</a:t>
            </a:r>
            <a:br>
              <a:rPr lang="en-US" dirty="0"/>
            </a:br>
            <a:r>
              <a:rPr lang="en-US" dirty="0"/>
              <a:t>SELECT 	</a:t>
            </a:r>
            <a:r>
              <a:rPr lang="en-US" dirty="0" err="1"/>
              <a:t>PName</a:t>
            </a:r>
            <a:r>
              <a:rPr lang="en-US" dirty="0"/>
              <a:t>, ‘</a:t>
            </a:r>
            <a:r>
              <a:rPr lang="en-US" dirty="0" err="1"/>
              <a:t>Suntec</a:t>
            </a:r>
            <a:r>
              <a:rPr lang="en-US" dirty="0"/>
              <a:t>’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436944"/>
              </p:ext>
            </p:extLst>
          </p:nvPr>
        </p:nvGraphicFramePr>
        <p:xfrm>
          <a:off x="6156176" y="1625352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83631" y="98072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380312" y="3140968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7344900"/>
              </p:ext>
            </p:extLst>
          </p:nvPr>
        </p:nvGraphicFramePr>
        <p:xfrm>
          <a:off x="6084168" y="4361656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4168" y="3785592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508603"/>
              </p:ext>
            </p:extLst>
          </p:nvPr>
        </p:nvGraphicFramePr>
        <p:xfrm>
          <a:off x="6084168" y="4365104"/>
          <a:ext cx="26026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90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Insertion via </a:t>
            </a:r>
            <a:r>
              <a:rPr lang="en-US" dirty="0" err="1"/>
              <a:t>Subqueries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Assume that a new shop at </a:t>
            </a:r>
            <a:br>
              <a:rPr lang="en-US" dirty="0"/>
            </a:br>
            <a:r>
              <a:rPr lang="en-US" dirty="0"/>
              <a:t>the ION sells all products </a:t>
            </a:r>
            <a:br>
              <a:rPr lang="en-US" dirty="0"/>
            </a:br>
            <a:r>
              <a:rPr lang="en-US" dirty="0"/>
              <a:t>sold at the </a:t>
            </a:r>
            <a:r>
              <a:rPr lang="en-US" dirty="0" err="1"/>
              <a:t>Suntec</a:t>
            </a:r>
            <a:r>
              <a:rPr lang="en-US" dirty="0"/>
              <a:t> shop</a:t>
            </a:r>
            <a:br>
              <a:rPr lang="en-US" dirty="0"/>
            </a:b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INSERT INTO</a:t>
            </a:r>
            <a:r>
              <a:rPr lang="en-US" dirty="0"/>
              <a:t> Sold</a:t>
            </a:r>
            <a:br>
              <a:rPr lang="en-US" dirty="0"/>
            </a:br>
            <a:r>
              <a:rPr lang="en-US" dirty="0"/>
              <a:t>SELECT 	</a:t>
            </a:r>
            <a:r>
              <a:rPr lang="en-US" dirty="0" err="1"/>
              <a:t>PName</a:t>
            </a:r>
            <a:r>
              <a:rPr lang="en-US" dirty="0"/>
              <a:t>, ‘ION’</a:t>
            </a:r>
            <a:br>
              <a:rPr lang="en-US" dirty="0"/>
            </a:br>
            <a:r>
              <a:rPr lang="en-US" dirty="0"/>
              <a:t>FROM	Sold</a:t>
            </a:r>
          </a:p>
          <a:p>
            <a:endParaRPr lang="en-US" dirty="0"/>
          </a:p>
        </p:txBody>
      </p:sp>
      <p:sp>
        <p:nvSpPr>
          <p:cNvPr id="7" name="Down Arrow 6"/>
          <p:cNvSpPr/>
          <p:nvPr/>
        </p:nvSpPr>
        <p:spPr bwMode="auto">
          <a:xfrm>
            <a:off x="7380312" y="3140968"/>
            <a:ext cx="432048" cy="720080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2598280"/>
              </p:ext>
            </p:extLst>
          </p:nvPr>
        </p:nvGraphicFramePr>
        <p:xfrm>
          <a:off x="6084168" y="4005064"/>
          <a:ext cx="26026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596442"/>
              </p:ext>
            </p:extLst>
          </p:nvPr>
        </p:nvGraphicFramePr>
        <p:xfrm>
          <a:off x="6084168" y="1625352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84168" y="1049288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73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Deletion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FROM Sold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PName</a:t>
            </a:r>
            <a:r>
              <a:rPr lang="en-US" dirty="0"/>
              <a:t> = ‘iPad Pro’</a:t>
            </a:r>
            <a:endParaRPr lang="en-SG" dirty="0"/>
          </a:p>
        </p:txBody>
      </p:sp>
      <p:sp>
        <p:nvSpPr>
          <p:cNvPr id="4" name="Down Arrow 3"/>
          <p:cNvSpPr/>
          <p:nvPr/>
        </p:nvSpPr>
        <p:spPr bwMode="auto">
          <a:xfrm>
            <a:off x="7380312" y="3140968"/>
            <a:ext cx="432048" cy="720080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512560"/>
              </p:ext>
            </p:extLst>
          </p:nvPr>
        </p:nvGraphicFramePr>
        <p:xfrm>
          <a:off x="6084168" y="400506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5087786"/>
              </p:ext>
            </p:extLst>
          </p:nvPr>
        </p:nvGraphicFramePr>
        <p:xfrm>
          <a:off x="6084168" y="1625352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4168" y="1049288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2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Deletion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Remove from the </a:t>
            </a:r>
            <a:r>
              <a:rPr lang="en-US" dirty="0" err="1"/>
              <a:t>Suntec</a:t>
            </a:r>
            <a:r>
              <a:rPr lang="en-US" dirty="0"/>
              <a:t> shop </a:t>
            </a:r>
            <a:br>
              <a:rPr lang="en-US" dirty="0"/>
            </a:br>
            <a:r>
              <a:rPr lang="en-US" dirty="0"/>
              <a:t>all products over 800 dollars</a:t>
            </a:r>
          </a:p>
          <a:p>
            <a:endParaRPr lang="en-US" dirty="0"/>
          </a:p>
          <a:p>
            <a:r>
              <a:rPr lang="en-US" dirty="0"/>
              <a:t>DELETE FROM Sold</a:t>
            </a:r>
            <a:br>
              <a:rPr lang="en-US" dirty="0"/>
            </a:br>
            <a:r>
              <a:rPr lang="en-US" dirty="0"/>
              <a:t>WHERE Shop = ‘</a:t>
            </a:r>
            <a:r>
              <a:rPr lang="en-US" dirty="0" err="1"/>
              <a:t>Suntec</a:t>
            </a:r>
            <a:r>
              <a:rPr lang="en-US" dirty="0"/>
              <a:t>’</a:t>
            </a:r>
            <a:br>
              <a:rPr lang="en-US" dirty="0"/>
            </a:br>
            <a:r>
              <a:rPr lang="en-US" dirty="0"/>
              <a:t>	AND </a:t>
            </a:r>
            <a:r>
              <a:rPr lang="en-US" dirty="0" err="1"/>
              <a:t>Sold.PName</a:t>
            </a:r>
            <a:r>
              <a:rPr lang="en-US" dirty="0"/>
              <a:t> IN</a:t>
            </a:r>
            <a:br>
              <a:rPr lang="en-US" dirty="0"/>
            </a:br>
            <a:r>
              <a:rPr lang="en-US" dirty="0"/>
              <a:t>	(SELECT </a:t>
            </a:r>
            <a:r>
              <a:rPr lang="en-US" dirty="0" err="1"/>
              <a:t>P.PName</a:t>
            </a:r>
            <a:r>
              <a:rPr lang="en-US" dirty="0"/>
              <a:t> FROM Product AS P</a:t>
            </a:r>
            <a:br>
              <a:rPr lang="en-US" dirty="0"/>
            </a:br>
            <a:r>
              <a:rPr lang="en-US" dirty="0"/>
              <a:t>	  WHERE Price &gt; 800)</a:t>
            </a:r>
            <a:endParaRPr lang="en-SG" dirty="0"/>
          </a:p>
        </p:txBody>
      </p:sp>
      <p:sp>
        <p:nvSpPr>
          <p:cNvPr id="4" name="Down Arrow 3"/>
          <p:cNvSpPr/>
          <p:nvPr/>
        </p:nvSpPr>
        <p:spPr bwMode="auto">
          <a:xfrm>
            <a:off x="7380312" y="3140968"/>
            <a:ext cx="432048" cy="720080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4094947"/>
              </p:ext>
            </p:extLst>
          </p:nvPr>
        </p:nvGraphicFramePr>
        <p:xfrm>
          <a:off x="6084168" y="4005064"/>
          <a:ext cx="2602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4801458"/>
              </p:ext>
            </p:extLst>
          </p:nvPr>
        </p:nvGraphicFramePr>
        <p:xfrm>
          <a:off x="6084168" y="1625352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4168" y="1049288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869819"/>
              </p:ext>
            </p:extLst>
          </p:nvPr>
        </p:nvGraphicFramePr>
        <p:xfrm>
          <a:off x="683568" y="1679436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1023" y="103481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63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All Tuples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FROM Sold;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4643532"/>
              </p:ext>
            </p:extLst>
          </p:nvPr>
        </p:nvGraphicFramePr>
        <p:xfrm>
          <a:off x="6084168" y="1625352"/>
          <a:ext cx="26026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1049288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6" name="Down Arrow 5"/>
          <p:cNvSpPr/>
          <p:nvPr/>
        </p:nvSpPr>
        <p:spPr bwMode="auto">
          <a:xfrm>
            <a:off x="7380312" y="3140968"/>
            <a:ext cx="432048" cy="720080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300957"/>
              </p:ext>
            </p:extLst>
          </p:nvPr>
        </p:nvGraphicFramePr>
        <p:xfrm>
          <a:off x="6084168" y="4005064"/>
          <a:ext cx="26026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2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Remove (i) any product from</a:t>
            </a:r>
            <a:br>
              <a:rPr lang="en-US" dirty="0"/>
            </a:br>
            <a:r>
              <a:rPr lang="en-US" dirty="0" err="1"/>
              <a:t>Suntec</a:t>
            </a:r>
            <a:r>
              <a:rPr lang="en-US" dirty="0"/>
              <a:t> that is also sold at</a:t>
            </a:r>
            <a:br>
              <a:rPr lang="en-US" dirty="0"/>
            </a:br>
            <a:r>
              <a:rPr lang="en-US" dirty="0"/>
              <a:t>ION and (ii) any product</a:t>
            </a:r>
            <a:br>
              <a:rPr lang="en-US" dirty="0"/>
            </a:br>
            <a:r>
              <a:rPr lang="en-US" dirty="0"/>
              <a:t>from ION that is also sold</a:t>
            </a:r>
            <a:br>
              <a:rPr lang="en-US" dirty="0"/>
            </a:br>
            <a:r>
              <a:rPr lang="en-US" dirty="0"/>
              <a:t>at </a:t>
            </a:r>
            <a:r>
              <a:rPr lang="en-US" dirty="0" err="1"/>
              <a:t>Suntec</a:t>
            </a:r>
            <a:endParaRPr lang="en-US" dirty="0"/>
          </a:p>
          <a:p>
            <a:r>
              <a:rPr lang="en-US" dirty="0"/>
              <a:t>DELETE FROM Sold</a:t>
            </a:r>
            <a:br>
              <a:rPr lang="en-US" dirty="0"/>
            </a:br>
            <a:r>
              <a:rPr lang="en-US" dirty="0"/>
              <a:t>WHERE (</a:t>
            </a:r>
            <a:r>
              <a:rPr lang="en-US" dirty="0" err="1"/>
              <a:t>Sold.Shop</a:t>
            </a:r>
            <a:r>
              <a:rPr lang="en-US" dirty="0"/>
              <a:t> = ‘</a:t>
            </a:r>
            <a:r>
              <a:rPr lang="en-US" dirty="0" err="1"/>
              <a:t>Suntec</a:t>
            </a:r>
            <a:r>
              <a:rPr lang="en-US" dirty="0"/>
              <a:t>’ AND 			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S1.PName FROM Sold AS S1 </a:t>
            </a:r>
            <a:br>
              <a:rPr lang="en-US" dirty="0"/>
            </a:br>
            <a:r>
              <a:rPr lang="en-US" dirty="0"/>
              <a:t> 	WHERE S1.Shop = ‘ION’))</a:t>
            </a:r>
            <a:br>
              <a:rPr lang="en-US" dirty="0"/>
            </a:br>
            <a:r>
              <a:rPr lang="en-US" dirty="0"/>
              <a:t>OR (</a:t>
            </a:r>
            <a:r>
              <a:rPr lang="en-US" dirty="0" err="1"/>
              <a:t>Sold.Shop</a:t>
            </a:r>
            <a:r>
              <a:rPr lang="en-US" dirty="0"/>
              <a:t> = ‘ION’ AND 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S2.PName FROM Sold AS S2 </a:t>
            </a:r>
            <a:br>
              <a:rPr lang="en-US" dirty="0"/>
            </a:br>
            <a:r>
              <a:rPr lang="en-US" dirty="0"/>
              <a:t> 	WHERE S2.Shop = ‘</a:t>
            </a:r>
            <a:r>
              <a:rPr lang="en-US" dirty="0" err="1"/>
              <a:t>Suntec</a:t>
            </a:r>
            <a:r>
              <a:rPr lang="en-US" dirty="0"/>
              <a:t>’))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672627"/>
              </p:ext>
            </p:extLst>
          </p:nvPr>
        </p:nvGraphicFramePr>
        <p:xfrm>
          <a:off x="6084168" y="1600200"/>
          <a:ext cx="26026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1004972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7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Question: Will the database</a:t>
            </a:r>
            <a:br>
              <a:rPr lang="en-US" dirty="0"/>
            </a:br>
            <a:r>
              <a:rPr lang="en-US" dirty="0"/>
              <a:t>remove the third tuple after</a:t>
            </a:r>
            <a:br>
              <a:rPr lang="en-US" dirty="0"/>
            </a:br>
            <a:r>
              <a:rPr lang="en-US" dirty="0"/>
              <a:t>the first tuple is removed?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DELETE FROM Sold</a:t>
            </a:r>
            <a:br>
              <a:rPr lang="en-US" dirty="0"/>
            </a:br>
            <a:r>
              <a:rPr lang="en-US" dirty="0"/>
              <a:t>WHERE (</a:t>
            </a:r>
            <a:r>
              <a:rPr lang="en-US" dirty="0" err="1"/>
              <a:t>Sold.Shop</a:t>
            </a:r>
            <a:r>
              <a:rPr lang="en-US" dirty="0"/>
              <a:t> = ‘</a:t>
            </a:r>
            <a:r>
              <a:rPr lang="en-US" dirty="0" err="1"/>
              <a:t>Suntec</a:t>
            </a:r>
            <a:r>
              <a:rPr lang="en-US" dirty="0"/>
              <a:t>’ AND 			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S1.PName FROM Sold AS S1 </a:t>
            </a:r>
            <a:br>
              <a:rPr lang="en-US" dirty="0"/>
            </a:br>
            <a:r>
              <a:rPr lang="en-US" dirty="0"/>
              <a:t> 	WHERE S1.Shop = ‘ION’))</a:t>
            </a:r>
            <a:br>
              <a:rPr lang="en-US" dirty="0"/>
            </a:br>
            <a:r>
              <a:rPr lang="en-US" dirty="0"/>
              <a:t>OR (</a:t>
            </a:r>
            <a:r>
              <a:rPr lang="en-US" dirty="0" err="1"/>
              <a:t>Sold.Shop</a:t>
            </a:r>
            <a:r>
              <a:rPr lang="en-US" dirty="0"/>
              <a:t> = ‘ION’ AND 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S2.PName FROM Sold AS S2 </a:t>
            </a:r>
            <a:br>
              <a:rPr lang="en-US" dirty="0"/>
            </a:br>
            <a:r>
              <a:rPr lang="en-US" dirty="0"/>
              <a:t> 	WHERE S2.Shop = ‘</a:t>
            </a:r>
            <a:r>
              <a:rPr lang="en-US" dirty="0" err="1"/>
              <a:t>Suntec</a:t>
            </a:r>
            <a:r>
              <a:rPr lang="en-US" dirty="0"/>
              <a:t>’))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182563"/>
              </p:ext>
            </p:extLst>
          </p:nvPr>
        </p:nvGraphicFramePr>
        <p:xfrm>
          <a:off x="6084168" y="1600200"/>
          <a:ext cx="26026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1004972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521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Question: Will the database</a:t>
            </a:r>
            <a:br>
              <a:rPr lang="en-US" dirty="0"/>
            </a:br>
            <a:r>
              <a:rPr lang="en-US" dirty="0"/>
              <a:t>remove the third tuple after</a:t>
            </a:r>
            <a:br>
              <a:rPr lang="en-US" dirty="0"/>
            </a:br>
            <a:r>
              <a:rPr lang="en-US" dirty="0"/>
              <a:t>the first tuple is removed?</a:t>
            </a:r>
            <a:br>
              <a:rPr lang="en-US" dirty="0"/>
            </a:br>
            <a:r>
              <a:rPr lang="en-US" dirty="0"/>
              <a:t>Answer: Yes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DELETE FROM Sold</a:t>
            </a:r>
            <a:br>
              <a:rPr lang="en-US" dirty="0"/>
            </a:br>
            <a:r>
              <a:rPr lang="en-US" dirty="0"/>
              <a:t>WHERE (</a:t>
            </a:r>
            <a:r>
              <a:rPr lang="en-US" dirty="0" err="1"/>
              <a:t>Sold.Shop</a:t>
            </a:r>
            <a:r>
              <a:rPr lang="en-US" dirty="0"/>
              <a:t> = ‘</a:t>
            </a:r>
            <a:r>
              <a:rPr lang="en-US" dirty="0" err="1"/>
              <a:t>Suntec</a:t>
            </a:r>
            <a:r>
              <a:rPr lang="en-US" dirty="0"/>
              <a:t>’ AND 			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S1.PName FROM Sold AS S1 </a:t>
            </a:r>
            <a:br>
              <a:rPr lang="en-US" dirty="0"/>
            </a:br>
            <a:r>
              <a:rPr lang="en-US" dirty="0"/>
              <a:t> 	WHERE S1.Shop = ‘ION’))</a:t>
            </a:r>
            <a:br>
              <a:rPr lang="en-US" dirty="0"/>
            </a:br>
            <a:r>
              <a:rPr lang="en-US" dirty="0"/>
              <a:t>OR (</a:t>
            </a:r>
            <a:r>
              <a:rPr lang="en-US" dirty="0" err="1"/>
              <a:t>Sold.Shop</a:t>
            </a:r>
            <a:r>
              <a:rPr lang="en-US" dirty="0"/>
              <a:t> = ‘ION’ AND </a:t>
            </a:r>
            <a:r>
              <a:rPr lang="en-US" dirty="0" err="1"/>
              <a:t>Sold.PName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	(Select S2.PName FROM Sold AS S2 </a:t>
            </a:r>
            <a:br>
              <a:rPr lang="en-US" dirty="0"/>
            </a:br>
            <a:r>
              <a:rPr lang="en-US" dirty="0"/>
              <a:t> 	WHERE S2.Shop = ‘</a:t>
            </a:r>
            <a:r>
              <a:rPr lang="en-US" dirty="0" err="1"/>
              <a:t>Suntec</a:t>
            </a:r>
            <a:r>
              <a:rPr lang="en-US" dirty="0"/>
              <a:t>’))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842943"/>
              </p:ext>
            </p:extLst>
          </p:nvPr>
        </p:nvGraphicFramePr>
        <p:xfrm>
          <a:off x="6084168" y="1600200"/>
          <a:ext cx="26026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alibri" panose="020F0502020204030204" pitchFamily="34" charset="0"/>
                        </a:rPr>
                        <a:t>Suntec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1004972"/>
            <a:ext cx="1018456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Sold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10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Update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the price of </a:t>
            </a:r>
            <a:br>
              <a:rPr lang="en-US" dirty="0"/>
            </a:br>
            <a:r>
              <a:rPr lang="en-US" dirty="0"/>
              <a:t>iPhone X should be reduced</a:t>
            </a:r>
            <a:br>
              <a:rPr lang="en-US" dirty="0"/>
            </a:br>
            <a:r>
              <a:rPr lang="en-US" dirty="0"/>
              <a:t>to 777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 	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	Price = 777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WHERE</a:t>
            </a:r>
            <a:r>
              <a:rPr lang="en-US" dirty="0"/>
              <a:t>  	</a:t>
            </a:r>
            <a:r>
              <a:rPr lang="en-US" dirty="0" err="1"/>
              <a:t>PName</a:t>
            </a:r>
            <a:r>
              <a:rPr lang="en-US" dirty="0"/>
              <a:t> = ‘iPhone X’</a:t>
            </a:r>
            <a:endParaRPr lang="en-SG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575378"/>
              </p:ext>
            </p:extLst>
          </p:nvPr>
        </p:nvGraphicFramePr>
        <p:xfrm>
          <a:off x="6156176" y="1625352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83631" y="98072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018710"/>
              </p:ext>
            </p:extLst>
          </p:nvPr>
        </p:nvGraphicFramePr>
        <p:xfrm>
          <a:off x="6156176" y="4073624"/>
          <a:ext cx="2520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777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Down Arrow 10"/>
          <p:cNvSpPr/>
          <p:nvPr/>
        </p:nvSpPr>
        <p:spPr bwMode="auto">
          <a:xfrm>
            <a:off x="7380312" y="3140968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969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Update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Assume that Google buys Apple and reduces the prices of all its products by 100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 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Price = Price – 100, Company = ‘Google’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WHERE</a:t>
            </a:r>
            <a:r>
              <a:rPr lang="en-US" dirty="0"/>
              <a:t> Company = ‘Apple’</a:t>
            </a:r>
            <a:endParaRPr lang="en-SG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094999"/>
              </p:ext>
            </p:extLst>
          </p:nvPr>
        </p:nvGraphicFramePr>
        <p:xfrm>
          <a:off x="4932040" y="1625352"/>
          <a:ext cx="374441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Company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83631" y="980728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Down Arrow 10"/>
          <p:cNvSpPr/>
          <p:nvPr/>
        </p:nvSpPr>
        <p:spPr bwMode="auto">
          <a:xfrm>
            <a:off x="7380312" y="3140968"/>
            <a:ext cx="432048" cy="79208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29832"/>
              </p:ext>
            </p:extLst>
          </p:nvPr>
        </p:nvGraphicFramePr>
        <p:xfrm>
          <a:off x="4932040" y="4149080"/>
          <a:ext cx="374441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Company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Google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568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Google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5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Update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Reduce the price of all Apple products by 10%</a:t>
            </a:r>
          </a:p>
          <a:p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  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	 Price = Price * 0.9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WHERE</a:t>
            </a:r>
            <a:r>
              <a:rPr lang="en-US" dirty="0"/>
              <a:t> 	 </a:t>
            </a:r>
            <a:r>
              <a:rPr lang="en-US" dirty="0" err="1"/>
              <a:t>Product.PName</a:t>
            </a:r>
            <a:r>
              <a:rPr lang="en-US" dirty="0"/>
              <a:t> IN</a:t>
            </a:r>
            <a:br>
              <a:rPr lang="en-US" dirty="0"/>
            </a:br>
            <a:r>
              <a:rPr lang="en-US" dirty="0"/>
              <a:t>(SELECT </a:t>
            </a:r>
            <a:r>
              <a:rPr lang="en-US" dirty="0" err="1"/>
              <a:t>Maker.PName</a:t>
            </a:r>
            <a:r>
              <a:rPr lang="en-US" dirty="0"/>
              <a:t> FROM Maker</a:t>
            </a:r>
            <a:br>
              <a:rPr lang="en-US" dirty="0"/>
            </a:br>
            <a:r>
              <a:rPr lang="en-US" dirty="0"/>
              <a:t> WHERE Company = ‘Apple’)</a:t>
            </a:r>
            <a:endParaRPr lang="en-SG" dirty="0"/>
          </a:p>
        </p:txBody>
      </p:sp>
      <p:sp>
        <p:nvSpPr>
          <p:cNvPr id="12" name="TextBox 11"/>
          <p:cNvSpPr txBox="1"/>
          <p:nvPr/>
        </p:nvSpPr>
        <p:spPr>
          <a:xfrm>
            <a:off x="539552" y="1124744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873293"/>
              </p:ext>
            </p:extLst>
          </p:nvPr>
        </p:nvGraphicFramePr>
        <p:xfrm>
          <a:off x="5508104" y="1124744"/>
          <a:ext cx="31683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Company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44208" y="548680"/>
            <a:ext cx="130648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Maker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7835663"/>
              </p:ext>
            </p:extLst>
          </p:nvPr>
        </p:nvGraphicFramePr>
        <p:xfrm>
          <a:off x="2123728" y="1124744"/>
          <a:ext cx="2520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62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Update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/>
          </a:bodyPr>
          <a:lstStyle/>
          <a:p>
            <a:r>
              <a:rPr lang="en-US" dirty="0"/>
              <a:t>Reduce the price of all products by 10%</a:t>
            </a:r>
          </a:p>
          <a:p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 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Price = Price * 0.9</a:t>
            </a:r>
            <a:br>
              <a:rPr lang="en-US" dirty="0"/>
            </a:br>
            <a:endParaRPr lang="en-SG" dirty="0"/>
          </a:p>
        </p:txBody>
      </p:sp>
      <p:sp>
        <p:nvSpPr>
          <p:cNvPr id="12" name="TextBox 11"/>
          <p:cNvSpPr txBox="1"/>
          <p:nvPr/>
        </p:nvSpPr>
        <p:spPr>
          <a:xfrm>
            <a:off x="539552" y="1124744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318491"/>
              </p:ext>
            </p:extLst>
          </p:nvPr>
        </p:nvGraphicFramePr>
        <p:xfrm>
          <a:off x="5508104" y="1124744"/>
          <a:ext cx="31683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Company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44208" y="548680"/>
            <a:ext cx="130648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Maker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190894"/>
              </p:ext>
            </p:extLst>
          </p:nvPr>
        </p:nvGraphicFramePr>
        <p:xfrm>
          <a:off x="2123728" y="1124744"/>
          <a:ext cx="2520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9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Update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Set the price of every product to half of the price of iPhone X</a:t>
            </a:r>
          </a:p>
          <a:p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 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Price = </a:t>
            </a:r>
            <a:br>
              <a:rPr lang="en-US" dirty="0"/>
            </a:br>
            <a:r>
              <a:rPr lang="en-US" dirty="0"/>
              <a:t>	( SELECT 	</a:t>
            </a:r>
            <a:r>
              <a:rPr lang="en-US" dirty="0" err="1"/>
              <a:t>P.Price</a:t>
            </a:r>
            <a:r>
              <a:rPr lang="en-US" dirty="0"/>
              <a:t> / 2 </a:t>
            </a:r>
            <a:br>
              <a:rPr lang="en-US" dirty="0"/>
            </a:br>
            <a:r>
              <a:rPr lang="en-US" dirty="0"/>
              <a:t>	  FROM 	Product AS P</a:t>
            </a:r>
            <a:br>
              <a:rPr lang="en-US" dirty="0"/>
            </a:br>
            <a:r>
              <a:rPr lang="en-US" dirty="0"/>
              <a:t>	  WHERE 	</a:t>
            </a:r>
            <a:r>
              <a:rPr lang="en-US" dirty="0" err="1"/>
              <a:t>P.PName</a:t>
            </a:r>
            <a:r>
              <a:rPr lang="en-US" dirty="0"/>
              <a:t> = ‘iPhone X’)</a:t>
            </a:r>
            <a:endParaRPr lang="en-SG" dirty="0"/>
          </a:p>
        </p:txBody>
      </p:sp>
      <p:sp>
        <p:nvSpPr>
          <p:cNvPr id="12" name="TextBox 11"/>
          <p:cNvSpPr txBox="1"/>
          <p:nvPr/>
        </p:nvSpPr>
        <p:spPr>
          <a:xfrm>
            <a:off x="539552" y="1124744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1103426"/>
              </p:ext>
            </p:extLst>
          </p:nvPr>
        </p:nvGraphicFramePr>
        <p:xfrm>
          <a:off x="2123728" y="1124744"/>
          <a:ext cx="2520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43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Update the price of every beer to the average price of the wine by the same maker</a:t>
            </a:r>
          </a:p>
          <a:p>
            <a:r>
              <a:rPr lang="en-US" dirty="0"/>
              <a:t>UPDATE Beer</a:t>
            </a:r>
            <a:br>
              <a:rPr lang="en-US" dirty="0"/>
            </a:br>
            <a:r>
              <a:rPr lang="en-US" dirty="0"/>
              <a:t>SET </a:t>
            </a:r>
            <a:r>
              <a:rPr lang="en-US" dirty="0" err="1"/>
              <a:t>Beer.Price</a:t>
            </a:r>
            <a:r>
              <a:rPr lang="en-US" dirty="0"/>
              <a:t> = </a:t>
            </a:r>
            <a:br>
              <a:rPr lang="en-US" dirty="0"/>
            </a:br>
            <a:r>
              <a:rPr lang="en-US" dirty="0"/>
              <a:t>(SELECT 	AVG(</a:t>
            </a:r>
            <a:r>
              <a:rPr lang="en-US" dirty="0" err="1"/>
              <a:t>Wine.Price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FROM	Wine</a:t>
            </a:r>
            <a:br>
              <a:rPr lang="en-US" dirty="0"/>
            </a:br>
            <a:r>
              <a:rPr lang="en-US" dirty="0"/>
              <a:t>  WHERE 	</a:t>
            </a:r>
            <a:r>
              <a:rPr lang="en-US" dirty="0" err="1"/>
              <a:t>Wine.Maker</a:t>
            </a:r>
            <a:r>
              <a:rPr lang="en-US" dirty="0"/>
              <a:t> = </a:t>
            </a:r>
            <a:r>
              <a:rPr lang="en-US" dirty="0" err="1"/>
              <a:t>Beer.Maker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008112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5647368"/>
              </p:ext>
            </p:extLst>
          </p:nvPr>
        </p:nvGraphicFramePr>
        <p:xfrm>
          <a:off x="539552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Wine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589387"/>
              </p:ext>
            </p:extLst>
          </p:nvPr>
        </p:nvGraphicFramePr>
        <p:xfrm>
          <a:off x="5364088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47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Delete any beer by a maker that does not produce any wine</a:t>
            </a:r>
          </a:p>
          <a:p>
            <a:r>
              <a:rPr lang="en-US" dirty="0"/>
              <a:t>DELETE FROM Beer</a:t>
            </a:r>
            <a:br>
              <a:rPr lang="en-US" dirty="0"/>
            </a:br>
            <a:r>
              <a:rPr lang="en-US" dirty="0"/>
              <a:t>WHERE NOT EXISTS </a:t>
            </a:r>
            <a:br>
              <a:rPr lang="en-US" dirty="0"/>
            </a:br>
            <a:r>
              <a:rPr lang="en-US" dirty="0"/>
              <a:t>	(SELECT *</a:t>
            </a:r>
            <a:br>
              <a:rPr lang="en-US" dirty="0"/>
            </a:br>
            <a:r>
              <a:rPr lang="en-US" dirty="0"/>
              <a:t>  	 FROM Wine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Wine.Maker</a:t>
            </a:r>
            <a:r>
              <a:rPr lang="en-US" dirty="0"/>
              <a:t> = </a:t>
            </a:r>
            <a:r>
              <a:rPr lang="en-US" dirty="0" err="1"/>
              <a:t>Beer.Maker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008112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774823"/>
              </p:ext>
            </p:extLst>
          </p:nvPr>
        </p:nvGraphicFramePr>
        <p:xfrm>
          <a:off x="539552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Wine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077196"/>
              </p:ext>
            </p:extLst>
          </p:nvPr>
        </p:nvGraphicFramePr>
        <p:xfrm>
          <a:off x="5364088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0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each beer, if there does not exist a wine with the same name, then create a wine with the same name and maker, but twice the price</a:t>
            </a:r>
          </a:p>
          <a:p>
            <a:r>
              <a:rPr lang="en-US" dirty="0"/>
              <a:t>INSERT INTO Wine</a:t>
            </a:r>
            <a:br>
              <a:rPr lang="en-US" dirty="0"/>
            </a:br>
            <a:r>
              <a:rPr lang="en-US" dirty="0"/>
              <a:t>SELECT </a:t>
            </a:r>
            <a:r>
              <a:rPr lang="en-US" dirty="0" err="1"/>
              <a:t>B.Name</a:t>
            </a:r>
            <a:r>
              <a:rPr lang="en-US" dirty="0"/>
              <a:t>, </a:t>
            </a:r>
            <a:r>
              <a:rPr lang="en-US" dirty="0" err="1"/>
              <a:t>B.Maker</a:t>
            </a:r>
            <a:r>
              <a:rPr lang="en-US" dirty="0"/>
              <a:t>, </a:t>
            </a:r>
            <a:r>
              <a:rPr lang="en-US" dirty="0" err="1"/>
              <a:t>B.Price</a:t>
            </a:r>
            <a:r>
              <a:rPr lang="en-US" dirty="0"/>
              <a:t> * 2</a:t>
            </a:r>
            <a:br>
              <a:rPr lang="en-US" dirty="0"/>
            </a:br>
            <a:r>
              <a:rPr lang="en-US" dirty="0"/>
              <a:t>FROM Beer AS B</a:t>
            </a:r>
            <a:br>
              <a:rPr lang="en-US" dirty="0"/>
            </a:br>
            <a:r>
              <a:rPr lang="en-US" dirty="0"/>
              <a:t>WHERE NOT EXISTS </a:t>
            </a:r>
            <a:br>
              <a:rPr lang="en-US" dirty="0"/>
            </a:br>
            <a:r>
              <a:rPr lang="en-US" dirty="0"/>
              <a:t>	(SELECT * FROM Wine</a:t>
            </a:r>
            <a:br>
              <a:rPr lang="en-US" dirty="0"/>
            </a:br>
            <a:r>
              <a:rPr lang="en-US" dirty="0"/>
              <a:t>	  WHERE </a:t>
            </a:r>
            <a:r>
              <a:rPr lang="en-US" dirty="0" err="1"/>
              <a:t>Wine.Name</a:t>
            </a:r>
            <a:r>
              <a:rPr lang="en-US" dirty="0"/>
              <a:t> = </a:t>
            </a:r>
            <a:r>
              <a:rPr lang="en-US" dirty="0" err="1"/>
              <a:t>B.Name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008112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86813"/>
              </p:ext>
            </p:extLst>
          </p:nvPr>
        </p:nvGraphicFramePr>
        <p:xfrm>
          <a:off x="539552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Wine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8247245"/>
              </p:ext>
            </p:extLst>
          </p:nvPr>
        </p:nvGraphicFramePr>
        <p:xfrm>
          <a:off x="5364088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4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9581-44CD-4C41-8790-266DC300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Coming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7159-39F3-4F01-821C-DD06B79C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dirty="0"/>
              <a:t>Create/Alter/Delete tables</a:t>
            </a:r>
          </a:p>
        </p:txBody>
      </p:sp>
    </p:spTree>
    <p:extLst>
      <p:ext uri="{BB962C8B-B14F-4D97-AF65-F5344CB8AC3E}">
        <p14:creationId xmlns:p14="http://schemas.microsoft.com/office/powerpoint/2010/main" val="35800794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Creation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Price 	INT );</a:t>
            </a:r>
          </a:p>
          <a:p>
            <a:r>
              <a:rPr lang="en-US" dirty="0"/>
              <a:t>In general: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&lt;table name&gt; ( </a:t>
            </a:r>
            <a:br>
              <a:rPr lang="en-US" dirty="0"/>
            </a:br>
            <a:r>
              <a:rPr lang="en-US" dirty="0"/>
              <a:t>&lt;column name 1&gt;  &lt;column type 1&gt;,</a:t>
            </a:r>
            <a:br>
              <a:rPr lang="en-US" dirty="0"/>
            </a:br>
            <a:r>
              <a:rPr lang="en-US" dirty="0"/>
              <a:t>&lt;column name 2&gt;  &lt;column type 2&gt;,</a:t>
            </a:r>
            <a:br>
              <a:rPr lang="en-US" dirty="0"/>
            </a:br>
            <a:r>
              <a:rPr lang="en-US" dirty="0"/>
              <a:t>… );</a:t>
            </a:r>
          </a:p>
          <a:p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12160" y="332656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099210"/>
              </p:ext>
            </p:extLst>
          </p:nvPr>
        </p:nvGraphicFramePr>
        <p:xfrm>
          <a:off x="6012160" y="980728"/>
          <a:ext cx="25202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81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Types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or INTEGER (synonyms)</a:t>
            </a:r>
          </a:p>
          <a:p>
            <a:r>
              <a:rPr lang="en-US" dirty="0"/>
              <a:t>REAL or FLOAT (synonyms)</a:t>
            </a:r>
          </a:p>
          <a:p>
            <a:r>
              <a:rPr lang="en-US" dirty="0"/>
              <a:t>CHAR(n): fixed-length string of n characters</a:t>
            </a:r>
          </a:p>
          <a:p>
            <a:r>
              <a:rPr lang="en-US" dirty="0"/>
              <a:t>VARCHAR(n): variable-length string of up to n characters</a:t>
            </a:r>
          </a:p>
          <a:p>
            <a:r>
              <a:rPr lang="en-US" dirty="0"/>
              <a:t>…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28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Creation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VARCHAR(30), Price INT );</a:t>
            </a:r>
          </a:p>
          <a:p>
            <a:endParaRPr lang="en-US" dirty="0"/>
          </a:p>
          <a:p>
            <a:r>
              <a:rPr lang="en-US" dirty="0"/>
              <a:t>What if we want to make sure that all products have distinct names?</a:t>
            </a:r>
          </a:p>
          <a:p>
            <a:endParaRPr lang="en-US" dirty="0"/>
          </a:p>
          <a:p>
            <a:r>
              <a:rPr lang="en-US" dirty="0"/>
              <a:t>Solution: declare </a:t>
            </a:r>
            <a:r>
              <a:rPr lang="en-US" dirty="0" err="1"/>
              <a:t>PName</a:t>
            </a:r>
            <a:r>
              <a:rPr lang="en-US" dirty="0"/>
              <a:t> as </a:t>
            </a:r>
            <a:r>
              <a:rPr lang="en-US" dirty="0">
                <a:solidFill>
                  <a:srgbClr val="C00000"/>
                </a:solidFill>
              </a:rPr>
              <a:t>PRIMARY KEY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UNIQUE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4208" y="332656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973508"/>
              </p:ext>
            </p:extLst>
          </p:nvPr>
        </p:nvGraphicFramePr>
        <p:xfrm>
          <a:off x="6444208" y="980728"/>
          <a:ext cx="25202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6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VARCHAR(30), Price INT );</a:t>
            </a:r>
          </a:p>
          <a:p>
            <a:endParaRPr lang="en-US" dirty="0"/>
          </a:p>
          <a:p>
            <a:r>
              <a:rPr lang="en-US" dirty="0"/>
              <a:t>What if we want to make sure that all products have distinct names?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VARCHAR(30), Price 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PRIMARY KEY 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) 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4208" y="332656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955598"/>
              </p:ext>
            </p:extLst>
          </p:nvPr>
        </p:nvGraphicFramePr>
        <p:xfrm>
          <a:off x="6444208" y="980728"/>
          <a:ext cx="25202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8070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VARCHAR(30), Price INT );</a:t>
            </a:r>
          </a:p>
          <a:p>
            <a:endParaRPr lang="en-US" dirty="0"/>
          </a:p>
          <a:p>
            <a:r>
              <a:rPr lang="en-US" dirty="0"/>
              <a:t>What if we want to make sure that all products have distinct names?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Product(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VARCHAR(30), Price 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UNIQUE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) 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4208" y="332656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920433"/>
              </p:ext>
            </p:extLst>
          </p:nvPr>
        </p:nvGraphicFramePr>
        <p:xfrm>
          <a:off x="6444208" y="980728"/>
          <a:ext cx="25202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603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make sure that there is no duplicate </a:t>
            </a:r>
            <a:r>
              <a:rPr lang="en-US" dirty="0" err="1"/>
              <a:t>PName</a:t>
            </a:r>
            <a:r>
              <a:rPr lang="en-US" dirty="0"/>
              <a:t> with the same Shop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PRIMARY KEY 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, Shop) 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825138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15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make sure that there is no duplicate </a:t>
            </a:r>
            <a:r>
              <a:rPr lang="en-US" dirty="0" err="1"/>
              <a:t>PName</a:t>
            </a:r>
            <a:r>
              <a:rPr lang="en-US" dirty="0"/>
              <a:t> with the same Shop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UNIQUE 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, Shop) 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275598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1910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vs. UNIQUE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1</a:t>
            </a:r>
          </a:p>
          <a:p>
            <a:pPr lvl="1"/>
            <a:r>
              <a:rPr lang="en-US" dirty="0"/>
              <a:t>Only ONE set of attributes in a table can be declared as PRIMARY KEY</a:t>
            </a:r>
          </a:p>
          <a:p>
            <a:pPr lvl="1"/>
            <a:r>
              <a:rPr lang="en-US" dirty="0"/>
              <a:t>But we can declare multiple sets of attributes as UNIQUE</a:t>
            </a:r>
          </a:p>
          <a:p>
            <a:endParaRPr lang="en-US" sz="1300" dirty="0"/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r>
              <a:rPr lang="en-US" dirty="0" err="1"/>
              <a:t>PName</a:t>
            </a:r>
            <a:r>
              <a:rPr lang="en-US" dirty="0"/>
              <a:t> VARCHAR(30), Shop VARCHAR(30), Price 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UNIQUE 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, Shop), </a:t>
            </a:r>
            <a:r>
              <a:rPr lang="en-US" dirty="0">
                <a:solidFill>
                  <a:srgbClr val="C00000"/>
                </a:solidFill>
              </a:rPr>
              <a:t>UNIQUE</a:t>
            </a:r>
            <a:r>
              <a:rPr lang="en-US" dirty="0"/>
              <a:t> (Shop, Price) );</a:t>
            </a:r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20272" y="1080428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859985"/>
              </p:ext>
            </p:extLst>
          </p:nvPr>
        </p:nvGraphicFramePr>
        <p:xfrm>
          <a:off x="5508104" y="1675656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09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vs. UNIQUE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2</a:t>
            </a:r>
          </a:p>
          <a:p>
            <a:pPr lvl="1"/>
            <a:r>
              <a:rPr lang="en-US" dirty="0"/>
              <a:t>If set of attributes are declared as PRIMARY KEY, then none of these attributes can be NULL</a:t>
            </a:r>
          </a:p>
          <a:p>
            <a:pPr lvl="1"/>
            <a:r>
              <a:rPr lang="en-US" dirty="0"/>
              <a:t>UNIQUE attributes still allow NULLs</a:t>
            </a:r>
          </a:p>
          <a:p>
            <a:endParaRPr lang="en-US" sz="1300" dirty="0"/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UNIQUE </a:t>
            </a:r>
            <a:r>
              <a:rPr lang="en-US" dirty="0"/>
              <a:t>(</a:t>
            </a:r>
            <a:r>
              <a:rPr lang="en-US" dirty="0" err="1"/>
              <a:t>PName</a:t>
            </a:r>
            <a:r>
              <a:rPr lang="en-US" dirty="0"/>
              <a:t>, Shop) );</a:t>
            </a:r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20272" y="1080428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86798"/>
              </p:ext>
            </p:extLst>
          </p:nvPr>
        </p:nvGraphicFramePr>
        <p:xfrm>
          <a:off x="5508104" y="1675656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63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NULL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make sure that the price of each product is not NULL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34598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8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make sure that the price as well as </a:t>
            </a:r>
            <a:r>
              <a:rPr lang="en-US" dirty="0" err="1"/>
              <a:t>PName</a:t>
            </a:r>
            <a:r>
              <a:rPr lang="en-US" dirty="0"/>
              <a:t> of each product is not NULL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	VARCHAR(30)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057153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6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NULL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Shop 	VARCHAR(30), </a:t>
            </a:r>
            <a:br>
              <a:rPr lang="en-US" dirty="0"/>
            </a:br>
            <a:r>
              <a:rPr lang="en-US" dirty="0"/>
              <a:t>Price 	INT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NOT NULL may prevent partial insertions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INSERT INTO Product(</a:t>
            </a:r>
            <a:r>
              <a:rPr lang="en-US" dirty="0" err="1"/>
              <a:t>PName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Values( ‘iPhone 5’ )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81990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257604" y="4941168"/>
            <a:ext cx="11558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9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specify that, by default, the shop and price of a product is ‘</a:t>
            </a:r>
            <a:r>
              <a:rPr lang="en-US" dirty="0" err="1"/>
              <a:t>Suntec</a:t>
            </a:r>
            <a:r>
              <a:rPr lang="en-US" dirty="0"/>
              <a:t>’ and 1, respectively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 </a:t>
            </a:r>
            <a:r>
              <a:rPr lang="en-US" dirty="0">
                <a:solidFill>
                  <a:srgbClr val="C00000"/>
                </a:solidFill>
              </a:rPr>
              <a:t>DEFAULT </a:t>
            </a:r>
            <a:r>
              <a:rPr lang="en-US" dirty="0"/>
              <a:t>‘</a:t>
            </a:r>
            <a:r>
              <a:rPr lang="en-US" dirty="0" err="1"/>
              <a:t>Suntec</a:t>
            </a:r>
            <a:r>
              <a:rPr lang="en-US" dirty="0"/>
              <a:t>’, </a:t>
            </a:r>
            <a:br>
              <a:rPr lang="en-US" dirty="0"/>
            </a:br>
            <a:r>
              <a:rPr lang="en-US" dirty="0"/>
              <a:t>Price 	INT </a:t>
            </a:r>
            <a:r>
              <a:rPr lang="en-US" dirty="0">
                <a:solidFill>
                  <a:srgbClr val="C00000"/>
                </a:solidFill>
              </a:rPr>
              <a:t>DEFAULT </a:t>
            </a:r>
            <a:r>
              <a:rPr lang="en-US" dirty="0"/>
              <a:t>1);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14414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78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specify that, by default, the shop and price of a product is ‘</a:t>
            </a:r>
            <a:r>
              <a:rPr lang="en-US" dirty="0" err="1"/>
              <a:t>Suntec</a:t>
            </a:r>
            <a:r>
              <a:rPr lang="en-US" dirty="0"/>
              <a:t>’ and 1, respectively. In addition, the shop should not be NULL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TABLE</a:t>
            </a:r>
            <a:r>
              <a:rPr lang="en-US" dirty="0"/>
              <a:t> Catalog( </a:t>
            </a:r>
            <a:br>
              <a:rPr lang="en-US" dirty="0"/>
            </a:br>
            <a:r>
              <a:rPr lang="en-US" dirty="0" err="1"/>
              <a:t>PName</a:t>
            </a:r>
            <a:r>
              <a:rPr lang="en-US" dirty="0"/>
              <a:t> 	VARCHAR(30), </a:t>
            </a:r>
            <a:br>
              <a:rPr lang="en-US" dirty="0"/>
            </a:br>
            <a:r>
              <a:rPr lang="en-US" dirty="0"/>
              <a:t>Shop 	VARCHAR(30) </a:t>
            </a:r>
            <a:r>
              <a:rPr lang="en-US" dirty="0">
                <a:solidFill>
                  <a:srgbClr val="C00000"/>
                </a:solidFill>
              </a:rPr>
              <a:t>NOT NULL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DEFAULT </a:t>
            </a:r>
            <a:r>
              <a:rPr lang="en-US" dirty="0"/>
              <a:t>‘</a:t>
            </a:r>
            <a:r>
              <a:rPr lang="en-US" dirty="0" err="1"/>
              <a:t>Suntec</a:t>
            </a:r>
            <a:r>
              <a:rPr lang="en-US" dirty="0"/>
              <a:t>’, </a:t>
            </a:r>
            <a:br>
              <a:rPr lang="en-US" dirty="0"/>
            </a:br>
            <a:r>
              <a:rPr lang="en-US" dirty="0"/>
              <a:t>Price 	INT </a:t>
            </a:r>
            <a:r>
              <a:rPr lang="en-US" dirty="0">
                <a:solidFill>
                  <a:srgbClr val="C00000"/>
                </a:solidFill>
              </a:rPr>
              <a:t>DEFAULT </a:t>
            </a:r>
            <a:r>
              <a:rPr lang="en-US" dirty="0"/>
              <a:t>1);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7375193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3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Deletion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TABLE Catalog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7020272" y="385500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056144"/>
              </p:ext>
            </p:extLst>
          </p:nvPr>
        </p:nvGraphicFramePr>
        <p:xfrm>
          <a:off x="5508104" y="980728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7172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Modification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 new attribute</a:t>
            </a:r>
          </a:p>
          <a:p>
            <a:r>
              <a:rPr lang="en-US" dirty="0">
                <a:solidFill>
                  <a:srgbClr val="C00000"/>
                </a:solidFill>
              </a:rPr>
              <a:t>ALTER TABLE </a:t>
            </a:r>
            <a:r>
              <a:rPr lang="en-US" dirty="0"/>
              <a:t>Catalog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ADD</a:t>
            </a:r>
            <a:r>
              <a:rPr lang="en-US" dirty="0"/>
              <a:t> Price INT</a:t>
            </a:r>
          </a:p>
          <a:p>
            <a:r>
              <a:rPr lang="en-US" dirty="0"/>
              <a:t>We can also add some declarations</a:t>
            </a:r>
          </a:p>
          <a:p>
            <a:r>
              <a:rPr lang="en-US" dirty="0">
                <a:solidFill>
                  <a:srgbClr val="C00000"/>
                </a:solidFill>
              </a:rPr>
              <a:t>ALTER TABLE </a:t>
            </a:r>
            <a:r>
              <a:rPr lang="en-US" dirty="0"/>
              <a:t>Catalog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ADD</a:t>
            </a:r>
            <a:r>
              <a:rPr lang="en-US" dirty="0"/>
              <a:t> Price INT NOT NULL</a:t>
            </a:r>
            <a:br>
              <a:rPr lang="en-US" dirty="0"/>
            </a:br>
            <a:r>
              <a:rPr lang="en-US" dirty="0"/>
              <a:t>		DEFAULT 1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7020272" y="2113692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5749656"/>
              </p:ext>
            </p:extLst>
          </p:nvPr>
        </p:nvGraphicFramePr>
        <p:xfrm>
          <a:off x="6379701" y="2708920"/>
          <a:ext cx="215273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20272" y="4680828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1611536"/>
              </p:ext>
            </p:extLst>
          </p:nvPr>
        </p:nvGraphicFramePr>
        <p:xfrm>
          <a:off x="5508104" y="5276056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Down Arrow 7"/>
          <p:cNvSpPr/>
          <p:nvPr/>
        </p:nvSpPr>
        <p:spPr bwMode="auto">
          <a:xfrm>
            <a:off x="7380312" y="3356992"/>
            <a:ext cx="432048" cy="115212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7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Modification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Deleting an attribute</a:t>
            </a:r>
          </a:p>
          <a:p>
            <a:r>
              <a:rPr lang="en-US" dirty="0">
                <a:solidFill>
                  <a:srgbClr val="C00000"/>
                </a:solidFill>
              </a:rPr>
              <a:t>ALTER TABLE </a:t>
            </a:r>
            <a:r>
              <a:rPr lang="en-US" dirty="0"/>
              <a:t>Catalog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DROP</a:t>
            </a:r>
            <a:r>
              <a:rPr lang="en-US" dirty="0"/>
              <a:t> Price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7020272" y="2113692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578005"/>
              </p:ext>
            </p:extLst>
          </p:nvPr>
        </p:nvGraphicFramePr>
        <p:xfrm>
          <a:off x="6379701" y="5301208"/>
          <a:ext cx="215273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20272" y="4680828"/>
            <a:ext cx="15121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Catalog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224117"/>
              </p:ext>
            </p:extLst>
          </p:nvPr>
        </p:nvGraphicFramePr>
        <p:xfrm>
          <a:off x="5508104" y="2708920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Shop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Down Arrow 7"/>
          <p:cNvSpPr/>
          <p:nvPr/>
        </p:nvSpPr>
        <p:spPr bwMode="auto">
          <a:xfrm>
            <a:off x="7380312" y="3356992"/>
            <a:ext cx="432048" cy="115212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57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not required to memorize the syntax of table/tuple creation/modification/deletion</a:t>
            </a:r>
          </a:p>
          <a:p>
            <a:endParaRPr lang="en-US" dirty="0"/>
          </a:p>
          <a:p>
            <a:r>
              <a:rPr lang="en-US" dirty="0"/>
              <a:t>But the syntax of selection/joins/group by/... are required</a:t>
            </a:r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40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4803-7068-461D-8441-3BB8A77E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686F3-8F6D-4668-AB46-F6A642E4E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6141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We have just discussed PRIMARY KEY, UNIQUE, and NOT NULL</a:t>
            </a:r>
          </a:p>
          <a:p>
            <a:r>
              <a:rPr lang="en-SG" dirty="0"/>
              <a:t>These are referred to as </a:t>
            </a:r>
            <a:r>
              <a:rPr lang="en-SG" i="1" dirty="0"/>
              <a:t>integrity constraints</a:t>
            </a:r>
            <a:r>
              <a:rPr lang="en-SG" dirty="0"/>
              <a:t> in RDBMS</a:t>
            </a:r>
          </a:p>
          <a:p>
            <a:pPr lvl="1"/>
            <a:r>
              <a:rPr lang="en-SG" dirty="0"/>
              <a:t>Recall that in the relational model, </a:t>
            </a:r>
          </a:p>
          <a:p>
            <a:pPr marL="344487" lvl="1" indent="0">
              <a:buNone/>
            </a:pPr>
            <a:r>
              <a:rPr lang="en-SG" dirty="0"/>
              <a:t>	a database schema </a:t>
            </a:r>
            <a:br>
              <a:rPr lang="en-SG" dirty="0"/>
            </a:br>
            <a:r>
              <a:rPr lang="en-SG" dirty="0"/>
              <a:t>		= relation schemas + integrity constraints</a:t>
            </a:r>
          </a:p>
          <a:p>
            <a:r>
              <a:rPr lang="en-SG" dirty="0"/>
              <a:t>There are several other types of integrity constraints that we will discuss</a:t>
            </a:r>
          </a:p>
          <a:p>
            <a:pPr lvl="1"/>
            <a:r>
              <a:rPr lang="en-SG" dirty="0"/>
              <a:t>FOREIGN KEY</a:t>
            </a:r>
          </a:p>
          <a:p>
            <a:pPr lvl="1"/>
            <a:r>
              <a:rPr lang="en-SG" dirty="0"/>
              <a:t>CHECK</a:t>
            </a:r>
          </a:p>
          <a:p>
            <a:pPr lvl="1"/>
            <a:r>
              <a:rPr lang="en-SG" dirty="0"/>
              <a:t>ASSERT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911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540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Any value in </a:t>
            </a:r>
            <a:r>
              <a:rPr lang="en-US" dirty="0" err="1"/>
              <a:t>Sells.Beer</a:t>
            </a:r>
            <a:r>
              <a:rPr lang="en-US" dirty="0"/>
              <a:t> should appear in </a:t>
            </a:r>
            <a:r>
              <a:rPr lang="en-US" dirty="0" err="1"/>
              <a:t>Beer.Name</a:t>
            </a:r>
            <a:endParaRPr lang="en-US" dirty="0"/>
          </a:p>
          <a:p>
            <a:r>
              <a:rPr lang="en-US" dirty="0"/>
              <a:t>How to ensure this when we create Sells?</a:t>
            </a:r>
          </a:p>
          <a:p>
            <a:r>
              <a:rPr lang="en-US" dirty="0"/>
              <a:t>CREATE TABLE Sells(</a:t>
            </a:r>
            <a:br>
              <a:rPr lang="en-US" dirty="0"/>
            </a:br>
            <a:r>
              <a:rPr lang="en-US" dirty="0"/>
              <a:t>Bar		VARCHAR(30),</a:t>
            </a:r>
            <a:br>
              <a:rPr lang="en-US" dirty="0"/>
            </a:br>
            <a:r>
              <a:rPr lang="en-US" dirty="0"/>
              <a:t>Beer	VARCHAR(30),</a:t>
            </a:r>
            <a:br>
              <a:rPr lang="en-US" dirty="0"/>
            </a:br>
            <a:r>
              <a:rPr lang="en-US" dirty="0"/>
              <a:t>Price	FLOAT,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FOREIGN KEY</a:t>
            </a:r>
            <a:r>
              <a:rPr lang="en-US" dirty="0"/>
              <a:t> (Beer) </a:t>
            </a:r>
            <a:r>
              <a:rPr lang="en-US" dirty="0">
                <a:solidFill>
                  <a:srgbClr val="C00000"/>
                </a:solidFill>
              </a:rPr>
              <a:t>REFERENCES</a:t>
            </a:r>
            <a:r>
              <a:rPr lang="en-US" dirty="0"/>
              <a:t> Beers(Name) );</a:t>
            </a:r>
          </a:p>
          <a:p>
            <a:r>
              <a:rPr lang="en-US" dirty="0"/>
              <a:t>Requirement: </a:t>
            </a:r>
            <a:r>
              <a:rPr lang="en-US" dirty="0" err="1"/>
              <a:t>Beers.Name</a:t>
            </a:r>
            <a:r>
              <a:rPr lang="en-US" dirty="0"/>
              <a:t> is declared as either PRIMARY KEY or UNIQUE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539552" y="1702191"/>
          <a:ext cx="21602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702191"/>
          <a:ext cx="30963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2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540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Any value combination in Purchase(Name, Shop) should appear in Visits(Name, Shop)</a:t>
            </a:r>
          </a:p>
          <a:p>
            <a:r>
              <a:rPr lang="en-US" dirty="0"/>
              <a:t>CREATE TABLE Purchase(</a:t>
            </a:r>
            <a:br>
              <a:rPr lang="en-US" dirty="0"/>
            </a:br>
            <a:r>
              <a:rPr lang="en-US" dirty="0"/>
              <a:t>Name	VARCHAR(30),</a:t>
            </a:r>
            <a:br>
              <a:rPr lang="en-US" dirty="0"/>
            </a:br>
            <a:r>
              <a:rPr lang="en-US" dirty="0"/>
              <a:t>Shop	VARCHAR(30),</a:t>
            </a:r>
            <a:br>
              <a:rPr lang="en-US" dirty="0"/>
            </a:br>
            <a:r>
              <a:rPr lang="en-US" dirty="0"/>
              <a:t>Product	VARCHAR(30),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FOREIGN KEY</a:t>
            </a:r>
            <a:r>
              <a:rPr lang="en-US" dirty="0"/>
              <a:t> (Name, Shop) </a:t>
            </a:r>
            <a:r>
              <a:rPr lang="en-US" dirty="0">
                <a:solidFill>
                  <a:srgbClr val="C00000"/>
                </a:solidFill>
              </a:rPr>
              <a:t>REFERENCES</a:t>
            </a:r>
            <a:r>
              <a:rPr lang="en-US" dirty="0"/>
              <a:t> Visits(Name, Shop) );</a:t>
            </a:r>
          </a:p>
          <a:p>
            <a:r>
              <a:rPr lang="en-US" dirty="0"/>
              <a:t>Requirement: Visits(Name, Shop) is declared as either PRIMARY KEY or UNIQUE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Visits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539552" y="1702191"/>
          <a:ext cx="21602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Shop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1124744"/>
            <a:ext cx="1728192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702191"/>
          <a:ext cx="3240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Shop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4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Constraints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7989"/>
          </a:xfrm>
        </p:spPr>
        <p:txBody>
          <a:bodyPr>
            <a:normAutofit/>
          </a:bodyPr>
          <a:lstStyle/>
          <a:p>
            <a:r>
              <a:rPr lang="en-US" dirty="0"/>
              <a:t>Sells(Beer) is a foreign key referencing Beer(Name)</a:t>
            </a:r>
          </a:p>
          <a:p>
            <a:r>
              <a:rPr lang="en-US" dirty="0"/>
              <a:t>INSERT INTO Sells VALUES( ‘Lotus’, B2, 20)</a:t>
            </a:r>
          </a:p>
          <a:p>
            <a:r>
              <a:rPr lang="en-US" dirty="0"/>
              <a:t>This insertion will be rejected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539552" y="1702191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702191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75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63272" cy="1139825"/>
          </a:xfrm>
        </p:spPr>
        <p:txBody>
          <a:bodyPr/>
          <a:lstStyle/>
          <a:p>
            <a:r>
              <a:rPr lang="en-US" dirty="0"/>
              <a:t>Foreign Key Constraints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Sells(Beer) is a foreign key referencing Beer(Name)</a:t>
            </a:r>
          </a:p>
          <a:p>
            <a:r>
              <a:rPr lang="en-US" dirty="0"/>
              <a:t>DELETE FROM Beers</a:t>
            </a:r>
            <a:br>
              <a:rPr lang="en-US" dirty="0"/>
            </a:br>
            <a:r>
              <a:rPr lang="en-US" dirty="0"/>
              <a:t>WHERE	Name = ‘B1’</a:t>
            </a:r>
          </a:p>
          <a:p>
            <a:r>
              <a:rPr lang="en-US" dirty="0"/>
              <a:t>What is going to happen?</a:t>
            </a:r>
          </a:p>
          <a:p>
            <a:r>
              <a:rPr lang="en-US" dirty="0"/>
              <a:t>Three possibilities</a:t>
            </a:r>
          </a:p>
          <a:p>
            <a:pPr lvl="1"/>
            <a:r>
              <a:rPr lang="en-US" dirty="0"/>
              <a:t>Default: 		Reject the deletion</a:t>
            </a:r>
          </a:p>
          <a:p>
            <a:pPr lvl="1"/>
            <a:r>
              <a:rPr lang="en-US" dirty="0"/>
              <a:t>Cascade: 	Delete the corresponding tuple in Sells</a:t>
            </a:r>
          </a:p>
          <a:p>
            <a:pPr lvl="1"/>
            <a:r>
              <a:rPr lang="en-US" dirty="0"/>
              <a:t>Set NULL: 	Set the corresponding values to NULL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539552" y="1702191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1124744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702191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83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63272" cy="1139825"/>
          </a:xfrm>
        </p:spPr>
        <p:txBody>
          <a:bodyPr/>
          <a:lstStyle/>
          <a:p>
            <a:r>
              <a:rPr lang="en-US" dirty="0"/>
              <a:t>Default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8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Sells(Beer) is a foreign key referencing Beer(Name)</a:t>
            </a:r>
          </a:p>
          <a:p>
            <a:endParaRPr lang="en-US" sz="2100" dirty="0"/>
          </a:p>
          <a:p>
            <a:r>
              <a:rPr lang="en-US" dirty="0"/>
              <a:t>DELETE FROM Beers</a:t>
            </a:r>
            <a:br>
              <a:rPr lang="en-US" dirty="0"/>
            </a:br>
            <a:r>
              <a:rPr lang="en-US" dirty="0"/>
              <a:t>WHERE	Name = ‘B1’</a:t>
            </a:r>
          </a:p>
          <a:p>
            <a:endParaRPr lang="en-US" sz="2100" dirty="0"/>
          </a:p>
          <a:p>
            <a:r>
              <a:rPr lang="en-US" dirty="0"/>
              <a:t>UPDATE Beers</a:t>
            </a:r>
            <a:br>
              <a:rPr lang="en-US" dirty="0"/>
            </a:br>
            <a:r>
              <a:rPr lang="en-US" dirty="0"/>
              <a:t>SET	 Name = ‘B2’</a:t>
            </a:r>
            <a:br>
              <a:rPr lang="en-US" dirty="0"/>
            </a:br>
            <a:r>
              <a:rPr lang="en-US" dirty="0"/>
              <a:t>Where	Name = ‘B1’	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929154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332656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910103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32722" y="3501008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solidFill>
                  <a:srgbClr val="C00000"/>
                </a:solidFill>
                <a:latin typeface="Calibri" panose="020F0502020204030204" pitchFamily="34" charset="0"/>
              </a:rPr>
              <a:t>Rject</a:t>
            </a:r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!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2722" y="5013176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solidFill>
                  <a:srgbClr val="C00000"/>
                </a:solidFill>
                <a:latin typeface="Calibri" panose="020F0502020204030204" pitchFamily="34" charset="0"/>
              </a:rPr>
              <a:t>Rject</a:t>
            </a:r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!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35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63272" cy="1139825"/>
          </a:xfrm>
        </p:spPr>
        <p:txBody>
          <a:bodyPr/>
          <a:lstStyle/>
          <a:p>
            <a:r>
              <a:rPr lang="en-US" dirty="0"/>
              <a:t>Cascade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4208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Sells(Beer) is a foreign key referencing Beer(Name)</a:t>
            </a:r>
          </a:p>
          <a:p>
            <a:endParaRPr lang="en-US" sz="1300" dirty="0"/>
          </a:p>
          <a:p>
            <a:r>
              <a:rPr lang="en-US" dirty="0"/>
              <a:t>DELETE FROM Beers</a:t>
            </a:r>
            <a:br>
              <a:rPr lang="en-US" dirty="0"/>
            </a:br>
            <a:r>
              <a:rPr lang="en-US" dirty="0"/>
              <a:t>WHERE	Name = ‘B1’</a:t>
            </a:r>
          </a:p>
          <a:p>
            <a:r>
              <a:rPr lang="en-US" dirty="0"/>
              <a:t>Delete all tuples from sells where Beer = ‘B1’</a:t>
            </a:r>
          </a:p>
          <a:p>
            <a:endParaRPr lang="en-US" sz="1300" dirty="0"/>
          </a:p>
          <a:p>
            <a:r>
              <a:rPr lang="en-US" dirty="0"/>
              <a:t>UPDATE 	Beers</a:t>
            </a:r>
            <a:br>
              <a:rPr lang="en-US" dirty="0"/>
            </a:br>
            <a:r>
              <a:rPr lang="en-US" dirty="0"/>
              <a:t>SET	Name = ‘B2’</a:t>
            </a:r>
            <a:br>
              <a:rPr lang="en-US" dirty="0"/>
            </a:br>
            <a:r>
              <a:rPr lang="en-US" dirty="0"/>
              <a:t>Where	Name = ‘B1’	</a:t>
            </a:r>
          </a:p>
          <a:p>
            <a:r>
              <a:rPr lang="en-US" dirty="0"/>
              <a:t>Update Sells: for any tuple with Beer = ‘B1’, set its Beer value to ‘B2’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/>
        </p:nvGraphicFramePr>
        <p:xfrm>
          <a:off x="1835696" y="929154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64088" y="332656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/>
        </p:nvGraphicFramePr>
        <p:xfrm>
          <a:off x="5364088" y="910103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81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63272" cy="1139825"/>
          </a:xfrm>
        </p:spPr>
        <p:txBody>
          <a:bodyPr/>
          <a:lstStyle/>
          <a:p>
            <a:r>
              <a:rPr lang="en-US" dirty="0"/>
              <a:t>Set NULL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700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Sells(Beer) is a foreign key referencing Beer(Name)</a:t>
            </a:r>
          </a:p>
          <a:p>
            <a:endParaRPr lang="en-US" sz="1300" dirty="0"/>
          </a:p>
          <a:p>
            <a:r>
              <a:rPr lang="en-US" dirty="0"/>
              <a:t>DELETE FROM Beers</a:t>
            </a:r>
            <a:br>
              <a:rPr lang="en-US" dirty="0"/>
            </a:br>
            <a:r>
              <a:rPr lang="en-US" dirty="0"/>
              <a:t>WHERE	Name = ‘B1’</a:t>
            </a:r>
          </a:p>
          <a:p>
            <a:r>
              <a:rPr lang="en-US" dirty="0"/>
              <a:t>Change all ‘B1’ Beer values in Sells to NULL</a:t>
            </a:r>
          </a:p>
          <a:p>
            <a:endParaRPr lang="en-US" sz="1300" dirty="0"/>
          </a:p>
          <a:p>
            <a:r>
              <a:rPr lang="en-US" dirty="0"/>
              <a:t>UPDATE 	Beers</a:t>
            </a:r>
            <a:br>
              <a:rPr lang="en-US" dirty="0"/>
            </a:br>
            <a:r>
              <a:rPr lang="en-US" dirty="0"/>
              <a:t>SET	Name = ‘B2’</a:t>
            </a:r>
            <a:br>
              <a:rPr lang="en-US" dirty="0"/>
            </a:br>
            <a:r>
              <a:rPr lang="en-US" dirty="0"/>
              <a:t>Where	Name = ‘B1’	</a:t>
            </a:r>
          </a:p>
          <a:p>
            <a:r>
              <a:rPr lang="en-US" dirty="0"/>
              <a:t>Change all ‘B1’ Beer values in Sells to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552" y="1124744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1835696" y="929154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64088" y="332656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/>
        </p:nvGraphicFramePr>
        <p:xfrm>
          <a:off x="5364088" y="910103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61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Policy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8208912" cy="4104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can specify whether to default, cascade, or set null when we declare a foreign key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CREATE TABLE Sells(</a:t>
            </a:r>
            <a:br>
              <a:rPr lang="en-US" dirty="0"/>
            </a:br>
            <a:r>
              <a:rPr lang="en-US" dirty="0"/>
              <a:t>Bar		VARCHAR(30),</a:t>
            </a:r>
            <a:br>
              <a:rPr lang="en-US" dirty="0"/>
            </a:br>
            <a:r>
              <a:rPr lang="en-US" dirty="0"/>
              <a:t>Beer	VARCHAR(30),</a:t>
            </a:r>
            <a:br>
              <a:rPr lang="en-US" dirty="0"/>
            </a:br>
            <a:r>
              <a:rPr lang="en-US" dirty="0"/>
              <a:t>Price	FLOAT,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FOREIGN KEY</a:t>
            </a:r>
            <a:r>
              <a:rPr lang="en-US" dirty="0"/>
              <a:t> (Beer) </a:t>
            </a:r>
            <a:r>
              <a:rPr lang="en-US" dirty="0">
                <a:solidFill>
                  <a:srgbClr val="C00000"/>
                </a:solidFill>
              </a:rPr>
              <a:t>REFERENCES</a:t>
            </a:r>
            <a:r>
              <a:rPr lang="en-US" dirty="0"/>
              <a:t> Beers(Name)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ON DELETE SET NULL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ON UPDATE CASCADE </a:t>
            </a:r>
            <a:r>
              <a:rPr lang="en-US" dirty="0"/>
              <a:t>);</a:t>
            </a:r>
          </a:p>
          <a:p>
            <a:r>
              <a:rPr lang="en-US" dirty="0"/>
              <a:t>Default is taken when SET NULL and CASCADE are absent</a:t>
            </a:r>
          </a:p>
          <a:p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35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/>
          <a:lstStyle/>
          <a:p>
            <a:r>
              <a:rPr lang="en-US" dirty="0"/>
              <a:t>We want to make sure that any new beer does not sell over 100 dollars. How?</a:t>
            </a:r>
          </a:p>
          <a:p>
            <a:r>
              <a:rPr lang="en-US" dirty="0"/>
              <a:t>CREATE TABLE Sells(</a:t>
            </a:r>
            <a:br>
              <a:rPr lang="en-US" dirty="0"/>
            </a:br>
            <a:r>
              <a:rPr lang="en-US" dirty="0"/>
              <a:t>Bar		VARCHAR(30),</a:t>
            </a:r>
            <a:br>
              <a:rPr lang="en-US" dirty="0"/>
            </a:br>
            <a:r>
              <a:rPr lang="en-US" dirty="0"/>
              <a:t>Beer	VARCHAR(30),</a:t>
            </a:r>
            <a:br>
              <a:rPr lang="en-US" dirty="0"/>
            </a:br>
            <a:r>
              <a:rPr lang="en-US" dirty="0"/>
              <a:t>Price	FLOAT,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CHECK</a:t>
            </a:r>
            <a:r>
              <a:rPr lang="en-US" dirty="0"/>
              <a:t> (Price &lt;= 100) );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3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/>
          <a:lstStyle/>
          <a:p>
            <a:r>
              <a:rPr lang="en-US" dirty="0"/>
              <a:t>We want to make sure that only the Lotus Bar can sell a new beer over 100 dollars. How?</a:t>
            </a:r>
          </a:p>
          <a:p>
            <a:r>
              <a:rPr lang="en-US" dirty="0"/>
              <a:t>CREATE TABLE Sells(</a:t>
            </a:r>
            <a:br>
              <a:rPr lang="en-US" dirty="0"/>
            </a:br>
            <a:r>
              <a:rPr lang="en-US" dirty="0"/>
              <a:t>Bar		VARCHAR(30),</a:t>
            </a:r>
            <a:br>
              <a:rPr lang="en-US" dirty="0"/>
            </a:br>
            <a:r>
              <a:rPr lang="en-US" dirty="0"/>
              <a:t>Beer	VARCHAR(30),</a:t>
            </a:r>
            <a:br>
              <a:rPr lang="en-US" dirty="0"/>
            </a:br>
            <a:r>
              <a:rPr lang="en-US" dirty="0"/>
              <a:t>Price	FLOAT,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CHECK</a:t>
            </a:r>
            <a:r>
              <a:rPr lang="en-US" dirty="0"/>
              <a:t> (Bar = ‘Lotus’ OR Price &lt;= 100) );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28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TABLE Sells(</a:t>
            </a:r>
            <a:br>
              <a:rPr lang="en-US" dirty="0"/>
            </a:br>
            <a:r>
              <a:rPr lang="en-US" dirty="0"/>
              <a:t>	Bar	VARCHAR(30),</a:t>
            </a:r>
            <a:br>
              <a:rPr lang="en-US" dirty="0"/>
            </a:br>
            <a:r>
              <a:rPr lang="en-US" dirty="0"/>
              <a:t>	Beer	VARCHAR(30),</a:t>
            </a:r>
            <a:br>
              <a:rPr lang="en-US" dirty="0"/>
            </a:br>
            <a:r>
              <a:rPr lang="en-US" dirty="0"/>
              <a:t>	Price	FLOAT,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CHECK</a:t>
            </a:r>
            <a:r>
              <a:rPr lang="en-US" dirty="0"/>
              <a:t> (Price &lt;= 100) );</a:t>
            </a:r>
          </a:p>
          <a:p>
            <a:r>
              <a:rPr lang="en-US" dirty="0"/>
              <a:t>When will checks be examined?</a:t>
            </a:r>
          </a:p>
          <a:p>
            <a:r>
              <a:rPr lang="en-US" dirty="0"/>
              <a:t>Answer: Only when tuples are inserted or updated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61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806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more flexible type of checks</a:t>
            </a:r>
          </a:p>
          <a:p>
            <a:r>
              <a:rPr lang="en-US" dirty="0"/>
              <a:t>Example: There should not be more bars than beers</a:t>
            </a:r>
          </a:p>
          <a:p>
            <a:r>
              <a:rPr lang="en-US" dirty="0">
                <a:solidFill>
                  <a:srgbClr val="C00000"/>
                </a:solidFill>
              </a:rPr>
              <a:t>CREATE ASSERTION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MoreBars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CHECK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	(SELECT COUNT(*) FROM Beers) </a:t>
            </a:r>
            <a:br>
              <a:rPr lang="en-US" dirty="0"/>
            </a:br>
            <a:r>
              <a:rPr lang="en-US" dirty="0"/>
              <a:t>	&gt;=</a:t>
            </a:r>
            <a:br>
              <a:rPr lang="en-US" dirty="0"/>
            </a:br>
            <a:r>
              <a:rPr lang="en-US" dirty="0"/>
              <a:t>	(SELECT COUNT(DISTINT Bar) FROM Sells) </a:t>
            </a:r>
            <a:br>
              <a:rPr lang="en-US" dirty="0"/>
            </a:br>
            <a:r>
              <a:rPr lang="en-US" dirty="0"/>
              <a:t>)</a:t>
            </a:r>
          </a:p>
          <a:p>
            <a:r>
              <a:rPr lang="en-US" dirty="0"/>
              <a:t>Note: Assertions are not implemented in all commercial databases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48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>
            <a:normAutofit/>
          </a:bodyPr>
          <a:lstStyle/>
          <a:p>
            <a:r>
              <a:rPr lang="en-US" dirty="0"/>
              <a:t>Every time there is a new beer from Tiger, the Lotus Bar would sell it at 10 dollars. </a:t>
            </a:r>
          </a:p>
          <a:p>
            <a:r>
              <a:rPr lang="en-US" dirty="0"/>
              <a:t>How to capture this?</a:t>
            </a:r>
          </a:p>
          <a:p>
            <a:r>
              <a:rPr lang="en-US" dirty="0"/>
              <a:t>No obvious solution with assertions</a:t>
            </a:r>
          </a:p>
          <a:p>
            <a:r>
              <a:rPr lang="en-US" dirty="0"/>
              <a:t>But we can use </a:t>
            </a:r>
            <a:r>
              <a:rPr lang="en-US" dirty="0">
                <a:solidFill>
                  <a:srgbClr val="C00000"/>
                </a:solidFill>
              </a:rPr>
              <a:t>triggers</a:t>
            </a:r>
          </a:p>
          <a:p>
            <a:r>
              <a:rPr lang="en-US" dirty="0"/>
              <a:t>To be discussed later in </a:t>
            </a:r>
            <a:r>
              <a:rPr lang="en-US"/>
              <a:t>this course</a:t>
            </a:r>
            <a:endParaRPr lang="en-US" dirty="0">
              <a:solidFill>
                <a:srgbClr val="C00000"/>
              </a:solidFill>
            </a:endParaRP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1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2293</TotalTime>
  <Words>3015</Words>
  <Application>Microsoft Macintosh PowerPoint</Application>
  <PresentationFormat>On-screen Show (4:3)</PresentationFormat>
  <Paragraphs>1631</Paragraphs>
  <Slides>105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1" baseType="lpstr">
      <vt:lpstr>宋体</vt:lpstr>
      <vt:lpstr>Arial</vt:lpstr>
      <vt:lpstr>Calibri</vt:lpstr>
      <vt:lpstr>Garamond</vt:lpstr>
      <vt:lpstr>Wingdings</vt:lpstr>
      <vt:lpstr>Edge</vt:lpstr>
      <vt:lpstr>CS2102 Database Systems</vt:lpstr>
      <vt:lpstr>Recap</vt:lpstr>
      <vt:lpstr>Union</vt:lpstr>
      <vt:lpstr>Union</vt:lpstr>
      <vt:lpstr>Union</vt:lpstr>
      <vt:lpstr>Intersect (Not in some DBMS)</vt:lpstr>
      <vt:lpstr>Except (Not in some DBMS)</vt:lpstr>
      <vt:lpstr>Exercise</vt:lpstr>
      <vt:lpstr>Exercise</vt:lpstr>
      <vt:lpstr>Exercise</vt:lpstr>
      <vt:lpstr>Exercise</vt:lpstr>
      <vt:lpstr>Exercise</vt:lpstr>
      <vt:lpstr>Recap</vt:lpstr>
      <vt:lpstr>Recap</vt:lpstr>
      <vt:lpstr>Recap</vt:lpstr>
      <vt:lpstr>NULL in SQL</vt:lpstr>
      <vt:lpstr>Issues with NULL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Issues with NULL (cont.)</vt:lpstr>
      <vt:lpstr>Recap</vt:lpstr>
      <vt:lpstr>Outerjoins</vt:lpstr>
      <vt:lpstr>Outerjoins (cont.)</vt:lpstr>
      <vt:lpstr>Outerjoins (cont.)</vt:lpstr>
      <vt:lpstr>Outerjoins (cont.)</vt:lpstr>
      <vt:lpstr>Outerjoins (cont.)</vt:lpstr>
      <vt:lpstr>Outerjoins (cont.)</vt:lpstr>
      <vt:lpstr>Outerjoins</vt:lpstr>
      <vt:lpstr>Outerjoins</vt:lpstr>
      <vt:lpstr>Outerjoins</vt:lpstr>
      <vt:lpstr>Outerjoins</vt:lpstr>
      <vt:lpstr>Outerjoins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Coming Next</vt:lpstr>
      <vt:lpstr>Inserting One Tuple</vt:lpstr>
      <vt:lpstr>Partial Insertion</vt:lpstr>
      <vt:lpstr>Tuple Insertion via Subqueries</vt:lpstr>
      <vt:lpstr>Tuple Insertion via Subqueries</vt:lpstr>
      <vt:lpstr>Tuple Deletion</vt:lpstr>
      <vt:lpstr>Tuple Deletion (cont.)</vt:lpstr>
      <vt:lpstr>Deleting All Tuples</vt:lpstr>
      <vt:lpstr>Exercise</vt:lpstr>
      <vt:lpstr>Exercise</vt:lpstr>
      <vt:lpstr>Exercise</vt:lpstr>
      <vt:lpstr>Tuple Update</vt:lpstr>
      <vt:lpstr>Tuple Update (cont.)</vt:lpstr>
      <vt:lpstr>Tuple Update (cont.)</vt:lpstr>
      <vt:lpstr>Tuple Update (cont.)</vt:lpstr>
      <vt:lpstr>Tuple Update (cont.)</vt:lpstr>
      <vt:lpstr>Exercise</vt:lpstr>
      <vt:lpstr>Exercise</vt:lpstr>
      <vt:lpstr>Exercise</vt:lpstr>
      <vt:lpstr>Coming Next</vt:lpstr>
      <vt:lpstr>Table Creation</vt:lpstr>
      <vt:lpstr>Column Types</vt:lpstr>
      <vt:lpstr>Table Creation (cont.)</vt:lpstr>
      <vt:lpstr>PRIMARY KEY</vt:lpstr>
      <vt:lpstr>UNIQUE</vt:lpstr>
      <vt:lpstr>PRIMARY KEY (cont.)</vt:lpstr>
      <vt:lpstr>UNIQUE (cont.)</vt:lpstr>
      <vt:lpstr>PRIMARY KEY vs. UNIQUE</vt:lpstr>
      <vt:lpstr>PRIMARY KEY vs. UNIQUE</vt:lpstr>
      <vt:lpstr>NOT NULL</vt:lpstr>
      <vt:lpstr>NOT NULL (cont.)</vt:lpstr>
      <vt:lpstr>NOT NULL (cont.)</vt:lpstr>
      <vt:lpstr>DEFAULT</vt:lpstr>
      <vt:lpstr>Combination</vt:lpstr>
      <vt:lpstr>Table Deletion</vt:lpstr>
      <vt:lpstr>Table Modification</vt:lpstr>
      <vt:lpstr>Table Modification</vt:lpstr>
      <vt:lpstr>Note</vt:lpstr>
      <vt:lpstr>Integrity Constraints</vt:lpstr>
      <vt:lpstr>FOREIGN KEY</vt:lpstr>
      <vt:lpstr>FOREIGN KEY (cont.)</vt:lpstr>
      <vt:lpstr>Foreign Key Constraints</vt:lpstr>
      <vt:lpstr>Foreign Key Constraints (cont.)</vt:lpstr>
      <vt:lpstr>Default</vt:lpstr>
      <vt:lpstr>Cascade</vt:lpstr>
      <vt:lpstr>Set NULL</vt:lpstr>
      <vt:lpstr>Choosing a Policy</vt:lpstr>
      <vt:lpstr>Checks</vt:lpstr>
      <vt:lpstr>Checks (cont.)</vt:lpstr>
      <vt:lpstr>Checks (cont.)</vt:lpstr>
      <vt:lpstr>Assertions</vt:lpstr>
      <vt:lpstr>Assertions (cont.)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Zhang Shuhao</cp:lastModifiedBy>
  <cp:revision>1094</cp:revision>
  <cp:lastPrinted>2014-08-21T04:54:26Z</cp:lastPrinted>
  <dcterms:created xsi:type="dcterms:W3CDTF">2009-03-02T02:47:37Z</dcterms:created>
  <dcterms:modified xsi:type="dcterms:W3CDTF">2019-07-09T04:21:42Z</dcterms:modified>
</cp:coreProperties>
</file>