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16" r:id="rId1"/>
  </p:sldMasterIdLst>
  <p:notesMasterIdLst>
    <p:notesMasterId r:id="rId127"/>
  </p:notesMasterIdLst>
  <p:handoutMasterIdLst>
    <p:handoutMasterId r:id="rId128"/>
  </p:handoutMasterIdLst>
  <p:sldIdLst>
    <p:sldId id="256" r:id="rId2"/>
    <p:sldId id="839" r:id="rId3"/>
    <p:sldId id="840" r:id="rId4"/>
    <p:sldId id="841" r:id="rId5"/>
    <p:sldId id="842" r:id="rId6"/>
    <p:sldId id="843" r:id="rId7"/>
    <p:sldId id="844" r:id="rId8"/>
    <p:sldId id="845" r:id="rId9"/>
    <p:sldId id="846" r:id="rId10"/>
    <p:sldId id="859" r:id="rId11"/>
    <p:sldId id="860" r:id="rId12"/>
    <p:sldId id="861" r:id="rId13"/>
    <p:sldId id="862" r:id="rId14"/>
    <p:sldId id="849" r:id="rId15"/>
    <p:sldId id="850" r:id="rId16"/>
    <p:sldId id="863" r:id="rId17"/>
    <p:sldId id="851" r:id="rId18"/>
    <p:sldId id="852" r:id="rId19"/>
    <p:sldId id="853" r:id="rId20"/>
    <p:sldId id="854" r:id="rId21"/>
    <p:sldId id="855" r:id="rId22"/>
    <p:sldId id="731" r:id="rId23"/>
    <p:sldId id="732" r:id="rId24"/>
    <p:sldId id="781" r:id="rId25"/>
    <p:sldId id="864" r:id="rId26"/>
    <p:sldId id="865" r:id="rId27"/>
    <p:sldId id="866" r:id="rId28"/>
    <p:sldId id="867" r:id="rId29"/>
    <p:sldId id="868" r:id="rId30"/>
    <p:sldId id="869" r:id="rId31"/>
    <p:sldId id="870" r:id="rId32"/>
    <p:sldId id="871" r:id="rId33"/>
    <p:sldId id="872" r:id="rId34"/>
    <p:sldId id="873" r:id="rId35"/>
    <p:sldId id="874" r:id="rId36"/>
    <p:sldId id="875" r:id="rId37"/>
    <p:sldId id="740" r:id="rId38"/>
    <p:sldId id="741" r:id="rId39"/>
    <p:sldId id="742" r:id="rId40"/>
    <p:sldId id="743" r:id="rId41"/>
    <p:sldId id="744" r:id="rId42"/>
    <p:sldId id="745" r:id="rId43"/>
    <p:sldId id="746" r:id="rId44"/>
    <p:sldId id="749" r:id="rId45"/>
    <p:sldId id="750" r:id="rId46"/>
    <p:sldId id="751" r:id="rId47"/>
    <p:sldId id="752" r:id="rId48"/>
    <p:sldId id="753" r:id="rId49"/>
    <p:sldId id="754" r:id="rId50"/>
    <p:sldId id="755" r:id="rId51"/>
    <p:sldId id="756" r:id="rId52"/>
    <p:sldId id="757" r:id="rId53"/>
    <p:sldId id="758" r:id="rId54"/>
    <p:sldId id="759" r:id="rId55"/>
    <p:sldId id="760" r:id="rId56"/>
    <p:sldId id="761" r:id="rId57"/>
    <p:sldId id="762" r:id="rId58"/>
    <p:sldId id="763" r:id="rId59"/>
    <p:sldId id="764" r:id="rId60"/>
    <p:sldId id="765" r:id="rId61"/>
    <p:sldId id="766" r:id="rId62"/>
    <p:sldId id="876" r:id="rId63"/>
    <p:sldId id="877" r:id="rId64"/>
    <p:sldId id="783" r:id="rId65"/>
    <p:sldId id="785" r:id="rId66"/>
    <p:sldId id="784" r:id="rId67"/>
    <p:sldId id="786" r:id="rId68"/>
    <p:sldId id="787" r:id="rId69"/>
    <p:sldId id="788" r:id="rId70"/>
    <p:sldId id="789" r:id="rId71"/>
    <p:sldId id="790" r:id="rId72"/>
    <p:sldId id="791" r:id="rId73"/>
    <p:sldId id="792" r:id="rId74"/>
    <p:sldId id="793" r:id="rId75"/>
    <p:sldId id="794" r:id="rId76"/>
    <p:sldId id="795" r:id="rId77"/>
    <p:sldId id="796" r:id="rId78"/>
    <p:sldId id="797" r:id="rId79"/>
    <p:sldId id="798" r:id="rId80"/>
    <p:sldId id="799" r:id="rId81"/>
    <p:sldId id="800" r:id="rId82"/>
    <p:sldId id="801" r:id="rId83"/>
    <p:sldId id="802" r:id="rId84"/>
    <p:sldId id="803" r:id="rId85"/>
    <p:sldId id="804" r:id="rId86"/>
    <p:sldId id="805" r:id="rId87"/>
    <p:sldId id="806" r:id="rId88"/>
    <p:sldId id="807" r:id="rId89"/>
    <p:sldId id="808" r:id="rId90"/>
    <p:sldId id="809" r:id="rId91"/>
    <p:sldId id="810" r:id="rId92"/>
    <p:sldId id="811" r:id="rId93"/>
    <p:sldId id="812" r:id="rId94"/>
    <p:sldId id="813" r:id="rId95"/>
    <p:sldId id="814" r:id="rId96"/>
    <p:sldId id="815" r:id="rId97"/>
    <p:sldId id="816" r:id="rId98"/>
    <p:sldId id="817" r:id="rId99"/>
    <p:sldId id="818" r:id="rId100"/>
    <p:sldId id="819" r:id="rId101"/>
    <p:sldId id="820" r:id="rId102"/>
    <p:sldId id="821" r:id="rId103"/>
    <p:sldId id="822" r:id="rId104"/>
    <p:sldId id="823" r:id="rId105"/>
    <p:sldId id="824" r:id="rId106"/>
    <p:sldId id="825" r:id="rId107"/>
    <p:sldId id="826" r:id="rId108"/>
    <p:sldId id="827" r:id="rId109"/>
    <p:sldId id="828" r:id="rId110"/>
    <p:sldId id="829" r:id="rId111"/>
    <p:sldId id="830" r:id="rId112"/>
    <p:sldId id="831" r:id="rId113"/>
    <p:sldId id="832" r:id="rId114"/>
    <p:sldId id="878" r:id="rId115"/>
    <p:sldId id="834" r:id="rId116"/>
    <p:sldId id="835" r:id="rId117"/>
    <p:sldId id="879" r:id="rId118"/>
    <p:sldId id="882" r:id="rId119"/>
    <p:sldId id="881" r:id="rId120"/>
    <p:sldId id="883" r:id="rId121"/>
    <p:sldId id="884" r:id="rId122"/>
    <p:sldId id="838" r:id="rId123"/>
    <p:sldId id="885" r:id="rId124"/>
    <p:sldId id="886" r:id="rId125"/>
    <p:sldId id="858" r:id="rId126"/>
  </p:sldIdLst>
  <p:sldSz cx="9144000" cy="6858000" type="screen4x3"/>
  <p:notesSz cx="6669088" cy="9753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8000"/>
    <a:srgbClr val="CCFF99"/>
    <a:srgbClr val="FFFFCC"/>
    <a:srgbClr val="FF9900"/>
    <a:srgbClr val="33CC33"/>
    <a:srgbClr val="66FF33"/>
    <a:srgbClr val="CC00CC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82" autoAdjust="0"/>
  </p:normalViewPr>
  <p:slideViewPr>
    <p:cSldViewPr>
      <p:cViewPr varScale="1">
        <p:scale>
          <a:sx n="111" d="100"/>
          <a:sy n="111" d="100"/>
        </p:scale>
        <p:origin x="1035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994" y="2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1A395C66-BAC7-4947-A978-17979EC9EE5D}" type="datetimeFigureOut">
              <a:rPr lang="zh-CN" altLang="en-US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994" y="9263663"/>
            <a:ext cx="2889938" cy="487681"/>
          </a:xfrm>
          <a:prstGeom prst="rect">
            <a:avLst/>
          </a:prstGeom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4239E3A9-FBC1-4C90-89C7-C86D175BA3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5708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7994" y="2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C874FDD-B067-4E5B-9185-454DDEAB3F7B}" type="datetimeFigureOut">
              <a:rPr lang="zh-CN" altLang="en-US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6938" y="730250"/>
            <a:ext cx="4875212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66909" y="4632961"/>
            <a:ext cx="5335270" cy="4389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7994" y="9263663"/>
            <a:ext cx="2889938" cy="4876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2" tIns="48321" rIns="96642" bIns="483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1A4026A9-F546-4A60-85FC-C280A3E995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6891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172666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120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8419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A4026A9-F546-4A60-85FC-C280A3E995E5}" type="slidenum">
              <a:rPr lang="zh-CN" altLang="en-US" smtClean="0"/>
              <a:pPr>
                <a:defRPr/>
              </a:pPr>
              <a:t>121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0561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 b="1"/>
            </a:lvl1pPr>
          </a:lstStyle>
          <a:p>
            <a:r>
              <a:rPr lang="en-US" altLang="zh-CN" dirty="0" smtClean="0"/>
              <a:t>Click to edit Master title style</a:t>
            </a:r>
            <a:endParaRPr lang="en-US" altLang="zh-C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CN" dirty="0" smtClean="0"/>
              <a:t>Click to edit Master subtitle style</a:t>
            </a:r>
            <a:endParaRPr lang="en-US" altLang="zh-CN" dirty="0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6CDC6D-4EE0-4163-813D-9CD3796578B8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C893D8-0101-4D6A-B8CF-851210C370A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199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00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1CC542-DA65-4D97-A79C-E6B794CDE341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C098B-AF64-43D3-8114-98CE067A81C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68A76-9B69-47BF-9E4A-96902B10A1E7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9D6CF1-B5B0-45CC-A494-C560F80EF87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93BC6-5129-4551-9A0C-D589C1FA99E0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794451-DE8C-4F17-A5F8-6E9471C791F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D4FC51-53E4-4B4A-8408-0D7C776F0E9B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CD14B-0E03-45C4-9CB4-EC1BF9DBC28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9692D-24FD-4BF2-843F-111947BC32F2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499DB-596E-406E-A850-ADBBE4ACAF6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7657F-E8DF-42F6-A122-EC46F94251E9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521A6B-41C5-43CE-82EC-EE99A774C93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91453A-18CE-4CCF-8E9D-7173DDA93971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BB9F9-E069-4585-84F6-CF7DDE5C2D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6D232-B991-4B2D-9ABC-E8235D4C177C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185E5-D22F-4151-B7A0-3D1C0E84A9F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B0466F-4628-4FD0-96E3-BD8917FD5FD0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B01DE-58FC-4595-BD9C-BE624D0330D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6B8E33-68C8-450A-AAFD-1D2427969E67}" type="datetimeFigureOut">
              <a:rPr lang="zh-CN" altLang="en-US" smtClean="0"/>
              <a:pPr>
                <a:defRPr/>
              </a:pPr>
              <a:t>2019/6/17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ABE93-1989-44EE-8354-A9E88BBC465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 smtClean="0"/>
              <a:t>Click to edit Master text styles</a:t>
            </a:r>
          </a:p>
          <a:p>
            <a:pPr lvl="1"/>
            <a:r>
              <a:rPr lang="en-US" altLang="zh-CN" dirty="0" smtClean="0"/>
              <a:t>Second level</a:t>
            </a:r>
          </a:p>
          <a:p>
            <a:pPr lvl="2"/>
            <a:r>
              <a:rPr lang="en-US" altLang="zh-CN" dirty="0" smtClean="0"/>
              <a:t>Third level</a:t>
            </a:r>
          </a:p>
          <a:p>
            <a:pPr lvl="3"/>
            <a:r>
              <a:rPr lang="en-US" altLang="zh-CN" dirty="0" smtClean="0"/>
              <a:t>Fourth level</a:t>
            </a:r>
          </a:p>
          <a:p>
            <a:pPr lvl="4"/>
            <a:r>
              <a:rPr lang="en-US" altLang="zh-CN" dirty="0" smtClean="0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D92F4355-5CB1-4ACF-BDD9-483BD3E683DD}" type="datetimeFigureOut">
              <a:rPr lang="zh-CN" altLang="en-US" smtClean="0"/>
              <a:pPr>
                <a:defRPr/>
              </a:pPr>
              <a:t>2019/6/17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pPr>
              <a:defRPr/>
            </a:pPr>
            <a:fld id="{17C11BA6-15D4-4D8B-A31B-49D97CB27F55}" type="slidenum">
              <a:rPr lang="zh-CN" altLang="en-US" smtClean="0"/>
              <a:pPr>
                <a:defRPr/>
              </a:pPr>
              <a:t>‹#›</a:t>
            </a:fld>
            <a:endParaRPr lang="en-US" altLang="zh-CN">
              <a:solidFill>
                <a:srgbClr val="045C75"/>
              </a:solidFill>
            </a:endParaRPr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en-US">
              <a:latin typeface="Comic Sans MS" pitchFamily="66" charset="0"/>
            </a:endParaRPr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</p:sldLayoutIdLst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 b="1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Calibri" pitchFamily="34" charset="0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Calibri" pitchFamily="34" charset="0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Calibri" pitchFamily="34" charset="0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CN" sz="4400" dirty="0" smtClean="0"/>
              <a:t>CS2102</a:t>
            </a:r>
            <a:br>
              <a:rPr lang="en-US" altLang="zh-CN" sz="4400" dirty="0" smtClean="0"/>
            </a:br>
            <a:r>
              <a:rPr lang="en-US" altLang="zh-CN" sz="4400" smtClean="0"/>
              <a:t>Database Systems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13315" name="Subtitle 2"/>
          <p:cNvSpPr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2538434"/>
          </a:xfrm>
        </p:spPr>
        <p:txBody>
          <a:bodyPr>
            <a:normAutofit/>
          </a:bodyPr>
          <a:lstStyle/>
          <a:p>
            <a:pPr marL="26988" eaLnBrk="1" hangingPunct="1"/>
            <a:endParaRPr lang="en-US" altLang="zh-CN" sz="2600" dirty="0" smtClean="0"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Recap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have discussed the following conversion: </a:t>
            </a:r>
            <a:r>
              <a:rPr lang="en-US" dirty="0"/>
              <a:t>Applications </a:t>
            </a:r>
            <a:r>
              <a:rPr lang="en-US" dirty="0">
                <a:sym typeface="Wingdings" pitchFamily="2" charset="2"/>
              </a:rPr>
              <a:t> ER diagrams  tables</a:t>
            </a:r>
            <a:r>
              <a:rPr lang="en-US" dirty="0"/>
              <a:t> </a:t>
            </a:r>
          </a:p>
          <a:p>
            <a:r>
              <a:rPr lang="en-US" dirty="0"/>
              <a:t>It works in general, but sometimes things might go wrong</a:t>
            </a:r>
          </a:p>
          <a:p>
            <a:pPr lvl="1"/>
            <a:r>
              <a:rPr lang="en-US" dirty="0"/>
              <a:t>The ER diagrams might not be well designed</a:t>
            </a:r>
          </a:p>
          <a:p>
            <a:pPr lvl="1"/>
            <a:r>
              <a:rPr lang="en-US" dirty="0"/>
              <a:t>The conversion from ER diagrams to tables </a:t>
            </a:r>
            <a:r>
              <a:rPr lang="en-US"/>
              <a:t>might </a:t>
            </a:r>
            <a:r>
              <a:rPr lang="en-US" smtClean="0"/>
              <a:t>not be </a:t>
            </a:r>
            <a:r>
              <a:rPr lang="en-US" dirty="0"/>
              <a:t>done properly</a:t>
            </a:r>
          </a:p>
          <a:p>
            <a:r>
              <a:rPr lang="en-US" dirty="0"/>
              <a:t>As a consequence, the resulting tables might have various problems</a:t>
            </a:r>
            <a:endParaRPr lang="en-SG" dirty="0"/>
          </a:p>
          <a:p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4284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Anomalies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435280" cy="3061965"/>
          </a:xfrm>
        </p:spPr>
        <p:txBody>
          <a:bodyPr>
            <a:normAutofit/>
          </a:bodyPr>
          <a:lstStyle/>
          <a:p>
            <a:r>
              <a:rPr lang="en-US" dirty="0" smtClean="0"/>
              <a:t>Primary key of the table: </a:t>
            </a:r>
            <a:br>
              <a:rPr lang="en-US" dirty="0" smtClean="0"/>
            </a:br>
            <a:r>
              <a:rPr lang="en-US" dirty="0" smtClean="0"/>
              <a:t>	(NRIC, </a:t>
            </a:r>
            <a:r>
              <a:rPr lang="en-US" dirty="0" err="1" smtClean="0"/>
              <a:t>PhoneNumber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There are several </a:t>
            </a:r>
            <a:r>
              <a:rPr lang="en-US" dirty="0" smtClean="0">
                <a:solidFill>
                  <a:srgbClr val="A50021"/>
                </a:solidFill>
              </a:rPr>
              <a:t>anomalies</a:t>
            </a:r>
            <a:r>
              <a:rPr lang="en-US" dirty="0" smtClean="0"/>
              <a:t> in the table</a:t>
            </a:r>
          </a:p>
          <a:p>
            <a:r>
              <a:rPr lang="en-US" dirty="0" smtClean="0"/>
              <a:t>First, redundancy:</a:t>
            </a:r>
          </a:p>
          <a:p>
            <a:pPr lvl="1"/>
            <a:r>
              <a:rPr lang="en-US" dirty="0" smtClean="0"/>
              <a:t>Alice’s address is duplicated</a:t>
            </a:r>
          </a:p>
          <a:p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55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Anomalies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435280" cy="3061965"/>
          </a:xfrm>
        </p:spPr>
        <p:txBody>
          <a:bodyPr>
            <a:normAutofit/>
          </a:bodyPr>
          <a:lstStyle/>
          <a:p>
            <a:r>
              <a:rPr lang="en-US" dirty="0" smtClean="0"/>
              <a:t>Primary key of the table: </a:t>
            </a:r>
            <a:br>
              <a:rPr lang="en-US" dirty="0" smtClean="0"/>
            </a:br>
            <a:r>
              <a:rPr lang="en-US" dirty="0" smtClean="0"/>
              <a:t>	(NRIC, </a:t>
            </a:r>
            <a:r>
              <a:rPr lang="en-US" dirty="0" err="1" smtClean="0"/>
              <a:t>PhoneNumber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Second, update anomalies:</a:t>
            </a:r>
          </a:p>
          <a:p>
            <a:pPr lvl="1"/>
            <a:r>
              <a:rPr lang="en-US" dirty="0" smtClean="0"/>
              <a:t>We may accidentally update one of Alice’s addresses, leaving the other unchanged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09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Anomalies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435280" cy="3061965"/>
          </a:xfrm>
        </p:spPr>
        <p:txBody>
          <a:bodyPr>
            <a:normAutofit/>
          </a:bodyPr>
          <a:lstStyle/>
          <a:p>
            <a:r>
              <a:rPr lang="en-US" dirty="0" smtClean="0"/>
              <a:t>Primary key of the table: </a:t>
            </a:r>
            <a:br>
              <a:rPr lang="en-US" dirty="0" smtClean="0"/>
            </a:br>
            <a:r>
              <a:rPr lang="en-US" dirty="0" smtClean="0"/>
              <a:t>	(NRIC, </a:t>
            </a:r>
            <a:r>
              <a:rPr lang="en-US" dirty="0" err="1" smtClean="0"/>
              <a:t>PhoneNumber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Third, deletion anomalies:</a:t>
            </a:r>
          </a:p>
          <a:p>
            <a:pPr lvl="1"/>
            <a:r>
              <a:rPr lang="en-US" dirty="0" smtClean="0"/>
              <a:t>Bob no longer uses a phone</a:t>
            </a:r>
          </a:p>
          <a:p>
            <a:pPr lvl="1"/>
            <a:r>
              <a:rPr lang="en-US" dirty="0" smtClean="0"/>
              <a:t>Can we remove Bob’s phone number?</a:t>
            </a:r>
          </a:p>
          <a:p>
            <a:pPr lvl="1"/>
            <a:r>
              <a:rPr lang="en-US" dirty="0" smtClean="0"/>
              <a:t>No. (Note: Primary key attributes cannot be NULL)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19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Anomalies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0"/>
            <a:ext cx="8435280" cy="3061965"/>
          </a:xfrm>
        </p:spPr>
        <p:txBody>
          <a:bodyPr>
            <a:normAutofit/>
          </a:bodyPr>
          <a:lstStyle/>
          <a:p>
            <a:r>
              <a:rPr lang="en-US" dirty="0" smtClean="0"/>
              <a:t>Primary key of the table: </a:t>
            </a:r>
            <a:br>
              <a:rPr lang="en-US" dirty="0" smtClean="0"/>
            </a:br>
            <a:r>
              <a:rPr lang="en-US" dirty="0" smtClean="0"/>
              <a:t>	(NRIC, </a:t>
            </a:r>
            <a:r>
              <a:rPr lang="en-US" dirty="0" err="1" smtClean="0"/>
              <a:t>PhoneNumber</a:t>
            </a:r>
            <a:r>
              <a:rPr lang="en-US" dirty="0" smtClean="0"/>
              <a:t>)</a:t>
            </a:r>
          </a:p>
          <a:p>
            <a:r>
              <a:rPr lang="en-US" dirty="0" smtClean="0"/>
              <a:t>Fourth, insertion anomalies:</a:t>
            </a:r>
          </a:p>
          <a:p>
            <a:pPr lvl="1"/>
            <a:r>
              <a:rPr lang="en-US" dirty="0" smtClean="0"/>
              <a:t>Name = Cathy, NRIC = 9394, </a:t>
            </a:r>
            <a:r>
              <a:rPr lang="en-US" dirty="0" err="1" smtClean="0"/>
              <a:t>HomeAddress</a:t>
            </a:r>
            <a:r>
              <a:rPr lang="en-US" dirty="0" smtClean="0"/>
              <a:t> = </a:t>
            </a:r>
            <a:r>
              <a:rPr lang="en-US" dirty="0" err="1" smtClean="0"/>
              <a:t>YiShun</a:t>
            </a:r>
            <a:endParaRPr lang="en-US" dirty="0" smtClean="0"/>
          </a:p>
          <a:p>
            <a:pPr lvl="1"/>
            <a:r>
              <a:rPr lang="en-US" dirty="0" smtClean="0"/>
              <a:t>Can we insert this information into the table?</a:t>
            </a:r>
          </a:p>
          <a:p>
            <a:pPr lvl="1"/>
            <a:r>
              <a:rPr lang="en-US" dirty="0" smtClean="0"/>
              <a:t>No. (Note: Primary key attributes cannot be NULL)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306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1"/>
            <a:ext cx="8435280" cy="93610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How do we get rid of those anomalies?</a:t>
            </a:r>
          </a:p>
          <a:p>
            <a:r>
              <a:rPr lang="en-US" dirty="0" smtClean="0">
                <a:solidFill>
                  <a:srgbClr val="A50021"/>
                </a:solidFill>
              </a:rPr>
              <a:t>Normalize</a:t>
            </a:r>
            <a:r>
              <a:rPr lang="en-US" dirty="0" smtClean="0"/>
              <a:t> the table (i.e., decompose it)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467544" y="4221088"/>
          <a:ext cx="453650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5292080" y="4249688"/>
          <a:ext cx="338437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34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Effects of Normalization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36912"/>
            <a:ext cx="8229600" cy="349401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Duplication?</a:t>
            </a:r>
            <a:endParaRPr lang="en-SG" dirty="0" smtClean="0"/>
          </a:p>
          <a:p>
            <a:pPr lvl="1"/>
            <a:r>
              <a:rPr lang="en-US" dirty="0" smtClean="0"/>
              <a:t>No. (Alice’s address is no longer duplicated.)</a:t>
            </a:r>
            <a:endParaRPr lang="en-US" dirty="0"/>
          </a:p>
          <a:p>
            <a:r>
              <a:rPr lang="en-US" dirty="0" smtClean="0"/>
              <a:t>Update anomalies?</a:t>
            </a:r>
          </a:p>
          <a:p>
            <a:pPr lvl="1"/>
            <a:r>
              <a:rPr lang="en-US" dirty="0" smtClean="0"/>
              <a:t>No. (There is only one place where we can update the address of Alice)</a:t>
            </a:r>
          </a:p>
          <a:p>
            <a:r>
              <a:rPr lang="en-US" dirty="0" smtClean="0"/>
              <a:t> Deletion anomalies?</a:t>
            </a:r>
          </a:p>
          <a:p>
            <a:pPr lvl="1"/>
            <a:r>
              <a:rPr lang="en-US" dirty="0" smtClean="0"/>
              <a:t>No. (We can freely delete Bob’s phone number)</a:t>
            </a:r>
            <a:endParaRPr lang="en-US" dirty="0"/>
          </a:p>
          <a:p>
            <a:r>
              <a:rPr lang="en-US" dirty="0" smtClean="0"/>
              <a:t> Insertion anomalies?</a:t>
            </a:r>
          </a:p>
          <a:p>
            <a:pPr lvl="1"/>
            <a:r>
              <a:rPr lang="en-US" dirty="0" smtClean="0"/>
              <a:t>No. (We can insert an individual with a phone)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67544" y="1124744"/>
          <a:ext cx="453650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5292080" y="1153344"/>
          <a:ext cx="338437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2304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 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90157"/>
          </a:xfrm>
        </p:spPr>
        <p:txBody>
          <a:bodyPr>
            <a:normAutofit/>
          </a:bodyPr>
          <a:lstStyle/>
          <a:p>
            <a:r>
              <a:rPr lang="en-US" dirty="0" smtClean="0"/>
              <a:t>We will discuss</a:t>
            </a:r>
          </a:p>
          <a:p>
            <a:pPr lvl="1"/>
            <a:r>
              <a:rPr lang="en-US" dirty="0" smtClean="0"/>
              <a:t>How to decide whether a table is good</a:t>
            </a:r>
          </a:p>
          <a:p>
            <a:pPr lvl="1"/>
            <a:r>
              <a:rPr lang="en-US" dirty="0" smtClean="0"/>
              <a:t>If a table is not good, </a:t>
            </a:r>
            <a:r>
              <a:rPr lang="en-US" dirty="0"/>
              <a:t>h</a:t>
            </a:r>
            <a:r>
              <a:rPr lang="en-US" dirty="0" smtClean="0"/>
              <a:t>ow to normalize it</a:t>
            </a:r>
          </a:p>
          <a:p>
            <a:r>
              <a:rPr lang="en-US" dirty="0" smtClean="0"/>
              <a:t>The plan</a:t>
            </a:r>
          </a:p>
          <a:p>
            <a:pPr lvl="1"/>
            <a:r>
              <a:rPr lang="en-US" dirty="0" smtClean="0"/>
              <a:t>First, basic concepts (i.e., </a:t>
            </a:r>
            <a:r>
              <a:rPr lang="en-US" dirty="0" smtClean="0">
                <a:solidFill>
                  <a:srgbClr val="C00000"/>
                </a:solidFill>
              </a:rPr>
              <a:t>functional dependencies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Second, reasoning with </a:t>
            </a:r>
            <a:r>
              <a:rPr lang="en-US" dirty="0"/>
              <a:t>functional dependencies</a:t>
            </a:r>
            <a:endParaRPr lang="en-US" dirty="0" smtClean="0"/>
          </a:p>
          <a:p>
            <a:pPr lvl="1"/>
            <a:r>
              <a:rPr lang="en-US" dirty="0" smtClean="0"/>
              <a:t>Finally, the real meat (e.g., normalization)</a:t>
            </a:r>
          </a:p>
          <a:p>
            <a:r>
              <a:rPr lang="en-US" dirty="0"/>
              <a:t>Warning: The following lectures will be the most difficult ones in the whole course</a:t>
            </a:r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637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Functional Dependencies: Intuition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3133973"/>
          </a:xfrm>
        </p:spPr>
        <p:txBody>
          <a:bodyPr>
            <a:normAutofit/>
          </a:bodyPr>
          <a:lstStyle/>
          <a:p>
            <a:r>
              <a:rPr lang="en-US" dirty="0" smtClean="0"/>
              <a:t>Why was this table bad?</a:t>
            </a:r>
          </a:p>
          <a:p>
            <a:r>
              <a:rPr lang="en-US" dirty="0" smtClean="0"/>
              <a:t>It has a lot of anomalies</a:t>
            </a:r>
          </a:p>
          <a:p>
            <a:r>
              <a:rPr lang="en-US" dirty="0" smtClean="0"/>
              <a:t>Why does it have those anomalies?</a:t>
            </a:r>
          </a:p>
          <a:p>
            <a:r>
              <a:rPr lang="en-US" dirty="0" smtClean="0"/>
              <a:t>Intuitive answer: It contains a bad combination of attributes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875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Functional Dependencies: Intuition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96952"/>
            <a:ext cx="8229600" cy="3133973"/>
          </a:xfrm>
        </p:spPr>
        <p:txBody>
          <a:bodyPr>
            <a:normAutofit/>
          </a:bodyPr>
          <a:lstStyle/>
          <a:p>
            <a:r>
              <a:rPr lang="en-US" dirty="0" smtClean="0"/>
              <a:t>In general, how do we know whether a combination of attributes is bad?</a:t>
            </a:r>
          </a:p>
          <a:p>
            <a:r>
              <a:rPr lang="en-US" dirty="0" smtClean="0"/>
              <a:t>We need to check the </a:t>
            </a:r>
            <a:r>
              <a:rPr lang="en-US" dirty="0" smtClean="0">
                <a:solidFill>
                  <a:srgbClr val="A50021"/>
                </a:solidFill>
              </a:rPr>
              <a:t>correlations</a:t>
            </a:r>
            <a:r>
              <a:rPr lang="en-US" dirty="0" smtClean="0"/>
              <a:t> among those attributes</a:t>
            </a:r>
          </a:p>
          <a:p>
            <a:r>
              <a:rPr lang="en-US" dirty="0" smtClean="0"/>
              <a:t>What kind of correlations?</a:t>
            </a:r>
          </a:p>
          <a:p>
            <a:r>
              <a:rPr lang="en-US" dirty="0" smtClean="0">
                <a:solidFill>
                  <a:srgbClr val="A50021"/>
                </a:solidFill>
              </a:rPr>
              <a:t>Functional dependencies (FD)</a:t>
            </a: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52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</a:t>
            </a:r>
            <a:r>
              <a:rPr lang="en-US" dirty="0" smtClean="0"/>
              <a:t>Dependencies (FD)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Consider two attributes in practice: NRIC, Name</a:t>
            </a:r>
          </a:p>
          <a:p>
            <a:r>
              <a:rPr lang="en-US" dirty="0" smtClean="0"/>
              <a:t>Given an NRIC, can we always uniquely identify the name of the person?</a:t>
            </a:r>
          </a:p>
          <a:p>
            <a:r>
              <a:rPr lang="en-US" dirty="0" smtClean="0"/>
              <a:t>Theoretically yes -- We just need help from ICA</a:t>
            </a:r>
          </a:p>
          <a:p>
            <a:r>
              <a:rPr lang="en-US" dirty="0" smtClean="0"/>
              <a:t>Given a Name, can we always uniquely identify the NRIC of the person</a:t>
            </a:r>
          </a:p>
          <a:p>
            <a:r>
              <a:rPr lang="en-US" dirty="0" smtClean="0"/>
              <a:t>In general no -- Different people can have the same name</a:t>
            </a:r>
          </a:p>
          <a:p>
            <a:r>
              <a:rPr lang="en-US" dirty="0" smtClean="0"/>
              <a:t>Therefore</a:t>
            </a:r>
          </a:p>
          <a:p>
            <a:pPr lvl="1"/>
            <a:r>
              <a:rPr lang="en-US" dirty="0" smtClean="0"/>
              <a:t>NRIC decides Name, but not vice versa</a:t>
            </a:r>
          </a:p>
          <a:p>
            <a:pPr lvl="1"/>
            <a:r>
              <a:rPr lang="en-US" dirty="0" smtClean="0"/>
              <a:t>Functional dependencies: </a:t>
            </a:r>
            <a:br>
              <a:rPr lang="en-US" dirty="0" smtClean="0"/>
            </a:br>
            <a:r>
              <a:rPr lang="en-US" dirty="0" smtClean="0"/>
              <a:t>NRIC </a:t>
            </a:r>
            <a:r>
              <a:rPr lang="en-US" dirty="0" smtClean="0">
                <a:sym typeface="Wingdings" pitchFamily="2" charset="2"/>
              </a:rPr>
              <a:t> Name, but not </a:t>
            </a:r>
            <a:r>
              <a:rPr lang="en-US" dirty="0" smtClean="0"/>
              <a:t>Name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NRIC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5759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</a:t>
            </a:r>
            <a:r>
              <a:rPr lang="en-US" dirty="0" smtClean="0"/>
              <a:t>Dependencies (FD)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Consider three attributes in practice:</a:t>
            </a:r>
          </a:p>
          <a:p>
            <a:pPr lvl="1"/>
            <a:r>
              <a:rPr lang="en-US" dirty="0" err="1" smtClean="0"/>
              <a:t>StudentID</a:t>
            </a:r>
            <a:r>
              <a:rPr lang="en-US" dirty="0" smtClean="0"/>
              <a:t>, Name, Address, </a:t>
            </a:r>
            <a:r>
              <a:rPr lang="en-US" dirty="0" err="1" smtClean="0"/>
              <a:t>PostalCode</a:t>
            </a:r>
            <a:endParaRPr lang="en-US" dirty="0" smtClean="0"/>
          </a:p>
          <a:p>
            <a:r>
              <a:rPr lang="en-US" dirty="0" smtClean="0"/>
              <a:t>Functional Dependencies:</a:t>
            </a:r>
            <a:endParaRPr lang="en-US" dirty="0"/>
          </a:p>
          <a:p>
            <a:pPr lvl="1"/>
            <a:r>
              <a:rPr lang="en-US" dirty="0" err="1" smtClean="0"/>
              <a:t>StudentID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</a:t>
            </a:r>
            <a:r>
              <a:rPr lang="en-US" dirty="0"/>
              <a:t>Name, Address, </a:t>
            </a:r>
            <a:r>
              <a:rPr lang="en-US" dirty="0" err="1"/>
              <a:t>PostalCode</a:t>
            </a:r>
            <a:endParaRPr lang="en-US" dirty="0"/>
          </a:p>
          <a:p>
            <a:pPr lvl="1"/>
            <a:r>
              <a:rPr lang="en-US" dirty="0" smtClean="0"/>
              <a:t>Address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PostalCode</a:t>
            </a:r>
            <a:endParaRPr lang="en-US" dirty="0" smtClean="0">
              <a:sym typeface="Wingdings" pitchFamily="2" charset="2"/>
            </a:endParaRPr>
          </a:p>
          <a:p>
            <a:pPr lvl="1"/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381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Formal Definition of FD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Attributes 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 …, A</a:t>
            </a:r>
            <a:r>
              <a:rPr lang="en-US" baseline="-25000" dirty="0" smtClean="0"/>
              <a:t>m</a:t>
            </a:r>
            <a:r>
              <a:rPr lang="en-US" dirty="0" smtClean="0"/>
              <a:t>, B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n</a:t>
            </a:r>
            <a:endParaRPr lang="en-US" baseline="-25000" dirty="0" smtClean="0"/>
          </a:p>
          <a:p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…A</a:t>
            </a:r>
            <a:r>
              <a:rPr lang="en-US" baseline="-25000" dirty="0" smtClean="0"/>
              <a:t>m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B</a:t>
            </a:r>
            <a:r>
              <a:rPr lang="en-US" baseline="-25000" dirty="0" smtClean="0"/>
              <a:t>1</a:t>
            </a:r>
            <a:r>
              <a:rPr lang="en-US" dirty="0" smtClean="0"/>
              <a:t>B</a:t>
            </a:r>
            <a:r>
              <a:rPr lang="en-US" baseline="-25000" dirty="0" smtClean="0"/>
              <a:t>2</a:t>
            </a:r>
            <a:r>
              <a:rPr lang="en-US" dirty="0" smtClean="0"/>
              <a:t>…</a:t>
            </a:r>
            <a:r>
              <a:rPr lang="en-US" dirty="0" err="1" smtClean="0"/>
              <a:t>B</a:t>
            </a:r>
            <a:r>
              <a:rPr lang="en-US" baseline="-25000" dirty="0" err="1" smtClean="0"/>
              <a:t>n</a:t>
            </a:r>
            <a:endParaRPr lang="en-US" baseline="-25000" dirty="0" smtClean="0"/>
          </a:p>
          <a:p>
            <a:r>
              <a:rPr lang="en-US" dirty="0" smtClean="0"/>
              <a:t>Intuitive meaning</a:t>
            </a:r>
            <a:r>
              <a:rPr lang="en-US" dirty="0"/>
              <a:t>: </a:t>
            </a: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…A</a:t>
            </a:r>
            <a:r>
              <a:rPr lang="en-US" baseline="-25000" dirty="0" smtClean="0"/>
              <a:t>m </a:t>
            </a:r>
            <a:r>
              <a:rPr lang="en-US" dirty="0" smtClean="0">
                <a:solidFill>
                  <a:srgbClr val="C00000"/>
                </a:solidFill>
              </a:rPr>
              <a:t>decides</a:t>
            </a:r>
            <a:r>
              <a:rPr lang="en-US" dirty="0" smtClean="0"/>
              <a:t> </a:t>
            </a:r>
            <a:r>
              <a:rPr lang="en-US" dirty="0"/>
              <a:t>B</a:t>
            </a:r>
            <a:r>
              <a:rPr lang="en-US" baseline="-25000" dirty="0"/>
              <a:t>1</a:t>
            </a:r>
            <a:r>
              <a:rPr lang="en-US" dirty="0"/>
              <a:t>B</a:t>
            </a:r>
            <a:r>
              <a:rPr lang="en-US" baseline="-25000" dirty="0"/>
              <a:t>2</a:t>
            </a:r>
            <a:r>
              <a:rPr lang="en-US" dirty="0"/>
              <a:t>…</a:t>
            </a:r>
            <a:r>
              <a:rPr lang="en-US" dirty="0" err="1"/>
              <a:t>B</a:t>
            </a:r>
            <a:r>
              <a:rPr lang="en-US" baseline="-25000" dirty="0" err="1"/>
              <a:t>n</a:t>
            </a:r>
            <a:endParaRPr lang="en-US" dirty="0" smtClean="0"/>
          </a:p>
          <a:p>
            <a:r>
              <a:rPr lang="en-US" dirty="0" smtClean="0"/>
              <a:t>Formal meaning: There do not exist two objects that</a:t>
            </a:r>
          </a:p>
          <a:p>
            <a:pPr lvl="1"/>
            <a:r>
              <a:rPr lang="en-US" dirty="0" smtClean="0"/>
              <a:t>Have the same values on 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 …, A</a:t>
            </a:r>
            <a:r>
              <a:rPr lang="en-US" baseline="-25000" dirty="0" smtClean="0"/>
              <a:t>m</a:t>
            </a:r>
          </a:p>
          <a:p>
            <a:pPr lvl="1"/>
            <a:r>
              <a:rPr lang="en-US" dirty="0" smtClean="0"/>
              <a:t>but different values on B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, </a:t>
            </a:r>
            <a:r>
              <a:rPr lang="en-US" dirty="0"/>
              <a:t>… 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n</a:t>
            </a:r>
            <a:endParaRPr lang="en-US" baseline="-25000" dirty="0" smtClean="0"/>
          </a:p>
          <a:p>
            <a:r>
              <a:rPr lang="en-US" dirty="0" smtClean="0"/>
              <a:t>Example: NRIC </a:t>
            </a:r>
            <a:r>
              <a:rPr lang="en-US" dirty="0" smtClean="0">
                <a:sym typeface="Wingdings" pitchFamily="2" charset="2"/>
              </a:rPr>
              <a:t> Name</a:t>
            </a:r>
          </a:p>
          <a:p>
            <a:r>
              <a:rPr lang="en-US" dirty="0" smtClean="0">
                <a:sym typeface="Wingdings" pitchFamily="2" charset="2"/>
              </a:rPr>
              <a:t>Meaning: There do not exist two persons that</a:t>
            </a:r>
          </a:p>
          <a:p>
            <a:pPr lvl="1"/>
            <a:r>
              <a:rPr lang="en-US" dirty="0">
                <a:sym typeface="Wingdings" pitchFamily="2" charset="2"/>
              </a:rPr>
              <a:t>h</a:t>
            </a:r>
            <a:r>
              <a:rPr lang="en-US" dirty="0" smtClean="0">
                <a:sym typeface="Wingdings" pitchFamily="2" charset="2"/>
              </a:rPr>
              <a:t>ave the same values on NRIC</a:t>
            </a:r>
          </a:p>
          <a:p>
            <a:pPr lvl="1"/>
            <a:r>
              <a:rPr lang="en-US" dirty="0">
                <a:sym typeface="Wingdings" pitchFamily="2" charset="2"/>
              </a:rPr>
              <a:t>b</a:t>
            </a:r>
            <a:r>
              <a:rPr lang="en-US" dirty="0" smtClean="0">
                <a:sym typeface="Wingdings" pitchFamily="2" charset="2"/>
              </a:rPr>
              <a:t>ut different values on Name</a:t>
            </a:r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54186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 smtClean="0"/>
              <a:t>four </a:t>
            </a:r>
            <a:r>
              <a:rPr lang="en-US" dirty="0"/>
              <a:t>attributes </a:t>
            </a:r>
            <a:r>
              <a:rPr lang="en-US" dirty="0" smtClean="0"/>
              <a:t>for NTU students:</a:t>
            </a:r>
            <a:endParaRPr lang="en-US" dirty="0"/>
          </a:p>
          <a:p>
            <a:pPr lvl="1"/>
            <a:r>
              <a:rPr lang="en-US" dirty="0" err="1"/>
              <a:t>StudentID</a:t>
            </a:r>
            <a:r>
              <a:rPr lang="en-US" dirty="0"/>
              <a:t>, Name, </a:t>
            </a:r>
            <a:r>
              <a:rPr lang="en-US" dirty="0" smtClean="0"/>
              <a:t>School, College</a:t>
            </a:r>
            <a:endParaRPr lang="en-US" dirty="0"/>
          </a:p>
          <a:p>
            <a:r>
              <a:rPr lang="en-US" dirty="0"/>
              <a:t>Functional Dependencies:</a:t>
            </a:r>
          </a:p>
          <a:p>
            <a:pPr lvl="1"/>
            <a:r>
              <a:rPr lang="en-US" dirty="0" err="1"/>
              <a:t>StudentID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/>
              <a:t> Name, School, College</a:t>
            </a:r>
          </a:p>
          <a:p>
            <a:pPr lvl="1"/>
            <a:r>
              <a:rPr lang="en-US" dirty="0" smtClean="0"/>
              <a:t>School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College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808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0848"/>
            <a:ext cx="8229600" cy="4070077"/>
          </a:xfrm>
        </p:spPr>
        <p:txBody>
          <a:bodyPr/>
          <a:lstStyle/>
          <a:p>
            <a:r>
              <a:rPr lang="en-US" dirty="0" smtClean="0"/>
              <a:t>Find the functional dependencies are definitely not true on the above table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Category  Department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Category, Color  Price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Price  Color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Name  Color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Department, Category  Name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Color, Department  Name, Price, Category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395536" y="260648"/>
          <a:ext cx="8208912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Category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Color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Department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Price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Gizmo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Gadget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Green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Toys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49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Tweaker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Gadget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Black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latin typeface="Calibri" pitchFamily="34" charset="0"/>
                        </a:rPr>
                        <a:t>Toys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smtClean="0">
                          <a:latin typeface="Calibri" pitchFamily="34" charset="0"/>
                        </a:rPr>
                        <a:t>99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Gizmo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Stationary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Green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Office Supplies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59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065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FDs Come From?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r>
              <a:rPr lang="en-US" dirty="0" smtClean="0"/>
              <a:t>From common sense</a:t>
            </a:r>
          </a:p>
          <a:p>
            <a:r>
              <a:rPr lang="en-US" dirty="0" smtClean="0"/>
              <a:t>From the application’s requirements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Purchase( </a:t>
            </a: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Price, Date )</a:t>
            </a:r>
          </a:p>
          <a:p>
            <a:pPr lvl="1"/>
            <a:r>
              <a:rPr lang="en-US" dirty="0" smtClean="0"/>
              <a:t>Requirement: Each shop can sell at most one product</a:t>
            </a:r>
          </a:p>
          <a:p>
            <a:pPr lvl="1"/>
            <a:r>
              <a:rPr lang="en-US" dirty="0" smtClean="0"/>
              <a:t>FD implied: </a:t>
            </a:r>
            <a:r>
              <a:rPr lang="en-US" dirty="0" err="1" smtClean="0">
                <a:sym typeface="Wingdings" pitchFamily="2" charset="2"/>
              </a:rPr>
              <a:t>ShopID</a:t>
            </a:r>
            <a:r>
              <a:rPr lang="en-US" dirty="0" smtClean="0">
                <a:sym typeface="Wingdings" pitchFamily="2" charset="2"/>
              </a:rPr>
              <a:t>  </a:t>
            </a:r>
            <a:r>
              <a:rPr lang="en-US" dirty="0" err="1"/>
              <a:t>ProductID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8749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FDs Come From?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Purchase( </a:t>
            </a: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Price, Date )</a:t>
            </a:r>
          </a:p>
          <a:p>
            <a:pPr lvl="1"/>
            <a:r>
              <a:rPr lang="en-US" dirty="0" smtClean="0"/>
              <a:t>Requirement: No two customers buy the same product</a:t>
            </a:r>
          </a:p>
          <a:p>
            <a:pPr lvl="1"/>
            <a:r>
              <a:rPr lang="en-US" dirty="0" smtClean="0"/>
              <a:t>FD implied: </a:t>
            </a:r>
            <a:r>
              <a:rPr lang="en-US" dirty="0" err="1" smtClean="0"/>
              <a:t>ProductID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CustomerID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198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FDs Come From?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Purchase( </a:t>
            </a: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Price, Date )</a:t>
            </a:r>
          </a:p>
          <a:p>
            <a:pPr lvl="1"/>
            <a:r>
              <a:rPr lang="en-US" dirty="0" smtClean="0"/>
              <a:t>Requirement: No two shops sell the same product</a:t>
            </a:r>
          </a:p>
          <a:p>
            <a:pPr lvl="1"/>
            <a:r>
              <a:rPr lang="en-US" dirty="0" smtClean="0"/>
              <a:t>FD implied: </a:t>
            </a:r>
            <a:r>
              <a:rPr lang="en-US" dirty="0" err="1" smtClean="0"/>
              <a:t>ProductID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ShopID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6919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FDs Come From?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Purchase( </a:t>
            </a: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Price, Date )</a:t>
            </a:r>
          </a:p>
          <a:p>
            <a:pPr lvl="1"/>
            <a:r>
              <a:rPr lang="en-US" dirty="0" smtClean="0"/>
              <a:t>Requirement: No two shops sell the same product on the same date</a:t>
            </a:r>
          </a:p>
          <a:p>
            <a:pPr lvl="1"/>
            <a:r>
              <a:rPr lang="en-US" dirty="0" smtClean="0"/>
              <a:t>FD implied: </a:t>
            </a:r>
            <a:r>
              <a:rPr lang="en-US" dirty="0" err="1" smtClean="0"/>
              <a:t>ProductID</a:t>
            </a:r>
            <a:r>
              <a:rPr lang="en-US" dirty="0" smtClean="0"/>
              <a:t>, Date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>
                <a:sym typeface="Wingdings" pitchFamily="2" charset="2"/>
              </a:rPr>
              <a:t>ShopID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3836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Do FDs Come From?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/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Purchase( </a:t>
            </a: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Price, Date )</a:t>
            </a:r>
          </a:p>
          <a:p>
            <a:pPr lvl="1"/>
            <a:r>
              <a:rPr lang="en-US" dirty="0" smtClean="0"/>
              <a:t>Requirement: No shop will sell the same product to the same customer on the same date at two different prices</a:t>
            </a:r>
          </a:p>
          <a:p>
            <a:pPr lvl="1"/>
            <a:r>
              <a:rPr lang="en-US" dirty="0" smtClean="0"/>
              <a:t>FD implied: </a:t>
            </a:r>
            <a:br>
              <a:rPr lang="en-US" dirty="0" smtClean="0"/>
            </a:br>
            <a:r>
              <a:rPr lang="en-US" dirty="0" err="1" smtClean="0"/>
              <a:t>CustomerID</a:t>
            </a:r>
            <a:r>
              <a:rPr lang="en-US" dirty="0" smtClean="0"/>
              <a:t>, </a:t>
            </a:r>
            <a:r>
              <a:rPr lang="en-US" dirty="0" err="1" smtClean="0"/>
              <a:t>ProductID</a:t>
            </a:r>
            <a:r>
              <a:rPr lang="en-US" dirty="0" smtClean="0"/>
              <a:t>, </a:t>
            </a:r>
            <a:r>
              <a:rPr lang="en-US" dirty="0" err="1" smtClean="0"/>
              <a:t>ShopID</a:t>
            </a:r>
            <a:r>
              <a:rPr lang="en-US" dirty="0" smtClean="0"/>
              <a:t>, Date </a:t>
            </a:r>
            <a:r>
              <a:rPr lang="en-US" dirty="0" smtClean="0">
                <a:sym typeface="Wingdings" pitchFamily="2" charset="2"/>
              </a:rPr>
              <a:t> Price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2834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4864"/>
            <a:ext cx="8435280" cy="3888432"/>
          </a:xfrm>
        </p:spPr>
        <p:txBody>
          <a:bodyPr>
            <a:normAutofit/>
          </a:bodyPr>
          <a:lstStyle/>
          <a:p>
            <a:r>
              <a:rPr lang="en-US" dirty="0" smtClean="0"/>
              <a:t>We have the following FD on this table:</a:t>
            </a:r>
          </a:p>
          <a:p>
            <a:pPr marL="0" indent="0">
              <a:buNone/>
            </a:pPr>
            <a:r>
              <a:rPr lang="en-US" dirty="0" smtClean="0"/>
              <a:t>	NRIC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/>
              <a:t>{Name, </a:t>
            </a:r>
            <a:r>
              <a:rPr lang="en-US" dirty="0" err="1"/>
              <a:t>HomeAddress</a:t>
            </a:r>
            <a:r>
              <a:rPr lang="en-US" dirty="0" smtClean="0"/>
              <a:t>}</a:t>
            </a:r>
          </a:p>
          <a:p>
            <a:r>
              <a:rPr lang="en-US" dirty="0" smtClean="0"/>
              <a:t>This FD makes </a:t>
            </a:r>
            <a:r>
              <a:rPr lang="en-US" dirty="0"/>
              <a:t>{Name, </a:t>
            </a:r>
            <a:r>
              <a:rPr lang="en-US" dirty="0" err="1"/>
              <a:t>HomeAddress</a:t>
            </a:r>
            <a:r>
              <a:rPr lang="en-US" dirty="0" smtClean="0"/>
              <a:t>} unsuitable to be put in the table</a:t>
            </a:r>
          </a:p>
          <a:p>
            <a:r>
              <a:rPr lang="en-US" dirty="0">
                <a:solidFill>
                  <a:srgbClr val="0000CC"/>
                </a:solidFill>
              </a:rPr>
              <a:t>In general, checking </a:t>
            </a:r>
            <a:r>
              <a:rPr lang="en-US" dirty="0" smtClean="0">
                <a:solidFill>
                  <a:srgbClr val="0000CC"/>
                </a:solidFill>
              </a:rPr>
              <a:t>whether a table is good or not </a:t>
            </a:r>
            <a:r>
              <a:rPr lang="en-US" dirty="0">
                <a:solidFill>
                  <a:srgbClr val="0000CC"/>
                </a:solidFill>
              </a:rPr>
              <a:t>is all about checking whether there exist some “bad” </a:t>
            </a:r>
            <a:r>
              <a:rPr lang="en-US" dirty="0" smtClean="0">
                <a:solidFill>
                  <a:srgbClr val="0000CC"/>
                </a:solidFill>
              </a:rPr>
              <a:t>FDs on the table</a:t>
            </a:r>
            <a:endParaRPr lang="en-US" dirty="0">
              <a:solidFill>
                <a:srgbClr val="0000CC"/>
              </a:solidFill>
            </a:endParaRPr>
          </a:p>
          <a:p>
            <a:endParaRPr lang="en-SG" dirty="0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9314170"/>
              </p:ext>
            </p:extLst>
          </p:nvPr>
        </p:nvGraphicFramePr>
        <p:xfrm>
          <a:off x="457200" y="281960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9963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Motivation for FD Reasoning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In general, checking normal forms is all about checking whether there exist some “bad” functional dependencies (FD)</a:t>
            </a:r>
          </a:p>
          <a:p>
            <a:r>
              <a:rPr lang="en-US" dirty="0" smtClean="0"/>
              <a:t>Basic idea: check </a:t>
            </a:r>
            <a:r>
              <a:rPr lang="en-US" dirty="0" smtClean="0">
                <a:solidFill>
                  <a:srgbClr val="C00000"/>
                </a:solidFill>
              </a:rPr>
              <a:t>each</a:t>
            </a:r>
            <a:r>
              <a:rPr lang="en-US" dirty="0" smtClean="0"/>
              <a:t> FD to see if it is “bad”</a:t>
            </a:r>
          </a:p>
          <a:p>
            <a:r>
              <a:rPr lang="en-US" dirty="0" smtClean="0"/>
              <a:t>This is non-trivial as there might be some hidden FDs</a:t>
            </a:r>
            <a:endParaRPr lang="en-SG" dirty="0" smtClean="0"/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a table with four attributes A, B, C, D</a:t>
            </a:r>
          </a:p>
          <a:p>
            <a:pPr lvl="1"/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C, ACD, ADB</a:t>
            </a:r>
          </a:p>
          <a:p>
            <a:pPr lvl="1"/>
            <a:r>
              <a:rPr lang="en-US" dirty="0" smtClean="0"/>
              <a:t>A hidden FD: A</a:t>
            </a:r>
            <a:r>
              <a:rPr lang="en-US" dirty="0" smtClean="0">
                <a:sym typeface="Wingdings" pitchFamily="2" charset="2"/>
              </a:rPr>
              <a:t>B</a:t>
            </a:r>
            <a:endParaRPr lang="en-US" dirty="0" smtClean="0"/>
          </a:p>
          <a:p>
            <a:r>
              <a:rPr lang="en-US" dirty="0" smtClean="0"/>
              <a:t>How can we derive all FDs?</a:t>
            </a:r>
          </a:p>
          <a:p>
            <a:r>
              <a:rPr lang="en-US" dirty="0" smtClean="0"/>
              <a:t>We need some tool to help</a:t>
            </a:r>
          </a:p>
        </p:txBody>
      </p:sp>
    </p:spTree>
    <p:extLst>
      <p:ext uri="{BB962C8B-B14F-4D97-AF65-F5344CB8AC3E}">
        <p14:creationId xmlns:p14="http://schemas.microsoft.com/office/powerpoint/2010/main" val="919413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Armstrong’s Axioms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axioms </a:t>
            </a:r>
            <a:r>
              <a:rPr lang="en-US" smtClean="0"/>
              <a:t>that establish </a:t>
            </a:r>
            <a:r>
              <a:rPr lang="en-US" dirty="0" smtClean="0"/>
              <a:t>the reasoning with FDs</a:t>
            </a:r>
          </a:p>
          <a:p>
            <a:pPr lvl="1"/>
            <a:r>
              <a:rPr lang="en-US" dirty="0" smtClean="0"/>
              <a:t>Axiom of reflexivity</a:t>
            </a:r>
          </a:p>
          <a:p>
            <a:pPr lvl="1"/>
            <a:r>
              <a:rPr lang="en-US" dirty="0"/>
              <a:t>Axiom of </a:t>
            </a:r>
            <a:r>
              <a:rPr lang="en-US" dirty="0" smtClean="0"/>
              <a:t>augmentation</a:t>
            </a:r>
          </a:p>
          <a:p>
            <a:pPr lvl="1"/>
            <a:r>
              <a:rPr lang="en-US" dirty="0" smtClean="0"/>
              <a:t>Axiom of transitivity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23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Armstrong’s Axioms</a:t>
            </a:r>
            <a:r>
              <a:rPr lang="en-US" dirty="0">
                <a:sym typeface="Wingdings" pitchFamily="2" charset="2"/>
              </a:rPr>
              <a:t/>
            </a:r>
            <a:br>
              <a:rPr lang="en-US" dirty="0">
                <a:sym typeface="Wingdings" pitchFamily="2" charset="2"/>
              </a:rPr>
            </a:b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Axiom </a:t>
            </a:r>
            <a:r>
              <a:rPr lang="en-US" smtClean="0"/>
              <a:t>of Reflexivity</a:t>
            </a:r>
            <a:endParaRPr lang="en-US" dirty="0" smtClean="0"/>
          </a:p>
          <a:p>
            <a:pPr lvl="1"/>
            <a:r>
              <a:rPr lang="en-US" dirty="0" smtClean="0"/>
              <a:t>A set of attributes </a:t>
            </a:r>
            <a:r>
              <a:rPr lang="en-US" dirty="0" smtClean="0">
                <a:sym typeface="Wingdings" pitchFamily="2" charset="2"/>
              </a:rPr>
              <a:t> A subset of the attributes</a:t>
            </a:r>
            <a:endParaRPr lang="en-US" dirty="0">
              <a:sym typeface="Wingdings" pitchFamily="2" charset="2"/>
            </a:endParaRPr>
          </a:p>
          <a:p>
            <a:r>
              <a:rPr lang="en-US" dirty="0" smtClean="0"/>
              <a:t>Example</a:t>
            </a:r>
            <a:endParaRPr lang="en-US" dirty="0"/>
          </a:p>
          <a:p>
            <a:pPr lvl="1"/>
            <a:r>
              <a:rPr lang="en-US" dirty="0" smtClean="0"/>
              <a:t>NRIC, Name </a:t>
            </a:r>
            <a:r>
              <a:rPr lang="en-US" dirty="0" smtClean="0">
                <a:sym typeface="Wingdings" pitchFamily="2" charset="2"/>
              </a:rPr>
              <a:t> NRIC</a:t>
            </a:r>
          </a:p>
          <a:p>
            <a:pPr lvl="1"/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, Name, Age  Name, Age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ABCD  ABC</a:t>
            </a:r>
          </a:p>
          <a:p>
            <a:pPr lvl="1"/>
            <a:r>
              <a:rPr lang="en-US" dirty="0">
                <a:sym typeface="Wingdings" pitchFamily="2" charset="2"/>
              </a:rPr>
              <a:t>ABCD  </a:t>
            </a:r>
            <a:r>
              <a:rPr lang="en-US" dirty="0" smtClean="0">
                <a:sym typeface="Wingdings" pitchFamily="2" charset="2"/>
              </a:rPr>
              <a:t>BCD</a:t>
            </a:r>
          </a:p>
          <a:p>
            <a:pPr lvl="1"/>
            <a:r>
              <a:rPr lang="en-US" dirty="0">
                <a:sym typeface="Wingdings" pitchFamily="2" charset="2"/>
              </a:rPr>
              <a:t>ABCD  </a:t>
            </a:r>
            <a:r>
              <a:rPr lang="en-US" dirty="0" smtClean="0">
                <a:sym typeface="Wingdings" pitchFamily="2" charset="2"/>
              </a:rPr>
              <a:t>AD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621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Armstrong’s Axioms</a:t>
            </a:r>
            <a:r>
              <a:rPr lang="en-US" dirty="0">
                <a:sym typeface="Wingdings" pitchFamily="2" charset="2"/>
              </a:rPr>
              <a:t/>
            </a:r>
            <a:br>
              <a:rPr lang="en-US" dirty="0">
                <a:sym typeface="Wingdings" pitchFamily="2" charset="2"/>
              </a:rPr>
            </a:b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Axiom of Augmentation</a:t>
            </a:r>
          </a:p>
          <a:p>
            <a:pPr lvl="1"/>
            <a:r>
              <a:rPr lang="en-US" dirty="0" smtClean="0"/>
              <a:t>Given A </a:t>
            </a:r>
            <a:r>
              <a:rPr lang="en-US" dirty="0" smtClean="0">
                <a:sym typeface="Wingdings" pitchFamily="2" charset="2"/>
              </a:rPr>
              <a:t> B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We always have AC  BC, for any C</a:t>
            </a:r>
            <a:endParaRPr lang="en-US" dirty="0">
              <a:sym typeface="Wingdings" pitchFamily="2" charset="2"/>
            </a:endParaRPr>
          </a:p>
          <a:p>
            <a:r>
              <a:rPr lang="en-US" dirty="0" smtClean="0"/>
              <a:t>Example</a:t>
            </a:r>
            <a:endParaRPr lang="en-US" dirty="0"/>
          </a:p>
          <a:p>
            <a:pPr lvl="1"/>
            <a:r>
              <a:rPr lang="en-US" dirty="0" smtClean="0"/>
              <a:t>If NRIC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/>
              <a:t>Name 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Then NRIC, Age  Name, Age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and NRIC, Salary, Weight  Name, Salary, Weight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and NRIC, </a:t>
            </a:r>
            <a:r>
              <a:rPr lang="en-US" dirty="0" err="1" smtClean="0">
                <a:sym typeface="Wingdings" pitchFamily="2" charset="2"/>
              </a:rPr>
              <a:t>Addr</a:t>
            </a:r>
            <a:r>
              <a:rPr lang="en-US" dirty="0" smtClean="0">
                <a:sym typeface="Wingdings" pitchFamily="2" charset="2"/>
              </a:rPr>
              <a:t>, Postal  Name, </a:t>
            </a:r>
            <a:r>
              <a:rPr lang="en-US" dirty="0" err="1" smtClean="0">
                <a:sym typeface="Wingdings" pitchFamily="2" charset="2"/>
              </a:rPr>
              <a:t>Addr</a:t>
            </a:r>
            <a:r>
              <a:rPr lang="en-US" dirty="0" smtClean="0">
                <a:sym typeface="Wingdings" pitchFamily="2" charset="2"/>
              </a:rPr>
              <a:t>, Postal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6593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Armstrong’s Axioms</a:t>
            </a:r>
            <a:r>
              <a:rPr lang="en-US" dirty="0">
                <a:sym typeface="Wingdings" pitchFamily="2" charset="2"/>
              </a:rPr>
              <a:t/>
            </a:r>
            <a:br>
              <a:rPr lang="en-US" dirty="0">
                <a:sym typeface="Wingdings" pitchFamily="2" charset="2"/>
              </a:rPr>
            </a:b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Axiom of Transitivity</a:t>
            </a:r>
          </a:p>
          <a:p>
            <a:pPr lvl="1"/>
            <a:r>
              <a:rPr lang="en-US" dirty="0" smtClean="0"/>
              <a:t>Given A </a:t>
            </a:r>
            <a:r>
              <a:rPr lang="en-US" dirty="0" smtClean="0">
                <a:sym typeface="Wingdings" pitchFamily="2" charset="2"/>
              </a:rPr>
              <a:t> B and B  C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We always have A  C</a:t>
            </a:r>
            <a:endParaRPr lang="en-US" dirty="0">
              <a:sym typeface="Wingdings" pitchFamily="2" charset="2"/>
            </a:endParaRPr>
          </a:p>
          <a:p>
            <a:r>
              <a:rPr lang="en-US" dirty="0" smtClean="0"/>
              <a:t>Example</a:t>
            </a:r>
            <a:endParaRPr lang="en-US" dirty="0"/>
          </a:p>
          <a:p>
            <a:pPr lvl="1"/>
            <a:r>
              <a:rPr lang="en-US" dirty="0" smtClean="0"/>
              <a:t>If NRIC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err="1" smtClean="0"/>
              <a:t>Addr</a:t>
            </a:r>
            <a:r>
              <a:rPr lang="en-US" dirty="0" smtClean="0"/>
              <a:t>, and </a:t>
            </a:r>
            <a:r>
              <a:rPr lang="en-US" dirty="0" err="1" smtClean="0"/>
              <a:t>Addr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 Postal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Then NRIC  Postal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>
              <a:sym typeface="Wingdings" pitchFamily="2" charset="2"/>
            </a:endParaRPr>
          </a:p>
          <a:p>
            <a:pPr lvl="1"/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996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with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A</a:t>
            </a:r>
            <a:r>
              <a:rPr lang="en-US" dirty="0" smtClean="0">
                <a:sym typeface="Wingdings" pitchFamily="2" charset="2"/>
              </a:rPr>
              <a:t>B, BCD</a:t>
            </a:r>
          </a:p>
          <a:p>
            <a:r>
              <a:rPr lang="en-US" dirty="0" smtClean="0">
                <a:sym typeface="Wingdings" pitchFamily="2" charset="2"/>
              </a:rPr>
              <a:t>Can you prove that AC  D?</a:t>
            </a:r>
          </a:p>
          <a:p>
            <a:r>
              <a:rPr lang="en-US" dirty="0" smtClean="0"/>
              <a:t>Proof</a:t>
            </a:r>
          </a:p>
          <a:p>
            <a:pPr lvl="1"/>
            <a:r>
              <a:rPr lang="en-US" dirty="0" smtClean="0"/>
              <a:t>Given A</a:t>
            </a:r>
            <a:r>
              <a:rPr lang="en-US" dirty="0" smtClean="0">
                <a:sym typeface="Wingdings" pitchFamily="2" charset="2"/>
              </a:rPr>
              <a:t>B, we have AC  BC	(Augmentation)</a:t>
            </a:r>
          </a:p>
          <a:p>
            <a:pPr lvl="1"/>
            <a:r>
              <a:rPr lang="en-US" dirty="0"/>
              <a:t>Given </a:t>
            </a:r>
            <a:r>
              <a:rPr lang="en-US" dirty="0" smtClean="0"/>
              <a:t>AC</a:t>
            </a:r>
            <a:r>
              <a:rPr lang="en-US" dirty="0" smtClean="0">
                <a:sym typeface="Wingdings" pitchFamily="2" charset="2"/>
              </a:rPr>
              <a:t>BC and BC  D, we </a:t>
            </a:r>
            <a:r>
              <a:rPr lang="en-US" dirty="0">
                <a:sym typeface="Wingdings" pitchFamily="2" charset="2"/>
              </a:rPr>
              <a:t>have </a:t>
            </a:r>
            <a:r>
              <a:rPr lang="en-US" dirty="0" smtClean="0">
                <a:sym typeface="Wingdings" pitchFamily="2" charset="2"/>
              </a:rPr>
              <a:t>AC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D (Transitivity)</a:t>
            </a:r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1949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with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 A</a:t>
            </a:r>
            <a:r>
              <a:rPr lang="en-US" dirty="0" smtClean="0">
                <a:sym typeface="Wingdings" pitchFamily="2" charset="2"/>
              </a:rPr>
              <a:t>B, DC</a:t>
            </a:r>
          </a:p>
          <a:p>
            <a:r>
              <a:rPr lang="en-US" dirty="0" smtClean="0">
                <a:sym typeface="Wingdings" pitchFamily="2" charset="2"/>
              </a:rPr>
              <a:t>Can you prove that AD  BC?</a:t>
            </a:r>
          </a:p>
          <a:p>
            <a:r>
              <a:rPr lang="en-US" dirty="0" smtClean="0"/>
              <a:t>Proof</a:t>
            </a:r>
          </a:p>
          <a:p>
            <a:pPr lvl="1"/>
            <a:r>
              <a:rPr lang="en-US" dirty="0" smtClean="0"/>
              <a:t>Given A</a:t>
            </a:r>
            <a:r>
              <a:rPr lang="en-US" dirty="0" smtClean="0">
                <a:sym typeface="Wingdings" pitchFamily="2" charset="2"/>
              </a:rPr>
              <a:t>B, we have AD  BD	(Augmentation)</a:t>
            </a:r>
          </a:p>
          <a:p>
            <a:pPr lvl="1"/>
            <a:r>
              <a:rPr lang="en-US" dirty="0"/>
              <a:t>Given </a:t>
            </a:r>
            <a:r>
              <a:rPr lang="en-US" dirty="0" smtClean="0"/>
              <a:t>AD</a:t>
            </a:r>
            <a:r>
              <a:rPr lang="en-US" dirty="0" smtClean="0">
                <a:sym typeface="Wingdings" pitchFamily="2" charset="2"/>
              </a:rPr>
              <a:t>BD, </a:t>
            </a:r>
            <a:r>
              <a:rPr lang="en-US" dirty="0">
                <a:sym typeface="Wingdings" pitchFamily="2" charset="2"/>
              </a:rPr>
              <a:t>we have AD  </a:t>
            </a:r>
            <a:r>
              <a:rPr lang="en-US" dirty="0" smtClean="0">
                <a:sym typeface="Wingdings" pitchFamily="2" charset="2"/>
              </a:rPr>
              <a:t>B</a:t>
            </a: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(Reflexivity)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Given DC, we have AD  AC	(</a:t>
            </a:r>
            <a:r>
              <a:rPr lang="en-US" dirty="0">
                <a:sym typeface="Wingdings" pitchFamily="2" charset="2"/>
              </a:rPr>
              <a:t>Augmentation)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Given </a:t>
            </a:r>
            <a:r>
              <a:rPr lang="en-US" dirty="0">
                <a:sym typeface="Wingdings" pitchFamily="2" charset="2"/>
              </a:rPr>
              <a:t>AD  </a:t>
            </a:r>
            <a:r>
              <a:rPr lang="en-US" dirty="0" smtClean="0">
                <a:sym typeface="Wingdings" pitchFamily="2" charset="2"/>
              </a:rPr>
              <a:t>AC, we have AD  C </a:t>
            </a:r>
            <a:r>
              <a:rPr lang="en-US" dirty="0">
                <a:sym typeface="Wingdings" pitchFamily="2" charset="2"/>
              </a:rPr>
              <a:t>(Reflexivity) 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In other words, AD decides B and C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Therefore, AD  BC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3129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Reasoning with FDs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3200" dirty="0" smtClean="0"/>
              <a:t>Given A</a:t>
            </a:r>
            <a:r>
              <a:rPr lang="en-US" sz="3200" dirty="0">
                <a:sym typeface="Wingdings" pitchFamily="2" charset="2"/>
              </a:rPr>
              <a:t>C, ACD, AD</a:t>
            </a:r>
            <a:r>
              <a:rPr lang="en-US" sz="3200" dirty="0" smtClean="0">
                <a:sym typeface="Wingdings" pitchFamily="2" charset="2"/>
              </a:rPr>
              <a:t>B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Can you prove that A  B?</a:t>
            </a:r>
          </a:p>
          <a:p>
            <a:r>
              <a:rPr lang="en-US" dirty="0" smtClean="0"/>
              <a:t>Proof</a:t>
            </a:r>
          </a:p>
          <a:p>
            <a:pPr lvl="1"/>
            <a:r>
              <a:rPr lang="en-US" dirty="0" smtClean="0"/>
              <a:t>Given A </a:t>
            </a:r>
            <a:r>
              <a:rPr lang="en-US" dirty="0" smtClean="0">
                <a:sym typeface="Wingdings" pitchFamily="2" charset="2"/>
              </a:rPr>
              <a:t> C, we have A  AC	(Augmentation)</a:t>
            </a:r>
          </a:p>
          <a:p>
            <a:pPr lvl="1"/>
            <a:r>
              <a:rPr lang="en-US" dirty="0"/>
              <a:t>Given </a:t>
            </a:r>
            <a:r>
              <a:rPr lang="en-US" dirty="0" smtClean="0"/>
              <a:t>A </a:t>
            </a:r>
            <a:r>
              <a:rPr lang="en-US" dirty="0" smtClean="0">
                <a:sym typeface="Wingdings" pitchFamily="2" charset="2"/>
              </a:rPr>
              <a:t> AC and AC  D, </a:t>
            </a:r>
            <a:r>
              <a:rPr lang="en-US" dirty="0">
                <a:sym typeface="Wingdings" pitchFamily="2" charset="2"/>
              </a:rPr>
              <a:t>we have </a:t>
            </a:r>
            <a:r>
              <a:rPr lang="en-US" dirty="0" smtClean="0">
                <a:sym typeface="Wingdings" pitchFamily="2" charset="2"/>
              </a:rPr>
              <a:t>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D</a:t>
            </a:r>
            <a:r>
              <a:rPr lang="en-US" dirty="0">
                <a:sym typeface="Wingdings" pitchFamily="2" charset="2"/>
              </a:rPr>
              <a:t>	</a:t>
            </a:r>
            <a:r>
              <a:rPr lang="en-US" dirty="0" smtClean="0">
                <a:sym typeface="Wingdings" pitchFamily="2" charset="2"/>
              </a:rPr>
              <a:t>(Transitivity)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Given A  D, we have A  AD	(</a:t>
            </a:r>
            <a:r>
              <a:rPr lang="en-US" dirty="0">
                <a:sym typeface="Wingdings" pitchFamily="2" charset="2"/>
              </a:rPr>
              <a:t>Augmentation)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Given A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smtClean="0">
                <a:sym typeface="Wingdings" pitchFamily="2" charset="2"/>
              </a:rPr>
              <a:t>AD and AD  B, we have A  B (Transitivity) </a:t>
            </a:r>
          </a:p>
        </p:txBody>
      </p:sp>
    </p:spTree>
    <p:extLst>
      <p:ext uri="{BB962C8B-B14F-4D97-AF65-F5344CB8AC3E}">
        <p14:creationId xmlns:p14="http://schemas.microsoft.com/office/powerpoint/2010/main" val="400826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Reasoning with FD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attributes: A, B, C, D</a:t>
            </a:r>
          </a:p>
          <a:p>
            <a:r>
              <a:rPr lang="en-US" dirty="0"/>
              <a:t>Given: </a:t>
            </a:r>
            <a:r>
              <a:rPr lang="en-US" dirty="0">
                <a:sym typeface="Wingdings" pitchFamily="2" charset="2"/>
              </a:rPr>
              <a:t>BD, DBA, </a:t>
            </a:r>
            <a:r>
              <a:rPr lang="en-US" dirty="0"/>
              <a:t>AD</a:t>
            </a:r>
            <a:r>
              <a:rPr lang="en-US" dirty="0">
                <a:sym typeface="Wingdings" pitchFamily="2" charset="2"/>
              </a:rPr>
              <a:t>C</a:t>
            </a:r>
          </a:p>
          <a:p>
            <a:r>
              <a:rPr lang="en-US" dirty="0">
                <a:sym typeface="Wingdings" pitchFamily="2" charset="2"/>
              </a:rPr>
              <a:t>Can you prove BC?</a:t>
            </a:r>
          </a:p>
          <a:p>
            <a:r>
              <a:rPr lang="en-US" dirty="0" smtClean="0"/>
              <a:t>Doable with Armstrong’s axioms, but troublesome</a:t>
            </a:r>
          </a:p>
          <a:p>
            <a:r>
              <a:rPr lang="en-US" dirty="0" smtClean="0"/>
              <a:t>We will discuss a more convenient approach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813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Intuitive Solution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13681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Four attributes: A, B, C, D</a:t>
            </a:r>
          </a:p>
          <a:p>
            <a:r>
              <a:rPr lang="en-US" dirty="0" smtClean="0"/>
              <a:t>Given: </a:t>
            </a:r>
            <a:r>
              <a:rPr lang="en-US" dirty="0" smtClean="0">
                <a:sym typeface="Wingdings" pitchFamily="2" charset="2"/>
              </a:rPr>
              <a:t>BD, DBA, </a:t>
            </a:r>
            <a:r>
              <a:rPr lang="en-US" dirty="0" smtClean="0"/>
              <a:t>AD</a:t>
            </a:r>
            <a:r>
              <a:rPr lang="en-US" dirty="0" smtClean="0">
                <a:sym typeface="Wingdings" pitchFamily="2" charset="2"/>
              </a:rPr>
              <a:t>C</a:t>
            </a:r>
          </a:p>
          <a:p>
            <a:r>
              <a:rPr lang="en-US" dirty="0" smtClean="0">
                <a:sym typeface="Wingdings" pitchFamily="2" charset="2"/>
              </a:rPr>
              <a:t>Can you prove BC?</a:t>
            </a: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23528" y="2780928"/>
            <a:ext cx="8352928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2195736" y="5513457"/>
            <a:ext cx="38504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latin typeface="Calibri" panose="020F0502020204030204" pitchFamily="34" charset="0"/>
              </a:rPr>
              <a:t>A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87624" y="3360767"/>
            <a:ext cx="38504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B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75196" y="4433337"/>
            <a:ext cx="3690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C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94876" y="3356992"/>
            <a:ext cx="39786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D</a:t>
            </a:r>
            <a:endParaRPr lang="en-SG" sz="2700" dirty="0">
              <a:latin typeface="Calibri" panose="020F0502020204030204" pitchFamily="34" charset="0"/>
            </a:endParaRPr>
          </a:p>
        </p:txBody>
      </p:sp>
      <p:cxnSp>
        <p:nvCxnSpPr>
          <p:cNvPr id="10" name="Straight Arrow Connector 9"/>
          <p:cNvCxnSpPr>
            <a:stCxn id="6" idx="3"/>
            <a:endCxn id="8" idx="1"/>
          </p:cNvCxnSpPr>
          <p:nvPr/>
        </p:nvCxnSpPr>
        <p:spPr bwMode="auto">
          <a:xfrm flipV="1">
            <a:off x="1572666" y="3610908"/>
            <a:ext cx="1622210" cy="377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1" name="Oval 10"/>
          <p:cNvSpPr/>
          <p:nvPr/>
        </p:nvSpPr>
        <p:spPr bwMode="auto">
          <a:xfrm>
            <a:off x="4211960" y="4365104"/>
            <a:ext cx="576064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7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</a:rPr>
              <a:t>AND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2095739" y="4365104"/>
            <a:ext cx="576064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7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</a:rPr>
              <a:t>AND</a:t>
            </a:r>
          </a:p>
        </p:txBody>
      </p:sp>
      <p:cxnSp>
        <p:nvCxnSpPr>
          <p:cNvPr id="13" name="Straight Arrow Connector 12"/>
          <p:cNvCxnSpPr>
            <a:stCxn id="6" idx="2"/>
            <a:endCxn id="12" idx="1"/>
          </p:cNvCxnSpPr>
          <p:nvPr/>
        </p:nvCxnSpPr>
        <p:spPr bwMode="auto">
          <a:xfrm>
            <a:off x="1380145" y="3868598"/>
            <a:ext cx="799957" cy="58086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6" name="Straight Arrow Connector 15"/>
          <p:cNvCxnSpPr>
            <a:stCxn id="8" idx="2"/>
            <a:endCxn id="12" idx="7"/>
          </p:cNvCxnSpPr>
          <p:nvPr/>
        </p:nvCxnSpPr>
        <p:spPr bwMode="auto">
          <a:xfrm flipH="1">
            <a:off x="2587440" y="3864823"/>
            <a:ext cx="806369" cy="584644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9" name="Straight Arrow Connector 18"/>
          <p:cNvCxnSpPr>
            <a:stCxn id="12" idx="4"/>
            <a:endCxn id="4" idx="0"/>
          </p:cNvCxnSpPr>
          <p:nvPr/>
        </p:nvCxnSpPr>
        <p:spPr bwMode="auto">
          <a:xfrm>
            <a:off x="2383771" y="4941168"/>
            <a:ext cx="4486" cy="572289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/>
          <p:cNvCxnSpPr>
            <a:stCxn id="8" idx="3"/>
            <a:endCxn id="11" idx="0"/>
          </p:cNvCxnSpPr>
          <p:nvPr/>
        </p:nvCxnSpPr>
        <p:spPr bwMode="auto">
          <a:xfrm>
            <a:off x="3592742" y="3610908"/>
            <a:ext cx="907250" cy="754196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6" name="Straight Arrow Connector 25"/>
          <p:cNvCxnSpPr>
            <a:stCxn id="4" idx="3"/>
            <a:endCxn id="11" idx="3"/>
          </p:cNvCxnSpPr>
          <p:nvPr/>
        </p:nvCxnSpPr>
        <p:spPr bwMode="auto">
          <a:xfrm flipV="1">
            <a:off x="2580778" y="4856805"/>
            <a:ext cx="1715545" cy="910568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9" name="Straight Arrow Connector 28"/>
          <p:cNvCxnSpPr>
            <a:stCxn id="11" idx="6"/>
            <a:endCxn id="7" idx="1"/>
          </p:cNvCxnSpPr>
          <p:nvPr/>
        </p:nvCxnSpPr>
        <p:spPr bwMode="auto">
          <a:xfrm>
            <a:off x="4788024" y="4653136"/>
            <a:ext cx="1287172" cy="34117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64716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of the Intuitive Solution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136815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Four attributes: A, B, C, D</a:t>
            </a:r>
          </a:p>
          <a:p>
            <a:r>
              <a:rPr lang="en-US" dirty="0" smtClean="0"/>
              <a:t>Given: </a:t>
            </a:r>
            <a:r>
              <a:rPr lang="en-US" dirty="0" smtClean="0">
                <a:sym typeface="Wingdings" pitchFamily="2" charset="2"/>
              </a:rPr>
              <a:t>BD, DBA, </a:t>
            </a:r>
            <a:r>
              <a:rPr lang="en-US" dirty="0" smtClean="0"/>
              <a:t>AD</a:t>
            </a:r>
            <a:r>
              <a:rPr lang="en-US" dirty="0" smtClean="0">
                <a:sym typeface="Wingdings" pitchFamily="2" charset="2"/>
              </a:rPr>
              <a:t>C</a:t>
            </a:r>
          </a:p>
          <a:p>
            <a:r>
              <a:rPr lang="en-US" dirty="0" smtClean="0">
                <a:sym typeface="Wingdings" pitchFamily="2" charset="2"/>
              </a:rPr>
              <a:t>Can you prove BC?</a:t>
            </a: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323528" y="2780928"/>
            <a:ext cx="8352928" cy="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rgbClr val="0000FF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6795276" y="2204864"/>
            <a:ext cx="38504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>
                <a:latin typeface="Calibri" panose="020F0502020204030204" pitchFamily="34" charset="0"/>
              </a:rPr>
              <a:t>A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83108" y="980728"/>
            <a:ext cx="38504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B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35436" y="1528305"/>
            <a:ext cx="3690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C</a:t>
            </a:r>
            <a:endParaRPr lang="en-SG" sz="2700" dirty="0">
              <a:latin typeface="Calibri" panose="020F050202020403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35236" y="980727"/>
            <a:ext cx="39786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700" dirty="0" smtClean="0">
                <a:latin typeface="Calibri" panose="020F0502020204030204" pitchFamily="34" charset="0"/>
              </a:rPr>
              <a:t>D</a:t>
            </a:r>
            <a:endParaRPr lang="en-SG" sz="2700" dirty="0">
              <a:latin typeface="Calibri" panose="020F0502020204030204" pitchFamily="34" charset="0"/>
            </a:endParaRPr>
          </a:p>
        </p:txBody>
      </p:sp>
      <p:cxnSp>
        <p:nvCxnSpPr>
          <p:cNvPr id="10" name="Straight Arrow Connector 9"/>
          <p:cNvCxnSpPr>
            <a:stCxn id="6" idx="3"/>
            <a:endCxn id="8" idx="1"/>
          </p:cNvCxnSpPr>
          <p:nvPr/>
        </p:nvCxnSpPr>
        <p:spPr bwMode="auto">
          <a:xfrm flipV="1">
            <a:off x="5668150" y="1234643"/>
            <a:ext cx="767086" cy="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1" name="Oval 10"/>
          <p:cNvSpPr/>
          <p:nvPr/>
        </p:nvSpPr>
        <p:spPr bwMode="auto">
          <a:xfrm>
            <a:off x="7299332" y="1484784"/>
            <a:ext cx="576064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7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</a:rPr>
              <a:t>AND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5787164" y="1772816"/>
            <a:ext cx="576064" cy="576064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7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itchFamily="2" charset="-122"/>
              </a:rPr>
              <a:t>AND</a:t>
            </a:r>
          </a:p>
        </p:txBody>
      </p:sp>
      <p:cxnSp>
        <p:nvCxnSpPr>
          <p:cNvPr id="13" name="Straight Arrow Connector 12"/>
          <p:cNvCxnSpPr>
            <a:stCxn id="6" idx="2"/>
            <a:endCxn id="12" idx="1"/>
          </p:cNvCxnSpPr>
          <p:nvPr/>
        </p:nvCxnSpPr>
        <p:spPr bwMode="auto">
          <a:xfrm>
            <a:off x="5475629" y="1488559"/>
            <a:ext cx="395898" cy="36862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6" name="Straight Arrow Connector 15"/>
          <p:cNvCxnSpPr>
            <a:stCxn id="8" idx="2"/>
            <a:endCxn id="12" idx="7"/>
          </p:cNvCxnSpPr>
          <p:nvPr/>
        </p:nvCxnSpPr>
        <p:spPr bwMode="auto">
          <a:xfrm flipH="1">
            <a:off x="6278865" y="1488558"/>
            <a:ext cx="355304" cy="36862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9" name="Straight Arrow Connector 18"/>
          <p:cNvCxnSpPr>
            <a:stCxn id="12" idx="4"/>
            <a:endCxn id="4" idx="1"/>
          </p:cNvCxnSpPr>
          <p:nvPr/>
        </p:nvCxnSpPr>
        <p:spPr bwMode="auto">
          <a:xfrm>
            <a:off x="6075196" y="2348880"/>
            <a:ext cx="720080" cy="10990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3" name="Straight Arrow Connector 22"/>
          <p:cNvCxnSpPr>
            <a:stCxn id="8" idx="3"/>
            <a:endCxn id="11" idx="1"/>
          </p:cNvCxnSpPr>
          <p:nvPr/>
        </p:nvCxnSpPr>
        <p:spPr bwMode="auto">
          <a:xfrm>
            <a:off x="6833102" y="1234643"/>
            <a:ext cx="550593" cy="334504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6" name="Straight Arrow Connector 25"/>
          <p:cNvCxnSpPr>
            <a:stCxn id="4" idx="3"/>
            <a:endCxn id="11" idx="3"/>
          </p:cNvCxnSpPr>
          <p:nvPr/>
        </p:nvCxnSpPr>
        <p:spPr bwMode="auto">
          <a:xfrm flipV="1">
            <a:off x="7180318" y="1976485"/>
            <a:ext cx="203377" cy="48229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9" name="Straight Arrow Connector 28"/>
          <p:cNvCxnSpPr>
            <a:stCxn id="11" idx="6"/>
            <a:endCxn id="7" idx="1"/>
          </p:cNvCxnSpPr>
          <p:nvPr/>
        </p:nvCxnSpPr>
        <p:spPr bwMode="auto">
          <a:xfrm>
            <a:off x="7875396" y="1772816"/>
            <a:ext cx="360040" cy="9405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43" name="Content Placeholder 2"/>
          <p:cNvSpPr txBox="1">
            <a:spLocks/>
          </p:cNvSpPr>
          <p:nvPr/>
        </p:nvSpPr>
        <p:spPr bwMode="auto">
          <a:xfrm>
            <a:off x="457200" y="2924944"/>
            <a:ext cx="8229600" cy="320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Calibri" pitchFamily="34" charset="0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Calibri" pitchFamily="34" charset="0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First, activate B </a:t>
            </a:r>
          </a:p>
          <a:p>
            <a:pPr lvl="1"/>
            <a:r>
              <a:rPr lang="en-US" kern="0" dirty="0" smtClean="0"/>
              <a:t>Activated set = </a:t>
            </a:r>
            <a:r>
              <a:rPr lang="en-US" kern="0" dirty="0" smtClean="0">
                <a:sym typeface="Wingdings" pitchFamily="2" charset="2"/>
              </a:rPr>
              <a:t>{ </a:t>
            </a:r>
            <a:r>
              <a:rPr lang="en-US" kern="0" dirty="0" smtClean="0"/>
              <a:t>B </a:t>
            </a:r>
            <a:r>
              <a:rPr lang="en-US" kern="0" dirty="0" smtClean="0">
                <a:sym typeface="Wingdings" pitchFamily="2" charset="2"/>
              </a:rPr>
              <a:t>}</a:t>
            </a:r>
          </a:p>
          <a:p>
            <a:r>
              <a:rPr lang="en-US" kern="0" dirty="0" smtClean="0"/>
              <a:t>Second, activate whatever B can activate</a:t>
            </a:r>
          </a:p>
          <a:p>
            <a:pPr lvl="1"/>
            <a:r>
              <a:rPr lang="en-US" kern="0" dirty="0" smtClean="0">
                <a:sym typeface="Wingdings" pitchFamily="2" charset="2"/>
              </a:rPr>
              <a:t>Activated set = { B, D }, since BD</a:t>
            </a:r>
          </a:p>
          <a:p>
            <a:r>
              <a:rPr lang="en-US" kern="0" dirty="0" smtClean="0"/>
              <a:t>Third, use all activated elements to activate more</a:t>
            </a:r>
          </a:p>
          <a:p>
            <a:pPr lvl="1"/>
            <a:r>
              <a:rPr lang="en-US" kern="0" dirty="0">
                <a:sym typeface="Wingdings" pitchFamily="2" charset="2"/>
              </a:rPr>
              <a:t>Activated set = { B, </a:t>
            </a:r>
            <a:r>
              <a:rPr lang="en-US" kern="0" dirty="0" smtClean="0">
                <a:sym typeface="Wingdings" pitchFamily="2" charset="2"/>
              </a:rPr>
              <a:t>D, A }, since DBA</a:t>
            </a:r>
          </a:p>
          <a:p>
            <a:r>
              <a:rPr lang="en-US" kern="0" dirty="0" smtClean="0"/>
              <a:t>Repeat the third step, until no more activation is possible</a:t>
            </a:r>
          </a:p>
          <a:p>
            <a:pPr lvl="1"/>
            <a:r>
              <a:rPr lang="en-US" kern="0" dirty="0" smtClean="0">
                <a:sym typeface="Wingdings" pitchFamily="2" charset="2"/>
              </a:rPr>
              <a:t>Activated set = { B, D, A, C }, since ADC; done</a:t>
            </a:r>
          </a:p>
        </p:txBody>
      </p:sp>
    </p:spTree>
    <p:extLst>
      <p:ext uri="{BB962C8B-B14F-4D97-AF65-F5344CB8AC3E}">
        <p14:creationId xmlns:p14="http://schemas.microsoft.com/office/powerpoint/2010/main" val="143168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Given: A</a:t>
            </a:r>
            <a:r>
              <a:rPr lang="en-US" dirty="0" smtClean="0">
                <a:sym typeface="Wingdings" pitchFamily="2" charset="2"/>
              </a:rPr>
              <a:t>C, CB, BD, DE, EA</a:t>
            </a:r>
          </a:p>
          <a:p>
            <a:r>
              <a:rPr lang="en-US" dirty="0" smtClean="0">
                <a:sym typeface="Wingdings" pitchFamily="2" charset="2"/>
              </a:rPr>
              <a:t>Can you prove CABE?</a:t>
            </a:r>
          </a:p>
          <a:p>
            <a:r>
              <a:rPr lang="en-US" dirty="0" smtClean="0">
                <a:sym typeface="Wingdings" pitchFamily="2" charset="2"/>
              </a:rPr>
              <a:t>We start with {C}</a:t>
            </a:r>
          </a:p>
          <a:p>
            <a:r>
              <a:rPr lang="en-US" dirty="0" smtClean="0">
                <a:sym typeface="Wingdings" pitchFamily="2" charset="2"/>
              </a:rPr>
              <a:t>Since CB, we have {C, B}</a:t>
            </a:r>
          </a:p>
          <a:p>
            <a:r>
              <a:rPr lang="en-US" dirty="0" smtClean="0">
                <a:sym typeface="Wingdings" pitchFamily="2" charset="2"/>
              </a:rPr>
              <a:t>Since BD, we have {C, B, D}</a:t>
            </a:r>
          </a:p>
          <a:p>
            <a:r>
              <a:rPr lang="en-US" dirty="0" smtClean="0">
                <a:sym typeface="Wingdings" pitchFamily="2" charset="2"/>
              </a:rPr>
              <a:t>Since DE, we have {C, B, D, E}</a:t>
            </a:r>
          </a:p>
          <a:p>
            <a:r>
              <a:rPr lang="en-US" dirty="0" smtClean="0">
                <a:sym typeface="Wingdings" pitchFamily="2" charset="2"/>
              </a:rPr>
              <a:t>Since EA, we have {C, B, D, E, A}</a:t>
            </a:r>
          </a:p>
          <a:p>
            <a:r>
              <a:rPr lang="en-US" dirty="0" smtClean="0">
                <a:sym typeface="Wingdings" pitchFamily="2" charset="2"/>
              </a:rPr>
              <a:t>A, B, E are all in the set, so CABE holds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09211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Given: C</a:t>
            </a:r>
            <a:r>
              <a:rPr lang="en-US" dirty="0" smtClean="0">
                <a:sym typeface="Wingdings" pitchFamily="2" charset="2"/>
              </a:rPr>
              <a:t>D, ADE, BCE, EA, DB</a:t>
            </a:r>
          </a:p>
          <a:p>
            <a:r>
              <a:rPr lang="en-US" dirty="0" smtClean="0">
                <a:sym typeface="Wingdings" pitchFamily="2" charset="2"/>
              </a:rPr>
              <a:t>Can you prove CA?</a:t>
            </a:r>
          </a:p>
          <a:p>
            <a:r>
              <a:rPr lang="en-US" dirty="0" smtClean="0">
                <a:sym typeface="Wingdings" pitchFamily="2" charset="2"/>
              </a:rPr>
              <a:t>We start with {C}</a:t>
            </a:r>
          </a:p>
          <a:p>
            <a:r>
              <a:rPr lang="en-US" dirty="0" smtClean="0">
                <a:sym typeface="Wingdings" pitchFamily="2" charset="2"/>
              </a:rPr>
              <a:t>Since CD, we have {C, D}</a:t>
            </a:r>
          </a:p>
          <a:p>
            <a:r>
              <a:rPr lang="en-US" dirty="0" smtClean="0">
                <a:sym typeface="Wingdings" pitchFamily="2" charset="2"/>
              </a:rPr>
              <a:t>Since DB, we have {C, D, B}</a:t>
            </a:r>
          </a:p>
          <a:p>
            <a:r>
              <a:rPr lang="en-US" dirty="0" smtClean="0">
                <a:sym typeface="Wingdings" pitchFamily="2" charset="2"/>
              </a:rPr>
              <a:t>Since BCE, we have {C, D, B, E}</a:t>
            </a:r>
          </a:p>
          <a:p>
            <a:r>
              <a:rPr lang="en-US" dirty="0" smtClean="0">
                <a:sym typeface="Wingdings" pitchFamily="2" charset="2"/>
              </a:rPr>
              <a:t>Since EA, we have {C, D, B, E, A}</a:t>
            </a:r>
          </a:p>
          <a:p>
            <a:r>
              <a:rPr lang="en-US" dirty="0" smtClean="0">
                <a:sym typeface="Wingdings" pitchFamily="2" charset="2"/>
              </a:rPr>
              <a:t>A is in the set, so CA holds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65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Given: C</a:t>
            </a:r>
            <a:r>
              <a:rPr lang="en-US" dirty="0" smtClean="0">
                <a:sym typeface="Wingdings" pitchFamily="2" charset="2"/>
              </a:rPr>
              <a:t>D, ADE, BCE, EA, DB, BF</a:t>
            </a:r>
          </a:p>
          <a:p>
            <a:r>
              <a:rPr lang="en-US" dirty="0" smtClean="0">
                <a:sym typeface="Wingdings" pitchFamily="2" charset="2"/>
              </a:rPr>
              <a:t>Can you prove DC?</a:t>
            </a:r>
          </a:p>
          <a:p>
            <a:r>
              <a:rPr lang="en-US" dirty="0" smtClean="0">
                <a:sym typeface="Wingdings" pitchFamily="2" charset="2"/>
              </a:rPr>
              <a:t>We start with {D}</a:t>
            </a:r>
          </a:p>
          <a:p>
            <a:r>
              <a:rPr lang="en-US" dirty="0" smtClean="0">
                <a:sym typeface="Wingdings" pitchFamily="2" charset="2"/>
              </a:rPr>
              <a:t>Since DB, we have {D, B}</a:t>
            </a:r>
          </a:p>
          <a:p>
            <a:r>
              <a:rPr lang="en-US" dirty="0">
                <a:sym typeface="Wingdings" pitchFamily="2" charset="2"/>
              </a:rPr>
              <a:t>Since </a:t>
            </a:r>
            <a:r>
              <a:rPr lang="en-US" dirty="0" smtClean="0">
                <a:sym typeface="Wingdings" pitchFamily="2" charset="2"/>
              </a:rPr>
              <a:t>BF, </a:t>
            </a:r>
            <a:r>
              <a:rPr lang="en-US" dirty="0">
                <a:sym typeface="Wingdings" pitchFamily="2" charset="2"/>
              </a:rPr>
              <a:t>we have {D, </a:t>
            </a:r>
            <a:r>
              <a:rPr lang="en-US" dirty="0" smtClean="0">
                <a:sym typeface="Wingdings" pitchFamily="2" charset="2"/>
              </a:rPr>
              <a:t>B, F}</a:t>
            </a:r>
          </a:p>
          <a:p>
            <a:r>
              <a:rPr lang="en-US" dirty="0" smtClean="0">
                <a:sym typeface="Wingdings" pitchFamily="2" charset="2"/>
              </a:rPr>
              <a:t>What else? </a:t>
            </a:r>
          </a:p>
          <a:p>
            <a:r>
              <a:rPr lang="en-US" dirty="0" smtClean="0">
                <a:sym typeface="Wingdings" pitchFamily="2" charset="2"/>
              </a:rPr>
              <a:t>No more.</a:t>
            </a:r>
          </a:p>
          <a:p>
            <a:r>
              <a:rPr lang="en-US" dirty="0" smtClean="0">
                <a:sym typeface="Wingdings" pitchFamily="2" charset="2"/>
              </a:rPr>
              <a:t>{D, B, F} is all what can be decided by D</a:t>
            </a:r>
          </a:p>
          <a:p>
            <a:r>
              <a:rPr lang="en-US" dirty="0" smtClean="0"/>
              <a:t>We refer to {D, B, F} as the </a:t>
            </a:r>
            <a:r>
              <a:rPr lang="en-US" dirty="0" smtClean="0">
                <a:solidFill>
                  <a:srgbClr val="A50021"/>
                </a:solidFill>
              </a:rPr>
              <a:t>closure</a:t>
            </a:r>
            <a:r>
              <a:rPr lang="en-US" dirty="0" smtClean="0"/>
              <a:t> of 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97892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>
            <a:normAutofit/>
          </a:bodyPr>
          <a:lstStyle/>
          <a:p>
            <a:r>
              <a:rPr lang="en-US"/>
              <a:t>Let </a:t>
            </a:r>
            <a:r>
              <a:rPr lang="en-US" smtClean="0"/>
              <a:t>S = {A</a:t>
            </a:r>
            <a:r>
              <a:rPr lang="en-US" baseline="-25000" smtClean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} be a set of attributes</a:t>
            </a:r>
          </a:p>
          <a:p>
            <a:r>
              <a:rPr lang="en-US" dirty="0"/>
              <a:t>The closure of S is the set of attributes that can be decided by 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endParaRPr lang="en-US" dirty="0"/>
          </a:p>
          <a:p>
            <a:r>
              <a:rPr lang="en-US" dirty="0"/>
              <a:t>Notation: {A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/>
              <a:t>}</a:t>
            </a:r>
            <a:r>
              <a:rPr lang="en-US" sz="4800" baseline="30000" dirty="0">
                <a:solidFill>
                  <a:srgbClr val="A50021"/>
                </a:solidFill>
              </a:rPr>
              <a:t>+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Given A</a:t>
            </a:r>
            <a:r>
              <a:rPr lang="en-US" dirty="0" smtClean="0">
                <a:sym typeface="Wingdings" pitchFamily="2" charset="2"/>
              </a:rPr>
              <a:t>B, BC, CD, DE</a:t>
            </a:r>
          </a:p>
          <a:p>
            <a:pPr lvl="1"/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{A, B, C, D, E}</a:t>
            </a:r>
          </a:p>
          <a:p>
            <a:pPr lvl="1"/>
            <a:r>
              <a:rPr lang="en-US" dirty="0" smtClean="0"/>
              <a:t>{B}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{B</a:t>
            </a:r>
            <a:r>
              <a:rPr lang="en-US" dirty="0"/>
              <a:t>, C, D, E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{D}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{D</a:t>
            </a:r>
            <a:r>
              <a:rPr lang="en-US" dirty="0"/>
              <a:t>, E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{E}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{E</a:t>
            </a:r>
            <a:r>
              <a:rPr lang="en-US" dirty="0"/>
              <a:t>}</a:t>
            </a:r>
          </a:p>
          <a:p>
            <a:pPr lvl="1"/>
            <a:endParaRPr lang="en-US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52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Computing Closures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980728"/>
            <a:ext cx="8424936" cy="5328592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Given 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</a:t>
            </a:r>
            <a:r>
              <a:rPr lang="en-US" dirty="0" smtClean="0"/>
              <a:t>A</a:t>
            </a:r>
            <a:r>
              <a:rPr lang="en-US" baseline="-25000" dirty="0" smtClean="0"/>
              <a:t>n</a:t>
            </a:r>
            <a:r>
              <a:rPr lang="en-US" dirty="0"/>
              <a:t> , </a:t>
            </a:r>
            <a:r>
              <a:rPr lang="en-US" dirty="0" smtClean="0"/>
              <a:t>the closure {A</a:t>
            </a:r>
            <a:r>
              <a:rPr lang="en-US" baseline="-25000" dirty="0" smtClean="0"/>
              <a:t>1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…, A</a:t>
            </a:r>
            <a:r>
              <a:rPr lang="en-US" baseline="-25000" dirty="0"/>
              <a:t>n</a:t>
            </a:r>
            <a:r>
              <a:rPr lang="en-US" dirty="0" smtClean="0"/>
              <a:t>}</a:t>
            </a:r>
            <a:r>
              <a:rPr lang="en-US" sz="5000" baseline="30000" dirty="0" smtClean="0"/>
              <a:t>+</a:t>
            </a:r>
            <a:r>
              <a:rPr lang="en-US" dirty="0" smtClean="0"/>
              <a:t> can be computed as follows: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/>
              <a:t>Set the closure to {A</a:t>
            </a:r>
            <a:r>
              <a:rPr lang="en-US" baseline="-25000" dirty="0" smtClean="0"/>
              <a:t>1</a:t>
            </a:r>
            <a:r>
              <a:rPr lang="en-US" dirty="0" smtClean="0"/>
              <a:t>, A</a:t>
            </a:r>
            <a:r>
              <a:rPr lang="en-US" baseline="-25000" dirty="0" smtClean="0"/>
              <a:t>2</a:t>
            </a:r>
            <a:r>
              <a:rPr lang="en-US" dirty="0" smtClean="0"/>
              <a:t>, …, A</a:t>
            </a:r>
            <a:r>
              <a:rPr lang="en-US" baseline="-25000" dirty="0" smtClean="0"/>
              <a:t>n</a:t>
            </a:r>
            <a:r>
              <a:rPr lang="en-US" dirty="0" smtClean="0"/>
              <a:t>}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/>
              <a:t>If B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 are all in the closure, and there is a FD such that B</a:t>
            </a:r>
            <a:r>
              <a:rPr lang="en-US" baseline="-25000" dirty="0" smtClean="0"/>
              <a:t>1</a:t>
            </a:r>
            <a:r>
              <a:rPr lang="en-US" dirty="0" smtClean="0"/>
              <a:t>, B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/>
              <a:t> </a:t>
            </a:r>
            <a:r>
              <a:rPr lang="en-US" dirty="0" smtClean="0">
                <a:sym typeface="Wingdings" pitchFamily="2" charset="2"/>
              </a:rPr>
              <a:t> C,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then put C into the closure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>
                <a:sym typeface="Wingdings" pitchFamily="2" charset="2"/>
              </a:rPr>
              <a:t>Repeat step 2, until we cannot find any new attribute to put into the closure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A Table with five attributes A, B, C, D, E</a:t>
            </a:r>
          </a:p>
          <a:p>
            <a:pPr lvl="1"/>
            <a:r>
              <a:rPr lang="en-US" dirty="0"/>
              <a:t>A </a:t>
            </a:r>
            <a:r>
              <a:rPr lang="en-US" dirty="0">
                <a:sym typeface="Wingdings" pitchFamily="2" charset="2"/>
              </a:rPr>
              <a:t> B, C  D, BC  E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 = {A, B}</a:t>
            </a:r>
          </a:p>
          <a:p>
            <a:pPr lvl="1"/>
            <a:r>
              <a:rPr lang="en-US" dirty="0"/>
              <a:t>{A, C}</a:t>
            </a:r>
            <a:r>
              <a:rPr lang="en-US" sz="4000" baseline="30000" dirty="0"/>
              <a:t>+</a:t>
            </a:r>
            <a:r>
              <a:rPr lang="en-US" dirty="0"/>
              <a:t> = {A, B, C, D, E}</a:t>
            </a:r>
          </a:p>
          <a:p>
            <a:pPr lvl="1"/>
            <a:r>
              <a:rPr lang="en-US" dirty="0"/>
              <a:t>{B}</a:t>
            </a:r>
            <a:r>
              <a:rPr lang="en-US" sz="4000" baseline="30000" dirty="0"/>
              <a:t>+</a:t>
            </a:r>
            <a:r>
              <a:rPr lang="en-US" dirty="0"/>
              <a:t> = {B}</a:t>
            </a:r>
          </a:p>
          <a:p>
            <a:endParaRPr lang="en-US" dirty="0" smtClean="0"/>
          </a:p>
          <a:p>
            <a:pPr marL="858837" lvl="1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5074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Usage of Closure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Four attributes: A, B, C, D</a:t>
            </a:r>
          </a:p>
          <a:p>
            <a:r>
              <a:rPr lang="en-US" dirty="0"/>
              <a:t>Given: </a:t>
            </a:r>
            <a:r>
              <a:rPr lang="en-US" dirty="0">
                <a:sym typeface="Wingdings" pitchFamily="2" charset="2"/>
              </a:rPr>
              <a:t>BD, DBA, </a:t>
            </a:r>
            <a:r>
              <a:rPr lang="en-US" dirty="0"/>
              <a:t>AD</a:t>
            </a:r>
            <a:r>
              <a:rPr lang="en-US" dirty="0">
                <a:sym typeface="Wingdings" pitchFamily="2" charset="2"/>
              </a:rPr>
              <a:t>C</a:t>
            </a:r>
          </a:p>
          <a:p>
            <a:r>
              <a:rPr lang="en-US" dirty="0">
                <a:sym typeface="Wingdings" pitchFamily="2" charset="2"/>
              </a:rPr>
              <a:t>Can you prove BC?</a:t>
            </a:r>
          </a:p>
          <a:p>
            <a:r>
              <a:rPr lang="en-US" dirty="0" smtClean="0"/>
              <a:t>We can do it by deriving the closure of B</a:t>
            </a:r>
          </a:p>
          <a:p>
            <a:r>
              <a:rPr lang="en-US" dirty="0" smtClean="0"/>
              <a:t>First, put B into a set</a:t>
            </a:r>
          </a:p>
          <a:p>
            <a:pPr lvl="1"/>
            <a:r>
              <a:rPr lang="en-US" dirty="0" smtClean="0"/>
              <a:t>{B}</a:t>
            </a:r>
          </a:p>
          <a:p>
            <a:r>
              <a:rPr lang="en-US" dirty="0" smtClean="0"/>
              <a:t>Second, for any attribute decided by B, put it into the set</a:t>
            </a:r>
            <a:endParaRPr lang="en-US" dirty="0"/>
          </a:p>
          <a:p>
            <a:pPr lvl="1"/>
            <a:r>
              <a:rPr lang="en-US" dirty="0" smtClean="0"/>
              <a:t>Since B</a:t>
            </a:r>
            <a:r>
              <a:rPr lang="en-US" dirty="0" smtClean="0">
                <a:sym typeface="Wingdings" pitchFamily="2" charset="2"/>
              </a:rPr>
              <a:t>D, we have </a:t>
            </a:r>
            <a:r>
              <a:rPr lang="en-US" dirty="0" smtClean="0"/>
              <a:t>{B, D}</a:t>
            </a:r>
            <a:endParaRPr lang="en-SG" dirty="0"/>
          </a:p>
          <a:p>
            <a:r>
              <a:rPr lang="en-US" dirty="0" smtClean="0"/>
              <a:t>Third, </a:t>
            </a:r>
            <a:r>
              <a:rPr lang="en-US" dirty="0"/>
              <a:t>for any attribute decided by </a:t>
            </a:r>
            <a:r>
              <a:rPr lang="en-US" dirty="0" smtClean="0"/>
              <a:t>the set, </a:t>
            </a:r>
            <a:r>
              <a:rPr lang="en-US" dirty="0"/>
              <a:t>put it into the set</a:t>
            </a:r>
          </a:p>
          <a:p>
            <a:pPr lvl="1"/>
            <a:r>
              <a:rPr lang="en-US" dirty="0"/>
              <a:t>Since </a:t>
            </a:r>
            <a:r>
              <a:rPr lang="en-US" dirty="0" smtClean="0"/>
              <a:t>DB</a:t>
            </a:r>
            <a:r>
              <a:rPr lang="en-US" dirty="0" smtClean="0">
                <a:sym typeface="Wingdings" pitchFamily="2" charset="2"/>
              </a:rPr>
              <a:t>A, </a:t>
            </a:r>
            <a:r>
              <a:rPr lang="en-US" dirty="0">
                <a:sym typeface="Wingdings" pitchFamily="2" charset="2"/>
              </a:rPr>
              <a:t>we have </a:t>
            </a:r>
            <a:r>
              <a:rPr lang="en-US" dirty="0"/>
              <a:t>{B, </a:t>
            </a:r>
            <a:r>
              <a:rPr lang="en-US" dirty="0" smtClean="0"/>
              <a:t>D, A}</a:t>
            </a:r>
            <a:endParaRPr lang="en-SG" dirty="0"/>
          </a:p>
          <a:p>
            <a:r>
              <a:rPr lang="en-US" dirty="0" smtClean="0"/>
              <a:t>Repeat Step 3</a:t>
            </a:r>
            <a:endParaRPr lang="en-US" dirty="0"/>
          </a:p>
          <a:p>
            <a:pPr lvl="1"/>
            <a:r>
              <a:rPr lang="en-US" dirty="0"/>
              <a:t>Since </a:t>
            </a:r>
            <a:r>
              <a:rPr lang="en-US" dirty="0" smtClean="0"/>
              <a:t>AD</a:t>
            </a:r>
            <a:r>
              <a:rPr lang="en-US" dirty="0" smtClean="0">
                <a:sym typeface="Wingdings" pitchFamily="2" charset="2"/>
              </a:rPr>
              <a:t>C, </a:t>
            </a:r>
            <a:r>
              <a:rPr lang="en-US" dirty="0">
                <a:sym typeface="Wingdings" pitchFamily="2" charset="2"/>
              </a:rPr>
              <a:t>we have </a:t>
            </a:r>
            <a:r>
              <a:rPr lang="en-US" dirty="0"/>
              <a:t>{B, D, </a:t>
            </a:r>
            <a:r>
              <a:rPr lang="en-US" dirty="0" smtClean="0"/>
              <a:t>A, C}</a:t>
            </a:r>
            <a:endParaRPr lang="en-SG" dirty="0"/>
          </a:p>
          <a:p>
            <a:r>
              <a:rPr lang="en-US" dirty="0" smtClean="0"/>
              <a:t>Since C is in the set, we know that B</a:t>
            </a:r>
            <a:r>
              <a:rPr lang="en-US" dirty="0" smtClean="0">
                <a:sym typeface="Wingdings" pitchFamily="2" charset="2"/>
              </a:rPr>
              <a:t>C holds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7999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Given: A</a:t>
            </a:r>
            <a:r>
              <a:rPr lang="en-US" dirty="0" smtClean="0">
                <a:sym typeface="Wingdings" pitchFamily="2" charset="2"/>
              </a:rPr>
              <a:t>C, CB, BD, DE, EA</a:t>
            </a:r>
          </a:p>
          <a:p>
            <a:r>
              <a:rPr lang="en-US" dirty="0" smtClean="0">
                <a:sym typeface="Wingdings" pitchFamily="2" charset="2"/>
              </a:rPr>
              <a:t>Can you prove CABE?</a:t>
            </a:r>
          </a:p>
          <a:p>
            <a:r>
              <a:rPr lang="en-US" dirty="0" smtClean="0">
                <a:sym typeface="Wingdings" pitchFamily="2" charset="2"/>
              </a:rPr>
              <a:t>We start with {C}</a:t>
            </a:r>
          </a:p>
          <a:p>
            <a:r>
              <a:rPr lang="en-US" dirty="0" smtClean="0">
                <a:sym typeface="Wingdings" pitchFamily="2" charset="2"/>
              </a:rPr>
              <a:t>Since CB, we have {C, B}</a:t>
            </a:r>
          </a:p>
          <a:p>
            <a:r>
              <a:rPr lang="en-US" dirty="0" smtClean="0">
                <a:sym typeface="Wingdings" pitchFamily="2" charset="2"/>
              </a:rPr>
              <a:t>Since BD, we have {C, B, D}</a:t>
            </a:r>
          </a:p>
          <a:p>
            <a:r>
              <a:rPr lang="en-US" dirty="0" smtClean="0">
                <a:sym typeface="Wingdings" pitchFamily="2" charset="2"/>
              </a:rPr>
              <a:t>Since DE, we have {C, B, D, E}</a:t>
            </a:r>
          </a:p>
          <a:p>
            <a:r>
              <a:rPr lang="en-US" dirty="0" smtClean="0">
                <a:sym typeface="Wingdings" pitchFamily="2" charset="2"/>
              </a:rPr>
              <a:t>Since EA, we have {C, B, D, E, A}</a:t>
            </a:r>
          </a:p>
          <a:p>
            <a:r>
              <a:rPr lang="en-US" dirty="0" smtClean="0">
                <a:sym typeface="Wingdings" pitchFamily="2" charset="2"/>
              </a:rPr>
              <a:t>A, B, E are all in the set, so CABE holds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848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Given: C</a:t>
            </a:r>
            <a:r>
              <a:rPr lang="en-US" dirty="0" smtClean="0">
                <a:sym typeface="Wingdings" pitchFamily="2" charset="2"/>
              </a:rPr>
              <a:t>D, ADE, BCE, EA, DB</a:t>
            </a:r>
          </a:p>
          <a:p>
            <a:r>
              <a:rPr lang="en-US" dirty="0" smtClean="0">
                <a:sym typeface="Wingdings" pitchFamily="2" charset="2"/>
              </a:rPr>
              <a:t>Can you prove CA?</a:t>
            </a:r>
          </a:p>
          <a:p>
            <a:r>
              <a:rPr lang="en-US" dirty="0" smtClean="0">
                <a:sym typeface="Wingdings" pitchFamily="2" charset="2"/>
              </a:rPr>
              <a:t>We start with {C}</a:t>
            </a:r>
          </a:p>
          <a:p>
            <a:r>
              <a:rPr lang="en-US" dirty="0" smtClean="0">
                <a:sym typeface="Wingdings" pitchFamily="2" charset="2"/>
              </a:rPr>
              <a:t>Since CD, we have {C, D}</a:t>
            </a:r>
          </a:p>
          <a:p>
            <a:r>
              <a:rPr lang="en-US" dirty="0" smtClean="0">
                <a:sym typeface="Wingdings" pitchFamily="2" charset="2"/>
              </a:rPr>
              <a:t>Since DB, we have {C, D, B}</a:t>
            </a:r>
          </a:p>
          <a:p>
            <a:r>
              <a:rPr lang="en-US" dirty="0" smtClean="0">
                <a:sym typeface="Wingdings" pitchFamily="2" charset="2"/>
              </a:rPr>
              <a:t>Since BCE, we have {C, D, B, E}</a:t>
            </a:r>
          </a:p>
          <a:p>
            <a:r>
              <a:rPr lang="en-US" dirty="0" smtClean="0">
                <a:sym typeface="Wingdings" pitchFamily="2" charset="2"/>
              </a:rPr>
              <a:t>Since EA, we have {C, D, B, E, A}</a:t>
            </a:r>
          </a:p>
          <a:p>
            <a:r>
              <a:rPr lang="en-US" dirty="0" smtClean="0">
                <a:sym typeface="Wingdings" pitchFamily="2" charset="2"/>
              </a:rPr>
              <a:t>A is in the set, so CA holds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448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 &amp; FD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prove that X </a:t>
            </a:r>
            <a:r>
              <a:rPr lang="en-US" dirty="0" smtClean="0">
                <a:sym typeface="Wingdings" pitchFamily="2" charset="2"/>
              </a:rPr>
              <a:t> Y holds, we only need to show that {X}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contains Y</a:t>
            </a:r>
          </a:p>
          <a:p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C, ADE, BD, AFB</a:t>
            </a:r>
          </a:p>
          <a:p>
            <a:r>
              <a:rPr lang="en-US" dirty="0" smtClean="0"/>
              <a:t>Prove that AF</a:t>
            </a:r>
            <a:r>
              <a:rPr lang="en-US" dirty="0" smtClean="0">
                <a:sym typeface="Wingdings" pitchFamily="2" charset="2"/>
              </a:rPr>
              <a:t>D</a:t>
            </a:r>
          </a:p>
          <a:p>
            <a:r>
              <a:rPr lang="en-US" dirty="0" smtClean="0">
                <a:sym typeface="Wingdings" pitchFamily="2" charset="2"/>
              </a:rPr>
              <a:t>{AF}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{AFBCDE}, which contains D</a:t>
            </a:r>
          </a:p>
          <a:p>
            <a:r>
              <a:rPr lang="en-US" dirty="0" smtClean="0">
                <a:sym typeface="Wingdings" pitchFamily="2" charset="2"/>
              </a:rPr>
              <a:t>Therefore, AFD holds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62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 &amp; FD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prove that X </a:t>
            </a:r>
            <a:r>
              <a:rPr lang="en-US" dirty="0" smtClean="0">
                <a:sym typeface="Wingdings" pitchFamily="2" charset="2"/>
              </a:rPr>
              <a:t> Y </a:t>
            </a:r>
            <a:r>
              <a:rPr lang="en-US" dirty="0" smtClean="0">
                <a:solidFill>
                  <a:srgbClr val="A50021"/>
                </a:solidFill>
                <a:sym typeface="Wingdings" pitchFamily="2" charset="2"/>
              </a:rPr>
              <a:t>does not</a:t>
            </a:r>
            <a:r>
              <a:rPr lang="en-US" dirty="0" smtClean="0">
                <a:sym typeface="Wingdings" pitchFamily="2" charset="2"/>
              </a:rPr>
              <a:t> hold, we only need to show that {X}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olidFill>
                  <a:srgbClr val="A50021"/>
                </a:solidFill>
                <a:sym typeface="Wingdings" pitchFamily="2" charset="2"/>
              </a:rPr>
              <a:t>does not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contain Y</a:t>
            </a:r>
          </a:p>
          <a:p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C, ADE, BD, AFB</a:t>
            </a:r>
          </a:p>
          <a:p>
            <a:r>
              <a:rPr lang="en-US" dirty="0" smtClean="0"/>
              <a:t>Prove that AD</a:t>
            </a:r>
            <a:r>
              <a:rPr lang="en-US" dirty="0" smtClean="0">
                <a:sym typeface="Wingdings" pitchFamily="2" charset="2"/>
              </a:rPr>
              <a:t>F does not hold</a:t>
            </a:r>
          </a:p>
          <a:p>
            <a:r>
              <a:rPr lang="en-US" dirty="0" smtClean="0">
                <a:sym typeface="Wingdings" pitchFamily="2" charset="2"/>
              </a:rPr>
              <a:t>{AD}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{ADE}, which does not contain F</a:t>
            </a:r>
          </a:p>
          <a:p>
            <a:r>
              <a:rPr lang="en-US" dirty="0" smtClean="0">
                <a:sym typeface="Wingdings" pitchFamily="2" charset="2"/>
              </a:rPr>
              <a:t>Therefore, AFF does not hold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6943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Now we know</a:t>
            </a:r>
          </a:p>
          <a:p>
            <a:pPr lvl="1"/>
            <a:r>
              <a:rPr lang="en-US" dirty="0" smtClean="0"/>
              <a:t>What are FDs</a:t>
            </a:r>
          </a:p>
          <a:p>
            <a:pPr lvl="1"/>
            <a:r>
              <a:rPr lang="en-US" dirty="0" smtClean="0"/>
              <a:t>Where FDs are from</a:t>
            </a:r>
          </a:p>
          <a:p>
            <a:pPr lvl="1"/>
            <a:r>
              <a:rPr lang="en-US" dirty="0" smtClean="0"/>
              <a:t>How we can do reasoning with FDs</a:t>
            </a:r>
            <a:endParaRPr lang="en-US" dirty="0"/>
          </a:p>
          <a:p>
            <a:r>
              <a:rPr lang="en-US" dirty="0" smtClean="0"/>
              <a:t>Are we ready to talk about “how do decide whether a table is good or not”?</a:t>
            </a:r>
          </a:p>
          <a:p>
            <a:r>
              <a:rPr lang="en-US" dirty="0" smtClean="0"/>
              <a:t>Not yet…</a:t>
            </a:r>
            <a:r>
              <a:rPr lang="en-SG" dirty="0" smtClean="0"/>
              <a:t> But close</a:t>
            </a:r>
          </a:p>
          <a:p>
            <a:r>
              <a:rPr lang="en-US" dirty="0" smtClean="0"/>
              <a:t>A few more concepts that are necessary for </a:t>
            </a:r>
            <a:r>
              <a:rPr lang="en-US" dirty="0"/>
              <a:t>checking whether a table is </a:t>
            </a:r>
            <a:r>
              <a:rPr lang="en-US" dirty="0" smtClean="0"/>
              <a:t>good:</a:t>
            </a:r>
          </a:p>
          <a:p>
            <a:pPr lvl="1"/>
            <a:r>
              <a:rPr lang="en-US" dirty="0" err="1"/>
              <a:t>Superkeys</a:t>
            </a:r>
            <a:endParaRPr lang="en-US" dirty="0"/>
          </a:p>
          <a:p>
            <a:pPr lvl="1"/>
            <a:r>
              <a:rPr lang="en-US" dirty="0"/>
              <a:t>Keys</a:t>
            </a:r>
          </a:p>
          <a:p>
            <a:pPr lvl="1"/>
            <a:r>
              <a:rPr lang="en-US"/>
              <a:t>Candidate </a:t>
            </a:r>
            <a:r>
              <a:rPr lang="en-US" smtClean="0"/>
              <a:t>keys / Primary </a:t>
            </a:r>
            <a:r>
              <a:rPr lang="en-US" dirty="0"/>
              <a:t>keys / Secondary keys</a:t>
            </a:r>
            <a:endParaRPr lang="en-SG" dirty="0"/>
          </a:p>
          <a:p>
            <a:endParaRPr lang="en-US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17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C00000"/>
                </a:solidFill>
              </a:rPr>
              <a:t>Superkeys</a:t>
            </a:r>
            <a:r>
              <a:rPr lang="en-US" dirty="0" smtClean="0"/>
              <a:t> of a Table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Definition: A set of attributes in a table that decides all other attributes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{NRIC} </a:t>
            </a:r>
            <a:r>
              <a:rPr lang="en-US" dirty="0" smtClean="0">
                <a:sym typeface="Wingdings" pitchFamily="2" charset="2"/>
              </a:rPr>
              <a:t>is a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S</a:t>
            </a:r>
            <a:r>
              <a:rPr lang="en-US" dirty="0" smtClean="0">
                <a:sym typeface="Wingdings" pitchFamily="2" charset="2"/>
              </a:rPr>
              <a:t>ince NRIC  Name, Postal, Address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{NRIC, Name} is a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Since {NRIC, Name}  Postal, Address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7614657"/>
              </p:ext>
            </p:extLst>
          </p:nvPr>
        </p:nvGraphicFramePr>
        <p:xfrm>
          <a:off x="457200" y="1074048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Postal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939450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234122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Cathy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3576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420923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Yishun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224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Keys</a:t>
            </a:r>
            <a:r>
              <a:rPr lang="en-US" dirty="0" smtClean="0"/>
              <a:t> of a Table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Definition: A </a:t>
            </a:r>
            <a:r>
              <a:rPr lang="en-US" dirty="0" err="1" smtClean="0"/>
              <a:t>superkey</a:t>
            </a:r>
            <a:r>
              <a:rPr lang="en-US" dirty="0" smtClean="0"/>
              <a:t> that is </a:t>
            </a:r>
            <a:r>
              <a:rPr lang="en-US" dirty="0" smtClean="0">
                <a:solidFill>
                  <a:srgbClr val="A50021"/>
                </a:solidFill>
              </a:rPr>
              <a:t>minimal</a:t>
            </a:r>
            <a:endParaRPr lang="en-US" dirty="0"/>
          </a:p>
          <a:p>
            <a:r>
              <a:rPr lang="en-US" dirty="0" smtClean="0"/>
              <a:t>i.e., if we remove any attribute from the </a:t>
            </a:r>
            <a:r>
              <a:rPr lang="en-US" dirty="0" err="1" smtClean="0"/>
              <a:t>superkey</a:t>
            </a:r>
            <a:r>
              <a:rPr lang="en-US" dirty="0" smtClean="0"/>
              <a:t>, it will not be a </a:t>
            </a:r>
            <a:r>
              <a:rPr lang="en-US" dirty="0" err="1" smtClean="0"/>
              <a:t>superkey</a:t>
            </a:r>
            <a:r>
              <a:rPr lang="en-US" dirty="0" smtClean="0"/>
              <a:t> anymore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{NRIC} </a:t>
            </a:r>
            <a:r>
              <a:rPr lang="en-US" dirty="0" smtClean="0">
                <a:sym typeface="Wingdings" pitchFamily="2" charset="2"/>
              </a:rPr>
              <a:t>is a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S</a:t>
            </a:r>
            <a:r>
              <a:rPr lang="en-US" dirty="0" smtClean="0">
                <a:sym typeface="Wingdings" pitchFamily="2" charset="2"/>
              </a:rPr>
              <a:t>ince NRIC  Name, Postal, Address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{NRIC, Name} is a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Since {NRIC, Name}  Postal, Address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NRIC is a key, but {NRIC, Name} is not a key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4519300"/>
              </p:ext>
            </p:extLst>
          </p:nvPr>
        </p:nvGraphicFramePr>
        <p:xfrm>
          <a:off x="457200" y="1074048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Postal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939450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234122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Cathy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3576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420923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Yishun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199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Keys</a:t>
            </a:r>
            <a:r>
              <a:rPr lang="en-US" dirty="0" smtClean="0"/>
              <a:t> of a Table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/>
          </a:bodyPr>
          <a:lstStyle/>
          <a:p>
            <a:r>
              <a:rPr lang="en-US" dirty="0" smtClean="0"/>
              <a:t>Note: Not to be confused with the keys of entity sets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459107"/>
              </p:ext>
            </p:extLst>
          </p:nvPr>
        </p:nvGraphicFramePr>
        <p:xfrm>
          <a:off x="457200" y="1074048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Postal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939450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234122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Cathy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3576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420923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Yishun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9746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Candidate Keys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A table may have multiple keys</a:t>
            </a:r>
          </a:p>
          <a:p>
            <a:r>
              <a:rPr lang="en-US" dirty="0" smtClean="0"/>
              <a:t>In that case, each key is referred to as a candidate key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{NRIC} is a key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ince NRIC </a:t>
            </a:r>
            <a:r>
              <a:rPr lang="en-US" dirty="0" smtClean="0">
                <a:sym typeface="Wingdings" pitchFamily="2" charset="2"/>
              </a:rPr>
              <a:t> Name, 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, Postal, Address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{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} is a key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Since 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/>
              <a:t> </a:t>
            </a:r>
            <a:r>
              <a:rPr lang="en-US" dirty="0">
                <a:sym typeface="Wingdings" pitchFamily="2" charset="2"/>
              </a:rPr>
              <a:t> Name, </a:t>
            </a:r>
            <a:r>
              <a:rPr lang="en-US" dirty="0"/>
              <a:t>NRIC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en-US" dirty="0">
                <a:sym typeface="Wingdings" pitchFamily="2" charset="2"/>
              </a:rPr>
              <a:t>Postal, </a:t>
            </a:r>
            <a:r>
              <a:rPr lang="en-US" dirty="0" smtClean="0">
                <a:sym typeface="Wingdings" pitchFamily="2" charset="2"/>
              </a:rPr>
              <a:t>Address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Both {NRIC} and {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} are candidate keys</a:t>
            </a:r>
            <a:endParaRPr lang="en-US" dirty="0">
              <a:sym typeface="Wingdings" pitchFamily="2" charset="2"/>
            </a:endParaRPr>
          </a:p>
          <a:p>
            <a:pPr lvl="1"/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363747"/>
              </p:ext>
            </p:extLst>
          </p:nvPr>
        </p:nvGraphicFramePr>
        <p:xfrm>
          <a:off x="457200" y="1074048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NRIC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err="1" smtClean="0">
                          <a:latin typeface="Calibri" pitchFamily="34" charset="0"/>
                        </a:rPr>
                        <a:t>StudentID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Postal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939450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234122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Cathy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3576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420923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Yishun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8052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and Secondary Keys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924944"/>
            <a:ext cx="8229600" cy="32059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When a table have multiple keys…</a:t>
            </a:r>
          </a:p>
          <a:p>
            <a:r>
              <a:rPr lang="en-US" dirty="0" smtClean="0"/>
              <a:t>We choose one of them as the primary key</a:t>
            </a:r>
          </a:p>
          <a:p>
            <a:r>
              <a:rPr lang="en-US" dirty="0" smtClean="0"/>
              <a:t>The others are referred to as secondary keys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{NRIC} is a key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{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} is a key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If we choose {NRIC} as the primary key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Then {</a:t>
            </a:r>
            <a:r>
              <a:rPr lang="en-US" dirty="0" err="1" smtClean="0">
                <a:sym typeface="Wingdings" pitchFamily="2" charset="2"/>
              </a:rPr>
              <a:t>StudentID</a:t>
            </a:r>
            <a:r>
              <a:rPr lang="en-US" dirty="0" smtClean="0">
                <a:sym typeface="Wingdings" pitchFamily="2" charset="2"/>
              </a:rPr>
              <a:t>} is the secondary key</a:t>
            </a:r>
            <a:endParaRPr lang="en-US" dirty="0">
              <a:sym typeface="Wingdings" pitchFamily="2" charset="2"/>
            </a:endParaRPr>
          </a:p>
          <a:p>
            <a:pPr lvl="1"/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377837"/>
              </p:ext>
            </p:extLst>
          </p:nvPr>
        </p:nvGraphicFramePr>
        <p:xfrm>
          <a:off x="457200" y="1074048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4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6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2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NRIC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err="1" smtClean="0">
                          <a:latin typeface="Calibri" pitchFamily="34" charset="0"/>
                        </a:rPr>
                        <a:t>StudentID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none" dirty="0" smtClean="0">
                          <a:latin typeface="Calibri" pitchFamily="34" charset="0"/>
                        </a:rPr>
                        <a:t>Postal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939450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234122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Cathy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3576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420923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Yishun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35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Keys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check whether a table is “good”, we need to find the keys of the table</a:t>
            </a:r>
          </a:p>
          <a:p>
            <a:r>
              <a:rPr lang="en-US" dirty="0" smtClean="0"/>
              <a:t>How do we do that?</a:t>
            </a:r>
          </a:p>
          <a:p>
            <a:r>
              <a:rPr lang="en-US" dirty="0" smtClean="0"/>
              <a:t>Use functional dependencies (FDs) and closures</a:t>
            </a:r>
          </a:p>
        </p:txBody>
      </p:sp>
    </p:spTree>
    <p:extLst>
      <p:ext uri="{BB962C8B-B14F-4D97-AF65-F5344CB8AC3E}">
        <p14:creationId xmlns:p14="http://schemas.microsoft.com/office/powerpoint/2010/main" val="1513791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sym typeface="Wingdings" pitchFamily="2" charset="2"/>
              </a:rPr>
              <a:t>Definition of a Key</a:t>
            </a:r>
            <a:r>
              <a:rPr lang="en-US" dirty="0">
                <a:sym typeface="Wingdings" pitchFamily="2" charset="2"/>
              </a:rPr>
              <a:t>: A minimal set of attributes that decides all other </a:t>
            </a:r>
            <a:r>
              <a:rPr lang="en-US" dirty="0" smtClean="0">
                <a:sym typeface="Wingdings" pitchFamily="2" charset="2"/>
              </a:rPr>
              <a:t>attributes</a:t>
            </a:r>
            <a:endParaRPr lang="en-US" dirty="0" smtClean="0"/>
          </a:p>
          <a:p>
            <a:r>
              <a:rPr lang="en-US" dirty="0" smtClean="0"/>
              <a:t>A table R(A, B, C)</a:t>
            </a:r>
          </a:p>
          <a:p>
            <a:r>
              <a:rPr lang="en-US" dirty="0" smtClean="0"/>
              <a:t>FDs given: A</a:t>
            </a:r>
            <a:r>
              <a:rPr lang="en-US" dirty="0" smtClean="0">
                <a:sym typeface="Wingdings" pitchFamily="2" charset="2"/>
              </a:rPr>
              <a:t>B, BC</a:t>
            </a:r>
          </a:p>
          <a:p>
            <a:r>
              <a:rPr lang="en-US" dirty="0" smtClean="0">
                <a:sym typeface="Wingdings" pitchFamily="2" charset="2"/>
              </a:rPr>
              <a:t>Is A </a:t>
            </a:r>
            <a:r>
              <a:rPr lang="en-US" dirty="0" err="1" smtClean="0">
                <a:sym typeface="Wingdings" pitchFamily="2" charset="2"/>
              </a:rPr>
              <a:t>a</a:t>
            </a:r>
            <a:r>
              <a:rPr lang="en-US" dirty="0" smtClean="0">
                <a:sym typeface="Wingdings" pitchFamily="2" charset="2"/>
              </a:rPr>
              <a:t> key?</a:t>
            </a:r>
          </a:p>
          <a:p>
            <a:r>
              <a:rPr lang="en-US" dirty="0" smtClean="0">
                <a:sym typeface="Wingdings" pitchFamily="2" charset="2"/>
              </a:rPr>
              <a:t>{A}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{ABC}, i.e., AABC. Yes.</a:t>
            </a:r>
          </a:p>
          <a:p>
            <a:r>
              <a:rPr lang="en-US" dirty="0" smtClean="0">
                <a:sym typeface="Wingdings" pitchFamily="2" charset="2"/>
              </a:rPr>
              <a:t>Is B a key?</a:t>
            </a:r>
          </a:p>
          <a:p>
            <a:r>
              <a:rPr lang="en-US" dirty="0" smtClean="0">
                <a:sym typeface="Wingdings" pitchFamily="2" charset="2"/>
              </a:rPr>
              <a:t>{B}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{BC}, i.e., B does not decide A. No.</a:t>
            </a:r>
          </a:p>
          <a:p>
            <a:r>
              <a:rPr lang="en-US" dirty="0" smtClean="0"/>
              <a:t>Is C a key?</a:t>
            </a:r>
          </a:p>
          <a:p>
            <a:r>
              <a:rPr lang="en-US" dirty="0" smtClean="0"/>
              <a:t>{C}</a:t>
            </a:r>
            <a:r>
              <a:rPr lang="en-US" baseline="30000" dirty="0" smtClean="0"/>
              <a:t>+</a:t>
            </a:r>
            <a:r>
              <a:rPr lang="en-US" dirty="0" smtClean="0"/>
              <a:t> = {C}. No.</a:t>
            </a:r>
          </a:p>
          <a:p>
            <a:r>
              <a:rPr lang="en-US" dirty="0" smtClean="0"/>
              <a:t>Is AB a key?</a:t>
            </a:r>
          </a:p>
          <a:p>
            <a:r>
              <a:rPr lang="en-US" dirty="0" smtClean="0"/>
              <a:t>No, since A is already a key.</a:t>
            </a:r>
          </a:p>
          <a:p>
            <a:r>
              <a:rPr lang="en-US" dirty="0" smtClean="0"/>
              <a:t>What about BC, AC, ABC?</a:t>
            </a:r>
          </a:p>
        </p:txBody>
      </p:sp>
    </p:spTree>
    <p:extLst>
      <p:ext uri="{BB962C8B-B14F-4D97-AF65-F5344CB8AC3E}">
        <p14:creationId xmlns:p14="http://schemas.microsoft.com/office/powerpoint/2010/main" val="423291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ym typeface="Wingdings" pitchFamily="2" charset="2"/>
              </a:rPr>
              <a:t>Definition of a Key: A minimal set of attributes that decides all other attributes</a:t>
            </a:r>
            <a:endParaRPr lang="en-US" dirty="0"/>
          </a:p>
          <a:p>
            <a:r>
              <a:rPr lang="en-US" dirty="0"/>
              <a:t>A table R(A, B, C)</a:t>
            </a:r>
          </a:p>
          <a:p>
            <a:r>
              <a:rPr lang="en-US" dirty="0"/>
              <a:t>FDs given: A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B</a:t>
            </a:r>
            <a:endParaRPr lang="en-US" dirty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Is A </a:t>
            </a:r>
            <a:r>
              <a:rPr lang="en-US" dirty="0" err="1" smtClean="0">
                <a:sym typeface="Wingdings" pitchFamily="2" charset="2"/>
              </a:rPr>
              <a:t>a</a:t>
            </a:r>
            <a:r>
              <a:rPr lang="en-US" dirty="0" smtClean="0">
                <a:sym typeface="Wingdings" pitchFamily="2" charset="2"/>
              </a:rPr>
              <a:t> key? </a:t>
            </a:r>
          </a:p>
          <a:p>
            <a:r>
              <a:rPr lang="en-US" dirty="0" smtClean="0">
                <a:sym typeface="Wingdings" pitchFamily="2" charset="2"/>
              </a:rPr>
              <a:t>{A}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{A, B}. No.</a:t>
            </a:r>
          </a:p>
          <a:p>
            <a:r>
              <a:rPr lang="en-US" dirty="0" smtClean="0">
                <a:sym typeface="Wingdings" pitchFamily="2" charset="2"/>
              </a:rPr>
              <a:t>Is B or C a key?</a:t>
            </a:r>
          </a:p>
          <a:p>
            <a:r>
              <a:rPr lang="en-US" dirty="0" smtClean="0">
                <a:sym typeface="Wingdings" pitchFamily="2" charset="2"/>
              </a:rPr>
              <a:t>{B}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= </a:t>
            </a:r>
            <a:r>
              <a:rPr lang="en-US" dirty="0" smtClean="0">
                <a:sym typeface="Wingdings" pitchFamily="2" charset="2"/>
              </a:rPr>
              <a:t>{B}. {C}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= </a:t>
            </a:r>
            <a:r>
              <a:rPr lang="en-US" dirty="0" smtClean="0">
                <a:sym typeface="Wingdings" pitchFamily="2" charset="2"/>
              </a:rPr>
              <a:t>{C}. No.</a:t>
            </a:r>
          </a:p>
          <a:p>
            <a:r>
              <a:rPr lang="en-US" dirty="0" smtClean="0">
                <a:sym typeface="Wingdings" pitchFamily="2" charset="2"/>
              </a:rPr>
              <a:t>Is AB or BC a key?</a:t>
            </a:r>
          </a:p>
          <a:p>
            <a:r>
              <a:rPr lang="en-US" dirty="0" smtClean="0">
                <a:sym typeface="Wingdings" pitchFamily="2" charset="2"/>
              </a:rPr>
              <a:t>{AB}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= {AB}. {BC}</a:t>
            </a:r>
            <a:r>
              <a:rPr lang="en-US" baseline="30000" dirty="0">
                <a:sym typeface="Wingdings" pitchFamily="2" charset="2"/>
              </a:rPr>
              <a:t> 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= </a:t>
            </a:r>
            <a:r>
              <a:rPr lang="en-US" dirty="0" smtClean="0">
                <a:sym typeface="Wingdings" pitchFamily="2" charset="2"/>
              </a:rPr>
              <a:t>{BC}. </a:t>
            </a:r>
            <a:r>
              <a:rPr lang="en-US" dirty="0">
                <a:sym typeface="Wingdings" pitchFamily="2" charset="2"/>
              </a:rPr>
              <a:t>No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r>
              <a:rPr lang="en-US" dirty="0" smtClean="0">
                <a:sym typeface="Wingdings" pitchFamily="2" charset="2"/>
              </a:rPr>
              <a:t>Is AC a key?</a:t>
            </a:r>
          </a:p>
          <a:p>
            <a:r>
              <a:rPr lang="en-US" dirty="0">
                <a:sym typeface="Wingdings" pitchFamily="2" charset="2"/>
              </a:rPr>
              <a:t>{</a:t>
            </a:r>
            <a:r>
              <a:rPr lang="en-US" dirty="0" smtClean="0">
                <a:sym typeface="Wingdings" pitchFamily="2" charset="2"/>
              </a:rPr>
              <a:t>AC}</a:t>
            </a:r>
            <a:r>
              <a:rPr lang="en-US" baseline="30000" dirty="0" smtClean="0">
                <a:sym typeface="Wingdings" pitchFamily="2" charset="2"/>
              </a:rPr>
              <a:t>+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= {</a:t>
            </a:r>
            <a:r>
              <a:rPr lang="en-US" dirty="0" smtClean="0">
                <a:sym typeface="Wingdings" pitchFamily="2" charset="2"/>
              </a:rPr>
              <a:t>ABC}. Yes.</a:t>
            </a:r>
          </a:p>
          <a:p>
            <a:r>
              <a:rPr lang="en-US" dirty="0" smtClean="0">
                <a:sym typeface="Wingdings" pitchFamily="2" charset="2"/>
              </a:rPr>
              <a:t>Is ABC a key?</a:t>
            </a:r>
          </a:p>
          <a:p>
            <a:endParaRPr lang="en-US" dirty="0">
              <a:sym typeface="Wingdings" pitchFamily="2" charset="2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8582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the Keys: Algorithm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Check all possible combinations of attributes in the table</a:t>
            </a:r>
          </a:p>
          <a:p>
            <a:pPr lvl="1"/>
            <a:r>
              <a:rPr lang="en-US" dirty="0" smtClean="0"/>
              <a:t>Example: A, B, C, AB, BC, AC, ABC</a:t>
            </a:r>
          </a:p>
          <a:p>
            <a:r>
              <a:rPr lang="en-US" dirty="0" smtClean="0"/>
              <a:t>For each combination, compute its closure</a:t>
            </a:r>
            <a:endParaRPr lang="en-US" dirty="0"/>
          </a:p>
          <a:p>
            <a:pPr lvl="1"/>
            <a:r>
              <a:rPr lang="en-US" dirty="0"/>
              <a:t>Example: </a:t>
            </a:r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/>
              <a:t> </a:t>
            </a:r>
            <a:r>
              <a:rPr lang="en-US" dirty="0" smtClean="0"/>
              <a:t>= …, {B}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…</a:t>
            </a:r>
            <a:r>
              <a:rPr lang="en-US" dirty="0" smtClean="0"/>
              <a:t>, {C}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…</a:t>
            </a:r>
            <a:r>
              <a:rPr lang="en-US" dirty="0" smtClean="0"/>
              <a:t>, …</a:t>
            </a:r>
            <a:endParaRPr lang="en-SG" dirty="0"/>
          </a:p>
          <a:p>
            <a:r>
              <a:rPr lang="en-US" dirty="0" smtClean="0"/>
              <a:t>If a closure contains all attributes, then the combination might be a key (or </a:t>
            </a:r>
            <a:r>
              <a:rPr lang="en-US" dirty="0" err="1" smtClean="0"/>
              <a:t>superkey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Example: {A}</a:t>
            </a:r>
            <a:r>
              <a:rPr lang="en-US" baseline="30000" dirty="0"/>
              <a:t>+</a:t>
            </a:r>
            <a:r>
              <a:rPr lang="en-US" dirty="0"/>
              <a:t> </a:t>
            </a:r>
            <a:r>
              <a:rPr lang="en-US" dirty="0" smtClean="0"/>
              <a:t>= {ABC}</a:t>
            </a:r>
          </a:p>
          <a:p>
            <a:r>
              <a:rPr lang="en-US" dirty="0" smtClean="0"/>
              <a:t>Make sure that you select only keys</a:t>
            </a:r>
            <a:endParaRPr lang="en-US" dirty="0"/>
          </a:p>
          <a:p>
            <a:pPr lvl="1"/>
            <a:r>
              <a:rPr lang="en-US" dirty="0"/>
              <a:t>Example: {A}</a:t>
            </a:r>
            <a:r>
              <a:rPr lang="en-US" baseline="30000" dirty="0"/>
              <a:t>+</a:t>
            </a:r>
            <a:r>
              <a:rPr lang="en-US" dirty="0"/>
              <a:t> = {ABC</a:t>
            </a:r>
            <a:r>
              <a:rPr lang="en-US" dirty="0" smtClean="0"/>
              <a:t>}, {AB}</a:t>
            </a:r>
            <a:r>
              <a:rPr lang="en-US" baseline="30000" dirty="0"/>
              <a:t> +</a:t>
            </a:r>
            <a:r>
              <a:rPr lang="en-US" dirty="0"/>
              <a:t> = {ABC</a:t>
            </a:r>
            <a:r>
              <a:rPr lang="en-US" dirty="0" smtClean="0"/>
              <a:t>}, don’t select AB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8444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R(A, B, C, D)</a:t>
            </a:r>
          </a:p>
          <a:p>
            <a:r>
              <a:rPr lang="en-US" dirty="0" smtClean="0"/>
              <a:t>AB</a:t>
            </a:r>
            <a:r>
              <a:rPr lang="en-US" dirty="0" smtClean="0">
                <a:sym typeface="Wingdings" pitchFamily="2" charset="2"/>
              </a:rPr>
              <a:t>C, ADB, BD</a:t>
            </a:r>
            <a:endParaRPr lang="en-US" dirty="0" smtClean="0"/>
          </a:p>
          <a:p>
            <a:r>
              <a:rPr lang="en-US" dirty="0" smtClean="0"/>
              <a:t>First, enumerate all attribute combinations:</a:t>
            </a:r>
          </a:p>
          <a:p>
            <a:pPr lvl="1"/>
            <a:r>
              <a:rPr lang="en-US" dirty="0" smtClean="0"/>
              <a:t>{A}, </a:t>
            </a:r>
            <a:r>
              <a:rPr lang="en-US" dirty="0"/>
              <a:t>{B</a:t>
            </a:r>
            <a:r>
              <a:rPr lang="en-US" dirty="0" smtClean="0"/>
              <a:t>}, </a:t>
            </a:r>
            <a:r>
              <a:rPr lang="en-US" dirty="0"/>
              <a:t>{C</a:t>
            </a:r>
            <a:r>
              <a:rPr lang="en-US" dirty="0" smtClean="0"/>
              <a:t>}, {D}</a:t>
            </a:r>
            <a:endParaRPr lang="en-US" dirty="0"/>
          </a:p>
          <a:p>
            <a:pPr lvl="1"/>
            <a:r>
              <a:rPr lang="en-US" dirty="0" smtClean="0"/>
              <a:t>{AB}, {AC}, </a:t>
            </a:r>
            <a:r>
              <a:rPr lang="en-US" dirty="0"/>
              <a:t>{</a:t>
            </a:r>
            <a:r>
              <a:rPr lang="en-US" dirty="0" smtClean="0"/>
              <a:t>AD}, {BC}, {BD}, {CD}</a:t>
            </a:r>
            <a:endParaRPr lang="en-US" dirty="0"/>
          </a:p>
          <a:p>
            <a:pPr lvl="1"/>
            <a:r>
              <a:rPr lang="en-US" dirty="0" smtClean="0"/>
              <a:t>{ABC}, {ABD}, {ACD}, {BCD}</a:t>
            </a:r>
            <a:endParaRPr lang="en-US" dirty="0"/>
          </a:p>
          <a:p>
            <a:pPr lvl="1"/>
            <a:r>
              <a:rPr lang="en-US" dirty="0"/>
              <a:t>{</a:t>
            </a:r>
            <a:r>
              <a:rPr lang="en-US" dirty="0" smtClean="0"/>
              <a:t>ABCD}</a:t>
            </a:r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12451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</a:t>
            </a:r>
            <a:r>
              <a:rPr lang="en-US" dirty="0"/>
              <a:t>R(A, B, C, D)</a:t>
            </a:r>
            <a:endParaRPr lang="en-US" dirty="0" smtClean="0"/>
          </a:p>
          <a:p>
            <a:r>
              <a:rPr lang="en-US" dirty="0" smtClean="0"/>
              <a:t>AB</a:t>
            </a:r>
            <a:r>
              <a:rPr lang="en-US" dirty="0" smtClean="0">
                <a:sym typeface="Wingdings" pitchFamily="2" charset="2"/>
              </a:rPr>
              <a:t>C, ADB, BD</a:t>
            </a:r>
            <a:endParaRPr lang="en-US" dirty="0" smtClean="0"/>
          </a:p>
          <a:p>
            <a:r>
              <a:rPr lang="en-US" dirty="0" smtClean="0"/>
              <a:t>Second</a:t>
            </a:r>
            <a:r>
              <a:rPr lang="en-US" dirty="0"/>
              <a:t>, compute 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{A},  {</a:t>
            </a:r>
            <a:r>
              <a:rPr lang="en-US" dirty="0"/>
              <a:t>B</a:t>
            </a:r>
            <a:r>
              <a:rPr lang="en-US" dirty="0" smtClean="0"/>
              <a:t>}</a:t>
            </a:r>
            <a:r>
              <a:rPr lang="en-US" sz="4000" baseline="30000" dirty="0" smtClean="0"/>
              <a:t>+</a:t>
            </a:r>
            <a:r>
              <a:rPr lang="en-US" dirty="0"/>
              <a:t>= </a:t>
            </a:r>
            <a:r>
              <a:rPr lang="en-US" dirty="0" smtClean="0"/>
              <a:t>{BD},  {</a:t>
            </a:r>
            <a:r>
              <a:rPr lang="en-US" dirty="0"/>
              <a:t>C</a:t>
            </a:r>
            <a:r>
              <a:rPr lang="en-US" dirty="0" smtClean="0"/>
              <a:t>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{C},  {D}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{D}</a:t>
            </a:r>
            <a:endParaRPr lang="en-US" baseline="-25000" dirty="0"/>
          </a:p>
          <a:p>
            <a:pPr lvl="1"/>
            <a:r>
              <a:rPr lang="en-US" dirty="0" smtClean="0"/>
              <a:t>{AB}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ABCD},  {AC}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AC},  {AD}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ABCD}</a:t>
            </a:r>
          </a:p>
          <a:p>
            <a:pPr lvl="1"/>
            <a:r>
              <a:rPr lang="en-US" dirty="0" smtClean="0"/>
              <a:t>{BC}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{BCD},  {BD}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{BD},  {CD}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{CD</a:t>
            </a:r>
            <a:r>
              <a:rPr lang="en-US" dirty="0"/>
              <a:t>}</a:t>
            </a:r>
            <a:endParaRPr lang="en-US" baseline="-25000" dirty="0" smtClean="0"/>
          </a:p>
          <a:p>
            <a:pPr lvl="1"/>
            <a:r>
              <a:rPr lang="en-US" dirty="0" smtClean="0"/>
              <a:t>{ABC}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 </a:t>
            </a:r>
            <a:r>
              <a:rPr lang="en-US" dirty="0"/>
              <a:t>= {ABCD</a:t>
            </a:r>
            <a:r>
              <a:rPr lang="en-US" dirty="0" smtClean="0"/>
              <a:t>} 	</a:t>
            </a:r>
          </a:p>
          <a:p>
            <a:pPr lvl="1"/>
            <a:r>
              <a:rPr lang="en-US" dirty="0" smtClean="0"/>
              <a:t>{BCD}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</a:t>
            </a:r>
            <a:r>
              <a:rPr lang="en-US" dirty="0" smtClean="0"/>
              <a:t>ABCD}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</a:t>
            </a:r>
            <a:r>
              <a:rPr lang="en-US" sz="2800" dirty="0" smtClean="0"/>
              <a:t>}	</a:t>
            </a:r>
            <a:endParaRPr lang="en-US" dirty="0" smtClean="0"/>
          </a:p>
          <a:p>
            <a:r>
              <a:rPr lang="en-US" dirty="0" smtClean="0"/>
              <a:t>Finally, output the keys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8734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(Find the keys)</a:t>
            </a:r>
            <a:r>
              <a:rPr lang="en-US" dirty="0" smtClean="0"/>
              <a:t>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with four attributes A, B, C, D</a:t>
            </a:r>
          </a:p>
          <a:p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B, BC, CD, DA</a:t>
            </a:r>
            <a:endParaRPr lang="en-US" dirty="0"/>
          </a:p>
          <a:p>
            <a:r>
              <a:rPr lang="en-US" dirty="0" smtClean="0"/>
              <a:t>Compute </a:t>
            </a:r>
            <a:r>
              <a:rPr lang="en-US" dirty="0"/>
              <a:t>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{ABCD},  {</a:t>
            </a:r>
            <a:r>
              <a:rPr lang="en-US" dirty="0"/>
              <a:t>B</a:t>
            </a:r>
            <a:r>
              <a:rPr lang="en-US" dirty="0" smtClean="0"/>
              <a:t>}</a:t>
            </a:r>
            <a:r>
              <a:rPr lang="en-US" sz="4000" baseline="30000" dirty="0" smtClean="0"/>
              <a:t>+</a:t>
            </a:r>
            <a:r>
              <a:rPr lang="en-US" dirty="0"/>
              <a:t>= </a:t>
            </a:r>
            <a:r>
              <a:rPr lang="en-US" dirty="0" smtClean="0"/>
              <a:t>{ABCD},  {</a:t>
            </a:r>
            <a:r>
              <a:rPr lang="en-US" dirty="0"/>
              <a:t>C</a:t>
            </a:r>
            <a:r>
              <a:rPr lang="en-US" dirty="0" smtClean="0"/>
              <a:t>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{ABCD},  {D}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{ABCD}</a:t>
            </a:r>
            <a:endParaRPr lang="en-US" baseline="-25000" dirty="0"/>
          </a:p>
          <a:p>
            <a:pPr lvl="1"/>
            <a:r>
              <a:rPr lang="en-US" dirty="0" smtClean="0"/>
              <a:t>{AB}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{AC}</a:t>
            </a:r>
            <a:r>
              <a:rPr lang="en-US" sz="3600" baseline="30000" dirty="0">
                <a:solidFill>
                  <a:srgbClr val="000000"/>
                </a:solidFill>
              </a:rPr>
              <a:t>+ </a:t>
            </a:r>
            <a:r>
              <a:rPr lang="en-US" dirty="0"/>
              <a:t>= </a:t>
            </a:r>
            <a:r>
              <a:rPr lang="en-US" dirty="0" smtClean="0"/>
              <a:t>{</a:t>
            </a:r>
            <a:r>
              <a:rPr lang="en-US" dirty="0"/>
              <a:t>AD}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</a:t>
            </a:r>
          </a:p>
          <a:p>
            <a:pPr lvl="1"/>
            <a:r>
              <a:rPr lang="en-US" dirty="0" smtClean="0"/>
              <a:t>{BC}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</a:t>
            </a:r>
            <a:endParaRPr lang="en-US" baseline="-25000" dirty="0" smtClean="0"/>
          </a:p>
          <a:p>
            <a:pPr lvl="1"/>
            <a:r>
              <a:rPr lang="en-US" dirty="0" smtClean="0"/>
              <a:t>{ABC}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 </a:t>
            </a:r>
            <a:r>
              <a:rPr lang="en-US" dirty="0"/>
              <a:t>= 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sz="24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{</a:t>
            </a:r>
            <a:r>
              <a:rPr lang="en-US" dirty="0"/>
              <a:t>ABCD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{ABCD}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</a:t>
            </a:r>
            <a:r>
              <a:rPr lang="en-US" sz="2800" dirty="0" smtClean="0"/>
              <a:t>}	</a:t>
            </a:r>
            <a:endParaRPr lang="en-US" dirty="0" smtClean="0"/>
          </a:p>
          <a:p>
            <a:r>
              <a:rPr lang="en-US" dirty="0" smtClean="0"/>
              <a:t>Keys: {A}, {B}, {C}, {D}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022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(Find the keys)</a:t>
            </a:r>
            <a:r>
              <a:rPr lang="en-US" dirty="0" smtClean="0"/>
              <a:t>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with four attributes A, B, C, D</a:t>
            </a:r>
          </a:p>
          <a:p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B, AC, C</a:t>
            </a:r>
            <a:r>
              <a:rPr lang="en-US" dirty="0">
                <a:sym typeface="Wingdings" pitchFamily="2" charset="2"/>
              </a:rPr>
              <a:t>D</a:t>
            </a:r>
            <a:endParaRPr lang="en-US" dirty="0"/>
          </a:p>
          <a:p>
            <a:r>
              <a:rPr lang="en-US" dirty="0" smtClean="0"/>
              <a:t>Compute </a:t>
            </a:r>
            <a:r>
              <a:rPr lang="en-US" dirty="0"/>
              <a:t>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{ABCD},  {</a:t>
            </a:r>
            <a:r>
              <a:rPr lang="en-US" dirty="0"/>
              <a:t>B</a:t>
            </a:r>
            <a:r>
              <a:rPr lang="en-US" dirty="0" smtClean="0"/>
              <a:t>}</a:t>
            </a:r>
            <a:r>
              <a:rPr lang="en-US" sz="4000" baseline="30000" dirty="0" smtClean="0"/>
              <a:t>+</a:t>
            </a:r>
            <a:r>
              <a:rPr lang="en-US" dirty="0"/>
              <a:t>= </a:t>
            </a:r>
            <a:r>
              <a:rPr lang="en-US" dirty="0" smtClean="0"/>
              <a:t>{B},  {</a:t>
            </a:r>
            <a:r>
              <a:rPr lang="en-US" dirty="0"/>
              <a:t>C</a:t>
            </a:r>
            <a:r>
              <a:rPr lang="en-US" dirty="0" smtClean="0"/>
              <a:t>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{CD},  {D}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{D}</a:t>
            </a:r>
            <a:endParaRPr lang="en-US" baseline="-25000" dirty="0"/>
          </a:p>
          <a:p>
            <a:pPr lvl="1"/>
            <a:r>
              <a:rPr lang="en-US" dirty="0" smtClean="0"/>
              <a:t>{AB}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{AC}</a:t>
            </a:r>
            <a:r>
              <a:rPr lang="en-US" sz="3600" baseline="30000" dirty="0">
                <a:solidFill>
                  <a:srgbClr val="000000"/>
                </a:solidFill>
              </a:rPr>
              <a:t>+ </a:t>
            </a:r>
            <a:r>
              <a:rPr lang="en-US" dirty="0"/>
              <a:t>= </a:t>
            </a:r>
            <a:r>
              <a:rPr lang="en-US" dirty="0" smtClean="0"/>
              <a:t>{</a:t>
            </a:r>
            <a:r>
              <a:rPr lang="en-US" dirty="0"/>
              <a:t>AD}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</a:t>
            </a:r>
          </a:p>
          <a:p>
            <a:pPr lvl="1"/>
            <a:r>
              <a:rPr lang="en-US" dirty="0" smtClean="0"/>
              <a:t>{BC}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{BCD},  {BD}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{BD},  {CD}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{CD</a:t>
            </a:r>
            <a:r>
              <a:rPr lang="en-US" dirty="0"/>
              <a:t>}</a:t>
            </a:r>
            <a:endParaRPr lang="en-US" baseline="-25000" dirty="0" smtClean="0"/>
          </a:p>
          <a:p>
            <a:pPr lvl="1"/>
            <a:r>
              <a:rPr lang="en-US" dirty="0" smtClean="0"/>
              <a:t>{ABC}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 </a:t>
            </a:r>
            <a:r>
              <a:rPr lang="en-US" dirty="0"/>
              <a:t>= {ABCD</a:t>
            </a:r>
            <a:r>
              <a:rPr lang="en-US" dirty="0" smtClean="0"/>
              <a:t>} 	</a:t>
            </a:r>
          </a:p>
          <a:p>
            <a:pPr lvl="1"/>
            <a:r>
              <a:rPr lang="en-US" dirty="0" smtClean="0"/>
              <a:t>{BCD}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</a:t>
            </a:r>
            <a:r>
              <a:rPr lang="en-US" dirty="0" smtClean="0"/>
              <a:t>ABCD}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</a:t>
            </a:r>
            <a:r>
              <a:rPr lang="en-US" sz="2800" dirty="0" smtClean="0"/>
              <a:t>}	</a:t>
            </a:r>
            <a:endParaRPr lang="en-US" dirty="0" smtClean="0"/>
          </a:p>
          <a:p>
            <a:r>
              <a:rPr lang="en-US" dirty="0" smtClean="0"/>
              <a:t>Keys: {A}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644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(Find the keys)</a:t>
            </a:r>
            <a:r>
              <a:rPr lang="en-US" dirty="0" smtClean="0"/>
              <a:t>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with four attributes A, B, C, D</a:t>
            </a:r>
          </a:p>
          <a:p>
            <a:r>
              <a:rPr lang="en-US" dirty="0" smtClean="0"/>
              <a:t>AD</a:t>
            </a:r>
            <a:r>
              <a:rPr lang="en-US" dirty="0" smtClean="0">
                <a:sym typeface="Wingdings" pitchFamily="2" charset="2"/>
              </a:rPr>
              <a:t>B, ABC, BCD, CDA</a:t>
            </a:r>
            <a:endParaRPr lang="en-US" dirty="0"/>
          </a:p>
          <a:p>
            <a:r>
              <a:rPr lang="en-US" dirty="0" smtClean="0"/>
              <a:t>Compute </a:t>
            </a:r>
            <a:r>
              <a:rPr lang="en-US" dirty="0"/>
              <a:t>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{A},  {</a:t>
            </a:r>
            <a:r>
              <a:rPr lang="en-US" dirty="0"/>
              <a:t>B</a:t>
            </a:r>
            <a:r>
              <a:rPr lang="en-US" dirty="0" smtClean="0"/>
              <a:t>}</a:t>
            </a:r>
            <a:r>
              <a:rPr lang="en-US" sz="4000" baseline="30000" dirty="0" smtClean="0"/>
              <a:t>+</a:t>
            </a:r>
            <a:r>
              <a:rPr lang="en-US" dirty="0"/>
              <a:t>= </a:t>
            </a:r>
            <a:r>
              <a:rPr lang="en-US" dirty="0" smtClean="0"/>
              <a:t>{B},  {</a:t>
            </a:r>
            <a:r>
              <a:rPr lang="en-US" dirty="0"/>
              <a:t>C</a:t>
            </a:r>
            <a:r>
              <a:rPr lang="en-US" dirty="0" smtClean="0"/>
              <a:t>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{C},  {D}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{D}</a:t>
            </a:r>
            <a:endParaRPr lang="en-US" baseline="-25000" dirty="0"/>
          </a:p>
          <a:p>
            <a:pPr lvl="1"/>
            <a:r>
              <a:rPr lang="en-US" dirty="0" smtClean="0"/>
              <a:t>{AB}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</a:t>
            </a:r>
            <a:r>
              <a:rPr lang="en-US" dirty="0"/>
              <a:t>}</a:t>
            </a:r>
            <a:r>
              <a:rPr lang="en-US" sz="3600" baseline="30000" dirty="0">
                <a:solidFill>
                  <a:srgbClr val="000000"/>
                </a:solidFill>
              </a:rPr>
              <a:t>+ </a:t>
            </a:r>
            <a:r>
              <a:rPr lang="en-US" dirty="0"/>
              <a:t>= </a:t>
            </a:r>
            <a:r>
              <a:rPr lang="en-US" dirty="0" smtClean="0"/>
              <a:t>{</a:t>
            </a:r>
            <a:r>
              <a:rPr lang="en-US" dirty="0"/>
              <a:t>AD}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</a:t>
            </a:r>
          </a:p>
          <a:p>
            <a:pPr lvl="1"/>
            <a:r>
              <a:rPr lang="en-US" dirty="0" smtClean="0"/>
              <a:t>{AC}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{AC}, {BD}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</a:t>
            </a:r>
            <a:r>
              <a:rPr lang="en-US" dirty="0"/>
              <a:t>{BD</a:t>
            </a:r>
            <a:r>
              <a:rPr lang="en-US" dirty="0" smtClean="0"/>
              <a:t>}</a:t>
            </a:r>
            <a:endParaRPr lang="en-US" baseline="-25000" dirty="0" smtClean="0"/>
          </a:p>
          <a:p>
            <a:pPr lvl="1"/>
            <a:r>
              <a:rPr lang="en-US" dirty="0" smtClean="0"/>
              <a:t>{ABC}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{ABD}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>
                <a:cs typeface="+mn-cs"/>
              </a:rPr>
              <a:t>=</a:t>
            </a:r>
            <a:r>
              <a:rPr lang="en-US" dirty="0" smtClean="0"/>
              <a:t> {ACD}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 </a:t>
            </a:r>
            <a:r>
              <a:rPr lang="en-US" dirty="0"/>
              <a:t>= {BCD}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sz="2400" baseline="-25000" dirty="0">
                <a:solidFill>
                  <a:srgbClr val="000000"/>
                </a:solidFill>
              </a:rPr>
              <a:t> </a:t>
            </a:r>
            <a:r>
              <a:rPr lang="en-US" dirty="0"/>
              <a:t>= </a:t>
            </a:r>
            <a:r>
              <a:rPr lang="en-US" dirty="0" smtClean="0"/>
              <a:t>{</a:t>
            </a:r>
            <a:r>
              <a:rPr lang="en-US" dirty="0"/>
              <a:t>ABCD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{ABCD}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</a:t>
            </a:r>
            <a:r>
              <a:rPr lang="en-US" sz="2800" dirty="0" smtClean="0"/>
              <a:t>}	</a:t>
            </a:r>
            <a:endParaRPr lang="en-US" dirty="0" smtClean="0"/>
          </a:p>
          <a:p>
            <a:r>
              <a:rPr lang="en-US" dirty="0" smtClean="0"/>
              <a:t>Keys: {AB}, {BC}, {AD}, {CD}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9433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Small Trick 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Always check small combinations first</a:t>
            </a:r>
          </a:p>
          <a:p>
            <a:r>
              <a:rPr lang="en-US" dirty="0" smtClean="0"/>
              <a:t>A table R(A, B, C, D)</a:t>
            </a:r>
          </a:p>
          <a:p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B, BC, CD, DA</a:t>
            </a:r>
            <a:endParaRPr lang="en-US" dirty="0"/>
          </a:p>
          <a:p>
            <a:r>
              <a:rPr lang="en-US" dirty="0" smtClean="0"/>
              <a:t>Compute </a:t>
            </a:r>
            <a:r>
              <a:rPr lang="en-US" dirty="0"/>
              <a:t>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{ABCD},  {</a:t>
            </a:r>
            <a:r>
              <a:rPr lang="en-US" dirty="0"/>
              <a:t>B</a:t>
            </a:r>
            <a:r>
              <a:rPr lang="en-US" dirty="0" smtClean="0"/>
              <a:t>}</a:t>
            </a:r>
            <a:r>
              <a:rPr lang="en-US" sz="4000" baseline="30000" dirty="0" smtClean="0"/>
              <a:t>+</a:t>
            </a:r>
            <a:r>
              <a:rPr lang="en-US" dirty="0"/>
              <a:t>= </a:t>
            </a:r>
            <a:r>
              <a:rPr lang="en-US" dirty="0" smtClean="0"/>
              <a:t>{ABCD},  {</a:t>
            </a:r>
            <a:r>
              <a:rPr lang="en-US" dirty="0"/>
              <a:t>C</a:t>
            </a:r>
            <a:r>
              <a:rPr lang="en-US" dirty="0" smtClean="0"/>
              <a:t>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{ABCD},  {D}</a:t>
            </a:r>
            <a:r>
              <a:rPr lang="en-US" sz="4000" baseline="30000" dirty="0" smtClean="0">
                <a:solidFill>
                  <a:srgbClr val="000000"/>
                </a:solidFill>
                <a:cs typeface="+mn-cs"/>
              </a:rPr>
              <a:t>+</a:t>
            </a:r>
            <a:r>
              <a:rPr lang="en-US" dirty="0" smtClean="0"/>
              <a:t>= {ABCD}</a:t>
            </a:r>
            <a:endParaRPr lang="en-US" baseline="-25000" dirty="0"/>
          </a:p>
          <a:p>
            <a:pPr lvl="1"/>
            <a:r>
              <a:rPr lang="en-US" sz="2800" dirty="0" smtClean="0"/>
              <a:t>No need to check others</a:t>
            </a:r>
          </a:p>
          <a:p>
            <a:pPr lvl="1"/>
            <a:r>
              <a:rPr lang="en-US" dirty="0" smtClean="0"/>
              <a:t>The others are all </a:t>
            </a:r>
            <a:r>
              <a:rPr lang="en-US" dirty="0" err="1" smtClean="0"/>
              <a:t>superkeys</a:t>
            </a:r>
            <a:r>
              <a:rPr lang="en-US" dirty="0" smtClean="0"/>
              <a:t> but not keys</a:t>
            </a:r>
          </a:p>
          <a:p>
            <a:r>
              <a:rPr lang="en-US" dirty="0" smtClean="0"/>
              <a:t>Keys: {A}, {B}, {C}, {D}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1368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Small Trick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table </a:t>
            </a:r>
            <a:r>
              <a:rPr lang="en-US" dirty="0" smtClean="0"/>
              <a:t>R(A</a:t>
            </a:r>
            <a:r>
              <a:rPr lang="en-US" dirty="0"/>
              <a:t>, B, C, </a:t>
            </a:r>
            <a:r>
              <a:rPr lang="en-US" dirty="0" smtClean="0"/>
              <a:t>D)</a:t>
            </a:r>
            <a:endParaRPr lang="en-US" dirty="0"/>
          </a:p>
          <a:p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C, ADB, BD</a:t>
            </a:r>
            <a:endParaRPr lang="en-US" dirty="0"/>
          </a:p>
          <a:p>
            <a:r>
              <a:rPr lang="en-US" dirty="0" smtClean="0"/>
              <a:t>Notice that A does not appear in the right hand side of any functional dependencies</a:t>
            </a:r>
          </a:p>
          <a:p>
            <a:r>
              <a:rPr lang="en-US" dirty="0" smtClean="0"/>
              <a:t>In that case, A must be in every key</a:t>
            </a:r>
          </a:p>
          <a:p>
            <a:r>
              <a:rPr lang="en-US" dirty="0" smtClean="0"/>
              <a:t>Keys of R: AB, </a:t>
            </a:r>
            <a:r>
              <a:rPr lang="en-US" dirty="0"/>
              <a:t>AD (From the previous slide) </a:t>
            </a:r>
            <a:endParaRPr lang="en-US" dirty="0" smtClean="0"/>
          </a:p>
          <a:p>
            <a:r>
              <a:rPr lang="en-US" dirty="0" smtClean="0"/>
              <a:t>In general, if an attribute that does not appear in the right hand side of any FD, then it must be in every key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253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(Find the Keys)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8189"/>
          </a:xfrm>
        </p:spPr>
        <p:txBody>
          <a:bodyPr/>
          <a:lstStyle/>
          <a:p>
            <a:r>
              <a:rPr lang="en-US" dirty="0" smtClean="0"/>
              <a:t>A table R(A, B, C, D)</a:t>
            </a:r>
          </a:p>
          <a:p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B, AC, C</a:t>
            </a:r>
            <a:r>
              <a:rPr lang="en-US" dirty="0">
                <a:sym typeface="Wingdings" pitchFamily="2" charset="2"/>
              </a:rPr>
              <a:t>D</a:t>
            </a:r>
            <a:endParaRPr lang="en-US" dirty="0"/>
          </a:p>
          <a:p>
            <a:r>
              <a:rPr lang="en-US" dirty="0" smtClean="0"/>
              <a:t>A must be in every key</a:t>
            </a:r>
          </a:p>
          <a:p>
            <a:r>
              <a:rPr lang="en-US" dirty="0" smtClean="0"/>
              <a:t>Compute </a:t>
            </a:r>
            <a:r>
              <a:rPr lang="en-US" dirty="0"/>
              <a:t>the closures:</a:t>
            </a:r>
          </a:p>
          <a:p>
            <a:pPr lvl="1"/>
            <a:r>
              <a:rPr lang="en-US" dirty="0" smtClean="0"/>
              <a:t>{A}</a:t>
            </a:r>
            <a:r>
              <a:rPr lang="en-US" sz="4000" baseline="30000" dirty="0" smtClean="0"/>
              <a:t>+</a:t>
            </a:r>
            <a:r>
              <a:rPr lang="en-US" dirty="0" smtClean="0"/>
              <a:t>= {ABCD}</a:t>
            </a:r>
          </a:p>
          <a:p>
            <a:pPr lvl="1"/>
            <a:r>
              <a:rPr lang="en-US" dirty="0" smtClean="0"/>
              <a:t>No need to check others </a:t>
            </a:r>
            <a:r>
              <a:rPr lang="en-US" sz="2800" dirty="0" smtClean="0"/>
              <a:t>	</a:t>
            </a:r>
            <a:endParaRPr lang="en-US" dirty="0" smtClean="0"/>
          </a:p>
          <a:p>
            <a:r>
              <a:rPr lang="en-US" dirty="0" smtClean="0"/>
              <a:t>Keys: {A}</a:t>
            </a:r>
            <a:endParaRPr lang="en-US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470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r>
              <a:rPr lang="en-US" dirty="0"/>
              <a:t> (Find the Keys)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/>
          </a:bodyPr>
          <a:lstStyle/>
          <a:p>
            <a:r>
              <a:rPr lang="en-US" dirty="0" smtClean="0"/>
              <a:t>A table </a:t>
            </a:r>
            <a:r>
              <a:rPr lang="en-US" dirty="0"/>
              <a:t>R(A, B, C, D, </a:t>
            </a:r>
            <a:r>
              <a:rPr lang="en-US" dirty="0" smtClean="0"/>
              <a:t>E)</a:t>
            </a:r>
          </a:p>
          <a:p>
            <a:r>
              <a:rPr lang="en-US" dirty="0" smtClean="0"/>
              <a:t>AB</a:t>
            </a:r>
            <a:r>
              <a:rPr lang="en-US" dirty="0">
                <a:sym typeface="Wingdings" pitchFamily="2" charset="2"/>
              </a:rPr>
              <a:t>C, CB, BCD, CD</a:t>
            </a:r>
            <a:r>
              <a:rPr lang="en-US" dirty="0" smtClean="0">
                <a:sym typeface="Wingdings" pitchFamily="2" charset="2"/>
              </a:rPr>
              <a:t>E</a:t>
            </a:r>
          </a:p>
          <a:p>
            <a:r>
              <a:rPr lang="en-US" dirty="0" smtClean="0">
                <a:sym typeface="Wingdings" pitchFamily="2" charset="2"/>
              </a:rPr>
              <a:t>A must be in every key</a:t>
            </a:r>
          </a:p>
          <a:p>
            <a:r>
              <a:rPr lang="en-US" dirty="0"/>
              <a:t>Compute the closures:</a:t>
            </a:r>
          </a:p>
          <a:p>
            <a:pPr lvl="1"/>
            <a:r>
              <a:rPr lang="en-US" dirty="0"/>
              <a:t>{A}</a:t>
            </a:r>
            <a:r>
              <a:rPr lang="en-US" baseline="30000" dirty="0"/>
              <a:t>+</a:t>
            </a:r>
            <a:r>
              <a:rPr lang="en-US" dirty="0"/>
              <a:t> = {A}</a:t>
            </a:r>
          </a:p>
          <a:p>
            <a:pPr lvl="1"/>
            <a:r>
              <a:rPr lang="en-US" dirty="0"/>
              <a:t>{AB}</a:t>
            </a:r>
            <a:r>
              <a:rPr lang="en-US" baseline="30000" dirty="0"/>
              <a:t>+</a:t>
            </a:r>
            <a:r>
              <a:rPr lang="en-US" dirty="0"/>
              <a:t> = {</a:t>
            </a:r>
            <a:r>
              <a:rPr lang="en-US" dirty="0" smtClean="0"/>
              <a:t>ABCDE}</a:t>
            </a:r>
            <a:endParaRPr lang="en-US" dirty="0"/>
          </a:p>
          <a:p>
            <a:pPr lvl="1"/>
            <a:r>
              <a:rPr lang="en-US" dirty="0"/>
              <a:t>{AC}</a:t>
            </a:r>
            <a:r>
              <a:rPr lang="en-US" baseline="30000" dirty="0"/>
              <a:t>+</a:t>
            </a:r>
            <a:r>
              <a:rPr lang="en-US" dirty="0"/>
              <a:t> = {</a:t>
            </a:r>
            <a:r>
              <a:rPr lang="en-US" dirty="0" smtClean="0"/>
              <a:t>ACBDE}</a:t>
            </a:r>
            <a:endParaRPr lang="en-US" dirty="0"/>
          </a:p>
          <a:p>
            <a:pPr lvl="1"/>
            <a:r>
              <a:rPr lang="en-US" dirty="0"/>
              <a:t>{AD}</a:t>
            </a:r>
            <a:r>
              <a:rPr lang="en-US" baseline="30000" dirty="0"/>
              <a:t>+</a:t>
            </a:r>
            <a:r>
              <a:rPr lang="en-US" dirty="0"/>
              <a:t> = {</a:t>
            </a:r>
            <a:r>
              <a:rPr lang="en-US" dirty="0" smtClean="0"/>
              <a:t>AD}, {</a:t>
            </a:r>
            <a:r>
              <a:rPr lang="en-US" dirty="0"/>
              <a:t>AE}</a:t>
            </a:r>
            <a:r>
              <a:rPr lang="en-US" baseline="30000" dirty="0"/>
              <a:t>+</a:t>
            </a:r>
            <a:r>
              <a:rPr lang="en-US" dirty="0"/>
              <a:t> = {AE</a:t>
            </a:r>
            <a:r>
              <a:rPr lang="en-US" dirty="0" smtClean="0"/>
              <a:t>}</a:t>
            </a:r>
            <a:endParaRPr lang="en-US" dirty="0"/>
          </a:p>
          <a:p>
            <a:pPr lvl="1"/>
            <a:r>
              <a:rPr lang="en-US" dirty="0"/>
              <a:t>{</a:t>
            </a:r>
            <a:r>
              <a:rPr lang="en-US" dirty="0" smtClean="0"/>
              <a:t>ADE}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{</a:t>
            </a:r>
            <a:r>
              <a:rPr lang="en-US" dirty="0" smtClean="0"/>
              <a:t>ADE}</a:t>
            </a:r>
            <a:endParaRPr lang="en-US" dirty="0"/>
          </a:p>
          <a:p>
            <a:pPr lvl="1"/>
            <a:endParaRPr lang="en-US" dirty="0"/>
          </a:p>
          <a:p>
            <a:endParaRPr lang="en-US" dirty="0">
              <a:sym typeface="Wingdings" pitchFamily="2" charset="2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672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 (Find the Keys)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 table R(A</a:t>
            </a:r>
            <a:r>
              <a:rPr lang="en-US" dirty="0"/>
              <a:t>, B, C, D, E, F) </a:t>
            </a:r>
            <a:endParaRPr lang="en-US" dirty="0" smtClean="0"/>
          </a:p>
          <a:p>
            <a:r>
              <a:rPr lang="en-US" dirty="0" smtClean="0"/>
              <a:t>AB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C, C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B, CBE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D, D</a:t>
            </a:r>
            <a:r>
              <a:rPr lang="en-US" dirty="0">
                <a:sym typeface="Wingdings"/>
              </a:rPr>
              <a:t></a:t>
            </a:r>
            <a:r>
              <a:rPr lang="en-US" dirty="0" smtClean="0"/>
              <a:t>EF</a:t>
            </a:r>
          </a:p>
          <a:p>
            <a:r>
              <a:rPr lang="en-US" dirty="0" smtClean="0"/>
              <a:t>A must be in every key</a:t>
            </a:r>
          </a:p>
          <a:p>
            <a:r>
              <a:rPr lang="en-US" dirty="0" smtClean="0"/>
              <a:t>Compute the closures:</a:t>
            </a:r>
          </a:p>
          <a:p>
            <a:pPr lvl="1"/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{A}</a:t>
            </a:r>
          </a:p>
          <a:p>
            <a:pPr lvl="1"/>
            <a:r>
              <a:rPr lang="en-US" dirty="0" smtClean="0"/>
              <a:t>{AB}</a:t>
            </a:r>
            <a:r>
              <a:rPr lang="en-US" baseline="30000" dirty="0" smtClean="0"/>
              <a:t>+</a:t>
            </a:r>
            <a:r>
              <a:rPr lang="en-US" dirty="0" smtClean="0"/>
              <a:t> = {ABC}</a:t>
            </a:r>
          </a:p>
          <a:p>
            <a:pPr lvl="1"/>
            <a:r>
              <a:rPr lang="en-US" dirty="0" smtClean="0"/>
              <a:t>{AC}</a:t>
            </a:r>
            <a:r>
              <a:rPr lang="en-US" baseline="30000" dirty="0" smtClean="0"/>
              <a:t>+</a:t>
            </a:r>
            <a:r>
              <a:rPr lang="en-US" dirty="0" smtClean="0"/>
              <a:t> = {ACB}</a:t>
            </a:r>
          </a:p>
          <a:p>
            <a:pPr lvl="1"/>
            <a:r>
              <a:rPr lang="en-US" dirty="0" smtClean="0"/>
              <a:t>{AD}</a:t>
            </a:r>
            <a:r>
              <a:rPr lang="en-US" baseline="30000" dirty="0" smtClean="0"/>
              <a:t>+</a:t>
            </a:r>
            <a:r>
              <a:rPr lang="en-US" dirty="0" smtClean="0"/>
              <a:t> = {ADEF}</a:t>
            </a:r>
          </a:p>
          <a:p>
            <a:pPr lvl="1"/>
            <a:r>
              <a:rPr lang="en-US" dirty="0" smtClean="0"/>
              <a:t>{AE}</a:t>
            </a:r>
            <a:r>
              <a:rPr lang="en-US" baseline="30000" dirty="0" smtClean="0"/>
              <a:t>+</a:t>
            </a:r>
            <a:r>
              <a:rPr lang="en-US" dirty="0" smtClean="0"/>
              <a:t> = {AE}, {AF}</a:t>
            </a:r>
            <a:r>
              <a:rPr lang="en-US" baseline="30000" dirty="0" smtClean="0"/>
              <a:t>+</a:t>
            </a:r>
            <a:r>
              <a:rPr lang="en-US" dirty="0" smtClean="0"/>
              <a:t> = {AF}</a:t>
            </a:r>
          </a:p>
          <a:p>
            <a:pPr lvl="1"/>
            <a:r>
              <a:rPr lang="en-US" dirty="0" smtClean="0"/>
              <a:t>{ABC}</a:t>
            </a:r>
            <a:r>
              <a:rPr lang="en-US" baseline="30000" dirty="0" smtClean="0"/>
              <a:t>+</a:t>
            </a:r>
            <a:r>
              <a:rPr lang="en-US" dirty="0" smtClean="0"/>
              <a:t> = {ABC}</a:t>
            </a:r>
          </a:p>
          <a:p>
            <a:pPr lvl="1"/>
            <a:r>
              <a:rPr lang="en-US" dirty="0" smtClean="0"/>
              <a:t>{ABD}</a:t>
            </a:r>
            <a:r>
              <a:rPr lang="en-US" baseline="30000" dirty="0" smtClean="0"/>
              <a:t>+</a:t>
            </a:r>
            <a:r>
              <a:rPr lang="en-US" dirty="0" smtClean="0"/>
              <a:t> = </a:t>
            </a:r>
            <a:r>
              <a:rPr lang="en-SG" dirty="0" smtClean="0"/>
              <a:t>{ABE}</a:t>
            </a:r>
            <a:r>
              <a:rPr lang="en-SG" baseline="30000" dirty="0" smtClean="0"/>
              <a:t>+</a:t>
            </a:r>
            <a:r>
              <a:rPr lang="en-SG" dirty="0" smtClean="0"/>
              <a:t> = {ACD}</a:t>
            </a:r>
            <a:r>
              <a:rPr lang="en-SG" baseline="30000" dirty="0" smtClean="0"/>
              <a:t>+</a:t>
            </a:r>
            <a:r>
              <a:rPr lang="en-SG" dirty="0" smtClean="0"/>
              <a:t> = {ACE}</a:t>
            </a:r>
            <a:r>
              <a:rPr lang="en-SG" baseline="30000" dirty="0" smtClean="0"/>
              <a:t>+</a:t>
            </a:r>
            <a:r>
              <a:rPr lang="en-SG" dirty="0" smtClean="0"/>
              <a:t> = {ABCDEF}</a:t>
            </a:r>
          </a:p>
          <a:p>
            <a:pPr lvl="1"/>
            <a:r>
              <a:rPr lang="en-US" dirty="0" smtClean="0"/>
              <a:t>{ADE}</a:t>
            </a:r>
            <a:r>
              <a:rPr lang="en-US" baseline="30000" dirty="0" smtClean="0"/>
              <a:t>+</a:t>
            </a:r>
            <a:r>
              <a:rPr lang="en-US" dirty="0" smtClean="0"/>
              <a:t> = {ADEF}</a:t>
            </a:r>
          </a:p>
        </p:txBody>
      </p:sp>
    </p:spTree>
    <p:extLst>
      <p:ext uri="{BB962C8B-B14F-4D97-AF65-F5344CB8AC3E}">
        <p14:creationId xmlns:p14="http://schemas.microsoft.com/office/powerpoint/2010/main" val="1950357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62165"/>
          </a:xfrm>
        </p:spPr>
        <p:txBody>
          <a:bodyPr>
            <a:normAutofit/>
          </a:bodyPr>
          <a:lstStyle/>
          <a:p>
            <a:r>
              <a:rPr lang="en-US" dirty="0" smtClean="0"/>
              <a:t>Now we know</a:t>
            </a:r>
          </a:p>
          <a:p>
            <a:pPr lvl="1"/>
            <a:r>
              <a:rPr lang="en-US" dirty="0" smtClean="0"/>
              <a:t>What are FDs</a:t>
            </a:r>
          </a:p>
          <a:p>
            <a:pPr lvl="1"/>
            <a:r>
              <a:rPr lang="en-US" dirty="0" smtClean="0"/>
              <a:t>Where FDs are from</a:t>
            </a:r>
          </a:p>
          <a:p>
            <a:pPr lvl="1"/>
            <a:r>
              <a:rPr lang="en-US" dirty="0" smtClean="0"/>
              <a:t>How we can do reasoning with FDs</a:t>
            </a:r>
          </a:p>
          <a:p>
            <a:pPr lvl="1"/>
            <a:r>
              <a:rPr lang="en-US" dirty="0" smtClean="0"/>
              <a:t>How to use FDs to find keys</a:t>
            </a:r>
            <a:endParaRPr lang="en-US" dirty="0"/>
          </a:p>
          <a:p>
            <a:r>
              <a:rPr lang="en-US" dirty="0" smtClean="0"/>
              <a:t>We ready to talk about “how do decide whether a table is good or not”</a:t>
            </a:r>
          </a:p>
        </p:txBody>
      </p:sp>
    </p:spTree>
    <p:extLst>
      <p:ext uri="{BB962C8B-B14F-4D97-AF65-F5344CB8AC3E}">
        <p14:creationId xmlns:p14="http://schemas.microsoft.com/office/powerpoint/2010/main" val="295616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Normalization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68961"/>
            <a:ext cx="8435280" cy="93610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How do we get rid of those anomalies?</a:t>
            </a:r>
          </a:p>
          <a:p>
            <a:r>
              <a:rPr lang="en-US" dirty="0" smtClean="0">
                <a:solidFill>
                  <a:srgbClr val="A50021"/>
                </a:solidFill>
              </a:rPr>
              <a:t>Normalize</a:t>
            </a:r>
            <a:r>
              <a:rPr lang="en-US" dirty="0" smtClean="0"/>
              <a:t> the table (i.e., decompose it)</a:t>
            </a:r>
          </a:p>
          <a:p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153813"/>
              </p:ext>
            </p:extLst>
          </p:nvPr>
        </p:nvGraphicFramePr>
        <p:xfrm>
          <a:off x="457200" y="1124744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5945420"/>
              </p:ext>
            </p:extLst>
          </p:nvPr>
        </p:nvGraphicFramePr>
        <p:xfrm>
          <a:off x="467544" y="4221088"/>
          <a:ext cx="4536504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736082"/>
              </p:ext>
            </p:extLst>
          </p:nvPr>
        </p:nvGraphicFramePr>
        <p:xfrm>
          <a:off x="5292080" y="4249688"/>
          <a:ext cx="3384376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7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739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 Forms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Conditions </a:t>
            </a:r>
            <a:r>
              <a:rPr lang="en-US" dirty="0" smtClean="0"/>
              <a:t>that a “good” table should satisfy</a:t>
            </a:r>
            <a:endParaRPr lang="en-US" dirty="0"/>
          </a:p>
          <a:p>
            <a:r>
              <a:rPr lang="en-US" dirty="0"/>
              <a:t>Various normal forms (in increasing order of strictness)</a:t>
            </a:r>
          </a:p>
          <a:p>
            <a:pPr lvl="1"/>
            <a:r>
              <a:rPr lang="en-US" dirty="0"/>
              <a:t>First normal form</a:t>
            </a:r>
          </a:p>
          <a:p>
            <a:pPr lvl="1"/>
            <a:r>
              <a:rPr lang="en-US" dirty="0"/>
              <a:t>Second normal form</a:t>
            </a:r>
          </a:p>
          <a:p>
            <a:pPr lvl="1"/>
            <a:r>
              <a:rPr lang="en-US" dirty="0">
                <a:solidFill>
                  <a:srgbClr val="A50021"/>
                </a:solidFill>
              </a:rPr>
              <a:t>Third normal form (3NF)</a:t>
            </a:r>
          </a:p>
          <a:p>
            <a:pPr lvl="1"/>
            <a:r>
              <a:rPr lang="en-US" dirty="0">
                <a:solidFill>
                  <a:srgbClr val="A50021"/>
                </a:solidFill>
              </a:rPr>
              <a:t>Boyce-</a:t>
            </a:r>
            <a:r>
              <a:rPr lang="en-US" dirty="0" err="1">
                <a:solidFill>
                  <a:srgbClr val="A50021"/>
                </a:solidFill>
              </a:rPr>
              <a:t>Codd</a:t>
            </a:r>
            <a:r>
              <a:rPr lang="en-US" dirty="0">
                <a:solidFill>
                  <a:srgbClr val="A50021"/>
                </a:solidFill>
              </a:rPr>
              <a:t> normal form (BCNF)</a:t>
            </a:r>
          </a:p>
          <a:p>
            <a:pPr lvl="1"/>
            <a:r>
              <a:rPr lang="en-US" dirty="0"/>
              <a:t>Fourth normal form</a:t>
            </a:r>
          </a:p>
          <a:p>
            <a:pPr lvl="1"/>
            <a:r>
              <a:rPr lang="en-US" dirty="0"/>
              <a:t>Fifth normal form</a:t>
            </a:r>
          </a:p>
          <a:p>
            <a:pPr lvl="1"/>
            <a:r>
              <a:rPr lang="en-US" dirty="0"/>
              <a:t>Sixth normal form</a:t>
            </a:r>
          </a:p>
          <a:p>
            <a:r>
              <a:rPr lang="en-US" dirty="0"/>
              <a:t>3NF and BCNF are most commonly used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84974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BCNF: Basics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definition of BCNF involves the following concepts</a:t>
            </a:r>
          </a:p>
          <a:p>
            <a:pPr lvl="1"/>
            <a:r>
              <a:rPr lang="en-US" dirty="0" smtClean="0"/>
              <a:t>Keys</a:t>
            </a:r>
          </a:p>
          <a:p>
            <a:pPr lvl="1"/>
            <a:r>
              <a:rPr lang="en-US" dirty="0" smtClean="0"/>
              <a:t>Non-trivial Functional Dependencies (FDs)</a:t>
            </a:r>
          </a:p>
          <a:p>
            <a:r>
              <a:rPr lang="en-US" dirty="0" smtClean="0"/>
              <a:t>Trivial FD:</a:t>
            </a:r>
          </a:p>
          <a:p>
            <a:pPr lvl="1"/>
            <a:r>
              <a:rPr lang="en-US" dirty="0" smtClean="0"/>
              <a:t>The attributes in the right hand side of the FD all appear in the left hand side</a:t>
            </a:r>
            <a:endParaRPr lang="en-US" dirty="0"/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>
                <a:sym typeface="Wingdings" pitchFamily="2" charset="2"/>
              </a:rPr>
              <a:t>AC</a:t>
            </a:r>
            <a:r>
              <a:rPr lang="en-US" dirty="0" smtClean="0">
                <a:sym typeface="Wingdings" pitchFamily="2" charset="2"/>
              </a:rPr>
              <a:t>A</a:t>
            </a:r>
            <a:r>
              <a:rPr lang="en-US" dirty="0">
                <a:sym typeface="Wingdings" pitchFamily="2" charset="2"/>
              </a:rPr>
              <a:t>		-- Trivial</a:t>
            </a:r>
          </a:p>
          <a:p>
            <a:pPr lvl="1"/>
            <a:r>
              <a:rPr lang="en-US" dirty="0">
                <a:sym typeface="Wingdings" pitchFamily="2" charset="2"/>
              </a:rPr>
              <a:t>AC</a:t>
            </a:r>
            <a:r>
              <a:rPr lang="en-US" dirty="0" smtClean="0">
                <a:sym typeface="Wingdings" pitchFamily="2" charset="2"/>
              </a:rPr>
              <a:t>C</a:t>
            </a:r>
            <a:r>
              <a:rPr lang="en-US" dirty="0">
                <a:sym typeface="Wingdings" pitchFamily="2" charset="2"/>
              </a:rPr>
              <a:t>		-- </a:t>
            </a:r>
            <a:r>
              <a:rPr lang="en-US" dirty="0" smtClean="0">
                <a:sym typeface="Wingdings" pitchFamily="2" charset="2"/>
              </a:rPr>
              <a:t>Trivial</a:t>
            </a:r>
            <a:endParaRPr lang="en-US" dirty="0" smtClean="0"/>
          </a:p>
          <a:p>
            <a:pPr lvl="1"/>
            <a:r>
              <a:rPr lang="en-US" dirty="0" smtClean="0"/>
              <a:t>A</a:t>
            </a:r>
            <a:r>
              <a:rPr lang="en-US" dirty="0" smtClean="0">
                <a:sym typeface="Wingdings" pitchFamily="2" charset="2"/>
              </a:rPr>
              <a:t>B		-- Non-trivial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ACBC		-- Non-trivial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8785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BCNF: </a:t>
            </a:r>
            <a:r>
              <a:rPr lang="en-US" dirty="0" smtClean="0"/>
              <a:t>Definition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A table R is in BCNF, if and only if for </a:t>
            </a:r>
            <a:r>
              <a:rPr lang="en-US" dirty="0" smtClean="0">
                <a:solidFill>
                  <a:srgbClr val="A50021"/>
                </a:solidFill>
              </a:rPr>
              <a:t>any</a:t>
            </a:r>
            <a:r>
              <a:rPr lang="en-US" dirty="0" smtClean="0"/>
              <a:t> FD on R,</a:t>
            </a:r>
          </a:p>
          <a:p>
            <a:pPr lvl="1"/>
            <a:r>
              <a:rPr lang="en-US" dirty="0" smtClean="0"/>
              <a:t>Either the FD is trivial </a:t>
            </a:r>
          </a:p>
          <a:p>
            <a:pPr lvl="1"/>
            <a:r>
              <a:rPr lang="en-US" dirty="0" smtClean="0"/>
              <a:t>Or the left hand side of the FD is a </a:t>
            </a:r>
            <a:r>
              <a:rPr lang="en-US" dirty="0" err="1" smtClean="0"/>
              <a:t>superkey</a:t>
            </a:r>
            <a:r>
              <a:rPr lang="en-US" dirty="0" smtClean="0"/>
              <a:t> of R</a:t>
            </a:r>
            <a:endParaRPr lang="en-US" dirty="0"/>
          </a:p>
          <a:p>
            <a:r>
              <a:rPr lang="en-US" dirty="0" smtClean="0"/>
              <a:t>R(A, B)</a:t>
            </a:r>
          </a:p>
          <a:p>
            <a:r>
              <a:rPr lang="en-US" dirty="0" smtClean="0"/>
              <a:t>Given FDs: A</a:t>
            </a:r>
            <a:r>
              <a:rPr lang="en-US" dirty="0" smtClean="0">
                <a:sym typeface="Wingdings" pitchFamily="2" charset="2"/>
              </a:rPr>
              <a:t>B</a:t>
            </a:r>
          </a:p>
          <a:p>
            <a:r>
              <a:rPr lang="en-US" dirty="0" smtClean="0">
                <a:sym typeface="Wingdings" pitchFamily="2" charset="2"/>
              </a:rPr>
              <a:t>Key: A</a:t>
            </a:r>
          </a:p>
          <a:p>
            <a:r>
              <a:rPr lang="en-US" dirty="0" smtClean="0">
                <a:sym typeface="Wingdings" pitchFamily="2" charset="2"/>
              </a:rPr>
              <a:t>All FDs on R: AB, ABA, ABB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ABA, ABB: trivial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AB: The left hand side is a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Therefore, R is in BCNF</a:t>
            </a:r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04947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BCNF: </a:t>
            </a:r>
            <a:r>
              <a:rPr lang="en-US" dirty="0" smtClean="0"/>
              <a:t>Definition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table R is in BCNF, if and only if for </a:t>
            </a:r>
            <a:r>
              <a:rPr lang="en-US" dirty="0" smtClean="0">
                <a:solidFill>
                  <a:srgbClr val="A50021"/>
                </a:solidFill>
              </a:rPr>
              <a:t>any</a:t>
            </a:r>
            <a:r>
              <a:rPr lang="en-US" dirty="0" smtClean="0"/>
              <a:t> FD on R,</a:t>
            </a:r>
          </a:p>
          <a:p>
            <a:pPr lvl="1"/>
            <a:r>
              <a:rPr lang="en-US" dirty="0" smtClean="0"/>
              <a:t>Either the FD is trivial </a:t>
            </a:r>
          </a:p>
          <a:p>
            <a:pPr lvl="1"/>
            <a:r>
              <a:rPr lang="en-US" dirty="0" smtClean="0"/>
              <a:t>Or the left hand side of the FD is a </a:t>
            </a:r>
            <a:r>
              <a:rPr lang="en-US" dirty="0" err="1" smtClean="0"/>
              <a:t>superkey</a:t>
            </a:r>
            <a:r>
              <a:rPr lang="en-US" dirty="0" smtClean="0"/>
              <a:t> of R</a:t>
            </a:r>
            <a:endParaRPr lang="en-US" dirty="0"/>
          </a:p>
          <a:p>
            <a:r>
              <a:rPr lang="en-US" dirty="0" smtClean="0"/>
              <a:t>R(A, B, C)</a:t>
            </a:r>
          </a:p>
          <a:p>
            <a:r>
              <a:rPr lang="en-US" dirty="0" smtClean="0"/>
              <a:t>Given FDs: A</a:t>
            </a:r>
            <a:r>
              <a:rPr lang="en-US" dirty="0" smtClean="0">
                <a:sym typeface="Wingdings" pitchFamily="2" charset="2"/>
              </a:rPr>
              <a:t>B</a:t>
            </a:r>
          </a:p>
          <a:p>
            <a:r>
              <a:rPr lang="en-US" dirty="0" smtClean="0">
                <a:sym typeface="Wingdings" pitchFamily="2" charset="2"/>
              </a:rPr>
              <a:t>Key: AC</a:t>
            </a:r>
          </a:p>
          <a:p>
            <a:r>
              <a:rPr lang="en-US" dirty="0" smtClean="0">
                <a:sym typeface="Wingdings" pitchFamily="2" charset="2"/>
              </a:rPr>
              <a:t>All FDs on R: AB, ABB, ACC, …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The left hand side of AB is a not </a:t>
            </a:r>
            <a:r>
              <a:rPr lang="en-US" dirty="0" err="1" smtClean="0">
                <a:sym typeface="Wingdings" pitchFamily="2" charset="2"/>
              </a:rPr>
              <a:t>superkey</a:t>
            </a:r>
            <a:endParaRPr lang="en-US" dirty="0" smtClean="0">
              <a:sym typeface="Wingdings" pitchFamily="2" charset="2"/>
            </a:endParaRPr>
          </a:p>
          <a:p>
            <a:r>
              <a:rPr lang="en-US" dirty="0" smtClean="0">
                <a:sym typeface="Wingdings" pitchFamily="2" charset="2"/>
              </a:rPr>
              <a:t>Therefore, R is NOT in BCNF</a:t>
            </a:r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8456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BCNF: Intuition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Basically, BCNF forbids any non-trivial X</a:t>
            </a:r>
            <a:r>
              <a:rPr lang="en-US" dirty="0" smtClean="0">
                <a:sym typeface="Wingdings" pitchFamily="2" charset="2"/>
              </a:rPr>
              <a:t>Y</a:t>
            </a:r>
            <a:r>
              <a:rPr lang="en-US" dirty="0" smtClean="0"/>
              <a:t>, such that the X is not a </a:t>
            </a:r>
            <a:r>
              <a:rPr lang="en-US" dirty="0" err="1" smtClean="0"/>
              <a:t>superkey</a:t>
            </a:r>
            <a:endParaRPr lang="en-US" dirty="0" smtClean="0"/>
          </a:p>
          <a:p>
            <a:r>
              <a:rPr lang="en-US" dirty="0" smtClean="0"/>
              <a:t>Why does this make sense?</a:t>
            </a:r>
          </a:p>
          <a:p>
            <a:r>
              <a:rPr lang="en-US" dirty="0" smtClean="0"/>
              <a:t>Intuition: X</a:t>
            </a:r>
            <a:r>
              <a:rPr lang="en-US" dirty="0" smtClean="0">
                <a:sym typeface="Wingdings" pitchFamily="2" charset="2"/>
              </a:rPr>
              <a:t>Y indicates that the table has some redundancies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103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Intuition: </a:t>
            </a:r>
            <a:r>
              <a:rPr lang="en-US" dirty="0"/>
              <a:t>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52936"/>
            <a:ext cx="8229600" cy="3456384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NRIC </a:t>
            </a:r>
            <a:r>
              <a:rPr lang="en-US" dirty="0" smtClean="0">
                <a:sym typeface="Wingdings" pitchFamily="2" charset="2"/>
              </a:rPr>
              <a:t> Name, Address</a:t>
            </a:r>
            <a:endParaRPr lang="en-US" dirty="0" smtClean="0"/>
          </a:p>
          <a:p>
            <a:r>
              <a:rPr lang="en-US" dirty="0" smtClean="0"/>
              <a:t>Key: {NRIC, Phone}</a:t>
            </a:r>
          </a:p>
          <a:p>
            <a:r>
              <a:rPr lang="en-US" dirty="0" smtClean="0"/>
              <a:t>NRIC decides Name and Address</a:t>
            </a:r>
          </a:p>
          <a:p>
            <a:r>
              <a:rPr lang="en-US" dirty="0" smtClean="0"/>
              <a:t>Therefore, every time NRIC is repeated, Name and Address would also be repeated</a:t>
            </a:r>
          </a:p>
          <a:p>
            <a:r>
              <a:rPr lang="en-US" dirty="0" smtClean="0"/>
              <a:t>Since NRIC is not a key, the same NRIC can appear multiple times in the table</a:t>
            </a:r>
          </a:p>
          <a:p>
            <a:r>
              <a:rPr lang="en-US" dirty="0" smtClean="0"/>
              <a:t>This leads to redundancy</a:t>
            </a:r>
          </a:p>
          <a:p>
            <a:r>
              <a:rPr lang="en-US" dirty="0" smtClean="0"/>
              <a:t>BCNF prevents this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766989"/>
              </p:ext>
            </p:extLst>
          </p:nvPr>
        </p:nvGraphicFramePr>
        <p:xfrm>
          <a:off x="457200" y="1052736"/>
          <a:ext cx="8229600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Name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NRIC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u="sng" dirty="0" smtClean="0">
                          <a:latin typeface="Calibri" pitchFamily="34" charset="0"/>
                        </a:rPr>
                        <a:t>Phone</a:t>
                      </a:r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Address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67899876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Alice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1234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83848384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East</a:t>
                      </a:r>
                      <a:endParaRPr lang="en-SG" sz="2800" dirty="0" smtClean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Bob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5678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98765432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8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800" dirty="0" err="1" smtClean="0">
                          <a:latin typeface="Calibri" pitchFamily="34" charset="0"/>
                        </a:rPr>
                        <a:t>Ris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28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Next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check whether a table is in BCNF?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7924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table R is in BCNF, if and only if for </a:t>
            </a:r>
            <a:r>
              <a:rPr lang="en-US" dirty="0" smtClean="0">
                <a:solidFill>
                  <a:srgbClr val="A50021"/>
                </a:solidFill>
              </a:rPr>
              <a:t>any</a:t>
            </a:r>
            <a:r>
              <a:rPr lang="en-US" dirty="0" smtClean="0"/>
              <a:t> FD on R,</a:t>
            </a:r>
          </a:p>
          <a:p>
            <a:pPr lvl="1"/>
            <a:r>
              <a:rPr lang="en-US" dirty="0" smtClean="0"/>
              <a:t>Either the FD is trivial </a:t>
            </a:r>
          </a:p>
          <a:p>
            <a:pPr lvl="1"/>
            <a:r>
              <a:rPr lang="en-US" dirty="0" smtClean="0"/>
              <a:t>Or the left hand side of the FD is a </a:t>
            </a:r>
            <a:r>
              <a:rPr lang="en-US" dirty="0" err="1" smtClean="0"/>
              <a:t>superkey</a:t>
            </a:r>
            <a:r>
              <a:rPr lang="en-US" dirty="0" smtClean="0"/>
              <a:t> of R</a:t>
            </a:r>
            <a:endParaRPr lang="en-US" dirty="0"/>
          </a:p>
          <a:p>
            <a:r>
              <a:rPr lang="en-US" dirty="0" smtClean="0"/>
              <a:t>How to check whether a table R satisfies BCNF?</a:t>
            </a:r>
          </a:p>
          <a:p>
            <a:r>
              <a:rPr lang="en-US" dirty="0" smtClean="0">
                <a:sym typeface="Wingdings" pitchFamily="2" charset="2"/>
              </a:rPr>
              <a:t>Intuitive solution: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Derive the keys of R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Derive all non-trivial FD in R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Check whether every FD has a </a:t>
            </a:r>
            <a:r>
              <a:rPr lang="en-US" dirty="0" err="1" smtClean="0">
                <a:sym typeface="Wingdings" pitchFamily="2" charset="2"/>
              </a:rPr>
              <a:t>superkey</a:t>
            </a:r>
            <a:r>
              <a:rPr lang="en-US" dirty="0" smtClean="0">
                <a:sym typeface="Wingdings" pitchFamily="2" charset="2"/>
              </a:rPr>
              <a:t> on the left hand side</a:t>
            </a:r>
            <a:endParaRPr lang="en-US" dirty="0">
              <a:sym typeface="Wingdings" pitchFamily="2" charset="2"/>
            </a:endParaRPr>
          </a:p>
          <a:p>
            <a:endParaRPr lang="en-US" dirty="0" smtClean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7928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Input: A table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 (based on the </a:t>
            </a:r>
            <a:r>
              <a:rPr lang="en-US" dirty="0" smtClean="0"/>
              <a:t>closures)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all non-trivial FDs on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non-trivial FD, check whether its left hand </a:t>
            </a:r>
            <a:r>
              <a:rPr lang="en-US" dirty="0" smtClean="0"/>
              <a:t>side (lhs) </a:t>
            </a:r>
            <a:r>
              <a:rPr lang="en-US" dirty="0"/>
              <a:t>is a super-key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all FDs pass the check, then R is in BCNF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2650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Derive the keys of R (based on the </a:t>
            </a:r>
            <a:r>
              <a:rPr lang="en-US" dirty="0" smtClean="0"/>
              <a:t>closures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Derive all non-trivial FDs on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 each non-trivial FD, check whether its left hand side (lhs) is a super-key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all FDs pass the check, then R is in BCNF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4786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 smtClean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8782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</a:t>
            </a:r>
            <a:br>
              <a:rPr lang="en-US" dirty="0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/>
              <a:t>{</a:t>
            </a:r>
            <a:r>
              <a:rPr lang="en-US" dirty="0"/>
              <a:t>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0135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/>
              <a:t>{</a:t>
            </a:r>
            <a:r>
              <a:rPr lang="en-US" dirty="0"/>
              <a:t>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00696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32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061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CD</a:t>
            </a:r>
            <a:r>
              <a:rPr lang="en-US" dirty="0"/>
              <a:t>, AC</a:t>
            </a:r>
            <a:r>
              <a:rPr lang="en-US" dirty="0">
                <a:sym typeface="Wingdings" pitchFamily="2" charset="2"/>
              </a:rPr>
              <a:t>D</a:t>
            </a:r>
            <a:endParaRPr lang="en-US" dirty="0"/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8973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CD</a:t>
            </a:r>
            <a:r>
              <a:rPr lang="en-US" dirty="0"/>
              <a:t>, AC</a:t>
            </a:r>
            <a:r>
              <a:rPr lang="en-US" dirty="0">
                <a:sym typeface="Wingdings" pitchFamily="2" charset="2"/>
              </a:rPr>
              <a:t>D</a:t>
            </a:r>
            <a:endParaRPr lang="en-US" dirty="0"/>
          </a:p>
          <a:p>
            <a:pPr lvl="1"/>
            <a:r>
              <a:rPr lang="en-US" dirty="0"/>
              <a:t>BC</a:t>
            </a:r>
            <a:r>
              <a:rPr lang="en-US" dirty="0">
                <a:sym typeface="Wingdings" pitchFamily="2" charset="2"/>
              </a:rPr>
              <a:t>AD</a:t>
            </a:r>
            <a:r>
              <a:rPr lang="en-US" dirty="0"/>
              <a:t>, BD</a:t>
            </a:r>
            <a:r>
              <a:rPr lang="en-US" dirty="0">
                <a:sym typeface="Wingdings" pitchFamily="2" charset="2"/>
              </a:rPr>
              <a:t>AC</a:t>
            </a:r>
            <a:r>
              <a:rPr lang="en-US" dirty="0"/>
              <a:t>,  CD</a:t>
            </a:r>
            <a:r>
              <a:rPr lang="en-US" dirty="0">
                <a:sym typeface="Wingdings" pitchFamily="2" charset="2"/>
              </a:rPr>
              <a:t>A</a:t>
            </a:r>
            <a:endParaRPr lang="en-US" baseline="-25000" dirty="0"/>
          </a:p>
          <a:p>
            <a:pPr lvl="1"/>
            <a:r>
              <a:rPr lang="en-US" dirty="0" smtClean="0"/>
              <a:t>{ABC}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{ABD}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{BCD}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 = {ABCD} 	</a:t>
            </a:r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{ABCD}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sz="2800" dirty="0" smtClean="0"/>
              <a:t>= {ABCD}	</a:t>
            </a:r>
            <a:endParaRPr lang="en-US" dirty="0" smtClean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25937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CD</a:t>
            </a:r>
            <a:r>
              <a:rPr lang="en-US" dirty="0"/>
              <a:t>, AC</a:t>
            </a:r>
            <a:r>
              <a:rPr lang="en-US" dirty="0">
                <a:sym typeface="Wingdings" pitchFamily="2" charset="2"/>
              </a:rPr>
              <a:t>D</a:t>
            </a:r>
            <a:endParaRPr lang="en-US" dirty="0"/>
          </a:p>
          <a:p>
            <a:pPr lvl="1"/>
            <a:r>
              <a:rPr lang="en-US" dirty="0"/>
              <a:t>BC</a:t>
            </a:r>
            <a:r>
              <a:rPr lang="en-US" dirty="0">
                <a:sym typeface="Wingdings" pitchFamily="2" charset="2"/>
              </a:rPr>
              <a:t>AD</a:t>
            </a:r>
            <a:r>
              <a:rPr lang="en-US" dirty="0"/>
              <a:t>, BD</a:t>
            </a:r>
            <a:r>
              <a:rPr lang="en-US" dirty="0">
                <a:sym typeface="Wingdings" pitchFamily="2" charset="2"/>
              </a:rPr>
              <a:t>AC</a:t>
            </a:r>
            <a:r>
              <a:rPr lang="en-US" dirty="0"/>
              <a:t>,  CD</a:t>
            </a:r>
            <a:r>
              <a:rPr lang="en-US" dirty="0">
                <a:sym typeface="Wingdings" pitchFamily="2" charset="2"/>
              </a:rPr>
              <a:t>A</a:t>
            </a:r>
            <a:endParaRPr lang="en-US" baseline="-25000" dirty="0"/>
          </a:p>
          <a:p>
            <a:pPr lvl="1"/>
            <a:r>
              <a:rPr lang="en-US" dirty="0" smtClean="0"/>
              <a:t>ABC</a:t>
            </a:r>
            <a:r>
              <a:rPr lang="en-US" dirty="0" smtClean="0">
                <a:sym typeface="Wingdings" pitchFamily="2" charset="2"/>
              </a:rPr>
              <a:t>D, </a:t>
            </a:r>
            <a:r>
              <a:rPr lang="en-US" dirty="0" smtClean="0"/>
              <a:t>ABD</a:t>
            </a:r>
            <a:r>
              <a:rPr lang="en-US" dirty="0" smtClean="0">
                <a:sym typeface="Wingdings" pitchFamily="2" charset="2"/>
              </a:rPr>
              <a:t>C</a:t>
            </a:r>
            <a:r>
              <a:rPr lang="en-US" dirty="0" smtClean="0"/>
              <a:t>, BCD</a:t>
            </a:r>
            <a:r>
              <a:rPr lang="en-US" dirty="0" smtClean="0">
                <a:sym typeface="Wingdings" pitchFamily="2" charset="2"/>
              </a:rPr>
              <a:t>A </a:t>
            </a:r>
            <a:r>
              <a:rPr lang="en-US" dirty="0" smtClean="0"/>
              <a:t> 	</a:t>
            </a:r>
          </a:p>
          <a:p>
            <a:pPr marL="344487" lvl="1" indent="0">
              <a:buNone/>
            </a:pPr>
            <a:r>
              <a:rPr lang="en-US" dirty="0" smtClean="0"/>
              <a:t> </a:t>
            </a:r>
          </a:p>
          <a:p>
            <a:pPr marL="327025" lvl="1" indent="0">
              <a:buNone/>
            </a:pPr>
            <a:r>
              <a:rPr 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027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CD</a:t>
            </a:r>
            <a:r>
              <a:rPr lang="en-US" dirty="0"/>
              <a:t>, AC</a:t>
            </a:r>
            <a:r>
              <a:rPr lang="en-US" dirty="0">
                <a:sym typeface="Wingdings" pitchFamily="2" charset="2"/>
              </a:rPr>
              <a:t>D</a:t>
            </a:r>
            <a:endParaRPr lang="en-US" dirty="0"/>
          </a:p>
          <a:p>
            <a:pPr lvl="1"/>
            <a:r>
              <a:rPr lang="en-US" dirty="0"/>
              <a:t>BC</a:t>
            </a:r>
            <a:r>
              <a:rPr lang="en-US" dirty="0">
                <a:sym typeface="Wingdings" pitchFamily="2" charset="2"/>
              </a:rPr>
              <a:t>AD</a:t>
            </a:r>
            <a:r>
              <a:rPr lang="en-US" dirty="0"/>
              <a:t>, BD</a:t>
            </a:r>
            <a:r>
              <a:rPr lang="en-US" dirty="0">
                <a:sym typeface="Wingdings" pitchFamily="2" charset="2"/>
              </a:rPr>
              <a:t>AC</a:t>
            </a:r>
            <a:r>
              <a:rPr lang="en-US" dirty="0"/>
              <a:t>,  CD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A</a:t>
            </a:r>
          </a:p>
          <a:p>
            <a:pPr lvl="1"/>
            <a:r>
              <a:rPr lang="en-US" dirty="0"/>
              <a:t>ABC</a:t>
            </a:r>
            <a:r>
              <a:rPr lang="en-US" dirty="0">
                <a:sym typeface="Wingdings" pitchFamily="2" charset="2"/>
              </a:rPr>
              <a:t>D, </a:t>
            </a:r>
            <a:r>
              <a:rPr lang="en-US" dirty="0"/>
              <a:t>ABD</a:t>
            </a:r>
            <a:r>
              <a:rPr lang="en-US" dirty="0">
                <a:sym typeface="Wingdings" pitchFamily="2" charset="2"/>
              </a:rPr>
              <a:t>C</a:t>
            </a:r>
            <a:r>
              <a:rPr lang="en-US" dirty="0"/>
              <a:t>, BCD</a:t>
            </a:r>
            <a:r>
              <a:rPr lang="en-US" dirty="0">
                <a:sym typeface="Wingdings" pitchFamily="2" charset="2"/>
              </a:rPr>
              <a:t>A</a:t>
            </a:r>
            <a:endParaRPr lang="en-US" baseline="-25000" dirty="0"/>
          </a:p>
          <a:p>
            <a:pPr marL="344487" lvl="1" indent="0">
              <a:buNone/>
            </a:pPr>
            <a:r>
              <a:rPr lang="en-US" dirty="0" smtClean="0"/>
              <a:t>4. </a:t>
            </a:r>
            <a:r>
              <a:rPr lang="en-US" dirty="0"/>
              <a:t>For each non-trivial FD, check whether its left hand </a:t>
            </a:r>
            <a:r>
              <a:rPr lang="en-US" dirty="0" smtClean="0"/>
              <a:t>side (lhs) </a:t>
            </a:r>
            <a:r>
              <a:rPr lang="en-US" dirty="0"/>
              <a:t>is a super-key</a:t>
            </a:r>
            <a:endParaRPr lang="en-US" dirty="0" smtClean="0"/>
          </a:p>
          <a:p>
            <a:pPr marL="344487" lvl="1" indent="0">
              <a:buNone/>
            </a:pPr>
            <a:endParaRPr lang="en-US" dirty="0" smtClean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43246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Derives the keys of R: AB, BC, BD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3. Derive the non-trivial FDs on R</a:t>
            </a:r>
          </a:p>
          <a:p>
            <a:pPr lvl="1"/>
            <a:r>
              <a:rPr lang="en-US" dirty="0"/>
              <a:t>C</a:t>
            </a:r>
            <a:r>
              <a:rPr lang="en-US" dirty="0">
                <a:sym typeface="Wingdings" pitchFamily="2" charset="2"/>
              </a:rPr>
              <a:t>AD, DA</a:t>
            </a:r>
            <a:endParaRPr lang="en-US" baseline="-25000" dirty="0"/>
          </a:p>
          <a:p>
            <a:pPr lvl="1"/>
            <a:r>
              <a:rPr lang="en-US" dirty="0"/>
              <a:t>AB</a:t>
            </a:r>
            <a:r>
              <a:rPr lang="en-US" dirty="0">
                <a:sym typeface="Wingdings" pitchFamily="2" charset="2"/>
              </a:rPr>
              <a:t>CD</a:t>
            </a:r>
            <a:r>
              <a:rPr lang="en-US" dirty="0"/>
              <a:t>, AC</a:t>
            </a:r>
            <a:r>
              <a:rPr lang="en-US" dirty="0">
                <a:sym typeface="Wingdings" pitchFamily="2" charset="2"/>
              </a:rPr>
              <a:t>D</a:t>
            </a:r>
            <a:endParaRPr lang="en-US" dirty="0"/>
          </a:p>
          <a:p>
            <a:pPr lvl="1"/>
            <a:r>
              <a:rPr lang="en-US" dirty="0"/>
              <a:t>BC</a:t>
            </a:r>
            <a:r>
              <a:rPr lang="en-US" dirty="0">
                <a:sym typeface="Wingdings" pitchFamily="2" charset="2"/>
              </a:rPr>
              <a:t>AD</a:t>
            </a:r>
            <a:r>
              <a:rPr lang="en-US" dirty="0"/>
              <a:t>, BD</a:t>
            </a:r>
            <a:r>
              <a:rPr lang="en-US" dirty="0">
                <a:sym typeface="Wingdings" pitchFamily="2" charset="2"/>
              </a:rPr>
              <a:t>AC</a:t>
            </a:r>
            <a:r>
              <a:rPr lang="en-US" dirty="0"/>
              <a:t>,  CD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A</a:t>
            </a:r>
          </a:p>
          <a:p>
            <a:pPr lvl="1"/>
            <a:r>
              <a:rPr lang="en-US" dirty="0"/>
              <a:t>ABC</a:t>
            </a:r>
            <a:r>
              <a:rPr lang="en-US" dirty="0">
                <a:sym typeface="Wingdings" pitchFamily="2" charset="2"/>
              </a:rPr>
              <a:t>D, </a:t>
            </a:r>
            <a:r>
              <a:rPr lang="en-US" dirty="0"/>
              <a:t>ABD</a:t>
            </a:r>
            <a:r>
              <a:rPr lang="en-US" dirty="0">
                <a:sym typeface="Wingdings" pitchFamily="2" charset="2"/>
              </a:rPr>
              <a:t>C</a:t>
            </a:r>
            <a:r>
              <a:rPr lang="en-US" dirty="0"/>
              <a:t>, BCD</a:t>
            </a:r>
            <a:r>
              <a:rPr lang="en-US" dirty="0">
                <a:sym typeface="Wingdings" pitchFamily="2" charset="2"/>
              </a:rPr>
              <a:t></a:t>
            </a:r>
            <a:r>
              <a:rPr lang="en-US" dirty="0" smtClean="0">
                <a:sym typeface="Wingdings" pitchFamily="2" charset="2"/>
              </a:rPr>
              <a:t>A</a:t>
            </a:r>
            <a:endParaRPr lang="en-US" baseline="-25000" dirty="0"/>
          </a:p>
          <a:p>
            <a:pPr marL="344487" lvl="1" indent="0">
              <a:buNone/>
            </a:pPr>
            <a:r>
              <a:rPr lang="en-US" dirty="0" smtClean="0"/>
              <a:t>4. </a:t>
            </a:r>
            <a:r>
              <a:rPr lang="en-US" dirty="0"/>
              <a:t>For each non-trivial FD, check whether its left hand </a:t>
            </a:r>
            <a:r>
              <a:rPr lang="en-US" dirty="0" smtClean="0"/>
              <a:t>side (lhs) </a:t>
            </a:r>
            <a:r>
              <a:rPr lang="en-US" dirty="0"/>
              <a:t>is a </a:t>
            </a:r>
            <a:r>
              <a:rPr lang="en-US" dirty="0" smtClean="0"/>
              <a:t>super-key. Answer here: 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4168" y="3572317"/>
            <a:ext cx="2579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Not 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4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BCNF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03139"/>
            <a:ext cx="8856984" cy="4862165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Checking procedure for a </a:t>
            </a:r>
            <a:r>
              <a:rPr lang="en-US" dirty="0"/>
              <a:t>table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Derive the keys of R (based on the closures)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Derive all non-trivial FDs on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For each non-trivial FD, check whether its </a:t>
            </a:r>
            <a:r>
              <a:rPr lang="en-US" dirty="0" smtClean="0"/>
              <a:t>lhs is </a:t>
            </a:r>
            <a:r>
              <a:rPr lang="en-US" dirty="0"/>
              <a:t>a super-key</a:t>
            </a:r>
          </a:p>
          <a:p>
            <a:r>
              <a:rPr lang="en-US" dirty="0" smtClean="0"/>
              <a:t>Observations</a:t>
            </a:r>
          </a:p>
          <a:p>
            <a:pPr lvl="1"/>
            <a:r>
              <a:rPr lang="en-US" dirty="0" smtClean="0"/>
              <a:t>We are checking whether there exists a non-trivial FD whose left hand side is not a super-key</a:t>
            </a:r>
          </a:p>
          <a:p>
            <a:pPr lvl="1"/>
            <a:r>
              <a:rPr lang="en-US" dirty="0" smtClean="0"/>
              <a:t>Assume that the FD is </a:t>
            </a:r>
            <a:r>
              <a:rPr lang="en-US" dirty="0"/>
              <a:t>{A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dirty="0" smtClean="0"/>
              <a:t>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 smtClean="0"/>
              <a:t>}</a:t>
            </a:r>
            <a:r>
              <a:rPr lang="en-US" sz="2400" dirty="0"/>
              <a:t> </a:t>
            </a:r>
            <a:r>
              <a:rPr lang="en-US" sz="2400" dirty="0" smtClean="0">
                <a:sym typeface="Wingdings" pitchFamily="2" charset="2"/>
              </a:rPr>
              <a:t>B</a:t>
            </a:r>
            <a:r>
              <a:rPr lang="en-US" sz="2400" baseline="-25000" dirty="0" smtClean="0">
                <a:sym typeface="Wingdings" pitchFamily="2" charset="2"/>
              </a:rPr>
              <a:t>1</a:t>
            </a:r>
            <a:r>
              <a:rPr lang="en-US" sz="2400" dirty="0" smtClean="0">
                <a:sym typeface="Wingdings" pitchFamily="2" charset="2"/>
              </a:rPr>
              <a:t>. </a:t>
            </a:r>
            <a:endParaRPr lang="en-US" sz="2400" dirty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Since it is non-trivial, B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 must not be one of </a:t>
            </a:r>
            <a:r>
              <a:rPr lang="en-US" dirty="0" smtClean="0">
                <a:solidFill>
                  <a:srgbClr val="000000"/>
                </a:solidFill>
                <a:cs typeface="+mn-cs"/>
              </a:rPr>
              <a:t>A</a:t>
            </a:r>
            <a:r>
              <a:rPr lang="en-US" baseline="-25000" dirty="0" smtClean="0">
                <a:solidFill>
                  <a:srgbClr val="000000"/>
                </a:solidFill>
                <a:cs typeface="+mn-cs"/>
              </a:rPr>
              <a:t>1</a:t>
            </a:r>
            <a:r>
              <a:rPr lang="en-US" dirty="0">
                <a:solidFill>
                  <a:srgbClr val="000000"/>
                </a:solidFill>
                <a:cs typeface="+mn-cs"/>
              </a:rPr>
              <a:t>, …, </a:t>
            </a:r>
            <a:r>
              <a:rPr lang="en-US" dirty="0" err="1" smtClean="0">
                <a:solidFill>
                  <a:srgbClr val="000000"/>
                </a:solidFill>
                <a:cs typeface="+mn-cs"/>
              </a:rPr>
              <a:t>A</a:t>
            </a:r>
            <a:r>
              <a:rPr lang="en-US" baseline="-25000" dirty="0" err="1" smtClean="0">
                <a:solidFill>
                  <a:srgbClr val="000000"/>
                </a:solidFill>
                <a:cs typeface="+mn-cs"/>
              </a:rPr>
              <a:t>k</a:t>
            </a:r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The FD must be from a closure</a:t>
            </a:r>
            <a:r>
              <a:rPr lang="en-US" dirty="0" smtClean="0"/>
              <a:t> {A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k</a:t>
            </a:r>
            <a:r>
              <a:rPr lang="en-US" dirty="0" smtClean="0"/>
              <a:t>}</a:t>
            </a:r>
            <a:r>
              <a:rPr lang="en-US" sz="3500" baseline="30000" dirty="0" smtClean="0"/>
              <a:t>+</a:t>
            </a:r>
            <a:r>
              <a:rPr lang="en-US" dirty="0" smtClean="0"/>
              <a:t> = {B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 smtClean="0"/>
              <a:t>B</a:t>
            </a:r>
            <a:r>
              <a:rPr lang="en-US" baseline="-25000" dirty="0" err="1" smtClean="0"/>
              <a:t>m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Since the lhs of the FD is not a super-key, we know that </a:t>
            </a:r>
            <a:br>
              <a:rPr lang="en-US" dirty="0" smtClean="0"/>
            </a:br>
            <a:r>
              <a:rPr lang="en-US" dirty="0" smtClean="0"/>
              <a:t>{B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 does not contain all attributes</a:t>
            </a:r>
          </a:p>
          <a:p>
            <a:pPr lvl="1"/>
            <a:r>
              <a:rPr lang="en-US" dirty="0" smtClean="0"/>
              <a:t>That is, we are looking for a closure </a:t>
            </a:r>
            <a:r>
              <a:rPr lang="en-US" dirty="0"/>
              <a:t>{A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}, such that (i) {B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 contains more attributes than </a:t>
            </a:r>
            <a:r>
              <a:rPr lang="en-US" dirty="0"/>
              <a:t>{A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 smtClean="0"/>
              <a:t>}, and (ii) </a:t>
            </a:r>
            <a:r>
              <a:rPr lang="en-US" dirty="0"/>
              <a:t>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 does not contain all attributes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4843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BCNF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03139"/>
            <a:ext cx="8856984" cy="471814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Checking procedure for a </a:t>
            </a:r>
            <a:r>
              <a:rPr lang="en-US" dirty="0"/>
              <a:t>table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Derive the keys of R (based on the closures)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/>
              <a:t>Derive all non-trivial FDs on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/>
              <a:t>For each non-trivial FD, check whether its lhs is a super-key</a:t>
            </a:r>
          </a:p>
          <a:p>
            <a:r>
              <a:rPr lang="en-US" dirty="0" smtClean="0"/>
              <a:t>We are looking for a closure {</a:t>
            </a:r>
            <a:r>
              <a:rPr lang="en-US" dirty="0"/>
              <a:t>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}, such that </a:t>
            </a:r>
            <a:br>
              <a:rPr lang="en-US" dirty="0" smtClean="0"/>
            </a:br>
            <a:r>
              <a:rPr lang="en-US" dirty="0" smtClean="0"/>
              <a:t>(i) {B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 contains more attributes than </a:t>
            </a:r>
            <a:r>
              <a:rPr lang="en-US" dirty="0"/>
              <a:t>{A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 smtClean="0"/>
              <a:t>}, and </a:t>
            </a:r>
            <a:br>
              <a:rPr lang="en-US" dirty="0" smtClean="0"/>
            </a:br>
            <a:r>
              <a:rPr lang="en-US" dirty="0" smtClean="0"/>
              <a:t>(ii) </a:t>
            </a:r>
            <a:r>
              <a:rPr lang="en-US" dirty="0"/>
              <a:t>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 smtClean="0"/>
              <a:t>} does not contain all attributes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760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Simplified BCNF Check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03139"/>
            <a:ext cx="8856984" cy="4862165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Checking procedure for a </a:t>
            </a:r>
            <a:r>
              <a:rPr lang="en-US" dirty="0"/>
              <a:t>table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For each closure </a:t>
            </a:r>
            <a:r>
              <a:rPr lang="en-US" dirty="0">
                <a:solidFill>
                  <a:srgbClr val="C00000"/>
                </a:solidFill>
              </a:rPr>
              <a:t>{A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, …, </a:t>
            </a:r>
            <a:r>
              <a:rPr lang="en-US" dirty="0" err="1">
                <a:solidFill>
                  <a:srgbClr val="C00000"/>
                </a:solidFill>
              </a:rPr>
              <a:t>A</a:t>
            </a:r>
            <a:r>
              <a:rPr lang="en-US" baseline="-25000" dirty="0" err="1">
                <a:solidFill>
                  <a:srgbClr val="C00000"/>
                </a:solidFill>
              </a:rPr>
              <a:t>k</a:t>
            </a:r>
            <a:r>
              <a:rPr lang="en-US" dirty="0">
                <a:solidFill>
                  <a:srgbClr val="C00000"/>
                </a:solidFill>
              </a:rPr>
              <a:t>}</a:t>
            </a:r>
            <a:r>
              <a:rPr lang="en-US" sz="2800" baseline="30000" dirty="0">
                <a:solidFill>
                  <a:srgbClr val="C00000"/>
                </a:solidFill>
              </a:rPr>
              <a:t>+</a:t>
            </a:r>
            <a:r>
              <a:rPr lang="en-US" dirty="0">
                <a:solidFill>
                  <a:srgbClr val="C00000"/>
                </a:solidFill>
              </a:rPr>
              <a:t> = {B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…, </a:t>
            </a:r>
            <a:r>
              <a:rPr lang="en-US" dirty="0" err="1">
                <a:solidFill>
                  <a:srgbClr val="C00000"/>
                </a:solidFill>
              </a:rPr>
              <a:t>B</a:t>
            </a:r>
            <a:r>
              <a:rPr lang="en-US" baseline="-25000" dirty="0" err="1">
                <a:solidFill>
                  <a:srgbClr val="C00000"/>
                </a:solidFill>
              </a:rPr>
              <a:t>m</a:t>
            </a:r>
            <a:r>
              <a:rPr lang="en-US" dirty="0" smtClean="0">
                <a:solidFill>
                  <a:srgbClr val="C00000"/>
                </a:solidFill>
              </a:rPr>
              <a:t>}, check if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(i) </a:t>
            </a:r>
            <a:r>
              <a:rPr lang="en-US" dirty="0">
                <a:solidFill>
                  <a:srgbClr val="C00000"/>
                </a:solidFill>
              </a:rPr>
              <a:t>{B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…, </a:t>
            </a:r>
            <a:r>
              <a:rPr lang="en-US" dirty="0" err="1">
                <a:solidFill>
                  <a:srgbClr val="C00000"/>
                </a:solidFill>
              </a:rPr>
              <a:t>B</a:t>
            </a:r>
            <a:r>
              <a:rPr lang="en-US" baseline="-25000" dirty="0" err="1">
                <a:solidFill>
                  <a:srgbClr val="C00000"/>
                </a:solidFill>
              </a:rPr>
              <a:t>m</a:t>
            </a:r>
            <a:r>
              <a:rPr lang="en-US" dirty="0">
                <a:solidFill>
                  <a:srgbClr val="C00000"/>
                </a:solidFill>
              </a:rPr>
              <a:t>} contains more attributes than {A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, …, </a:t>
            </a:r>
            <a:r>
              <a:rPr lang="en-US" dirty="0" err="1">
                <a:solidFill>
                  <a:srgbClr val="C00000"/>
                </a:solidFill>
              </a:rPr>
              <a:t>A</a:t>
            </a:r>
            <a:r>
              <a:rPr lang="en-US" baseline="-25000" dirty="0" err="1">
                <a:solidFill>
                  <a:srgbClr val="C00000"/>
                </a:solidFill>
              </a:rPr>
              <a:t>k</a:t>
            </a:r>
            <a:r>
              <a:rPr lang="en-US" dirty="0" smtClean="0">
                <a:solidFill>
                  <a:srgbClr val="C00000"/>
                </a:solidFill>
              </a:rPr>
              <a:t>}, and </a:t>
            </a:r>
            <a:br>
              <a:rPr lang="en-US" dirty="0" smtClean="0">
                <a:solidFill>
                  <a:srgbClr val="C00000"/>
                </a:solidFill>
              </a:rPr>
            </a:br>
            <a:r>
              <a:rPr lang="en-US" dirty="0" smtClean="0">
                <a:solidFill>
                  <a:srgbClr val="C00000"/>
                </a:solidFill>
              </a:rPr>
              <a:t>(ii) </a:t>
            </a:r>
            <a:r>
              <a:rPr lang="en-US" dirty="0">
                <a:solidFill>
                  <a:srgbClr val="C00000"/>
                </a:solidFill>
              </a:rPr>
              <a:t>{B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C00000"/>
                </a:solidFill>
              </a:rPr>
              <a:t>…, </a:t>
            </a:r>
            <a:r>
              <a:rPr lang="en-US" dirty="0" err="1">
                <a:solidFill>
                  <a:srgbClr val="C00000"/>
                </a:solidFill>
              </a:rPr>
              <a:t>B</a:t>
            </a:r>
            <a:r>
              <a:rPr lang="en-US" baseline="-25000" dirty="0" err="1">
                <a:solidFill>
                  <a:srgbClr val="C00000"/>
                </a:solidFill>
              </a:rPr>
              <a:t>m</a:t>
            </a:r>
            <a:r>
              <a:rPr lang="en-US" dirty="0">
                <a:solidFill>
                  <a:srgbClr val="C00000"/>
                </a:solidFill>
              </a:rPr>
              <a:t>} does not contain all attributes</a:t>
            </a:r>
          </a:p>
          <a:p>
            <a:pPr marL="841375" lvl="1" indent="-514350">
              <a:buFont typeface="+mj-lt"/>
              <a:buAutoNum type="arabicPeriod"/>
            </a:pPr>
            <a:r>
              <a:rPr lang="en-US" dirty="0" smtClean="0">
                <a:solidFill>
                  <a:srgbClr val="C00000"/>
                </a:solidFill>
              </a:rPr>
              <a:t>If such a closure does not exist, then R is in BCNF</a:t>
            </a:r>
          </a:p>
          <a:p>
            <a:r>
              <a:rPr lang="en-US" dirty="0"/>
              <a:t>We are looking for a closure {A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/>
              <a:t>}, such that </a:t>
            </a:r>
            <a:br>
              <a:rPr lang="en-US" dirty="0"/>
            </a:br>
            <a:r>
              <a:rPr lang="en-US" dirty="0"/>
              <a:t>(i) 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/>
              <a:t>} contains more attributes than {A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A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{B</a:t>
            </a:r>
            <a:r>
              <a:rPr lang="en-US" baseline="-25000" dirty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/>
              <a:t>B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  <a:endParaRPr lang="en-US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672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Simplified BCNF </a:t>
            </a:r>
            <a:r>
              <a:rPr lang="en-US" dirty="0"/>
              <a:t>Check</a:t>
            </a:r>
            <a:r>
              <a:rPr lang="en-US" dirty="0" smtClean="0"/>
              <a:t>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</a:t>
            </a:r>
            <a:r>
              <a:rPr lang="en-US" dirty="0" smtClean="0"/>
              <a:t>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 each closure {X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k</a:t>
            </a:r>
            <a:r>
              <a:rPr lang="en-US" dirty="0" smtClean="0"/>
              <a:t>}</a:t>
            </a:r>
            <a:r>
              <a:rPr lang="en-US" sz="3200" baseline="30000" dirty="0" smtClean="0"/>
              <a:t>+</a:t>
            </a:r>
            <a:r>
              <a:rPr lang="en-US" dirty="0" smtClean="0"/>
              <a:t> = {Y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 smtClean="0"/>
              <a:t>}, check if</a:t>
            </a:r>
            <a:br>
              <a:rPr lang="en-US" dirty="0" smtClean="0"/>
            </a:br>
            <a:r>
              <a:rPr lang="en-US" dirty="0" smtClean="0"/>
              <a:t>(i) {Y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 smtClean="0"/>
              <a:t>} contains more attributes than {X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k</a:t>
            </a:r>
            <a:r>
              <a:rPr lang="en-US" dirty="0" smtClean="0"/>
              <a:t>}, and </a:t>
            </a:r>
            <a:br>
              <a:rPr lang="en-US" dirty="0" smtClean="0"/>
            </a:br>
            <a:r>
              <a:rPr lang="en-US" dirty="0" smtClean="0"/>
              <a:t>(ii) {Y</a:t>
            </a:r>
            <a:r>
              <a:rPr lang="en-US" baseline="-25000" dirty="0" smtClean="0"/>
              <a:t>1</a:t>
            </a:r>
            <a:r>
              <a:rPr lang="en-US" dirty="0" smtClean="0"/>
              <a:t>, 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 smtClean="0"/>
              <a:t>} does not contain all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</a:t>
            </a:r>
            <a:r>
              <a:rPr lang="en-US" dirty="0"/>
              <a:t>such a closure does not exist, then R is in BCNF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646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Simplified BCNF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  <a:endParaRPr lang="en-US" dirty="0" smtClean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/>
              <a:t>Compute the closure for each subset of the attributes in </a:t>
            </a:r>
            <a:r>
              <a:rPr lang="en-US" dirty="0" smtClean="0"/>
              <a:t>R</a:t>
            </a:r>
            <a:endParaRPr lang="en-US" dirty="0"/>
          </a:p>
          <a:p>
            <a:pPr lvl="1"/>
            <a:r>
              <a:rPr lang="en-US" dirty="0" smtClean="0"/>
              <a:t>{</a:t>
            </a:r>
            <a:r>
              <a:rPr lang="en-US" dirty="0"/>
              <a:t>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66572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Simplified BCNF Check: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30725"/>
          </a:xfrm>
        </p:spPr>
        <p:txBody>
          <a:bodyPr>
            <a:normAutofit fontScale="92500"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AB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C, C </a:t>
            </a:r>
            <a:r>
              <a:rPr lang="en-SG" dirty="0" smtClean="0">
                <a:sym typeface="Wingdings" pitchFamily="2" charset="2"/>
              </a:rPr>
              <a:t></a:t>
            </a:r>
            <a:r>
              <a:rPr lang="en-SG" dirty="0" smtClean="0"/>
              <a:t> </a:t>
            </a:r>
            <a:r>
              <a:rPr lang="en-SG" dirty="0"/>
              <a:t>D, </a:t>
            </a:r>
            <a:r>
              <a:rPr lang="en-SG" dirty="0" smtClean="0"/>
              <a:t>and D</a:t>
            </a:r>
            <a:r>
              <a:rPr lang="en-SG" dirty="0" smtClean="0">
                <a:sym typeface="Wingdings" pitchFamily="2" charset="2"/>
              </a:rPr>
              <a:t>A</a:t>
            </a:r>
            <a:endParaRPr lang="en-US" dirty="0" smtClean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2. </a:t>
            </a:r>
            <a:r>
              <a:rPr lang="en-US" dirty="0"/>
              <a:t>For each closure </a:t>
            </a:r>
            <a:r>
              <a:rPr lang="en-US" dirty="0" smtClean="0"/>
              <a:t>{X</a:t>
            </a:r>
            <a:r>
              <a:rPr lang="en-US" baseline="-25000" dirty="0" smtClean="0"/>
              <a:t>1</a:t>
            </a:r>
            <a:r>
              <a:rPr lang="en-US" dirty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k</a:t>
            </a:r>
            <a:r>
              <a:rPr lang="en-US" dirty="0"/>
              <a:t>}</a:t>
            </a:r>
            <a:r>
              <a:rPr lang="en-US" sz="2400" baseline="30000" dirty="0"/>
              <a:t>+</a:t>
            </a:r>
            <a:r>
              <a:rPr lang="en-US" dirty="0"/>
              <a:t> = </a:t>
            </a:r>
            <a:r>
              <a:rPr lang="en-US" dirty="0" smtClean="0"/>
              <a:t>{Y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</a:t>
            </a:r>
            <a:r>
              <a:rPr lang="en-US" dirty="0" smtClean="0"/>
              <a:t>{Y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/>
              <a:t>} contains more attributes than </a:t>
            </a:r>
            <a:r>
              <a:rPr lang="en-US" dirty="0" smtClean="0"/>
              <a:t>{X</a:t>
            </a:r>
            <a:r>
              <a:rPr lang="en-US" baseline="-25000" dirty="0" smtClean="0"/>
              <a:t>1</a:t>
            </a:r>
            <a:r>
              <a:rPr lang="en-US" dirty="0"/>
              <a:t>, …, </a:t>
            </a:r>
            <a:r>
              <a:rPr lang="en-US" dirty="0" err="1" smtClean="0"/>
              <a:t>X</a:t>
            </a:r>
            <a:r>
              <a:rPr lang="en-US" baseline="-25000" dirty="0" err="1" smtClean="0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</a:t>
            </a:r>
            <a:r>
              <a:rPr lang="en-US" dirty="0" smtClean="0"/>
              <a:t>{Y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…,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m</a:t>
            </a:r>
            <a:r>
              <a:rPr lang="en-US" dirty="0"/>
              <a:t>} does not contain all attributes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{ABCD},  {AC}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ACD},  </a:t>
            </a:r>
            <a:r>
              <a:rPr lang="en-US" dirty="0"/>
              <a:t>{AD}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AD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{BC}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},  {CD}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{BCD</a:t>
            </a:r>
            <a:r>
              <a:rPr lang="en-US" dirty="0"/>
              <a:t>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= {ABCD} 	</a:t>
            </a:r>
            <a:endParaRPr lang="en-US" dirty="0" smtClean="0"/>
          </a:p>
          <a:p>
            <a:pPr lvl="1"/>
            <a:r>
              <a:rPr lang="en-US" dirty="0" smtClean="0"/>
              <a:t>{ACD}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dirty="0" smtClean="0"/>
              <a:t>= {ACD}</a:t>
            </a:r>
          </a:p>
          <a:p>
            <a:pPr lvl="1"/>
            <a:r>
              <a:rPr lang="en-US" dirty="0" smtClean="0"/>
              <a:t>{</a:t>
            </a:r>
            <a:r>
              <a:rPr lang="en-US" dirty="0"/>
              <a:t>ABCD}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sz="2800" baseline="-25000" dirty="0">
                <a:solidFill>
                  <a:srgbClr val="000000"/>
                </a:solidFill>
              </a:rPr>
              <a:t> </a:t>
            </a:r>
            <a:r>
              <a:rPr lang="en-US" sz="2800" dirty="0"/>
              <a:t>= {ABCD}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084168" y="5157192"/>
            <a:ext cx="2579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Not 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483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D) with FDs </a:t>
            </a:r>
            <a:r>
              <a:rPr lang="en-SG" dirty="0" smtClean="0"/>
              <a:t>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</a:t>
            </a:r>
            <a:r>
              <a:rPr lang="en-SG" dirty="0" smtClean="0"/>
              <a:t>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</a:t>
            </a:r>
            <a:r>
              <a:rPr lang="en-SG" dirty="0" smtClean="0"/>
              <a:t>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BCNF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3880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</a:t>
            </a:r>
            <a:r>
              <a:rPr lang="en-SG" dirty="0" smtClean="0"/>
              <a:t>B, C, D) with FDs </a:t>
            </a:r>
            <a:r>
              <a:rPr lang="en-SG" dirty="0"/>
              <a:t>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 smtClean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BCD},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{D</a:t>
            </a:r>
            <a:r>
              <a:rPr lang="en-US" dirty="0"/>
              <a:t>}</a:t>
            </a:r>
            <a:endParaRPr lang="en-US" baseline="-25000" dirty="0"/>
          </a:p>
          <a:p>
            <a:pPr marL="327025" lvl="1" indent="0">
              <a:buNone/>
            </a:pPr>
            <a:r>
              <a:rPr lang="en-US" dirty="0" smtClean="0"/>
              <a:t>2. </a:t>
            </a: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327025" lvl="1" indent="0">
              <a:buNone/>
            </a:pPr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12160" y="836712"/>
            <a:ext cx="25795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Not 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22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D) with FDs A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B,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</a:t>
            </a:r>
            <a:r>
              <a:rPr lang="en-SG" dirty="0">
                <a:sym typeface="Wingdings" pitchFamily="2" charset="2"/>
              </a:rPr>
              <a:t>D, and DA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BCNF</a:t>
            </a:r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155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D) with FDs A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B, 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</a:t>
            </a:r>
            <a:r>
              <a:rPr lang="en-SG" dirty="0">
                <a:sym typeface="Wingdings" pitchFamily="2" charset="2"/>
              </a:rPr>
              <a:t>D, and DA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 smtClean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</a:t>
            </a:r>
            <a:r>
              <a:rPr lang="en-US" dirty="0" smtClean="0"/>
              <a:t>ABCD},  </a:t>
            </a:r>
            <a:r>
              <a:rPr lang="en-US" dirty="0"/>
              <a:t>{B}</a:t>
            </a:r>
            <a:r>
              <a:rPr lang="en-US" sz="4000" baseline="30000" dirty="0"/>
              <a:t>+</a:t>
            </a:r>
            <a:r>
              <a:rPr lang="en-US" dirty="0"/>
              <a:t>= </a:t>
            </a:r>
            <a:r>
              <a:rPr lang="en-US" dirty="0" smtClean="0"/>
              <a:t>{ABCD},  </a:t>
            </a:r>
            <a:r>
              <a:rPr lang="en-US" dirty="0"/>
              <a:t>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{ABCD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sz="2800" dirty="0" smtClean="0"/>
              <a:t>The others are all {ABCD}</a:t>
            </a:r>
            <a:r>
              <a:rPr lang="en-US" sz="2800" dirty="0"/>
              <a:t>	</a:t>
            </a:r>
            <a:endParaRPr lang="en-US" dirty="0"/>
          </a:p>
          <a:p>
            <a:pPr marL="327025" lvl="1" indent="0">
              <a:buNone/>
            </a:pPr>
            <a:r>
              <a:rPr lang="en-US" dirty="0"/>
              <a:t>2.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841375" lvl="1" indent="-514350"/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6560680" y="764704"/>
            <a:ext cx="18277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04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D, E)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E, E </a:t>
            </a:r>
            <a:r>
              <a:rPr lang="en-SG" dirty="0">
                <a:sym typeface="Wingdings" pitchFamily="2" charset="2"/>
              </a:rPr>
              <a:t> A, and E  D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BCNF</a:t>
            </a:r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825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R(A, B, C, </a:t>
            </a:r>
            <a:r>
              <a:rPr lang="en-SG" dirty="0" smtClean="0"/>
              <a:t>D, E) with</a:t>
            </a:r>
            <a:r>
              <a:rPr lang="en-SG" dirty="0"/>
              <a:t>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E, E </a:t>
            </a:r>
            <a:r>
              <a:rPr lang="en-SG" dirty="0">
                <a:sym typeface="Wingdings" pitchFamily="2" charset="2"/>
              </a:rPr>
              <a:t> A, and E  D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 smtClean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</a:t>
            </a:r>
            <a:r>
              <a:rPr lang="en-US" dirty="0" smtClean="0"/>
              <a:t>ACDE},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{D}</a:t>
            </a:r>
            <a:r>
              <a:rPr lang="en-US" dirty="0"/>
              <a:t> ,  </a:t>
            </a:r>
            <a:r>
              <a:rPr lang="en-US" dirty="0" smtClean="0"/>
              <a:t>{E}</a:t>
            </a:r>
            <a:r>
              <a:rPr lang="en-US" sz="36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{ADE}</a:t>
            </a:r>
            <a:endParaRPr lang="en-US" baseline="-25000" dirty="0"/>
          </a:p>
          <a:p>
            <a:pPr marL="327025" lvl="1" indent="0">
              <a:buNone/>
            </a:pPr>
            <a:r>
              <a:rPr lang="en-US" dirty="0" smtClean="0"/>
              <a:t>2</a:t>
            </a:r>
            <a:r>
              <a:rPr lang="en-US" dirty="0"/>
              <a:t>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841375" lvl="1" indent="-514350"/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12160" y="764704"/>
            <a:ext cx="26885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Not 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85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R(A, B, C, </a:t>
            </a:r>
            <a:r>
              <a:rPr lang="en-SG" dirty="0" smtClean="0"/>
              <a:t>D) </a:t>
            </a:r>
            <a:r>
              <a:rPr lang="en-SG" dirty="0"/>
              <a:t>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</a:t>
            </a:r>
            <a:r>
              <a:rPr lang="en-SG" dirty="0" smtClean="0"/>
              <a:t>D, BD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</a:t>
            </a:r>
            <a:r>
              <a:rPr lang="en-SG" dirty="0" smtClean="0"/>
              <a:t>C, CD </a:t>
            </a:r>
            <a:r>
              <a:rPr lang="en-SG" dirty="0">
                <a:sym typeface="Wingdings" pitchFamily="2" charset="2"/>
              </a:rPr>
              <a:t> A, and </a:t>
            </a:r>
            <a:r>
              <a:rPr lang="en-SG" dirty="0" smtClean="0">
                <a:sym typeface="Wingdings" pitchFamily="2" charset="2"/>
              </a:rPr>
              <a:t>AC </a:t>
            </a:r>
            <a:r>
              <a:rPr lang="en-SG" dirty="0">
                <a:sym typeface="Wingdings" pitchFamily="2" charset="2"/>
              </a:rPr>
              <a:t> </a:t>
            </a:r>
            <a:r>
              <a:rPr lang="en-SG" dirty="0" smtClean="0">
                <a:sym typeface="Wingdings" pitchFamily="2" charset="2"/>
              </a:rPr>
              <a:t>B</a:t>
            </a:r>
            <a:endParaRPr lang="en-US" dirty="0">
              <a:sym typeface="Wingdings" pitchFamily="2" charset="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 the closure for each subset of the attributes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32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such a closure does not exist, then R is in BCNF</a:t>
            </a:r>
          </a:p>
          <a:p>
            <a:pPr marL="841375" lvl="1" indent="-51435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3604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SG" dirty="0"/>
              <a:t>R(A, B, C, D) with FDs AB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D, BD </a:t>
            </a:r>
            <a:r>
              <a:rPr lang="en-SG" dirty="0">
                <a:sym typeface="Wingdings" pitchFamily="2" charset="2"/>
              </a:rPr>
              <a:t></a:t>
            </a:r>
            <a:r>
              <a:rPr lang="en-SG" dirty="0"/>
              <a:t> C, CD </a:t>
            </a:r>
            <a:r>
              <a:rPr lang="en-SG" dirty="0">
                <a:sym typeface="Wingdings" pitchFamily="2" charset="2"/>
              </a:rPr>
              <a:t> A, and AC  B</a:t>
            </a:r>
            <a:endParaRPr lang="en-US" dirty="0">
              <a:sym typeface="Wingdings" pitchFamily="2" charset="2"/>
            </a:endParaRPr>
          </a:p>
          <a:p>
            <a:pPr marL="344487" lvl="1" indent="0">
              <a:buNone/>
            </a:pPr>
            <a:r>
              <a:rPr lang="en-US" dirty="0" smtClean="0">
                <a:sym typeface="Wingdings" pitchFamily="2" charset="2"/>
              </a:rPr>
              <a:t>1. </a:t>
            </a:r>
            <a:r>
              <a:rPr lang="en-US" dirty="0" smtClean="0"/>
              <a:t>Compute the closure for each subset of the attributes in R</a:t>
            </a:r>
          </a:p>
          <a:p>
            <a:pPr lvl="1"/>
            <a:r>
              <a:rPr lang="en-US" dirty="0"/>
              <a:t>{A}</a:t>
            </a:r>
            <a:r>
              <a:rPr lang="en-US" sz="4000" baseline="30000" dirty="0"/>
              <a:t>+</a:t>
            </a:r>
            <a:r>
              <a:rPr lang="en-US" dirty="0"/>
              <a:t>= {A},  {B}</a:t>
            </a:r>
            <a:r>
              <a:rPr lang="en-US" sz="4000" baseline="30000" dirty="0"/>
              <a:t>+</a:t>
            </a:r>
            <a:r>
              <a:rPr lang="en-US" dirty="0"/>
              <a:t>= {B},  {C}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{C},  </a:t>
            </a:r>
            <a:r>
              <a:rPr lang="en-US" dirty="0"/>
              <a:t>{D}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{D</a:t>
            </a:r>
            <a:r>
              <a:rPr lang="en-US" dirty="0"/>
              <a:t>}</a:t>
            </a:r>
            <a:endParaRPr lang="en-US" baseline="-25000" dirty="0"/>
          </a:p>
          <a:p>
            <a:pPr lvl="1"/>
            <a:r>
              <a:rPr lang="en-US" dirty="0"/>
              <a:t>{AB}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</a:t>
            </a:r>
            <a:r>
              <a:rPr lang="en-US" dirty="0" smtClean="0"/>
              <a:t>{BD}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{CD}</a:t>
            </a:r>
            <a:r>
              <a:rPr lang="en-US" sz="36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</a:t>
            </a:r>
            <a:r>
              <a:rPr lang="en-US" dirty="0"/>
              <a:t>{AC</a:t>
            </a:r>
            <a:r>
              <a:rPr lang="en-US" dirty="0" smtClean="0"/>
              <a:t>}</a:t>
            </a:r>
            <a:r>
              <a:rPr lang="en-US" sz="36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{ABCD</a:t>
            </a:r>
            <a:r>
              <a:rPr lang="en-US" dirty="0"/>
              <a:t>},  </a:t>
            </a:r>
          </a:p>
          <a:p>
            <a:pPr lvl="1"/>
            <a:r>
              <a:rPr lang="en-US" dirty="0"/>
              <a:t>{AD}</a:t>
            </a:r>
            <a:r>
              <a:rPr lang="en-US" sz="36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{AD</a:t>
            </a:r>
            <a:r>
              <a:rPr lang="en-US" dirty="0" smtClean="0"/>
              <a:t>}, {BC}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dirty="0" smtClean="0"/>
              <a:t>= {BC}</a:t>
            </a:r>
            <a:endParaRPr lang="en-US" baseline="-25000" dirty="0"/>
          </a:p>
          <a:p>
            <a:pPr lvl="1"/>
            <a:r>
              <a:rPr lang="en-US" dirty="0"/>
              <a:t>{ABC}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{ABD}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= {BCD}</a:t>
            </a:r>
            <a:r>
              <a:rPr lang="en-US" sz="4000" baseline="30000" dirty="0">
                <a:solidFill>
                  <a:srgbClr val="000000"/>
                </a:solidFill>
              </a:rPr>
              <a:t>+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dirty="0"/>
              <a:t>{ACD}</a:t>
            </a:r>
            <a:r>
              <a:rPr lang="en-US" sz="3600" baseline="30000" dirty="0">
                <a:solidFill>
                  <a:srgbClr val="000000"/>
                </a:solidFill>
              </a:rPr>
              <a:t>+ </a:t>
            </a:r>
            <a:r>
              <a:rPr lang="en-US" dirty="0" smtClean="0"/>
              <a:t>= </a:t>
            </a:r>
            <a:r>
              <a:rPr lang="en-US" dirty="0"/>
              <a:t>{ABCD} 	</a:t>
            </a:r>
          </a:p>
          <a:p>
            <a:pPr lvl="1"/>
            <a:r>
              <a:rPr lang="en-US" dirty="0" smtClean="0"/>
              <a:t>{ABCD}</a:t>
            </a:r>
            <a:r>
              <a:rPr lang="en-US" sz="4000" baseline="30000" dirty="0" smtClean="0">
                <a:solidFill>
                  <a:srgbClr val="000000"/>
                </a:solidFill>
              </a:rPr>
              <a:t>+</a:t>
            </a:r>
            <a:r>
              <a:rPr lang="en-US" sz="2800" baseline="-25000" dirty="0" smtClean="0">
                <a:solidFill>
                  <a:srgbClr val="000000"/>
                </a:solidFill>
              </a:rPr>
              <a:t> </a:t>
            </a:r>
            <a:r>
              <a:rPr lang="en-US" sz="2800" dirty="0" smtClean="0"/>
              <a:t>= {ABCD} </a:t>
            </a:r>
          </a:p>
          <a:p>
            <a:pPr marL="344487" lvl="1" indent="0">
              <a:buNone/>
            </a:pPr>
            <a:r>
              <a:rPr lang="en-US" dirty="0" smtClean="0"/>
              <a:t>2</a:t>
            </a:r>
            <a:r>
              <a:rPr lang="en-US" dirty="0"/>
              <a:t>. For each closure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</a:t>
            </a:r>
            <a:r>
              <a:rPr lang="en-US" sz="2800" baseline="30000" dirty="0"/>
              <a:t>+</a:t>
            </a:r>
            <a:r>
              <a:rPr lang="en-US" dirty="0"/>
              <a:t> =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}, check if</a:t>
            </a:r>
            <a:br>
              <a:rPr lang="en-US" dirty="0"/>
            </a:br>
            <a:r>
              <a:rPr lang="en-US" dirty="0"/>
              <a:t>(i)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contains more attributes than {X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X</a:t>
            </a:r>
            <a:r>
              <a:rPr lang="en-US" baseline="-25000" dirty="0" err="1"/>
              <a:t>k</a:t>
            </a:r>
            <a:r>
              <a:rPr lang="en-US" dirty="0"/>
              <a:t>}, and </a:t>
            </a:r>
            <a:br>
              <a:rPr lang="en-US" dirty="0"/>
            </a:br>
            <a:r>
              <a:rPr lang="en-US" dirty="0"/>
              <a:t>(ii) {Y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Y</a:t>
            </a:r>
            <a:r>
              <a:rPr lang="en-US" baseline="-25000" dirty="0" err="1"/>
              <a:t>m</a:t>
            </a:r>
            <a:r>
              <a:rPr lang="en-US" dirty="0"/>
              <a:t>} does not contain all attributes</a:t>
            </a:r>
          </a:p>
          <a:p>
            <a:pPr marL="841375" lvl="1" indent="-514350"/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12160" y="764704"/>
            <a:ext cx="18277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omic Sans MS" pitchFamily="66" charset="0"/>
              </a:rPr>
              <a:t>In BCNF</a:t>
            </a:r>
            <a:endParaRPr lang="en-SG" sz="3200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12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we know how to check whether a table is in BCNF</a:t>
            </a:r>
          </a:p>
          <a:p>
            <a:r>
              <a:rPr lang="en-US" dirty="0" smtClean="0"/>
              <a:t>Next: If a table is not in BCNF, how to “improve” it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5962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Decomposition</a:t>
            </a:r>
            <a:endParaRPr lang="en-SG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435280" cy="1080120"/>
          </a:xfrm>
        </p:spPr>
        <p:txBody>
          <a:bodyPr>
            <a:normAutofit/>
          </a:bodyPr>
          <a:lstStyle/>
          <a:p>
            <a:r>
              <a:rPr lang="en-US" dirty="0" smtClean="0"/>
              <a:t>Decomposing non-BCNF tables into smaller ones in BCNF</a:t>
            </a:r>
          </a:p>
          <a:p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6702793"/>
              </p:ext>
            </p:extLst>
          </p:nvPr>
        </p:nvGraphicFramePr>
        <p:xfrm>
          <a:off x="457200" y="1124744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Name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67899876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83848384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 smtClean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Bob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98765432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itchFamily="34" charset="0"/>
                        </a:rPr>
                        <a:t>Ris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9874541"/>
              </p:ext>
            </p:extLst>
          </p:nvPr>
        </p:nvGraphicFramePr>
        <p:xfrm>
          <a:off x="467544" y="4221088"/>
          <a:ext cx="44644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Name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Bob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itchFamily="34" charset="0"/>
                        </a:rPr>
                        <a:t>Ris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685749"/>
              </p:ext>
            </p:extLst>
          </p:nvPr>
        </p:nvGraphicFramePr>
        <p:xfrm>
          <a:off x="5292080" y="4249688"/>
          <a:ext cx="33843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67899876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83848384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98765432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00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Decompose, until all </a:t>
            </a:r>
            <a:r>
              <a:rPr lang="en-US" altLang="zh-CN" dirty="0" smtClean="0"/>
              <a:t>are </a:t>
            </a:r>
            <a:r>
              <a:rPr lang="en-US" dirty="0" smtClean="0"/>
              <a:t>in BCNF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0328131"/>
              </p:ext>
            </p:extLst>
          </p:nvPr>
        </p:nvGraphicFramePr>
        <p:xfrm>
          <a:off x="4262545" y="1196752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3823349"/>
              </p:ext>
            </p:extLst>
          </p:nvPr>
        </p:nvGraphicFramePr>
        <p:xfrm>
          <a:off x="2843808" y="2689756"/>
          <a:ext cx="1512168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3319776"/>
              </p:ext>
            </p:extLst>
          </p:nvPr>
        </p:nvGraphicFramePr>
        <p:xfrm>
          <a:off x="6134753" y="2689756"/>
          <a:ext cx="1512168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8917752"/>
              </p:ext>
            </p:extLst>
          </p:nvPr>
        </p:nvGraphicFramePr>
        <p:xfrm>
          <a:off x="1547664" y="4375760"/>
          <a:ext cx="100811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208005"/>
              </p:ext>
            </p:extLst>
          </p:nvPr>
        </p:nvGraphicFramePr>
        <p:xfrm>
          <a:off x="4283968" y="4375760"/>
          <a:ext cx="1008112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041974" y="1124744"/>
            <a:ext cx="21932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Not in BCNF?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3698158" y="2132856"/>
            <a:ext cx="1284468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3842174" y="3625860"/>
            <a:ext cx="1296144" cy="6936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7" name="Rectangle 16"/>
          <p:cNvSpPr/>
          <p:nvPr/>
        </p:nvSpPr>
        <p:spPr>
          <a:xfrm>
            <a:off x="6892502" y="3573016"/>
            <a:ext cx="157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 bwMode="auto">
          <a:xfrm flipH="1">
            <a:off x="2174313" y="3625860"/>
            <a:ext cx="1152128" cy="72008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506563" y="2617748"/>
            <a:ext cx="21932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Not in BCNF?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5558689" y="2132856"/>
            <a:ext cx="1595853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2041974" y="1537628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29806" y="3049796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76256" y="4005064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53136" y="5229200"/>
            <a:ext cx="157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BCNF?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236890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84190" y="5229200"/>
            <a:ext cx="15776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BCNF?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067944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708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9" grpId="0"/>
      <p:bldP spid="21" grpId="0"/>
      <p:bldP spid="22" grpId="0"/>
      <p:bldP spid="23" grpId="0"/>
      <p:bldP spid="29" grpId="0"/>
      <p:bldP spid="30" grpId="0"/>
      <p:bldP spid="31" grpId="0"/>
      <p:bldP spid="32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Input: a table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Find a subset X of the attributes in R, such that its closure X</a:t>
            </a:r>
            <a:r>
              <a:rPr lang="en-US" sz="4000" baseline="30000" dirty="0" smtClean="0"/>
              <a:t>+</a:t>
            </a:r>
            <a:r>
              <a:rPr lang="en-US" dirty="0" smtClean="0"/>
              <a:t> (i) contains more attributes than X, but (ii) does not contain all attribute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Decompose </a:t>
            </a:r>
            <a:r>
              <a:rPr lang="en-US" dirty="0"/>
              <a:t>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R</a:t>
            </a:r>
            <a:r>
              <a:rPr lang="en-US" baseline="-25000" dirty="0" smtClean="0"/>
              <a:t>1 </a:t>
            </a:r>
            <a:r>
              <a:rPr lang="en-US" dirty="0" smtClean="0"/>
              <a:t>is not in BCNF, further decompose R</a:t>
            </a:r>
            <a:r>
              <a:rPr lang="en-US" baseline="-25000" dirty="0" smtClean="0"/>
              <a:t>1</a:t>
            </a:r>
            <a:r>
              <a:rPr lang="en-US" dirty="0" smtClean="0"/>
              <a:t>;</a:t>
            </a:r>
            <a:br>
              <a:rPr lang="en-US" dirty="0" smtClean="0"/>
            </a:br>
            <a:r>
              <a:rPr lang="en-US" dirty="0" smtClean="0"/>
              <a:t>If R</a:t>
            </a:r>
            <a:r>
              <a:rPr lang="en-US" baseline="-25000" dirty="0" smtClean="0"/>
              <a:t>2 </a:t>
            </a:r>
            <a:r>
              <a:rPr lang="en-US" dirty="0"/>
              <a:t>is not in BCNF, </a:t>
            </a:r>
            <a:r>
              <a:rPr lang="en-US" dirty="0" smtClean="0"/>
              <a:t>further decompose R</a:t>
            </a:r>
            <a:r>
              <a:rPr lang="en-US" baseline="-25000" dirty="0" smtClean="0"/>
              <a:t>2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841375" lvl="1" indent="-514350"/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3450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Decomposition: Example</a:t>
            </a:r>
            <a:endParaRPr lang="en-SG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435280" cy="3024336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FDs: NRIC </a:t>
            </a:r>
            <a:r>
              <a:rPr lang="en-US" dirty="0" smtClean="0">
                <a:sym typeface="Wingdings" pitchFamily="2" charset="2"/>
              </a:rPr>
              <a:t> Name, </a:t>
            </a:r>
            <a:r>
              <a:rPr lang="en-US" dirty="0" err="1" smtClean="0">
                <a:sym typeface="Wingdings" pitchFamily="2" charset="2"/>
              </a:rPr>
              <a:t>HomeAddress</a:t>
            </a:r>
            <a:endParaRPr lang="en-US" dirty="0" smtClean="0">
              <a:sym typeface="Wingdings" pitchFamily="2" charset="2"/>
            </a:endParaRPr>
          </a:p>
          <a:p>
            <a:pPr marL="327025" lvl="1" indent="0">
              <a:buNone/>
            </a:pPr>
            <a:r>
              <a:rPr lang="en-US" dirty="0" smtClean="0"/>
              <a:t>1. Find </a:t>
            </a:r>
            <a:r>
              <a:rPr lang="en-US" dirty="0"/>
              <a:t>a subset X of the attributes in R, such that its closure X</a:t>
            </a:r>
            <a:r>
              <a:rPr lang="en-US" sz="3600" baseline="30000" dirty="0"/>
              <a:t>+</a:t>
            </a:r>
            <a:r>
              <a:rPr lang="en-US" dirty="0"/>
              <a:t> (i) contains more attributes than X, but (ii) does not contain all attribute in </a:t>
            </a:r>
            <a:r>
              <a:rPr lang="en-US" dirty="0" smtClean="0"/>
              <a:t>R</a:t>
            </a:r>
          </a:p>
          <a:p>
            <a:r>
              <a:rPr lang="en-US" dirty="0"/>
              <a:t>{NRIC}</a:t>
            </a:r>
            <a:r>
              <a:rPr lang="en-US" sz="3600" baseline="30000" dirty="0"/>
              <a:t>+</a:t>
            </a:r>
            <a:r>
              <a:rPr lang="en-US" dirty="0"/>
              <a:t> = </a:t>
            </a:r>
            <a:r>
              <a:rPr lang="en-US" dirty="0" smtClean="0"/>
              <a:t>{Name</a:t>
            </a:r>
            <a:r>
              <a:rPr lang="en-US" dirty="0"/>
              <a:t>, NRIC, </a:t>
            </a:r>
            <a:r>
              <a:rPr lang="en-US" dirty="0" err="1" smtClean="0"/>
              <a:t>HomeAddress</a:t>
            </a:r>
            <a:r>
              <a:rPr lang="en-US" dirty="0" smtClean="0"/>
              <a:t>}</a:t>
            </a:r>
          </a:p>
          <a:p>
            <a:pPr marL="344487" lvl="1" indent="0">
              <a:buNone/>
            </a:pPr>
            <a:r>
              <a:rPr lang="en-US" dirty="0"/>
              <a:t>2. Decompose 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baseline="30000" dirty="0" smtClean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(Name</a:t>
            </a:r>
            <a:r>
              <a:rPr lang="en-US" dirty="0"/>
              <a:t>, NRIC, </a:t>
            </a:r>
            <a:r>
              <a:rPr lang="en-US" dirty="0" err="1" smtClean="0"/>
              <a:t>HomeAddress</a:t>
            </a:r>
            <a:r>
              <a:rPr lang="en-US" dirty="0" smtClean="0"/>
              <a:t>), R</a:t>
            </a:r>
            <a:r>
              <a:rPr lang="en-US" baseline="-25000" dirty="0" smtClean="0"/>
              <a:t>2</a:t>
            </a:r>
            <a:r>
              <a:rPr lang="en-US" dirty="0" smtClean="0"/>
              <a:t>(NRIC, </a:t>
            </a:r>
            <a:r>
              <a:rPr lang="en-US" dirty="0" err="1" smtClean="0"/>
              <a:t>PhoneNumber</a:t>
            </a:r>
            <a:r>
              <a:rPr lang="en-US" dirty="0" smtClean="0"/>
              <a:t>)</a:t>
            </a:r>
          </a:p>
          <a:p>
            <a:pPr marL="344487" lvl="1" indent="0">
              <a:buNone/>
            </a:pPr>
            <a:r>
              <a:rPr lang="en-US" dirty="0" smtClean="0"/>
              <a:t>3. Check if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are in BCNF</a:t>
            </a:r>
            <a:endParaRPr lang="en-US" dirty="0"/>
          </a:p>
          <a:p>
            <a:pPr marL="841375" lvl="1" indent="-514350"/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4024269"/>
              </p:ext>
            </p:extLst>
          </p:nvPr>
        </p:nvGraphicFramePr>
        <p:xfrm>
          <a:off x="457200" y="1124744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Name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67899876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83848384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 smtClean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Bob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98765432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itchFamily="34" charset="0"/>
                        </a:rPr>
                        <a:t>Ris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48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Decomposition: Example</a:t>
            </a:r>
            <a:endParaRPr lang="en-SG" dirty="0"/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7610886"/>
              </p:ext>
            </p:extLst>
          </p:nvPr>
        </p:nvGraphicFramePr>
        <p:xfrm>
          <a:off x="457200" y="1124744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Name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67899876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83848384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 smtClean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Bob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98765432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itchFamily="34" charset="0"/>
                        </a:rPr>
                        <a:t>Ris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4606924"/>
              </p:ext>
            </p:extLst>
          </p:nvPr>
        </p:nvGraphicFramePr>
        <p:xfrm>
          <a:off x="467544" y="4221088"/>
          <a:ext cx="44644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Name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HomeAddress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Alice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East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Bob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itchFamily="34" charset="0"/>
                        </a:rPr>
                        <a:t>Ris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936621"/>
              </p:ext>
            </p:extLst>
          </p:nvPr>
        </p:nvGraphicFramePr>
        <p:xfrm>
          <a:off x="5292080" y="4249688"/>
          <a:ext cx="33843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itchFamily="34" charset="0"/>
                        </a:rPr>
                        <a:t>NRIC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itchFamily="34" charset="0"/>
                        </a:rPr>
                        <a:t>PhoneNumber</a:t>
                      </a:r>
                      <a:endParaRPr lang="en-SG" sz="2400" u="sng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67899876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1234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83848384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5678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itchFamily="34" charset="0"/>
                        </a:rPr>
                        <a:t>98765432</a:t>
                      </a:r>
                      <a:endParaRPr lang="en-SG" sz="2400" dirty="0">
                        <a:latin typeface="Calibri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Down Arrow 2"/>
          <p:cNvSpPr/>
          <p:nvPr/>
        </p:nvSpPr>
        <p:spPr bwMode="auto">
          <a:xfrm>
            <a:off x="4067944" y="3068960"/>
            <a:ext cx="504056" cy="1008112"/>
          </a:xfrm>
          <a:prstGeom prst="downArrow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99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Decomposition: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R(A, B, C, D) with FDs A</a:t>
            </a:r>
            <a:r>
              <a:rPr lang="en-US" dirty="0" smtClean="0">
                <a:sym typeface="Wingdings" pitchFamily="2" charset="2"/>
              </a:rPr>
              <a:t>B, BC</a:t>
            </a:r>
          </a:p>
          <a:p>
            <a:pPr marL="0" indent="0">
              <a:buNone/>
            </a:pPr>
            <a:r>
              <a:rPr lang="en-US" dirty="0" smtClean="0"/>
              <a:t>1. Find </a:t>
            </a:r>
            <a:r>
              <a:rPr lang="en-US" dirty="0"/>
              <a:t>a subset X of the attributes in R, 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</a:t>
            </a:r>
            <a:r>
              <a:rPr lang="en-US" dirty="0" smtClean="0"/>
              <a:t>R</a:t>
            </a:r>
          </a:p>
          <a:p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{A, B, C}</a:t>
            </a:r>
          </a:p>
          <a:p>
            <a:pPr marL="0" indent="0">
              <a:buNone/>
            </a:pPr>
            <a:r>
              <a:rPr lang="en-US" dirty="0" smtClean="0"/>
              <a:t>2. Decompose </a:t>
            </a:r>
            <a:r>
              <a:rPr lang="en-US" dirty="0"/>
              <a:t>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(A, B, C), R</a:t>
            </a:r>
            <a:r>
              <a:rPr lang="en-US" baseline="-25000" dirty="0" smtClean="0"/>
              <a:t>2</a:t>
            </a:r>
            <a:r>
              <a:rPr lang="en-US" dirty="0" smtClean="0"/>
              <a:t>(A, D)</a:t>
            </a:r>
          </a:p>
          <a:p>
            <a:pPr marL="0" indent="0">
              <a:buNone/>
            </a:pPr>
            <a:r>
              <a:rPr lang="en-US" dirty="0" smtClean="0"/>
              <a:t>3. Check if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are in BCNF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: No, R</a:t>
            </a:r>
            <a:r>
              <a:rPr lang="en-US" baseline="-25000" dirty="0" smtClean="0"/>
              <a:t>2</a:t>
            </a:r>
            <a:r>
              <a:rPr lang="en-US" dirty="0" smtClean="0"/>
              <a:t>: Yes</a:t>
            </a:r>
          </a:p>
          <a:p>
            <a:pPr marL="0" indent="0">
              <a:buNone/>
            </a:pPr>
            <a:r>
              <a:rPr lang="en-US" dirty="0" smtClean="0"/>
              <a:t>4. Further decompose R</a:t>
            </a:r>
            <a:r>
              <a:rPr lang="en-US" baseline="-25000" dirty="0" smtClean="0"/>
              <a:t>1</a:t>
            </a:r>
            <a:endParaRPr lang="en-US" baseline="-25000" dirty="0"/>
          </a:p>
          <a:p>
            <a:endParaRPr lang="en-US" dirty="0" smtClean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9993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Decomposition: Example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618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R(A, B, C, D) with FDs A</a:t>
            </a:r>
            <a:r>
              <a:rPr lang="en-US" dirty="0" smtClean="0">
                <a:sym typeface="Wingdings" pitchFamily="2" charset="2"/>
              </a:rPr>
              <a:t>B, BC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(A, B, C), R</a:t>
            </a:r>
            <a:r>
              <a:rPr lang="en-US" baseline="-25000" dirty="0" smtClean="0"/>
              <a:t>2</a:t>
            </a:r>
            <a:r>
              <a:rPr lang="en-US" dirty="0" smtClean="0"/>
              <a:t>(A, D)</a:t>
            </a:r>
          </a:p>
          <a:p>
            <a:r>
              <a:rPr lang="en-US" dirty="0" smtClean="0"/>
              <a:t>Further decompose R</a:t>
            </a:r>
            <a:r>
              <a:rPr lang="en-US" baseline="-25000" dirty="0" smtClean="0"/>
              <a:t>1</a:t>
            </a:r>
          </a:p>
          <a:p>
            <a:pPr marL="0" indent="0">
              <a:buNone/>
            </a:pPr>
            <a:r>
              <a:rPr lang="en-US" dirty="0"/>
              <a:t>1. Find a subset X of the attributes in </a:t>
            </a:r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dirty="0"/>
              <a:t>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R</a:t>
            </a:r>
          </a:p>
          <a:p>
            <a:r>
              <a:rPr lang="en-US" dirty="0"/>
              <a:t>{A}</a:t>
            </a:r>
            <a:r>
              <a:rPr lang="en-US" baseline="30000" dirty="0"/>
              <a:t>+</a:t>
            </a:r>
            <a:r>
              <a:rPr lang="en-US" dirty="0"/>
              <a:t> = {A, B, C</a:t>
            </a:r>
            <a:r>
              <a:rPr lang="en-US" dirty="0" smtClean="0"/>
              <a:t>}, {B}</a:t>
            </a:r>
            <a:r>
              <a:rPr lang="en-US" baseline="30000" dirty="0" smtClean="0"/>
              <a:t>+</a:t>
            </a:r>
            <a:r>
              <a:rPr lang="en-US" dirty="0" smtClean="0"/>
              <a:t> = {B, C}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Decompose </a:t>
            </a:r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 </a:t>
            </a:r>
            <a:r>
              <a:rPr lang="en-US" dirty="0"/>
              <a:t>into two tables </a:t>
            </a:r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smtClean="0"/>
              <a:t>R</a:t>
            </a:r>
            <a:r>
              <a:rPr lang="en-US" baseline="-25000" dirty="0" smtClean="0"/>
              <a:t>4</a:t>
            </a:r>
            <a:r>
              <a:rPr lang="en-US" dirty="0" smtClean="0"/>
              <a:t>, </a:t>
            </a:r>
            <a:r>
              <a:rPr lang="en-US" dirty="0"/>
              <a:t>such that</a:t>
            </a:r>
          </a:p>
          <a:p>
            <a:pPr marL="841375" lvl="1" indent="-514350"/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 </a:t>
            </a:r>
            <a:r>
              <a:rPr lang="en-US" dirty="0"/>
              <a:t>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 smtClean="0"/>
              <a:t>R</a:t>
            </a:r>
            <a:r>
              <a:rPr lang="en-US" baseline="-25000" dirty="0" smtClean="0"/>
              <a:t>4</a:t>
            </a:r>
            <a:r>
              <a:rPr lang="en-US" dirty="0" smtClean="0"/>
              <a:t> </a:t>
            </a:r>
            <a:r>
              <a:rPr lang="en-US" dirty="0"/>
              <a:t>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(B</a:t>
            </a:r>
            <a:r>
              <a:rPr lang="en-US" dirty="0"/>
              <a:t>, C), </a:t>
            </a:r>
            <a:r>
              <a:rPr lang="en-US" dirty="0" smtClean="0"/>
              <a:t>R</a:t>
            </a:r>
            <a:r>
              <a:rPr lang="en-US" baseline="-25000" dirty="0" smtClean="0"/>
              <a:t>4</a:t>
            </a:r>
            <a:r>
              <a:rPr lang="en-US" dirty="0" smtClean="0"/>
              <a:t>(A</a:t>
            </a:r>
            <a:r>
              <a:rPr lang="en-US" dirty="0"/>
              <a:t>, </a:t>
            </a:r>
            <a:r>
              <a:rPr lang="en-US" dirty="0" smtClean="0"/>
              <a:t>B)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Check if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 are in BCNF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: Yes, R</a:t>
            </a:r>
            <a:r>
              <a:rPr lang="en-US" baseline="-25000" dirty="0" smtClean="0"/>
              <a:t>4</a:t>
            </a:r>
            <a:r>
              <a:rPr lang="en-US" dirty="0" smtClean="0"/>
              <a:t>: Yes</a:t>
            </a:r>
          </a:p>
          <a:p>
            <a:r>
              <a:rPr lang="en-US" dirty="0" smtClean="0"/>
              <a:t>Final results: R</a:t>
            </a:r>
            <a:r>
              <a:rPr lang="en-US" baseline="-25000" dirty="0" smtClean="0"/>
              <a:t>3</a:t>
            </a:r>
            <a:r>
              <a:rPr lang="en-US" dirty="0" smtClean="0"/>
              <a:t>(B, C), R</a:t>
            </a:r>
            <a:r>
              <a:rPr lang="en-US" baseline="-25000" dirty="0" smtClean="0"/>
              <a:t>4</a:t>
            </a:r>
            <a:r>
              <a:rPr lang="en-US" dirty="0" smtClean="0"/>
              <a:t>(A, B), R</a:t>
            </a:r>
            <a:r>
              <a:rPr lang="en-US" baseline="-25000" dirty="0" smtClean="0"/>
              <a:t>2</a:t>
            </a:r>
            <a:r>
              <a:rPr lang="en-US" dirty="0" smtClean="0"/>
              <a:t>(A, D)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600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BCNF decomposition of a table may not be unique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If a table has only two attributes, then it must be in BCNF</a:t>
            </a:r>
          </a:p>
          <a:p>
            <a:pPr lvl="1"/>
            <a:r>
              <a:rPr lang="en-US" dirty="0" smtClean="0"/>
              <a:t>Therefore, you do not need to check tables with only two attributes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5222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R(A, B, C, D) with FDs A</a:t>
            </a:r>
            <a:r>
              <a:rPr lang="en-US" dirty="0">
                <a:sym typeface="Wingdings" pitchFamily="2" charset="2"/>
              </a:rPr>
              <a:t>B, </a:t>
            </a:r>
            <a:r>
              <a:rPr lang="en-US" dirty="0" smtClean="0">
                <a:sym typeface="Wingdings" pitchFamily="2" charset="2"/>
              </a:rPr>
              <a:t>A</a:t>
            </a:r>
            <a:r>
              <a:rPr lang="en-US" dirty="0">
                <a:sym typeface="Wingdings" pitchFamily="2" charset="2"/>
              </a:rPr>
              <a:t>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a subset X of the attributes in R, 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Decompose 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R</a:t>
            </a:r>
            <a:r>
              <a:rPr lang="en-US" baseline="-25000" dirty="0"/>
              <a:t>1 </a:t>
            </a:r>
            <a:r>
              <a:rPr lang="en-US" dirty="0"/>
              <a:t>is not in BCNF, further decompose R</a:t>
            </a:r>
            <a:r>
              <a:rPr lang="en-US" baseline="-25000" dirty="0"/>
              <a:t>1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If R</a:t>
            </a:r>
            <a:r>
              <a:rPr lang="en-US" baseline="-25000" dirty="0"/>
              <a:t>2 </a:t>
            </a:r>
            <a:r>
              <a:rPr lang="en-US" dirty="0"/>
              <a:t>is not in BCNF, further decompose R</a:t>
            </a:r>
            <a:r>
              <a:rPr lang="en-US" baseline="-25000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9839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R(A, B, C, D) with FDs A</a:t>
            </a:r>
            <a:r>
              <a:rPr lang="en-US" dirty="0">
                <a:sym typeface="Wingdings" pitchFamily="2" charset="2"/>
              </a:rPr>
              <a:t>B, </a:t>
            </a:r>
            <a:r>
              <a:rPr lang="en-US" dirty="0" smtClean="0">
                <a:sym typeface="Wingdings" pitchFamily="2" charset="2"/>
              </a:rPr>
              <a:t>A</a:t>
            </a:r>
            <a:r>
              <a:rPr lang="en-US" dirty="0">
                <a:sym typeface="Wingdings" pitchFamily="2" charset="2"/>
              </a:rPr>
              <a:t>C</a:t>
            </a:r>
          </a:p>
          <a:p>
            <a:pPr marL="0" indent="0">
              <a:buNone/>
            </a:pPr>
            <a:r>
              <a:rPr lang="en-US" dirty="0" smtClean="0"/>
              <a:t>1. Find </a:t>
            </a:r>
            <a:r>
              <a:rPr lang="en-US" dirty="0"/>
              <a:t>a subset X of the attributes in R, 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</a:t>
            </a:r>
            <a:r>
              <a:rPr lang="en-US" dirty="0" smtClean="0"/>
              <a:t>R</a:t>
            </a:r>
          </a:p>
          <a:p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{A, B, C}</a:t>
            </a:r>
          </a:p>
          <a:p>
            <a:pPr marL="0" indent="0">
              <a:buNone/>
            </a:pPr>
            <a:r>
              <a:rPr lang="en-US" dirty="0" smtClean="0"/>
              <a:t>2. Decompose </a:t>
            </a:r>
            <a:r>
              <a:rPr lang="en-US" dirty="0"/>
              <a:t>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(A, B, C), R</a:t>
            </a:r>
            <a:r>
              <a:rPr lang="en-US" baseline="-25000" dirty="0" smtClean="0"/>
              <a:t>2</a:t>
            </a:r>
            <a:r>
              <a:rPr lang="en-US" dirty="0" smtClean="0"/>
              <a:t>(A, D)</a:t>
            </a:r>
          </a:p>
          <a:p>
            <a:pPr marL="0" indent="0">
              <a:buNone/>
            </a:pPr>
            <a:r>
              <a:rPr lang="en-US" dirty="0" smtClean="0"/>
              <a:t>3. Check if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are in BCNF</a:t>
            </a:r>
          </a:p>
          <a:p>
            <a:r>
              <a:rPr lang="en-US" dirty="0" smtClean="0"/>
              <a:t>Yes. Final results: </a:t>
            </a: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(A, B, C), R</a:t>
            </a:r>
            <a:r>
              <a:rPr lang="en-US" baseline="-25000" dirty="0"/>
              <a:t>2</a:t>
            </a:r>
            <a:r>
              <a:rPr lang="en-US" dirty="0"/>
              <a:t>(A, 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38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R(A, B, C, D) with </a:t>
            </a:r>
            <a:r>
              <a:rPr lang="en-US" dirty="0"/>
              <a:t>FDs BC</a:t>
            </a:r>
            <a:r>
              <a:rPr lang="en-US" dirty="0">
                <a:sym typeface="Wingdings" pitchFamily="2" charset="2"/>
              </a:rPr>
              <a:t>D, DA, AB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Find </a:t>
            </a:r>
            <a:r>
              <a:rPr lang="en-US" dirty="0"/>
              <a:t>a subset X of the attributes in R, 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Decompose 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R</a:t>
            </a:r>
            <a:r>
              <a:rPr lang="en-US" baseline="-25000" dirty="0"/>
              <a:t>1 </a:t>
            </a:r>
            <a:r>
              <a:rPr lang="en-US" dirty="0"/>
              <a:t>is not in BCNF, further decompose R</a:t>
            </a:r>
            <a:r>
              <a:rPr lang="en-US" baseline="-25000" dirty="0"/>
              <a:t>1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If R</a:t>
            </a:r>
            <a:r>
              <a:rPr lang="en-US" baseline="-25000" dirty="0"/>
              <a:t>2 </a:t>
            </a:r>
            <a:r>
              <a:rPr lang="en-US" dirty="0"/>
              <a:t>is not in BCNF, further decompose R</a:t>
            </a:r>
            <a:r>
              <a:rPr lang="en-US" baseline="-25000" dirty="0"/>
              <a:t>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8240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R(A, B, C, D) with FDs </a:t>
            </a:r>
            <a:r>
              <a:rPr lang="en-US" dirty="0" smtClean="0"/>
              <a:t>BC</a:t>
            </a:r>
            <a:r>
              <a:rPr lang="en-US" dirty="0" smtClean="0">
                <a:sym typeface="Wingdings" pitchFamily="2" charset="2"/>
              </a:rPr>
              <a:t>D, DA, AB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/>
              <a:t>1. Find </a:t>
            </a:r>
            <a:r>
              <a:rPr lang="en-US" dirty="0"/>
              <a:t>a subset X of the attributes in R, 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</a:t>
            </a:r>
            <a:r>
              <a:rPr lang="en-US" dirty="0" smtClean="0"/>
              <a:t>R</a:t>
            </a:r>
          </a:p>
          <a:p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{A, B}</a:t>
            </a:r>
          </a:p>
          <a:p>
            <a:pPr marL="0" indent="0">
              <a:buNone/>
            </a:pPr>
            <a:r>
              <a:rPr lang="en-US" dirty="0" smtClean="0"/>
              <a:t>2. Decompose </a:t>
            </a:r>
            <a:r>
              <a:rPr lang="en-US" dirty="0"/>
              <a:t>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(A, B), R</a:t>
            </a:r>
            <a:r>
              <a:rPr lang="en-US" baseline="-25000" dirty="0" smtClean="0"/>
              <a:t>2</a:t>
            </a:r>
            <a:r>
              <a:rPr lang="en-US" dirty="0" smtClean="0"/>
              <a:t>(A, C, D)</a:t>
            </a:r>
          </a:p>
          <a:p>
            <a:pPr marL="0" indent="0">
              <a:buNone/>
            </a:pPr>
            <a:r>
              <a:rPr lang="en-US" dirty="0" smtClean="0"/>
              <a:t>3. Check if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are in BCNF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: Yes. R</a:t>
            </a:r>
            <a:r>
              <a:rPr lang="en-US" baseline="-25000" dirty="0" smtClean="0"/>
              <a:t>2</a:t>
            </a:r>
            <a:r>
              <a:rPr lang="en-US" dirty="0" smtClean="0"/>
              <a:t>: No</a:t>
            </a:r>
          </a:p>
          <a:p>
            <a:r>
              <a:rPr lang="en-US" dirty="0" smtClean="0"/>
              <a:t>Further decompose R2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11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Exercise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R(A, B, C, D) with FDs </a:t>
            </a:r>
            <a:r>
              <a:rPr lang="en-US" dirty="0" smtClean="0"/>
              <a:t>BC</a:t>
            </a:r>
            <a:r>
              <a:rPr lang="en-US" dirty="0" smtClean="0">
                <a:sym typeface="Wingdings" pitchFamily="2" charset="2"/>
              </a:rPr>
              <a:t>D, DA, AB</a:t>
            </a:r>
          </a:p>
          <a:p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(A, B), R</a:t>
            </a:r>
            <a:r>
              <a:rPr lang="en-US" baseline="-25000" dirty="0"/>
              <a:t>2</a:t>
            </a:r>
            <a:r>
              <a:rPr lang="en-US" dirty="0"/>
              <a:t>(A, C, D)</a:t>
            </a:r>
          </a:p>
          <a:p>
            <a:r>
              <a:rPr lang="en-US" dirty="0"/>
              <a:t>Further decompose </a:t>
            </a:r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endParaRPr lang="en-US" baseline="-25000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/>
              <a:t>1. Find </a:t>
            </a:r>
            <a:r>
              <a:rPr lang="en-US" dirty="0"/>
              <a:t>a subset X of the attributes in </a:t>
            </a:r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, </a:t>
            </a:r>
            <a:r>
              <a:rPr lang="en-US" dirty="0"/>
              <a:t>such that its closure X</a:t>
            </a:r>
            <a:r>
              <a:rPr lang="en-US" sz="4000" baseline="30000" dirty="0"/>
              <a:t>+</a:t>
            </a:r>
            <a:r>
              <a:rPr lang="en-US" dirty="0"/>
              <a:t> (i) contains more attributes than X, but (ii) does not contain all attribute in </a:t>
            </a:r>
            <a:r>
              <a:rPr lang="en-US" dirty="0" smtClean="0"/>
              <a:t>R</a:t>
            </a:r>
            <a:r>
              <a:rPr lang="en-US" baseline="-25000" dirty="0" smtClean="0"/>
              <a:t>2</a:t>
            </a:r>
          </a:p>
          <a:p>
            <a:r>
              <a:rPr lang="en-US" dirty="0" smtClean="0"/>
              <a:t>{A}</a:t>
            </a:r>
            <a:r>
              <a:rPr lang="en-US" baseline="30000" dirty="0" smtClean="0"/>
              <a:t>+</a:t>
            </a:r>
            <a:r>
              <a:rPr lang="en-US" dirty="0" smtClean="0"/>
              <a:t> = {A}, {C}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smtClean="0"/>
              <a:t>{C}, {D}</a:t>
            </a:r>
            <a:r>
              <a:rPr lang="en-US" baseline="30000" dirty="0" smtClean="0"/>
              <a:t>+</a:t>
            </a:r>
            <a:r>
              <a:rPr lang="en-US" dirty="0" smtClean="0"/>
              <a:t> </a:t>
            </a:r>
            <a:r>
              <a:rPr lang="en-US" dirty="0"/>
              <a:t>= {</a:t>
            </a:r>
            <a:r>
              <a:rPr lang="en-US" dirty="0" smtClean="0"/>
              <a:t>A, D}, </a:t>
            </a:r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dirty="0"/>
              <a:t>Decompose R</a:t>
            </a:r>
            <a:r>
              <a:rPr lang="en-US" baseline="-25000" dirty="0"/>
              <a:t>1</a:t>
            </a:r>
            <a:r>
              <a:rPr lang="en-US" dirty="0"/>
              <a:t> into two tables R</a:t>
            </a:r>
            <a:r>
              <a:rPr lang="en-US" baseline="-25000" dirty="0"/>
              <a:t>3</a:t>
            </a:r>
            <a:r>
              <a:rPr lang="en-US" dirty="0"/>
              <a:t> and R</a:t>
            </a:r>
            <a:r>
              <a:rPr lang="en-US" baseline="-25000" dirty="0"/>
              <a:t>4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3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4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R</a:t>
            </a:r>
            <a:r>
              <a:rPr lang="en-US" baseline="-25000" dirty="0" smtClean="0"/>
              <a:t>3</a:t>
            </a:r>
            <a:r>
              <a:rPr lang="en-US" dirty="0" smtClean="0"/>
              <a:t>(A, D), R</a:t>
            </a:r>
            <a:r>
              <a:rPr lang="en-US" baseline="-25000" dirty="0" smtClean="0"/>
              <a:t>4</a:t>
            </a:r>
            <a:r>
              <a:rPr lang="en-US" dirty="0" smtClean="0"/>
              <a:t>(C, D)</a:t>
            </a:r>
          </a:p>
          <a:p>
            <a:pPr marL="0" indent="0">
              <a:buNone/>
            </a:pPr>
            <a:r>
              <a:rPr lang="en-US" dirty="0" smtClean="0"/>
              <a:t>3. Check if R</a:t>
            </a:r>
            <a:r>
              <a:rPr lang="en-US" baseline="-25000" dirty="0" smtClean="0"/>
              <a:t>3</a:t>
            </a:r>
            <a:r>
              <a:rPr lang="en-US" dirty="0" smtClean="0"/>
              <a:t> and R</a:t>
            </a:r>
            <a:r>
              <a:rPr lang="en-US" baseline="-25000" dirty="0" smtClean="0"/>
              <a:t>4</a:t>
            </a:r>
            <a:r>
              <a:rPr lang="en-US" dirty="0" smtClean="0"/>
              <a:t> are in BCNF</a:t>
            </a:r>
          </a:p>
          <a:p>
            <a:r>
              <a:rPr lang="en-US" dirty="0" smtClean="0"/>
              <a:t>Yes. Final results: </a:t>
            </a:r>
            <a:r>
              <a:rPr lang="en-US" dirty="0"/>
              <a:t>R</a:t>
            </a:r>
            <a:r>
              <a:rPr lang="en-US" baseline="-25000" dirty="0"/>
              <a:t>3</a:t>
            </a:r>
            <a:r>
              <a:rPr lang="en-US" dirty="0"/>
              <a:t>(A, D), R</a:t>
            </a:r>
            <a:r>
              <a:rPr lang="en-US" baseline="-25000" dirty="0"/>
              <a:t>4</a:t>
            </a:r>
            <a:r>
              <a:rPr lang="en-US" dirty="0"/>
              <a:t>(A, C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91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Decompose, until all </a:t>
            </a:r>
            <a:r>
              <a:rPr lang="en-US" altLang="zh-CN" dirty="0" smtClean="0"/>
              <a:t>are </a:t>
            </a:r>
            <a:r>
              <a:rPr lang="en-US" dirty="0" smtClean="0"/>
              <a:t>in BCNF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3899457" y="1196752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2699792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771665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/>
          </p:nvPr>
        </p:nvGraphicFramePr>
        <p:xfrm>
          <a:off x="1475656" y="4375760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/>
          </p:nvPr>
        </p:nvGraphicFramePr>
        <p:xfrm>
          <a:off x="4283968" y="4375760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506280" y="980728"/>
            <a:ext cx="2489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X</a:t>
            </a:r>
            <a:r>
              <a:rPr lang="en-US" sz="2800" dirty="0" smtClean="0">
                <a:latin typeface="Calibri" pitchFamily="34" charset="0"/>
                <a:sym typeface="Wingdings" pitchFamily="2" charset="2"/>
              </a:rPr>
              <a:t>Y violation</a:t>
            </a:r>
            <a:r>
              <a:rPr lang="en-US" sz="2800" dirty="0" smtClean="0">
                <a:latin typeface="Calibri" pitchFamily="34" charset="0"/>
              </a:rPr>
              <a:t>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3923928" y="2132856"/>
            <a:ext cx="695610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4139952" y="3625860"/>
            <a:ext cx="1296144" cy="6936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2555776" y="3625860"/>
            <a:ext cx="1152128" cy="72008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141176" y="2617748"/>
            <a:ext cx="2655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X’</a:t>
            </a:r>
            <a:r>
              <a:rPr lang="en-US" sz="2800" dirty="0" smtClean="0">
                <a:latin typeface="Calibri" pitchFamily="34" charset="0"/>
                <a:sym typeface="Wingdings" pitchFamily="2" charset="2"/>
              </a:rPr>
              <a:t>Y’ </a:t>
            </a:r>
            <a:r>
              <a:rPr lang="en-US" sz="2800" dirty="0">
                <a:latin typeface="Calibri" pitchFamily="34" charset="0"/>
                <a:sym typeface="Wingdings" pitchFamily="2" charset="2"/>
              </a:rPr>
              <a:t>violation</a:t>
            </a:r>
            <a:r>
              <a:rPr lang="en-US" sz="2800" dirty="0" smtClean="0">
                <a:latin typeface="Calibri" pitchFamily="34" charset="0"/>
              </a:rPr>
              <a:t>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5195601" y="2132856"/>
            <a:ext cx="1595853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500850" y="1307088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7504" y="3049796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19894" y="5229200"/>
            <a:ext cx="2169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 then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03648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81968" y="5229200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 then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65722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82104" y="1988840"/>
            <a:ext cx="274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Attributes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8184" y="1538789"/>
            <a:ext cx="22505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X + Attributes </a:t>
            </a:r>
            <a:b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</a:b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NOT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7327791" y="3639071"/>
            <a:ext cx="988625" cy="87004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>
            <a:off x="6639705" y="3639071"/>
            <a:ext cx="303497" cy="87004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512343" y="3639071"/>
            <a:ext cx="2763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Attributes in {X’}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903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1" grpId="0"/>
      <p:bldP spid="22" grpId="0"/>
      <p:bldP spid="29" grpId="0"/>
      <p:bldP spid="30" grpId="0"/>
      <p:bldP spid="31" grpId="0"/>
      <p:bldP spid="32" grpId="0"/>
      <p:bldP spid="24" grpId="0"/>
      <p:bldP spid="25" grpId="0"/>
      <p:bldP spid="3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BCNF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Good properties</a:t>
            </a:r>
          </a:p>
          <a:p>
            <a:pPr lvl="1"/>
            <a:r>
              <a:rPr lang="en-US" dirty="0" smtClean="0"/>
              <a:t>No update or deletion anomalies</a:t>
            </a:r>
          </a:p>
          <a:p>
            <a:pPr lvl="1"/>
            <a:r>
              <a:rPr lang="en-US" dirty="0" smtClean="0"/>
              <a:t>Small redundancy</a:t>
            </a:r>
          </a:p>
          <a:p>
            <a:pPr lvl="1"/>
            <a:r>
              <a:rPr lang="en-US" dirty="0" smtClean="0"/>
              <a:t>The original table can always be reconstructed from the decomposed tables</a:t>
            </a:r>
          </a:p>
        </p:txBody>
      </p:sp>
    </p:spTree>
    <p:extLst>
      <p:ext uri="{BB962C8B-B14F-4D97-AF65-F5344CB8AC3E}">
        <p14:creationId xmlns:p14="http://schemas.microsoft.com/office/powerpoint/2010/main" val="3804308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Reconstruction</a:t>
            </a:r>
            <a:endParaRPr lang="en-SG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57200" y="3140968"/>
            <a:ext cx="8435280" cy="1080120"/>
          </a:xfrm>
        </p:spPr>
        <p:txBody>
          <a:bodyPr>
            <a:normAutofit/>
          </a:bodyPr>
          <a:lstStyle/>
          <a:p>
            <a:r>
              <a:rPr lang="en-SG" dirty="0" smtClean="0"/>
              <a:t>SELECT	 * FROM R1, R2</a:t>
            </a:r>
            <a:r>
              <a:rPr lang="en-SG" dirty="0"/>
              <a:t/>
            </a:r>
            <a:br>
              <a:rPr lang="en-SG" dirty="0"/>
            </a:br>
            <a:r>
              <a:rPr lang="en-SG" dirty="0" smtClean="0"/>
              <a:t>WHERE	 R1.NRIC = R2.NRIC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0583850"/>
              </p:ext>
            </p:extLst>
          </p:nvPr>
        </p:nvGraphicFramePr>
        <p:xfrm>
          <a:off x="457200" y="1124744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anose="020F0502020204030204" pitchFamily="34" charset="0"/>
                        </a:rPr>
                        <a:t>NRIC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anose="020F0502020204030204" pitchFamily="34" charset="0"/>
                        </a:rPr>
                        <a:t>PhoneNumber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HomeAddress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Alice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67899876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 East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Alice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83848384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 East</a:t>
                      </a:r>
                      <a:endParaRPr lang="en-SG" sz="2400" dirty="0" smtClean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Bob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5678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98765432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Ris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0171670"/>
              </p:ext>
            </p:extLst>
          </p:nvPr>
        </p:nvGraphicFramePr>
        <p:xfrm>
          <a:off x="467544" y="4221088"/>
          <a:ext cx="44644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Name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anose="020F0502020204030204" pitchFamily="34" charset="0"/>
                        </a:rPr>
                        <a:t>NRIC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HomeAddress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Alice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Jurong</a:t>
                      </a:r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 East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Bob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5678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Pasir</a:t>
                      </a:r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2400" dirty="0" err="1" smtClean="0">
                          <a:latin typeface="Calibri" panose="020F0502020204030204" pitchFamily="34" charset="0"/>
                        </a:rPr>
                        <a:t>Ris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762720"/>
              </p:ext>
            </p:extLst>
          </p:nvPr>
        </p:nvGraphicFramePr>
        <p:xfrm>
          <a:off x="5292080" y="4249688"/>
          <a:ext cx="338437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smtClean="0">
                          <a:latin typeface="Calibri" panose="020F0502020204030204" pitchFamily="34" charset="0"/>
                        </a:rPr>
                        <a:t>NRIC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sng" dirty="0" err="1" smtClean="0">
                          <a:latin typeface="Calibri" panose="020F0502020204030204" pitchFamily="34" charset="0"/>
                        </a:rPr>
                        <a:t>PhoneNumber</a:t>
                      </a:r>
                      <a:endParaRPr lang="en-SG" sz="2400" u="sng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67899876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1234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83848384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5678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alibri" panose="020F0502020204030204" pitchFamily="34" charset="0"/>
                        </a:rPr>
                        <a:t>98765432</a:t>
                      </a:r>
                      <a:endParaRPr lang="en-SG" sz="2400" dirty="0"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691680" y="5589240"/>
            <a:ext cx="6270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anose="020F0502020204030204" pitchFamily="34" charset="0"/>
              </a:rPr>
              <a:t>R1</a:t>
            </a:r>
            <a:endParaRPr lang="en-SG" sz="3200" dirty="0">
              <a:latin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60232" y="6065332"/>
            <a:ext cx="61587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anose="020F0502020204030204" pitchFamily="34" charset="0"/>
              </a:rPr>
              <a:t>R2</a:t>
            </a:r>
            <a:endParaRPr lang="en-SG" sz="3200" dirty="0"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33497" y="3071862"/>
            <a:ext cx="265630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C00000"/>
                </a:solidFill>
                <a:latin typeface="Calibri" pitchFamily="34" charset="0"/>
              </a:rPr>
              <a:t>This is called a </a:t>
            </a:r>
            <a:br>
              <a:rPr lang="en-US" sz="3200" dirty="0" smtClean="0">
                <a:solidFill>
                  <a:srgbClr val="C00000"/>
                </a:solidFill>
                <a:latin typeface="Calibri" pitchFamily="34" charset="0"/>
              </a:rPr>
            </a:br>
            <a:r>
              <a:rPr lang="en-US" sz="3200" dirty="0" smtClean="0">
                <a:solidFill>
                  <a:srgbClr val="C00000"/>
                </a:solidFill>
                <a:latin typeface="Calibri" pitchFamily="34" charset="0"/>
              </a:rPr>
              <a:t>“Lossless Join”</a:t>
            </a:r>
            <a:endParaRPr lang="en-SG" sz="3200" dirty="0">
              <a:solidFill>
                <a:srgbClr val="C0000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259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Lossless Join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Say we decompose a table R into two tables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</a:p>
          <a:p>
            <a:r>
              <a:rPr lang="en-US" dirty="0" smtClean="0"/>
              <a:t>The decomposition guarantees lossless join, whenever the common attributes in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constitute a </a:t>
            </a:r>
            <a:r>
              <a:rPr lang="en-US" dirty="0" err="1" smtClean="0"/>
              <a:t>superkey</a:t>
            </a:r>
            <a:r>
              <a:rPr lang="en-US" dirty="0" smtClean="0"/>
              <a:t> of R</a:t>
            </a:r>
            <a:r>
              <a:rPr lang="en-US" baseline="-25000" dirty="0" smtClean="0"/>
              <a:t>1</a:t>
            </a:r>
            <a:r>
              <a:rPr lang="en-US" dirty="0" smtClean="0"/>
              <a:t> or R</a:t>
            </a:r>
            <a:r>
              <a:rPr lang="en-US" baseline="-25000" dirty="0" smtClean="0"/>
              <a:t>2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R(A, B, C) </a:t>
            </a:r>
            <a:r>
              <a:rPr lang="en-US" dirty="0" smtClean="0">
                <a:sym typeface="Wingdings" pitchFamily="2" charset="2"/>
              </a:rPr>
              <a:t>decomposed into R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(A, B) and R</a:t>
            </a:r>
            <a:r>
              <a:rPr lang="en-US" baseline="-25000" dirty="0" smtClean="0">
                <a:sym typeface="Wingdings" pitchFamily="2" charset="2"/>
              </a:rPr>
              <a:t>2 </a:t>
            </a:r>
            <a:r>
              <a:rPr lang="en-US" dirty="0" smtClean="0">
                <a:sym typeface="Wingdings" pitchFamily="2" charset="2"/>
              </a:rPr>
              <a:t>(B, C), with B being the key of R</a:t>
            </a:r>
            <a:r>
              <a:rPr lang="en-US" baseline="-25000" dirty="0" smtClean="0">
                <a:sym typeface="Wingdings" pitchFamily="2" charset="2"/>
              </a:rPr>
              <a:t>2</a:t>
            </a:r>
          </a:p>
          <a:p>
            <a:pPr lvl="1"/>
            <a:r>
              <a:rPr lang="en-US" dirty="0"/>
              <a:t>R(A, B, </a:t>
            </a:r>
            <a:r>
              <a:rPr lang="en-US" dirty="0" smtClean="0"/>
              <a:t>C, D) </a:t>
            </a:r>
            <a:r>
              <a:rPr lang="en-US" dirty="0">
                <a:sym typeface="Wingdings" pitchFamily="2" charset="2"/>
              </a:rPr>
              <a:t>decomposed</a:t>
            </a:r>
            <a:r>
              <a:rPr lang="en-US" dirty="0" smtClean="0">
                <a:sym typeface="Wingdings" pitchFamily="2" charset="2"/>
              </a:rPr>
              <a:t> into R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(A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smtClean="0">
                <a:sym typeface="Wingdings" pitchFamily="2" charset="2"/>
              </a:rPr>
              <a:t>B, C) </a:t>
            </a:r>
            <a:r>
              <a:rPr lang="en-US" dirty="0">
                <a:sym typeface="Wingdings" pitchFamily="2" charset="2"/>
              </a:rPr>
              <a:t>and R</a:t>
            </a:r>
            <a:r>
              <a:rPr lang="en-US" baseline="-25000" dirty="0">
                <a:sym typeface="Wingdings" pitchFamily="2" charset="2"/>
              </a:rPr>
              <a:t>2 </a:t>
            </a:r>
            <a:r>
              <a:rPr lang="en-US" dirty="0">
                <a:sym typeface="Wingdings" pitchFamily="2" charset="2"/>
              </a:rPr>
              <a:t>(B, </a:t>
            </a:r>
            <a:r>
              <a:rPr lang="en-US" dirty="0" smtClean="0">
                <a:sym typeface="Wingdings" pitchFamily="2" charset="2"/>
              </a:rPr>
              <a:t>C, D), </a:t>
            </a:r>
            <a:r>
              <a:rPr lang="en-US" dirty="0">
                <a:sym typeface="Wingdings" pitchFamily="2" charset="2"/>
              </a:rPr>
              <a:t>with </a:t>
            </a:r>
            <a:r>
              <a:rPr lang="en-US" dirty="0" smtClean="0">
                <a:sym typeface="Wingdings" pitchFamily="2" charset="2"/>
              </a:rPr>
              <a:t>BC </a:t>
            </a:r>
            <a:r>
              <a:rPr lang="en-US" dirty="0">
                <a:sym typeface="Wingdings" pitchFamily="2" charset="2"/>
              </a:rPr>
              <a:t>being the key of </a:t>
            </a:r>
            <a:r>
              <a:rPr lang="en-US" dirty="0" smtClean="0">
                <a:sym typeface="Wingdings" pitchFamily="2" charset="2"/>
              </a:rPr>
              <a:t>R</a:t>
            </a:r>
            <a:r>
              <a:rPr lang="en-US" baseline="-25000" dirty="0" smtClean="0">
                <a:sym typeface="Wingdings" pitchFamily="2" charset="2"/>
              </a:rPr>
              <a:t>1</a:t>
            </a:r>
            <a:endParaRPr lang="en-US" baseline="-25000" dirty="0">
              <a:sym typeface="Wingdings" pitchFamily="2" charset="2"/>
            </a:endParaRP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18452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BCNF guarantees lossless join?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Decompose </a:t>
            </a:r>
            <a:r>
              <a:rPr lang="en-US" dirty="0"/>
              <a:t>R into two tables R</a:t>
            </a:r>
            <a:r>
              <a:rPr lang="en-US" baseline="-25000" dirty="0"/>
              <a:t>1</a:t>
            </a:r>
            <a:r>
              <a:rPr lang="en-US" dirty="0"/>
              <a:t> and R</a:t>
            </a:r>
            <a:r>
              <a:rPr lang="en-US" baseline="-25000" dirty="0"/>
              <a:t>2</a:t>
            </a:r>
            <a:r>
              <a:rPr lang="en-US" dirty="0"/>
              <a:t>, such that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 contains all attributes in X</a:t>
            </a:r>
            <a:r>
              <a:rPr lang="en-US" sz="3600" baseline="30000" dirty="0"/>
              <a:t>+</a:t>
            </a:r>
          </a:p>
          <a:p>
            <a:pPr marL="841375" lvl="1" indent="-514350"/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 contains all attributes in X as well as the attributes not in X</a:t>
            </a:r>
            <a:r>
              <a:rPr lang="en-US" sz="3500" baseline="30000" dirty="0"/>
              <a:t>+</a:t>
            </a:r>
          </a:p>
          <a:p>
            <a:r>
              <a:rPr lang="en-US" dirty="0" smtClean="0"/>
              <a:t>Let Y = X</a:t>
            </a:r>
            <a:r>
              <a:rPr lang="en-US" sz="3900" baseline="30000" dirty="0" smtClean="0"/>
              <a:t>+</a:t>
            </a:r>
            <a:r>
              <a:rPr lang="en-US" dirty="0" smtClean="0"/>
              <a:t> - X, and Z be the set of attributes not in X</a:t>
            </a:r>
            <a:r>
              <a:rPr lang="en-US" sz="3900" baseline="30000" dirty="0" smtClean="0"/>
              <a:t>+</a:t>
            </a:r>
          </a:p>
          <a:p>
            <a:pPr marL="0" indent="0">
              <a:buNone/>
            </a:pPr>
            <a:endParaRPr lang="en-US" sz="3900" baseline="30000" dirty="0"/>
          </a:p>
          <a:p>
            <a:pPr marL="0" indent="0">
              <a:buNone/>
            </a:pPr>
            <a:endParaRPr lang="en-US" sz="3900" baseline="30000" dirty="0" smtClean="0"/>
          </a:p>
          <a:p>
            <a:pPr marL="0" indent="0">
              <a:buNone/>
            </a:pPr>
            <a:endParaRPr lang="en-US" sz="3900" baseline="30000" dirty="0" smtClean="0"/>
          </a:p>
          <a:p>
            <a:r>
              <a:rPr lang="en-US" dirty="0" smtClean="0"/>
              <a:t>Suppose that we join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on the attributes in X</a:t>
            </a:r>
          </a:p>
          <a:p>
            <a:r>
              <a:rPr lang="en-US" dirty="0" smtClean="0"/>
              <a:t>For any tuple in R, it will appear in the join result</a:t>
            </a:r>
          </a:p>
          <a:p>
            <a:r>
              <a:rPr lang="en-US" dirty="0" smtClean="0"/>
              <a:t>For any tuple in the join result, it will appear in R</a:t>
            </a:r>
          </a:p>
          <a:p>
            <a:r>
              <a:rPr lang="en-US" dirty="0" smtClean="0"/>
              <a:t>Therefore, joining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 on X will reconstruct R perfectly</a:t>
            </a:r>
            <a:endParaRPr lang="en-SG" dirty="0"/>
          </a:p>
        </p:txBody>
      </p:sp>
      <p:sp>
        <p:nvSpPr>
          <p:cNvPr id="6" name="TextBox 5"/>
          <p:cNvSpPr txBox="1"/>
          <p:nvPr/>
        </p:nvSpPr>
        <p:spPr>
          <a:xfrm>
            <a:off x="827584" y="3265820"/>
            <a:ext cx="43204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mic Sans MS" pitchFamily="66" charset="0"/>
              </a:rPr>
              <a:t>R</a:t>
            </a:r>
            <a:endParaRPr lang="en-SG" sz="2800" b="1" dirty="0">
              <a:latin typeface="Comic Sans MS" pitchFamily="66" charset="0"/>
            </a:endParaRP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1403648" y="3212976"/>
          <a:ext cx="14469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X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Y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Z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06998" y="3265820"/>
            <a:ext cx="5692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mic Sans MS" pitchFamily="66" charset="0"/>
              </a:rPr>
              <a:t>R</a:t>
            </a:r>
            <a:r>
              <a:rPr lang="en-US" sz="2800" b="1" baseline="-25000" dirty="0" smtClean="0">
                <a:latin typeface="Comic Sans MS" pitchFamily="66" charset="0"/>
              </a:rPr>
              <a:t>1</a:t>
            </a:r>
            <a:endParaRPr lang="en-SG" sz="2800" b="1" baseline="-25000" dirty="0">
              <a:latin typeface="Comic Sans MS" pitchFamily="66" charset="0"/>
            </a:endParaRPr>
          </a:p>
        </p:txBody>
      </p:sp>
      <p:graphicFrame>
        <p:nvGraphicFramePr>
          <p:cNvPr id="9" name="Content Placeholder 3"/>
          <p:cNvGraphicFramePr>
            <a:graphicFrameLocks/>
          </p:cNvGraphicFramePr>
          <p:nvPr>
            <p:extLst/>
          </p:nvPr>
        </p:nvGraphicFramePr>
        <p:xfrm>
          <a:off x="4820282" y="3212976"/>
          <a:ext cx="9758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X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Y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39246" y="3265820"/>
            <a:ext cx="569268" cy="5232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Comic Sans MS" pitchFamily="66" charset="0"/>
              </a:rPr>
              <a:t>R</a:t>
            </a:r>
            <a:r>
              <a:rPr lang="en-US" sz="2800" b="1" baseline="-25000" dirty="0" smtClean="0">
                <a:latin typeface="Comic Sans MS" pitchFamily="66" charset="0"/>
              </a:rPr>
              <a:t>2</a:t>
            </a:r>
            <a:endParaRPr lang="en-SG" sz="2800" b="1" baseline="-25000" dirty="0">
              <a:latin typeface="Comic Sans MS" pitchFamily="66" charset="0"/>
            </a:endParaRPr>
          </a:p>
        </p:txBody>
      </p:sp>
      <p:graphicFrame>
        <p:nvGraphicFramePr>
          <p:cNvPr id="11" name="Content Placeholder 3"/>
          <p:cNvGraphicFramePr>
            <a:graphicFrameLocks/>
          </p:cNvGraphicFramePr>
          <p:nvPr>
            <p:extLst/>
          </p:nvPr>
        </p:nvGraphicFramePr>
        <p:xfrm>
          <a:off x="7052530" y="3212976"/>
          <a:ext cx="9758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X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u="none" dirty="0" smtClean="0">
                          <a:solidFill>
                            <a:schemeClr val="bg1"/>
                          </a:solidFill>
                          <a:latin typeface="Comic Sans MS" pitchFamily="66" charset="0"/>
                        </a:rPr>
                        <a:t>Z</a:t>
                      </a:r>
                      <a:endParaRPr lang="en-SG" sz="2400" u="none" dirty="0">
                        <a:solidFill>
                          <a:schemeClr val="bg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400" u="none" dirty="0">
                        <a:solidFill>
                          <a:schemeClr val="tx1"/>
                        </a:solidFill>
                        <a:latin typeface="Comic Sans MS" pitchFamily="66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39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BCNF Decomposition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Good properties</a:t>
            </a:r>
          </a:p>
          <a:p>
            <a:pPr lvl="1"/>
            <a:r>
              <a:rPr lang="en-US" dirty="0" smtClean="0"/>
              <a:t>No update or deletion anomalies</a:t>
            </a:r>
          </a:p>
          <a:p>
            <a:pPr lvl="1"/>
            <a:r>
              <a:rPr lang="en-US" dirty="0" smtClean="0"/>
              <a:t>Very small redundancy</a:t>
            </a:r>
          </a:p>
          <a:p>
            <a:pPr lvl="1"/>
            <a:r>
              <a:rPr lang="en-US" dirty="0" smtClean="0"/>
              <a:t>The original table can always be reconstructed from the decomposed tables </a:t>
            </a:r>
            <a:br>
              <a:rPr lang="en-US" dirty="0" smtClean="0"/>
            </a:br>
            <a:r>
              <a:rPr lang="en-US" dirty="0" smtClean="0"/>
              <a:t>(this is called the </a:t>
            </a:r>
            <a:r>
              <a:rPr lang="en-US" dirty="0" smtClean="0">
                <a:solidFill>
                  <a:srgbClr val="A50021"/>
                </a:solidFill>
              </a:rPr>
              <a:t>lossless join</a:t>
            </a:r>
            <a:r>
              <a:rPr lang="en-US" dirty="0" smtClean="0"/>
              <a:t> property)</a:t>
            </a:r>
          </a:p>
          <a:p>
            <a:r>
              <a:rPr lang="en-US" dirty="0" smtClean="0"/>
              <a:t>Bonus question: Why does the BCNF decomposition algorithm work?</a:t>
            </a:r>
          </a:p>
          <a:p>
            <a:pPr lvl="1"/>
            <a:r>
              <a:rPr lang="en-US" dirty="0" smtClean="0"/>
              <a:t>Why does it eliminate BCNF violations?</a:t>
            </a:r>
          </a:p>
        </p:txBody>
      </p:sp>
    </p:spTree>
    <p:extLst>
      <p:ext uri="{BB962C8B-B14F-4D97-AF65-F5344CB8AC3E}">
        <p14:creationId xmlns:p14="http://schemas.microsoft.com/office/powerpoint/2010/main" val="130739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BCNF Decomposition Algorithm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3899457" y="1196752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2699792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771665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/>
          </p:nvPr>
        </p:nvGraphicFramePr>
        <p:xfrm>
          <a:off x="1475656" y="4375760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>
            <p:extLst/>
          </p:nvPr>
        </p:nvGraphicFramePr>
        <p:xfrm>
          <a:off x="4283968" y="4375760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506280" y="980728"/>
            <a:ext cx="2489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X</a:t>
            </a:r>
            <a:r>
              <a:rPr lang="en-US" sz="2800" dirty="0" smtClean="0">
                <a:latin typeface="Calibri" pitchFamily="34" charset="0"/>
                <a:sym typeface="Wingdings" pitchFamily="2" charset="2"/>
              </a:rPr>
              <a:t>Y violation</a:t>
            </a:r>
            <a:r>
              <a:rPr lang="en-US" sz="2800" dirty="0" smtClean="0">
                <a:latin typeface="Calibri" pitchFamily="34" charset="0"/>
              </a:rPr>
              <a:t>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3923928" y="2132856"/>
            <a:ext cx="695610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4139952" y="3625860"/>
            <a:ext cx="1296144" cy="69365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>
            <a:off x="2555776" y="3625860"/>
            <a:ext cx="1152128" cy="72008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141176" y="2617748"/>
            <a:ext cx="26555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X’</a:t>
            </a:r>
            <a:r>
              <a:rPr lang="en-US" sz="2800" dirty="0" smtClean="0">
                <a:latin typeface="Calibri" pitchFamily="34" charset="0"/>
                <a:sym typeface="Wingdings" pitchFamily="2" charset="2"/>
              </a:rPr>
              <a:t>Y’ </a:t>
            </a:r>
            <a:r>
              <a:rPr lang="en-US" sz="2800" dirty="0">
                <a:latin typeface="Calibri" pitchFamily="34" charset="0"/>
                <a:sym typeface="Wingdings" pitchFamily="2" charset="2"/>
              </a:rPr>
              <a:t>violation</a:t>
            </a:r>
            <a:r>
              <a:rPr lang="en-US" sz="2800" dirty="0" smtClean="0">
                <a:latin typeface="Calibri" pitchFamily="34" charset="0"/>
              </a:rPr>
              <a:t>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20" name="Straight Arrow Connector 19"/>
          <p:cNvCxnSpPr/>
          <p:nvPr/>
        </p:nvCxnSpPr>
        <p:spPr bwMode="auto">
          <a:xfrm>
            <a:off x="5195601" y="2132856"/>
            <a:ext cx="1595853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500850" y="1307088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7504" y="3049796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419894" y="5229200"/>
            <a:ext cx="21691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 then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03648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381968" y="5229200"/>
            <a:ext cx="20874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In BCNF then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365722" y="5661248"/>
            <a:ext cx="9265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Stop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82104" y="1988840"/>
            <a:ext cx="274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Attributes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8184" y="1538789"/>
            <a:ext cx="22505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X + Attributes </a:t>
            </a:r>
            <a:b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</a:b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NOT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  <p:cxnSp>
        <p:nvCxnSpPr>
          <p:cNvPr id="26" name="Straight Arrow Connector 25"/>
          <p:cNvCxnSpPr/>
          <p:nvPr/>
        </p:nvCxnSpPr>
        <p:spPr bwMode="auto">
          <a:xfrm>
            <a:off x="7327791" y="3639071"/>
            <a:ext cx="988625" cy="87004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>
            <a:off x="6639705" y="3639071"/>
            <a:ext cx="303497" cy="870049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33" name="Rectangle 32"/>
          <p:cNvSpPr/>
          <p:nvPr/>
        </p:nvSpPr>
        <p:spPr>
          <a:xfrm>
            <a:off x="512343" y="3639071"/>
            <a:ext cx="2763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Attributes in {X’}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96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BCNF Decomposition Algorithm</a:t>
            </a:r>
            <a:endParaRPr lang="en-S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3899457" y="1196752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2699792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>
            <p:extLst/>
          </p:nvPr>
        </p:nvGraphicFramePr>
        <p:xfrm>
          <a:off x="5771665" y="2689756"/>
          <a:ext cx="2016224" cy="85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u="sng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1506280" y="980728"/>
            <a:ext cx="2489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X</a:t>
            </a:r>
            <a:r>
              <a:rPr lang="en-US" sz="2800" dirty="0" smtClean="0">
                <a:latin typeface="Calibri" pitchFamily="34" charset="0"/>
                <a:sym typeface="Wingdings" pitchFamily="2" charset="2"/>
              </a:rPr>
              <a:t>Y violation</a:t>
            </a:r>
            <a:r>
              <a:rPr lang="en-US" sz="2800" dirty="0" smtClean="0">
                <a:latin typeface="Calibri" pitchFamily="34" charset="0"/>
              </a:rPr>
              <a:t>? </a:t>
            </a:r>
            <a:endParaRPr lang="en-SG" sz="2800" dirty="0">
              <a:latin typeface="Calibri" pitchFamily="34" charset="0"/>
            </a:endParaRPr>
          </a:p>
        </p:txBody>
      </p:sp>
      <p:cxnSp>
        <p:nvCxnSpPr>
          <p:cNvPr id="12" name="Straight Arrow Connector 11"/>
          <p:cNvCxnSpPr/>
          <p:nvPr/>
        </p:nvCxnSpPr>
        <p:spPr bwMode="auto">
          <a:xfrm flipH="1">
            <a:off x="3923928" y="2132856"/>
            <a:ext cx="695610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>
            <a:off x="5195601" y="2132856"/>
            <a:ext cx="1595853" cy="4848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21" name="Rectangle 20"/>
          <p:cNvSpPr/>
          <p:nvPr/>
        </p:nvSpPr>
        <p:spPr>
          <a:xfrm>
            <a:off x="1500850" y="1307088"/>
            <a:ext cx="19883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latin typeface="Calibri" pitchFamily="34" charset="0"/>
              </a:rPr>
              <a:t>Decompose </a:t>
            </a:r>
            <a:endParaRPr lang="en-SG" sz="2800" dirty="0">
              <a:latin typeface="Calibri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82104" y="1988840"/>
            <a:ext cx="2745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Attributes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28184" y="1538789"/>
            <a:ext cx="225055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X + Attributes </a:t>
            </a:r>
            <a:b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</a:b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NOT in {X}</a:t>
            </a:r>
            <a:r>
              <a:rPr lang="en-US" sz="2800" baseline="30000" dirty="0" smtClean="0">
                <a:solidFill>
                  <a:srgbClr val="A50021"/>
                </a:solidFill>
                <a:latin typeface="Calibri" pitchFamily="34" charset="0"/>
              </a:rPr>
              <a:t>+</a:t>
            </a:r>
            <a:r>
              <a:rPr lang="en-US" sz="2800" dirty="0" smtClean="0">
                <a:solidFill>
                  <a:srgbClr val="A50021"/>
                </a:solidFill>
                <a:latin typeface="Calibri" pitchFamily="34" charset="0"/>
              </a:rPr>
              <a:t> </a:t>
            </a:r>
            <a:endParaRPr lang="en-SG" sz="2800" dirty="0">
              <a:solidFill>
                <a:srgbClr val="A50021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073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Properties of BCNF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Good properties</a:t>
            </a:r>
          </a:p>
          <a:p>
            <a:pPr lvl="1"/>
            <a:r>
              <a:rPr lang="en-US" dirty="0" smtClean="0"/>
              <a:t>No update or deletion anomalies</a:t>
            </a:r>
          </a:p>
          <a:p>
            <a:pPr lvl="1"/>
            <a:r>
              <a:rPr lang="en-US" dirty="0"/>
              <a:t>Small </a:t>
            </a:r>
            <a:r>
              <a:rPr lang="en-US" dirty="0" smtClean="0"/>
              <a:t>redundancy</a:t>
            </a:r>
          </a:p>
          <a:p>
            <a:pPr lvl="1"/>
            <a:r>
              <a:rPr lang="en-US" dirty="0" smtClean="0"/>
              <a:t>The original table can always be reconstructed from the decomposed tables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Bad properties</a:t>
            </a:r>
          </a:p>
          <a:p>
            <a:pPr lvl="1"/>
            <a:r>
              <a:rPr lang="en-US" dirty="0" smtClean="0"/>
              <a:t>Dependencies may not be preserved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868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38368" cy="493417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Given: Table R(A, B, C)</a:t>
            </a:r>
          </a:p>
          <a:p>
            <a:pPr lvl="1"/>
            <a:r>
              <a:rPr lang="en-US" dirty="0" smtClean="0"/>
              <a:t>with AB</a:t>
            </a:r>
            <a:r>
              <a:rPr lang="en-US" dirty="0" smtClean="0">
                <a:sym typeface="Wingdings" pitchFamily="2" charset="2"/>
              </a:rPr>
              <a:t>C, CB</a:t>
            </a:r>
          </a:p>
          <a:p>
            <a:r>
              <a:rPr lang="en-US" dirty="0" smtClean="0"/>
              <a:t>Keys: {AB}, {AC}</a:t>
            </a:r>
          </a:p>
          <a:p>
            <a:r>
              <a:rPr lang="en-US" dirty="0" smtClean="0"/>
              <a:t>BCNF Decomposition</a:t>
            </a:r>
          </a:p>
          <a:p>
            <a:pPr lvl="1"/>
            <a:r>
              <a:rPr lang="en-US" dirty="0" smtClean="0"/>
              <a:t>R</a:t>
            </a:r>
            <a:r>
              <a:rPr lang="en-US" baseline="-25000" dirty="0" smtClean="0"/>
              <a:t>1</a:t>
            </a:r>
            <a:r>
              <a:rPr lang="en-US" dirty="0" smtClean="0"/>
              <a:t>(B, C)</a:t>
            </a:r>
          </a:p>
          <a:p>
            <a:pPr lvl="1"/>
            <a:r>
              <a:rPr lang="en-US" dirty="0" smtClean="0"/>
              <a:t>R</a:t>
            </a:r>
            <a:r>
              <a:rPr lang="en-US" baseline="-25000" dirty="0" smtClean="0"/>
              <a:t>2</a:t>
            </a:r>
            <a:r>
              <a:rPr lang="en-US" dirty="0" smtClean="0"/>
              <a:t>(A, C)</a:t>
            </a:r>
          </a:p>
          <a:p>
            <a:r>
              <a:rPr lang="en-US" dirty="0" smtClean="0"/>
              <a:t>Non-trivial FDs on R</a:t>
            </a:r>
            <a:r>
              <a:rPr lang="en-US" baseline="-25000" dirty="0" smtClean="0"/>
              <a:t>1</a:t>
            </a:r>
            <a:r>
              <a:rPr lang="en-US" dirty="0" smtClean="0"/>
              <a:t>: C</a:t>
            </a:r>
            <a:r>
              <a:rPr lang="en-US" dirty="0" smtClean="0">
                <a:sym typeface="Wingdings" panose="05000000000000000000" pitchFamily="2" charset="2"/>
              </a:rPr>
              <a:t>B</a:t>
            </a:r>
            <a:endParaRPr lang="en-US" dirty="0" smtClean="0"/>
          </a:p>
          <a:p>
            <a:r>
              <a:rPr lang="en-US" dirty="0" smtClean="0"/>
              <a:t>Non-trivial FDs on R</a:t>
            </a:r>
            <a:r>
              <a:rPr lang="en-US" baseline="-25000" dirty="0" smtClean="0"/>
              <a:t>2</a:t>
            </a:r>
            <a:r>
              <a:rPr lang="en-US" dirty="0" smtClean="0"/>
              <a:t>: none</a:t>
            </a:r>
            <a:endParaRPr lang="en-US" dirty="0"/>
          </a:p>
          <a:p>
            <a:r>
              <a:rPr lang="en-US" dirty="0" smtClean="0"/>
              <a:t>The other FD, AB</a:t>
            </a:r>
            <a:r>
              <a:rPr lang="en-US" dirty="0" smtClean="0">
                <a:sym typeface="Wingdings" pitchFamily="2" charset="2"/>
              </a:rPr>
              <a:t>C, is hold on any individual table, i.e., it is “lost”</a:t>
            </a:r>
          </a:p>
          <a:p>
            <a:r>
              <a:rPr lang="en-US" dirty="0" smtClean="0">
                <a:sym typeface="Wingdings" pitchFamily="2" charset="2"/>
              </a:rPr>
              <a:t>This why we say that a BCNF decomposition does not always </a:t>
            </a:r>
            <a:r>
              <a:rPr lang="en-US" dirty="0" smtClean="0">
                <a:solidFill>
                  <a:srgbClr val="A50021"/>
                </a:solidFill>
                <a:sym typeface="Wingdings" pitchFamily="2" charset="2"/>
              </a:rPr>
              <a:t>preserve</a:t>
            </a:r>
            <a:r>
              <a:rPr lang="en-US" dirty="0" smtClean="0">
                <a:sym typeface="Wingdings" pitchFamily="2" charset="2"/>
              </a:rPr>
              <a:t> all FDs</a:t>
            </a:r>
            <a:endParaRPr lang="en-US" dirty="0" smtClean="0"/>
          </a:p>
          <a:p>
            <a:pPr lvl="1"/>
            <a:endParaRPr lang="en-US" dirty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919460" y="1052736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A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B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7725950" y="2750252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A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6026561" y="2750252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B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 bwMode="auto">
          <a:xfrm flipH="1">
            <a:off x="6588224" y="1772816"/>
            <a:ext cx="720080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7740352" y="1772816"/>
            <a:ext cx="360040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6468772" y="1044025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endParaRPr lang="en-US" sz="3200" dirty="0">
              <a:latin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97263" y="2165477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r>
              <a:rPr lang="en-US" sz="3200" baseline="-25000" dirty="0" smtClean="0">
                <a:latin typeface="Calibri" pitchFamily="34" charset="0"/>
              </a:rPr>
              <a:t>1</a:t>
            </a:r>
            <a:endParaRPr lang="en-US" sz="3200" baseline="-25000" dirty="0"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8424" y="2204864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r>
              <a:rPr lang="en-US" altLang="zh-CN" sz="3200" baseline="-25000" dirty="0" smtClean="0">
                <a:latin typeface="Calibri" pitchFamily="34" charset="0"/>
              </a:rPr>
              <a:t>2</a:t>
            </a:r>
            <a:endParaRPr lang="en-US" sz="3200" baseline="-25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67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338368" cy="4934173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Why do we want to preserve FDs?</a:t>
            </a:r>
            <a:endParaRPr lang="en-US" dirty="0"/>
          </a:p>
          <a:p>
            <a:r>
              <a:rPr lang="en-US" dirty="0" smtClean="0"/>
              <a:t>Because we want to make it easier </a:t>
            </a:r>
            <a:br>
              <a:rPr lang="en-US" dirty="0" smtClean="0"/>
            </a:br>
            <a:r>
              <a:rPr lang="en-US" dirty="0" smtClean="0"/>
              <a:t>to avoid “inappropriate” updates</a:t>
            </a:r>
          </a:p>
          <a:p>
            <a:endParaRPr lang="en-US" dirty="0"/>
          </a:p>
          <a:p>
            <a:r>
              <a:rPr lang="en-US" dirty="0" smtClean="0"/>
              <a:t>Previous example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We have two tables R</a:t>
            </a:r>
            <a:r>
              <a:rPr lang="en-US" baseline="-25000" dirty="0" smtClean="0">
                <a:sym typeface="Wingdings" pitchFamily="2" charset="2"/>
              </a:rPr>
              <a:t>1</a:t>
            </a:r>
            <a:r>
              <a:rPr lang="en-US" dirty="0" smtClean="0">
                <a:sym typeface="Wingdings" pitchFamily="2" charset="2"/>
              </a:rPr>
              <a:t>(B, C), R</a:t>
            </a:r>
            <a:r>
              <a:rPr lang="en-US" baseline="-25000" dirty="0" smtClean="0">
                <a:sym typeface="Wingdings" pitchFamily="2" charset="2"/>
              </a:rPr>
              <a:t>2</a:t>
            </a:r>
            <a:r>
              <a:rPr lang="en-US" dirty="0" smtClean="0">
                <a:sym typeface="Wingdings" pitchFamily="2" charset="2"/>
              </a:rPr>
              <a:t>(A, C)</a:t>
            </a:r>
          </a:p>
          <a:p>
            <a:pPr lvl="1"/>
            <a:r>
              <a:rPr lang="en-US" dirty="0" smtClean="0"/>
              <a:t>We have C</a:t>
            </a:r>
            <a:r>
              <a:rPr lang="en-US" dirty="0" smtClean="0">
                <a:sym typeface="Wingdings" pitchFamily="2" charset="2"/>
              </a:rPr>
              <a:t>B and ABC</a:t>
            </a:r>
          </a:p>
          <a:p>
            <a:pPr lvl="1"/>
            <a:r>
              <a:rPr lang="en-US" dirty="0" smtClean="0">
                <a:sym typeface="Wingdings" pitchFamily="2" charset="2"/>
              </a:rPr>
              <a:t>Due to ABC, we are not suppose to have two tuples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(a1, b1, c1) and (a1, b1, c2)</a:t>
            </a:r>
          </a:p>
          <a:p>
            <a:pPr lvl="1"/>
            <a:r>
              <a:rPr lang="en-US" dirty="0" smtClean="0"/>
              <a:t>But as we store A and C separately in R</a:t>
            </a:r>
            <a:r>
              <a:rPr lang="en-US" baseline="-25000" dirty="0" smtClean="0"/>
              <a:t>1</a:t>
            </a:r>
            <a:r>
              <a:rPr lang="en-US" dirty="0" smtClean="0"/>
              <a:t> and R</a:t>
            </a:r>
            <a:r>
              <a:rPr lang="en-US" baseline="-25000" dirty="0" smtClean="0"/>
              <a:t>2</a:t>
            </a:r>
            <a:r>
              <a:rPr lang="en-US" dirty="0" smtClean="0"/>
              <a:t>, it is not easy to check whether such two tuples exist at the same time</a:t>
            </a:r>
          </a:p>
          <a:p>
            <a:pPr lvl="1"/>
            <a:r>
              <a:rPr lang="en-US" dirty="0" smtClean="0"/>
              <a:t>That is, if someone wants to insert (a1, b1, c2), it is not easy for us to check whether (a1, b1, c1) already exists</a:t>
            </a:r>
          </a:p>
          <a:p>
            <a:pPr lvl="1"/>
            <a:r>
              <a:rPr lang="en-US" dirty="0" smtClean="0"/>
              <a:t>This is less than ideal</a:t>
            </a:r>
            <a:endParaRPr lang="en-US" dirty="0"/>
          </a:p>
          <a:p>
            <a:pPr lvl="1"/>
            <a:endParaRPr lang="en-US" dirty="0" smtClean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/>
          </p:nvPr>
        </p:nvGraphicFramePr>
        <p:xfrm>
          <a:off x="6919460" y="1052736"/>
          <a:ext cx="1209735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A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B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/>
          </p:nvPr>
        </p:nvGraphicFramePr>
        <p:xfrm>
          <a:off x="7725950" y="2750252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A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smtClean="0">
                          <a:latin typeface="Calibri" pitchFamily="34" charset="0"/>
                        </a:rPr>
                        <a:t>C</a:t>
                      </a:r>
                      <a:endParaRPr lang="en-SG" sz="2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/>
          </p:nvPr>
        </p:nvGraphicFramePr>
        <p:xfrm>
          <a:off x="6026561" y="2750252"/>
          <a:ext cx="806490" cy="678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028"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B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800" u="none" dirty="0" smtClean="0">
                          <a:latin typeface="Calibri" pitchFamily="34" charset="0"/>
                        </a:rPr>
                        <a:t>C</a:t>
                      </a:r>
                      <a:endParaRPr lang="en-SG" sz="2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28"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endParaRPr lang="en-SG" sz="800" u="none" dirty="0">
                        <a:latin typeface="Calibri" pitchFamily="34" charset="0"/>
                      </a:endParaRP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 bwMode="auto">
          <a:xfrm flipH="1">
            <a:off x="6588224" y="1772816"/>
            <a:ext cx="720080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7740352" y="1772816"/>
            <a:ext cx="360040" cy="9361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lg" len="lg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6468772" y="1044025"/>
            <a:ext cx="4074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endParaRPr lang="en-US" sz="3200" dirty="0">
              <a:latin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97263" y="2165477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r>
              <a:rPr lang="en-US" sz="3200" baseline="-25000" dirty="0" smtClean="0">
                <a:latin typeface="Calibri" pitchFamily="34" charset="0"/>
              </a:rPr>
              <a:t>1</a:t>
            </a:r>
            <a:endParaRPr lang="en-US" sz="3200" baseline="-25000" dirty="0">
              <a:latin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8424" y="2204864"/>
            <a:ext cx="5469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latin typeface="Calibri" pitchFamily="34" charset="0"/>
              </a:rPr>
              <a:t>R</a:t>
            </a:r>
            <a:r>
              <a:rPr lang="en-US" altLang="zh-CN" sz="3200" baseline="-25000" dirty="0" smtClean="0">
                <a:latin typeface="Calibri" pitchFamily="34" charset="0"/>
              </a:rPr>
              <a:t>2</a:t>
            </a:r>
            <a:endParaRPr lang="en-US" sz="3200" baseline="-250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Roadmap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BCNF</a:t>
            </a:r>
          </a:p>
          <a:p>
            <a:pPr lvl="1"/>
            <a:r>
              <a:rPr lang="en-US" dirty="0"/>
              <a:t>No update or deletion anomalies</a:t>
            </a:r>
          </a:p>
          <a:p>
            <a:pPr lvl="1"/>
            <a:r>
              <a:rPr lang="en-US" dirty="0"/>
              <a:t>Small redundancy</a:t>
            </a:r>
          </a:p>
          <a:p>
            <a:pPr lvl="1"/>
            <a:r>
              <a:rPr lang="en-US" dirty="0" smtClean="0"/>
              <a:t>Lossless join property</a:t>
            </a:r>
            <a:endParaRPr lang="en-US" dirty="0"/>
          </a:p>
          <a:p>
            <a:pPr lvl="1"/>
            <a:r>
              <a:rPr lang="en-US" dirty="0" smtClean="0"/>
              <a:t>But may not preserve all FDs</a:t>
            </a:r>
          </a:p>
          <a:p>
            <a:r>
              <a:rPr lang="en-US" dirty="0" smtClean="0"/>
              <a:t>Third Normal Form (3NF)</a:t>
            </a:r>
          </a:p>
          <a:p>
            <a:pPr lvl="1"/>
            <a:r>
              <a:rPr lang="en-US" dirty="0" smtClean="0"/>
              <a:t>Not as strict as BCNF</a:t>
            </a:r>
            <a:endParaRPr lang="en-US" dirty="0"/>
          </a:p>
          <a:p>
            <a:pPr lvl="1"/>
            <a:r>
              <a:rPr lang="en-US" dirty="0"/>
              <a:t>No update or deletion anomalies</a:t>
            </a:r>
          </a:p>
          <a:p>
            <a:pPr lvl="1"/>
            <a:r>
              <a:rPr lang="en-US" dirty="0"/>
              <a:t>Small </a:t>
            </a:r>
            <a:r>
              <a:rPr lang="en-US" dirty="0" smtClean="0"/>
              <a:t>redundancy (</a:t>
            </a:r>
            <a:r>
              <a:rPr lang="en-US" dirty="0" smtClean="0">
                <a:solidFill>
                  <a:srgbClr val="C00000"/>
                </a:solidFill>
              </a:rPr>
              <a:t>not as small as BCNF, though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Lossless join property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Preserve </a:t>
            </a:r>
            <a:r>
              <a:rPr lang="en-US" dirty="0">
                <a:solidFill>
                  <a:srgbClr val="C00000"/>
                </a:solidFill>
              </a:rPr>
              <a:t>all FDs</a:t>
            </a:r>
            <a:endParaRPr lang="en-SG" dirty="0">
              <a:solidFill>
                <a:srgbClr val="C00000"/>
              </a:solidFill>
            </a:endParaRPr>
          </a:p>
          <a:p>
            <a:pPr lvl="1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78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Edge">
  <a:themeElements>
    <a:clrScheme name="Edge 12">
      <a:dk1>
        <a:srgbClr val="000000"/>
      </a:dk1>
      <a:lt1>
        <a:srgbClr val="FFFFFF"/>
      </a:lt1>
      <a:dk2>
        <a:srgbClr val="000000"/>
      </a:dk2>
      <a:lt2>
        <a:srgbClr val="666699"/>
      </a:lt2>
      <a:accent1>
        <a:srgbClr val="3366FF"/>
      </a:accent1>
      <a:accent2>
        <a:srgbClr val="3366FF"/>
      </a:accent2>
      <a:accent3>
        <a:srgbClr val="FFFFFF"/>
      </a:accent3>
      <a:accent4>
        <a:srgbClr val="000000"/>
      </a:accent4>
      <a:accent5>
        <a:srgbClr val="ADB8FF"/>
      </a:accent5>
      <a:accent6>
        <a:srgbClr val="2D5CE7"/>
      </a:accent6>
      <a:hlink>
        <a:srgbClr val="006666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0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1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009999"/>
        </a:accent1>
        <a:accent2>
          <a:srgbClr val="009999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008A8A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12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3366FF"/>
        </a:accent1>
        <a:accent2>
          <a:srgbClr val="3366FF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2D5CE7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19911</TotalTime>
  <Words>8415</Words>
  <Application>Microsoft Office PowerPoint</Application>
  <PresentationFormat>On-screen Show (4:3)</PresentationFormat>
  <Paragraphs>1477</Paragraphs>
  <Slides>125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32" baseType="lpstr">
      <vt:lpstr>宋体</vt:lpstr>
      <vt:lpstr>Arial</vt:lpstr>
      <vt:lpstr>Calibri</vt:lpstr>
      <vt:lpstr>Comic Sans MS</vt:lpstr>
      <vt:lpstr>Garamond</vt:lpstr>
      <vt:lpstr>Wingdings</vt:lpstr>
      <vt:lpstr>Edge</vt:lpstr>
      <vt:lpstr>CS2102 Database Systems</vt:lpstr>
      <vt:lpstr>Recap</vt:lpstr>
      <vt:lpstr>Data Anomalies</vt:lpstr>
      <vt:lpstr>Data Anomalies</vt:lpstr>
      <vt:lpstr>Data Anomalies</vt:lpstr>
      <vt:lpstr>Data Anomalies</vt:lpstr>
      <vt:lpstr>Normalization</vt:lpstr>
      <vt:lpstr>Effects of Normalization</vt:lpstr>
      <vt:lpstr>Road Map</vt:lpstr>
      <vt:lpstr>Functional Dependencies: Intuition</vt:lpstr>
      <vt:lpstr>Functional Dependencies: Intuition</vt:lpstr>
      <vt:lpstr>Functional Dependencies (FD)</vt:lpstr>
      <vt:lpstr>Functional Dependencies (FD)</vt:lpstr>
      <vt:lpstr>Formal Definition of FD</vt:lpstr>
      <vt:lpstr>Examples of FDs</vt:lpstr>
      <vt:lpstr>PowerPoint Presentation</vt:lpstr>
      <vt:lpstr>Where Do FDs Come From?</vt:lpstr>
      <vt:lpstr>Where Do FDs Come From?</vt:lpstr>
      <vt:lpstr>Where Do FDs Come From?</vt:lpstr>
      <vt:lpstr>Where Do FDs Come From?</vt:lpstr>
      <vt:lpstr>Where Do FDs Come From?</vt:lpstr>
      <vt:lpstr>PowerPoint Presentation</vt:lpstr>
      <vt:lpstr>Motivation for FD Reasoning</vt:lpstr>
      <vt:lpstr>Armstrong’s Axioms</vt:lpstr>
      <vt:lpstr>Armstrong’s Axioms </vt:lpstr>
      <vt:lpstr>Armstrong’s Axioms </vt:lpstr>
      <vt:lpstr>Armstrong’s Axioms </vt:lpstr>
      <vt:lpstr>Reasoning with FDs</vt:lpstr>
      <vt:lpstr>Reasoning with FDs</vt:lpstr>
      <vt:lpstr>Reasoning with FDs</vt:lpstr>
      <vt:lpstr>Reasoning with FD</vt:lpstr>
      <vt:lpstr>An Intuitive Solution</vt:lpstr>
      <vt:lpstr>Steps of the Intuitive Solution</vt:lpstr>
      <vt:lpstr>Exercise</vt:lpstr>
      <vt:lpstr>Exercise</vt:lpstr>
      <vt:lpstr>Exercise</vt:lpstr>
      <vt:lpstr>Closure</vt:lpstr>
      <vt:lpstr>Computing Closures</vt:lpstr>
      <vt:lpstr>Usage of Closure</vt:lpstr>
      <vt:lpstr>Exercise</vt:lpstr>
      <vt:lpstr>Exercise</vt:lpstr>
      <vt:lpstr>Closure &amp; FD</vt:lpstr>
      <vt:lpstr>Closure &amp; FD</vt:lpstr>
      <vt:lpstr>Roadmap</vt:lpstr>
      <vt:lpstr>Superkeys of a Table</vt:lpstr>
      <vt:lpstr>Keys of a Table</vt:lpstr>
      <vt:lpstr>Keys of a Table</vt:lpstr>
      <vt:lpstr>Candidate Keys</vt:lpstr>
      <vt:lpstr>Primary and Secondary Keys</vt:lpstr>
      <vt:lpstr>Finding the Keys</vt:lpstr>
      <vt:lpstr>Example</vt:lpstr>
      <vt:lpstr>Example</vt:lpstr>
      <vt:lpstr>Finding the Keys: Algorithm</vt:lpstr>
      <vt:lpstr>Example </vt:lpstr>
      <vt:lpstr>Example</vt:lpstr>
      <vt:lpstr>Exercise (Find the keys) </vt:lpstr>
      <vt:lpstr>Exercise (Find the keys) </vt:lpstr>
      <vt:lpstr>Exercise (Find the keys) </vt:lpstr>
      <vt:lpstr>A Small Trick </vt:lpstr>
      <vt:lpstr>Another Small Trick</vt:lpstr>
      <vt:lpstr>Exercise (Find the Keys)</vt:lpstr>
      <vt:lpstr>Exercise (Find the Keys)</vt:lpstr>
      <vt:lpstr>Exercise (Find the Keys)</vt:lpstr>
      <vt:lpstr>Roadmap</vt:lpstr>
      <vt:lpstr>Normalization</vt:lpstr>
      <vt:lpstr>Normal Forms</vt:lpstr>
      <vt:lpstr>BCNF: Basics</vt:lpstr>
      <vt:lpstr>BCNF: Definition</vt:lpstr>
      <vt:lpstr>BCNF: Definition</vt:lpstr>
      <vt:lpstr>BCNF: Intuition</vt:lpstr>
      <vt:lpstr>BCNF Intuition: Example</vt:lpstr>
      <vt:lpstr>Coming Next</vt:lpstr>
      <vt:lpstr>BCNF Check</vt:lpstr>
      <vt:lpstr>BCNF Check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BCNF Check: Example</vt:lpstr>
      <vt:lpstr>Simplified BCNF Check</vt:lpstr>
      <vt:lpstr>Simplified BCNF Check</vt:lpstr>
      <vt:lpstr>Simplified BCNF Check</vt:lpstr>
      <vt:lpstr>Simplified BCNF Check: Example</vt:lpstr>
      <vt:lpstr>Simplified BCNF Check: Example</vt:lpstr>
      <vt:lpstr>Simplified BCNF Check: Example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Exercise</vt:lpstr>
      <vt:lpstr>Roadmap</vt:lpstr>
      <vt:lpstr>BCNF Decomposition</vt:lpstr>
      <vt:lpstr>Decompose, until all are in BCNF</vt:lpstr>
      <vt:lpstr>BCNF Decomposition</vt:lpstr>
      <vt:lpstr>BCNF Decomposition: Example</vt:lpstr>
      <vt:lpstr>BCNF Decomposition: Example</vt:lpstr>
      <vt:lpstr>BCNF Decomposition: Example</vt:lpstr>
      <vt:lpstr>BCNF Decomposition: Example</vt:lpstr>
      <vt:lpstr>Notes</vt:lpstr>
      <vt:lpstr>Exercise</vt:lpstr>
      <vt:lpstr>Exercise</vt:lpstr>
      <vt:lpstr>Exercise</vt:lpstr>
      <vt:lpstr>Exercise</vt:lpstr>
      <vt:lpstr>Exercise</vt:lpstr>
      <vt:lpstr>Decompose, until all are in BCNF</vt:lpstr>
      <vt:lpstr>Properties of BCNF</vt:lpstr>
      <vt:lpstr>Table Reconstruction</vt:lpstr>
      <vt:lpstr>Lossless Join Decomposition</vt:lpstr>
      <vt:lpstr>Why BCNF guarantees lossless join?</vt:lpstr>
      <vt:lpstr>Properties of BCNF Decomposition</vt:lpstr>
      <vt:lpstr>BCNF Decomposition Algorithm</vt:lpstr>
      <vt:lpstr>BCNF Decomposition Algorithm</vt:lpstr>
      <vt:lpstr>Properties of BCNF</vt:lpstr>
      <vt:lpstr>Dependency Preservation</vt:lpstr>
      <vt:lpstr>Dependency Preservation</vt:lpstr>
      <vt:lpstr>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Preserving Data Publishing</dc:title>
  <dc:creator>xiaokui</dc:creator>
  <cp:lastModifiedBy>Xiaokui XIAO</cp:lastModifiedBy>
  <cp:revision>1144</cp:revision>
  <cp:lastPrinted>2014-09-11T02:14:07Z</cp:lastPrinted>
  <dcterms:created xsi:type="dcterms:W3CDTF">2009-03-02T02:47:37Z</dcterms:created>
  <dcterms:modified xsi:type="dcterms:W3CDTF">2019-06-17T08:33:05Z</dcterms:modified>
</cp:coreProperties>
</file>