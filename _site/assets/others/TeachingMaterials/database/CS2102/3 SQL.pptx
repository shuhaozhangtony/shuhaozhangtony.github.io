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6" r:id="rId1"/>
  </p:sldMasterIdLst>
  <p:notesMasterIdLst>
    <p:notesMasterId r:id="rId88"/>
  </p:notesMasterIdLst>
  <p:handoutMasterIdLst>
    <p:handoutMasterId r:id="rId89"/>
  </p:handoutMasterIdLst>
  <p:sldIdLst>
    <p:sldId id="256" r:id="rId2"/>
    <p:sldId id="559" r:id="rId3"/>
    <p:sldId id="633" r:id="rId4"/>
    <p:sldId id="634" r:id="rId5"/>
    <p:sldId id="635" r:id="rId6"/>
    <p:sldId id="636" r:id="rId7"/>
    <p:sldId id="637" r:id="rId8"/>
    <p:sldId id="638" r:id="rId9"/>
    <p:sldId id="644" r:id="rId10"/>
    <p:sldId id="639" r:id="rId11"/>
    <p:sldId id="645" r:id="rId12"/>
    <p:sldId id="640" r:id="rId13"/>
    <p:sldId id="641" r:id="rId14"/>
    <p:sldId id="642" r:id="rId15"/>
    <p:sldId id="643" r:id="rId16"/>
    <p:sldId id="563" r:id="rId17"/>
    <p:sldId id="557" r:id="rId18"/>
    <p:sldId id="565" r:id="rId19"/>
    <p:sldId id="574" r:id="rId20"/>
    <p:sldId id="573" r:id="rId21"/>
    <p:sldId id="575" r:id="rId22"/>
    <p:sldId id="569" r:id="rId23"/>
    <p:sldId id="570" r:id="rId24"/>
    <p:sldId id="571" r:id="rId25"/>
    <p:sldId id="572" r:id="rId26"/>
    <p:sldId id="576" r:id="rId27"/>
    <p:sldId id="577" r:id="rId28"/>
    <p:sldId id="582" r:id="rId29"/>
    <p:sldId id="580" r:id="rId30"/>
    <p:sldId id="583" r:id="rId31"/>
    <p:sldId id="584" r:id="rId32"/>
    <p:sldId id="585" r:id="rId33"/>
    <p:sldId id="586" r:id="rId34"/>
    <p:sldId id="587" r:id="rId35"/>
    <p:sldId id="588" r:id="rId36"/>
    <p:sldId id="589" r:id="rId37"/>
    <p:sldId id="590" r:id="rId38"/>
    <p:sldId id="591" r:id="rId39"/>
    <p:sldId id="603" r:id="rId40"/>
    <p:sldId id="592" r:id="rId41"/>
    <p:sldId id="593" r:id="rId42"/>
    <p:sldId id="594" r:id="rId43"/>
    <p:sldId id="595" r:id="rId44"/>
    <p:sldId id="596" r:id="rId45"/>
    <p:sldId id="597" r:id="rId46"/>
    <p:sldId id="598" r:id="rId47"/>
    <p:sldId id="599" r:id="rId48"/>
    <p:sldId id="600" r:id="rId49"/>
    <p:sldId id="601" r:id="rId50"/>
    <p:sldId id="632" r:id="rId51"/>
    <p:sldId id="602" r:id="rId52"/>
    <p:sldId id="605" r:id="rId53"/>
    <p:sldId id="606" r:id="rId54"/>
    <p:sldId id="607" r:id="rId55"/>
    <p:sldId id="608" r:id="rId56"/>
    <p:sldId id="609" r:id="rId57"/>
    <p:sldId id="610" r:id="rId58"/>
    <p:sldId id="611" r:id="rId59"/>
    <p:sldId id="612" r:id="rId60"/>
    <p:sldId id="613" r:id="rId61"/>
    <p:sldId id="614" r:id="rId62"/>
    <p:sldId id="615" r:id="rId63"/>
    <p:sldId id="616" r:id="rId64"/>
    <p:sldId id="617" r:id="rId65"/>
    <p:sldId id="618" r:id="rId66"/>
    <p:sldId id="619" r:id="rId67"/>
    <p:sldId id="620" r:id="rId68"/>
    <p:sldId id="621" r:id="rId69"/>
    <p:sldId id="622" r:id="rId70"/>
    <p:sldId id="623" r:id="rId71"/>
    <p:sldId id="624" r:id="rId72"/>
    <p:sldId id="625" r:id="rId73"/>
    <p:sldId id="626" r:id="rId74"/>
    <p:sldId id="627" r:id="rId75"/>
    <p:sldId id="628" r:id="rId76"/>
    <p:sldId id="629" r:id="rId77"/>
    <p:sldId id="630" r:id="rId78"/>
    <p:sldId id="631" r:id="rId79"/>
    <p:sldId id="646" r:id="rId80"/>
    <p:sldId id="787" r:id="rId81"/>
    <p:sldId id="788" r:id="rId82"/>
    <p:sldId id="789" r:id="rId83"/>
    <p:sldId id="790" r:id="rId84"/>
    <p:sldId id="791" r:id="rId85"/>
    <p:sldId id="793" r:id="rId86"/>
    <p:sldId id="794" r:id="rId87"/>
  </p:sldIdLst>
  <p:sldSz cx="9144000" cy="6858000" type="screen4x3"/>
  <p:notesSz cx="6669088" cy="9753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CCFF99"/>
    <a:srgbClr val="008000"/>
    <a:srgbClr val="FF9900"/>
    <a:srgbClr val="33CC33"/>
    <a:srgbClr val="66FF33"/>
    <a:srgbClr val="CC00CC"/>
    <a:srgbClr val="00CC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882" autoAdjust="0"/>
  </p:normalViewPr>
  <p:slideViewPr>
    <p:cSldViewPr>
      <p:cViewPr varScale="1">
        <p:scale>
          <a:sx n="47" d="100"/>
          <a:sy n="47" d="100"/>
        </p:scale>
        <p:origin x="1477" y="3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993" y="0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1A395C66-BAC7-4947-A978-17979EC9EE5D}" type="datetimeFigureOut">
              <a:rPr lang="zh-CN" altLang="en-US"/>
              <a:pPr>
                <a:defRPr/>
              </a:pPr>
              <a:t>2019/6/19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263663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993" y="9263663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4239E3A9-FBC1-4C90-89C7-C86D175BA3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5708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993" y="0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C874FDD-B067-4E5B-9185-454DDEAB3F7B}" type="datetimeFigureOut">
              <a:rPr lang="zh-CN" altLang="en-US"/>
              <a:pPr>
                <a:defRPr/>
              </a:pPr>
              <a:t>2019/6/19</a:t>
            </a:fld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6938" y="730250"/>
            <a:ext cx="4875212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632960"/>
            <a:ext cx="533527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3663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993" y="9263663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1A4026A9-F546-4A60-85FC-C280A3E995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6891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91593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 b="1"/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CDC6D-4EE0-4163-813D-9CD3796578B8}" type="datetimeFigureOut">
              <a:rPr lang="zh-CN" altLang="en-US" smtClean="0"/>
              <a:pPr>
                <a:defRPr/>
              </a:pPr>
              <a:t>2019/6/19</a:t>
            </a:fld>
            <a:endParaRPr lang="en-US" altLang="zh-CN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893D8-0101-4D6A-B8CF-851210C370A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199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1CC542-DA65-4D97-A79C-E6B794CDE341}" type="datetimeFigureOut">
              <a:rPr lang="zh-CN" altLang="en-US" smtClean="0"/>
              <a:pPr>
                <a:defRPr/>
              </a:pPr>
              <a:t>2019/6/19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68A76-9B69-47BF-9E4A-96902B10A1E7}" type="datetimeFigureOut">
              <a:rPr lang="zh-CN" altLang="en-US" smtClean="0"/>
              <a:pPr>
                <a:defRPr/>
              </a:pPr>
              <a:t>2019/6/19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D6CF1-B5B0-45CC-A494-C560F80EF87C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93BC6-5129-4551-9A0C-D589C1FA99E0}" type="datetimeFigureOut">
              <a:rPr lang="zh-CN" altLang="en-US" smtClean="0"/>
              <a:pPr>
                <a:defRPr/>
              </a:pPr>
              <a:t>2019/6/19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794451-DE8C-4F17-A5F8-6E9471C791F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4FC51-53E4-4B4A-8408-0D7C776F0E9B}" type="datetimeFigureOut">
              <a:rPr lang="zh-CN" altLang="en-US" smtClean="0"/>
              <a:pPr>
                <a:defRPr/>
              </a:pPr>
              <a:t>2019/6/19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CD14B-0E03-45C4-9CB4-EC1BF9DBC28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9692D-24FD-4BF2-843F-111947BC32F2}" type="datetimeFigureOut">
              <a:rPr lang="zh-CN" altLang="en-US" smtClean="0"/>
              <a:pPr>
                <a:defRPr/>
              </a:pPr>
              <a:t>2019/6/19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499DB-596E-406E-A850-ADBBE4ACAF6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7657F-E8DF-42F6-A122-EC46F94251E9}" type="datetimeFigureOut">
              <a:rPr lang="zh-CN" altLang="en-US" smtClean="0"/>
              <a:pPr>
                <a:defRPr/>
              </a:pPr>
              <a:t>2019/6/19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21A6B-41C5-43CE-82EC-EE99A774C93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1453A-18CE-4CCF-8E9D-7173DDA93971}" type="datetimeFigureOut">
              <a:rPr lang="zh-CN" altLang="en-US" smtClean="0"/>
              <a:pPr>
                <a:defRPr/>
              </a:pPr>
              <a:t>2019/6/19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BB9F9-E069-4585-84F6-CF7DDE5C2DA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6D232-B991-4B2D-9ABC-E8235D4C177C}" type="datetimeFigureOut">
              <a:rPr lang="zh-CN" altLang="en-US" smtClean="0"/>
              <a:pPr>
                <a:defRPr/>
              </a:pPr>
              <a:t>2019/6/19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185E5-D22F-4151-B7A0-3D1C0E84A9F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B0466F-4628-4FD0-96E3-BD8917FD5FD0}" type="datetimeFigureOut">
              <a:rPr lang="zh-CN" altLang="en-US" smtClean="0"/>
              <a:pPr>
                <a:defRPr/>
              </a:pPr>
              <a:t>2019/6/19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B01DE-58FC-4595-BD9C-BE624D0330DD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B8E33-68C8-450A-AAFD-1D2427969E67}" type="datetimeFigureOut">
              <a:rPr lang="zh-CN" altLang="en-US" smtClean="0"/>
              <a:pPr>
                <a:defRPr/>
              </a:pPr>
              <a:t>2019/6/19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ABE93-1989-44EE-8354-A9E88BBC465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2019/6/19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2019/6/19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2019/6/19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2019/6/19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2019/6/19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5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  <p:sldLayoutId id="2147484019" r:id="rId3"/>
    <p:sldLayoutId id="2147484020" r:id="rId4"/>
    <p:sldLayoutId id="2147484021" r:id="rId5"/>
    <p:sldLayoutId id="2147484022" r:id="rId6"/>
    <p:sldLayoutId id="2147484023" r:id="rId7"/>
    <p:sldLayoutId id="2147484024" r:id="rId8"/>
    <p:sldLayoutId id="2147484025" r:id="rId9"/>
    <p:sldLayoutId id="2147484026" r:id="rId10"/>
    <p:sldLayoutId id="2147484027" r:id="rId11"/>
    <p:sldLayoutId id="2147484028" r:id="rId12"/>
    <p:sldLayoutId id="2147484029" r:id="rId13"/>
    <p:sldLayoutId id="2147484030" r:id="rId14"/>
    <p:sldLayoutId id="2147484031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Calibri" panose="020F0502020204030204" pitchFamily="34" charset="0"/>
          <a:ea typeface="+mn-ea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Calibri" panose="020F0502020204030204" pitchFamily="34" charset="0"/>
          <a:ea typeface="+mn-ea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Calibri" panose="020F0502020204030204" pitchFamily="34" charset="0"/>
          <a:ea typeface="+mn-ea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Calibri" panose="020F0502020204030204" pitchFamily="34" charset="0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4400" dirty="0"/>
              <a:t>CS2102</a:t>
            </a:r>
            <a:br>
              <a:rPr lang="en-US" altLang="zh-CN" sz="4400" dirty="0"/>
            </a:br>
            <a:r>
              <a:rPr lang="en-US" altLang="zh-CN" sz="4400"/>
              <a:t>Database Systems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13315" name="Subtitle 2"/>
          <p:cNvSpPr>
            <a:spLocks noGrp="1"/>
          </p:cNvSpPr>
          <p:nvPr>
            <p:ph type="subTitle" idx="1"/>
          </p:nvPr>
        </p:nvSpPr>
        <p:spPr>
          <a:xfrm>
            <a:off x="1981200" y="3962400"/>
            <a:ext cx="6553200" cy="2538434"/>
          </a:xfrm>
        </p:spPr>
        <p:txBody>
          <a:bodyPr>
            <a:normAutofit/>
          </a:bodyPr>
          <a:lstStyle/>
          <a:p>
            <a:pPr marL="26988" eaLnBrk="1" hangingPunct="1"/>
            <a:endParaRPr lang="en-US" altLang="zh-CN" sz="2600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SQ</a:t>
            </a:r>
            <a:r>
              <a:rPr lang="en-US" altLang="zh-CN" dirty="0"/>
              <a:t>L queries</a:t>
            </a:r>
          </a:p>
          <a:p>
            <a:r>
              <a:rPr lang="en-US" dirty="0"/>
              <a:t>Data Definition Language (DDL)</a:t>
            </a:r>
          </a:p>
          <a:p>
            <a:r>
              <a:rPr lang="en-US" dirty="0"/>
              <a:t>Integrity constraints</a:t>
            </a:r>
          </a:p>
          <a:p>
            <a:r>
              <a:rPr lang="en-US" dirty="0">
                <a:solidFill>
                  <a:srgbClr val="C00000"/>
                </a:solidFill>
              </a:rPr>
              <a:t>Views and Temporary Views</a:t>
            </a:r>
            <a:br>
              <a:rPr lang="en-US" dirty="0"/>
            </a:b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03672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-- Motivation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45024"/>
            <a:ext cx="8229600" cy="259228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SELECT	</a:t>
            </a:r>
            <a:r>
              <a:rPr lang="en-US" dirty="0" err="1"/>
              <a:t>RealName</a:t>
            </a:r>
            <a:r>
              <a:rPr lang="en-US" dirty="0"/>
              <a:t>, Article</a:t>
            </a:r>
            <a:br>
              <a:rPr lang="en-US" dirty="0"/>
            </a:br>
            <a:r>
              <a:rPr lang="en-US" dirty="0"/>
              <a:t>FROM	Author, Wrote</a:t>
            </a:r>
            <a:br>
              <a:rPr lang="en-US" dirty="0"/>
            </a:br>
            <a:r>
              <a:rPr lang="en-US" dirty="0"/>
              <a:t>WHERE 	</a:t>
            </a:r>
            <a:r>
              <a:rPr lang="en-US" dirty="0" err="1"/>
              <a:t>Author.PenName</a:t>
            </a:r>
            <a:r>
              <a:rPr lang="en-US" dirty="0"/>
              <a:t> = </a:t>
            </a:r>
            <a:r>
              <a:rPr lang="en-US" dirty="0" err="1"/>
              <a:t>Wrote.PenName</a:t>
            </a:r>
            <a:endParaRPr lang="en-US" sz="2300" dirty="0"/>
          </a:p>
          <a:p>
            <a:r>
              <a:rPr lang="en-US" dirty="0"/>
              <a:t>Assume that we frequently need to check the real names of the authors of some articles</a:t>
            </a:r>
          </a:p>
          <a:p>
            <a:r>
              <a:rPr lang="en-US" dirty="0"/>
              <a:t>Can we somehow make the above join results more easily accessible?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0711942"/>
              </p:ext>
            </p:extLst>
          </p:nvPr>
        </p:nvGraphicFramePr>
        <p:xfrm>
          <a:off x="611560" y="1637308"/>
          <a:ext cx="316835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PenName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052736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7284583"/>
              </p:ext>
            </p:extLst>
          </p:nvPr>
        </p:nvGraphicFramePr>
        <p:xfrm>
          <a:off x="5004048" y="1637308"/>
          <a:ext cx="302433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PenName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04048" y="1063392"/>
            <a:ext cx="172819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Wrote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7934585"/>
              </p:ext>
            </p:extLst>
          </p:nvPr>
        </p:nvGraphicFramePr>
        <p:xfrm>
          <a:off x="2915816" y="2636912"/>
          <a:ext cx="302433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53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45024"/>
            <a:ext cx="8229600" cy="2592288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CREATE VIEW </a:t>
            </a:r>
            <a:r>
              <a:rPr lang="en-US" dirty="0" err="1"/>
              <a:t>RealAuthor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AS</a:t>
            </a:r>
            <a:br>
              <a:rPr lang="en-US" dirty="0"/>
            </a:br>
            <a:r>
              <a:rPr lang="en-US" dirty="0"/>
              <a:t>SELECT	</a:t>
            </a:r>
            <a:r>
              <a:rPr lang="en-US" dirty="0" err="1"/>
              <a:t>RealName</a:t>
            </a:r>
            <a:r>
              <a:rPr lang="en-US" dirty="0"/>
              <a:t>, Article</a:t>
            </a:r>
            <a:br>
              <a:rPr lang="en-US" dirty="0"/>
            </a:br>
            <a:r>
              <a:rPr lang="en-US" dirty="0"/>
              <a:t>FROM	Author, Wrote</a:t>
            </a:r>
            <a:br>
              <a:rPr lang="en-US" dirty="0"/>
            </a:br>
            <a:r>
              <a:rPr lang="en-US" dirty="0"/>
              <a:t>WHERE  	</a:t>
            </a:r>
            <a:r>
              <a:rPr lang="en-US" dirty="0" err="1"/>
              <a:t>Author.PenName</a:t>
            </a:r>
            <a:r>
              <a:rPr lang="en-US" dirty="0"/>
              <a:t> = </a:t>
            </a:r>
            <a:r>
              <a:rPr lang="en-US" dirty="0" err="1"/>
              <a:t>Wrote.PenName</a:t>
            </a:r>
            <a:r>
              <a:rPr lang="en-US" dirty="0"/>
              <a:t>;</a:t>
            </a:r>
          </a:p>
          <a:p>
            <a:r>
              <a:rPr lang="en-US" dirty="0"/>
              <a:t>This view can then be used as a table</a:t>
            </a:r>
          </a:p>
          <a:p>
            <a:r>
              <a:rPr lang="en-US" dirty="0"/>
              <a:t>SELECT 	Article FROM </a:t>
            </a:r>
            <a:r>
              <a:rPr lang="en-US" dirty="0" err="1"/>
              <a:t>RealAuthor</a:t>
            </a:r>
            <a:br>
              <a:rPr lang="en-US" dirty="0"/>
            </a:br>
            <a:r>
              <a:rPr lang="en-US" dirty="0"/>
              <a:t>WHERE 	</a:t>
            </a:r>
            <a:r>
              <a:rPr lang="en-US" dirty="0" err="1"/>
              <a:t>RealName</a:t>
            </a:r>
            <a:r>
              <a:rPr lang="en-US" dirty="0"/>
              <a:t> = ‘Cedric’</a:t>
            </a:r>
          </a:p>
          <a:p>
            <a:endParaRPr lang="en-US" sz="2300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6685378"/>
              </p:ext>
            </p:extLst>
          </p:nvPr>
        </p:nvGraphicFramePr>
        <p:xfrm>
          <a:off x="611560" y="1637308"/>
          <a:ext cx="316835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PenName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052736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7140923"/>
              </p:ext>
            </p:extLst>
          </p:nvPr>
        </p:nvGraphicFramePr>
        <p:xfrm>
          <a:off x="5004048" y="1637308"/>
          <a:ext cx="302433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PenName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04048" y="1063392"/>
            <a:ext cx="172819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Wrote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1730145"/>
              </p:ext>
            </p:extLst>
          </p:nvPr>
        </p:nvGraphicFramePr>
        <p:xfrm>
          <a:off x="2915816" y="2636912"/>
          <a:ext cx="302433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5576" y="2780928"/>
            <a:ext cx="2088232" cy="523220"/>
          </a:xfrm>
          <a:prstGeom prst="rect">
            <a:avLst/>
          </a:prstGeom>
          <a:noFill/>
          <a:ln w="25400"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Calibri" panose="020F0502020204030204" pitchFamily="34" charset="0"/>
              </a:rPr>
              <a:t>RealAuthor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21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vs. Views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45024"/>
            <a:ext cx="8229600" cy="2520280"/>
          </a:xfrm>
        </p:spPr>
        <p:txBody>
          <a:bodyPr>
            <a:normAutofit/>
          </a:bodyPr>
          <a:lstStyle/>
          <a:p>
            <a:r>
              <a:rPr lang="en-US" sz="3200" dirty="0"/>
              <a:t>Tables are physically stored in the database</a:t>
            </a:r>
          </a:p>
          <a:p>
            <a:r>
              <a:rPr lang="en-US" sz="3200" dirty="0"/>
              <a:t>Views are NOT physically stored but are often computed on the fly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6735901"/>
              </p:ext>
            </p:extLst>
          </p:nvPr>
        </p:nvGraphicFramePr>
        <p:xfrm>
          <a:off x="611560" y="1637308"/>
          <a:ext cx="316835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PenName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052736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7612442"/>
              </p:ext>
            </p:extLst>
          </p:nvPr>
        </p:nvGraphicFramePr>
        <p:xfrm>
          <a:off x="5004048" y="1637308"/>
          <a:ext cx="302433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PenName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04048" y="1063392"/>
            <a:ext cx="172819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Wrote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0633624"/>
              </p:ext>
            </p:extLst>
          </p:nvPr>
        </p:nvGraphicFramePr>
        <p:xfrm>
          <a:off x="2915816" y="2636912"/>
          <a:ext cx="302433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5576" y="2780928"/>
            <a:ext cx="2088232" cy="523220"/>
          </a:xfrm>
          <a:prstGeom prst="rect">
            <a:avLst/>
          </a:prstGeom>
          <a:noFill/>
          <a:ln w="25400"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Calibri" panose="020F0502020204030204" pitchFamily="34" charset="0"/>
              </a:rPr>
              <a:t>RealAuthor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59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Queries on Views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35810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We have a view as follows: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CREATE VIEW </a:t>
            </a:r>
            <a:r>
              <a:rPr lang="en-US" dirty="0" err="1"/>
              <a:t>RealAuthor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AS</a:t>
            </a:r>
            <a:br>
              <a:rPr lang="en-US" dirty="0"/>
            </a:br>
            <a:r>
              <a:rPr lang="en-US" dirty="0"/>
              <a:t>SELECT	</a:t>
            </a:r>
            <a:r>
              <a:rPr lang="en-US" dirty="0" err="1"/>
              <a:t>RealName</a:t>
            </a:r>
            <a:r>
              <a:rPr lang="en-US" dirty="0"/>
              <a:t>, Article</a:t>
            </a:r>
            <a:br>
              <a:rPr lang="en-US" dirty="0"/>
            </a:br>
            <a:r>
              <a:rPr lang="en-US" dirty="0"/>
              <a:t>FROM	Author, Wrote</a:t>
            </a:r>
            <a:br>
              <a:rPr lang="en-US" dirty="0"/>
            </a:br>
            <a:r>
              <a:rPr lang="en-US" dirty="0"/>
              <a:t>WHERE 	</a:t>
            </a:r>
            <a:r>
              <a:rPr lang="en-US" dirty="0" err="1"/>
              <a:t>Author.PenName</a:t>
            </a:r>
            <a:r>
              <a:rPr lang="en-US" dirty="0"/>
              <a:t> = </a:t>
            </a:r>
            <a:r>
              <a:rPr lang="en-US" dirty="0" err="1"/>
              <a:t>Wrote.PenName</a:t>
            </a:r>
            <a:r>
              <a:rPr lang="en-US" dirty="0"/>
              <a:t>;</a:t>
            </a:r>
          </a:p>
          <a:p>
            <a:endParaRPr lang="en-US" sz="1400" dirty="0"/>
          </a:p>
          <a:p>
            <a:r>
              <a:rPr lang="en-US" dirty="0"/>
              <a:t>We have a query like this:</a:t>
            </a:r>
            <a:br>
              <a:rPr lang="en-US" dirty="0"/>
            </a:br>
            <a:r>
              <a:rPr lang="en-US" dirty="0"/>
              <a:t>SELECT 	Article FROM </a:t>
            </a:r>
            <a:r>
              <a:rPr lang="en-US" dirty="0" err="1"/>
              <a:t>RealAuthor</a:t>
            </a:r>
            <a:br>
              <a:rPr lang="en-US" dirty="0"/>
            </a:br>
            <a:r>
              <a:rPr lang="en-US" dirty="0"/>
              <a:t>WHERE 	</a:t>
            </a:r>
            <a:r>
              <a:rPr lang="en-US" dirty="0" err="1"/>
              <a:t>RealName</a:t>
            </a:r>
            <a:r>
              <a:rPr lang="en-US" dirty="0"/>
              <a:t> = ‘Cedric’</a:t>
            </a:r>
          </a:p>
          <a:p>
            <a:endParaRPr lang="en-US" sz="1400" dirty="0"/>
          </a:p>
          <a:p>
            <a:r>
              <a:rPr lang="en-US" dirty="0"/>
              <a:t>What the DBMS would do:</a:t>
            </a:r>
            <a:br>
              <a:rPr lang="en-US" dirty="0"/>
            </a:br>
            <a:r>
              <a:rPr lang="en-US" dirty="0"/>
              <a:t>SELECT	</a:t>
            </a:r>
            <a:r>
              <a:rPr lang="en-US" dirty="0" err="1"/>
              <a:t>RealName</a:t>
            </a:r>
            <a:r>
              <a:rPr lang="en-US" dirty="0"/>
              <a:t>, Article</a:t>
            </a:r>
            <a:br>
              <a:rPr lang="en-US" dirty="0"/>
            </a:br>
            <a:r>
              <a:rPr lang="en-US" dirty="0"/>
              <a:t>FROM	Author, Wrote</a:t>
            </a:r>
            <a:br>
              <a:rPr lang="en-US" dirty="0"/>
            </a:br>
            <a:r>
              <a:rPr lang="en-US" dirty="0"/>
              <a:t>WHERE 	</a:t>
            </a:r>
            <a:r>
              <a:rPr lang="en-US" dirty="0" err="1"/>
              <a:t>Author.PenName</a:t>
            </a:r>
            <a:r>
              <a:rPr lang="en-US" dirty="0"/>
              <a:t> = </a:t>
            </a:r>
            <a:r>
              <a:rPr lang="en-US" dirty="0" err="1"/>
              <a:t>Wrote.PenName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	AND 	</a:t>
            </a:r>
            <a:r>
              <a:rPr lang="en-US" dirty="0" err="1"/>
              <a:t>RealName</a:t>
            </a:r>
            <a:r>
              <a:rPr lang="en-US" dirty="0"/>
              <a:t> = ‘Cedric’;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5874281"/>
              </p:ext>
            </p:extLst>
          </p:nvPr>
        </p:nvGraphicFramePr>
        <p:xfrm>
          <a:off x="1835696" y="1130072"/>
          <a:ext cx="295232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PenName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5536" y="1052736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8618540"/>
              </p:ext>
            </p:extLst>
          </p:nvPr>
        </p:nvGraphicFramePr>
        <p:xfrm>
          <a:off x="6012160" y="1124744"/>
          <a:ext cx="259228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PenName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08304" y="529516"/>
            <a:ext cx="129614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Wrote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1433791"/>
              </p:ext>
            </p:extLst>
          </p:nvPr>
        </p:nvGraphicFramePr>
        <p:xfrm>
          <a:off x="5940152" y="2301364"/>
          <a:ext cx="2664296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77557" y="1700808"/>
            <a:ext cx="2088232" cy="523220"/>
          </a:xfrm>
          <a:prstGeom prst="rect">
            <a:avLst/>
          </a:prstGeom>
          <a:noFill/>
          <a:ln w="25400"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Calibri" panose="020F0502020204030204" pitchFamily="34" charset="0"/>
              </a:rPr>
              <a:t>RealAuthor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36096" y="4509120"/>
            <a:ext cx="2894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Query Rewriting</a:t>
            </a:r>
            <a:endParaRPr lang="en-SG" sz="32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28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Queries on Views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query rewriting is not possible, the DBMS would have to temporarily </a:t>
            </a:r>
            <a:r>
              <a:rPr lang="en-US" dirty="0">
                <a:solidFill>
                  <a:srgbClr val="C00000"/>
                </a:solidFill>
              </a:rPr>
              <a:t>materialize</a:t>
            </a:r>
            <a:r>
              <a:rPr lang="en-US" dirty="0"/>
              <a:t> the view</a:t>
            </a:r>
          </a:p>
          <a:p>
            <a:r>
              <a:rPr lang="en-US" dirty="0"/>
              <a:t>This incurs extra overhead</a:t>
            </a:r>
          </a:p>
          <a:p>
            <a:endParaRPr lang="en-US" dirty="0"/>
          </a:p>
          <a:p>
            <a:r>
              <a:rPr lang="en-US" dirty="0"/>
              <a:t>In general, queries on views are slower than queries on tables, regardless of whether or not query rewriting is applied</a:t>
            </a:r>
          </a:p>
          <a:p>
            <a:r>
              <a:rPr lang="en-US" dirty="0"/>
              <a:t>But views save space and avoid redundancy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1640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Views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84984"/>
            <a:ext cx="8229600" cy="2845941"/>
          </a:xfrm>
        </p:spPr>
        <p:txBody>
          <a:bodyPr/>
          <a:lstStyle/>
          <a:p>
            <a:r>
              <a:rPr lang="en-US" dirty="0"/>
              <a:t>DROP VIEW </a:t>
            </a:r>
            <a:r>
              <a:rPr lang="en-US" dirty="0" err="1"/>
              <a:t>RealAuthor</a:t>
            </a:r>
            <a:r>
              <a:rPr lang="en-US" dirty="0"/>
              <a:t>;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2566482"/>
              </p:ext>
            </p:extLst>
          </p:nvPr>
        </p:nvGraphicFramePr>
        <p:xfrm>
          <a:off x="1835696" y="1830988"/>
          <a:ext cx="295232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PenName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5536" y="1753652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4151603"/>
              </p:ext>
            </p:extLst>
          </p:nvPr>
        </p:nvGraphicFramePr>
        <p:xfrm>
          <a:off x="6012160" y="1825660"/>
          <a:ext cx="259228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PenName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08304" y="1230432"/>
            <a:ext cx="129614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Wrote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7511178"/>
              </p:ext>
            </p:extLst>
          </p:nvPr>
        </p:nvGraphicFramePr>
        <p:xfrm>
          <a:off x="5940152" y="3506336"/>
          <a:ext cx="2664296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77557" y="2905780"/>
            <a:ext cx="2088232" cy="523220"/>
          </a:xfrm>
          <a:prstGeom prst="rect">
            <a:avLst/>
          </a:prstGeom>
          <a:noFill/>
          <a:ln w="25400"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Calibri" panose="020F0502020204030204" pitchFamily="34" charset="0"/>
              </a:rPr>
              <a:t>RealAuthor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20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Views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84984"/>
            <a:ext cx="8229600" cy="2845941"/>
          </a:xfrm>
        </p:spPr>
        <p:txBody>
          <a:bodyPr/>
          <a:lstStyle/>
          <a:p>
            <a:r>
              <a:rPr lang="en-US" dirty="0"/>
              <a:t>ALTER VIEW </a:t>
            </a:r>
            <a:r>
              <a:rPr lang="en-US" dirty="0" err="1"/>
              <a:t>RealAuthor</a:t>
            </a:r>
            <a:br>
              <a:rPr lang="en-US" dirty="0"/>
            </a:br>
            <a:r>
              <a:rPr lang="en-US" dirty="0"/>
              <a:t>AS ….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1835696" y="1830988"/>
          <a:ext cx="295232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PenName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5536" y="1753652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6012160" y="1825660"/>
          <a:ext cx="259228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PenName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08304" y="1230432"/>
            <a:ext cx="129614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Wrote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/>
        </p:nvGraphicFramePr>
        <p:xfrm>
          <a:off x="5940152" y="3506336"/>
          <a:ext cx="2664296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77557" y="2905780"/>
            <a:ext cx="2088232" cy="523220"/>
          </a:xfrm>
          <a:prstGeom prst="rect">
            <a:avLst/>
          </a:prstGeom>
          <a:noFill/>
          <a:ln w="25400"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Calibri" panose="020F0502020204030204" pitchFamily="34" charset="0"/>
              </a:rPr>
              <a:t>RealAuthor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17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Temporary Views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40968"/>
            <a:ext cx="8229600" cy="302433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Find the articles written by an author whose real name is ‘Cedric’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WITH</a:t>
            </a:r>
            <a:r>
              <a:rPr lang="en-US" dirty="0"/>
              <a:t> </a:t>
            </a:r>
            <a:r>
              <a:rPr lang="en-US" dirty="0" err="1"/>
              <a:t>RealAuthor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AS</a:t>
            </a:r>
            <a:br>
              <a:rPr lang="en-US" dirty="0"/>
            </a:br>
            <a:r>
              <a:rPr lang="en-US" dirty="0"/>
              <a:t>(SELECT	</a:t>
            </a:r>
            <a:r>
              <a:rPr lang="en-US" dirty="0" err="1"/>
              <a:t>RealName</a:t>
            </a:r>
            <a:r>
              <a:rPr lang="en-US" dirty="0"/>
              <a:t>, Article</a:t>
            </a:r>
            <a:br>
              <a:rPr lang="en-US" dirty="0"/>
            </a:br>
            <a:r>
              <a:rPr lang="en-US" dirty="0"/>
              <a:t>FROM	Author, Wrote</a:t>
            </a:r>
            <a:br>
              <a:rPr lang="en-US" dirty="0"/>
            </a:br>
            <a:r>
              <a:rPr lang="en-US" dirty="0"/>
              <a:t>WHERE 	</a:t>
            </a:r>
            <a:r>
              <a:rPr lang="en-US" dirty="0" err="1"/>
              <a:t>Author.PenName</a:t>
            </a:r>
            <a:r>
              <a:rPr lang="en-US" dirty="0"/>
              <a:t> = </a:t>
            </a:r>
            <a:r>
              <a:rPr lang="en-US" dirty="0" err="1"/>
              <a:t>Wrote.PenName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SELECT 	Article</a:t>
            </a:r>
            <a:br>
              <a:rPr lang="en-US" dirty="0"/>
            </a:br>
            <a:r>
              <a:rPr lang="en-US" dirty="0"/>
              <a:t>FROM 	</a:t>
            </a:r>
            <a:r>
              <a:rPr lang="en-US" dirty="0" err="1"/>
              <a:t>RealAuthor</a:t>
            </a:r>
            <a:br>
              <a:rPr lang="en-US" dirty="0"/>
            </a:br>
            <a:r>
              <a:rPr lang="en-US" dirty="0"/>
              <a:t>WHERE	</a:t>
            </a:r>
            <a:r>
              <a:rPr lang="en-US" dirty="0" err="1"/>
              <a:t>RealAuthor.RealName</a:t>
            </a:r>
            <a:r>
              <a:rPr lang="en-US" dirty="0"/>
              <a:t> = ‘Cedric’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3993254"/>
              </p:ext>
            </p:extLst>
          </p:nvPr>
        </p:nvGraphicFramePr>
        <p:xfrm>
          <a:off x="1907704" y="1418104"/>
          <a:ext cx="295232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PenName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7544" y="1340768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6725894"/>
              </p:ext>
            </p:extLst>
          </p:nvPr>
        </p:nvGraphicFramePr>
        <p:xfrm>
          <a:off x="6012160" y="1418104"/>
          <a:ext cx="259228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PenName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08304" y="822876"/>
            <a:ext cx="129614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Wrote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2433795"/>
              </p:ext>
            </p:extLst>
          </p:nvPr>
        </p:nvGraphicFramePr>
        <p:xfrm>
          <a:off x="5940152" y="2661404"/>
          <a:ext cx="2664296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77557" y="2060848"/>
            <a:ext cx="2088232" cy="523220"/>
          </a:xfrm>
          <a:prstGeom prst="rect">
            <a:avLst/>
          </a:prstGeom>
          <a:noFill/>
          <a:ln w="25400"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Calibri" panose="020F0502020204030204" pitchFamily="34" charset="0"/>
              </a:rPr>
              <a:t>RealAuthor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68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9AF90-CC24-46E8-8B9D-931CD3CA9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C509D-552E-408A-A7CD-3AE414906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13287"/>
          </a:xfrm>
        </p:spPr>
        <p:txBody>
          <a:bodyPr>
            <a:normAutofit fontScale="92500" lnSpcReduction="10000"/>
          </a:bodyPr>
          <a:lstStyle/>
          <a:p>
            <a:r>
              <a:rPr lang="en-SG" dirty="0"/>
              <a:t>Temporary views are useful in writing SQL queries as it helps break the query into “small steps”</a:t>
            </a:r>
          </a:p>
          <a:p>
            <a:r>
              <a:rPr lang="en-SG" dirty="0"/>
              <a:t>Example:</a:t>
            </a:r>
            <a:br>
              <a:rPr lang="en-SG" dirty="0"/>
            </a:br>
            <a:r>
              <a:rPr lang="en-SG" dirty="0"/>
              <a:t>WITH V1 AS (SELECT … FROM … WHERE …)</a:t>
            </a:r>
            <a:br>
              <a:rPr lang="en-SG" dirty="0"/>
            </a:br>
            <a:r>
              <a:rPr lang="en-SG" dirty="0"/>
              <a:t>WITH V2 AS (SELECT … FROM V1 WHERE …)</a:t>
            </a:r>
            <a:br>
              <a:rPr lang="en-SG" dirty="0"/>
            </a:br>
            <a:r>
              <a:rPr lang="en-SG" dirty="0"/>
              <a:t>SELECT … FROM V2 WHERE …</a:t>
            </a:r>
          </a:p>
          <a:p>
            <a:r>
              <a:rPr lang="en-SG" dirty="0"/>
              <a:t>The above three statements form a single SQL query</a:t>
            </a:r>
          </a:p>
          <a:p>
            <a:pPr lvl="1"/>
            <a:r>
              <a:rPr lang="en-SG" dirty="0"/>
              <a:t>The first statement constructs a temporary view V1</a:t>
            </a:r>
          </a:p>
          <a:p>
            <a:pPr lvl="1"/>
            <a:r>
              <a:rPr lang="en-SG" dirty="0"/>
              <a:t>The second statement constructs a temporary view V1 from V2</a:t>
            </a:r>
          </a:p>
          <a:p>
            <a:pPr lvl="1"/>
            <a:r>
              <a:rPr lang="en-SG" dirty="0"/>
              <a:t>The third statement generates some results based on V2</a:t>
            </a:r>
          </a:p>
        </p:txBody>
      </p:sp>
    </p:spTree>
    <p:extLst>
      <p:ext uri="{BB962C8B-B14F-4D97-AF65-F5344CB8AC3E}">
        <p14:creationId xmlns:p14="http://schemas.microsoft.com/office/powerpoint/2010/main" val="3857325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Find the </a:t>
            </a:r>
            <a:r>
              <a:rPr lang="en-US" dirty="0" err="1"/>
              <a:t>PenName</a:t>
            </a:r>
            <a:r>
              <a:rPr lang="en-US" dirty="0"/>
              <a:t> used in the most number of articles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WITH</a:t>
            </a:r>
            <a:r>
              <a:rPr lang="en-US" dirty="0"/>
              <a:t> </a:t>
            </a:r>
            <a:r>
              <a:rPr lang="en-US" dirty="0" err="1"/>
              <a:t>ArticleCnt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AS</a:t>
            </a:r>
            <a:br>
              <a:rPr lang="en-US" dirty="0"/>
            </a:b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	SELECT	</a:t>
            </a:r>
            <a:r>
              <a:rPr lang="en-US" dirty="0" err="1"/>
              <a:t>PenName</a:t>
            </a:r>
            <a:r>
              <a:rPr lang="en-US" dirty="0"/>
              <a:t>, COUNT(Article) as </a:t>
            </a:r>
            <a:r>
              <a:rPr lang="en-US" dirty="0" err="1"/>
              <a:t>Cnt</a:t>
            </a:r>
            <a:br>
              <a:rPr lang="en-US" dirty="0"/>
            </a:br>
            <a:r>
              <a:rPr lang="en-US" dirty="0"/>
              <a:t>	FROM		Wrote</a:t>
            </a:r>
            <a:br>
              <a:rPr lang="en-US" dirty="0"/>
            </a:br>
            <a:r>
              <a:rPr lang="en-US" dirty="0"/>
              <a:t>	GROUP BY	</a:t>
            </a:r>
            <a:r>
              <a:rPr lang="en-US" dirty="0" err="1"/>
              <a:t>PenName</a:t>
            </a:r>
            <a:br>
              <a:rPr lang="en-US" dirty="0"/>
            </a:b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SELECT 	</a:t>
            </a:r>
            <a:r>
              <a:rPr lang="en-US" dirty="0" err="1"/>
              <a:t>PenName</a:t>
            </a:r>
            <a:br>
              <a:rPr lang="en-US" dirty="0"/>
            </a:br>
            <a:r>
              <a:rPr lang="en-US" dirty="0"/>
              <a:t>FROM 	</a:t>
            </a:r>
            <a:r>
              <a:rPr lang="en-US" dirty="0" err="1"/>
              <a:t>ArticleCnt</a:t>
            </a:r>
            <a:r>
              <a:rPr lang="en-US" dirty="0"/>
              <a:t> AS A</a:t>
            </a:r>
            <a:br>
              <a:rPr lang="en-US" dirty="0"/>
            </a:br>
            <a:r>
              <a:rPr lang="en-US" dirty="0"/>
              <a:t>WHERE	</a:t>
            </a:r>
            <a:r>
              <a:rPr lang="en-US" dirty="0" err="1"/>
              <a:t>A.Cnt</a:t>
            </a:r>
            <a:r>
              <a:rPr lang="en-US" dirty="0"/>
              <a:t> = (SELECT 	MAX(</a:t>
            </a:r>
            <a:r>
              <a:rPr lang="en-US" dirty="0" err="1"/>
              <a:t>B.Cnt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			  FROM 	</a:t>
            </a:r>
            <a:r>
              <a:rPr lang="en-US" dirty="0" err="1"/>
              <a:t>ArticleCnt</a:t>
            </a:r>
            <a:r>
              <a:rPr lang="en-US" dirty="0"/>
              <a:t> AS B )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7535240"/>
              </p:ext>
            </p:extLst>
          </p:nvPr>
        </p:nvGraphicFramePr>
        <p:xfrm>
          <a:off x="6012160" y="1084486"/>
          <a:ext cx="259228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PenName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08304" y="489258"/>
            <a:ext cx="129614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Wrote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142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vs. Temporary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36912"/>
            <a:ext cx="8229600" cy="3494013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CREATE VIEW </a:t>
            </a:r>
            <a:r>
              <a:rPr lang="en-US" dirty="0" err="1"/>
              <a:t>RealAuthor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AS</a:t>
            </a:r>
            <a:br>
              <a:rPr lang="en-US" dirty="0"/>
            </a:br>
            <a:r>
              <a:rPr lang="en-US" dirty="0"/>
              <a:t>SELECT	</a:t>
            </a:r>
            <a:r>
              <a:rPr lang="en-US" dirty="0" err="1"/>
              <a:t>RealName</a:t>
            </a:r>
            <a:r>
              <a:rPr lang="en-US" dirty="0"/>
              <a:t>, Article</a:t>
            </a:r>
            <a:br>
              <a:rPr lang="en-US" dirty="0"/>
            </a:br>
            <a:r>
              <a:rPr lang="en-US" dirty="0"/>
              <a:t>FROM	Author, Wrote</a:t>
            </a:r>
            <a:br>
              <a:rPr lang="en-US" dirty="0"/>
            </a:br>
            <a:r>
              <a:rPr lang="en-US" dirty="0"/>
              <a:t>WHERE  	</a:t>
            </a:r>
            <a:r>
              <a:rPr lang="en-US" dirty="0" err="1"/>
              <a:t>Author.PenName</a:t>
            </a:r>
            <a:r>
              <a:rPr lang="en-US" dirty="0"/>
              <a:t> = </a:t>
            </a:r>
            <a:r>
              <a:rPr lang="en-US" dirty="0" err="1"/>
              <a:t>Wrote.PenName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WITH</a:t>
            </a:r>
            <a:r>
              <a:rPr lang="en-US" dirty="0"/>
              <a:t> </a:t>
            </a:r>
            <a:r>
              <a:rPr lang="en-US" dirty="0" err="1"/>
              <a:t>RealAuthor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AS</a:t>
            </a:r>
            <a:br>
              <a:rPr lang="en-US" dirty="0"/>
            </a:br>
            <a:r>
              <a:rPr lang="en-US" dirty="0"/>
              <a:t>(SELECT	</a:t>
            </a:r>
            <a:r>
              <a:rPr lang="en-US" dirty="0" err="1"/>
              <a:t>RealName</a:t>
            </a:r>
            <a:r>
              <a:rPr lang="en-US" dirty="0"/>
              <a:t>, Article</a:t>
            </a:r>
            <a:br>
              <a:rPr lang="en-US" dirty="0"/>
            </a:br>
            <a:r>
              <a:rPr lang="en-US" dirty="0"/>
              <a:t>FROM	Author, Wrote</a:t>
            </a:r>
            <a:br>
              <a:rPr lang="en-US" dirty="0"/>
            </a:br>
            <a:r>
              <a:rPr lang="en-US" dirty="0"/>
              <a:t>WHERE 	</a:t>
            </a:r>
            <a:r>
              <a:rPr lang="en-US" dirty="0" err="1"/>
              <a:t>Author.PenName</a:t>
            </a:r>
            <a:r>
              <a:rPr lang="en-US" dirty="0"/>
              <a:t> = </a:t>
            </a:r>
            <a:r>
              <a:rPr lang="en-US" dirty="0" err="1"/>
              <a:t>Wrote.PenName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SELECT 	Article</a:t>
            </a:r>
            <a:br>
              <a:rPr lang="en-US" dirty="0"/>
            </a:br>
            <a:r>
              <a:rPr lang="en-US" dirty="0"/>
              <a:t>FROM 	</a:t>
            </a:r>
            <a:r>
              <a:rPr lang="en-US" dirty="0" err="1"/>
              <a:t>RealAuthor</a:t>
            </a:r>
            <a:br>
              <a:rPr lang="en-US" dirty="0"/>
            </a:br>
            <a:r>
              <a:rPr lang="en-US" dirty="0"/>
              <a:t>WHERE	</a:t>
            </a:r>
            <a:r>
              <a:rPr lang="en-US" dirty="0" err="1"/>
              <a:t>RealAuthor.RealName</a:t>
            </a:r>
            <a:r>
              <a:rPr lang="en-US" dirty="0"/>
              <a:t> = ‘Cedric’;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2362924"/>
              </p:ext>
            </p:extLst>
          </p:nvPr>
        </p:nvGraphicFramePr>
        <p:xfrm>
          <a:off x="611560" y="1637308"/>
          <a:ext cx="316835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PenName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052736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971489"/>
              </p:ext>
            </p:extLst>
          </p:nvPr>
        </p:nvGraphicFramePr>
        <p:xfrm>
          <a:off x="5004048" y="1637308"/>
          <a:ext cx="302433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PenName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04048" y="1063392"/>
            <a:ext cx="172819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Wrote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77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vs. Temporary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view persists after its creation</a:t>
            </a:r>
          </a:p>
          <a:p>
            <a:r>
              <a:rPr lang="en-US" dirty="0"/>
              <a:t>It will be there unless you </a:t>
            </a:r>
            <a:r>
              <a:rPr lang="en-US" dirty="0">
                <a:solidFill>
                  <a:srgbClr val="C00000"/>
                </a:solidFill>
              </a:rPr>
              <a:t>explicitly</a:t>
            </a:r>
            <a:r>
              <a:rPr lang="en-US" dirty="0"/>
              <a:t> delete it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CREATE VIEW </a:t>
            </a:r>
            <a:r>
              <a:rPr lang="en-US" dirty="0" err="1"/>
              <a:t>RealAuthor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AS</a:t>
            </a:r>
            <a:br>
              <a:rPr lang="en-US" dirty="0"/>
            </a:br>
            <a:r>
              <a:rPr lang="en-US" dirty="0"/>
              <a:t>SELECT	</a:t>
            </a:r>
            <a:r>
              <a:rPr lang="en-US" dirty="0" err="1"/>
              <a:t>RealName</a:t>
            </a:r>
            <a:r>
              <a:rPr lang="en-US" dirty="0"/>
              <a:t>, Article</a:t>
            </a:r>
            <a:br>
              <a:rPr lang="en-US" dirty="0"/>
            </a:br>
            <a:r>
              <a:rPr lang="en-US" dirty="0"/>
              <a:t>FROM	Author, Wrote</a:t>
            </a:r>
            <a:br>
              <a:rPr lang="en-US" dirty="0"/>
            </a:br>
            <a:r>
              <a:rPr lang="en-US" dirty="0"/>
              <a:t>WHERE  	</a:t>
            </a:r>
            <a:r>
              <a:rPr lang="en-US" dirty="0" err="1"/>
              <a:t>Author.PenName</a:t>
            </a:r>
            <a:r>
              <a:rPr lang="en-US" dirty="0"/>
              <a:t> = </a:t>
            </a:r>
            <a:r>
              <a:rPr lang="en-US" dirty="0" err="1"/>
              <a:t>Wrote.PenName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DROP VIEW</a:t>
            </a:r>
            <a:r>
              <a:rPr lang="en-US" dirty="0"/>
              <a:t> </a:t>
            </a:r>
            <a:r>
              <a:rPr lang="en-US" dirty="0" err="1"/>
              <a:t>RealAuthor</a:t>
            </a:r>
            <a:r>
              <a:rPr lang="en-US" dirty="0"/>
              <a:t>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6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vs. Temporary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temporary view only persists during the execution of a query</a:t>
            </a:r>
          </a:p>
          <a:p>
            <a:r>
              <a:rPr lang="en-US" dirty="0"/>
              <a:t>It will not be there once the query is done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WITH</a:t>
            </a:r>
            <a:r>
              <a:rPr lang="en-US" dirty="0"/>
              <a:t> </a:t>
            </a:r>
            <a:r>
              <a:rPr lang="en-US" dirty="0" err="1"/>
              <a:t>RealAuthor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AS</a:t>
            </a:r>
            <a:br>
              <a:rPr lang="en-US" dirty="0"/>
            </a:br>
            <a:r>
              <a:rPr lang="en-US" dirty="0"/>
              <a:t>(SELECT	</a:t>
            </a:r>
            <a:r>
              <a:rPr lang="en-US" dirty="0" err="1"/>
              <a:t>RealName</a:t>
            </a:r>
            <a:r>
              <a:rPr lang="en-US" dirty="0"/>
              <a:t>, Article</a:t>
            </a:r>
            <a:br>
              <a:rPr lang="en-US" dirty="0"/>
            </a:br>
            <a:r>
              <a:rPr lang="en-US" dirty="0"/>
              <a:t>FROM	Author, Wrote</a:t>
            </a:r>
            <a:br>
              <a:rPr lang="en-US" dirty="0"/>
            </a:br>
            <a:r>
              <a:rPr lang="en-US" dirty="0"/>
              <a:t>WHERE 	</a:t>
            </a:r>
            <a:r>
              <a:rPr lang="en-US" dirty="0" err="1"/>
              <a:t>Author.PenName</a:t>
            </a:r>
            <a:r>
              <a:rPr lang="en-US" dirty="0"/>
              <a:t> = </a:t>
            </a:r>
            <a:r>
              <a:rPr lang="en-US" dirty="0" err="1"/>
              <a:t>Wrote.PenName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SELECT 	Article</a:t>
            </a:r>
            <a:br>
              <a:rPr lang="en-US" dirty="0"/>
            </a:br>
            <a:r>
              <a:rPr lang="en-US" dirty="0"/>
              <a:t>FROM 	</a:t>
            </a:r>
            <a:r>
              <a:rPr lang="en-US" dirty="0" err="1"/>
              <a:t>RealAuthor</a:t>
            </a:r>
            <a:br>
              <a:rPr lang="en-US" dirty="0"/>
            </a:br>
            <a:r>
              <a:rPr lang="en-US" dirty="0"/>
              <a:t>WHERE	</a:t>
            </a:r>
            <a:r>
              <a:rPr lang="en-US" dirty="0" err="1"/>
              <a:t>RealAuthor.RealName</a:t>
            </a:r>
            <a:r>
              <a:rPr lang="en-US" dirty="0"/>
              <a:t> = ‘Cedric’;</a:t>
            </a:r>
          </a:p>
          <a:p>
            <a:endParaRPr lang="en-US" dirty="0"/>
          </a:p>
          <a:p>
            <a:r>
              <a:rPr lang="en-US" dirty="0"/>
              <a:t>Here, the temporary view </a:t>
            </a:r>
            <a:r>
              <a:rPr lang="en-US" dirty="0" err="1"/>
              <a:t>RealAuthor</a:t>
            </a:r>
            <a:r>
              <a:rPr lang="en-US" dirty="0"/>
              <a:t> is gone once the query is finished</a:t>
            </a:r>
          </a:p>
        </p:txBody>
      </p:sp>
    </p:spTree>
    <p:extLst>
      <p:ext uri="{BB962C8B-B14F-4D97-AF65-F5344CB8AC3E}">
        <p14:creationId xmlns:p14="http://schemas.microsoft.com/office/powerpoint/2010/main" val="203748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Next: Advanced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SQL syntax that we previously discussed corresponds to the ISO </a:t>
            </a:r>
            <a:r>
              <a:rPr lang="en-US" dirty="0">
                <a:solidFill>
                  <a:srgbClr val="C00000"/>
                </a:solidFill>
              </a:rPr>
              <a:t>SQL:1999</a:t>
            </a:r>
            <a:r>
              <a:rPr lang="en-US" dirty="0"/>
              <a:t> standard</a:t>
            </a:r>
          </a:p>
          <a:p>
            <a:r>
              <a:rPr lang="en-US" dirty="0"/>
              <a:t>Newer SQL standards exist</a:t>
            </a:r>
          </a:p>
          <a:p>
            <a:pPr lvl="1"/>
            <a:r>
              <a:rPr lang="en-US" dirty="0"/>
              <a:t>SQL:2003, SQL:2006, SQL:2008, SQL:2011, SQL:2016</a:t>
            </a:r>
          </a:p>
          <a:p>
            <a:r>
              <a:rPr lang="en-US" dirty="0"/>
              <a:t>We will introduce some syntaxes in the new standards</a:t>
            </a:r>
          </a:p>
          <a:p>
            <a:pPr lvl="1"/>
            <a:r>
              <a:rPr lang="en-US" dirty="0"/>
              <a:t>Not all databases support the new syntaxes</a:t>
            </a:r>
          </a:p>
          <a:p>
            <a:pPr lvl="1"/>
            <a:r>
              <a:rPr lang="en-US" dirty="0"/>
              <a:t>Check the user manuals if in doubt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64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start from an 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640960" cy="5040560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/>
              <a:t>Course( </a:t>
            </a:r>
            <a:r>
              <a:rPr lang="en-US" altLang="zh-CN" u="sng" dirty="0" err="1"/>
              <a:t>cid</a:t>
            </a:r>
            <a:r>
              <a:rPr lang="en-US" altLang="zh-CN" dirty="0"/>
              <a:t>, title, AUs )</a:t>
            </a:r>
          </a:p>
          <a:p>
            <a:r>
              <a:rPr lang="en-US" dirty="0"/>
              <a:t>Student( </a:t>
            </a:r>
            <a:r>
              <a:rPr lang="en-US" u="sng" dirty="0" err="1"/>
              <a:t>sid</a:t>
            </a:r>
            <a:r>
              <a:rPr lang="en-US" dirty="0"/>
              <a:t>, name, school )</a:t>
            </a:r>
          </a:p>
          <a:p>
            <a:r>
              <a:rPr lang="en-US" dirty="0"/>
              <a:t>Grade( </a:t>
            </a:r>
            <a:r>
              <a:rPr lang="en-US" u="sng" dirty="0" err="1"/>
              <a:t>sid</a:t>
            </a:r>
            <a:r>
              <a:rPr lang="en-US" dirty="0"/>
              <a:t>, </a:t>
            </a:r>
            <a:r>
              <a:rPr lang="en-US" u="sng" dirty="0" err="1"/>
              <a:t>cid</a:t>
            </a:r>
            <a:r>
              <a:rPr lang="en-US" dirty="0"/>
              <a:t>, </a:t>
            </a:r>
            <a:r>
              <a:rPr lang="en-US" u="sng" dirty="0" err="1"/>
              <a:t>sem</a:t>
            </a:r>
            <a:r>
              <a:rPr lang="en-US" u="sng" dirty="0"/>
              <a:t>-code</a:t>
            </a:r>
            <a:r>
              <a:rPr lang="en-US" dirty="0"/>
              <a:t>, grade )</a:t>
            </a:r>
          </a:p>
          <a:p>
            <a:r>
              <a:rPr lang="en-US" dirty="0"/>
              <a:t>Find the </a:t>
            </a:r>
            <a:r>
              <a:rPr lang="en-US" dirty="0" err="1"/>
              <a:t>sids</a:t>
            </a:r>
            <a:r>
              <a:rPr lang="en-US" dirty="0"/>
              <a:t> of students who have earned the largest number of AUs in semester ‘S6’</a:t>
            </a:r>
          </a:p>
          <a:p>
            <a:endParaRPr lang="en-US" dirty="0"/>
          </a:p>
          <a:p>
            <a:r>
              <a:rPr lang="en-US" dirty="0"/>
              <a:t>WITH </a:t>
            </a:r>
            <a:r>
              <a:rPr lang="en-US" dirty="0" err="1"/>
              <a:t>TempV</a:t>
            </a:r>
            <a:r>
              <a:rPr lang="en-US" dirty="0"/>
              <a:t> AS (</a:t>
            </a:r>
            <a:br>
              <a:rPr lang="en-US" dirty="0"/>
            </a:br>
            <a:r>
              <a:rPr lang="en-US" dirty="0"/>
              <a:t>	SELECT 	G1.sid, Sum(C1.AUs) AS </a:t>
            </a:r>
            <a:r>
              <a:rPr lang="en-US" dirty="0" err="1"/>
              <a:t>SumAU</a:t>
            </a:r>
            <a:br>
              <a:rPr lang="en-US" dirty="0"/>
            </a:br>
            <a:r>
              <a:rPr lang="en-US" dirty="0"/>
              <a:t>	FROM	Course C1, Grade G1</a:t>
            </a:r>
            <a:br>
              <a:rPr lang="en-US" dirty="0"/>
            </a:br>
            <a:r>
              <a:rPr lang="en-US" dirty="0"/>
              <a:t>	WHERE	C1.cid = G1.cid AND G1.sem-code = ‘S6’</a:t>
            </a:r>
            <a:br>
              <a:rPr lang="en-US" dirty="0"/>
            </a:br>
            <a:r>
              <a:rPr lang="en-US" dirty="0"/>
              <a:t>			AND G1.grade &lt;&gt; ‘F’</a:t>
            </a:r>
            <a:br>
              <a:rPr lang="en-US" dirty="0"/>
            </a:br>
            <a:r>
              <a:rPr lang="en-US" dirty="0"/>
              <a:t>	GROUP BY	G1.sid )</a:t>
            </a:r>
            <a:br>
              <a:rPr lang="en-US" dirty="0"/>
            </a:br>
            <a:r>
              <a:rPr lang="en-US" dirty="0"/>
              <a:t>SELECT	</a:t>
            </a:r>
            <a:r>
              <a:rPr lang="en-US" dirty="0" err="1"/>
              <a:t>TempV.sid</a:t>
            </a:r>
            <a:br>
              <a:rPr lang="en-US" dirty="0"/>
            </a:br>
            <a:r>
              <a:rPr lang="en-US" dirty="0"/>
              <a:t>FROM	</a:t>
            </a:r>
            <a:r>
              <a:rPr lang="en-US" dirty="0" err="1"/>
              <a:t>TempV</a:t>
            </a:r>
            <a:br>
              <a:rPr lang="en-US" dirty="0"/>
            </a:br>
            <a:r>
              <a:rPr lang="en-US" dirty="0"/>
              <a:t>WHERE 	</a:t>
            </a:r>
            <a:r>
              <a:rPr lang="en-US" dirty="0" err="1"/>
              <a:t>TempV.SumAU</a:t>
            </a:r>
            <a:r>
              <a:rPr lang="en-US" dirty="0"/>
              <a:t> = </a:t>
            </a:r>
            <a:br>
              <a:rPr lang="en-US" dirty="0"/>
            </a:br>
            <a:r>
              <a:rPr lang="en-US" dirty="0"/>
              <a:t>			(SELECT MAX(</a:t>
            </a:r>
            <a:r>
              <a:rPr lang="en-US" dirty="0" err="1"/>
              <a:t>T.SumAU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				FROM </a:t>
            </a:r>
            <a:r>
              <a:rPr lang="en-US" dirty="0" err="1"/>
              <a:t>TempV</a:t>
            </a:r>
            <a:r>
              <a:rPr lang="en-US" dirty="0"/>
              <a:t> AS T)</a:t>
            </a:r>
          </a:p>
        </p:txBody>
      </p:sp>
    </p:spTree>
    <p:extLst>
      <p:ext uri="{BB962C8B-B14F-4D97-AF65-F5344CB8AC3E}">
        <p14:creationId xmlns:p14="http://schemas.microsoft.com/office/powerpoint/2010/main" val="230633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start from an 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640960" cy="5040560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/>
              <a:t>Course( </a:t>
            </a:r>
            <a:r>
              <a:rPr lang="en-US" altLang="zh-CN" u="sng" dirty="0" err="1"/>
              <a:t>cid</a:t>
            </a:r>
            <a:r>
              <a:rPr lang="en-US" altLang="zh-CN" dirty="0"/>
              <a:t>, title, AUs )</a:t>
            </a:r>
          </a:p>
          <a:p>
            <a:r>
              <a:rPr lang="en-US" dirty="0"/>
              <a:t>Student( </a:t>
            </a:r>
            <a:r>
              <a:rPr lang="en-US" u="sng" dirty="0" err="1"/>
              <a:t>sid</a:t>
            </a:r>
            <a:r>
              <a:rPr lang="en-US" dirty="0"/>
              <a:t>, name, school )</a:t>
            </a:r>
          </a:p>
          <a:p>
            <a:r>
              <a:rPr lang="en-US" dirty="0"/>
              <a:t>Grade( </a:t>
            </a:r>
            <a:r>
              <a:rPr lang="en-US" u="sng" dirty="0" err="1"/>
              <a:t>sid</a:t>
            </a:r>
            <a:r>
              <a:rPr lang="en-US" dirty="0"/>
              <a:t>, </a:t>
            </a:r>
            <a:r>
              <a:rPr lang="en-US" u="sng" dirty="0" err="1"/>
              <a:t>cid</a:t>
            </a:r>
            <a:r>
              <a:rPr lang="en-US" dirty="0"/>
              <a:t>, </a:t>
            </a:r>
            <a:r>
              <a:rPr lang="en-US" u="sng" dirty="0" err="1"/>
              <a:t>sem</a:t>
            </a:r>
            <a:r>
              <a:rPr lang="en-US" u="sng" dirty="0"/>
              <a:t>-code</a:t>
            </a:r>
            <a:r>
              <a:rPr lang="en-US" dirty="0"/>
              <a:t>, grade )</a:t>
            </a:r>
          </a:p>
          <a:p>
            <a:r>
              <a:rPr lang="en-US" dirty="0"/>
              <a:t>Find the </a:t>
            </a:r>
            <a:r>
              <a:rPr lang="en-US" dirty="0" err="1"/>
              <a:t>sids</a:t>
            </a:r>
            <a:r>
              <a:rPr lang="en-US" dirty="0"/>
              <a:t> of students who have earned the </a:t>
            </a:r>
            <a:r>
              <a:rPr lang="en-US" dirty="0">
                <a:solidFill>
                  <a:srgbClr val="C00000"/>
                </a:solidFill>
              </a:rPr>
              <a:t>largest or second largest</a:t>
            </a:r>
            <a:r>
              <a:rPr lang="en-US" dirty="0"/>
              <a:t> numbers of AUs in semester ‘S6’</a:t>
            </a:r>
          </a:p>
          <a:p>
            <a:endParaRPr lang="en-US" dirty="0"/>
          </a:p>
          <a:p>
            <a:r>
              <a:rPr lang="en-US" dirty="0"/>
              <a:t>WITH </a:t>
            </a:r>
            <a:r>
              <a:rPr lang="en-US" dirty="0" err="1"/>
              <a:t>TempV</a:t>
            </a:r>
            <a:r>
              <a:rPr lang="en-US" dirty="0"/>
              <a:t> AS (</a:t>
            </a:r>
            <a:br>
              <a:rPr lang="en-US" dirty="0"/>
            </a:br>
            <a:r>
              <a:rPr lang="en-US" dirty="0"/>
              <a:t>	SELECT 	G1.sid, Sum(C1.AUs) AS </a:t>
            </a:r>
            <a:r>
              <a:rPr lang="en-US" dirty="0" err="1"/>
              <a:t>SumAU</a:t>
            </a:r>
            <a:br>
              <a:rPr lang="en-US" dirty="0"/>
            </a:br>
            <a:r>
              <a:rPr lang="en-US" dirty="0"/>
              <a:t>	FROM	Course C1, Grade G1</a:t>
            </a:r>
            <a:br>
              <a:rPr lang="en-US" dirty="0"/>
            </a:br>
            <a:r>
              <a:rPr lang="en-US" dirty="0"/>
              <a:t>	WHERE	C1.cid = G1.cid AND G1.sem-code = ‘S6’</a:t>
            </a:r>
            <a:br>
              <a:rPr lang="en-US" dirty="0"/>
            </a:br>
            <a:r>
              <a:rPr lang="en-US" dirty="0"/>
              <a:t>			AND G1.grade &lt;&gt; ‘F’</a:t>
            </a:r>
            <a:br>
              <a:rPr lang="en-US" dirty="0"/>
            </a:br>
            <a:r>
              <a:rPr lang="en-US" dirty="0"/>
              <a:t>	GROUP BY	G1.sid )</a:t>
            </a:r>
            <a:br>
              <a:rPr lang="en-US" dirty="0"/>
            </a:br>
            <a:r>
              <a:rPr lang="en-US" dirty="0"/>
              <a:t>SELECT	</a:t>
            </a:r>
            <a:r>
              <a:rPr lang="en-US" dirty="0" err="1"/>
              <a:t>TempV.sid</a:t>
            </a:r>
            <a:br>
              <a:rPr lang="en-US" dirty="0"/>
            </a:br>
            <a:r>
              <a:rPr lang="en-US" dirty="0"/>
              <a:t>FROM	</a:t>
            </a:r>
            <a:r>
              <a:rPr lang="en-US" dirty="0" err="1"/>
              <a:t>TempV</a:t>
            </a:r>
            <a:br>
              <a:rPr lang="en-US" dirty="0"/>
            </a:br>
            <a:r>
              <a:rPr lang="en-US" dirty="0"/>
              <a:t>WHERE 	</a:t>
            </a:r>
            <a:r>
              <a:rPr lang="en-US" dirty="0" err="1"/>
              <a:t>TempV.SumAU</a:t>
            </a:r>
            <a:r>
              <a:rPr lang="en-US" dirty="0"/>
              <a:t> = </a:t>
            </a:r>
            <a:br>
              <a:rPr lang="en-US" dirty="0"/>
            </a:br>
            <a:r>
              <a:rPr lang="en-US" dirty="0"/>
              <a:t>			(SELECT MAX(</a:t>
            </a:r>
            <a:r>
              <a:rPr lang="en-US" dirty="0" err="1"/>
              <a:t>T.SumAU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				FROM </a:t>
            </a:r>
            <a:r>
              <a:rPr lang="en-US" dirty="0" err="1"/>
              <a:t>TempV</a:t>
            </a:r>
            <a:r>
              <a:rPr lang="en-US" dirty="0"/>
              <a:t> AS T)</a:t>
            </a:r>
          </a:p>
        </p:txBody>
      </p:sp>
    </p:spTree>
    <p:extLst>
      <p:ext uri="{BB962C8B-B14F-4D97-AF65-F5344CB8AC3E}">
        <p14:creationId xmlns:p14="http://schemas.microsoft.com/office/powerpoint/2010/main" val="1981722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start from an 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640960" cy="5040560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/>
              <a:t>Course( </a:t>
            </a:r>
            <a:r>
              <a:rPr lang="en-US" altLang="zh-CN" u="sng" dirty="0" err="1"/>
              <a:t>cid</a:t>
            </a:r>
            <a:r>
              <a:rPr lang="en-US" altLang="zh-CN" dirty="0"/>
              <a:t>, title, AUs )</a:t>
            </a:r>
          </a:p>
          <a:p>
            <a:r>
              <a:rPr lang="en-US" dirty="0"/>
              <a:t>Student( </a:t>
            </a:r>
            <a:r>
              <a:rPr lang="en-US" u="sng" dirty="0" err="1"/>
              <a:t>sid</a:t>
            </a:r>
            <a:r>
              <a:rPr lang="en-US" dirty="0"/>
              <a:t>, name, school )</a:t>
            </a:r>
          </a:p>
          <a:p>
            <a:r>
              <a:rPr lang="en-US" dirty="0"/>
              <a:t>Grade( </a:t>
            </a:r>
            <a:r>
              <a:rPr lang="en-US" u="sng" dirty="0" err="1"/>
              <a:t>sid</a:t>
            </a:r>
            <a:r>
              <a:rPr lang="en-US" dirty="0"/>
              <a:t>, </a:t>
            </a:r>
            <a:r>
              <a:rPr lang="en-US" u="sng" dirty="0" err="1"/>
              <a:t>cid</a:t>
            </a:r>
            <a:r>
              <a:rPr lang="en-US" dirty="0"/>
              <a:t>, </a:t>
            </a:r>
            <a:r>
              <a:rPr lang="en-US" u="sng" dirty="0" err="1"/>
              <a:t>sem</a:t>
            </a:r>
            <a:r>
              <a:rPr lang="en-US" u="sng" dirty="0"/>
              <a:t>-code</a:t>
            </a:r>
            <a:r>
              <a:rPr lang="en-US" dirty="0"/>
              <a:t>, grade )</a:t>
            </a:r>
          </a:p>
          <a:p>
            <a:r>
              <a:rPr lang="en-US" dirty="0"/>
              <a:t>Find the </a:t>
            </a:r>
            <a:r>
              <a:rPr lang="en-US" dirty="0" err="1"/>
              <a:t>sids</a:t>
            </a:r>
            <a:r>
              <a:rPr lang="en-US" dirty="0"/>
              <a:t> of students who have earned the </a:t>
            </a:r>
            <a:r>
              <a:rPr lang="en-US" dirty="0">
                <a:solidFill>
                  <a:srgbClr val="C00000"/>
                </a:solidFill>
              </a:rPr>
              <a:t>largest </a:t>
            </a:r>
            <a:r>
              <a:rPr lang="en-US" dirty="0"/>
              <a:t>number of AUs in semester ‘S6’</a:t>
            </a:r>
          </a:p>
          <a:p>
            <a:endParaRPr lang="en-US" dirty="0"/>
          </a:p>
          <a:p>
            <a:r>
              <a:rPr lang="en-US" dirty="0"/>
              <a:t>WITH </a:t>
            </a:r>
            <a:r>
              <a:rPr lang="en-US" dirty="0" err="1"/>
              <a:t>TempV</a:t>
            </a:r>
            <a:r>
              <a:rPr lang="en-US" dirty="0"/>
              <a:t> AS (</a:t>
            </a:r>
            <a:br>
              <a:rPr lang="en-US" dirty="0"/>
            </a:br>
            <a:r>
              <a:rPr lang="en-US" dirty="0"/>
              <a:t>	SELECT 	G1.sid, Sum(C1.AUs) AS </a:t>
            </a:r>
            <a:r>
              <a:rPr lang="en-US" dirty="0" err="1"/>
              <a:t>SumAU</a:t>
            </a:r>
            <a:br>
              <a:rPr lang="en-US" dirty="0"/>
            </a:br>
            <a:r>
              <a:rPr lang="en-US" dirty="0"/>
              <a:t>	FROM	Course C1, Grade G1</a:t>
            </a:r>
            <a:br>
              <a:rPr lang="en-US" dirty="0"/>
            </a:br>
            <a:r>
              <a:rPr lang="en-US" dirty="0"/>
              <a:t>	WHERE	C1.cid = G1.cid AND G1.sem-code = ‘S6’</a:t>
            </a:r>
            <a:br>
              <a:rPr lang="en-US" dirty="0"/>
            </a:br>
            <a:r>
              <a:rPr lang="en-US" dirty="0"/>
              <a:t>			AND G1.grade &lt;&gt; ‘F’</a:t>
            </a:r>
            <a:br>
              <a:rPr lang="en-US" dirty="0"/>
            </a:br>
            <a:r>
              <a:rPr lang="en-US" dirty="0"/>
              <a:t>	GROUP BY	G1.sid )</a:t>
            </a:r>
            <a:br>
              <a:rPr lang="en-US" dirty="0"/>
            </a:br>
            <a:r>
              <a:rPr lang="en-US" dirty="0"/>
              <a:t>SELECT	V1.sid</a:t>
            </a:r>
            <a:br>
              <a:rPr lang="en-US" dirty="0"/>
            </a:br>
            <a:r>
              <a:rPr lang="en-US" dirty="0"/>
              <a:t>FROM 	</a:t>
            </a:r>
            <a:r>
              <a:rPr lang="en-US" dirty="0" err="1"/>
              <a:t>TempV</a:t>
            </a:r>
            <a:r>
              <a:rPr lang="en-US" dirty="0"/>
              <a:t> V1, </a:t>
            </a:r>
            <a:r>
              <a:rPr lang="en-US" dirty="0" err="1"/>
              <a:t>TempV</a:t>
            </a:r>
            <a:r>
              <a:rPr lang="en-US" dirty="0"/>
              <a:t> V2</a:t>
            </a:r>
            <a:br>
              <a:rPr lang="en-US" dirty="0"/>
            </a:br>
            <a:r>
              <a:rPr lang="en-US" dirty="0"/>
              <a:t>WHERE	V1.SumAU &lt;= V2.SumAU</a:t>
            </a:r>
            <a:br>
              <a:rPr lang="en-US" dirty="0"/>
            </a:br>
            <a:r>
              <a:rPr lang="en-US" dirty="0"/>
              <a:t>GROUP BY	V1.sid</a:t>
            </a:r>
            <a:br>
              <a:rPr lang="en-US" dirty="0"/>
            </a:br>
            <a:r>
              <a:rPr lang="en-US" dirty="0"/>
              <a:t>HAVING	COUNT( DISTINCT V2.SumAU ) = 1</a:t>
            </a:r>
          </a:p>
        </p:txBody>
      </p:sp>
    </p:spTree>
    <p:extLst>
      <p:ext uri="{BB962C8B-B14F-4D97-AF65-F5344CB8AC3E}">
        <p14:creationId xmlns:p14="http://schemas.microsoft.com/office/powerpoint/2010/main" val="246039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start from an 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640960" cy="5040560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/>
              <a:t>Course( </a:t>
            </a:r>
            <a:r>
              <a:rPr lang="en-US" altLang="zh-CN" u="sng" dirty="0" err="1"/>
              <a:t>cid</a:t>
            </a:r>
            <a:r>
              <a:rPr lang="en-US" altLang="zh-CN" dirty="0"/>
              <a:t>, title, AUs )</a:t>
            </a:r>
          </a:p>
          <a:p>
            <a:r>
              <a:rPr lang="en-US" dirty="0"/>
              <a:t>Student( </a:t>
            </a:r>
            <a:r>
              <a:rPr lang="en-US" u="sng" dirty="0" err="1"/>
              <a:t>sid</a:t>
            </a:r>
            <a:r>
              <a:rPr lang="en-US" dirty="0"/>
              <a:t>, name, school )</a:t>
            </a:r>
          </a:p>
          <a:p>
            <a:r>
              <a:rPr lang="en-US" dirty="0"/>
              <a:t>Grade( </a:t>
            </a:r>
            <a:r>
              <a:rPr lang="en-US" u="sng" dirty="0" err="1"/>
              <a:t>sid</a:t>
            </a:r>
            <a:r>
              <a:rPr lang="en-US" dirty="0"/>
              <a:t>, </a:t>
            </a:r>
            <a:r>
              <a:rPr lang="en-US" u="sng" dirty="0" err="1"/>
              <a:t>cid</a:t>
            </a:r>
            <a:r>
              <a:rPr lang="en-US" dirty="0"/>
              <a:t>, </a:t>
            </a:r>
            <a:r>
              <a:rPr lang="en-US" u="sng" dirty="0" err="1"/>
              <a:t>sem</a:t>
            </a:r>
            <a:r>
              <a:rPr lang="en-US" u="sng" dirty="0"/>
              <a:t>-code</a:t>
            </a:r>
            <a:r>
              <a:rPr lang="en-US" dirty="0"/>
              <a:t>, grade )</a:t>
            </a:r>
          </a:p>
          <a:p>
            <a:r>
              <a:rPr lang="en-US" dirty="0"/>
              <a:t>Find the </a:t>
            </a:r>
            <a:r>
              <a:rPr lang="en-US" dirty="0" err="1"/>
              <a:t>sids</a:t>
            </a:r>
            <a:r>
              <a:rPr lang="en-US" dirty="0"/>
              <a:t> of students who have earned the </a:t>
            </a:r>
            <a:r>
              <a:rPr lang="en-US" dirty="0">
                <a:solidFill>
                  <a:srgbClr val="C00000"/>
                </a:solidFill>
              </a:rPr>
              <a:t>largest or second largest</a:t>
            </a:r>
            <a:r>
              <a:rPr lang="en-US" dirty="0"/>
              <a:t> numbers of AUs in semester ‘S6’</a:t>
            </a:r>
          </a:p>
          <a:p>
            <a:endParaRPr lang="en-US" dirty="0"/>
          </a:p>
          <a:p>
            <a:r>
              <a:rPr lang="en-US" dirty="0"/>
              <a:t>WITH </a:t>
            </a:r>
            <a:r>
              <a:rPr lang="en-US" dirty="0" err="1"/>
              <a:t>TempV</a:t>
            </a:r>
            <a:r>
              <a:rPr lang="en-US" dirty="0"/>
              <a:t> AS (</a:t>
            </a:r>
            <a:br>
              <a:rPr lang="en-US" dirty="0"/>
            </a:br>
            <a:r>
              <a:rPr lang="en-US" dirty="0"/>
              <a:t>	SELECT 	G1.sid, Sum(C1.AUs) AS </a:t>
            </a:r>
            <a:r>
              <a:rPr lang="en-US" dirty="0" err="1"/>
              <a:t>SumAU</a:t>
            </a:r>
            <a:br>
              <a:rPr lang="en-US" dirty="0"/>
            </a:br>
            <a:r>
              <a:rPr lang="en-US" dirty="0"/>
              <a:t>	FROM	Course C1, Grade G1</a:t>
            </a:r>
            <a:br>
              <a:rPr lang="en-US" dirty="0"/>
            </a:br>
            <a:r>
              <a:rPr lang="en-US" dirty="0"/>
              <a:t>	WHERE	C1.cid = G1.cid AND G1.sem-code = ‘S6’</a:t>
            </a:r>
            <a:br>
              <a:rPr lang="en-US" dirty="0"/>
            </a:br>
            <a:r>
              <a:rPr lang="en-US" dirty="0"/>
              <a:t>			AND G1.grade &lt;&gt; ‘F’</a:t>
            </a:r>
            <a:br>
              <a:rPr lang="en-US" dirty="0"/>
            </a:br>
            <a:r>
              <a:rPr lang="en-US" dirty="0"/>
              <a:t>	GROUP BY	G1.sid )</a:t>
            </a:r>
            <a:br>
              <a:rPr lang="en-US" dirty="0"/>
            </a:br>
            <a:r>
              <a:rPr lang="en-US" dirty="0"/>
              <a:t>SELECT	V1.sid</a:t>
            </a:r>
            <a:br>
              <a:rPr lang="en-US" dirty="0"/>
            </a:br>
            <a:r>
              <a:rPr lang="en-US" dirty="0"/>
              <a:t>FROM 	</a:t>
            </a:r>
            <a:r>
              <a:rPr lang="en-US" dirty="0" err="1"/>
              <a:t>TempV</a:t>
            </a:r>
            <a:r>
              <a:rPr lang="en-US" dirty="0"/>
              <a:t> V1, </a:t>
            </a:r>
            <a:r>
              <a:rPr lang="en-US" dirty="0" err="1"/>
              <a:t>TempV</a:t>
            </a:r>
            <a:r>
              <a:rPr lang="en-US" dirty="0"/>
              <a:t> V2</a:t>
            </a:r>
            <a:br>
              <a:rPr lang="en-US" dirty="0"/>
            </a:br>
            <a:r>
              <a:rPr lang="en-US" dirty="0"/>
              <a:t>WHERE	V1.SumAU &lt;= V2.SumAU</a:t>
            </a:r>
            <a:br>
              <a:rPr lang="en-US" dirty="0"/>
            </a:br>
            <a:r>
              <a:rPr lang="en-US" dirty="0"/>
              <a:t>GROUP BY	V1.sid</a:t>
            </a:r>
            <a:br>
              <a:rPr lang="en-US" dirty="0"/>
            </a:br>
            <a:r>
              <a:rPr lang="en-US" dirty="0"/>
              <a:t>HAVING	COUNT( DISTINCT V2.SumAU ) = 1</a:t>
            </a:r>
          </a:p>
        </p:txBody>
      </p:sp>
    </p:spTree>
    <p:extLst>
      <p:ext uri="{BB962C8B-B14F-4D97-AF65-F5344CB8AC3E}">
        <p14:creationId xmlns:p14="http://schemas.microsoft.com/office/powerpoint/2010/main" val="891904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start from an 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640960" cy="5040560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/>
              <a:t>Course( </a:t>
            </a:r>
            <a:r>
              <a:rPr lang="en-US" altLang="zh-CN" u="sng" dirty="0" err="1"/>
              <a:t>cid</a:t>
            </a:r>
            <a:r>
              <a:rPr lang="en-US" altLang="zh-CN" dirty="0"/>
              <a:t>, title, AUs )</a:t>
            </a:r>
          </a:p>
          <a:p>
            <a:r>
              <a:rPr lang="en-US" dirty="0"/>
              <a:t>Student( </a:t>
            </a:r>
            <a:r>
              <a:rPr lang="en-US" u="sng" dirty="0" err="1"/>
              <a:t>sid</a:t>
            </a:r>
            <a:r>
              <a:rPr lang="en-US" dirty="0"/>
              <a:t>, name, school )</a:t>
            </a:r>
          </a:p>
          <a:p>
            <a:r>
              <a:rPr lang="en-US" dirty="0"/>
              <a:t>Grade( </a:t>
            </a:r>
            <a:r>
              <a:rPr lang="en-US" u="sng" dirty="0" err="1"/>
              <a:t>sid</a:t>
            </a:r>
            <a:r>
              <a:rPr lang="en-US" dirty="0"/>
              <a:t>, </a:t>
            </a:r>
            <a:r>
              <a:rPr lang="en-US" u="sng" dirty="0" err="1"/>
              <a:t>cid</a:t>
            </a:r>
            <a:r>
              <a:rPr lang="en-US" dirty="0"/>
              <a:t>, </a:t>
            </a:r>
            <a:r>
              <a:rPr lang="en-US" u="sng" dirty="0" err="1"/>
              <a:t>sem</a:t>
            </a:r>
            <a:r>
              <a:rPr lang="en-US" u="sng" dirty="0"/>
              <a:t>-code</a:t>
            </a:r>
            <a:r>
              <a:rPr lang="en-US" dirty="0"/>
              <a:t>, grade )</a:t>
            </a:r>
          </a:p>
          <a:p>
            <a:r>
              <a:rPr lang="en-US" dirty="0"/>
              <a:t>Find the </a:t>
            </a:r>
            <a:r>
              <a:rPr lang="en-US" dirty="0" err="1"/>
              <a:t>sids</a:t>
            </a:r>
            <a:r>
              <a:rPr lang="en-US" dirty="0"/>
              <a:t> of students who have earned the </a:t>
            </a:r>
            <a:r>
              <a:rPr lang="en-US" dirty="0">
                <a:solidFill>
                  <a:srgbClr val="C00000"/>
                </a:solidFill>
              </a:rPr>
              <a:t>largest or second largest</a:t>
            </a:r>
            <a:r>
              <a:rPr lang="en-US" dirty="0"/>
              <a:t> numbers of AUs in semester ‘S6’</a:t>
            </a:r>
          </a:p>
          <a:p>
            <a:endParaRPr lang="en-US" dirty="0"/>
          </a:p>
          <a:p>
            <a:r>
              <a:rPr lang="en-US" dirty="0"/>
              <a:t>WITH </a:t>
            </a:r>
            <a:r>
              <a:rPr lang="en-US" dirty="0" err="1"/>
              <a:t>TempV</a:t>
            </a:r>
            <a:r>
              <a:rPr lang="en-US" dirty="0"/>
              <a:t> AS (</a:t>
            </a:r>
            <a:br>
              <a:rPr lang="en-US" dirty="0"/>
            </a:br>
            <a:r>
              <a:rPr lang="en-US" dirty="0"/>
              <a:t>	SELECT 	G1.sid, Sum(C1.AUs) AS </a:t>
            </a:r>
            <a:r>
              <a:rPr lang="en-US" dirty="0" err="1"/>
              <a:t>SumAU</a:t>
            </a:r>
            <a:br>
              <a:rPr lang="en-US" dirty="0"/>
            </a:br>
            <a:r>
              <a:rPr lang="en-US" dirty="0"/>
              <a:t>	FROM	Course C1, Grade G1</a:t>
            </a:r>
            <a:br>
              <a:rPr lang="en-US" dirty="0"/>
            </a:br>
            <a:r>
              <a:rPr lang="en-US" dirty="0"/>
              <a:t>	WHERE	C1.cid = G1.cid AND G1.sem-code = ‘S6’</a:t>
            </a:r>
            <a:br>
              <a:rPr lang="en-US" dirty="0"/>
            </a:br>
            <a:r>
              <a:rPr lang="en-US" dirty="0"/>
              <a:t>			AND G1.grade &lt;&gt; ‘F’</a:t>
            </a:r>
            <a:br>
              <a:rPr lang="en-US" dirty="0"/>
            </a:br>
            <a:r>
              <a:rPr lang="en-US" dirty="0"/>
              <a:t>	GROUP BY	G1.sid )</a:t>
            </a:r>
            <a:br>
              <a:rPr lang="en-US" dirty="0"/>
            </a:br>
            <a:r>
              <a:rPr lang="en-US" dirty="0"/>
              <a:t>SELECT	V1.sid</a:t>
            </a:r>
            <a:br>
              <a:rPr lang="en-US" dirty="0"/>
            </a:br>
            <a:r>
              <a:rPr lang="en-US" dirty="0"/>
              <a:t>FROM 	</a:t>
            </a:r>
            <a:r>
              <a:rPr lang="en-US" dirty="0" err="1"/>
              <a:t>TempV</a:t>
            </a:r>
            <a:r>
              <a:rPr lang="en-US" dirty="0"/>
              <a:t> V1, </a:t>
            </a:r>
            <a:r>
              <a:rPr lang="en-US" dirty="0" err="1"/>
              <a:t>TempV</a:t>
            </a:r>
            <a:r>
              <a:rPr lang="en-US" dirty="0"/>
              <a:t> V2</a:t>
            </a:r>
            <a:br>
              <a:rPr lang="en-US" dirty="0"/>
            </a:br>
            <a:r>
              <a:rPr lang="en-US" dirty="0"/>
              <a:t>WHERE	V1.SumAU &lt;= V2.SumAU</a:t>
            </a:r>
            <a:br>
              <a:rPr lang="en-US" dirty="0"/>
            </a:br>
            <a:r>
              <a:rPr lang="en-US" dirty="0"/>
              <a:t>GROUP BY	V1.sid</a:t>
            </a:r>
            <a:br>
              <a:rPr lang="en-US" dirty="0"/>
            </a:br>
            <a:r>
              <a:rPr lang="en-US" dirty="0"/>
              <a:t>HAVING	COUNT( DISTINCT V2.SumAU ) = </a:t>
            </a:r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70585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start from an 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640960" cy="5040560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/>
              <a:t>Course( </a:t>
            </a:r>
            <a:r>
              <a:rPr lang="en-US" altLang="zh-CN" u="sng" dirty="0" err="1"/>
              <a:t>cid</a:t>
            </a:r>
            <a:r>
              <a:rPr lang="en-US" altLang="zh-CN" dirty="0"/>
              <a:t>, title, AUs )</a:t>
            </a:r>
          </a:p>
          <a:p>
            <a:r>
              <a:rPr lang="en-US" dirty="0"/>
              <a:t>Student( </a:t>
            </a:r>
            <a:r>
              <a:rPr lang="en-US" u="sng" dirty="0" err="1"/>
              <a:t>sid</a:t>
            </a:r>
            <a:r>
              <a:rPr lang="en-US" dirty="0"/>
              <a:t>, name, school )</a:t>
            </a:r>
          </a:p>
          <a:p>
            <a:r>
              <a:rPr lang="en-US" dirty="0"/>
              <a:t>Grade( </a:t>
            </a:r>
            <a:r>
              <a:rPr lang="en-US" u="sng" dirty="0" err="1"/>
              <a:t>sid</a:t>
            </a:r>
            <a:r>
              <a:rPr lang="en-US" dirty="0"/>
              <a:t>, </a:t>
            </a:r>
            <a:r>
              <a:rPr lang="en-US" u="sng" dirty="0" err="1"/>
              <a:t>cid</a:t>
            </a:r>
            <a:r>
              <a:rPr lang="en-US" dirty="0"/>
              <a:t>, </a:t>
            </a:r>
            <a:r>
              <a:rPr lang="en-US" u="sng" dirty="0" err="1"/>
              <a:t>sem</a:t>
            </a:r>
            <a:r>
              <a:rPr lang="en-US" u="sng" dirty="0"/>
              <a:t>-code</a:t>
            </a:r>
            <a:r>
              <a:rPr lang="en-US" dirty="0"/>
              <a:t>, grade )</a:t>
            </a:r>
          </a:p>
          <a:p>
            <a:r>
              <a:rPr lang="en-US" dirty="0"/>
              <a:t>Find the </a:t>
            </a:r>
            <a:r>
              <a:rPr lang="en-US" dirty="0" err="1"/>
              <a:t>sids</a:t>
            </a:r>
            <a:r>
              <a:rPr lang="en-US" dirty="0"/>
              <a:t> of students who have earned the </a:t>
            </a:r>
            <a:r>
              <a:rPr lang="en-US" dirty="0">
                <a:solidFill>
                  <a:srgbClr val="C00000"/>
                </a:solidFill>
              </a:rPr>
              <a:t>third </a:t>
            </a:r>
            <a:r>
              <a:rPr lang="en-US" dirty="0"/>
              <a:t>largest number of AUs in semester ‘S6’</a:t>
            </a:r>
          </a:p>
          <a:p>
            <a:endParaRPr lang="en-US" dirty="0"/>
          </a:p>
          <a:p>
            <a:r>
              <a:rPr lang="en-US" dirty="0"/>
              <a:t>WITH </a:t>
            </a:r>
            <a:r>
              <a:rPr lang="en-US" dirty="0" err="1"/>
              <a:t>TempV</a:t>
            </a:r>
            <a:r>
              <a:rPr lang="en-US" dirty="0"/>
              <a:t> AS (</a:t>
            </a:r>
            <a:br>
              <a:rPr lang="en-US" dirty="0"/>
            </a:br>
            <a:r>
              <a:rPr lang="en-US" dirty="0"/>
              <a:t>	SELECT 	G1.sid, Sum(C1.AUs) AS </a:t>
            </a:r>
            <a:r>
              <a:rPr lang="en-US" dirty="0" err="1"/>
              <a:t>SumAU</a:t>
            </a:r>
            <a:br>
              <a:rPr lang="en-US" dirty="0"/>
            </a:br>
            <a:r>
              <a:rPr lang="en-US" dirty="0"/>
              <a:t>	FROM		Course C1, Grade G1</a:t>
            </a:r>
            <a:br>
              <a:rPr lang="en-US" dirty="0"/>
            </a:br>
            <a:r>
              <a:rPr lang="en-US" dirty="0"/>
              <a:t>	WHERE	C1.cid = G1.cid AND G1.sem-code = ‘S6’</a:t>
            </a:r>
            <a:br>
              <a:rPr lang="en-US" dirty="0"/>
            </a:br>
            <a:r>
              <a:rPr lang="en-US" dirty="0"/>
              <a:t>			AND G1.grade &lt;&gt; ‘F’</a:t>
            </a:r>
            <a:br>
              <a:rPr lang="en-US" dirty="0"/>
            </a:br>
            <a:r>
              <a:rPr lang="en-US" dirty="0"/>
              <a:t>	GROUP BY	G1.sid )</a:t>
            </a:r>
            <a:br>
              <a:rPr lang="en-US" dirty="0"/>
            </a:br>
            <a:r>
              <a:rPr lang="en-US" dirty="0"/>
              <a:t>SELECT	V1.sid</a:t>
            </a:r>
            <a:br>
              <a:rPr lang="en-US" dirty="0"/>
            </a:br>
            <a:r>
              <a:rPr lang="en-US" dirty="0"/>
              <a:t>FROM 	</a:t>
            </a:r>
            <a:r>
              <a:rPr lang="en-US" dirty="0" err="1"/>
              <a:t>TempV</a:t>
            </a:r>
            <a:r>
              <a:rPr lang="en-US" dirty="0"/>
              <a:t> V1, </a:t>
            </a:r>
            <a:r>
              <a:rPr lang="en-US" dirty="0" err="1"/>
              <a:t>TempV</a:t>
            </a:r>
            <a:r>
              <a:rPr lang="en-US" dirty="0"/>
              <a:t> V2</a:t>
            </a:r>
            <a:br>
              <a:rPr lang="en-US" dirty="0"/>
            </a:br>
            <a:r>
              <a:rPr lang="en-US" dirty="0"/>
              <a:t>WHERE	V1.SumAU &lt; V2.SumAU</a:t>
            </a:r>
            <a:br>
              <a:rPr lang="en-US" dirty="0"/>
            </a:br>
            <a:r>
              <a:rPr lang="en-US" dirty="0"/>
              <a:t>GROUP BY	V1.sid</a:t>
            </a:r>
            <a:br>
              <a:rPr lang="en-US" dirty="0"/>
            </a:br>
            <a:r>
              <a:rPr lang="en-US" dirty="0"/>
              <a:t>HAVING	COUNT( DISTINCT V2.SumAU ) = </a:t>
            </a:r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323528" y="260648"/>
            <a:ext cx="8640960" cy="2664296"/>
          </a:xfrm>
          <a:prstGeom prst="rect">
            <a:avLst/>
          </a:prstGeom>
          <a:solidFill>
            <a:srgbClr val="FFFFCC"/>
          </a:solidFill>
          <a:ln w="5080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/>
              <a:t>Observation: </a:t>
            </a:r>
          </a:p>
          <a:p>
            <a:pPr lvl="1"/>
            <a:r>
              <a:rPr lang="en-US" kern="0" dirty="0"/>
              <a:t>We are looking for the two highest </a:t>
            </a:r>
            <a:r>
              <a:rPr lang="en-US" kern="0" dirty="0" err="1"/>
              <a:t>SumAU</a:t>
            </a:r>
            <a:r>
              <a:rPr lang="en-US" kern="0" dirty="0"/>
              <a:t>, which could have been answered with a simple ordering + selection</a:t>
            </a:r>
            <a:endParaRPr lang="en-US" kern="0" dirty="0">
              <a:solidFill>
                <a:srgbClr val="C00000"/>
              </a:solidFill>
            </a:endParaRPr>
          </a:p>
          <a:p>
            <a:pPr lvl="1"/>
            <a:r>
              <a:rPr lang="en-US" kern="0" dirty="0"/>
              <a:t>But we ended up using a self-join, which is rather time consuming</a:t>
            </a:r>
          </a:p>
          <a:p>
            <a:pPr lvl="1"/>
            <a:r>
              <a:rPr lang="en-US" kern="0" dirty="0"/>
              <a:t>Any better solution? </a:t>
            </a:r>
          </a:p>
          <a:p>
            <a:pPr lvl="1"/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419201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most expensive </a:t>
            </a:r>
            <a:br>
              <a:rPr lang="en-US" dirty="0"/>
            </a:br>
            <a:r>
              <a:rPr lang="en-US" dirty="0"/>
              <a:t>product</a:t>
            </a:r>
          </a:p>
          <a:p>
            <a:r>
              <a:rPr lang="en-US" dirty="0"/>
              <a:t>SELECT 		*</a:t>
            </a:r>
            <a:br>
              <a:rPr lang="en-US" dirty="0"/>
            </a:br>
            <a:r>
              <a:rPr lang="en-US" dirty="0"/>
              <a:t>FROM 		Product</a:t>
            </a:r>
            <a:br>
              <a:rPr lang="en-US" dirty="0"/>
            </a:br>
            <a:r>
              <a:rPr lang="en-US" dirty="0"/>
              <a:t>ORDER BY	Price DESC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FETCH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FIRST</a:t>
            </a:r>
            <a:r>
              <a:rPr lang="en-US" dirty="0"/>
              <a:t>	1 	</a:t>
            </a:r>
            <a:r>
              <a:rPr lang="en-US" dirty="0">
                <a:solidFill>
                  <a:srgbClr val="C00000"/>
                </a:solidFill>
              </a:rPr>
              <a:t>ROW ONLY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7224278"/>
              </p:ext>
            </p:extLst>
          </p:nvPr>
        </p:nvGraphicFramePr>
        <p:xfrm>
          <a:off x="5713784" y="998984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3784" y="404664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17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</a:t>
            </a:r>
            <a:r>
              <a:rPr lang="en-US" dirty="0">
                <a:solidFill>
                  <a:srgbClr val="C00000"/>
                </a:solidFill>
              </a:rPr>
              <a:t>two</a:t>
            </a:r>
            <a:r>
              <a:rPr lang="en-US" dirty="0"/>
              <a:t> most </a:t>
            </a:r>
            <a:br>
              <a:rPr lang="en-US" dirty="0"/>
            </a:br>
            <a:r>
              <a:rPr lang="en-US" dirty="0"/>
              <a:t>expensive products</a:t>
            </a:r>
          </a:p>
          <a:p>
            <a:r>
              <a:rPr lang="en-US" dirty="0"/>
              <a:t>SELECT 		*</a:t>
            </a:r>
            <a:br>
              <a:rPr lang="en-US" dirty="0"/>
            </a:br>
            <a:r>
              <a:rPr lang="en-US" dirty="0"/>
              <a:t>FROM 		Product</a:t>
            </a:r>
            <a:br>
              <a:rPr lang="en-US" dirty="0"/>
            </a:br>
            <a:r>
              <a:rPr lang="en-US" dirty="0"/>
              <a:t>ORDER BY	Price DESC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FETCH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FIRST</a:t>
            </a:r>
            <a:r>
              <a:rPr lang="en-US" dirty="0"/>
              <a:t>	1 	</a:t>
            </a:r>
            <a:r>
              <a:rPr lang="en-US" dirty="0">
                <a:solidFill>
                  <a:srgbClr val="C00000"/>
                </a:solidFill>
              </a:rPr>
              <a:t>ROW ONLY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4069688"/>
              </p:ext>
            </p:extLst>
          </p:nvPr>
        </p:nvGraphicFramePr>
        <p:xfrm>
          <a:off x="5713784" y="998984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3784" y="404664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287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</a:t>
            </a:r>
            <a:r>
              <a:rPr lang="en-US" dirty="0">
                <a:solidFill>
                  <a:srgbClr val="C00000"/>
                </a:solidFill>
              </a:rPr>
              <a:t>two</a:t>
            </a:r>
            <a:r>
              <a:rPr lang="en-US" dirty="0"/>
              <a:t> most </a:t>
            </a:r>
            <a:br>
              <a:rPr lang="en-US" dirty="0"/>
            </a:br>
            <a:r>
              <a:rPr lang="en-US" dirty="0"/>
              <a:t>expensive products</a:t>
            </a:r>
          </a:p>
          <a:p>
            <a:r>
              <a:rPr lang="en-US" dirty="0"/>
              <a:t>SELECT 		*</a:t>
            </a:r>
            <a:br>
              <a:rPr lang="en-US" dirty="0"/>
            </a:br>
            <a:r>
              <a:rPr lang="en-US" dirty="0"/>
              <a:t>FROM 		Product</a:t>
            </a:r>
            <a:br>
              <a:rPr lang="en-US" dirty="0"/>
            </a:br>
            <a:r>
              <a:rPr lang="en-US" dirty="0"/>
              <a:t>ORDER BY	Price DESC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FETCH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FIRST</a:t>
            </a:r>
            <a:r>
              <a:rPr lang="en-US" dirty="0"/>
              <a:t>	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/>
              <a:t> 	</a:t>
            </a:r>
            <a:r>
              <a:rPr lang="en-US" dirty="0">
                <a:solidFill>
                  <a:srgbClr val="C00000"/>
                </a:solidFill>
              </a:rPr>
              <a:t>ROW ONLY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5113627"/>
              </p:ext>
            </p:extLst>
          </p:nvPr>
        </p:nvGraphicFramePr>
        <p:xfrm>
          <a:off x="5713784" y="998984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3784" y="404664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012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Supported by </a:t>
            </a:r>
          </a:p>
          <a:p>
            <a:pPr lvl="1"/>
            <a:r>
              <a:rPr lang="en-US" dirty="0"/>
              <a:t>IBM DB2, Sybase SQL Anywhere, PostgreSQL, Microsoft SQL Server 2012, Oracle 12c</a:t>
            </a:r>
          </a:p>
          <a:p>
            <a:r>
              <a:rPr lang="en-US" dirty="0"/>
              <a:t>MySQL? No</a:t>
            </a:r>
          </a:p>
          <a:p>
            <a:r>
              <a:rPr lang="en-US" dirty="0"/>
              <a:t>But MySQL has its own version of FETCH FIRST:</a:t>
            </a:r>
          </a:p>
          <a:p>
            <a:pPr lvl="1"/>
            <a:r>
              <a:rPr lang="en-US" dirty="0"/>
              <a:t>SELECT 		*</a:t>
            </a:r>
            <a:br>
              <a:rPr lang="en-US" dirty="0"/>
            </a:br>
            <a:r>
              <a:rPr lang="en-US" dirty="0"/>
              <a:t>FROM 		Product</a:t>
            </a:r>
            <a:br>
              <a:rPr lang="en-US" dirty="0"/>
            </a:br>
            <a:r>
              <a:rPr lang="en-US" dirty="0"/>
              <a:t>ORDER BY	Price DESC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LIMIT</a:t>
            </a:r>
            <a:r>
              <a:rPr lang="en-US" dirty="0"/>
              <a:t>		2</a:t>
            </a:r>
          </a:p>
        </p:txBody>
      </p:sp>
    </p:spTree>
    <p:extLst>
      <p:ext uri="{BB962C8B-B14F-4D97-AF65-F5344CB8AC3E}">
        <p14:creationId xmlns:p14="http://schemas.microsoft.com/office/powerpoint/2010/main" val="134322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0160"/>
            <a:ext cx="8229600" cy="1540768"/>
          </a:xfrm>
        </p:spPr>
        <p:txBody>
          <a:bodyPr/>
          <a:lstStyle/>
          <a:p>
            <a:r>
              <a:rPr lang="en-US" dirty="0"/>
              <a:t>In fact, many DBMS have their own versions of FETCH FRIST before SQL:2008 was introduced</a:t>
            </a:r>
          </a:p>
          <a:p>
            <a:r>
              <a:rPr lang="en-US" dirty="0"/>
              <a:t>Examples: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67544" y="2780928"/>
            <a:ext cx="4248472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kern="0" dirty="0"/>
              <a:t>Oracle:</a:t>
            </a:r>
            <a:br>
              <a:rPr lang="en-US" kern="0" dirty="0"/>
            </a:br>
            <a:r>
              <a:rPr lang="en-US" kern="0" dirty="0"/>
              <a:t>SELECT * FROM T </a:t>
            </a:r>
            <a:br>
              <a:rPr lang="en-US" kern="0" dirty="0"/>
            </a:br>
            <a:r>
              <a:rPr lang="en-US" kern="0" dirty="0"/>
              <a:t>WHERE </a:t>
            </a:r>
            <a:r>
              <a:rPr lang="en-US" kern="0" dirty="0">
                <a:solidFill>
                  <a:srgbClr val="C00000"/>
                </a:solidFill>
              </a:rPr>
              <a:t>ROWNUM</a:t>
            </a:r>
            <a:r>
              <a:rPr lang="en-US" kern="0" dirty="0"/>
              <a:t> &lt;= 10</a:t>
            </a:r>
            <a:br>
              <a:rPr lang="en-US" b="1" kern="0" dirty="0"/>
            </a:br>
            <a:r>
              <a:rPr lang="en-US" kern="0" dirty="0"/>
              <a:t>ORDER BY …</a:t>
            </a:r>
          </a:p>
          <a:p>
            <a:pPr lvl="1"/>
            <a:endParaRPr lang="en-US" sz="1000" kern="0" dirty="0"/>
          </a:p>
          <a:p>
            <a:pPr lvl="1"/>
            <a:r>
              <a:rPr lang="en-US" kern="0" dirty="0"/>
              <a:t>MS SQL Server:</a:t>
            </a:r>
            <a:br>
              <a:rPr lang="en-US" kern="0" dirty="0"/>
            </a:br>
            <a:r>
              <a:rPr lang="en-US" kern="0" dirty="0"/>
              <a:t>SELECT </a:t>
            </a:r>
            <a:r>
              <a:rPr lang="en-US" kern="0" dirty="0">
                <a:solidFill>
                  <a:srgbClr val="C00000"/>
                </a:solidFill>
              </a:rPr>
              <a:t>TOP 10</a:t>
            </a:r>
            <a:r>
              <a:rPr lang="en-US" kern="0" dirty="0"/>
              <a:t> * FROM T </a:t>
            </a:r>
            <a:br>
              <a:rPr lang="en-US" b="1" kern="0" dirty="0"/>
            </a:br>
            <a:r>
              <a:rPr lang="en-US" kern="0" dirty="0"/>
              <a:t>ORDER BY …</a:t>
            </a:r>
          </a:p>
          <a:p>
            <a:pPr lvl="1"/>
            <a:endParaRPr lang="en-US" kern="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499992" y="2783487"/>
            <a:ext cx="4248472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kern="0" dirty="0"/>
              <a:t>IBM DB 2:</a:t>
            </a:r>
            <a:br>
              <a:rPr lang="en-US" kern="0" dirty="0"/>
            </a:br>
            <a:r>
              <a:rPr lang="en-US" kern="0" dirty="0"/>
              <a:t>SELECT * FROM T </a:t>
            </a:r>
            <a:br>
              <a:rPr lang="en-US" b="1" kern="0" dirty="0"/>
            </a:br>
            <a:r>
              <a:rPr lang="en-US" kern="0" dirty="0"/>
              <a:t>ORDER BY …</a:t>
            </a:r>
            <a:br>
              <a:rPr lang="en-US" kern="0" dirty="0"/>
            </a:br>
            <a:r>
              <a:rPr lang="en-US" kern="0" dirty="0">
                <a:solidFill>
                  <a:srgbClr val="C00000"/>
                </a:solidFill>
              </a:rPr>
              <a:t>FETCH FIRST</a:t>
            </a:r>
            <a:r>
              <a:rPr lang="en-US" kern="0" dirty="0"/>
              <a:t> 10 </a:t>
            </a:r>
            <a:r>
              <a:rPr lang="en-US" kern="0" dirty="0">
                <a:solidFill>
                  <a:srgbClr val="C00000"/>
                </a:solidFill>
              </a:rPr>
              <a:t>ROW</a:t>
            </a:r>
            <a:r>
              <a:rPr lang="en-US" kern="0" dirty="0"/>
              <a:t> </a:t>
            </a:r>
            <a:r>
              <a:rPr lang="en-US" kern="0" dirty="0">
                <a:solidFill>
                  <a:srgbClr val="C00000"/>
                </a:solidFill>
              </a:rPr>
              <a:t>ONLY</a:t>
            </a:r>
          </a:p>
          <a:p>
            <a:pPr lvl="1"/>
            <a:r>
              <a:rPr lang="en-US" kern="0" dirty="0"/>
              <a:t>(Yes, the IBM syntax was eventually adopted in the SQL standard)</a:t>
            </a:r>
          </a:p>
          <a:p>
            <a:pPr lvl="1"/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647447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0160"/>
            <a:ext cx="8229600" cy="4853136"/>
          </a:xfrm>
        </p:spPr>
        <p:txBody>
          <a:bodyPr/>
          <a:lstStyle/>
          <a:p>
            <a:r>
              <a:rPr lang="en-US" dirty="0"/>
              <a:t>In fact, many DBMS have their own versions of FETCH FRIST before SQL:2008 was introduced</a:t>
            </a:r>
          </a:p>
          <a:p>
            <a:r>
              <a:rPr lang="en-US" dirty="0"/>
              <a:t>In many cases, those non-standard versions provide even better functionalities than the standard one</a:t>
            </a:r>
          </a:p>
          <a:p>
            <a:r>
              <a:rPr lang="en-US" dirty="0"/>
              <a:t>See the example in the next few slides</a:t>
            </a:r>
          </a:p>
        </p:txBody>
      </p:sp>
    </p:spTree>
    <p:extLst>
      <p:ext uri="{BB962C8B-B14F-4D97-AF65-F5344CB8AC3E}">
        <p14:creationId xmlns:p14="http://schemas.microsoft.com/office/powerpoint/2010/main" val="369818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7"/>
            <a:ext cx="8229600" cy="48245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Find the </a:t>
            </a:r>
            <a:r>
              <a:rPr lang="en-US" dirty="0">
                <a:solidFill>
                  <a:srgbClr val="C00000"/>
                </a:solidFill>
              </a:rPr>
              <a:t>third</a:t>
            </a:r>
            <a:r>
              <a:rPr lang="en-US" dirty="0"/>
              <a:t> most </a:t>
            </a:r>
            <a:br>
              <a:rPr lang="en-US" dirty="0"/>
            </a:br>
            <a:r>
              <a:rPr lang="en-US" dirty="0"/>
              <a:t>expensive product</a:t>
            </a:r>
          </a:p>
          <a:p>
            <a:r>
              <a:rPr lang="en-US" dirty="0"/>
              <a:t>(SELECT 		*</a:t>
            </a:r>
            <a:br>
              <a:rPr lang="en-US" dirty="0"/>
            </a:br>
            <a:r>
              <a:rPr lang="en-US" dirty="0"/>
              <a:t>FROM 		Product</a:t>
            </a:r>
            <a:br>
              <a:rPr lang="en-US" dirty="0"/>
            </a:br>
            <a:r>
              <a:rPr lang="en-US" dirty="0"/>
              <a:t>ORDER BY	Price DESC</a:t>
            </a:r>
            <a:br>
              <a:rPr lang="en-US" dirty="0"/>
            </a:br>
            <a:r>
              <a:rPr lang="en-US" dirty="0"/>
              <a:t>FETCH FIRST	3 	ROW ONLY)</a:t>
            </a:r>
            <a:br>
              <a:rPr lang="en-US" dirty="0"/>
            </a:br>
            <a:r>
              <a:rPr lang="en-US" dirty="0"/>
              <a:t>EXCEPT</a:t>
            </a:r>
            <a:br>
              <a:rPr lang="en-US" dirty="0"/>
            </a:br>
            <a:r>
              <a:rPr lang="en-US" dirty="0"/>
              <a:t>(SELECT 		*</a:t>
            </a:r>
            <a:br>
              <a:rPr lang="en-US" dirty="0"/>
            </a:br>
            <a:r>
              <a:rPr lang="en-US" dirty="0"/>
              <a:t>FROM 		Product</a:t>
            </a:r>
            <a:br>
              <a:rPr lang="en-US" dirty="0"/>
            </a:br>
            <a:r>
              <a:rPr lang="en-US" dirty="0"/>
              <a:t>ORDER BY	Price DESC</a:t>
            </a:r>
            <a:br>
              <a:rPr lang="en-US" dirty="0"/>
            </a:br>
            <a:r>
              <a:rPr lang="en-US" dirty="0"/>
              <a:t>FETCH FIRST	2 	ROW ONLY)</a:t>
            </a:r>
          </a:p>
          <a:p>
            <a:r>
              <a:rPr lang="en-US" dirty="0"/>
              <a:t>Looks a bit ugly, doesn’t it?</a:t>
            </a:r>
          </a:p>
          <a:p>
            <a:r>
              <a:rPr lang="en-US" dirty="0"/>
              <a:t>But this is the only way possible with FETCH FIRST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0108169"/>
              </p:ext>
            </p:extLst>
          </p:nvPr>
        </p:nvGraphicFramePr>
        <p:xfrm>
          <a:off x="5713784" y="998984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3784" y="404664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14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7"/>
            <a:ext cx="8229600" cy="4824536"/>
          </a:xfrm>
        </p:spPr>
        <p:txBody>
          <a:bodyPr>
            <a:normAutofit/>
          </a:bodyPr>
          <a:lstStyle/>
          <a:p>
            <a:r>
              <a:rPr lang="en-US" dirty="0"/>
              <a:t>Find the </a:t>
            </a:r>
            <a:r>
              <a:rPr lang="en-US" dirty="0">
                <a:solidFill>
                  <a:srgbClr val="C00000"/>
                </a:solidFill>
              </a:rPr>
              <a:t>third</a:t>
            </a:r>
            <a:r>
              <a:rPr lang="en-US" dirty="0"/>
              <a:t> most </a:t>
            </a:r>
            <a:br>
              <a:rPr lang="en-US" dirty="0"/>
            </a:br>
            <a:r>
              <a:rPr lang="en-US" dirty="0"/>
              <a:t>expensive product</a:t>
            </a:r>
          </a:p>
          <a:p>
            <a:r>
              <a:rPr lang="en-US" dirty="0"/>
              <a:t>If you are using Oracle:</a:t>
            </a:r>
          </a:p>
          <a:p>
            <a:r>
              <a:rPr lang="en-US" dirty="0"/>
              <a:t>SELECT 		*</a:t>
            </a:r>
            <a:br>
              <a:rPr lang="en-US" dirty="0"/>
            </a:br>
            <a:r>
              <a:rPr lang="en-US" dirty="0"/>
              <a:t>FROM 		Product</a:t>
            </a:r>
            <a:br>
              <a:rPr lang="en-US" dirty="0"/>
            </a:br>
            <a:r>
              <a:rPr lang="en-US" dirty="0"/>
              <a:t>WHERE		ROWNUM = 3</a:t>
            </a:r>
            <a:br>
              <a:rPr lang="en-US" dirty="0"/>
            </a:br>
            <a:r>
              <a:rPr lang="en-US" dirty="0"/>
              <a:t>ORDER BY	Price DESC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7838078"/>
              </p:ext>
            </p:extLst>
          </p:nvPr>
        </p:nvGraphicFramePr>
        <p:xfrm>
          <a:off x="5713784" y="998984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3784" y="404664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65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7"/>
            <a:ext cx="8229600" cy="4824536"/>
          </a:xfrm>
        </p:spPr>
        <p:txBody>
          <a:bodyPr>
            <a:normAutofit/>
          </a:bodyPr>
          <a:lstStyle/>
          <a:p>
            <a:r>
              <a:rPr lang="en-US" dirty="0"/>
              <a:t>Find the </a:t>
            </a:r>
            <a:r>
              <a:rPr lang="en-US" dirty="0">
                <a:solidFill>
                  <a:srgbClr val="C00000"/>
                </a:solidFill>
              </a:rPr>
              <a:t>third</a:t>
            </a:r>
            <a:r>
              <a:rPr lang="en-US" dirty="0"/>
              <a:t> most </a:t>
            </a:r>
            <a:br>
              <a:rPr lang="en-US" dirty="0"/>
            </a:br>
            <a:r>
              <a:rPr lang="en-US" dirty="0"/>
              <a:t>expensive product</a:t>
            </a:r>
          </a:p>
          <a:p>
            <a:r>
              <a:rPr lang="en-US" dirty="0"/>
              <a:t>If you are using MySQL:</a:t>
            </a:r>
          </a:p>
          <a:p>
            <a:r>
              <a:rPr lang="en-US" dirty="0"/>
              <a:t>SELECT 		*</a:t>
            </a:r>
            <a:br>
              <a:rPr lang="en-US" dirty="0"/>
            </a:br>
            <a:r>
              <a:rPr lang="en-US" dirty="0"/>
              <a:t>FROM 		Product</a:t>
            </a:r>
            <a:br>
              <a:rPr lang="en-US" dirty="0"/>
            </a:br>
            <a:r>
              <a:rPr lang="en-US" dirty="0"/>
              <a:t>ORDER BY	Price DESC</a:t>
            </a:r>
            <a:br>
              <a:rPr lang="en-US" dirty="0"/>
            </a:br>
            <a:r>
              <a:rPr lang="en-US" dirty="0"/>
              <a:t>LIMIT 	1	OFFSET	2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2894065"/>
              </p:ext>
            </p:extLst>
          </p:nvPr>
        </p:nvGraphicFramePr>
        <p:xfrm>
          <a:off x="5713784" y="998984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3784" y="404664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18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7"/>
            <a:ext cx="8229600" cy="48245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Find the </a:t>
            </a:r>
            <a:r>
              <a:rPr lang="en-US" dirty="0">
                <a:solidFill>
                  <a:srgbClr val="C00000"/>
                </a:solidFill>
              </a:rPr>
              <a:t>third</a:t>
            </a:r>
            <a:r>
              <a:rPr lang="en-US" dirty="0"/>
              <a:t> most </a:t>
            </a:r>
            <a:br>
              <a:rPr lang="en-US" dirty="0"/>
            </a:br>
            <a:r>
              <a:rPr lang="en-US" dirty="0"/>
              <a:t>expensive product</a:t>
            </a:r>
          </a:p>
          <a:p>
            <a:r>
              <a:rPr lang="en-US" dirty="0"/>
              <a:t>If you are using MS SQL Server:</a:t>
            </a:r>
          </a:p>
          <a:p>
            <a:r>
              <a:rPr lang="en-US" dirty="0"/>
              <a:t>SELECT 		*</a:t>
            </a:r>
            <a:br>
              <a:rPr lang="en-US" dirty="0"/>
            </a:br>
            <a:r>
              <a:rPr lang="en-US" dirty="0"/>
              <a:t>FROM 		Product</a:t>
            </a:r>
            <a:br>
              <a:rPr lang="en-US" dirty="0"/>
            </a:br>
            <a:r>
              <a:rPr lang="en-US" dirty="0"/>
              <a:t>ORDER BY	Price DESC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OFFSET</a:t>
            </a:r>
            <a:r>
              <a:rPr lang="en-US" dirty="0"/>
              <a:t>		2	ROW</a:t>
            </a:r>
            <a:br>
              <a:rPr lang="en-US" dirty="0"/>
            </a:br>
            <a:r>
              <a:rPr lang="en-US" dirty="0"/>
              <a:t>FETCH </a:t>
            </a:r>
            <a:r>
              <a:rPr lang="en-US" dirty="0">
                <a:solidFill>
                  <a:srgbClr val="C00000"/>
                </a:solidFill>
              </a:rPr>
              <a:t>NEXT</a:t>
            </a:r>
            <a:r>
              <a:rPr lang="en-US" dirty="0"/>
              <a:t> 	1	ROW ONLY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6775275"/>
              </p:ext>
            </p:extLst>
          </p:nvPr>
        </p:nvGraphicFramePr>
        <p:xfrm>
          <a:off x="5713784" y="998984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3784" y="404664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23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syntax to remember?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your exam: </a:t>
            </a:r>
          </a:p>
          <a:p>
            <a:pPr lvl="1"/>
            <a:r>
              <a:rPr lang="en-US" dirty="0"/>
              <a:t>Only the standard FETCH FIRST is required</a:t>
            </a:r>
          </a:p>
          <a:p>
            <a:pPr lvl="1"/>
            <a:r>
              <a:rPr lang="en-US" dirty="0"/>
              <a:t>Any alternative syntax can also be used, unless the problem explicitly forbids it</a:t>
            </a:r>
          </a:p>
          <a:p>
            <a:pPr lvl="1"/>
            <a:r>
              <a:rPr lang="en-US" dirty="0"/>
              <a:t>But if you choose to use an alternative syntax, you would need to declare it</a:t>
            </a:r>
          </a:p>
          <a:p>
            <a:pPr lvl="1"/>
            <a:r>
              <a:rPr lang="en-US" dirty="0"/>
              <a:t>You cannot declare the MySQL syntax but then write in the Oracle syntax instead</a:t>
            </a:r>
          </a:p>
        </p:txBody>
      </p:sp>
    </p:spTree>
    <p:extLst>
      <p:ext uri="{BB962C8B-B14F-4D97-AF65-F5344CB8AC3E}">
        <p14:creationId xmlns:p14="http://schemas.microsoft.com/office/powerpoint/2010/main" val="44681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FETCH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most expensive </a:t>
            </a:r>
            <a:br>
              <a:rPr lang="en-US" dirty="0"/>
            </a:br>
            <a:r>
              <a:rPr lang="en-US" dirty="0"/>
              <a:t>product</a:t>
            </a:r>
          </a:p>
          <a:p>
            <a:r>
              <a:rPr lang="en-US" dirty="0"/>
              <a:t>SELECT 		*</a:t>
            </a:r>
            <a:br>
              <a:rPr lang="en-US" dirty="0"/>
            </a:br>
            <a:r>
              <a:rPr lang="en-US" dirty="0"/>
              <a:t>FROM 		Product</a:t>
            </a:r>
            <a:br>
              <a:rPr lang="en-US" dirty="0"/>
            </a:br>
            <a:r>
              <a:rPr lang="en-US" dirty="0"/>
              <a:t>ORDER BY	Price DESC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FETCH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FIRST</a:t>
            </a:r>
            <a:r>
              <a:rPr lang="en-US" dirty="0"/>
              <a:t>	1 	</a:t>
            </a:r>
            <a:r>
              <a:rPr lang="en-US" dirty="0">
                <a:solidFill>
                  <a:srgbClr val="C00000"/>
                </a:solidFill>
              </a:rPr>
              <a:t>ROW ONLY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1183421"/>
              </p:ext>
            </p:extLst>
          </p:nvPr>
        </p:nvGraphicFramePr>
        <p:xfrm>
          <a:off x="5713784" y="998984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3784" y="404664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375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FETCH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most expensive </a:t>
            </a:r>
            <a:br>
              <a:rPr lang="en-US" dirty="0"/>
            </a:br>
            <a:r>
              <a:rPr lang="en-US" dirty="0"/>
              <a:t>product</a:t>
            </a:r>
          </a:p>
          <a:p>
            <a:r>
              <a:rPr lang="en-US" dirty="0"/>
              <a:t>SELECT 		*</a:t>
            </a:r>
            <a:br>
              <a:rPr lang="en-US" dirty="0"/>
            </a:br>
            <a:r>
              <a:rPr lang="en-US" dirty="0"/>
              <a:t>FROM 		Product</a:t>
            </a:r>
            <a:br>
              <a:rPr lang="en-US" dirty="0"/>
            </a:br>
            <a:r>
              <a:rPr lang="en-US" dirty="0"/>
              <a:t>ORDER BY	Price DESC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FETCH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FIRST</a:t>
            </a:r>
            <a:r>
              <a:rPr lang="en-US" dirty="0"/>
              <a:t>	1 	</a:t>
            </a:r>
            <a:r>
              <a:rPr lang="en-US" dirty="0">
                <a:solidFill>
                  <a:srgbClr val="C00000"/>
                </a:solidFill>
              </a:rPr>
              <a:t>ROW ONLY</a:t>
            </a:r>
          </a:p>
          <a:p>
            <a:r>
              <a:rPr lang="en-US" dirty="0"/>
              <a:t>We are supposed to return both iPhone X and EOS 800D</a:t>
            </a:r>
          </a:p>
          <a:p>
            <a:r>
              <a:rPr lang="en-US" dirty="0"/>
              <a:t>But the query returns only one of them…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224973"/>
              </p:ext>
            </p:extLst>
          </p:nvPr>
        </p:nvGraphicFramePr>
        <p:xfrm>
          <a:off x="5713784" y="998984"/>
          <a:ext cx="33227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3784" y="404664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90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49080"/>
            <a:ext cx="8147248" cy="1981845"/>
          </a:xfrm>
        </p:spPr>
        <p:txBody>
          <a:bodyPr>
            <a:normAutofit/>
          </a:bodyPr>
          <a:lstStyle/>
          <a:p>
            <a:r>
              <a:rPr lang="en-US" dirty="0"/>
              <a:t>SELECT	</a:t>
            </a:r>
            <a:r>
              <a:rPr lang="en-US" dirty="0" err="1"/>
              <a:t>PName</a:t>
            </a:r>
            <a:r>
              <a:rPr lang="en-US" dirty="0"/>
              <a:t>, Price,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RANK() OVER</a:t>
            </a:r>
            <a:r>
              <a:rPr lang="en-US" dirty="0"/>
              <a:t>  </a:t>
            </a:r>
            <a:br>
              <a:rPr lang="en-US" dirty="0"/>
            </a:br>
            <a:r>
              <a:rPr lang="en-US" dirty="0"/>
              <a:t>			(ORDER BY	Price 	DESC) AS R</a:t>
            </a:r>
            <a:br>
              <a:rPr lang="en-US" dirty="0"/>
            </a:br>
            <a:r>
              <a:rPr lang="en-US" dirty="0"/>
              <a:t>FROM	Product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9965059"/>
              </p:ext>
            </p:extLst>
          </p:nvPr>
        </p:nvGraphicFramePr>
        <p:xfrm>
          <a:off x="611560" y="1700808"/>
          <a:ext cx="24482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06488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4415528"/>
              </p:ext>
            </p:extLst>
          </p:nvPr>
        </p:nvGraphicFramePr>
        <p:xfrm>
          <a:off x="5364088" y="1700808"/>
          <a:ext cx="31683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Down Arrow 6"/>
          <p:cNvSpPr/>
          <p:nvPr/>
        </p:nvSpPr>
        <p:spPr bwMode="auto">
          <a:xfrm rot="16200000">
            <a:off x="3923928" y="1844824"/>
            <a:ext cx="432048" cy="2016224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853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49080"/>
            <a:ext cx="8147248" cy="1981845"/>
          </a:xfrm>
        </p:spPr>
        <p:txBody>
          <a:bodyPr>
            <a:normAutofit/>
          </a:bodyPr>
          <a:lstStyle/>
          <a:p>
            <a:r>
              <a:rPr lang="en-US" dirty="0"/>
              <a:t>SELECT	</a:t>
            </a:r>
            <a:r>
              <a:rPr lang="en-US" dirty="0" err="1"/>
              <a:t>PName</a:t>
            </a:r>
            <a:r>
              <a:rPr lang="en-US" dirty="0"/>
              <a:t>, Price,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RANK() OVER</a:t>
            </a:r>
            <a:r>
              <a:rPr lang="en-US" dirty="0"/>
              <a:t>  </a:t>
            </a:r>
            <a:br>
              <a:rPr lang="en-US" dirty="0"/>
            </a:br>
            <a:r>
              <a:rPr lang="en-US" dirty="0"/>
              <a:t>			(ORDER BY	Price 	DESC) AS R</a:t>
            </a:r>
            <a:br>
              <a:rPr lang="en-US" dirty="0"/>
            </a:br>
            <a:r>
              <a:rPr lang="en-US" dirty="0"/>
              <a:t>FROM	Product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1400599"/>
              </p:ext>
            </p:extLst>
          </p:nvPr>
        </p:nvGraphicFramePr>
        <p:xfrm>
          <a:off x="611560" y="1700808"/>
          <a:ext cx="24482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06488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325773"/>
              </p:ext>
            </p:extLst>
          </p:nvPr>
        </p:nvGraphicFramePr>
        <p:xfrm>
          <a:off x="5364088" y="1700808"/>
          <a:ext cx="31683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Down Arrow 6"/>
          <p:cNvSpPr/>
          <p:nvPr/>
        </p:nvSpPr>
        <p:spPr bwMode="auto">
          <a:xfrm rot="16200000">
            <a:off x="3923928" y="1844824"/>
            <a:ext cx="432048" cy="2016224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67061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49080"/>
            <a:ext cx="8147248" cy="1981845"/>
          </a:xfrm>
        </p:spPr>
        <p:txBody>
          <a:bodyPr>
            <a:normAutofit/>
          </a:bodyPr>
          <a:lstStyle/>
          <a:p>
            <a:r>
              <a:rPr lang="en-US" dirty="0"/>
              <a:t>SELECT	</a:t>
            </a:r>
            <a:r>
              <a:rPr lang="en-US" dirty="0" err="1"/>
              <a:t>PName</a:t>
            </a:r>
            <a:r>
              <a:rPr lang="en-US" dirty="0"/>
              <a:t>, Price,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RANK() OVER</a:t>
            </a:r>
            <a:r>
              <a:rPr lang="en-US" dirty="0"/>
              <a:t>  </a:t>
            </a:r>
            <a:br>
              <a:rPr lang="en-US" dirty="0"/>
            </a:br>
            <a:r>
              <a:rPr lang="en-US" dirty="0"/>
              <a:t>			(ORDER BY	Price 	DESC) AS R</a:t>
            </a:r>
            <a:br>
              <a:rPr lang="en-US" dirty="0"/>
            </a:br>
            <a:r>
              <a:rPr lang="en-US" dirty="0"/>
              <a:t>FROM	Product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2816206"/>
              </p:ext>
            </p:extLst>
          </p:nvPr>
        </p:nvGraphicFramePr>
        <p:xfrm>
          <a:off x="611560" y="1700808"/>
          <a:ext cx="24482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06488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7623544"/>
              </p:ext>
            </p:extLst>
          </p:nvPr>
        </p:nvGraphicFramePr>
        <p:xfrm>
          <a:off x="5364088" y="1700808"/>
          <a:ext cx="31683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Down Arrow 6"/>
          <p:cNvSpPr/>
          <p:nvPr/>
        </p:nvSpPr>
        <p:spPr bwMode="auto">
          <a:xfrm rot="16200000">
            <a:off x="3923928" y="1844824"/>
            <a:ext cx="432048" cy="2016224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2738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49080"/>
            <a:ext cx="8147248" cy="1981845"/>
          </a:xfrm>
        </p:spPr>
        <p:txBody>
          <a:bodyPr>
            <a:normAutofit/>
          </a:bodyPr>
          <a:lstStyle/>
          <a:p>
            <a:r>
              <a:rPr lang="en-US" dirty="0"/>
              <a:t>SELECT	</a:t>
            </a:r>
            <a:r>
              <a:rPr lang="en-US" dirty="0" err="1"/>
              <a:t>PName</a:t>
            </a:r>
            <a:r>
              <a:rPr lang="en-US" dirty="0"/>
              <a:t>, Price,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RANK() OVER</a:t>
            </a:r>
            <a:r>
              <a:rPr lang="en-US" dirty="0"/>
              <a:t>  </a:t>
            </a:r>
            <a:br>
              <a:rPr lang="en-US" dirty="0"/>
            </a:br>
            <a:r>
              <a:rPr lang="en-US" dirty="0"/>
              <a:t>			(ORDER BY	Price 	DESC) AS R</a:t>
            </a:r>
            <a:br>
              <a:rPr lang="en-US" dirty="0"/>
            </a:br>
            <a:r>
              <a:rPr lang="en-US" dirty="0"/>
              <a:t>FROM	Product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2702488"/>
              </p:ext>
            </p:extLst>
          </p:nvPr>
        </p:nvGraphicFramePr>
        <p:xfrm>
          <a:off x="611560" y="1700808"/>
          <a:ext cx="24482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06488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737088"/>
              </p:ext>
            </p:extLst>
          </p:nvPr>
        </p:nvGraphicFramePr>
        <p:xfrm>
          <a:off x="5364088" y="1700808"/>
          <a:ext cx="31683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Down Arrow 6"/>
          <p:cNvSpPr/>
          <p:nvPr/>
        </p:nvSpPr>
        <p:spPr bwMode="auto">
          <a:xfrm rot="16200000">
            <a:off x="3923928" y="1844824"/>
            <a:ext cx="432048" cy="2016224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23528" y="260648"/>
            <a:ext cx="8640960" cy="1368152"/>
          </a:xfrm>
          <a:prstGeom prst="rect">
            <a:avLst/>
          </a:prstGeom>
          <a:solidFill>
            <a:srgbClr val="FFFFCC"/>
          </a:solidFill>
          <a:ln w="5080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/>
              <a:t>Note: the “ORDER BY” after RANK() does not affect the order of tuples in the results</a:t>
            </a:r>
          </a:p>
          <a:p>
            <a:r>
              <a:rPr lang="en-US" kern="0" dirty="0"/>
              <a:t>It only affects the computation of RANK()</a:t>
            </a:r>
          </a:p>
          <a:p>
            <a:pPr lvl="1"/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16956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08920"/>
            <a:ext cx="8229600" cy="342200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Find the most expensive product</a:t>
            </a:r>
          </a:p>
          <a:p>
            <a:r>
              <a:rPr lang="en-US" dirty="0"/>
              <a:t>WITH	</a:t>
            </a:r>
            <a:r>
              <a:rPr lang="en-US" dirty="0" err="1"/>
              <a:t>TempV</a:t>
            </a:r>
            <a:r>
              <a:rPr lang="en-US" dirty="0"/>
              <a:t>	AS</a:t>
            </a:r>
            <a:br>
              <a:rPr lang="en-US" dirty="0"/>
            </a:br>
            <a:r>
              <a:rPr lang="en-US" dirty="0"/>
              <a:t>	(SELECT	</a:t>
            </a:r>
            <a:r>
              <a:rPr lang="en-US" dirty="0" err="1"/>
              <a:t>PName</a:t>
            </a:r>
            <a:r>
              <a:rPr lang="en-US" dirty="0"/>
              <a:t>, Price,</a:t>
            </a:r>
            <a:br>
              <a:rPr lang="en-US" dirty="0"/>
            </a:br>
            <a:r>
              <a:rPr lang="en-US" dirty="0"/>
              <a:t>		RANK() OVER  </a:t>
            </a:r>
            <a:br>
              <a:rPr lang="en-US" dirty="0"/>
            </a:br>
            <a:r>
              <a:rPr lang="en-US" dirty="0"/>
              <a:t>			(ORDER BY	Price 	DESC) AS R</a:t>
            </a:r>
            <a:br>
              <a:rPr lang="en-US" dirty="0"/>
            </a:br>
            <a:r>
              <a:rPr lang="en-US" dirty="0"/>
              <a:t>	FROM		Product)</a:t>
            </a:r>
            <a:br>
              <a:rPr lang="en-US" dirty="0"/>
            </a:br>
            <a:r>
              <a:rPr lang="en-US" dirty="0"/>
              <a:t>SELECT	*</a:t>
            </a:r>
            <a:br>
              <a:rPr lang="en-US" dirty="0"/>
            </a:br>
            <a:r>
              <a:rPr lang="en-US" dirty="0"/>
              <a:t>FROM	</a:t>
            </a:r>
            <a:r>
              <a:rPr lang="en-US" dirty="0" err="1"/>
              <a:t>TempV</a:t>
            </a:r>
            <a:br>
              <a:rPr lang="en-US" dirty="0"/>
            </a:br>
            <a:r>
              <a:rPr lang="en-US" dirty="0"/>
              <a:t>WHERE	R = 1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3730128"/>
              </p:ext>
            </p:extLst>
          </p:nvPr>
        </p:nvGraphicFramePr>
        <p:xfrm>
          <a:off x="5796136" y="998984"/>
          <a:ext cx="25202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96136" y="404664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55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78204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Find the student(s) with the </a:t>
            </a:r>
            <a:br>
              <a:rPr lang="en-US" dirty="0"/>
            </a:br>
            <a:r>
              <a:rPr lang="en-US" dirty="0"/>
              <a:t>highest GPA</a:t>
            </a:r>
          </a:p>
          <a:p>
            <a:r>
              <a:rPr lang="en-US" dirty="0"/>
              <a:t>WITH	</a:t>
            </a:r>
            <a:r>
              <a:rPr lang="en-US" dirty="0" err="1"/>
              <a:t>TempV</a:t>
            </a:r>
            <a:r>
              <a:rPr lang="en-US" dirty="0"/>
              <a:t>	AS</a:t>
            </a:r>
            <a:br>
              <a:rPr lang="en-US" dirty="0"/>
            </a:br>
            <a:r>
              <a:rPr lang="en-US" dirty="0"/>
              <a:t>	(SELECT	*,</a:t>
            </a:r>
            <a:br>
              <a:rPr lang="en-US" dirty="0"/>
            </a:br>
            <a:r>
              <a:rPr lang="en-US" dirty="0"/>
              <a:t>		RANK() OVER  </a:t>
            </a:r>
            <a:br>
              <a:rPr lang="en-US" dirty="0"/>
            </a:br>
            <a:r>
              <a:rPr lang="en-US" dirty="0"/>
              <a:t>			(ORDER BY	GPA	DESC) AS R</a:t>
            </a:r>
            <a:br>
              <a:rPr lang="en-US" dirty="0"/>
            </a:br>
            <a:r>
              <a:rPr lang="en-US" dirty="0"/>
              <a:t>	FROM		Product)</a:t>
            </a:r>
            <a:br>
              <a:rPr lang="en-US" dirty="0"/>
            </a:br>
            <a:r>
              <a:rPr lang="en-US" dirty="0"/>
              <a:t>SELECT	*</a:t>
            </a:r>
            <a:br>
              <a:rPr lang="en-US" dirty="0"/>
            </a:br>
            <a:r>
              <a:rPr lang="en-US" dirty="0"/>
              <a:t>FROM	</a:t>
            </a:r>
            <a:r>
              <a:rPr lang="en-US" dirty="0" err="1"/>
              <a:t>TempV</a:t>
            </a:r>
            <a:br>
              <a:rPr lang="en-US" dirty="0"/>
            </a:br>
            <a:r>
              <a:rPr lang="en-US" dirty="0"/>
              <a:t>WHERE	R = 1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8811174"/>
              </p:ext>
            </p:extLst>
          </p:nvPr>
        </p:nvGraphicFramePr>
        <p:xfrm>
          <a:off x="5220072" y="692696"/>
          <a:ext cx="302433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148064" y="260648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Student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16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38540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Find the student(s) with the </a:t>
            </a:r>
            <a:br>
              <a:rPr lang="en-US" dirty="0"/>
            </a:br>
            <a:r>
              <a:rPr lang="en-US" dirty="0"/>
              <a:t>highest GPA </a:t>
            </a:r>
            <a:r>
              <a:rPr lang="en-US" dirty="0">
                <a:solidFill>
                  <a:srgbClr val="C00000"/>
                </a:solidFill>
              </a:rPr>
              <a:t>in each school</a:t>
            </a:r>
          </a:p>
          <a:p>
            <a:r>
              <a:rPr lang="en-US" dirty="0"/>
              <a:t>Naïve solution:</a:t>
            </a:r>
          </a:p>
          <a:p>
            <a:pPr lvl="1"/>
            <a:r>
              <a:rPr lang="en-US" dirty="0"/>
              <a:t>Find the student(s) with the highest GPA in XX</a:t>
            </a:r>
          </a:p>
          <a:p>
            <a:pPr lvl="1"/>
            <a:r>
              <a:rPr lang="en-US" dirty="0"/>
              <a:t>Find the student(s) with the highest GPA in YY</a:t>
            </a:r>
          </a:p>
          <a:p>
            <a:pPr lvl="1"/>
            <a:r>
              <a:rPr lang="en-US" dirty="0"/>
              <a:t>Union them</a:t>
            </a:r>
          </a:p>
          <a:p>
            <a:r>
              <a:rPr lang="en-US" dirty="0"/>
              <a:t>Imagine that you need to do this manually for each school in NTU…</a:t>
            </a:r>
          </a:p>
          <a:p>
            <a:r>
              <a:rPr lang="en-US" dirty="0"/>
              <a:t>Better solution: </a:t>
            </a:r>
            <a:r>
              <a:rPr lang="en-US" dirty="0">
                <a:solidFill>
                  <a:srgbClr val="C00000"/>
                </a:solidFill>
              </a:rPr>
              <a:t>PARTITION BY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9913430"/>
              </p:ext>
            </p:extLst>
          </p:nvPr>
        </p:nvGraphicFramePr>
        <p:xfrm>
          <a:off x="5364088" y="620688"/>
          <a:ext cx="302433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292080" y="188640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Student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148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3016"/>
            <a:ext cx="8435280" cy="2557909"/>
          </a:xfrm>
        </p:spPr>
        <p:txBody>
          <a:bodyPr>
            <a:normAutofit/>
          </a:bodyPr>
          <a:lstStyle/>
          <a:p>
            <a:r>
              <a:rPr lang="en-US" dirty="0"/>
              <a:t>SELECT	*, RANK() OVER  </a:t>
            </a:r>
            <a:br>
              <a:rPr lang="en-US" dirty="0"/>
            </a:br>
            <a:r>
              <a:rPr lang="en-US" dirty="0"/>
              <a:t>			(</a:t>
            </a:r>
            <a:r>
              <a:rPr lang="en-US" dirty="0">
                <a:solidFill>
                  <a:srgbClr val="C00000"/>
                </a:solidFill>
              </a:rPr>
              <a:t>PARTITION BY</a:t>
            </a:r>
            <a:r>
              <a:rPr lang="en-US" dirty="0"/>
              <a:t>	Dept</a:t>
            </a:r>
            <a:br>
              <a:rPr lang="en-US" dirty="0"/>
            </a:br>
            <a:r>
              <a:rPr lang="en-US" dirty="0"/>
              <a:t>			 ORDER BY		GPA 	DESC) AS R</a:t>
            </a:r>
            <a:br>
              <a:rPr lang="en-US" dirty="0"/>
            </a:br>
            <a:r>
              <a:rPr lang="en-US" dirty="0"/>
              <a:t>FROM	Student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4948121"/>
              </p:ext>
            </p:extLst>
          </p:nvPr>
        </p:nvGraphicFramePr>
        <p:xfrm>
          <a:off x="5364088" y="620688"/>
          <a:ext cx="352839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292080" y="188640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4538802"/>
              </p:ext>
            </p:extLst>
          </p:nvPr>
        </p:nvGraphicFramePr>
        <p:xfrm>
          <a:off x="467544" y="620688"/>
          <a:ext cx="302433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95536" y="188640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Student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sp>
        <p:nvSpPr>
          <p:cNvPr id="8" name="Down Arrow 7"/>
          <p:cNvSpPr/>
          <p:nvPr/>
        </p:nvSpPr>
        <p:spPr bwMode="auto">
          <a:xfrm rot="16200000">
            <a:off x="4175956" y="1160748"/>
            <a:ext cx="432048" cy="151216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294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3016"/>
            <a:ext cx="8435280" cy="255790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WITH 	</a:t>
            </a:r>
            <a:r>
              <a:rPr lang="en-US" dirty="0" err="1"/>
              <a:t>TempV</a:t>
            </a:r>
            <a:r>
              <a:rPr lang="en-US" dirty="0"/>
              <a:t> 	AS</a:t>
            </a:r>
            <a:br>
              <a:rPr lang="en-US" dirty="0"/>
            </a:br>
            <a:r>
              <a:rPr lang="en-US" dirty="0"/>
              <a:t>		(SELECT	*, RANK() OVER  </a:t>
            </a:r>
            <a:br>
              <a:rPr lang="en-US" dirty="0"/>
            </a:br>
            <a:r>
              <a:rPr lang="en-US" dirty="0"/>
              <a:t>			(</a:t>
            </a:r>
            <a:r>
              <a:rPr lang="en-US" dirty="0">
                <a:solidFill>
                  <a:srgbClr val="C00000"/>
                </a:solidFill>
              </a:rPr>
              <a:t>PARTITION BY</a:t>
            </a:r>
            <a:r>
              <a:rPr lang="en-US" dirty="0"/>
              <a:t>	Dept</a:t>
            </a:r>
            <a:br>
              <a:rPr lang="en-US" dirty="0"/>
            </a:br>
            <a:r>
              <a:rPr lang="en-US" dirty="0"/>
              <a:t>			 ORDER BY		GPA 	DESC) AS R</a:t>
            </a:r>
            <a:br>
              <a:rPr lang="en-US" dirty="0"/>
            </a:br>
            <a:r>
              <a:rPr lang="en-US" dirty="0"/>
              <a:t>		FROM		Student)</a:t>
            </a:r>
            <a:br>
              <a:rPr lang="en-US" dirty="0"/>
            </a:br>
            <a:r>
              <a:rPr lang="en-US" dirty="0"/>
              <a:t>SELECT 	*	FROM </a:t>
            </a:r>
            <a:r>
              <a:rPr lang="en-US" dirty="0" err="1"/>
              <a:t>TempV</a:t>
            </a:r>
            <a:br>
              <a:rPr lang="en-US" dirty="0"/>
            </a:br>
            <a:r>
              <a:rPr lang="en-US" dirty="0"/>
              <a:t>WHERE	R = 1;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471136"/>
              </p:ext>
            </p:extLst>
          </p:nvPr>
        </p:nvGraphicFramePr>
        <p:xfrm>
          <a:off x="5364088" y="620688"/>
          <a:ext cx="352839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292080" y="188640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6632125"/>
              </p:ext>
            </p:extLst>
          </p:nvPr>
        </p:nvGraphicFramePr>
        <p:xfrm>
          <a:off x="467544" y="620688"/>
          <a:ext cx="302433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95536" y="188640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Student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sp>
        <p:nvSpPr>
          <p:cNvPr id="8" name="Down Arrow 7"/>
          <p:cNvSpPr/>
          <p:nvPr/>
        </p:nvSpPr>
        <p:spPr bwMode="auto">
          <a:xfrm rot="16200000">
            <a:off x="4175956" y="1160748"/>
            <a:ext cx="432048" cy="151216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92495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3016"/>
            <a:ext cx="8435280" cy="255790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WITH 	</a:t>
            </a:r>
            <a:r>
              <a:rPr lang="en-US" dirty="0" err="1"/>
              <a:t>TempV</a:t>
            </a:r>
            <a:r>
              <a:rPr lang="en-US" dirty="0"/>
              <a:t> 	AS</a:t>
            </a:r>
            <a:br>
              <a:rPr lang="en-US" dirty="0"/>
            </a:br>
            <a:r>
              <a:rPr lang="en-US" dirty="0"/>
              <a:t>		(SELECT	*, RANK() OVER  </a:t>
            </a:r>
            <a:br>
              <a:rPr lang="en-US" dirty="0"/>
            </a:br>
            <a:r>
              <a:rPr lang="en-US" dirty="0"/>
              <a:t>			(</a:t>
            </a:r>
            <a:r>
              <a:rPr lang="en-US" dirty="0">
                <a:solidFill>
                  <a:srgbClr val="C00000"/>
                </a:solidFill>
              </a:rPr>
              <a:t>PARTITION BY</a:t>
            </a:r>
            <a:r>
              <a:rPr lang="en-US" dirty="0"/>
              <a:t>	Dept</a:t>
            </a:r>
            <a:br>
              <a:rPr lang="en-US" dirty="0"/>
            </a:br>
            <a:r>
              <a:rPr lang="en-US" dirty="0"/>
              <a:t>			 ORDER BY		GPA 	DESC) AS R</a:t>
            </a:r>
            <a:br>
              <a:rPr lang="en-US" dirty="0"/>
            </a:br>
            <a:r>
              <a:rPr lang="en-US" dirty="0"/>
              <a:t>		FROM		Student)</a:t>
            </a:r>
            <a:br>
              <a:rPr lang="en-US" dirty="0"/>
            </a:br>
            <a:r>
              <a:rPr lang="en-US" dirty="0"/>
              <a:t>SELECT 	*	FROM </a:t>
            </a:r>
            <a:r>
              <a:rPr lang="en-US" dirty="0" err="1"/>
              <a:t>TempV</a:t>
            </a:r>
            <a:br>
              <a:rPr lang="en-US" dirty="0"/>
            </a:br>
            <a:r>
              <a:rPr lang="en-US" dirty="0"/>
              <a:t>WHERE	R = 1;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6866947"/>
              </p:ext>
            </p:extLst>
          </p:nvPr>
        </p:nvGraphicFramePr>
        <p:xfrm>
          <a:off x="5364088" y="620688"/>
          <a:ext cx="352839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292080" y="188640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0327843"/>
              </p:ext>
            </p:extLst>
          </p:nvPr>
        </p:nvGraphicFramePr>
        <p:xfrm>
          <a:off x="467544" y="620688"/>
          <a:ext cx="302433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95536" y="188640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Student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sp>
        <p:nvSpPr>
          <p:cNvPr id="8" name="Down Arrow 7"/>
          <p:cNvSpPr/>
          <p:nvPr/>
        </p:nvSpPr>
        <p:spPr bwMode="auto">
          <a:xfrm rot="16200000">
            <a:off x="4175956" y="1160748"/>
            <a:ext cx="432048" cy="151216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12883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3016"/>
            <a:ext cx="8435280" cy="2557909"/>
          </a:xfrm>
        </p:spPr>
        <p:txBody>
          <a:bodyPr>
            <a:normAutofit/>
          </a:bodyPr>
          <a:lstStyle/>
          <a:p>
            <a:r>
              <a:rPr lang="en-US" dirty="0"/>
              <a:t>SELECT	*, RANK() OVER  </a:t>
            </a:r>
            <a:br>
              <a:rPr lang="en-US" dirty="0"/>
            </a:br>
            <a:r>
              <a:rPr lang="en-US" dirty="0"/>
              <a:t>			(PARTITION BY	Sex</a:t>
            </a:r>
            <a:br>
              <a:rPr lang="en-US" dirty="0"/>
            </a:br>
            <a:r>
              <a:rPr lang="en-US" dirty="0"/>
              <a:t>			 ORDER BY		GPA 	DESC) AS R</a:t>
            </a:r>
            <a:br>
              <a:rPr lang="en-US" dirty="0"/>
            </a:br>
            <a:r>
              <a:rPr lang="en-US" dirty="0"/>
              <a:t>FROM	Student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2080" y="188640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3163562"/>
              </p:ext>
            </p:extLst>
          </p:nvPr>
        </p:nvGraphicFramePr>
        <p:xfrm>
          <a:off x="467544" y="620688"/>
          <a:ext cx="302433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95536" y="188640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Student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sp>
        <p:nvSpPr>
          <p:cNvPr id="8" name="Down Arrow 7"/>
          <p:cNvSpPr/>
          <p:nvPr/>
        </p:nvSpPr>
        <p:spPr bwMode="auto">
          <a:xfrm rot="16200000">
            <a:off x="4175956" y="1160748"/>
            <a:ext cx="432048" cy="151216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155086"/>
              </p:ext>
            </p:extLst>
          </p:nvPr>
        </p:nvGraphicFramePr>
        <p:xfrm>
          <a:off x="5364088" y="620688"/>
          <a:ext cx="352839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83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3016"/>
            <a:ext cx="8435280" cy="255790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WITH 	</a:t>
            </a:r>
            <a:r>
              <a:rPr lang="en-US" dirty="0" err="1"/>
              <a:t>TempV</a:t>
            </a:r>
            <a:r>
              <a:rPr lang="en-US" dirty="0"/>
              <a:t> 	AS</a:t>
            </a:r>
            <a:br>
              <a:rPr lang="en-US" dirty="0"/>
            </a:br>
            <a:r>
              <a:rPr lang="en-US" dirty="0"/>
              <a:t>		(SELECT	*, RANK() OVER  </a:t>
            </a:r>
            <a:br>
              <a:rPr lang="en-US" dirty="0"/>
            </a:br>
            <a:r>
              <a:rPr lang="en-US" dirty="0"/>
              <a:t>			(</a:t>
            </a:r>
            <a:r>
              <a:rPr lang="en-US" dirty="0">
                <a:solidFill>
                  <a:srgbClr val="C00000"/>
                </a:solidFill>
              </a:rPr>
              <a:t>PARTITION BY</a:t>
            </a:r>
            <a:r>
              <a:rPr lang="en-US" dirty="0"/>
              <a:t>	Sex</a:t>
            </a:r>
            <a:br>
              <a:rPr lang="en-US" dirty="0"/>
            </a:br>
            <a:r>
              <a:rPr lang="en-US" dirty="0"/>
              <a:t>			 ORDER BY		GPA 	DESC) AS R</a:t>
            </a:r>
            <a:br>
              <a:rPr lang="en-US" dirty="0"/>
            </a:br>
            <a:r>
              <a:rPr lang="en-US" dirty="0"/>
              <a:t>		FROM		Student)</a:t>
            </a:r>
            <a:br>
              <a:rPr lang="en-US" dirty="0"/>
            </a:br>
            <a:r>
              <a:rPr lang="en-US" dirty="0"/>
              <a:t>SELECT 	*	FROM </a:t>
            </a:r>
            <a:r>
              <a:rPr lang="en-US" dirty="0" err="1"/>
              <a:t>TempV</a:t>
            </a:r>
            <a:br>
              <a:rPr lang="en-US" dirty="0"/>
            </a:br>
            <a:r>
              <a:rPr lang="en-US" dirty="0"/>
              <a:t>WHERE	R = 1;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2080" y="188640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3904756"/>
              </p:ext>
            </p:extLst>
          </p:nvPr>
        </p:nvGraphicFramePr>
        <p:xfrm>
          <a:off x="467544" y="620688"/>
          <a:ext cx="302433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95536" y="188640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Student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sp>
        <p:nvSpPr>
          <p:cNvPr id="8" name="Down Arrow 7"/>
          <p:cNvSpPr/>
          <p:nvPr/>
        </p:nvSpPr>
        <p:spPr bwMode="auto">
          <a:xfrm rot="16200000">
            <a:off x="4175956" y="1160748"/>
            <a:ext cx="432048" cy="151216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2978988"/>
              </p:ext>
            </p:extLst>
          </p:nvPr>
        </p:nvGraphicFramePr>
        <p:xfrm>
          <a:off x="5364088" y="620688"/>
          <a:ext cx="352839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4448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3016"/>
            <a:ext cx="8435280" cy="255790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WITH 	</a:t>
            </a:r>
            <a:r>
              <a:rPr lang="en-US" dirty="0" err="1"/>
              <a:t>TempV</a:t>
            </a:r>
            <a:r>
              <a:rPr lang="en-US" dirty="0"/>
              <a:t> 	AS</a:t>
            </a:r>
            <a:br>
              <a:rPr lang="en-US" dirty="0"/>
            </a:br>
            <a:r>
              <a:rPr lang="en-US" dirty="0"/>
              <a:t>		(SELECT	*, RANK() OVER  </a:t>
            </a:r>
            <a:br>
              <a:rPr lang="en-US" dirty="0"/>
            </a:br>
            <a:r>
              <a:rPr lang="en-US" dirty="0"/>
              <a:t>			(</a:t>
            </a:r>
            <a:r>
              <a:rPr lang="en-US" dirty="0">
                <a:solidFill>
                  <a:srgbClr val="C00000"/>
                </a:solidFill>
              </a:rPr>
              <a:t>PARTITION BY</a:t>
            </a:r>
            <a:r>
              <a:rPr lang="en-US" dirty="0"/>
              <a:t>	Sex</a:t>
            </a:r>
            <a:br>
              <a:rPr lang="en-US" dirty="0"/>
            </a:br>
            <a:r>
              <a:rPr lang="en-US" dirty="0"/>
              <a:t>			 ORDER BY		GPA 	DESC) AS R</a:t>
            </a:r>
            <a:br>
              <a:rPr lang="en-US" dirty="0"/>
            </a:br>
            <a:r>
              <a:rPr lang="en-US" dirty="0"/>
              <a:t>		FROM		Student)</a:t>
            </a:r>
            <a:br>
              <a:rPr lang="en-US" dirty="0"/>
            </a:br>
            <a:r>
              <a:rPr lang="en-US" dirty="0"/>
              <a:t>SELECT 	*	FROM </a:t>
            </a:r>
            <a:r>
              <a:rPr lang="en-US" dirty="0" err="1"/>
              <a:t>TempV</a:t>
            </a:r>
            <a:br>
              <a:rPr lang="en-US" dirty="0"/>
            </a:br>
            <a:r>
              <a:rPr lang="en-US" dirty="0"/>
              <a:t>WHERE	R = 1;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2080" y="188640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5950972"/>
              </p:ext>
            </p:extLst>
          </p:nvPr>
        </p:nvGraphicFramePr>
        <p:xfrm>
          <a:off x="467544" y="620688"/>
          <a:ext cx="302433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95536" y="188640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Student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sp>
        <p:nvSpPr>
          <p:cNvPr id="8" name="Down Arrow 7"/>
          <p:cNvSpPr/>
          <p:nvPr/>
        </p:nvSpPr>
        <p:spPr bwMode="auto">
          <a:xfrm rot="16200000">
            <a:off x="4175956" y="1160748"/>
            <a:ext cx="432048" cy="151216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4615345"/>
              </p:ext>
            </p:extLst>
          </p:nvPr>
        </p:nvGraphicFramePr>
        <p:xfrm>
          <a:off x="5364088" y="620688"/>
          <a:ext cx="352839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92424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3016"/>
            <a:ext cx="8435280" cy="255790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WITH 	</a:t>
            </a:r>
            <a:r>
              <a:rPr lang="en-US" dirty="0" err="1"/>
              <a:t>TempV</a:t>
            </a:r>
            <a:r>
              <a:rPr lang="en-US" dirty="0"/>
              <a:t> 	AS</a:t>
            </a:r>
            <a:br>
              <a:rPr lang="en-US" dirty="0"/>
            </a:br>
            <a:r>
              <a:rPr lang="en-US" dirty="0"/>
              <a:t>		(SELECT	*, RANK() OVER  </a:t>
            </a:r>
            <a:br>
              <a:rPr lang="en-US" dirty="0"/>
            </a:br>
            <a:r>
              <a:rPr lang="en-US" dirty="0"/>
              <a:t>			(</a:t>
            </a:r>
            <a:r>
              <a:rPr lang="en-US" dirty="0">
                <a:solidFill>
                  <a:srgbClr val="C00000"/>
                </a:solidFill>
              </a:rPr>
              <a:t>PARTITION BY</a:t>
            </a:r>
            <a:r>
              <a:rPr lang="en-US" dirty="0"/>
              <a:t>	Age</a:t>
            </a:r>
            <a:br>
              <a:rPr lang="en-US" dirty="0"/>
            </a:br>
            <a:r>
              <a:rPr lang="en-US" dirty="0"/>
              <a:t>			 ORDER BY		GPA) AS R</a:t>
            </a:r>
            <a:br>
              <a:rPr lang="en-US" dirty="0"/>
            </a:br>
            <a:r>
              <a:rPr lang="en-US" dirty="0"/>
              <a:t>		FROM		Student)</a:t>
            </a:r>
            <a:br>
              <a:rPr lang="en-US" dirty="0"/>
            </a:br>
            <a:r>
              <a:rPr lang="en-US" dirty="0"/>
              <a:t>SELECT 	*	FROM </a:t>
            </a:r>
            <a:r>
              <a:rPr lang="en-US" dirty="0" err="1"/>
              <a:t>TempV</a:t>
            </a:r>
            <a:br>
              <a:rPr lang="en-US" dirty="0"/>
            </a:br>
            <a:r>
              <a:rPr lang="en-US" dirty="0"/>
              <a:t>WHERE	R = 1;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2080" y="188640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714940"/>
              </p:ext>
            </p:extLst>
          </p:nvPr>
        </p:nvGraphicFramePr>
        <p:xfrm>
          <a:off x="467544" y="620688"/>
          <a:ext cx="302433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95536" y="188640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Student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sp>
        <p:nvSpPr>
          <p:cNvPr id="8" name="Down Arrow 7"/>
          <p:cNvSpPr/>
          <p:nvPr/>
        </p:nvSpPr>
        <p:spPr bwMode="auto">
          <a:xfrm rot="16200000">
            <a:off x="4175956" y="1160748"/>
            <a:ext cx="432048" cy="151216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3651134"/>
              </p:ext>
            </p:extLst>
          </p:nvPr>
        </p:nvGraphicFramePr>
        <p:xfrm>
          <a:off x="5364088" y="620688"/>
          <a:ext cx="352839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913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3016"/>
            <a:ext cx="8435280" cy="255790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WITH 	</a:t>
            </a:r>
            <a:r>
              <a:rPr lang="en-US" dirty="0" err="1"/>
              <a:t>TempV</a:t>
            </a:r>
            <a:r>
              <a:rPr lang="en-US" dirty="0"/>
              <a:t> 	AS</a:t>
            </a:r>
            <a:br>
              <a:rPr lang="en-US" dirty="0"/>
            </a:br>
            <a:r>
              <a:rPr lang="en-US" dirty="0"/>
              <a:t>		(SELECT	*, RANK() OVER  </a:t>
            </a:r>
            <a:br>
              <a:rPr lang="en-US" dirty="0"/>
            </a:br>
            <a:r>
              <a:rPr lang="en-US" dirty="0"/>
              <a:t>			(</a:t>
            </a:r>
            <a:r>
              <a:rPr lang="en-US" dirty="0">
                <a:solidFill>
                  <a:srgbClr val="C00000"/>
                </a:solidFill>
              </a:rPr>
              <a:t>PARTITION BY</a:t>
            </a:r>
            <a:r>
              <a:rPr lang="en-US" dirty="0"/>
              <a:t>	Age</a:t>
            </a:r>
            <a:br>
              <a:rPr lang="en-US" dirty="0"/>
            </a:br>
            <a:r>
              <a:rPr lang="en-US" dirty="0"/>
              <a:t>			 ORDER BY		GPA) AS R</a:t>
            </a:r>
            <a:br>
              <a:rPr lang="en-US" dirty="0"/>
            </a:br>
            <a:r>
              <a:rPr lang="en-US" dirty="0"/>
              <a:t>		FROM		Student)</a:t>
            </a:r>
            <a:br>
              <a:rPr lang="en-US" dirty="0"/>
            </a:br>
            <a:r>
              <a:rPr lang="en-US" dirty="0"/>
              <a:t>SELECT 	*	FROM </a:t>
            </a:r>
            <a:r>
              <a:rPr lang="en-US" dirty="0" err="1"/>
              <a:t>TempV</a:t>
            </a:r>
            <a:br>
              <a:rPr lang="en-US" dirty="0"/>
            </a:br>
            <a:r>
              <a:rPr lang="en-US" dirty="0"/>
              <a:t>WHERE	R = 1;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2080" y="188640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2348271"/>
              </p:ext>
            </p:extLst>
          </p:nvPr>
        </p:nvGraphicFramePr>
        <p:xfrm>
          <a:off x="467544" y="620688"/>
          <a:ext cx="302433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95536" y="188640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Student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sp>
        <p:nvSpPr>
          <p:cNvPr id="8" name="Down Arrow 7"/>
          <p:cNvSpPr/>
          <p:nvPr/>
        </p:nvSpPr>
        <p:spPr bwMode="auto">
          <a:xfrm rot="16200000">
            <a:off x="4175956" y="1160748"/>
            <a:ext cx="432048" cy="1512168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9933523"/>
              </p:ext>
            </p:extLst>
          </p:nvPr>
        </p:nvGraphicFramePr>
        <p:xfrm>
          <a:off x="5364088" y="620688"/>
          <a:ext cx="3528392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7176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RANK() OVER  </a:t>
            </a:r>
            <a:br>
              <a:rPr lang="en-US" dirty="0"/>
            </a:br>
            <a:r>
              <a:rPr lang="en-US" dirty="0"/>
              <a:t>	(PARTITION BY	Age</a:t>
            </a:r>
            <a:br>
              <a:rPr lang="en-US" dirty="0"/>
            </a:br>
            <a:r>
              <a:rPr lang="en-US" dirty="0"/>
              <a:t>	 ORDER BY		GPA) AS R</a:t>
            </a:r>
          </a:p>
          <a:p>
            <a:endParaRPr lang="en-US" dirty="0"/>
          </a:p>
          <a:p>
            <a:r>
              <a:rPr lang="en-US" dirty="0"/>
              <a:t>RANK() is referred to as a </a:t>
            </a:r>
            <a:r>
              <a:rPr lang="en-US" dirty="0">
                <a:solidFill>
                  <a:srgbClr val="C00000"/>
                </a:solidFill>
              </a:rPr>
              <a:t>window function</a:t>
            </a:r>
          </a:p>
          <a:p>
            <a:pPr lvl="1"/>
            <a:r>
              <a:rPr lang="en-US" dirty="0"/>
              <a:t>The concept of window function is introduced in SQL:2003</a:t>
            </a:r>
          </a:p>
          <a:p>
            <a:r>
              <a:rPr lang="en-US" dirty="0"/>
              <a:t>PARTITION BY decides how the “windows” are defined</a:t>
            </a:r>
          </a:p>
          <a:p>
            <a:r>
              <a:rPr lang="en-US" dirty="0"/>
              <a:t>ORDER BY decides how RANK() is computed in each “window”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3405709"/>
              </p:ext>
            </p:extLst>
          </p:nvPr>
        </p:nvGraphicFramePr>
        <p:xfrm>
          <a:off x="5940152" y="472753"/>
          <a:ext cx="302433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68144" y="40705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Student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42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RANK() OVER  </a:t>
            </a:r>
            <a:br>
              <a:rPr lang="en-US" dirty="0"/>
            </a:br>
            <a:r>
              <a:rPr lang="en-US" dirty="0"/>
              <a:t>	(PARTITION BY	Age</a:t>
            </a:r>
            <a:br>
              <a:rPr lang="en-US" dirty="0"/>
            </a:br>
            <a:r>
              <a:rPr lang="en-US" dirty="0"/>
              <a:t>	 ORDER BY		GPA) AS R</a:t>
            </a:r>
          </a:p>
          <a:p>
            <a:endParaRPr lang="en-US" dirty="0"/>
          </a:p>
          <a:p>
            <a:r>
              <a:rPr lang="en-US" dirty="0"/>
              <a:t>There exist several other window functions</a:t>
            </a:r>
          </a:p>
          <a:p>
            <a:pPr lvl="1"/>
            <a:r>
              <a:rPr lang="en-US" dirty="0"/>
              <a:t>DENSE_RANK</a:t>
            </a:r>
          </a:p>
          <a:p>
            <a:pPr lvl="1"/>
            <a:r>
              <a:rPr lang="en-US" dirty="0"/>
              <a:t>NTILE</a:t>
            </a:r>
          </a:p>
          <a:p>
            <a:pPr lvl="1"/>
            <a:r>
              <a:rPr lang="en-US" dirty="0"/>
              <a:t>CUME_DIST, PERCENT_RANK, PERCENTILE_DIST, …</a:t>
            </a:r>
          </a:p>
          <a:p>
            <a:r>
              <a:rPr lang="en-US" dirty="0"/>
              <a:t>We will introduce DENSE_RANK and NTILE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8293394"/>
              </p:ext>
            </p:extLst>
          </p:nvPr>
        </p:nvGraphicFramePr>
        <p:xfrm>
          <a:off x="5940152" y="472753"/>
          <a:ext cx="302433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Sex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Age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GPA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Dept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XX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Grace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Helen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3.0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68144" y="40705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Student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66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49080"/>
            <a:ext cx="8147248" cy="1981845"/>
          </a:xfrm>
        </p:spPr>
        <p:txBody>
          <a:bodyPr>
            <a:normAutofit/>
          </a:bodyPr>
          <a:lstStyle/>
          <a:p>
            <a:r>
              <a:rPr lang="en-US" dirty="0"/>
              <a:t>SELECT	</a:t>
            </a:r>
            <a:r>
              <a:rPr lang="en-US" dirty="0" err="1"/>
              <a:t>PName</a:t>
            </a:r>
            <a:r>
              <a:rPr lang="en-US" dirty="0"/>
              <a:t>, Price,</a:t>
            </a:r>
            <a:br>
              <a:rPr lang="en-US" dirty="0"/>
            </a:br>
            <a:r>
              <a:rPr lang="en-US" dirty="0"/>
              <a:t>		RANK() OVER  </a:t>
            </a:r>
            <a:br>
              <a:rPr lang="en-US" dirty="0"/>
            </a:br>
            <a:r>
              <a:rPr lang="en-US" dirty="0"/>
              <a:t>			(ORDER BY	Price 	DESC) AS R</a:t>
            </a:r>
            <a:br>
              <a:rPr lang="en-US" dirty="0"/>
            </a:br>
            <a:r>
              <a:rPr lang="en-US" dirty="0"/>
              <a:t>FROM	Product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7546214"/>
              </p:ext>
            </p:extLst>
          </p:nvPr>
        </p:nvGraphicFramePr>
        <p:xfrm>
          <a:off x="611560" y="1700808"/>
          <a:ext cx="24482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06488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9297647"/>
              </p:ext>
            </p:extLst>
          </p:nvPr>
        </p:nvGraphicFramePr>
        <p:xfrm>
          <a:off x="5364088" y="1700808"/>
          <a:ext cx="31683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Down Arrow 6"/>
          <p:cNvSpPr/>
          <p:nvPr/>
        </p:nvSpPr>
        <p:spPr bwMode="auto">
          <a:xfrm rot="16200000">
            <a:off x="3923928" y="1844824"/>
            <a:ext cx="432048" cy="2016224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16524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DENSE_RANK()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49080"/>
            <a:ext cx="8147248" cy="1981845"/>
          </a:xfrm>
        </p:spPr>
        <p:txBody>
          <a:bodyPr>
            <a:normAutofit/>
          </a:bodyPr>
          <a:lstStyle/>
          <a:p>
            <a:r>
              <a:rPr lang="en-US" dirty="0"/>
              <a:t>SELECT	</a:t>
            </a:r>
            <a:r>
              <a:rPr lang="en-US" dirty="0" err="1"/>
              <a:t>PName</a:t>
            </a:r>
            <a:r>
              <a:rPr lang="en-US" dirty="0"/>
              <a:t>, Price,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DENSE_RANK()</a:t>
            </a:r>
            <a:r>
              <a:rPr lang="en-US" dirty="0"/>
              <a:t> OVER  </a:t>
            </a:r>
            <a:br>
              <a:rPr lang="en-US" dirty="0"/>
            </a:br>
            <a:r>
              <a:rPr lang="en-US" dirty="0"/>
              <a:t>			(ORDER BY	Price 	DESC) AS R</a:t>
            </a:r>
            <a:br>
              <a:rPr lang="en-US" dirty="0"/>
            </a:br>
            <a:r>
              <a:rPr lang="en-US" dirty="0"/>
              <a:t>FROM	Product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9359248"/>
              </p:ext>
            </p:extLst>
          </p:nvPr>
        </p:nvGraphicFramePr>
        <p:xfrm>
          <a:off x="611560" y="1700808"/>
          <a:ext cx="24482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06488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8669934"/>
              </p:ext>
            </p:extLst>
          </p:nvPr>
        </p:nvGraphicFramePr>
        <p:xfrm>
          <a:off x="5364088" y="1700808"/>
          <a:ext cx="31683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Down Arrow 6"/>
          <p:cNvSpPr/>
          <p:nvPr/>
        </p:nvSpPr>
        <p:spPr bwMode="auto">
          <a:xfrm rot="16200000">
            <a:off x="3923928" y="1844824"/>
            <a:ext cx="432048" cy="2016224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11342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DENSE_RANK()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49080"/>
            <a:ext cx="8147248" cy="1981845"/>
          </a:xfrm>
        </p:spPr>
        <p:txBody>
          <a:bodyPr>
            <a:normAutofit/>
          </a:bodyPr>
          <a:lstStyle/>
          <a:p>
            <a:r>
              <a:rPr lang="en-US" dirty="0"/>
              <a:t>SELECT	</a:t>
            </a:r>
            <a:r>
              <a:rPr lang="en-US" dirty="0" err="1"/>
              <a:t>PName</a:t>
            </a:r>
            <a:r>
              <a:rPr lang="en-US" dirty="0"/>
              <a:t>, Price,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DENSE_RANK()</a:t>
            </a:r>
            <a:r>
              <a:rPr lang="en-US" dirty="0"/>
              <a:t> OVER  </a:t>
            </a:r>
            <a:br>
              <a:rPr lang="en-US" dirty="0"/>
            </a:br>
            <a:r>
              <a:rPr lang="en-US" dirty="0"/>
              <a:t>			(ORDER BY	Price 	DESC) AS R</a:t>
            </a:r>
            <a:br>
              <a:rPr lang="en-US" dirty="0"/>
            </a:br>
            <a:r>
              <a:rPr lang="en-US" dirty="0"/>
              <a:t>FROM	Product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760319"/>
              </p:ext>
            </p:extLst>
          </p:nvPr>
        </p:nvGraphicFramePr>
        <p:xfrm>
          <a:off x="611560" y="1700808"/>
          <a:ext cx="24482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06488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0044730"/>
              </p:ext>
            </p:extLst>
          </p:nvPr>
        </p:nvGraphicFramePr>
        <p:xfrm>
          <a:off x="5364088" y="1700808"/>
          <a:ext cx="31683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Down Arrow 6"/>
          <p:cNvSpPr/>
          <p:nvPr/>
        </p:nvSpPr>
        <p:spPr bwMode="auto">
          <a:xfrm rot="16200000">
            <a:off x="3923928" y="1844824"/>
            <a:ext cx="432048" cy="2016224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66608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RANK() vs. DENSE_RANK()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RANK() may skip some ranks if there are multiple tuples with the same ranks: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GPA: 	4, 4, 3.7, 3.5, 3.4, 3.4, 3.4, 3.2</a:t>
            </a:r>
          </a:p>
          <a:p>
            <a:pPr lvl="1"/>
            <a:r>
              <a:rPr lang="en-US" dirty="0"/>
              <a:t>Ranks:	1, 1,  3,    4,     5,    5,     5,    8</a:t>
            </a:r>
          </a:p>
          <a:p>
            <a:endParaRPr lang="en-US" sz="1100" dirty="0"/>
          </a:p>
          <a:p>
            <a:r>
              <a:rPr lang="en-US" dirty="0"/>
              <a:t>DENSE_RANK() always gives consecutive ranks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GPA: 	4, 4, 3.7, 3.5, 3.4, 3.4, 3.4, 3.2</a:t>
            </a:r>
          </a:p>
          <a:p>
            <a:pPr lvl="1"/>
            <a:r>
              <a:rPr lang="en-US" dirty="0"/>
              <a:t>Ranks:	1, 1,  2,    3,     4,    4,     4,    5</a:t>
            </a:r>
          </a:p>
        </p:txBody>
      </p:sp>
    </p:spTree>
    <p:extLst>
      <p:ext uri="{BB962C8B-B14F-4D97-AF65-F5344CB8AC3E}">
        <p14:creationId xmlns:p14="http://schemas.microsoft.com/office/powerpoint/2010/main" val="298518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NTILE()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20598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For each employee, identify whether his/her salary is in the top 50% among all employees</a:t>
            </a:r>
          </a:p>
          <a:p>
            <a:r>
              <a:rPr lang="en-US" dirty="0"/>
              <a:t>SELECT	*,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NTILE(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) OVER</a:t>
            </a:r>
            <a:r>
              <a:rPr lang="en-US" dirty="0"/>
              <a:t>  </a:t>
            </a:r>
            <a:br>
              <a:rPr lang="en-US" dirty="0"/>
            </a:br>
            <a:r>
              <a:rPr lang="en-US" dirty="0"/>
              <a:t>			(ORDER BY	Salary DESC) AS R</a:t>
            </a:r>
            <a:br>
              <a:rPr lang="en-US" dirty="0"/>
            </a:br>
            <a:r>
              <a:rPr lang="en-US" dirty="0"/>
              <a:t>FROM	Product</a:t>
            </a:r>
          </a:p>
          <a:p>
            <a:r>
              <a:rPr lang="en-US" dirty="0">
                <a:solidFill>
                  <a:schemeClr val="bg1"/>
                </a:solidFill>
              </a:rPr>
              <a:t>R = 1 indicates a salary in the top 50%</a:t>
            </a:r>
          </a:p>
          <a:p>
            <a:r>
              <a:rPr lang="en-US" dirty="0">
                <a:solidFill>
                  <a:schemeClr val="bg1"/>
                </a:solidFill>
              </a:rPr>
              <a:t>R = 2 indicates a salary in the bottom 50%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3273342"/>
              </p:ext>
            </p:extLst>
          </p:nvPr>
        </p:nvGraphicFramePr>
        <p:xfrm>
          <a:off x="6156176" y="685800"/>
          <a:ext cx="1584176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Salary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800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900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700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600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084168" y="253752"/>
            <a:ext cx="1440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Employee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81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NTILE()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20598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For each employee, identify whether his/her salary is in the top 50% among all employees</a:t>
            </a:r>
          </a:p>
          <a:p>
            <a:r>
              <a:rPr lang="en-US" dirty="0"/>
              <a:t>SELECT	*,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NTILE(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) OVER</a:t>
            </a:r>
            <a:r>
              <a:rPr lang="en-US" dirty="0"/>
              <a:t>  </a:t>
            </a:r>
            <a:br>
              <a:rPr lang="en-US" dirty="0"/>
            </a:br>
            <a:r>
              <a:rPr lang="en-US" dirty="0"/>
              <a:t>			(ORDER BY	Salary DESC) AS R</a:t>
            </a:r>
            <a:br>
              <a:rPr lang="en-US" dirty="0"/>
            </a:br>
            <a:r>
              <a:rPr lang="en-US" dirty="0"/>
              <a:t>FROM	Product</a:t>
            </a:r>
          </a:p>
          <a:p>
            <a:r>
              <a:rPr lang="en-US" dirty="0"/>
              <a:t>R = 1 indicates a salary in the top 50%</a:t>
            </a:r>
          </a:p>
          <a:p>
            <a:r>
              <a:rPr lang="en-US" dirty="0"/>
              <a:t>R = 2 indicates a salary in the bottom 50%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971720"/>
              </p:ext>
            </p:extLst>
          </p:nvPr>
        </p:nvGraphicFramePr>
        <p:xfrm>
          <a:off x="6156176" y="685800"/>
          <a:ext cx="1512168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Salary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800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900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700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600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084168" y="253752"/>
            <a:ext cx="1440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Employee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2694494"/>
              </p:ext>
            </p:extLst>
          </p:nvPr>
        </p:nvGraphicFramePr>
        <p:xfrm>
          <a:off x="6156176" y="685800"/>
          <a:ext cx="2088232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Salary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800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900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700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600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20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NTILE()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3843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For each employee, identify whether his/her salary is in the top 1/3, middle 1/3, or bottom 1/3</a:t>
            </a:r>
          </a:p>
          <a:p>
            <a:r>
              <a:rPr lang="en-US" dirty="0"/>
              <a:t>SELECT	*,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NTILE(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) OVER</a:t>
            </a:r>
            <a:r>
              <a:rPr lang="en-US" dirty="0"/>
              <a:t>  </a:t>
            </a:r>
            <a:br>
              <a:rPr lang="en-US" dirty="0"/>
            </a:br>
            <a:r>
              <a:rPr lang="en-US" dirty="0"/>
              <a:t>			(ORDER BY	 Salary DESC) AS R</a:t>
            </a:r>
            <a:br>
              <a:rPr lang="en-US" dirty="0"/>
            </a:br>
            <a:r>
              <a:rPr lang="en-US" dirty="0"/>
              <a:t>FROM	Product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6910299"/>
              </p:ext>
            </p:extLst>
          </p:nvPr>
        </p:nvGraphicFramePr>
        <p:xfrm>
          <a:off x="6156176" y="685800"/>
          <a:ext cx="1584176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Salary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800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900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700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600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084168" y="253752"/>
            <a:ext cx="1440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Employee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7350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NTILE()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3843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For each employee, identify whether his/her salary is in the top 1/3, middle 1/3, or bottom 1/3</a:t>
            </a:r>
          </a:p>
          <a:p>
            <a:r>
              <a:rPr lang="en-US" dirty="0"/>
              <a:t>SELECT	*,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NTILE(</a:t>
            </a:r>
            <a:r>
              <a:rPr lang="en-US" dirty="0">
                <a:solidFill>
                  <a:srgbClr val="0000FF"/>
                </a:solidFill>
              </a:rPr>
              <a:t>3</a:t>
            </a:r>
            <a:r>
              <a:rPr lang="en-US" dirty="0">
                <a:solidFill>
                  <a:srgbClr val="C00000"/>
                </a:solidFill>
              </a:rPr>
              <a:t>) OVER</a:t>
            </a:r>
            <a:r>
              <a:rPr lang="en-US" dirty="0"/>
              <a:t>  </a:t>
            </a:r>
            <a:br>
              <a:rPr lang="en-US" dirty="0"/>
            </a:br>
            <a:r>
              <a:rPr lang="en-US" dirty="0"/>
              <a:t>			(ORDER BY	 Salary DESC) AS R</a:t>
            </a:r>
            <a:br>
              <a:rPr lang="en-US" dirty="0"/>
            </a:br>
            <a:r>
              <a:rPr lang="en-US" dirty="0"/>
              <a:t>FROM	Product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6732109"/>
              </p:ext>
            </p:extLst>
          </p:nvPr>
        </p:nvGraphicFramePr>
        <p:xfrm>
          <a:off x="6156176" y="685800"/>
          <a:ext cx="1584176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Salary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800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900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700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600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084168" y="253752"/>
            <a:ext cx="1440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Employee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0733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NTILE()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3843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For each employee, identify whether his/her salary is in the top 1/3, middle 1/3, or bottom 1/3</a:t>
            </a:r>
          </a:p>
          <a:p>
            <a:r>
              <a:rPr lang="en-US" dirty="0"/>
              <a:t>SELECT	*,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NTILE(</a:t>
            </a:r>
            <a:r>
              <a:rPr lang="en-US" dirty="0">
                <a:solidFill>
                  <a:srgbClr val="0000FF"/>
                </a:solidFill>
              </a:rPr>
              <a:t>3</a:t>
            </a:r>
            <a:r>
              <a:rPr lang="en-US" dirty="0">
                <a:solidFill>
                  <a:srgbClr val="C00000"/>
                </a:solidFill>
              </a:rPr>
              <a:t>) OVER</a:t>
            </a:r>
            <a:r>
              <a:rPr lang="en-US" dirty="0"/>
              <a:t>  </a:t>
            </a:r>
            <a:br>
              <a:rPr lang="en-US" dirty="0"/>
            </a:br>
            <a:r>
              <a:rPr lang="en-US" dirty="0"/>
              <a:t>			(ORDER BY	 Salary DESC) AS R</a:t>
            </a:r>
            <a:br>
              <a:rPr lang="en-US" dirty="0"/>
            </a:br>
            <a:r>
              <a:rPr lang="en-US" dirty="0"/>
              <a:t>FROM	Product</a:t>
            </a:r>
          </a:p>
          <a:p>
            <a:r>
              <a:rPr lang="en-US" dirty="0"/>
              <a:t>R = 1 indicates a salary in the top 1/3</a:t>
            </a:r>
          </a:p>
          <a:p>
            <a:r>
              <a:rPr lang="en-US" dirty="0"/>
              <a:t>R = 2 indicates a salary in the middle 1/3</a:t>
            </a:r>
          </a:p>
          <a:p>
            <a:r>
              <a:rPr lang="en-US" dirty="0"/>
              <a:t>R = 2 indicates a salary in the bottom 1/3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8810649"/>
              </p:ext>
            </p:extLst>
          </p:nvPr>
        </p:nvGraphicFramePr>
        <p:xfrm>
          <a:off x="6156176" y="685800"/>
          <a:ext cx="1512168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Salary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800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900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700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600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084168" y="253752"/>
            <a:ext cx="1440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Employee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2143103"/>
              </p:ext>
            </p:extLst>
          </p:nvPr>
        </p:nvGraphicFramePr>
        <p:xfrm>
          <a:off x="6156176" y="685800"/>
          <a:ext cx="2088232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Salary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800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900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700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600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39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NTILE()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3843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For each employee, identify whether his/her salary is in the first 1/4, second 1/4, third 1/4, or bottom 1/4</a:t>
            </a:r>
          </a:p>
          <a:p>
            <a:r>
              <a:rPr lang="en-US" dirty="0"/>
              <a:t>SELECT	*,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NTILE(</a:t>
            </a:r>
            <a:r>
              <a:rPr lang="en-US" dirty="0">
                <a:solidFill>
                  <a:srgbClr val="0000FF"/>
                </a:solidFill>
              </a:rPr>
              <a:t>3</a:t>
            </a:r>
            <a:r>
              <a:rPr lang="en-US" dirty="0">
                <a:solidFill>
                  <a:srgbClr val="C00000"/>
                </a:solidFill>
              </a:rPr>
              <a:t>) OVER</a:t>
            </a:r>
            <a:r>
              <a:rPr lang="en-US" dirty="0"/>
              <a:t>  </a:t>
            </a:r>
            <a:br>
              <a:rPr lang="en-US" dirty="0"/>
            </a:br>
            <a:r>
              <a:rPr lang="en-US" dirty="0"/>
              <a:t>			(ORDER BY	 Salary DESC) AS R</a:t>
            </a:r>
            <a:br>
              <a:rPr lang="en-US" dirty="0"/>
            </a:br>
            <a:r>
              <a:rPr lang="en-US" dirty="0"/>
              <a:t>FROM	Product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4001545"/>
              </p:ext>
            </p:extLst>
          </p:nvPr>
        </p:nvGraphicFramePr>
        <p:xfrm>
          <a:off x="6156176" y="685800"/>
          <a:ext cx="1584176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Salary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800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900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700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600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084168" y="253752"/>
            <a:ext cx="1440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Employee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5765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NTILE()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3843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For each employee, identify whether his/her salary is in the first 1/4, second 1/4, third 1/4, or bottom 1/4</a:t>
            </a:r>
          </a:p>
          <a:p>
            <a:r>
              <a:rPr lang="en-US" dirty="0"/>
              <a:t>SELECT	*,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NTILE(</a:t>
            </a:r>
            <a:r>
              <a:rPr lang="en-US" dirty="0">
                <a:solidFill>
                  <a:srgbClr val="0000FF"/>
                </a:solidFill>
              </a:rPr>
              <a:t>4</a:t>
            </a:r>
            <a:r>
              <a:rPr lang="en-US" dirty="0">
                <a:solidFill>
                  <a:srgbClr val="C00000"/>
                </a:solidFill>
              </a:rPr>
              <a:t>) OVER</a:t>
            </a:r>
            <a:r>
              <a:rPr lang="en-US" dirty="0"/>
              <a:t>  </a:t>
            </a:r>
            <a:br>
              <a:rPr lang="en-US" dirty="0"/>
            </a:br>
            <a:r>
              <a:rPr lang="en-US" dirty="0"/>
              <a:t>			(ORDER BY	 Salary DESC) AS R</a:t>
            </a:r>
            <a:br>
              <a:rPr lang="en-US" dirty="0"/>
            </a:br>
            <a:r>
              <a:rPr lang="en-US" dirty="0"/>
              <a:t>FROM	Product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7252990"/>
              </p:ext>
            </p:extLst>
          </p:nvPr>
        </p:nvGraphicFramePr>
        <p:xfrm>
          <a:off x="6156176" y="685800"/>
          <a:ext cx="1584176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Salary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800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900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700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600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084168" y="253752"/>
            <a:ext cx="1440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Employee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0998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NTILE()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3843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For each employee, identify whether his/her salary is in the first 1/4, second 1/4, third 1/4, or bottom 1/4</a:t>
            </a:r>
          </a:p>
          <a:p>
            <a:r>
              <a:rPr lang="en-US" dirty="0"/>
              <a:t>SELECT	*,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NTILE(</a:t>
            </a:r>
            <a:r>
              <a:rPr lang="en-US" dirty="0">
                <a:solidFill>
                  <a:srgbClr val="0000FF"/>
                </a:solidFill>
              </a:rPr>
              <a:t>4</a:t>
            </a:r>
            <a:r>
              <a:rPr lang="en-US" dirty="0">
                <a:solidFill>
                  <a:srgbClr val="C00000"/>
                </a:solidFill>
              </a:rPr>
              <a:t>) OVER</a:t>
            </a:r>
            <a:r>
              <a:rPr lang="en-US" dirty="0"/>
              <a:t>  </a:t>
            </a:r>
            <a:br>
              <a:rPr lang="en-US" dirty="0"/>
            </a:br>
            <a:r>
              <a:rPr lang="en-US" dirty="0"/>
              <a:t>			(ORDER BY	 Salary DESC) AS R</a:t>
            </a:r>
            <a:br>
              <a:rPr lang="en-US" dirty="0"/>
            </a:br>
            <a:r>
              <a:rPr lang="en-US" dirty="0"/>
              <a:t>FROM	Product</a:t>
            </a:r>
          </a:p>
          <a:p>
            <a:r>
              <a:rPr lang="en-US" dirty="0"/>
              <a:t>Here, we have 6 tuples, which cannot be evenly divided into 4 groups</a:t>
            </a:r>
          </a:p>
          <a:p>
            <a:r>
              <a:rPr lang="en-US" dirty="0"/>
              <a:t>SQL divides it into groups of 2, 2, 1, 1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5781830"/>
              </p:ext>
            </p:extLst>
          </p:nvPr>
        </p:nvGraphicFramePr>
        <p:xfrm>
          <a:off x="6156176" y="685800"/>
          <a:ext cx="1512168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Salary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800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900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700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600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84168" y="253752"/>
            <a:ext cx="1440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Employee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1217561"/>
              </p:ext>
            </p:extLst>
          </p:nvPr>
        </p:nvGraphicFramePr>
        <p:xfrm>
          <a:off x="6156176" y="685800"/>
          <a:ext cx="2088232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Salary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Alice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Bob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800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Cathy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900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David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Eric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700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2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Fred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600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621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NTILE()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we have an NTILE(3) on 10 tuples?</a:t>
            </a:r>
          </a:p>
          <a:p>
            <a:r>
              <a:rPr lang="en-US" dirty="0"/>
              <a:t>3 groups: 4, 3, 3</a:t>
            </a:r>
          </a:p>
          <a:p>
            <a:r>
              <a:rPr lang="en-US" dirty="0"/>
              <a:t>General rules:</a:t>
            </a:r>
          </a:p>
          <a:p>
            <a:pPr lvl="1"/>
            <a:r>
              <a:rPr lang="en-US" dirty="0"/>
              <a:t>Groups differ by at most one tuple</a:t>
            </a:r>
          </a:p>
          <a:p>
            <a:pPr lvl="1"/>
            <a:r>
              <a:rPr lang="en-US" dirty="0"/>
              <a:t>Large groups go first</a:t>
            </a:r>
          </a:p>
          <a:p>
            <a:r>
              <a:rPr lang="en-US" dirty="0"/>
              <a:t>What if we have an NTILE(5) on 18 tuples?</a:t>
            </a:r>
          </a:p>
          <a:p>
            <a:r>
              <a:rPr lang="en-US" dirty="0"/>
              <a:t>5 groups: 4, 4, 4, 3,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20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 Frame</a:t>
            </a:r>
          </a:p>
          <a:p>
            <a:pPr lvl="1"/>
            <a:r>
              <a:rPr lang="en-US" dirty="0"/>
              <a:t>A more advanced type of window function</a:t>
            </a:r>
          </a:p>
        </p:txBody>
      </p:sp>
    </p:spTree>
    <p:extLst>
      <p:ext uri="{BB962C8B-B14F-4D97-AF65-F5344CB8AC3E}">
        <p14:creationId xmlns:p14="http://schemas.microsoft.com/office/powerpoint/2010/main" val="17069415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Frame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586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Suppose that we want to compute the 3-day moving average of </a:t>
            </a:r>
            <a:r>
              <a:rPr lang="en-US" dirty="0" err="1"/>
              <a:t>Singtel’s</a:t>
            </a:r>
            <a:r>
              <a:rPr lang="en-US" dirty="0"/>
              <a:t> stock price</a:t>
            </a:r>
          </a:p>
          <a:p>
            <a:pPr lvl="1"/>
            <a:r>
              <a:rPr lang="en-US" dirty="0"/>
              <a:t>3-day moving average of day </a:t>
            </a:r>
            <a:r>
              <a:rPr lang="en-US" i="1" dirty="0">
                <a:solidFill>
                  <a:srgbClr val="0000CC"/>
                </a:solidFill>
              </a:rPr>
              <a:t>k</a:t>
            </a:r>
            <a:r>
              <a:rPr lang="en-US" dirty="0"/>
              <a:t>: The average price of day </a:t>
            </a:r>
            <a:r>
              <a:rPr lang="en-US" i="1" dirty="0">
                <a:solidFill>
                  <a:srgbClr val="0000CC"/>
                </a:solidFill>
              </a:rPr>
              <a:t>k</a:t>
            </a:r>
            <a:r>
              <a:rPr lang="en-US" dirty="0"/>
              <a:t>, day </a:t>
            </a:r>
            <a:r>
              <a:rPr lang="en-US" i="1" dirty="0">
                <a:solidFill>
                  <a:srgbClr val="0000CC"/>
                </a:solidFill>
              </a:rPr>
              <a:t>k</a:t>
            </a:r>
            <a:r>
              <a:rPr lang="en-US" dirty="0"/>
              <a:t>-1, and </a:t>
            </a:r>
            <a:r>
              <a:rPr lang="en-US" i="1" dirty="0">
                <a:solidFill>
                  <a:srgbClr val="0000CC"/>
                </a:solidFill>
              </a:rPr>
              <a:t>k</a:t>
            </a:r>
            <a:r>
              <a:rPr lang="en-US" dirty="0"/>
              <a:t>-2</a:t>
            </a:r>
          </a:p>
          <a:p>
            <a:r>
              <a:rPr lang="en-US" dirty="0"/>
              <a:t>How do we do it with SQL?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67</a:t>
            </a:fld>
            <a:endParaRPr lang="en-US" altLang="zh-CN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9122063"/>
              </p:ext>
            </p:extLst>
          </p:nvPr>
        </p:nvGraphicFramePr>
        <p:xfrm>
          <a:off x="355180" y="1412776"/>
          <a:ext cx="2952328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3528" y="980728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Stock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4356719"/>
              </p:ext>
            </p:extLst>
          </p:nvPr>
        </p:nvGraphicFramePr>
        <p:xfrm>
          <a:off x="4427984" y="1412776"/>
          <a:ext cx="4144812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</a:t>
                      </a:r>
                      <a:r>
                        <a:rPr lang="en-US" sz="2000" baseline="0" dirty="0">
                          <a:latin typeface="Calibri" panose="020F0502020204030204" pitchFamily="34" charset="0"/>
                        </a:rPr>
                        <a:t>-Day Moving AVG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355976" y="980727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Results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40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Frame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5861"/>
          </a:xfrm>
        </p:spPr>
        <p:txBody>
          <a:bodyPr>
            <a:normAutofit fontScale="62500" lnSpcReduction="20000"/>
          </a:bodyPr>
          <a:lstStyle/>
          <a:p>
            <a:r>
              <a:rPr lang="en-SG" dirty="0"/>
              <a:t>SELECT Date, Price, AVG(Price) OVER </a:t>
            </a:r>
            <a:br>
              <a:rPr lang="en-SG" dirty="0"/>
            </a:br>
            <a:r>
              <a:rPr lang="en-SG" dirty="0"/>
              <a:t>	(ORDER by Date </a:t>
            </a:r>
          </a:p>
          <a:p>
            <a:pPr marL="0" indent="0">
              <a:buNone/>
            </a:pPr>
            <a:r>
              <a:rPr lang="en-SG" dirty="0"/>
              <a:t>	  </a:t>
            </a:r>
            <a:r>
              <a:rPr lang="en-SG" dirty="0">
                <a:solidFill>
                  <a:srgbClr val="0000CC"/>
                </a:solidFill>
              </a:rPr>
              <a:t>ROWS 	BETWEEN</a:t>
            </a: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		2 </a:t>
            </a:r>
            <a:r>
              <a:rPr lang="en-SG" dirty="0">
                <a:solidFill>
                  <a:srgbClr val="A50021"/>
                </a:solidFill>
              </a:rPr>
              <a:t>PRECEDING </a:t>
            </a:r>
            <a:r>
              <a:rPr lang="en-SG" dirty="0"/>
              <a:t>	  </a:t>
            </a:r>
            <a:r>
              <a:rPr lang="en-SG" dirty="0">
                <a:solidFill>
                  <a:srgbClr val="0000CC"/>
                </a:solidFill>
              </a:rPr>
              <a:t>AND</a:t>
            </a:r>
            <a:r>
              <a:rPr lang="en-SG" dirty="0"/>
              <a:t> 	</a:t>
            </a:r>
            <a:r>
              <a:rPr lang="en-SG" dirty="0">
                <a:solidFill>
                  <a:srgbClr val="A50021"/>
                </a:solidFill>
              </a:rPr>
              <a:t>CURRENT ROW</a:t>
            </a:r>
            <a:r>
              <a:rPr lang="en-SG" dirty="0"/>
              <a:t>) </a:t>
            </a:r>
          </a:p>
          <a:p>
            <a:pPr marL="0" indent="0">
              <a:buNone/>
            </a:pPr>
            <a:r>
              <a:rPr lang="en-SG" dirty="0"/>
              <a:t>	FROM Stock	WHERE Name = `</a:t>
            </a:r>
            <a:r>
              <a:rPr lang="en-SG" dirty="0" err="1"/>
              <a:t>Singtel</a:t>
            </a:r>
            <a:r>
              <a:rPr lang="en-SG" dirty="0"/>
              <a:t>’</a:t>
            </a:r>
          </a:p>
          <a:p>
            <a:r>
              <a:rPr lang="en-SG" dirty="0"/>
              <a:t>Meaning: Compute the AVG(Price) of the </a:t>
            </a:r>
            <a:r>
              <a:rPr lang="en-SG" dirty="0">
                <a:solidFill>
                  <a:srgbClr val="A50021"/>
                </a:solidFill>
              </a:rPr>
              <a:t>current row </a:t>
            </a:r>
            <a:r>
              <a:rPr lang="en-SG" dirty="0"/>
              <a:t>and </a:t>
            </a:r>
            <a:r>
              <a:rPr lang="en-SG" dirty="0">
                <a:solidFill>
                  <a:srgbClr val="A50021"/>
                </a:solidFill>
              </a:rPr>
              <a:t>2 rows preceding it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68</a:t>
            </a:fld>
            <a:endParaRPr lang="en-US" altLang="zh-CN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6339017"/>
              </p:ext>
            </p:extLst>
          </p:nvPr>
        </p:nvGraphicFramePr>
        <p:xfrm>
          <a:off x="355180" y="1412776"/>
          <a:ext cx="2952328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3528" y="980728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Stock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2958152"/>
              </p:ext>
            </p:extLst>
          </p:nvPr>
        </p:nvGraphicFramePr>
        <p:xfrm>
          <a:off x="4427984" y="1412776"/>
          <a:ext cx="4144812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</a:t>
                      </a:r>
                      <a:r>
                        <a:rPr lang="en-US" sz="2000" baseline="0" dirty="0">
                          <a:latin typeface="Calibri" panose="020F0502020204030204" pitchFamily="34" charset="0"/>
                        </a:rPr>
                        <a:t>-Day Moving AVG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355976" y="980727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Results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88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Frame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5861"/>
          </a:xfrm>
        </p:spPr>
        <p:txBody>
          <a:bodyPr>
            <a:normAutofit fontScale="62500" lnSpcReduction="20000"/>
          </a:bodyPr>
          <a:lstStyle/>
          <a:p>
            <a:r>
              <a:rPr lang="en-SG" dirty="0"/>
              <a:t>SELECT Date, Price, AVG(Price) OVER </a:t>
            </a:r>
            <a:br>
              <a:rPr lang="en-SG" dirty="0"/>
            </a:br>
            <a:r>
              <a:rPr lang="en-SG" dirty="0"/>
              <a:t>	(ORDER by Date </a:t>
            </a:r>
          </a:p>
          <a:p>
            <a:pPr marL="0" indent="0">
              <a:buNone/>
            </a:pPr>
            <a:r>
              <a:rPr lang="en-SG" dirty="0"/>
              <a:t>	  </a:t>
            </a:r>
            <a:r>
              <a:rPr lang="en-SG" dirty="0">
                <a:solidFill>
                  <a:srgbClr val="0000CC"/>
                </a:solidFill>
              </a:rPr>
              <a:t>ROWS 	BETWEEN</a:t>
            </a: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		</a:t>
            </a:r>
            <a:r>
              <a:rPr lang="en-US" altLang="zh-CN" dirty="0"/>
              <a:t>1</a:t>
            </a:r>
            <a:r>
              <a:rPr lang="en-SG" dirty="0"/>
              <a:t> </a:t>
            </a:r>
            <a:r>
              <a:rPr lang="en-SG" dirty="0">
                <a:solidFill>
                  <a:srgbClr val="A50021"/>
                </a:solidFill>
              </a:rPr>
              <a:t>PRECEDING</a:t>
            </a:r>
            <a:r>
              <a:rPr lang="en-SG" dirty="0"/>
              <a:t> 	  </a:t>
            </a:r>
            <a:r>
              <a:rPr lang="en-SG" dirty="0">
                <a:solidFill>
                  <a:srgbClr val="0000CC"/>
                </a:solidFill>
              </a:rPr>
              <a:t>AND</a:t>
            </a:r>
            <a:r>
              <a:rPr lang="en-SG" dirty="0"/>
              <a:t> 	</a:t>
            </a:r>
            <a:r>
              <a:rPr lang="en-SG" dirty="0">
                <a:solidFill>
                  <a:srgbClr val="A50021"/>
                </a:solidFill>
              </a:rPr>
              <a:t>CURRENT ROW</a:t>
            </a:r>
            <a:r>
              <a:rPr lang="en-SG" dirty="0"/>
              <a:t>) </a:t>
            </a:r>
          </a:p>
          <a:p>
            <a:pPr marL="0" indent="0">
              <a:buNone/>
            </a:pPr>
            <a:r>
              <a:rPr lang="en-SG" dirty="0"/>
              <a:t>	FROM Stock	WHERE Name = `</a:t>
            </a:r>
            <a:r>
              <a:rPr lang="en-SG" dirty="0" err="1"/>
              <a:t>Singtel</a:t>
            </a:r>
            <a:r>
              <a:rPr lang="en-SG" dirty="0"/>
              <a:t>’</a:t>
            </a:r>
          </a:p>
          <a:p>
            <a:r>
              <a:rPr lang="en-SG" dirty="0"/>
              <a:t>Meaning: Compute the AVG(Price) of the </a:t>
            </a:r>
            <a:r>
              <a:rPr lang="en-SG" dirty="0">
                <a:solidFill>
                  <a:srgbClr val="A50021"/>
                </a:solidFill>
              </a:rPr>
              <a:t>current row</a:t>
            </a:r>
            <a:r>
              <a:rPr lang="en-SG" dirty="0"/>
              <a:t> and </a:t>
            </a:r>
            <a:r>
              <a:rPr lang="en-US" dirty="0"/>
              <a:t>the </a:t>
            </a:r>
            <a:r>
              <a:rPr lang="en-US" altLang="zh-CN" dirty="0"/>
              <a:t>1</a:t>
            </a:r>
            <a:r>
              <a:rPr lang="en-SG" dirty="0">
                <a:solidFill>
                  <a:srgbClr val="C00000"/>
                </a:solidFill>
              </a:rPr>
              <a:t> </a:t>
            </a:r>
            <a:r>
              <a:rPr lang="en-SG" dirty="0">
                <a:solidFill>
                  <a:srgbClr val="A50021"/>
                </a:solidFill>
              </a:rPr>
              <a:t>row preceding it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69</a:t>
            </a:fld>
            <a:endParaRPr lang="en-US" altLang="zh-CN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9919633"/>
              </p:ext>
            </p:extLst>
          </p:nvPr>
        </p:nvGraphicFramePr>
        <p:xfrm>
          <a:off x="355180" y="1412776"/>
          <a:ext cx="2952328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3528" y="980728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Stock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6045119"/>
              </p:ext>
            </p:extLst>
          </p:nvPr>
        </p:nvGraphicFramePr>
        <p:xfrm>
          <a:off x="4427984" y="1412776"/>
          <a:ext cx="4144812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355976" y="980727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Results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36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Frame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5861"/>
          </a:xfrm>
        </p:spPr>
        <p:txBody>
          <a:bodyPr>
            <a:normAutofit fontScale="62500" lnSpcReduction="20000"/>
          </a:bodyPr>
          <a:lstStyle/>
          <a:p>
            <a:r>
              <a:rPr lang="en-SG" dirty="0"/>
              <a:t>SELECT Date, Price, AVG(Price) OVER </a:t>
            </a:r>
            <a:br>
              <a:rPr lang="en-SG" dirty="0"/>
            </a:br>
            <a:r>
              <a:rPr lang="en-SG" dirty="0"/>
              <a:t>	(ORDER by Date </a:t>
            </a:r>
          </a:p>
          <a:p>
            <a:pPr marL="0" indent="0">
              <a:buNone/>
            </a:pPr>
            <a:r>
              <a:rPr lang="en-SG" dirty="0"/>
              <a:t>	  </a:t>
            </a:r>
            <a:r>
              <a:rPr lang="en-SG" dirty="0">
                <a:solidFill>
                  <a:srgbClr val="0000CC"/>
                </a:solidFill>
              </a:rPr>
              <a:t>ROWS 	BETWEEN</a:t>
            </a: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		</a:t>
            </a:r>
            <a:r>
              <a:rPr lang="en-US" altLang="zh-CN" dirty="0"/>
              <a:t>1</a:t>
            </a:r>
            <a:r>
              <a:rPr lang="en-SG" dirty="0"/>
              <a:t> </a:t>
            </a:r>
            <a:r>
              <a:rPr lang="en-SG" dirty="0">
                <a:solidFill>
                  <a:srgbClr val="C00000"/>
                </a:solidFill>
              </a:rPr>
              <a:t>PRECEDING</a:t>
            </a:r>
            <a:r>
              <a:rPr lang="en-SG" dirty="0"/>
              <a:t> 	  </a:t>
            </a:r>
            <a:r>
              <a:rPr lang="en-SG" dirty="0">
                <a:solidFill>
                  <a:srgbClr val="0000CC"/>
                </a:solidFill>
              </a:rPr>
              <a:t>AND</a:t>
            </a:r>
            <a:r>
              <a:rPr lang="en-SG" dirty="0"/>
              <a:t> 	</a:t>
            </a:r>
            <a:r>
              <a:rPr lang="en-SG" dirty="0">
                <a:solidFill>
                  <a:srgbClr val="C00000"/>
                </a:solidFill>
              </a:rPr>
              <a:t>CURRENT ROW</a:t>
            </a:r>
            <a:r>
              <a:rPr lang="en-SG" dirty="0"/>
              <a:t>) </a:t>
            </a:r>
          </a:p>
          <a:p>
            <a:pPr marL="0" indent="0">
              <a:buNone/>
            </a:pPr>
            <a:r>
              <a:rPr lang="en-SG" dirty="0"/>
              <a:t>	FROM Stock	WHERE Name = `</a:t>
            </a:r>
            <a:r>
              <a:rPr lang="en-SG" dirty="0" err="1"/>
              <a:t>Singtel</a:t>
            </a:r>
            <a:r>
              <a:rPr lang="en-SG" dirty="0"/>
              <a:t>’</a:t>
            </a:r>
          </a:p>
          <a:p>
            <a:r>
              <a:rPr lang="en-SG" dirty="0"/>
              <a:t>Meaning: Compute the AVG(Price) of the </a:t>
            </a:r>
            <a:r>
              <a:rPr lang="en-SG" dirty="0">
                <a:solidFill>
                  <a:srgbClr val="C00000"/>
                </a:solidFill>
              </a:rPr>
              <a:t>current row</a:t>
            </a:r>
            <a:r>
              <a:rPr lang="en-SG" dirty="0"/>
              <a:t> and the 1 </a:t>
            </a:r>
            <a:r>
              <a:rPr lang="en-SG" dirty="0">
                <a:solidFill>
                  <a:srgbClr val="C00000"/>
                </a:solidFill>
              </a:rPr>
              <a:t>row preceding it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70</a:t>
            </a:fld>
            <a:endParaRPr lang="en-US" altLang="zh-CN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3432820"/>
              </p:ext>
            </p:extLst>
          </p:nvPr>
        </p:nvGraphicFramePr>
        <p:xfrm>
          <a:off x="355180" y="1412776"/>
          <a:ext cx="2952328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3528" y="980728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Stock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392218"/>
              </p:ext>
            </p:extLst>
          </p:nvPr>
        </p:nvGraphicFramePr>
        <p:xfrm>
          <a:off x="4427984" y="1412776"/>
          <a:ext cx="4144812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51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53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55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355976" y="980727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Results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8718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Frame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5861"/>
          </a:xfrm>
        </p:spPr>
        <p:txBody>
          <a:bodyPr>
            <a:normAutofit fontScale="62500" lnSpcReduction="20000"/>
          </a:bodyPr>
          <a:lstStyle/>
          <a:p>
            <a:r>
              <a:rPr lang="en-SG" dirty="0"/>
              <a:t>SELECT Date, Price, AVG(Price) OVER </a:t>
            </a:r>
            <a:br>
              <a:rPr lang="en-SG" dirty="0"/>
            </a:br>
            <a:r>
              <a:rPr lang="en-SG" dirty="0"/>
              <a:t>	(ORDER by Date </a:t>
            </a:r>
          </a:p>
          <a:p>
            <a:pPr marL="0" indent="0">
              <a:buNone/>
            </a:pPr>
            <a:r>
              <a:rPr lang="en-SG" dirty="0"/>
              <a:t>	  </a:t>
            </a:r>
            <a:r>
              <a:rPr lang="en-SG" dirty="0">
                <a:solidFill>
                  <a:srgbClr val="0000CC"/>
                </a:solidFill>
              </a:rPr>
              <a:t>ROWS 	BETWEEN</a:t>
            </a: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		</a:t>
            </a:r>
            <a:r>
              <a:rPr lang="en-SG" dirty="0">
                <a:solidFill>
                  <a:srgbClr val="C00000"/>
                </a:solidFill>
              </a:rPr>
              <a:t>CURRENT ROW</a:t>
            </a:r>
            <a:r>
              <a:rPr lang="en-SG" dirty="0"/>
              <a:t> 	  </a:t>
            </a:r>
            <a:r>
              <a:rPr lang="en-SG" dirty="0">
                <a:solidFill>
                  <a:srgbClr val="0000CC"/>
                </a:solidFill>
              </a:rPr>
              <a:t>AND</a:t>
            </a:r>
            <a:r>
              <a:rPr lang="en-SG" dirty="0"/>
              <a:t> 	</a:t>
            </a:r>
            <a:r>
              <a:rPr lang="en-US" altLang="zh-CN" dirty="0"/>
              <a:t> 1</a:t>
            </a:r>
            <a:r>
              <a:rPr lang="en-SG" dirty="0"/>
              <a:t> </a:t>
            </a:r>
            <a:r>
              <a:rPr lang="en-SG" dirty="0">
                <a:solidFill>
                  <a:srgbClr val="C00000"/>
                </a:solidFill>
              </a:rPr>
              <a:t>FOLLOWING</a:t>
            </a:r>
            <a:r>
              <a:rPr lang="en-SG" dirty="0"/>
              <a:t>) </a:t>
            </a:r>
          </a:p>
          <a:p>
            <a:pPr marL="0" indent="0">
              <a:buNone/>
            </a:pPr>
            <a:r>
              <a:rPr lang="en-SG" dirty="0"/>
              <a:t>	FROM Stock	WHERE Name = `</a:t>
            </a:r>
            <a:r>
              <a:rPr lang="en-SG" dirty="0" err="1"/>
              <a:t>Singtel</a:t>
            </a:r>
            <a:r>
              <a:rPr lang="en-SG" dirty="0"/>
              <a:t>’</a:t>
            </a:r>
          </a:p>
          <a:p>
            <a:r>
              <a:rPr lang="en-SG" dirty="0"/>
              <a:t>Meaning: Compute the AVG(Price) of the </a:t>
            </a:r>
            <a:r>
              <a:rPr lang="en-SG" dirty="0">
                <a:solidFill>
                  <a:srgbClr val="C00000"/>
                </a:solidFill>
              </a:rPr>
              <a:t>current row </a:t>
            </a:r>
            <a:r>
              <a:rPr lang="en-SG" dirty="0"/>
              <a:t>and the 1 </a:t>
            </a:r>
            <a:r>
              <a:rPr lang="en-SG" dirty="0">
                <a:solidFill>
                  <a:srgbClr val="C00000"/>
                </a:solidFill>
              </a:rPr>
              <a:t>row following it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71</a:t>
            </a:fld>
            <a:endParaRPr lang="en-US" altLang="zh-CN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5392372"/>
              </p:ext>
            </p:extLst>
          </p:nvPr>
        </p:nvGraphicFramePr>
        <p:xfrm>
          <a:off x="355180" y="1412776"/>
          <a:ext cx="2952328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3528" y="980728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Stock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9315988"/>
              </p:ext>
            </p:extLst>
          </p:nvPr>
        </p:nvGraphicFramePr>
        <p:xfrm>
          <a:off x="4427984" y="1412776"/>
          <a:ext cx="4144812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355976" y="980727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Results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03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Frame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5861"/>
          </a:xfrm>
        </p:spPr>
        <p:txBody>
          <a:bodyPr>
            <a:normAutofit fontScale="62500" lnSpcReduction="20000"/>
          </a:bodyPr>
          <a:lstStyle/>
          <a:p>
            <a:r>
              <a:rPr lang="en-SG" dirty="0"/>
              <a:t>SELECT Date, Price, AVG(Price) OVER </a:t>
            </a:r>
            <a:br>
              <a:rPr lang="en-SG" dirty="0"/>
            </a:br>
            <a:r>
              <a:rPr lang="en-SG" dirty="0"/>
              <a:t>	(ORDER by Date </a:t>
            </a:r>
          </a:p>
          <a:p>
            <a:pPr marL="0" indent="0">
              <a:buNone/>
            </a:pPr>
            <a:r>
              <a:rPr lang="en-SG" dirty="0"/>
              <a:t>	  </a:t>
            </a:r>
            <a:r>
              <a:rPr lang="en-SG" dirty="0">
                <a:solidFill>
                  <a:srgbClr val="0000CC"/>
                </a:solidFill>
              </a:rPr>
              <a:t>ROWS 	BETWEEN</a:t>
            </a: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		</a:t>
            </a:r>
            <a:r>
              <a:rPr lang="en-SG" dirty="0">
                <a:solidFill>
                  <a:srgbClr val="C00000"/>
                </a:solidFill>
              </a:rPr>
              <a:t>CURRENT ROW</a:t>
            </a:r>
            <a:r>
              <a:rPr lang="en-SG" dirty="0"/>
              <a:t> 	  </a:t>
            </a:r>
            <a:r>
              <a:rPr lang="en-SG" dirty="0">
                <a:solidFill>
                  <a:srgbClr val="0000CC"/>
                </a:solidFill>
              </a:rPr>
              <a:t>AND</a:t>
            </a:r>
            <a:r>
              <a:rPr lang="en-SG" dirty="0"/>
              <a:t> 	</a:t>
            </a:r>
            <a:r>
              <a:rPr lang="en-US" altLang="zh-CN" dirty="0"/>
              <a:t> 1</a:t>
            </a:r>
            <a:r>
              <a:rPr lang="en-SG" dirty="0"/>
              <a:t> </a:t>
            </a:r>
            <a:r>
              <a:rPr lang="en-SG" dirty="0">
                <a:solidFill>
                  <a:srgbClr val="C00000"/>
                </a:solidFill>
              </a:rPr>
              <a:t>FOLLOWING</a:t>
            </a:r>
            <a:r>
              <a:rPr lang="en-SG" dirty="0"/>
              <a:t>) </a:t>
            </a:r>
          </a:p>
          <a:p>
            <a:pPr marL="0" indent="0">
              <a:buNone/>
            </a:pPr>
            <a:r>
              <a:rPr lang="en-SG" dirty="0"/>
              <a:t>	FROM Stock	WHERE Name = `</a:t>
            </a:r>
            <a:r>
              <a:rPr lang="en-SG" dirty="0" err="1"/>
              <a:t>Singtel</a:t>
            </a:r>
            <a:r>
              <a:rPr lang="en-SG" dirty="0"/>
              <a:t>’</a:t>
            </a:r>
          </a:p>
          <a:p>
            <a:r>
              <a:rPr lang="en-SG" dirty="0"/>
              <a:t>Meaning: Compute the AVG(Price) of the </a:t>
            </a:r>
            <a:r>
              <a:rPr lang="en-SG" dirty="0">
                <a:solidFill>
                  <a:srgbClr val="C00000"/>
                </a:solidFill>
              </a:rPr>
              <a:t>current row </a:t>
            </a:r>
            <a:r>
              <a:rPr lang="en-SG" dirty="0"/>
              <a:t>and the 1 </a:t>
            </a:r>
            <a:r>
              <a:rPr lang="en-SG" dirty="0">
                <a:solidFill>
                  <a:srgbClr val="C00000"/>
                </a:solidFill>
              </a:rPr>
              <a:t>row following it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72</a:t>
            </a:fld>
            <a:endParaRPr lang="en-US" altLang="zh-CN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9011798"/>
              </p:ext>
            </p:extLst>
          </p:nvPr>
        </p:nvGraphicFramePr>
        <p:xfrm>
          <a:off x="355180" y="1412776"/>
          <a:ext cx="2952328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3528" y="980728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Stock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8251328"/>
              </p:ext>
            </p:extLst>
          </p:nvPr>
        </p:nvGraphicFramePr>
        <p:xfrm>
          <a:off x="4427984" y="1412776"/>
          <a:ext cx="4144812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355976" y="980727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Results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364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Frame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5861"/>
          </a:xfrm>
        </p:spPr>
        <p:txBody>
          <a:bodyPr>
            <a:normAutofit fontScale="62500" lnSpcReduction="20000"/>
          </a:bodyPr>
          <a:lstStyle/>
          <a:p>
            <a:r>
              <a:rPr lang="en-SG" dirty="0"/>
              <a:t>SELECT Date, Price, AVG(Price) OVER </a:t>
            </a:r>
            <a:br>
              <a:rPr lang="en-SG" dirty="0"/>
            </a:br>
            <a:r>
              <a:rPr lang="en-SG" dirty="0"/>
              <a:t>	(ORDER by Date </a:t>
            </a:r>
          </a:p>
          <a:p>
            <a:pPr marL="0" indent="0">
              <a:buNone/>
            </a:pPr>
            <a:r>
              <a:rPr lang="en-SG" dirty="0"/>
              <a:t>	  </a:t>
            </a:r>
            <a:r>
              <a:rPr lang="en-SG" dirty="0">
                <a:solidFill>
                  <a:srgbClr val="0000CC"/>
                </a:solidFill>
              </a:rPr>
              <a:t>ROWS 	BETWEEN</a:t>
            </a: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		</a:t>
            </a:r>
            <a:r>
              <a:rPr lang="en-US" altLang="zh-CN" dirty="0"/>
              <a:t>1</a:t>
            </a:r>
            <a:r>
              <a:rPr lang="en-SG" dirty="0"/>
              <a:t> </a:t>
            </a:r>
            <a:r>
              <a:rPr lang="en-SG" dirty="0">
                <a:solidFill>
                  <a:srgbClr val="C00000"/>
                </a:solidFill>
              </a:rPr>
              <a:t>PRECEDING</a:t>
            </a:r>
            <a:r>
              <a:rPr lang="en-SG" dirty="0"/>
              <a:t> 	  </a:t>
            </a:r>
            <a:r>
              <a:rPr lang="en-SG" dirty="0">
                <a:solidFill>
                  <a:srgbClr val="0000CC"/>
                </a:solidFill>
              </a:rPr>
              <a:t>AND</a:t>
            </a:r>
            <a:r>
              <a:rPr lang="en-SG" dirty="0"/>
              <a:t> 	</a:t>
            </a:r>
            <a:r>
              <a:rPr lang="en-US" altLang="zh-CN" dirty="0"/>
              <a:t> 1</a:t>
            </a:r>
            <a:r>
              <a:rPr lang="en-SG" dirty="0"/>
              <a:t> </a:t>
            </a:r>
            <a:r>
              <a:rPr lang="en-SG" dirty="0">
                <a:solidFill>
                  <a:srgbClr val="C00000"/>
                </a:solidFill>
              </a:rPr>
              <a:t>FOLLOWING</a:t>
            </a:r>
            <a:r>
              <a:rPr lang="en-SG" dirty="0"/>
              <a:t>) </a:t>
            </a:r>
          </a:p>
          <a:p>
            <a:pPr marL="0" indent="0">
              <a:buNone/>
            </a:pPr>
            <a:r>
              <a:rPr lang="en-SG" dirty="0"/>
              <a:t>	FROM Stock	WHERE Name = `</a:t>
            </a:r>
            <a:r>
              <a:rPr lang="en-SG" dirty="0" err="1"/>
              <a:t>Singtel</a:t>
            </a:r>
            <a:r>
              <a:rPr lang="en-SG" dirty="0"/>
              <a:t>’</a:t>
            </a:r>
          </a:p>
          <a:p>
            <a:r>
              <a:rPr lang="en-SG" dirty="0"/>
              <a:t>Meaning: Compute the AVG(Price) of the </a:t>
            </a:r>
            <a:r>
              <a:rPr lang="en-SG" dirty="0">
                <a:solidFill>
                  <a:srgbClr val="C00000"/>
                </a:solidFill>
              </a:rPr>
              <a:t>current row</a:t>
            </a:r>
            <a:r>
              <a:rPr lang="en-SG" dirty="0"/>
              <a:t>, the 1 </a:t>
            </a:r>
            <a:r>
              <a:rPr lang="en-SG" dirty="0">
                <a:solidFill>
                  <a:srgbClr val="C00000"/>
                </a:solidFill>
              </a:rPr>
              <a:t>row preceding it</a:t>
            </a:r>
            <a:r>
              <a:rPr lang="en-SG" dirty="0"/>
              <a:t>, and the 1 </a:t>
            </a:r>
            <a:r>
              <a:rPr lang="en-SG" dirty="0">
                <a:solidFill>
                  <a:srgbClr val="C00000"/>
                </a:solidFill>
              </a:rPr>
              <a:t>row following it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73</a:t>
            </a:fld>
            <a:endParaRPr lang="en-US" altLang="zh-CN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2810531"/>
              </p:ext>
            </p:extLst>
          </p:nvPr>
        </p:nvGraphicFramePr>
        <p:xfrm>
          <a:off x="355180" y="1412776"/>
          <a:ext cx="2952328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3528" y="980728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Stock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7040738"/>
              </p:ext>
            </p:extLst>
          </p:nvPr>
        </p:nvGraphicFramePr>
        <p:xfrm>
          <a:off x="4427984" y="1412776"/>
          <a:ext cx="4144812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355976" y="980727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Results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78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Frame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5861"/>
          </a:xfrm>
        </p:spPr>
        <p:txBody>
          <a:bodyPr>
            <a:normAutofit fontScale="62500" lnSpcReduction="20000"/>
          </a:bodyPr>
          <a:lstStyle/>
          <a:p>
            <a:r>
              <a:rPr lang="en-SG" dirty="0"/>
              <a:t>SELECT Date, Price, AVG(Price) OVER </a:t>
            </a:r>
            <a:br>
              <a:rPr lang="en-SG" dirty="0"/>
            </a:br>
            <a:r>
              <a:rPr lang="en-SG" dirty="0"/>
              <a:t>	(ORDER by Date </a:t>
            </a:r>
          </a:p>
          <a:p>
            <a:pPr marL="0" indent="0">
              <a:buNone/>
            </a:pPr>
            <a:r>
              <a:rPr lang="en-SG" dirty="0"/>
              <a:t>	  </a:t>
            </a:r>
            <a:r>
              <a:rPr lang="en-SG" dirty="0">
                <a:solidFill>
                  <a:srgbClr val="0000CC"/>
                </a:solidFill>
              </a:rPr>
              <a:t>ROWS 	BETWEEN</a:t>
            </a: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		</a:t>
            </a:r>
            <a:r>
              <a:rPr lang="en-US" altLang="zh-CN" dirty="0"/>
              <a:t>1</a:t>
            </a:r>
            <a:r>
              <a:rPr lang="en-SG" dirty="0"/>
              <a:t> </a:t>
            </a:r>
            <a:r>
              <a:rPr lang="en-SG" dirty="0">
                <a:solidFill>
                  <a:srgbClr val="C00000"/>
                </a:solidFill>
              </a:rPr>
              <a:t>PRECEDING</a:t>
            </a:r>
            <a:r>
              <a:rPr lang="en-SG" dirty="0"/>
              <a:t> 	  </a:t>
            </a:r>
            <a:r>
              <a:rPr lang="en-SG" dirty="0">
                <a:solidFill>
                  <a:srgbClr val="0000CC"/>
                </a:solidFill>
              </a:rPr>
              <a:t>AND</a:t>
            </a:r>
            <a:r>
              <a:rPr lang="en-SG" dirty="0"/>
              <a:t> 	</a:t>
            </a:r>
            <a:r>
              <a:rPr lang="en-US" altLang="zh-CN" dirty="0"/>
              <a:t> 1</a:t>
            </a:r>
            <a:r>
              <a:rPr lang="en-SG" dirty="0"/>
              <a:t> </a:t>
            </a:r>
            <a:r>
              <a:rPr lang="en-SG" dirty="0">
                <a:solidFill>
                  <a:srgbClr val="C00000"/>
                </a:solidFill>
              </a:rPr>
              <a:t>FOLLOWING</a:t>
            </a:r>
            <a:r>
              <a:rPr lang="en-SG" dirty="0"/>
              <a:t>) </a:t>
            </a:r>
          </a:p>
          <a:p>
            <a:pPr marL="0" indent="0">
              <a:buNone/>
            </a:pPr>
            <a:r>
              <a:rPr lang="en-SG" dirty="0"/>
              <a:t>	FROM Stock	WHERE Name = `</a:t>
            </a:r>
            <a:r>
              <a:rPr lang="en-SG" dirty="0" err="1"/>
              <a:t>Singtel</a:t>
            </a:r>
            <a:r>
              <a:rPr lang="en-SG" dirty="0"/>
              <a:t>’</a:t>
            </a:r>
          </a:p>
          <a:p>
            <a:r>
              <a:rPr lang="en-SG" dirty="0"/>
              <a:t>Meaning: Compute the AVG(Price) of the </a:t>
            </a:r>
            <a:r>
              <a:rPr lang="en-SG" dirty="0">
                <a:solidFill>
                  <a:srgbClr val="C00000"/>
                </a:solidFill>
              </a:rPr>
              <a:t>current row</a:t>
            </a:r>
            <a:r>
              <a:rPr lang="en-SG" dirty="0"/>
              <a:t>, the 1 </a:t>
            </a:r>
            <a:r>
              <a:rPr lang="en-SG" dirty="0">
                <a:solidFill>
                  <a:srgbClr val="C00000"/>
                </a:solidFill>
              </a:rPr>
              <a:t>row preceding it</a:t>
            </a:r>
            <a:r>
              <a:rPr lang="en-SG" dirty="0"/>
              <a:t>, and the 1 </a:t>
            </a:r>
            <a:r>
              <a:rPr lang="en-SG" dirty="0">
                <a:solidFill>
                  <a:srgbClr val="C00000"/>
                </a:solidFill>
              </a:rPr>
              <a:t>row following it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74</a:t>
            </a:fld>
            <a:endParaRPr lang="en-US" altLang="zh-CN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309757"/>
              </p:ext>
            </p:extLst>
          </p:nvPr>
        </p:nvGraphicFramePr>
        <p:xfrm>
          <a:off x="355180" y="1412776"/>
          <a:ext cx="2952328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3528" y="980728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Stock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0516320"/>
              </p:ext>
            </p:extLst>
          </p:nvPr>
        </p:nvGraphicFramePr>
        <p:xfrm>
          <a:off x="4427984" y="1412776"/>
          <a:ext cx="4144812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355976" y="980727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Results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50567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Frame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5861"/>
          </a:xfrm>
        </p:spPr>
        <p:txBody>
          <a:bodyPr>
            <a:normAutofit fontScale="62500" lnSpcReduction="20000"/>
          </a:bodyPr>
          <a:lstStyle/>
          <a:p>
            <a:r>
              <a:rPr lang="en-SG" dirty="0"/>
              <a:t>SELECT Date, Price, AVG(Price) OVER </a:t>
            </a:r>
            <a:br>
              <a:rPr lang="en-SG" dirty="0"/>
            </a:br>
            <a:r>
              <a:rPr lang="en-SG" dirty="0"/>
              <a:t>	(ORDER by Date </a:t>
            </a:r>
          </a:p>
          <a:p>
            <a:pPr marL="0" indent="0">
              <a:buNone/>
            </a:pPr>
            <a:r>
              <a:rPr lang="en-SG" dirty="0"/>
              <a:t>	  </a:t>
            </a:r>
            <a:r>
              <a:rPr lang="en-SG" dirty="0">
                <a:solidFill>
                  <a:srgbClr val="0000CC"/>
                </a:solidFill>
              </a:rPr>
              <a:t>ROWS 	BETWEEN</a:t>
            </a: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		2 </a:t>
            </a:r>
            <a:r>
              <a:rPr lang="en-SG" dirty="0">
                <a:solidFill>
                  <a:srgbClr val="C00000"/>
                </a:solidFill>
              </a:rPr>
              <a:t>PRECEDING</a:t>
            </a:r>
            <a:r>
              <a:rPr lang="en-SG" dirty="0"/>
              <a:t> 	  </a:t>
            </a:r>
            <a:r>
              <a:rPr lang="en-SG" dirty="0">
                <a:solidFill>
                  <a:srgbClr val="0000CC"/>
                </a:solidFill>
              </a:rPr>
              <a:t>AND</a:t>
            </a:r>
            <a:r>
              <a:rPr lang="en-SG" dirty="0"/>
              <a:t> 	</a:t>
            </a:r>
            <a:r>
              <a:rPr lang="en-SG" dirty="0">
                <a:solidFill>
                  <a:srgbClr val="C00000"/>
                </a:solidFill>
              </a:rPr>
              <a:t>CURRENT ROW</a:t>
            </a:r>
            <a:r>
              <a:rPr lang="en-SG" dirty="0"/>
              <a:t>) </a:t>
            </a:r>
          </a:p>
          <a:p>
            <a:pPr marL="0" indent="0">
              <a:buNone/>
            </a:pPr>
            <a:r>
              <a:rPr lang="en-SG" dirty="0"/>
              <a:t>	FROM Stock	WHERE Name = `</a:t>
            </a:r>
            <a:r>
              <a:rPr lang="en-SG" dirty="0" err="1"/>
              <a:t>Singtel</a:t>
            </a:r>
            <a:r>
              <a:rPr lang="en-SG" dirty="0"/>
              <a:t>’</a:t>
            </a:r>
          </a:p>
          <a:p>
            <a:r>
              <a:rPr lang="en-SG" dirty="0"/>
              <a:t>Meaning: Compute the AVG(Price) of the </a:t>
            </a:r>
            <a:r>
              <a:rPr lang="en-SG" dirty="0">
                <a:solidFill>
                  <a:srgbClr val="C00000"/>
                </a:solidFill>
              </a:rPr>
              <a:t>current row</a:t>
            </a:r>
            <a:r>
              <a:rPr lang="en-SG" dirty="0"/>
              <a:t> and </a:t>
            </a:r>
            <a:r>
              <a:rPr lang="en-SG" dirty="0">
                <a:solidFill>
                  <a:srgbClr val="C00000"/>
                </a:solidFill>
              </a:rPr>
              <a:t>2 rows preceding it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75</a:t>
            </a:fld>
            <a:endParaRPr lang="en-US" altLang="zh-CN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6928249"/>
              </p:ext>
            </p:extLst>
          </p:nvPr>
        </p:nvGraphicFramePr>
        <p:xfrm>
          <a:off x="355180" y="1412776"/>
          <a:ext cx="2952328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3528" y="980728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Stock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5052851"/>
              </p:ext>
            </p:extLst>
          </p:nvPr>
        </p:nvGraphicFramePr>
        <p:xfrm>
          <a:off x="4427984" y="1412776"/>
          <a:ext cx="4144812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355976" y="980727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Results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3388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Frame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5861"/>
          </a:xfrm>
        </p:spPr>
        <p:txBody>
          <a:bodyPr>
            <a:normAutofit fontScale="62500" lnSpcReduction="20000"/>
          </a:bodyPr>
          <a:lstStyle/>
          <a:p>
            <a:r>
              <a:rPr lang="en-SG" dirty="0"/>
              <a:t>SELECT Date, Price, AVG(Price) OVER </a:t>
            </a:r>
            <a:br>
              <a:rPr lang="en-SG" dirty="0"/>
            </a:br>
            <a:r>
              <a:rPr lang="en-SG" dirty="0"/>
              <a:t>	(ORDER by Date </a:t>
            </a:r>
          </a:p>
          <a:p>
            <a:pPr marL="0" indent="0">
              <a:buNone/>
            </a:pPr>
            <a:r>
              <a:rPr lang="en-SG" dirty="0"/>
              <a:t>	  </a:t>
            </a:r>
            <a:r>
              <a:rPr lang="en-SG" dirty="0">
                <a:solidFill>
                  <a:srgbClr val="0000CC"/>
                </a:solidFill>
              </a:rPr>
              <a:t>ROWS 	BETWEEN</a:t>
            </a: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		</a:t>
            </a:r>
            <a:r>
              <a:rPr lang="en-SG" dirty="0">
                <a:solidFill>
                  <a:srgbClr val="A50021"/>
                </a:solidFill>
              </a:rPr>
              <a:t>UNBOUNDED</a:t>
            </a:r>
            <a:r>
              <a:rPr lang="en-SG" dirty="0"/>
              <a:t> PRECEDING 	  </a:t>
            </a:r>
            <a:r>
              <a:rPr lang="en-SG" dirty="0">
                <a:solidFill>
                  <a:srgbClr val="0000CC"/>
                </a:solidFill>
              </a:rPr>
              <a:t>AND</a:t>
            </a:r>
            <a:r>
              <a:rPr lang="en-SG" dirty="0"/>
              <a:t> 	CURRENT ROW) </a:t>
            </a:r>
          </a:p>
          <a:p>
            <a:pPr marL="0" indent="0">
              <a:buNone/>
            </a:pPr>
            <a:r>
              <a:rPr lang="en-SG" dirty="0"/>
              <a:t>	FROM Stock	WHERE Name = `</a:t>
            </a:r>
            <a:r>
              <a:rPr lang="en-SG" dirty="0" err="1"/>
              <a:t>Singtel</a:t>
            </a:r>
            <a:r>
              <a:rPr lang="en-SG" dirty="0"/>
              <a:t>’</a:t>
            </a:r>
          </a:p>
          <a:p>
            <a:r>
              <a:rPr lang="en-SG" dirty="0"/>
              <a:t>Meaning: Compute the AVG(Price) of the current row and </a:t>
            </a:r>
            <a:r>
              <a:rPr lang="en-SG" dirty="0">
                <a:solidFill>
                  <a:srgbClr val="A50021"/>
                </a:solidFill>
              </a:rPr>
              <a:t>all rows preceding it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76</a:t>
            </a:fld>
            <a:endParaRPr lang="en-US" altLang="zh-CN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3844241"/>
              </p:ext>
            </p:extLst>
          </p:nvPr>
        </p:nvGraphicFramePr>
        <p:xfrm>
          <a:off x="355180" y="1412776"/>
          <a:ext cx="2952328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3528" y="980728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Stock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5872937"/>
              </p:ext>
            </p:extLst>
          </p:nvPr>
        </p:nvGraphicFramePr>
        <p:xfrm>
          <a:off x="4427984" y="1412776"/>
          <a:ext cx="4144812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355976" y="980727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Results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14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Frame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5861"/>
          </a:xfrm>
        </p:spPr>
        <p:txBody>
          <a:bodyPr>
            <a:normAutofit fontScale="62500" lnSpcReduction="20000"/>
          </a:bodyPr>
          <a:lstStyle/>
          <a:p>
            <a:r>
              <a:rPr lang="en-SG" dirty="0"/>
              <a:t>SELECT Date, Price, AVG(Price) OVER </a:t>
            </a:r>
            <a:br>
              <a:rPr lang="en-SG" dirty="0"/>
            </a:br>
            <a:r>
              <a:rPr lang="en-SG" dirty="0"/>
              <a:t>	(ORDER by Date </a:t>
            </a:r>
          </a:p>
          <a:p>
            <a:pPr marL="0" indent="0">
              <a:buNone/>
            </a:pPr>
            <a:r>
              <a:rPr lang="en-SG" dirty="0"/>
              <a:t>	  </a:t>
            </a:r>
            <a:r>
              <a:rPr lang="en-SG" dirty="0">
                <a:solidFill>
                  <a:srgbClr val="0000CC"/>
                </a:solidFill>
              </a:rPr>
              <a:t>ROWS 	BETWEEN</a:t>
            </a: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		</a:t>
            </a:r>
            <a:r>
              <a:rPr lang="en-SG" dirty="0">
                <a:solidFill>
                  <a:srgbClr val="A50021"/>
                </a:solidFill>
              </a:rPr>
              <a:t>UNBOUNDED</a:t>
            </a:r>
            <a:r>
              <a:rPr lang="en-SG" dirty="0"/>
              <a:t> PRECEDING 	  </a:t>
            </a:r>
            <a:r>
              <a:rPr lang="en-SG" dirty="0">
                <a:solidFill>
                  <a:srgbClr val="0000CC"/>
                </a:solidFill>
              </a:rPr>
              <a:t>AND</a:t>
            </a:r>
            <a:r>
              <a:rPr lang="en-SG" dirty="0"/>
              <a:t> 	CURRENT ROW) </a:t>
            </a:r>
          </a:p>
          <a:p>
            <a:pPr marL="0" indent="0">
              <a:buNone/>
            </a:pPr>
            <a:r>
              <a:rPr lang="en-SG" dirty="0"/>
              <a:t>	FROM Stock	WHERE Name = `</a:t>
            </a:r>
            <a:r>
              <a:rPr lang="en-SG" dirty="0" err="1"/>
              <a:t>Singtel</a:t>
            </a:r>
            <a:r>
              <a:rPr lang="en-SG" dirty="0"/>
              <a:t>’</a:t>
            </a:r>
          </a:p>
          <a:p>
            <a:r>
              <a:rPr lang="en-SG" dirty="0"/>
              <a:t>Meaning: Compute the AVG(Price) of the current row and </a:t>
            </a:r>
            <a:r>
              <a:rPr lang="en-SG" dirty="0">
                <a:solidFill>
                  <a:srgbClr val="A50021"/>
                </a:solidFill>
              </a:rPr>
              <a:t>all rows preceding it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77</a:t>
            </a:fld>
            <a:endParaRPr lang="en-US" altLang="zh-CN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964545"/>
              </p:ext>
            </p:extLst>
          </p:nvPr>
        </p:nvGraphicFramePr>
        <p:xfrm>
          <a:off x="355180" y="1412776"/>
          <a:ext cx="2952328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3528" y="980728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Stock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4567147"/>
              </p:ext>
            </p:extLst>
          </p:nvPr>
        </p:nvGraphicFramePr>
        <p:xfrm>
          <a:off x="4427984" y="1412776"/>
          <a:ext cx="4144812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52.8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355976" y="980727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Results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7433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Frame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5861"/>
          </a:xfrm>
        </p:spPr>
        <p:txBody>
          <a:bodyPr>
            <a:normAutofit fontScale="62500" lnSpcReduction="20000"/>
          </a:bodyPr>
          <a:lstStyle/>
          <a:p>
            <a:r>
              <a:rPr lang="en-SG" dirty="0"/>
              <a:t>SELECT Date, Price, AVG(Price) OVER </a:t>
            </a:r>
            <a:br>
              <a:rPr lang="en-SG" dirty="0"/>
            </a:br>
            <a:r>
              <a:rPr lang="en-SG" dirty="0"/>
              <a:t>	(ORDER by Date </a:t>
            </a:r>
          </a:p>
          <a:p>
            <a:pPr marL="0" indent="0">
              <a:buNone/>
            </a:pPr>
            <a:r>
              <a:rPr lang="en-SG" dirty="0"/>
              <a:t>	  </a:t>
            </a:r>
            <a:r>
              <a:rPr lang="en-SG" dirty="0">
                <a:solidFill>
                  <a:srgbClr val="0000CC"/>
                </a:solidFill>
              </a:rPr>
              <a:t>ROWS 	BETWEEN</a:t>
            </a: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		CURRENT ROW 	  </a:t>
            </a:r>
            <a:r>
              <a:rPr lang="en-SG" dirty="0">
                <a:solidFill>
                  <a:srgbClr val="0000CC"/>
                </a:solidFill>
              </a:rPr>
              <a:t>AND</a:t>
            </a:r>
            <a:r>
              <a:rPr lang="en-SG" dirty="0"/>
              <a:t> 	</a:t>
            </a:r>
            <a:r>
              <a:rPr lang="en-SG" dirty="0">
                <a:solidFill>
                  <a:srgbClr val="A50021"/>
                </a:solidFill>
              </a:rPr>
              <a:t> UNBOUNDED</a:t>
            </a:r>
            <a:r>
              <a:rPr lang="en-SG" dirty="0"/>
              <a:t> FOLLOWING) </a:t>
            </a:r>
          </a:p>
          <a:p>
            <a:pPr marL="0" indent="0">
              <a:buNone/>
            </a:pPr>
            <a:r>
              <a:rPr lang="en-SG" dirty="0"/>
              <a:t>	FROM Stock	WHERE Name = `</a:t>
            </a:r>
            <a:r>
              <a:rPr lang="en-SG" dirty="0" err="1"/>
              <a:t>Singtel</a:t>
            </a:r>
            <a:r>
              <a:rPr lang="en-SG" dirty="0"/>
              <a:t>’</a:t>
            </a:r>
          </a:p>
          <a:p>
            <a:r>
              <a:rPr lang="en-SG" dirty="0"/>
              <a:t>Meaning: Compute the AVG(Price) of the current row and </a:t>
            </a:r>
            <a:r>
              <a:rPr lang="en-SG" dirty="0">
                <a:solidFill>
                  <a:srgbClr val="A50021"/>
                </a:solidFill>
              </a:rPr>
              <a:t>all rows following it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78</a:t>
            </a:fld>
            <a:endParaRPr lang="en-US" altLang="zh-CN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6926456"/>
              </p:ext>
            </p:extLst>
          </p:nvPr>
        </p:nvGraphicFramePr>
        <p:xfrm>
          <a:off x="355180" y="1412776"/>
          <a:ext cx="2952328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Name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</a:rPr>
                        <a:t>Singtel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3528" y="980728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Stock</a:t>
            </a:r>
            <a:endParaRPr lang="en-SG" sz="24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3197408"/>
              </p:ext>
            </p:extLst>
          </p:nvPr>
        </p:nvGraphicFramePr>
        <p:xfrm>
          <a:off x="4427984" y="1412776"/>
          <a:ext cx="4144812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2014-01-06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</a:rPr>
                        <a:t>2014-01-07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48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355976" y="980727"/>
            <a:ext cx="1255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Results</a:t>
            </a:r>
            <a:endParaRPr lang="en-SG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36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CC981-DD69-4162-8002-6CACA78A4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Coming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AB80F-9697-4080-B911-6CDB286B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Window frame with nested aggregations</a:t>
            </a:r>
          </a:p>
        </p:txBody>
      </p:sp>
    </p:spTree>
    <p:extLst>
      <p:ext uri="{BB962C8B-B14F-4D97-AF65-F5344CB8AC3E}">
        <p14:creationId xmlns:p14="http://schemas.microsoft.com/office/powerpoint/2010/main" val="218133093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Content Placeholder 3"/>
          <p:cNvGraphicFramePr>
            <a:graphicFrameLocks/>
          </p:cNvGraphicFramePr>
          <p:nvPr/>
        </p:nvGraphicFramePr>
        <p:xfrm>
          <a:off x="395536" y="2380595"/>
          <a:ext cx="352839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Month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Year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3861048"/>
            <a:ext cx="8424936" cy="2304256"/>
          </a:xfrm>
        </p:spPr>
        <p:txBody>
          <a:bodyPr>
            <a:normAutofit/>
          </a:bodyPr>
          <a:lstStyle/>
          <a:p>
            <a:r>
              <a:rPr lang="en-US" dirty="0"/>
              <a:t>Suppose that we want to compute the 3-month moving average of the profit sum in America</a:t>
            </a:r>
          </a:p>
          <a:p>
            <a:r>
              <a:rPr lang="en-US" dirty="0"/>
              <a:t>How to do that with SQL?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398515" y="1268760"/>
          <a:ext cx="388545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Store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Profit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 bwMode="auto">
          <a:xfrm>
            <a:off x="398515" y="1300475"/>
            <a:ext cx="858138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9" name="Curved Connector 8"/>
          <p:cNvCxnSpPr>
            <a:stCxn id="20" idx="0"/>
            <a:endCxn id="26" idx="2"/>
          </p:cNvCxnSpPr>
          <p:nvPr/>
        </p:nvCxnSpPr>
        <p:spPr bwMode="auto">
          <a:xfrm rot="16200000" flipV="1">
            <a:off x="1363611" y="315619"/>
            <a:ext cx="299078" cy="1607203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10" name="Rectangle 9"/>
          <p:cNvSpPr/>
          <p:nvPr/>
        </p:nvSpPr>
        <p:spPr bwMode="auto">
          <a:xfrm>
            <a:off x="1331640" y="1300475"/>
            <a:ext cx="628024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496" y="1430024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F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95536" y="2380595"/>
            <a:ext cx="628024" cy="6989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9" name="Curved Connector 18"/>
          <p:cNvCxnSpPr>
            <a:stCxn id="10" idx="2"/>
            <a:endCxn id="18" idx="0"/>
          </p:cNvCxnSpPr>
          <p:nvPr/>
        </p:nvCxnSpPr>
        <p:spPr bwMode="auto">
          <a:xfrm rot="5400000">
            <a:off x="997923" y="1732865"/>
            <a:ext cx="359355" cy="936104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20" name="Rectangle 19"/>
          <p:cNvSpPr/>
          <p:nvPr/>
        </p:nvSpPr>
        <p:spPr bwMode="auto">
          <a:xfrm>
            <a:off x="2002739" y="1268760"/>
            <a:ext cx="628024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5496" y="2462424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D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80</a:t>
            </a:fld>
            <a:endParaRPr lang="en-US" altLang="zh-CN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499992" y="116632"/>
          <a:ext cx="4248472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12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Continent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Month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SUM</a:t>
                      </a:r>
                      <a:b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</a:b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(Profit)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3-Month</a:t>
                      </a:r>
                      <a:b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</a:b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Mov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 AVG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15M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5" name="Content Placeholder 3"/>
          <p:cNvGraphicFramePr>
            <a:graphicFrameLocks/>
          </p:cNvGraphicFramePr>
          <p:nvPr/>
        </p:nvGraphicFramePr>
        <p:xfrm>
          <a:off x="395536" y="239048"/>
          <a:ext cx="3312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Store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City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Continent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Rectangle 25"/>
          <p:cNvSpPr/>
          <p:nvPr/>
        </p:nvSpPr>
        <p:spPr bwMode="auto">
          <a:xfrm>
            <a:off x="395536" y="270763"/>
            <a:ext cx="628024" cy="6989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5496" y="352592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S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56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Content Placeholder 3"/>
          <p:cNvGraphicFramePr>
            <a:graphicFrameLocks/>
          </p:cNvGraphicFramePr>
          <p:nvPr/>
        </p:nvGraphicFramePr>
        <p:xfrm>
          <a:off x="395536" y="2380595"/>
          <a:ext cx="352839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Month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Year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398515" y="1268760"/>
          <a:ext cx="388545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Store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Profit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 bwMode="auto">
          <a:xfrm>
            <a:off x="398515" y="1300475"/>
            <a:ext cx="858138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331640" y="1300475"/>
            <a:ext cx="628024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496" y="1430024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F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95536" y="2380595"/>
            <a:ext cx="628024" cy="6989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9" name="Curved Connector 18"/>
          <p:cNvCxnSpPr>
            <a:stCxn id="10" idx="2"/>
            <a:endCxn id="18" idx="0"/>
          </p:cNvCxnSpPr>
          <p:nvPr/>
        </p:nvCxnSpPr>
        <p:spPr bwMode="auto">
          <a:xfrm rot="5400000">
            <a:off x="997923" y="1732865"/>
            <a:ext cx="359355" cy="936104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20" name="Rectangle 19"/>
          <p:cNvSpPr/>
          <p:nvPr/>
        </p:nvSpPr>
        <p:spPr bwMode="auto">
          <a:xfrm>
            <a:off x="2002739" y="1268760"/>
            <a:ext cx="628024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5496" y="2462424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D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81</a:t>
            </a:fld>
            <a:endParaRPr lang="en-US" altLang="zh-CN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499992" y="116632"/>
          <a:ext cx="4248472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12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Continent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Month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SUM</a:t>
                      </a:r>
                      <a:b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</a:b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(Profit)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3-Month</a:t>
                      </a:r>
                      <a:b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</a:b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Mov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 AVG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15M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25" name="Curved Connector 24"/>
          <p:cNvCxnSpPr>
            <a:endCxn id="27" idx="2"/>
          </p:cNvCxnSpPr>
          <p:nvPr/>
        </p:nvCxnSpPr>
        <p:spPr bwMode="auto">
          <a:xfrm rot="16200000" flipV="1">
            <a:off x="1363611" y="315619"/>
            <a:ext cx="299078" cy="1607203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graphicFrame>
        <p:nvGraphicFramePr>
          <p:cNvPr id="26" name="Content Placeholder 3"/>
          <p:cNvGraphicFramePr>
            <a:graphicFrameLocks/>
          </p:cNvGraphicFramePr>
          <p:nvPr/>
        </p:nvGraphicFramePr>
        <p:xfrm>
          <a:off x="395536" y="239048"/>
          <a:ext cx="3312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Store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City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Continent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 bwMode="auto">
          <a:xfrm>
            <a:off x="395536" y="270763"/>
            <a:ext cx="628024" cy="6989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5496" y="352592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S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4B4C86C-9537-4595-8FF4-D0B9C3D1F159}"/>
              </a:ext>
            </a:extLst>
          </p:cNvPr>
          <p:cNvSpPr txBox="1">
            <a:spLocks/>
          </p:cNvSpPr>
          <p:nvPr/>
        </p:nvSpPr>
        <p:spPr bwMode="auto">
          <a:xfrm>
            <a:off x="251520" y="3717032"/>
            <a:ext cx="8424936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62500" lnSpcReduction="2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alibri" pitchFamily="34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Calibri" pitchFamily="34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/>
              <a:t>SELECT	Continent, Category, SUM(Profit),</a:t>
            </a:r>
          </a:p>
          <a:p>
            <a:pPr marL="0" indent="0">
              <a:buNone/>
            </a:pPr>
            <a:r>
              <a:rPr lang="en-US" kern="0" dirty="0"/>
              <a:t>		</a:t>
            </a:r>
            <a:r>
              <a:rPr lang="en-US" kern="0" dirty="0">
                <a:solidFill>
                  <a:srgbClr val="0000CC"/>
                </a:solidFill>
              </a:rPr>
              <a:t>AVG( SUM(Profit) )</a:t>
            </a:r>
            <a:r>
              <a:rPr lang="en-US" kern="0" dirty="0"/>
              <a:t>	 OVER  (</a:t>
            </a:r>
          </a:p>
          <a:p>
            <a:pPr marL="0" indent="0">
              <a:buNone/>
            </a:pPr>
            <a:r>
              <a:rPr lang="en-US" kern="0" dirty="0"/>
              <a:t>			ORDER BY	Month</a:t>
            </a:r>
          </a:p>
          <a:p>
            <a:pPr marL="0" indent="0">
              <a:buNone/>
            </a:pPr>
            <a:r>
              <a:rPr lang="en-US" kern="0" dirty="0"/>
              <a:t>			ROWS BETWEEN 2 PRECEDING AND CURRENT ROW)</a:t>
            </a:r>
          </a:p>
          <a:p>
            <a:r>
              <a:rPr lang="en-US" kern="0" dirty="0"/>
              <a:t>FROM	</a:t>
            </a:r>
            <a:r>
              <a:rPr lang="en-US" dirty="0"/>
              <a:t>F, S, D</a:t>
            </a:r>
          </a:p>
          <a:p>
            <a:r>
              <a:rPr lang="en-US" kern="0" dirty="0"/>
              <a:t>WHERE	</a:t>
            </a:r>
            <a:r>
              <a:rPr lang="en-US" dirty="0" err="1"/>
              <a:t>F.Store</a:t>
            </a:r>
            <a:r>
              <a:rPr lang="en-US" dirty="0"/>
              <a:t> = </a:t>
            </a:r>
            <a:r>
              <a:rPr lang="en-US" dirty="0" err="1"/>
              <a:t>S.Store</a:t>
            </a:r>
            <a:r>
              <a:rPr lang="en-US" dirty="0"/>
              <a:t> AND </a:t>
            </a:r>
            <a:r>
              <a:rPr lang="en-US" dirty="0" err="1"/>
              <a:t>F.Date</a:t>
            </a:r>
            <a:r>
              <a:rPr lang="en-US" dirty="0"/>
              <a:t> = </a:t>
            </a:r>
            <a:r>
              <a:rPr lang="en-US" dirty="0" err="1"/>
              <a:t>D.Date</a:t>
            </a:r>
            <a:r>
              <a:rPr lang="en-US" dirty="0"/>
              <a:t> </a:t>
            </a:r>
            <a:r>
              <a:rPr lang="en-US" kern="0" dirty="0"/>
              <a:t>	</a:t>
            </a:r>
            <a:br>
              <a:rPr lang="en-US" kern="0" dirty="0"/>
            </a:br>
            <a:r>
              <a:rPr lang="en-US" kern="0" dirty="0"/>
              <a:t>		AND Continent = `America’</a:t>
            </a:r>
          </a:p>
          <a:p>
            <a:r>
              <a:rPr lang="en-US" kern="0" dirty="0"/>
              <a:t>GROUP BY	Continent, Month</a:t>
            </a:r>
          </a:p>
        </p:txBody>
      </p:sp>
    </p:spTree>
    <p:extLst>
      <p:ext uri="{BB962C8B-B14F-4D97-AF65-F5344CB8AC3E}">
        <p14:creationId xmlns:p14="http://schemas.microsoft.com/office/powerpoint/2010/main" val="74563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Content Placeholder 3"/>
          <p:cNvGraphicFramePr>
            <a:graphicFrameLocks/>
          </p:cNvGraphicFramePr>
          <p:nvPr/>
        </p:nvGraphicFramePr>
        <p:xfrm>
          <a:off x="395536" y="2380595"/>
          <a:ext cx="352839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Month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Year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398515" y="1268760"/>
          <a:ext cx="388545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Store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Profit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 bwMode="auto">
          <a:xfrm>
            <a:off x="398515" y="1300475"/>
            <a:ext cx="858138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331640" y="1300475"/>
            <a:ext cx="628024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496" y="1430024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F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95536" y="2380595"/>
            <a:ext cx="628024" cy="6989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9" name="Curved Connector 18"/>
          <p:cNvCxnSpPr>
            <a:stCxn id="10" idx="2"/>
            <a:endCxn id="18" idx="0"/>
          </p:cNvCxnSpPr>
          <p:nvPr/>
        </p:nvCxnSpPr>
        <p:spPr bwMode="auto">
          <a:xfrm rot="5400000">
            <a:off x="997923" y="1732865"/>
            <a:ext cx="359355" cy="936104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20" name="Rectangle 19"/>
          <p:cNvSpPr/>
          <p:nvPr/>
        </p:nvSpPr>
        <p:spPr bwMode="auto">
          <a:xfrm>
            <a:off x="2002739" y="1268760"/>
            <a:ext cx="628024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5496" y="2462424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D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82</a:t>
            </a:fld>
            <a:endParaRPr lang="en-US" altLang="zh-CN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499992" y="116632"/>
          <a:ext cx="4248472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12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Continent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Month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SUM</a:t>
                      </a:r>
                      <a:b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</a:b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(Profit)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3-Month</a:t>
                      </a:r>
                      <a:b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</a:b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Mov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 AVG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50M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2013-05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15M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25M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Content Placeholder 2"/>
          <p:cNvSpPr txBox="1">
            <a:spLocks/>
          </p:cNvSpPr>
          <p:nvPr/>
        </p:nvSpPr>
        <p:spPr bwMode="auto">
          <a:xfrm>
            <a:off x="251520" y="3717032"/>
            <a:ext cx="8424936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62500" lnSpcReduction="2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alibri" pitchFamily="34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Calibri" pitchFamily="34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/>
              <a:t>SELECT	Continent, Category, SUM(Profit),</a:t>
            </a:r>
          </a:p>
          <a:p>
            <a:pPr marL="0" indent="0">
              <a:buNone/>
            </a:pPr>
            <a:r>
              <a:rPr lang="en-US" kern="0" dirty="0"/>
              <a:t>		</a:t>
            </a:r>
            <a:r>
              <a:rPr lang="en-US" kern="0" dirty="0">
                <a:solidFill>
                  <a:srgbClr val="0000CC"/>
                </a:solidFill>
              </a:rPr>
              <a:t>AVG( SUM(Profit) )</a:t>
            </a:r>
            <a:r>
              <a:rPr lang="en-US" kern="0" dirty="0"/>
              <a:t>	 OVER  (</a:t>
            </a:r>
          </a:p>
          <a:p>
            <a:pPr marL="0" indent="0">
              <a:buNone/>
            </a:pPr>
            <a:r>
              <a:rPr lang="en-US" kern="0" dirty="0"/>
              <a:t>			ORDER BY	Month</a:t>
            </a:r>
          </a:p>
          <a:p>
            <a:pPr marL="0" indent="0">
              <a:buNone/>
            </a:pPr>
            <a:r>
              <a:rPr lang="en-US" kern="0" dirty="0"/>
              <a:t>			ROWS BETWEEN 2 PRECEDING AND CURRENT ROW)</a:t>
            </a:r>
          </a:p>
          <a:p>
            <a:r>
              <a:rPr lang="en-US" kern="0" dirty="0"/>
              <a:t>FROM	</a:t>
            </a:r>
            <a:r>
              <a:rPr lang="en-US" dirty="0"/>
              <a:t>F, S, D</a:t>
            </a:r>
          </a:p>
          <a:p>
            <a:r>
              <a:rPr lang="en-US" kern="0" dirty="0"/>
              <a:t>WHERE	</a:t>
            </a:r>
            <a:r>
              <a:rPr lang="en-US" dirty="0" err="1"/>
              <a:t>F.Store</a:t>
            </a:r>
            <a:r>
              <a:rPr lang="en-US" dirty="0"/>
              <a:t> = </a:t>
            </a:r>
            <a:r>
              <a:rPr lang="en-US" dirty="0" err="1"/>
              <a:t>S.Store</a:t>
            </a:r>
            <a:r>
              <a:rPr lang="en-US" dirty="0"/>
              <a:t> AND </a:t>
            </a:r>
            <a:r>
              <a:rPr lang="en-US" dirty="0" err="1"/>
              <a:t>F.Date</a:t>
            </a:r>
            <a:r>
              <a:rPr lang="en-US" dirty="0"/>
              <a:t> = </a:t>
            </a:r>
            <a:r>
              <a:rPr lang="en-US" dirty="0" err="1"/>
              <a:t>D.Date</a:t>
            </a:r>
            <a:r>
              <a:rPr lang="en-US" dirty="0"/>
              <a:t> </a:t>
            </a:r>
            <a:r>
              <a:rPr lang="en-US" kern="0" dirty="0"/>
              <a:t>	</a:t>
            </a:r>
            <a:br>
              <a:rPr lang="en-US" kern="0" dirty="0"/>
            </a:br>
            <a:r>
              <a:rPr lang="en-US" kern="0" dirty="0"/>
              <a:t>		AND Continent = `America’</a:t>
            </a:r>
          </a:p>
          <a:p>
            <a:r>
              <a:rPr lang="en-US" kern="0" dirty="0"/>
              <a:t>GROUP BY	Continent, Month</a:t>
            </a:r>
          </a:p>
        </p:txBody>
      </p:sp>
      <p:cxnSp>
        <p:nvCxnSpPr>
          <p:cNvPr id="26" name="Curved Connector 25"/>
          <p:cNvCxnSpPr>
            <a:endCxn id="28" idx="2"/>
          </p:cNvCxnSpPr>
          <p:nvPr/>
        </p:nvCxnSpPr>
        <p:spPr bwMode="auto">
          <a:xfrm rot="16200000" flipV="1">
            <a:off x="1363611" y="315619"/>
            <a:ext cx="299078" cy="1607203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graphicFrame>
        <p:nvGraphicFramePr>
          <p:cNvPr id="27" name="Content Placeholder 3"/>
          <p:cNvGraphicFramePr>
            <a:graphicFrameLocks/>
          </p:cNvGraphicFramePr>
          <p:nvPr/>
        </p:nvGraphicFramePr>
        <p:xfrm>
          <a:off x="395536" y="239048"/>
          <a:ext cx="3312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Store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City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Continent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Rectangle 27"/>
          <p:cNvSpPr/>
          <p:nvPr/>
        </p:nvSpPr>
        <p:spPr bwMode="auto">
          <a:xfrm>
            <a:off x="395536" y="270763"/>
            <a:ext cx="628024" cy="6989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5496" y="352592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S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20927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Aggregate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SELECT	Continent, Category, SUM(Profit),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00FF"/>
                </a:solidFill>
              </a:rPr>
              <a:t>AVG(</a:t>
            </a:r>
            <a:r>
              <a:rPr lang="en-US" dirty="0">
                <a:solidFill>
                  <a:srgbClr val="A50021"/>
                </a:solidFill>
              </a:rPr>
              <a:t> SUM(Profit) </a:t>
            </a:r>
            <a:r>
              <a:rPr lang="en-US" dirty="0">
                <a:solidFill>
                  <a:srgbClr val="0000FF"/>
                </a:solidFill>
              </a:rPr>
              <a:t>)</a:t>
            </a:r>
            <a:r>
              <a:rPr lang="en-US" dirty="0"/>
              <a:t>	 OVER  (</a:t>
            </a:r>
          </a:p>
          <a:p>
            <a:pPr marL="0" indent="0">
              <a:buNone/>
            </a:pPr>
            <a:r>
              <a:rPr lang="en-US" dirty="0"/>
              <a:t>			ORDER BY	Month</a:t>
            </a:r>
          </a:p>
          <a:p>
            <a:pPr marL="0" indent="0">
              <a:buNone/>
            </a:pPr>
            <a:r>
              <a:rPr lang="en-US" dirty="0"/>
              <a:t>			ROWS BETWEEN 	2 PRECEDING </a:t>
            </a:r>
            <a:br>
              <a:rPr lang="en-US" dirty="0"/>
            </a:br>
            <a:r>
              <a:rPr lang="en-US" dirty="0"/>
              <a:t>				AND CURRENT ROW)</a:t>
            </a:r>
          </a:p>
          <a:p>
            <a:r>
              <a:rPr lang="en-US" dirty="0"/>
              <a:t>FROM	F, P, D</a:t>
            </a:r>
          </a:p>
          <a:p>
            <a:r>
              <a:rPr lang="en-US" dirty="0"/>
              <a:t>WHERE	</a:t>
            </a:r>
            <a:r>
              <a:rPr lang="en-US" dirty="0" err="1"/>
              <a:t>F.Product</a:t>
            </a:r>
            <a:r>
              <a:rPr lang="en-US" dirty="0"/>
              <a:t> = </a:t>
            </a:r>
            <a:r>
              <a:rPr lang="en-US" dirty="0" err="1"/>
              <a:t>P.Product</a:t>
            </a:r>
            <a:r>
              <a:rPr lang="en-US" dirty="0"/>
              <a:t> AND </a:t>
            </a:r>
            <a:r>
              <a:rPr lang="en-US" dirty="0" err="1"/>
              <a:t>F.Date</a:t>
            </a:r>
            <a:r>
              <a:rPr lang="en-US" dirty="0"/>
              <a:t> = </a:t>
            </a:r>
            <a:r>
              <a:rPr lang="en-US" dirty="0" err="1"/>
              <a:t>D.Date</a:t>
            </a:r>
            <a:r>
              <a:rPr lang="en-US" dirty="0"/>
              <a:t>	</a:t>
            </a:r>
            <a:br>
              <a:rPr lang="en-US" dirty="0"/>
            </a:br>
            <a:r>
              <a:rPr lang="en-US" dirty="0"/>
              <a:t>		AND Continent = `America’</a:t>
            </a:r>
          </a:p>
          <a:p>
            <a:r>
              <a:rPr lang="en-US" dirty="0"/>
              <a:t>GROUP BY		Continent, Month</a:t>
            </a:r>
          </a:p>
          <a:p>
            <a:endParaRPr lang="en-US" dirty="0"/>
          </a:p>
          <a:p>
            <a:r>
              <a:rPr lang="en-US" dirty="0"/>
              <a:t>In the query above, we have </a:t>
            </a:r>
            <a:r>
              <a:rPr lang="en-US" dirty="0">
                <a:solidFill>
                  <a:srgbClr val="0000FF"/>
                </a:solidFill>
              </a:rPr>
              <a:t>AVG(</a:t>
            </a:r>
            <a:r>
              <a:rPr lang="en-US" dirty="0">
                <a:solidFill>
                  <a:srgbClr val="A50021"/>
                </a:solidFill>
              </a:rPr>
              <a:t> SUM(Profit)</a:t>
            </a:r>
            <a:r>
              <a:rPr lang="en-US" dirty="0">
                <a:solidFill>
                  <a:srgbClr val="0000FF"/>
                </a:solidFill>
              </a:rPr>
              <a:t> )</a:t>
            </a:r>
            <a:r>
              <a:rPr lang="en-US" dirty="0"/>
              <a:t>, where there are two aggregate functions nested together</a:t>
            </a:r>
          </a:p>
          <a:p>
            <a:r>
              <a:rPr lang="en-US" dirty="0"/>
              <a:t>This is referred to as a </a:t>
            </a:r>
            <a:r>
              <a:rPr lang="en-US" dirty="0">
                <a:solidFill>
                  <a:srgbClr val="A50021"/>
                </a:solidFill>
              </a:rPr>
              <a:t>nested aggregation</a:t>
            </a:r>
            <a:endParaRPr lang="en-SG" dirty="0">
              <a:solidFill>
                <a:srgbClr val="A5002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012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Content Placeholder 3"/>
          <p:cNvGraphicFramePr>
            <a:graphicFrameLocks/>
          </p:cNvGraphicFramePr>
          <p:nvPr/>
        </p:nvGraphicFramePr>
        <p:xfrm>
          <a:off x="395536" y="2380595"/>
          <a:ext cx="352839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Month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Year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3861048"/>
            <a:ext cx="8424936" cy="2304256"/>
          </a:xfrm>
        </p:spPr>
        <p:txBody>
          <a:bodyPr>
            <a:normAutofit/>
          </a:bodyPr>
          <a:lstStyle/>
          <a:p>
            <a:r>
              <a:rPr lang="en-US" dirty="0"/>
              <a:t>Suppose that we want to compute the 3-month moving average of the profit sum in </a:t>
            </a:r>
            <a:r>
              <a:rPr lang="en-US" dirty="0">
                <a:solidFill>
                  <a:srgbClr val="A50021"/>
                </a:solidFill>
              </a:rPr>
              <a:t>each continent</a:t>
            </a:r>
            <a:r>
              <a:rPr lang="en-US" dirty="0"/>
              <a:t> </a:t>
            </a:r>
          </a:p>
          <a:p>
            <a:r>
              <a:rPr lang="en-US" dirty="0"/>
              <a:t>How to do that with SQL?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398515" y="1268760"/>
          <a:ext cx="388545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Store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Profit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 bwMode="auto">
          <a:xfrm>
            <a:off x="398515" y="1300475"/>
            <a:ext cx="858138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331640" y="1300475"/>
            <a:ext cx="628024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496" y="1430024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F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95536" y="2380595"/>
            <a:ext cx="628024" cy="6989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9" name="Curved Connector 18"/>
          <p:cNvCxnSpPr>
            <a:stCxn id="10" idx="2"/>
            <a:endCxn id="18" idx="0"/>
          </p:cNvCxnSpPr>
          <p:nvPr/>
        </p:nvCxnSpPr>
        <p:spPr bwMode="auto">
          <a:xfrm rot="5400000">
            <a:off x="997923" y="1732865"/>
            <a:ext cx="359355" cy="936104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20" name="Rectangle 19"/>
          <p:cNvSpPr/>
          <p:nvPr/>
        </p:nvSpPr>
        <p:spPr bwMode="auto">
          <a:xfrm>
            <a:off x="2002739" y="1268760"/>
            <a:ext cx="628024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5496" y="2462424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D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84</a:t>
            </a:fld>
            <a:endParaRPr lang="en-US" altLang="zh-CN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499992" y="116632"/>
          <a:ext cx="4248472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12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Continent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Month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SUM</a:t>
                      </a:r>
                      <a:b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</a:b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(Profit)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3-Month</a:t>
                      </a:r>
                      <a:b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</a:b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Mov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 AVG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Asia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Asia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80M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Asia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Asia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60M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25" name="Curved Connector 24"/>
          <p:cNvCxnSpPr>
            <a:endCxn id="27" idx="2"/>
          </p:cNvCxnSpPr>
          <p:nvPr/>
        </p:nvCxnSpPr>
        <p:spPr bwMode="auto">
          <a:xfrm rot="16200000" flipV="1">
            <a:off x="1363611" y="315619"/>
            <a:ext cx="299078" cy="1607203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graphicFrame>
        <p:nvGraphicFramePr>
          <p:cNvPr id="26" name="Content Placeholder 3"/>
          <p:cNvGraphicFramePr>
            <a:graphicFrameLocks/>
          </p:cNvGraphicFramePr>
          <p:nvPr/>
        </p:nvGraphicFramePr>
        <p:xfrm>
          <a:off x="395536" y="239048"/>
          <a:ext cx="3312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Store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City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Continent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 bwMode="auto">
          <a:xfrm>
            <a:off x="395536" y="270763"/>
            <a:ext cx="628024" cy="6989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5496" y="352592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S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31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Content Placeholder 3"/>
          <p:cNvGraphicFramePr>
            <a:graphicFrameLocks/>
          </p:cNvGraphicFramePr>
          <p:nvPr/>
        </p:nvGraphicFramePr>
        <p:xfrm>
          <a:off x="395536" y="2380595"/>
          <a:ext cx="352839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Month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Year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3861048"/>
            <a:ext cx="8784976" cy="2304256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SELECT	Continent, Category, SUM(Profit),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AVG( SUM(Profit) )</a:t>
            </a:r>
            <a:r>
              <a:rPr lang="en-US" dirty="0"/>
              <a:t>	 OVER  (</a:t>
            </a:r>
          </a:p>
          <a:p>
            <a:pPr marL="0" indent="0">
              <a:buNone/>
            </a:pPr>
            <a:r>
              <a:rPr lang="en-US" dirty="0"/>
              <a:t>			ORDER BY	Month</a:t>
            </a:r>
          </a:p>
          <a:p>
            <a:pPr marL="0" indent="0">
              <a:buNone/>
            </a:pPr>
            <a:r>
              <a:rPr lang="en-US" dirty="0"/>
              <a:t>			ROWS BETWEEN 2 PRECEDING AND CURRENT ROW)</a:t>
            </a:r>
          </a:p>
          <a:p>
            <a:r>
              <a:rPr lang="en-US" dirty="0"/>
              <a:t>FROM	F, S, D</a:t>
            </a:r>
          </a:p>
          <a:p>
            <a:r>
              <a:rPr lang="en-US" dirty="0"/>
              <a:t>WHERE	</a:t>
            </a:r>
            <a:r>
              <a:rPr lang="en-US" dirty="0" err="1"/>
              <a:t>F.Store</a:t>
            </a:r>
            <a:r>
              <a:rPr lang="en-US" dirty="0"/>
              <a:t> = </a:t>
            </a:r>
            <a:r>
              <a:rPr lang="en-US" dirty="0" err="1"/>
              <a:t>S.Store</a:t>
            </a:r>
            <a:r>
              <a:rPr lang="en-US" dirty="0"/>
              <a:t> AND </a:t>
            </a:r>
            <a:r>
              <a:rPr lang="en-US" dirty="0" err="1"/>
              <a:t>F.Date</a:t>
            </a:r>
            <a:r>
              <a:rPr lang="en-US" dirty="0"/>
              <a:t> = </a:t>
            </a:r>
            <a:r>
              <a:rPr lang="en-US" dirty="0" err="1"/>
              <a:t>D.Date</a:t>
            </a:r>
            <a:endParaRPr lang="en-US" dirty="0"/>
          </a:p>
          <a:p>
            <a:r>
              <a:rPr lang="en-US" dirty="0"/>
              <a:t>GROUP BY	Continent, Month</a:t>
            </a:r>
          </a:p>
          <a:p>
            <a:r>
              <a:rPr lang="en-US" dirty="0"/>
              <a:t>Problem: For the first row for Asia, the AVG will involve the last two rows of America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398515" y="1268760"/>
          <a:ext cx="388545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Store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Profit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 bwMode="auto">
          <a:xfrm>
            <a:off x="398515" y="1300475"/>
            <a:ext cx="858138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331640" y="1300475"/>
            <a:ext cx="628024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496" y="1430024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F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95536" y="2380595"/>
            <a:ext cx="628024" cy="6989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9" name="Curved Connector 18"/>
          <p:cNvCxnSpPr>
            <a:stCxn id="10" idx="2"/>
            <a:endCxn id="18" idx="0"/>
          </p:cNvCxnSpPr>
          <p:nvPr/>
        </p:nvCxnSpPr>
        <p:spPr bwMode="auto">
          <a:xfrm rot="5400000">
            <a:off x="997923" y="1732865"/>
            <a:ext cx="359355" cy="936104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20" name="Rectangle 19"/>
          <p:cNvSpPr/>
          <p:nvPr/>
        </p:nvSpPr>
        <p:spPr bwMode="auto">
          <a:xfrm>
            <a:off x="2002739" y="1268760"/>
            <a:ext cx="628024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5496" y="2462424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D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85</a:t>
            </a:fld>
            <a:endParaRPr lang="en-US" altLang="zh-CN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499992" y="116632"/>
          <a:ext cx="4248472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12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Continent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Month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SUM</a:t>
                      </a:r>
                      <a:b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</a:b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(Profit)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3-Month</a:t>
                      </a:r>
                      <a:b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</a:b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Mov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 AVG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Asia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Asia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80M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Asia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Asia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60M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25" name="Curved Connector 24"/>
          <p:cNvCxnSpPr>
            <a:endCxn id="27" idx="2"/>
          </p:cNvCxnSpPr>
          <p:nvPr/>
        </p:nvCxnSpPr>
        <p:spPr bwMode="auto">
          <a:xfrm rot="16200000" flipV="1">
            <a:off x="1363611" y="315619"/>
            <a:ext cx="299078" cy="1607203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graphicFrame>
        <p:nvGraphicFramePr>
          <p:cNvPr id="26" name="Content Placeholder 3"/>
          <p:cNvGraphicFramePr>
            <a:graphicFrameLocks/>
          </p:cNvGraphicFramePr>
          <p:nvPr/>
        </p:nvGraphicFramePr>
        <p:xfrm>
          <a:off x="395536" y="239048"/>
          <a:ext cx="3312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Store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City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Continent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 bwMode="auto">
          <a:xfrm>
            <a:off x="395536" y="270763"/>
            <a:ext cx="628024" cy="6989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5496" y="352592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S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15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Content Placeholder 3"/>
          <p:cNvGraphicFramePr>
            <a:graphicFrameLocks/>
          </p:cNvGraphicFramePr>
          <p:nvPr/>
        </p:nvGraphicFramePr>
        <p:xfrm>
          <a:off x="395536" y="2380595"/>
          <a:ext cx="352839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Day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Month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Year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3861048"/>
            <a:ext cx="8784976" cy="2304256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SELECT	Continent, Category, SUM(Profit),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00CC"/>
                </a:solidFill>
              </a:rPr>
              <a:t>AVG( SUM(Profit) )</a:t>
            </a:r>
            <a:r>
              <a:rPr lang="en-US" dirty="0"/>
              <a:t>	 OVER  (</a:t>
            </a:r>
            <a:br>
              <a:rPr lang="en-US" dirty="0"/>
            </a:br>
            <a:r>
              <a:rPr lang="en-US" dirty="0"/>
              <a:t>			</a:t>
            </a:r>
            <a:r>
              <a:rPr lang="en-US" dirty="0">
                <a:solidFill>
                  <a:srgbClr val="C00000"/>
                </a:solidFill>
              </a:rPr>
              <a:t>PARTITION BY	Continent</a:t>
            </a:r>
          </a:p>
          <a:p>
            <a:pPr marL="0" indent="0">
              <a:buNone/>
            </a:pPr>
            <a:r>
              <a:rPr lang="en-US" dirty="0"/>
              <a:t>			ORDER BY	Month</a:t>
            </a:r>
          </a:p>
          <a:p>
            <a:pPr marL="0" indent="0">
              <a:buNone/>
            </a:pPr>
            <a:r>
              <a:rPr lang="en-US" dirty="0"/>
              <a:t>			ROWS BETWEEN 2 PRECEDING AND CURRENT ROW)</a:t>
            </a:r>
          </a:p>
          <a:p>
            <a:r>
              <a:rPr lang="en-US" dirty="0"/>
              <a:t>FROM	F, S, D</a:t>
            </a:r>
          </a:p>
          <a:p>
            <a:r>
              <a:rPr lang="en-US" dirty="0"/>
              <a:t>WHERE	</a:t>
            </a:r>
            <a:r>
              <a:rPr lang="en-US" dirty="0" err="1"/>
              <a:t>F.Store</a:t>
            </a:r>
            <a:r>
              <a:rPr lang="en-US" dirty="0"/>
              <a:t> = </a:t>
            </a:r>
            <a:r>
              <a:rPr lang="en-US" dirty="0" err="1"/>
              <a:t>S.Store</a:t>
            </a:r>
            <a:r>
              <a:rPr lang="en-US" dirty="0"/>
              <a:t> AND </a:t>
            </a:r>
            <a:r>
              <a:rPr lang="en-US" dirty="0" err="1"/>
              <a:t>F.Date</a:t>
            </a:r>
            <a:r>
              <a:rPr lang="en-US" dirty="0"/>
              <a:t> = </a:t>
            </a:r>
            <a:r>
              <a:rPr lang="en-US" dirty="0" err="1"/>
              <a:t>D.Date</a:t>
            </a:r>
            <a:endParaRPr lang="en-US" dirty="0"/>
          </a:p>
          <a:p>
            <a:r>
              <a:rPr lang="en-US" dirty="0"/>
              <a:t>GROUP BY	Continent, Month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398515" y="1268760"/>
          <a:ext cx="388545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>
                          <a:latin typeface="Calibri" panose="020F0502020204030204" pitchFamily="34" charset="0"/>
                        </a:rPr>
                        <a:t>Store</a:t>
                      </a:r>
                      <a:endParaRPr lang="en-SG" sz="2000" u="none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Profit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 bwMode="auto">
          <a:xfrm>
            <a:off x="398515" y="1300475"/>
            <a:ext cx="858138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331640" y="1300475"/>
            <a:ext cx="628024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496" y="1430024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F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95536" y="2380595"/>
            <a:ext cx="628024" cy="6989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9" name="Curved Connector 18"/>
          <p:cNvCxnSpPr>
            <a:stCxn id="10" idx="2"/>
            <a:endCxn id="18" idx="0"/>
          </p:cNvCxnSpPr>
          <p:nvPr/>
        </p:nvCxnSpPr>
        <p:spPr bwMode="auto">
          <a:xfrm rot="5400000">
            <a:off x="997923" y="1732865"/>
            <a:ext cx="359355" cy="936104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20" name="Rectangle 19"/>
          <p:cNvSpPr/>
          <p:nvPr/>
        </p:nvSpPr>
        <p:spPr bwMode="auto">
          <a:xfrm>
            <a:off x="2002739" y="1268760"/>
            <a:ext cx="628024" cy="720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5496" y="2462424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D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86</a:t>
            </a:fld>
            <a:endParaRPr lang="en-US" altLang="zh-CN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499992" y="116632"/>
          <a:ext cx="4248472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12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Continent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Month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SUM</a:t>
                      </a:r>
                      <a:b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</a:b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(Profit)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3-Month</a:t>
                      </a:r>
                      <a:b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</a:b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Mov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 AVG</a:t>
                      </a:r>
                      <a:endParaRPr lang="en-SG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10M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America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30M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Asia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2013-01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40M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Asia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2013-02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80M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Asia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2013-03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Asia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2013-04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60M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6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25" name="Curved Connector 24"/>
          <p:cNvCxnSpPr>
            <a:endCxn id="27" idx="2"/>
          </p:cNvCxnSpPr>
          <p:nvPr/>
        </p:nvCxnSpPr>
        <p:spPr bwMode="auto">
          <a:xfrm rot="16200000" flipV="1">
            <a:off x="1363611" y="315619"/>
            <a:ext cx="299078" cy="1607203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graphicFrame>
        <p:nvGraphicFramePr>
          <p:cNvPr id="26" name="Content Placeholder 3"/>
          <p:cNvGraphicFramePr>
            <a:graphicFrameLocks/>
          </p:cNvGraphicFramePr>
          <p:nvPr/>
        </p:nvGraphicFramePr>
        <p:xfrm>
          <a:off x="395536" y="239048"/>
          <a:ext cx="3312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Calibri" panose="020F0502020204030204" pitchFamily="34" charset="0"/>
                        </a:rPr>
                        <a:t>Store</a:t>
                      </a:r>
                      <a:endParaRPr lang="en-SG" sz="2000" u="sng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City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Continent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 bwMode="auto">
          <a:xfrm>
            <a:off x="395536" y="270763"/>
            <a:ext cx="628024" cy="6989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5496" y="352592"/>
            <a:ext cx="432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A50021"/>
                </a:solidFill>
                <a:latin typeface="Calibri" panose="020F0502020204030204" pitchFamily="34" charset="0"/>
              </a:rPr>
              <a:t>S</a:t>
            </a:r>
            <a:endParaRPr lang="en-SG" sz="2400" b="1" dirty="0">
              <a:solidFill>
                <a:srgbClr val="A5002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975921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12">
      <a:dk1>
        <a:srgbClr val="000000"/>
      </a:dk1>
      <a:lt1>
        <a:srgbClr val="FFFFFF"/>
      </a:lt1>
      <a:dk2>
        <a:srgbClr val="000000"/>
      </a:dk2>
      <a:lt2>
        <a:srgbClr val="666699"/>
      </a:lt2>
      <a:accent1>
        <a:srgbClr val="3366FF"/>
      </a:accent1>
      <a:accent2>
        <a:srgbClr val="3366FF"/>
      </a:accent2>
      <a:accent3>
        <a:srgbClr val="FFFFFF"/>
      </a:accent3>
      <a:accent4>
        <a:srgbClr val="000000"/>
      </a:accent4>
      <a:accent5>
        <a:srgbClr val="ADB8FF"/>
      </a:accent5>
      <a:accent6>
        <a:srgbClr val="2D5CE7"/>
      </a:accent6>
      <a:hlink>
        <a:srgbClr val="006666"/>
      </a:hlink>
      <a:folHlink>
        <a:srgbClr val="B2B2B2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1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009999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008A8A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2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0</TotalTime>
  <Words>4068</Words>
  <Application>Microsoft Office PowerPoint</Application>
  <PresentationFormat>On-screen Show (4:3)</PresentationFormat>
  <Paragraphs>2844</Paragraphs>
  <Slides>86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2" baseType="lpstr">
      <vt:lpstr>宋体</vt:lpstr>
      <vt:lpstr>Arial</vt:lpstr>
      <vt:lpstr>Calibri</vt:lpstr>
      <vt:lpstr>Garamond</vt:lpstr>
      <vt:lpstr>Wingdings</vt:lpstr>
      <vt:lpstr>Edge</vt:lpstr>
      <vt:lpstr>CS2102 Database Systems</vt:lpstr>
      <vt:lpstr>Recap</vt:lpstr>
      <vt:lpstr>Views -- Motivation</vt:lpstr>
      <vt:lpstr>Views</vt:lpstr>
      <vt:lpstr>Tables vs. Views</vt:lpstr>
      <vt:lpstr>Queries on Views</vt:lpstr>
      <vt:lpstr>Queries on Views (cont.)</vt:lpstr>
      <vt:lpstr>Deleting Views</vt:lpstr>
      <vt:lpstr>Modifying Views</vt:lpstr>
      <vt:lpstr>Temporary Views</vt:lpstr>
      <vt:lpstr>Note</vt:lpstr>
      <vt:lpstr>Exercise</vt:lpstr>
      <vt:lpstr>Views vs. Temporary Views</vt:lpstr>
      <vt:lpstr>Views vs. Temporary Views</vt:lpstr>
      <vt:lpstr>Views vs. Temporary Views</vt:lpstr>
      <vt:lpstr>Coming Next: Advanced SQL</vt:lpstr>
      <vt:lpstr>Let’s start from an exercise</vt:lpstr>
      <vt:lpstr>Let’s start from an exercise</vt:lpstr>
      <vt:lpstr>Let’s start from an exercise</vt:lpstr>
      <vt:lpstr>Let’s start from an exercise</vt:lpstr>
      <vt:lpstr>Let’s start from an exercise</vt:lpstr>
      <vt:lpstr>Let’s start from an exercise</vt:lpstr>
      <vt:lpstr>FETCH FIRST</vt:lpstr>
      <vt:lpstr>FETCH FIRST</vt:lpstr>
      <vt:lpstr>FETCH FIRST</vt:lpstr>
      <vt:lpstr>FETCH FIRST</vt:lpstr>
      <vt:lpstr>FETCH FIRST</vt:lpstr>
      <vt:lpstr>FETCH FIRST</vt:lpstr>
      <vt:lpstr>FETCH FIRST</vt:lpstr>
      <vt:lpstr>FETCH FIRST</vt:lpstr>
      <vt:lpstr>FETCH FIRST</vt:lpstr>
      <vt:lpstr>FETCH FIRST</vt:lpstr>
      <vt:lpstr>Which syntax to remember?</vt:lpstr>
      <vt:lpstr>Back to FETCH FIRST</vt:lpstr>
      <vt:lpstr>Back to FETCH FIRST</vt:lpstr>
      <vt:lpstr>RANK()</vt:lpstr>
      <vt:lpstr>RANK()</vt:lpstr>
      <vt:lpstr>RANK()</vt:lpstr>
      <vt:lpstr>RANK()</vt:lpstr>
      <vt:lpstr>RANK()</vt:lpstr>
      <vt:lpstr>Exercise</vt:lpstr>
      <vt:lpstr>Exercise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Window Functions</vt:lpstr>
      <vt:lpstr>Window Functions</vt:lpstr>
      <vt:lpstr>RANK()</vt:lpstr>
      <vt:lpstr>DENSE_RANK()</vt:lpstr>
      <vt:lpstr>DENSE_RANK()</vt:lpstr>
      <vt:lpstr>RANK() vs. DENSE_RANK()</vt:lpstr>
      <vt:lpstr>NTILE()</vt:lpstr>
      <vt:lpstr>NTILE()</vt:lpstr>
      <vt:lpstr>NTILE()</vt:lpstr>
      <vt:lpstr>NTILE()</vt:lpstr>
      <vt:lpstr>NTILE()</vt:lpstr>
      <vt:lpstr>NTILE()</vt:lpstr>
      <vt:lpstr>NTILE()</vt:lpstr>
      <vt:lpstr>NTILE()</vt:lpstr>
      <vt:lpstr>NTILE()</vt:lpstr>
      <vt:lpstr>Coming Next</vt:lpstr>
      <vt:lpstr>Window Frame</vt:lpstr>
      <vt:lpstr>Window Frame</vt:lpstr>
      <vt:lpstr>Window Frame</vt:lpstr>
      <vt:lpstr>Window Frame</vt:lpstr>
      <vt:lpstr>Window Frame</vt:lpstr>
      <vt:lpstr>Window Frame</vt:lpstr>
      <vt:lpstr>Window Frame</vt:lpstr>
      <vt:lpstr>Window Frame</vt:lpstr>
      <vt:lpstr>Window Frame</vt:lpstr>
      <vt:lpstr>Window Frame</vt:lpstr>
      <vt:lpstr>Window Frame</vt:lpstr>
      <vt:lpstr>Window Frame</vt:lpstr>
      <vt:lpstr>Coming Next</vt:lpstr>
      <vt:lpstr>PowerPoint Presentation</vt:lpstr>
      <vt:lpstr>PowerPoint Presentation</vt:lpstr>
      <vt:lpstr>PowerPoint Presentation</vt:lpstr>
      <vt:lpstr>Nested Aggregate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Data Publishing</dc:title>
  <dc:creator>xiaokui</dc:creator>
  <cp:lastModifiedBy>Xiao Xiaokui</cp:lastModifiedBy>
  <cp:revision>1125</cp:revision>
  <cp:lastPrinted>2014-08-21T04:54:26Z</cp:lastPrinted>
  <dcterms:created xsi:type="dcterms:W3CDTF">2009-03-02T02:47:37Z</dcterms:created>
  <dcterms:modified xsi:type="dcterms:W3CDTF">2019-06-19T14:00:43Z</dcterms:modified>
</cp:coreProperties>
</file>