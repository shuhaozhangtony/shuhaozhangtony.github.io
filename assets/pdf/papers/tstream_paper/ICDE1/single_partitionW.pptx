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0799763" cy="5400675"/>
  <p:notesSz cx="6858000" cy="9144000"/>
  <p:defaultTextStyle>
    <a:defPPr>
      <a:defRPr lang="en-US"/>
    </a:defPPr>
    <a:lvl1pPr marL="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36283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725668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088502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1451336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181417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217700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2539837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2902671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47"/>
  </p:normalViewPr>
  <p:slideViewPr>
    <p:cSldViewPr snapToGrid="0" snapToObjects="1">
      <p:cViewPr>
        <p:scale>
          <a:sx n="78" d="100"/>
          <a:sy n="78" d="100"/>
        </p:scale>
        <p:origin x="3008" y="2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4" Type="http://schemas.openxmlformats.org/officeDocument/2006/relationships/oleObject" Target="file:////Users/shuhaozhang/myworkingonpapers/tsp_experiments/experiments/MB.xlsx" TargetMode="External"/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partition!$J$1</c:f>
              <c:strCache>
                <c:ptCount val="1"/>
                <c:pt idx="0">
                  <c:v>NOCC</c:v>
                </c:pt>
              </c:strCache>
            </c:strRef>
          </c:tx>
          <c:spPr>
            <a:pattFill prst="dotGrid">
              <a:fgClr>
                <a:srgbClr val="C90001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partition!$A$2:$A$7</c:f>
              <c:numCache>
                <c:formatCode>General</c:formatCode>
                <c:ptCount val="6"/>
                <c:pt idx="0">
                  <c:v>2.0</c:v>
                </c:pt>
                <c:pt idx="1">
                  <c:v>8.0</c:v>
                </c:pt>
                <c:pt idx="2">
                  <c:v>16.0</c:v>
                </c:pt>
                <c:pt idx="3">
                  <c:v>24.0</c:v>
                </c:pt>
                <c:pt idx="4">
                  <c:v>32.0</c:v>
                </c:pt>
                <c:pt idx="5">
                  <c:v>38.0</c:v>
                </c:pt>
              </c:numCache>
            </c:numRef>
          </c:cat>
          <c:val>
            <c:numRef>
              <c:f>partition!$J$2:$J$7</c:f>
              <c:numCache>
                <c:formatCode>General</c:formatCode>
                <c:ptCount val="6"/>
                <c:pt idx="0">
                  <c:v>166.348202111871</c:v>
                </c:pt>
                <c:pt idx="1">
                  <c:v>427.150777279914</c:v>
                </c:pt>
                <c:pt idx="2">
                  <c:v>679.295752048097</c:v>
                </c:pt>
                <c:pt idx="3">
                  <c:v>552.64729070589</c:v>
                </c:pt>
                <c:pt idx="4">
                  <c:v>515.138808779299</c:v>
                </c:pt>
                <c:pt idx="5">
                  <c:v>144.045330694823</c:v>
                </c:pt>
              </c:numCache>
            </c:numRef>
          </c:val>
        </c:ser>
        <c:ser>
          <c:idx val="1"/>
          <c:order val="1"/>
          <c:tx>
            <c:strRef>
              <c:f>partition!$K$1</c:f>
              <c:strCache>
                <c:ptCount val="1"/>
                <c:pt idx="0">
                  <c:v>LAL</c:v>
                </c:pt>
              </c:strCache>
            </c:strRef>
          </c:tx>
          <c:spPr>
            <a:pattFill prst="wdUpDiag">
              <a:fgClr>
                <a:schemeClr val="accent1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partition!$A$2:$A$7</c:f>
              <c:numCache>
                <c:formatCode>General</c:formatCode>
                <c:ptCount val="6"/>
                <c:pt idx="0">
                  <c:v>2.0</c:v>
                </c:pt>
                <c:pt idx="1">
                  <c:v>8.0</c:v>
                </c:pt>
                <c:pt idx="2">
                  <c:v>16.0</c:v>
                </c:pt>
                <c:pt idx="3">
                  <c:v>24.0</c:v>
                </c:pt>
                <c:pt idx="4">
                  <c:v>32.0</c:v>
                </c:pt>
                <c:pt idx="5">
                  <c:v>38.0</c:v>
                </c:pt>
              </c:numCache>
            </c:numRef>
          </c:cat>
          <c:val>
            <c:numRef>
              <c:f>partition!$K$2:$K$7</c:f>
              <c:numCache>
                <c:formatCode>General</c:formatCode>
                <c:ptCount val="6"/>
                <c:pt idx="0">
                  <c:v>171.420386556301</c:v>
                </c:pt>
                <c:pt idx="1">
                  <c:v>113.890329044798</c:v>
                </c:pt>
                <c:pt idx="2">
                  <c:v>73.6262230833026</c:v>
                </c:pt>
                <c:pt idx="3">
                  <c:v>57.0369142964105</c:v>
                </c:pt>
                <c:pt idx="4">
                  <c:v>41.2883637013746</c:v>
                </c:pt>
                <c:pt idx="5">
                  <c:v>36.9973434189604</c:v>
                </c:pt>
              </c:numCache>
            </c:numRef>
          </c:val>
        </c:ser>
        <c:ser>
          <c:idx val="2"/>
          <c:order val="2"/>
          <c:tx>
            <c:strRef>
              <c:f>partition!$L$1</c:f>
              <c:strCache>
                <c:ptCount val="1"/>
                <c:pt idx="0">
                  <c:v>LWM</c:v>
                </c:pt>
              </c:strCache>
            </c:strRef>
          </c:tx>
          <c:spPr>
            <a:pattFill prst="dkHorz">
              <a:fgClr>
                <a:schemeClr val="accent6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partition!$A$2:$A$7</c:f>
              <c:numCache>
                <c:formatCode>General</c:formatCode>
                <c:ptCount val="6"/>
                <c:pt idx="0">
                  <c:v>2.0</c:v>
                </c:pt>
                <c:pt idx="1">
                  <c:v>8.0</c:v>
                </c:pt>
                <c:pt idx="2">
                  <c:v>16.0</c:v>
                </c:pt>
                <c:pt idx="3">
                  <c:v>24.0</c:v>
                </c:pt>
                <c:pt idx="4">
                  <c:v>32.0</c:v>
                </c:pt>
                <c:pt idx="5">
                  <c:v>38.0</c:v>
                </c:pt>
              </c:numCache>
            </c:numRef>
          </c:cat>
          <c:val>
            <c:numRef>
              <c:f>partition!$L$2:$L$7</c:f>
              <c:numCache>
                <c:formatCode>General</c:formatCode>
                <c:ptCount val="6"/>
                <c:pt idx="0">
                  <c:v>50.7214401797162</c:v>
                </c:pt>
                <c:pt idx="1">
                  <c:v>89.1109194198735</c:v>
                </c:pt>
                <c:pt idx="2">
                  <c:v>52.9054145765986</c:v>
                </c:pt>
                <c:pt idx="3">
                  <c:v>49.0863579335295</c:v>
                </c:pt>
                <c:pt idx="4">
                  <c:v>34.8317090772</c:v>
                </c:pt>
                <c:pt idx="5">
                  <c:v>50.7214401797162</c:v>
                </c:pt>
              </c:numCache>
            </c:numRef>
          </c:val>
        </c:ser>
        <c:ser>
          <c:idx val="3"/>
          <c:order val="3"/>
          <c:tx>
            <c:strRef>
              <c:f>partition!$M$1</c:f>
              <c:strCache>
                <c:ptCount val="1"/>
                <c:pt idx="0">
                  <c:v>T-Stream</c:v>
                </c:pt>
              </c:strCache>
            </c:strRef>
          </c:tx>
          <c:spPr>
            <a:pattFill prst="pct50">
              <a:fgClr>
                <a:srgbClr val="A345EE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partition!$A$2:$A$7</c:f>
              <c:numCache>
                <c:formatCode>General</c:formatCode>
                <c:ptCount val="6"/>
                <c:pt idx="0">
                  <c:v>2.0</c:v>
                </c:pt>
                <c:pt idx="1">
                  <c:v>8.0</c:v>
                </c:pt>
                <c:pt idx="2">
                  <c:v>16.0</c:v>
                </c:pt>
                <c:pt idx="3">
                  <c:v>24.0</c:v>
                </c:pt>
                <c:pt idx="4">
                  <c:v>32.0</c:v>
                </c:pt>
                <c:pt idx="5">
                  <c:v>38.0</c:v>
                </c:pt>
              </c:numCache>
            </c:numRef>
          </c:cat>
          <c:val>
            <c:numRef>
              <c:f>partition!$M$2:$M$7</c:f>
              <c:numCache>
                <c:formatCode>General</c:formatCode>
                <c:ptCount val="6"/>
                <c:pt idx="0">
                  <c:v>57.6609755003597</c:v>
                </c:pt>
                <c:pt idx="1">
                  <c:v>98.89404171875169</c:v>
                </c:pt>
                <c:pt idx="2">
                  <c:v>135.867308550159</c:v>
                </c:pt>
                <c:pt idx="3">
                  <c:v>186.387388938922</c:v>
                </c:pt>
                <c:pt idx="4">
                  <c:v>199.855724367414</c:v>
                </c:pt>
                <c:pt idx="5">
                  <c:v>237.83426803091</c:v>
                </c:pt>
              </c:numCache>
            </c:numRef>
          </c:val>
        </c:ser>
        <c:ser>
          <c:idx val="4"/>
          <c:order val="4"/>
          <c:tx>
            <c:strRef>
              <c:f>partition!$N$1</c:f>
              <c:strCache>
                <c:ptCount val="1"/>
                <c:pt idx="0">
                  <c:v>PAT</c:v>
                </c:pt>
              </c:strCache>
            </c:strRef>
          </c:tx>
          <c:spPr>
            <a:pattFill prst="pct90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  <a:effectLst/>
          </c:spPr>
          <c:invertIfNegative val="0"/>
          <c:cat>
            <c:numRef>
              <c:f>partition!$A$2:$A$7</c:f>
              <c:numCache>
                <c:formatCode>General</c:formatCode>
                <c:ptCount val="6"/>
                <c:pt idx="0">
                  <c:v>2.0</c:v>
                </c:pt>
                <c:pt idx="1">
                  <c:v>8.0</c:v>
                </c:pt>
                <c:pt idx="2">
                  <c:v>16.0</c:v>
                </c:pt>
                <c:pt idx="3">
                  <c:v>24.0</c:v>
                </c:pt>
                <c:pt idx="4">
                  <c:v>32.0</c:v>
                </c:pt>
                <c:pt idx="5">
                  <c:v>38.0</c:v>
                </c:pt>
              </c:numCache>
            </c:numRef>
          </c:cat>
          <c:val>
            <c:numRef>
              <c:f>partition!$N$2:$N$7</c:f>
              <c:numCache>
                <c:formatCode>General</c:formatCode>
                <c:ptCount val="6"/>
                <c:pt idx="0">
                  <c:v>125.613606082663</c:v>
                </c:pt>
                <c:pt idx="1">
                  <c:v>404.158229230746</c:v>
                </c:pt>
                <c:pt idx="2">
                  <c:v>471.545241779568</c:v>
                </c:pt>
                <c:pt idx="3">
                  <c:v>492.231900906719</c:v>
                </c:pt>
                <c:pt idx="4">
                  <c:v>694.8990076842171</c:v>
                </c:pt>
                <c:pt idx="5">
                  <c:v>627.14311467205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04433024"/>
        <c:axId val="2036263264"/>
      </c:barChart>
      <c:catAx>
        <c:axId val="17044330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 smtClean="0"/>
                  <a:t>Number of Cores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2036263264"/>
        <c:crosses val="autoZero"/>
        <c:auto val="1"/>
        <c:lblAlgn val="ctr"/>
        <c:lblOffset val="100"/>
        <c:noMultiLvlLbl val="0"/>
      </c:catAx>
      <c:valAx>
        <c:axId val="203626326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 dirty="0" smtClean="0"/>
                  <a:t>Throughput (k events/s)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1704433024"/>
        <c:crosses val="autoZero"/>
        <c:crossBetween val="between"/>
      </c:valAx>
      <c:spPr>
        <a:noFill/>
        <a:ln w="25400">
          <a:solidFill>
            <a:schemeClr val="tx1"/>
          </a:solidFill>
        </a:ln>
        <a:effectLst/>
      </c:spPr>
    </c:plotArea>
    <c:legend>
      <c:legendPos val="t"/>
      <c:layout/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883861"/>
            <a:ext cx="8099822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836605"/>
            <a:ext cx="8099822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346419"/>
            <a:ext cx="9314796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3614203"/>
            <a:ext cx="9314796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437680"/>
            <a:ext cx="4589899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437680"/>
            <a:ext cx="4589899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87536"/>
            <a:ext cx="9314796" cy="10438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323916"/>
            <a:ext cx="45688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972747"/>
            <a:ext cx="456880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323916"/>
            <a:ext cx="45913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972747"/>
            <a:ext cx="459130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777597"/>
            <a:ext cx="5467380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777597"/>
            <a:ext cx="5467380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87536"/>
            <a:ext cx="2328699" cy="457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87536"/>
            <a:ext cx="6851100" cy="45768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87536"/>
            <a:ext cx="9314796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437680"/>
            <a:ext cx="9314796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5005626"/>
            <a:ext cx="364492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6316374"/>
              </p:ext>
            </p:extLst>
          </p:nvPr>
        </p:nvGraphicFramePr>
        <p:xfrm>
          <a:off x="0" y="0"/>
          <a:ext cx="10799763" cy="5400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054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DengXian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DengXian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2946</TotalTime>
  <Words>8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Helvetica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26</cp:revision>
  <cp:lastPrinted>2018-09-27T01:12:24Z</cp:lastPrinted>
  <dcterms:created xsi:type="dcterms:W3CDTF">2018-09-13T08:59:53Z</dcterms:created>
  <dcterms:modified xsi:type="dcterms:W3CDTF">2018-10-10T11:36:21Z</dcterms:modified>
</cp:coreProperties>
</file>