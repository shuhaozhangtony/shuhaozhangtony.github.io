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2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8" r:id="rId1"/>
  </p:sldMasterIdLst>
  <p:sldIdLst>
    <p:sldId id="256" r:id="rId2"/>
  </p:sldIdLst>
  <p:sldSz cx="22139275" cy="72009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6114"/>
    <p:restoredTop sz="94647"/>
  </p:normalViewPr>
  <p:slideViewPr>
    <p:cSldViewPr snapToGrid="0" snapToObjects="1">
      <p:cViewPr>
        <p:scale>
          <a:sx n="85" d="100"/>
          <a:sy n="85" d="100"/>
        </p:scale>
        <p:origin x="4312" y="28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4" Type="http://schemas.openxmlformats.org/officeDocument/2006/relationships/oleObject" Target="file:////Users/shuhaozhang/myworkingonpapers/tsp_experiments/experiments/MB.xlsx" TargetMode="External"/><Relationship Id="rId1" Type="http://schemas.microsoft.com/office/2011/relationships/chartStyle" Target="style1.xml"/><Relationship Id="rId2" Type="http://schemas.microsoft.com/office/2011/relationships/chartColorStyle" Target="colors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4" Type="http://schemas.openxmlformats.org/officeDocument/2006/relationships/oleObject" Target="file:////Users/shuhaozhang/myworkingonpapers/tsp_experiments/experiments/MB.xlsx" TargetMode="External"/><Relationship Id="rId1" Type="http://schemas.microsoft.com/office/2011/relationships/chartStyle" Target="style2.xml"/><Relationship Id="rId2" Type="http://schemas.microsoft.com/office/2011/relationships/chartColorStyle" Target="colors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stacked"/>
        <c:varyColors val="0"/>
        <c:ser>
          <c:idx val="6"/>
          <c:order val="0"/>
          <c:tx>
            <c:strRef>
              <c:f>Read_only!$I$17</c:f>
              <c:strCache>
                <c:ptCount val="1"/>
                <c:pt idx="0">
                  <c:v>Manager</c:v>
                </c:pt>
              </c:strCache>
            </c:strRef>
          </c:tx>
          <c:spPr>
            <a:solidFill>
              <a:sysClr val="windowText" lastClr="000000">
                <a:lumMod val="75000"/>
                <a:lumOff val="25000"/>
              </a:sysClr>
            </a:solidFill>
            <a:ln w="25400">
              <a:solidFill>
                <a:sysClr val="windowText" lastClr="000000"/>
              </a:solidFill>
            </a:ln>
            <a:effectLst/>
          </c:spPr>
          <c:invertIfNegative val="0"/>
          <c:cat>
            <c:strRef>
              <c:f>Read_only!$J$16:$M$16</c:f>
              <c:strCache>
                <c:ptCount val="4"/>
                <c:pt idx="0">
                  <c:v>NOCC</c:v>
                </c:pt>
                <c:pt idx="1">
                  <c:v>LAL</c:v>
                </c:pt>
                <c:pt idx="2">
                  <c:v>LWM</c:v>
                </c:pt>
                <c:pt idx="3">
                  <c:v>T-Stream</c:v>
                </c:pt>
              </c:strCache>
            </c:strRef>
          </c:cat>
          <c:val>
            <c:numRef>
              <c:f>Read_only!$J$17:$M$17</c:f>
              <c:numCache>
                <c:formatCode>0%</c:formatCode>
                <c:ptCount val="4"/>
                <c:pt idx="0">
                  <c:v>0.439484396200814</c:v>
                </c:pt>
                <c:pt idx="1">
                  <c:v>0.0234798412667281</c:v>
                </c:pt>
                <c:pt idx="2">
                  <c:v>0.0316056414646049</c:v>
                </c:pt>
                <c:pt idx="3">
                  <c:v>0.502672849168611</c:v>
                </c:pt>
              </c:numCache>
            </c:numRef>
          </c:val>
        </c:ser>
        <c:ser>
          <c:idx val="3"/>
          <c:order val="1"/>
          <c:tx>
            <c:strRef>
              <c:f>Read_only!$I$19</c:f>
              <c:strCache>
                <c:ptCount val="1"/>
                <c:pt idx="0">
                  <c:v>Wait</c:v>
                </c:pt>
              </c:strCache>
            </c:strRef>
          </c:tx>
          <c:spPr>
            <a:pattFill prst="wdUpDiag">
              <a:fgClr>
                <a:srgbClr val="4472C4"/>
              </a:fgClr>
              <a:bgClr>
                <a:sysClr val="window" lastClr="FFFFFF"/>
              </a:bgClr>
            </a:pattFill>
            <a:ln w="25400">
              <a:solidFill>
                <a:sysClr val="windowText" lastClr="000000"/>
              </a:solidFill>
            </a:ln>
            <a:effectLst/>
          </c:spPr>
          <c:invertIfNegative val="0"/>
          <c:cat>
            <c:strRef>
              <c:f>Read_only!$J$16:$M$16</c:f>
              <c:strCache>
                <c:ptCount val="4"/>
                <c:pt idx="0">
                  <c:v>NOCC</c:v>
                </c:pt>
                <c:pt idx="1">
                  <c:v>LAL</c:v>
                </c:pt>
                <c:pt idx="2">
                  <c:v>LWM</c:v>
                </c:pt>
                <c:pt idx="3">
                  <c:v>T-Stream</c:v>
                </c:pt>
              </c:strCache>
            </c:strRef>
          </c:cat>
          <c:val>
            <c:numRef>
              <c:f>Read_only!$J$19:$M$19</c:f>
              <c:numCache>
                <c:formatCode>0%</c:formatCode>
                <c:ptCount val="4"/>
                <c:pt idx="0">
                  <c:v>0.0</c:v>
                </c:pt>
                <c:pt idx="1">
                  <c:v>0.974594831362243</c:v>
                </c:pt>
                <c:pt idx="2">
                  <c:v>0.967472780653264</c:v>
                </c:pt>
                <c:pt idx="3" formatCode="General">
                  <c:v>0.144127115390295</c:v>
                </c:pt>
              </c:numCache>
            </c:numRef>
          </c:val>
        </c:ser>
        <c:ser>
          <c:idx val="2"/>
          <c:order val="2"/>
          <c:tx>
            <c:strRef>
              <c:f>Read_only!$I$20</c:f>
              <c:strCache>
                <c:ptCount val="1"/>
                <c:pt idx="0">
                  <c:v>Index</c:v>
                </c:pt>
              </c:strCache>
            </c:strRef>
          </c:tx>
          <c:spPr>
            <a:pattFill prst="dkVert">
              <a:fgClr>
                <a:srgbClr val="00B050"/>
              </a:fgClr>
              <a:bgClr>
                <a:sysClr val="window" lastClr="FFFFFF"/>
              </a:bgClr>
            </a:pattFill>
            <a:ln w="25400">
              <a:solidFill>
                <a:sysClr val="windowText" lastClr="000000"/>
              </a:solidFill>
            </a:ln>
            <a:effectLst/>
          </c:spPr>
          <c:invertIfNegative val="0"/>
          <c:cat>
            <c:strRef>
              <c:f>Read_only!$J$16:$M$16</c:f>
              <c:strCache>
                <c:ptCount val="4"/>
                <c:pt idx="0">
                  <c:v>NOCC</c:v>
                </c:pt>
                <c:pt idx="1">
                  <c:v>LAL</c:v>
                </c:pt>
                <c:pt idx="2">
                  <c:v>LWM</c:v>
                </c:pt>
                <c:pt idx="3">
                  <c:v>T-Stream</c:v>
                </c:pt>
              </c:strCache>
            </c:strRef>
          </c:cat>
          <c:val>
            <c:numRef>
              <c:f>Read_only!$J$20:$M$20</c:f>
              <c:numCache>
                <c:formatCode>0%</c:formatCode>
                <c:ptCount val="4"/>
                <c:pt idx="0">
                  <c:v>0.0869742198100407</c:v>
                </c:pt>
                <c:pt idx="1">
                  <c:v>0.000676643065879538</c:v>
                </c:pt>
                <c:pt idx="2">
                  <c:v>0.00032479220498708</c:v>
                </c:pt>
                <c:pt idx="3">
                  <c:v>0.0214123275938451</c:v>
                </c:pt>
              </c:numCache>
            </c:numRef>
          </c:val>
        </c:ser>
        <c:ser>
          <c:idx val="4"/>
          <c:order val="3"/>
          <c:tx>
            <c:strRef>
              <c:f>Read_only!$I$21</c:f>
              <c:strCache>
                <c:ptCount val="1"/>
                <c:pt idx="0">
                  <c:v>Ts Alloc.</c:v>
                </c:pt>
              </c:strCache>
            </c:strRef>
          </c:tx>
          <c:spPr>
            <a:solidFill>
              <a:srgbClr val="ED7D31">
                <a:lumMod val="75000"/>
              </a:srgbClr>
            </a:solidFill>
            <a:ln w="25400">
              <a:solidFill>
                <a:sysClr val="windowText" lastClr="000000"/>
              </a:solidFill>
            </a:ln>
            <a:effectLst/>
          </c:spPr>
          <c:invertIfNegative val="0"/>
          <c:cat>
            <c:strRef>
              <c:f>Read_only!$J$16:$M$16</c:f>
              <c:strCache>
                <c:ptCount val="4"/>
                <c:pt idx="0">
                  <c:v>NOCC</c:v>
                </c:pt>
                <c:pt idx="1">
                  <c:v>LAL</c:v>
                </c:pt>
                <c:pt idx="2">
                  <c:v>LWM</c:v>
                </c:pt>
                <c:pt idx="3">
                  <c:v>T-Stream</c:v>
                </c:pt>
              </c:strCache>
            </c:strRef>
          </c:cat>
          <c:val>
            <c:numRef>
              <c:f>Read_only!$J$21:$M$21</c:f>
              <c:numCache>
                <c:formatCode>0%</c:formatCode>
                <c:ptCount val="4"/>
                <c:pt idx="0">
                  <c:v>0.00922659430122116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</c:numCache>
            </c:numRef>
          </c:val>
        </c:ser>
        <c:ser>
          <c:idx val="1"/>
          <c:order val="4"/>
          <c:tx>
            <c:strRef>
              <c:f>Read_only!$I$22</c:f>
              <c:strCache>
                <c:ptCount val="1"/>
                <c:pt idx="0">
                  <c:v>Abort</c:v>
                </c:pt>
              </c:strCache>
            </c:strRef>
          </c:tx>
          <c:spPr>
            <a:pattFill prst="wdDnDiag">
              <a:fgClr>
                <a:srgbClr val="FFC000">
                  <a:lumMod val="60000"/>
                  <a:lumOff val="40000"/>
                </a:srgbClr>
              </a:fgClr>
              <a:bgClr>
                <a:sysClr val="window" lastClr="FFFFFF"/>
              </a:bgClr>
            </a:pattFill>
            <a:ln w="25400">
              <a:solidFill>
                <a:sysClr val="windowText" lastClr="000000"/>
              </a:solidFill>
            </a:ln>
            <a:effectLst/>
          </c:spPr>
          <c:invertIfNegative val="0"/>
          <c:cat>
            <c:strRef>
              <c:f>Read_only!$J$16:$M$16</c:f>
              <c:strCache>
                <c:ptCount val="4"/>
                <c:pt idx="0">
                  <c:v>NOCC</c:v>
                </c:pt>
                <c:pt idx="1">
                  <c:v>LAL</c:v>
                </c:pt>
                <c:pt idx="2">
                  <c:v>LWM</c:v>
                </c:pt>
                <c:pt idx="3">
                  <c:v>T-Stream</c:v>
                </c:pt>
              </c:strCache>
            </c:strRef>
          </c:cat>
          <c:val>
            <c:numRef>
              <c:f>Read_only!$J$22:$M$22</c:f>
              <c:numCache>
                <c:formatCode>0%</c:formatCode>
                <c:ptCount val="4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</c:numCache>
            </c:numRef>
          </c:val>
        </c:ser>
        <c:ser>
          <c:idx val="0"/>
          <c:order val="5"/>
          <c:tx>
            <c:strRef>
              <c:f>Read_only!$I$23</c:f>
              <c:strCache>
                <c:ptCount val="1"/>
                <c:pt idx="0">
                  <c:v>Useful work</c:v>
                </c:pt>
              </c:strCache>
            </c:strRef>
          </c:tx>
          <c:spPr>
            <a:pattFill prst="dkHorz">
              <a:fgClr>
                <a:srgbClr val="FF0000"/>
              </a:fgClr>
              <a:bgClr>
                <a:sysClr val="window" lastClr="FFFFFF"/>
              </a:bgClr>
            </a:pattFill>
            <a:ln w="25400">
              <a:solidFill>
                <a:sysClr val="windowText" lastClr="000000"/>
              </a:solidFill>
            </a:ln>
            <a:effectLst/>
          </c:spPr>
          <c:invertIfNegative val="0"/>
          <c:cat>
            <c:strRef>
              <c:f>Read_only!$J$16:$M$16</c:f>
              <c:strCache>
                <c:ptCount val="4"/>
                <c:pt idx="0">
                  <c:v>NOCC</c:v>
                </c:pt>
                <c:pt idx="1">
                  <c:v>LAL</c:v>
                </c:pt>
                <c:pt idx="2">
                  <c:v>LWM</c:v>
                </c:pt>
                <c:pt idx="3">
                  <c:v>T-Stream</c:v>
                </c:pt>
              </c:strCache>
            </c:strRef>
          </c:cat>
          <c:val>
            <c:numRef>
              <c:f>Read_only!$J$23:$M$23</c:f>
              <c:numCache>
                <c:formatCode>0%</c:formatCode>
                <c:ptCount val="4"/>
                <c:pt idx="0">
                  <c:v>0.464314789687924</c:v>
                </c:pt>
                <c:pt idx="1">
                  <c:v>0.00124868430514968</c:v>
                </c:pt>
                <c:pt idx="2">
                  <c:v>0.000596785677143748</c:v>
                </c:pt>
                <c:pt idx="3">
                  <c:v>0.331787707847249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7"/>
        <c:overlap val="100"/>
        <c:axId val="1356176016"/>
        <c:axId val="1356177792"/>
      </c:barChart>
      <c:catAx>
        <c:axId val="135617601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25400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56177792"/>
        <c:crosses val="autoZero"/>
        <c:auto val="1"/>
        <c:lblAlgn val="ctr"/>
        <c:lblOffset val="100"/>
        <c:noMultiLvlLbl val="0"/>
      </c:catAx>
      <c:valAx>
        <c:axId val="1356177792"/>
        <c:scaling>
          <c:orientation val="minMax"/>
          <c:max val="1.0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56176016"/>
        <c:crosses val="autoZero"/>
        <c:crossBetween val="between"/>
        <c:majorUnit val="0.2"/>
      </c:valAx>
      <c:spPr>
        <a:noFill/>
        <a:ln w="25400">
          <a:solidFill>
            <a:schemeClr val="tx1"/>
          </a:solidFill>
        </a:ln>
        <a:effectLst/>
      </c:spPr>
    </c:plotArea>
    <c:legend>
      <c:legendPos val="r"/>
      <c:layout/>
      <c:overlay val="0"/>
      <c:spPr>
        <a:noFill/>
        <a:ln w="25400">
          <a:solidFill>
            <a:schemeClr val="tx1"/>
          </a:solidFill>
        </a:ln>
        <a:effectLst/>
      </c:spPr>
      <c:txPr>
        <a:bodyPr rot="0" spcFirstLastPara="1" vertOverflow="ellipsis" vert="horz" wrap="square" anchor="ctr" anchorCtr="1"/>
        <a:lstStyle/>
        <a:p>
          <a:pPr>
            <a:defRPr sz="2800" b="1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stacked"/>
        <c:varyColors val="0"/>
        <c:ser>
          <c:idx val="6"/>
          <c:order val="0"/>
          <c:tx>
            <c:strRef>
              <c:f>Read_only!$A$17</c:f>
              <c:strCache>
                <c:ptCount val="1"/>
                <c:pt idx="0">
                  <c:v>Manager</c:v>
                </c:pt>
              </c:strCache>
            </c:strRef>
          </c:tx>
          <c:spPr>
            <a:solidFill>
              <a:sysClr val="windowText" lastClr="000000">
                <a:lumMod val="75000"/>
                <a:lumOff val="25000"/>
              </a:sysClr>
            </a:solidFill>
            <a:ln w="25400">
              <a:solidFill>
                <a:sysClr val="windowText" lastClr="000000"/>
              </a:solidFill>
            </a:ln>
            <a:effectLst/>
          </c:spPr>
          <c:invertIfNegative val="0"/>
          <c:cat>
            <c:strRef>
              <c:f>Read_only!$B$16:$E$16</c:f>
              <c:strCache>
                <c:ptCount val="4"/>
                <c:pt idx="0">
                  <c:v>NOCC</c:v>
                </c:pt>
                <c:pt idx="1">
                  <c:v>LAL</c:v>
                </c:pt>
                <c:pt idx="2">
                  <c:v>LWM</c:v>
                </c:pt>
                <c:pt idx="3">
                  <c:v>T-Stream</c:v>
                </c:pt>
              </c:strCache>
            </c:strRef>
          </c:cat>
          <c:val>
            <c:numRef>
              <c:f>Read_only!$B$17:$E$17</c:f>
              <c:numCache>
                <c:formatCode>0%</c:formatCode>
                <c:ptCount val="4"/>
                <c:pt idx="0">
                  <c:v>0.546103759714346</c:v>
                </c:pt>
                <c:pt idx="1">
                  <c:v>4.63537744679332E-5</c:v>
                </c:pt>
                <c:pt idx="2">
                  <c:v>2.68184129416094E-5</c:v>
                </c:pt>
                <c:pt idx="3">
                  <c:v>0.406602641056422</c:v>
                </c:pt>
              </c:numCache>
            </c:numRef>
          </c:val>
        </c:ser>
        <c:ser>
          <c:idx val="3"/>
          <c:order val="1"/>
          <c:tx>
            <c:strRef>
              <c:f>Read_only!$A$19</c:f>
              <c:strCache>
                <c:ptCount val="1"/>
                <c:pt idx="0">
                  <c:v>Wait</c:v>
                </c:pt>
              </c:strCache>
            </c:strRef>
          </c:tx>
          <c:spPr>
            <a:pattFill prst="wdUpDiag">
              <a:fgClr>
                <a:srgbClr val="4472C4"/>
              </a:fgClr>
              <a:bgClr>
                <a:sysClr val="window" lastClr="FFFFFF"/>
              </a:bgClr>
            </a:pattFill>
            <a:ln w="25400">
              <a:solidFill>
                <a:sysClr val="windowText" lastClr="000000"/>
              </a:solidFill>
            </a:ln>
            <a:effectLst/>
          </c:spPr>
          <c:invertIfNegative val="0"/>
          <c:cat>
            <c:strRef>
              <c:f>Read_only!$B$16:$E$16</c:f>
              <c:strCache>
                <c:ptCount val="4"/>
                <c:pt idx="0">
                  <c:v>NOCC</c:v>
                </c:pt>
                <c:pt idx="1">
                  <c:v>LAL</c:v>
                </c:pt>
                <c:pt idx="2">
                  <c:v>LWM</c:v>
                </c:pt>
                <c:pt idx="3">
                  <c:v>T-Stream</c:v>
                </c:pt>
              </c:strCache>
            </c:strRef>
          </c:cat>
          <c:val>
            <c:numRef>
              <c:f>Read_only!$B$19:$E$19</c:f>
              <c:numCache>
                <c:formatCode>0%</c:formatCode>
                <c:ptCount val="4"/>
                <c:pt idx="0">
                  <c:v>0.0</c:v>
                </c:pt>
                <c:pt idx="1">
                  <c:v>0.999950759667287</c:v>
                </c:pt>
                <c:pt idx="2">
                  <c:v>0.99997023440568</c:v>
                </c:pt>
                <c:pt idx="3">
                  <c:v>0.11672669067627</c:v>
                </c:pt>
              </c:numCache>
            </c:numRef>
          </c:val>
        </c:ser>
        <c:ser>
          <c:idx val="2"/>
          <c:order val="2"/>
          <c:tx>
            <c:strRef>
              <c:f>Read_only!$A$20</c:f>
              <c:strCache>
                <c:ptCount val="1"/>
                <c:pt idx="0">
                  <c:v>Index</c:v>
                </c:pt>
              </c:strCache>
            </c:strRef>
          </c:tx>
          <c:spPr>
            <a:pattFill prst="dkVert">
              <a:fgClr>
                <a:srgbClr val="00B050"/>
              </a:fgClr>
              <a:bgClr>
                <a:sysClr val="window" lastClr="FFFFFF"/>
              </a:bgClr>
            </a:pattFill>
            <a:ln w="25400">
              <a:solidFill>
                <a:sysClr val="windowText" lastClr="000000"/>
              </a:solidFill>
            </a:ln>
            <a:effectLst/>
          </c:spPr>
          <c:invertIfNegative val="0"/>
          <c:cat>
            <c:strRef>
              <c:f>Read_only!$B$16:$E$16</c:f>
              <c:strCache>
                <c:ptCount val="4"/>
                <c:pt idx="0">
                  <c:v>NOCC</c:v>
                </c:pt>
                <c:pt idx="1">
                  <c:v>LAL</c:v>
                </c:pt>
                <c:pt idx="2">
                  <c:v>LWM</c:v>
                </c:pt>
                <c:pt idx="3">
                  <c:v>T-Stream</c:v>
                </c:pt>
              </c:strCache>
            </c:strRef>
          </c:cat>
          <c:val>
            <c:numRef>
              <c:f>Read_only!$B$20:$E$20</c:f>
              <c:numCache>
                <c:formatCode>0%</c:formatCode>
                <c:ptCount val="4"/>
                <c:pt idx="0">
                  <c:v>0.114261709724848</c:v>
                </c:pt>
                <c:pt idx="1">
                  <c:v>1.06500686645319E-6</c:v>
                </c:pt>
                <c:pt idx="2">
                  <c:v>9.93853317263913E-7</c:v>
                </c:pt>
                <c:pt idx="3">
                  <c:v>0.0154661864745898</c:v>
                </c:pt>
              </c:numCache>
            </c:numRef>
          </c:val>
        </c:ser>
        <c:ser>
          <c:idx val="4"/>
          <c:order val="3"/>
          <c:tx>
            <c:strRef>
              <c:f>Read_only!$A$21</c:f>
              <c:strCache>
                <c:ptCount val="1"/>
                <c:pt idx="0">
                  <c:v>Ts Alloc.</c:v>
                </c:pt>
              </c:strCache>
            </c:strRef>
          </c:tx>
          <c:spPr>
            <a:solidFill>
              <a:srgbClr val="ED7D31">
                <a:lumMod val="75000"/>
              </a:srgbClr>
            </a:solidFill>
            <a:ln w="25400">
              <a:solidFill>
                <a:sysClr val="windowText" lastClr="000000"/>
              </a:solidFill>
            </a:ln>
            <a:effectLst/>
          </c:spPr>
          <c:invertIfNegative val="0"/>
          <c:cat>
            <c:strRef>
              <c:f>Read_only!$B$16:$E$16</c:f>
              <c:strCache>
                <c:ptCount val="4"/>
                <c:pt idx="0">
                  <c:v>NOCC</c:v>
                </c:pt>
                <c:pt idx="1">
                  <c:v>LAL</c:v>
                </c:pt>
                <c:pt idx="2">
                  <c:v>LWM</c:v>
                </c:pt>
                <c:pt idx="3">
                  <c:v>T-Stream</c:v>
                </c:pt>
              </c:strCache>
            </c:strRef>
          </c:cat>
          <c:val>
            <c:numRef>
              <c:f>Read_only!$B$21:$E$21</c:f>
              <c:numCache>
                <c:formatCode>0%</c:formatCode>
                <c:ptCount val="4"/>
                <c:pt idx="0">
                  <c:v>0.0140726738080235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</c:numCache>
            </c:numRef>
          </c:val>
        </c:ser>
        <c:ser>
          <c:idx val="1"/>
          <c:order val="4"/>
          <c:tx>
            <c:strRef>
              <c:f>Read_only!$A$22</c:f>
              <c:strCache>
                <c:ptCount val="1"/>
                <c:pt idx="0">
                  <c:v>Abort</c:v>
                </c:pt>
              </c:strCache>
            </c:strRef>
          </c:tx>
          <c:spPr>
            <a:pattFill prst="wdDnDiag">
              <a:fgClr>
                <a:srgbClr val="FFC000">
                  <a:lumMod val="60000"/>
                  <a:lumOff val="40000"/>
                </a:srgbClr>
              </a:fgClr>
              <a:bgClr>
                <a:sysClr val="window" lastClr="FFFFFF"/>
              </a:bgClr>
            </a:pattFill>
            <a:ln w="25400">
              <a:solidFill>
                <a:sysClr val="windowText" lastClr="000000"/>
              </a:solidFill>
            </a:ln>
            <a:effectLst/>
          </c:spPr>
          <c:invertIfNegative val="0"/>
          <c:cat>
            <c:strRef>
              <c:f>Read_only!$B$16:$E$16</c:f>
              <c:strCache>
                <c:ptCount val="4"/>
                <c:pt idx="0">
                  <c:v>NOCC</c:v>
                </c:pt>
                <c:pt idx="1">
                  <c:v>LAL</c:v>
                </c:pt>
                <c:pt idx="2">
                  <c:v>LWM</c:v>
                </c:pt>
                <c:pt idx="3">
                  <c:v>T-Stream</c:v>
                </c:pt>
              </c:strCache>
            </c:strRef>
          </c:cat>
          <c:val>
            <c:numRef>
              <c:f>Read_only!$B$22:$E$22</c:f>
              <c:numCache>
                <c:formatCode>0%</c:formatCode>
                <c:ptCount val="4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</c:numCache>
            </c:numRef>
          </c:val>
        </c:ser>
        <c:ser>
          <c:idx val="0"/>
          <c:order val="5"/>
          <c:tx>
            <c:strRef>
              <c:f>Read_only!$A$23</c:f>
              <c:strCache>
                <c:ptCount val="1"/>
                <c:pt idx="0">
                  <c:v>Useful work</c:v>
                </c:pt>
              </c:strCache>
            </c:strRef>
          </c:tx>
          <c:spPr>
            <a:pattFill prst="dkHorz">
              <a:fgClr>
                <a:srgbClr val="FF0000"/>
              </a:fgClr>
              <a:bgClr>
                <a:sysClr val="window" lastClr="FFFFFF"/>
              </a:bgClr>
            </a:pattFill>
            <a:ln w="25400">
              <a:solidFill>
                <a:sysClr val="windowText" lastClr="000000"/>
              </a:solidFill>
            </a:ln>
            <a:effectLst/>
          </c:spPr>
          <c:invertIfNegative val="0"/>
          <c:cat>
            <c:strRef>
              <c:f>Read_only!$B$16:$E$16</c:f>
              <c:strCache>
                <c:ptCount val="4"/>
                <c:pt idx="0">
                  <c:v>NOCC</c:v>
                </c:pt>
                <c:pt idx="1">
                  <c:v>LAL</c:v>
                </c:pt>
                <c:pt idx="2">
                  <c:v>LWM</c:v>
                </c:pt>
                <c:pt idx="3">
                  <c:v>T-Stream</c:v>
                </c:pt>
              </c:strCache>
            </c:strRef>
          </c:cat>
          <c:val>
            <c:numRef>
              <c:f>Read_only!$B$23:$E$23</c:f>
              <c:numCache>
                <c:formatCode>0%</c:formatCode>
                <c:ptCount val="4"/>
                <c:pt idx="0">
                  <c:v>0.325561856752783</c:v>
                </c:pt>
                <c:pt idx="1">
                  <c:v>1.82155137829341E-6</c:v>
                </c:pt>
                <c:pt idx="2">
                  <c:v>1.95332806066021E-6</c:v>
                </c:pt>
                <c:pt idx="3">
                  <c:v>0.461204481792717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7"/>
        <c:overlap val="100"/>
        <c:axId val="1356218192"/>
        <c:axId val="1356219968"/>
      </c:barChart>
      <c:catAx>
        <c:axId val="135621819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25400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56219968"/>
        <c:crosses val="autoZero"/>
        <c:auto val="1"/>
        <c:lblAlgn val="ctr"/>
        <c:lblOffset val="100"/>
        <c:noMultiLvlLbl val="0"/>
      </c:catAx>
      <c:valAx>
        <c:axId val="1356219968"/>
        <c:scaling>
          <c:orientation val="minMax"/>
          <c:max val="1.0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56218192"/>
        <c:crosses val="autoZero"/>
        <c:crossBetween val="between"/>
        <c:majorUnit val="0.2"/>
      </c:valAx>
      <c:spPr>
        <a:noFill/>
        <a:ln w="25400">
          <a:solidFill>
            <a:schemeClr val="tx1"/>
          </a:solidFill>
        </a:ln>
        <a:effectLst/>
      </c:spPr>
    </c:plotArea>
    <c:legend>
      <c:legendPos val="r"/>
      <c:layout/>
      <c:overlay val="0"/>
      <c:spPr>
        <a:noFill/>
        <a:ln w="25400">
          <a:solidFill>
            <a:schemeClr val="tx1"/>
          </a:solidFill>
        </a:ln>
        <a:effectLst/>
      </c:spPr>
      <c:txPr>
        <a:bodyPr rot="0" spcFirstLastPara="1" vertOverflow="ellipsis" vert="horz" wrap="square" anchor="ctr" anchorCtr="1"/>
        <a:lstStyle/>
        <a:p>
          <a:pPr>
            <a:defRPr sz="2800" b="1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67410" y="1178481"/>
            <a:ext cx="16604456" cy="2506980"/>
          </a:xfrm>
        </p:spPr>
        <p:txBody>
          <a:bodyPr anchor="b"/>
          <a:lstStyle>
            <a:lvl1pPr algn="ctr">
              <a:defRPr sz="63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67410" y="3782140"/>
            <a:ext cx="16604456" cy="1738550"/>
          </a:xfrm>
        </p:spPr>
        <p:txBody>
          <a:bodyPr/>
          <a:lstStyle>
            <a:lvl1pPr marL="0" indent="0" algn="ctr">
              <a:buNone/>
              <a:defRPr sz="2520"/>
            </a:lvl1pPr>
            <a:lvl2pPr marL="480060" indent="0" algn="ctr">
              <a:buNone/>
              <a:defRPr sz="2100"/>
            </a:lvl2pPr>
            <a:lvl3pPr marL="960120" indent="0" algn="ctr">
              <a:buNone/>
              <a:defRPr sz="1890"/>
            </a:lvl3pPr>
            <a:lvl4pPr marL="1440180" indent="0" algn="ctr">
              <a:buNone/>
              <a:defRPr sz="1680"/>
            </a:lvl4pPr>
            <a:lvl5pPr marL="1920240" indent="0" algn="ctr">
              <a:buNone/>
              <a:defRPr sz="1680"/>
            </a:lvl5pPr>
            <a:lvl6pPr marL="2400300" indent="0" algn="ctr">
              <a:buNone/>
              <a:defRPr sz="1680"/>
            </a:lvl6pPr>
            <a:lvl7pPr marL="2880360" indent="0" algn="ctr">
              <a:buNone/>
              <a:defRPr sz="1680"/>
            </a:lvl7pPr>
            <a:lvl8pPr marL="3360420" indent="0" algn="ctr">
              <a:buNone/>
              <a:defRPr sz="1680"/>
            </a:lvl8pPr>
            <a:lvl9pPr marL="3840480" indent="0" algn="ctr">
              <a:buNone/>
              <a:defRPr sz="168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B2BD2-82E3-B146-8053-A0DFA8C8AAC1}" type="datetimeFigureOut">
              <a:rPr lang="en-US" smtClean="0"/>
              <a:t>9/16/18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901B8-A89D-5A41-9A30-AD427CA6E84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B2BD2-82E3-B146-8053-A0DFA8C8AAC1}" type="datetimeFigureOut">
              <a:rPr lang="en-US" smtClean="0"/>
              <a:t>9/16/18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901B8-A89D-5A41-9A30-AD427CA6E84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0544" y="1795225"/>
            <a:ext cx="19095125" cy="2995374"/>
          </a:xfrm>
        </p:spPr>
        <p:txBody>
          <a:bodyPr anchor="b"/>
          <a:lstStyle>
            <a:lvl1pPr>
              <a:defRPr sz="63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10544" y="4818937"/>
            <a:ext cx="19095125" cy="1575196"/>
          </a:xfrm>
        </p:spPr>
        <p:txBody>
          <a:bodyPr/>
          <a:lstStyle>
            <a:lvl1pPr marL="0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1pPr>
            <a:lvl2pPr marL="48006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2pPr>
            <a:lvl3pPr marL="960120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3pPr>
            <a:lvl4pPr marL="14401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19202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4003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28803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3604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B2BD2-82E3-B146-8053-A0DFA8C8AAC1}" type="datetimeFigureOut">
              <a:rPr lang="en-US" smtClean="0"/>
              <a:t>9/16/18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901B8-A89D-5A41-9A30-AD427CA6E84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2075" y="1916906"/>
            <a:ext cx="9409192" cy="456890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8008" y="1916906"/>
            <a:ext cx="9409192" cy="456890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B2BD2-82E3-B146-8053-A0DFA8C8AAC1}" type="datetimeFigureOut">
              <a:rPr lang="en-US" smtClean="0"/>
              <a:t>9/16/18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901B8-A89D-5A41-9A30-AD427CA6E84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959" y="383382"/>
            <a:ext cx="19095125" cy="139184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960" y="1765221"/>
            <a:ext cx="9365950" cy="865108"/>
          </a:xfrm>
        </p:spPr>
        <p:txBody>
          <a:bodyPr anchor="b"/>
          <a:lstStyle>
            <a:lvl1pPr marL="0" indent="0">
              <a:buNone/>
              <a:defRPr sz="2520" b="1"/>
            </a:lvl1pPr>
            <a:lvl2pPr marL="480060" indent="0">
              <a:buNone/>
              <a:defRPr sz="2100" b="1"/>
            </a:lvl2pPr>
            <a:lvl3pPr marL="960120" indent="0">
              <a:buNone/>
              <a:defRPr sz="1890" b="1"/>
            </a:lvl3pPr>
            <a:lvl4pPr marL="1440180" indent="0">
              <a:buNone/>
              <a:defRPr sz="1680" b="1"/>
            </a:lvl4pPr>
            <a:lvl5pPr marL="1920240" indent="0">
              <a:buNone/>
              <a:defRPr sz="1680" b="1"/>
            </a:lvl5pPr>
            <a:lvl6pPr marL="2400300" indent="0">
              <a:buNone/>
              <a:defRPr sz="1680" b="1"/>
            </a:lvl6pPr>
            <a:lvl7pPr marL="2880360" indent="0">
              <a:buNone/>
              <a:defRPr sz="1680" b="1"/>
            </a:lvl7pPr>
            <a:lvl8pPr marL="3360420" indent="0">
              <a:buNone/>
              <a:defRPr sz="1680" b="1"/>
            </a:lvl8pPr>
            <a:lvl9pPr marL="3840480" indent="0">
              <a:buNone/>
              <a:defRPr sz="168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4960" y="2630329"/>
            <a:ext cx="9365950" cy="386881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1208008" y="1765221"/>
            <a:ext cx="9412076" cy="865108"/>
          </a:xfrm>
        </p:spPr>
        <p:txBody>
          <a:bodyPr anchor="b"/>
          <a:lstStyle>
            <a:lvl1pPr marL="0" indent="0">
              <a:buNone/>
              <a:defRPr sz="2520" b="1"/>
            </a:lvl1pPr>
            <a:lvl2pPr marL="480060" indent="0">
              <a:buNone/>
              <a:defRPr sz="2100" b="1"/>
            </a:lvl2pPr>
            <a:lvl3pPr marL="960120" indent="0">
              <a:buNone/>
              <a:defRPr sz="1890" b="1"/>
            </a:lvl3pPr>
            <a:lvl4pPr marL="1440180" indent="0">
              <a:buNone/>
              <a:defRPr sz="1680" b="1"/>
            </a:lvl4pPr>
            <a:lvl5pPr marL="1920240" indent="0">
              <a:buNone/>
              <a:defRPr sz="1680" b="1"/>
            </a:lvl5pPr>
            <a:lvl6pPr marL="2400300" indent="0">
              <a:buNone/>
              <a:defRPr sz="1680" b="1"/>
            </a:lvl6pPr>
            <a:lvl7pPr marL="2880360" indent="0">
              <a:buNone/>
              <a:defRPr sz="1680" b="1"/>
            </a:lvl7pPr>
            <a:lvl8pPr marL="3360420" indent="0">
              <a:buNone/>
              <a:defRPr sz="1680" b="1"/>
            </a:lvl8pPr>
            <a:lvl9pPr marL="3840480" indent="0">
              <a:buNone/>
              <a:defRPr sz="168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1208008" y="2630329"/>
            <a:ext cx="9412076" cy="386881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B2BD2-82E3-B146-8053-A0DFA8C8AAC1}" type="datetimeFigureOut">
              <a:rPr lang="en-US" smtClean="0"/>
              <a:t>9/16/18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901B8-A89D-5A41-9A30-AD427CA6E84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B2BD2-82E3-B146-8053-A0DFA8C8AAC1}" type="datetimeFigureOut">
              <a:rPr lang="en-US" smtClean="0"/>
              <a:t>9/16/18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901B8-A89D-5A41-9A30-AD427CA6E84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B2BD2-82E3-B146-8053-A0DFA8C8AAC1}" type="datetimeFigureOut">
              <a:rPr lang="en-US" smtClean="0"/>
              <a:t>9/16/18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901B8-A89D-5A41-9A30-AD427CA6E84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960" y="480060"/>
            <a:ext cx="7140492" cy="1680210"/>
          </a:xfrm>
        </p:spPr>
        <p:txBody>
          <a:bodyPr anchor="b"/>
          <a:lstStyle>
            <a:lvl1pPr>
              <a:defRPr sz="336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12075" y="1036797"/>
            <a:ext cx="11208008" cy="5117306"/>
          </a:xfrm>
        </p:spPr>
        <p:txBody>
          <a:bodyPr/>
          <a:lstStyle>
            <a:lvl1pPr>
              <a:defRPr sz="3360"/>
            </a:lvl1pPr>
            <a:lvl2pPr>
              <a:defRPr sz="2940"/>
            </a:lvl2pPr>
            <a:lvl3pPr>
              <a:defRPr sz="252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24960" y="2160270"/>
            <a:ext cx="7140492" cy="4002167"/>
          </a:xfrm>
        </p:spPr>
        <p:txBody>
          <a:bodyPr/>
          <a:lstStyle>
            <a:lvl1pPr marL="0" indent="0">
              <a:buNone/>
              <a:defRPr sz="1680"/>
            </a:lvl1pPr>
            <a:lvl2pPr marL="480060" indent="0">
              <a:buNone/>
              <a:defRPr sz="1470"/>
            </a:lvl2pPr>
            <a:lvl3pPr marL="960120" indent="0">
              <a:buNone/>
              <a:defRPr sz="1260"/>
            </a:lvl3pPr>
            <a:lvl4pPr marL="1440180" indent="0">
              <a:buNone/>
              <a:defRPr sz="1050"/>
            </a:lvl4pPr>
            <a:lvl5pPr marL="1920240" indent="0">
              <a:buNone/>
              <a:defRPr sz="1050"/>
            </a:lvl5pPr>
            <a:lvl6pPr marL="2400300" indent="0">
              <a:buNone/>
              <a:defRPr sz="1050"/>
            </a:lvl6pPr>
            <a:lvl7pPr marL="2880360" indent="0">
              <a:buNone/>
              <a:defRPr sz="1050"/>
            </a:lvl7pPr>
            <a:lvl8pPr marL="3360420" indent="0">
              <a:buNone/>
              <a:defRPr sz="1050"/>
            </a:lvl8pPr>
            <a:lvl9pPr marL="3840480" indent="0">
              <a:buNone/>
              <a:defRPr sz="10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B2BD2-82E3-B146-8053-A0DFA8C8AAC1}" type="datetimeFigureOut">
              <a:rPr lang="en-US" smtClean="0"/>
              <a:t>9/16/18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901B8-A89D-5A41-9A30-AD427CA6E84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960" y="480060"/>
            <a:ext cx="7140492" cy="1680210"/>
          </a:xfrm>
        </p:spPr>
        <p:txBody>
          <a:bodyPr anchor="b"/>
          <a:lstStyle>
            <a:lvl1pPr>
              <a:defRPr sz="336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412075" y="1036797"/>
            <a:ext cx="11208008" cy="5117306"/>
          </a:xfrm>
        </p:spPr>
        <p:txBody>
          <a:bodyPr anchor="t"/>
          <a:lstStyle>
            <a:lvl1pPr marL="0" indent="0">
              <a:buNone/>
              <a:defRPr sz="3360"/>
            </a:lvl1pPr>
            <a:lvl2pPr marL="480060" indent="0">
              <a:buNone/>
              <a:defRPr sz="2940"/>
            </a:lvl2pPr>
            <a:lvl3pPr marL="960120" indent="0">
              <a:buNone/>
              <a:defRPr sz="2520"/>
            </a:lvl3pPr>
            <a:lvl4pPr marL="1440180" indent="0">
              <a:buNone/>
              <a:defRPr sz="2100"/>
            </a:lvl4pPr>
            <a:lvl5pPr marL="1920240" indent="0">
              <a:buNone/>
              <a:defRPr sz="2100"/>
            </a:lvl5pPr>
            <a:lvl6pPr marL="2400300" indent="0">
              <a:buNone/>
              <a:defRPr sz="2100"/>
            </a:lvl6pPr>
            <a:lvl7pPr marL="2880360" indent="0">
              <a:buNone/>
              <a:defRPr sz="2100"/>
            </a:lvl7pPr>
            <a:lvl8pPr marL="3360420" indent="0">
              <a:buNone/>
              <a:defRPr sz="2100"/>
            </a:lvl8pPr>
            <a:lvl9pPr marL="3840480" indent="0">
              <a:buNone/>
              <a:defRPr sz="210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24960" y="2160270"/>
            <a:ext cx="7140492" cy="4002167"/>
          </a:xfrm>
        </p:spPr>
        <p:txBody>
          <a:bodyPr/>
          <a:lstStyle>
            <a:lvl1pPr marL="0" indent="0">
              <a:buNone/>
              <a:defRPr sz="1680"/>
            </a:lvl1pPr>
            <a:lvl2pPr marL="480060" indent="0">
              <a:buNone/>
              <a:defRPr sz="1470"/>
            </a:lvl2pPr>
            <a:lvl3pPr marL="960120" indent="0">
              <a:buNone/>
              <a:defRPr sz="1260"/>
            </a:lvl3pPr>
            <a:lvl4pPr marL="1440180" indent="0">
              <a:buNone/>
              <a:defRPr sz="1050"/>
            </a:lvl4pPr>
            <a:lvl5pPr marL="1920240" indent="0">
              <a:buNone/>
              <a:defRPr sz="1050"/>
            </a:lvl5pPr>
            <a:lvl6pPr marL="2400300" indent="0">
              <a:buNone/>
              <a:defRPr sz="1050"/>
            </a:lvl6pPr>
            <a:lvl7pPr marL="2880360" indent="0">
              <a:buNone/>
              <a:defRPr sz="1050"/>
            </a:lvl7pPr>
            <a:lvl8pPr marL="3360420" indent="0">
              <a:buNone/>
              <a:defRPr sz="1050"/>
            </a:lvl8pPr>
            <a:lvl9pPr marL="3840480" indent="0">
              <a:buNone/>
              <a:defRPr sz="10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B2BD2-82E3-B146-8053-A0DFA8C8AAC1}" type="datetimeFigureOut">
              <a:rPr lang="en-US" smtClean="0"/>
              <a:t>9/16/18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901B8-A89D-5A41-9A30-AD427CA6E84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B2BD2-82E3-B146-8053-A0DFA8C8AAC1}" type="datetimeFigureOut">
              <a:rPr lang="en-US" smtClean="0"/>
              <a:t>9/16/18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901B8-A89D-5A41-9A30-AD427CA6E84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843419" y="383381"/>
            <a:ext cx="4773781" cy="610243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2075" y="383381"/>
            <a:ext cx="14044603" cy="610243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B2BD2-82E3-B146-8053-A0DFA8C8AAC1}" type="datetimeFigureOut">
              <a:rPr lang="en-US" smtClean="0"/>
              <a:t>9/16/18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901B8-A89D-5A41-9A30-AD427CA6E84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2075" y="383382"/>
            <a:ext cx="19095125" cy="13918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075" y="1916906"/>
            <a:ext cx="19095125" cy="45689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22075" y="6674168"/>
            <a:ext cx="4981337" cy="383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B2BD2-82E3-B146-8053-A0DFA8C8AAC1}" type="datetimeFigureOut">
              <a:rPr lang="en-US" smtClean="0"/>
              <a:t>9/16/18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333635" y="6674168"/>
            <a:ext cx="7472005" cy="383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635863" y="6674168"/>
            <a:ext cx="4981337" cy="383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9901B8-A89D-5A41-9A30-AD427CA6E8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5792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xStyles>
    <p:titleStyle>
      <a:lvl1pPr algn="l" defTabSz="960120" rtl="0" eaLnBrk="1" latinLnBrk="0" hangingPunct="1">
        <a:lnSpc>
          <a:spcPct val="90000"/>
        </a:lnSpc>
        <a:spcBef>
          <a:spcPct val="0"/>
        </a:spcBef>
        <a:buNone/>
        <a:defRPr sz="46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0030" indent="-240030" algn="l" defTabSz="960120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2940" kern="1200">
          <a:solidFill>
            <a:schemeClr val="tx1"/>
          </a:solidFill>
          <a:latin typeface="+mn-lt"/>
          <a:ea typeface="+mn-ea"/>
          <a:cs typeface="+mn-cs"/>
        </a:defRPr>
      </a:lvl1pPr>
      <a:lvl2pPr marL="72009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0015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8021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216027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64033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312039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60045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408051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1pPr>
      <a:lvl2pPr marL="48006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96012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44018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2024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40030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8036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36042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84048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10716863"/>
              </p:ext>
            </p:extLst>
          </p:nvPr>
        </p:nvGraphicFramePr>
        <p:xfrm>
          <a:off x="-19528" y="-14497"/>
          <a:ext cx="12192000" cy="685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Rectangle 4"/>
          <p:cNvSpPr/>
          <p:nvPr/>
        </p:nvSpPr>
        <p:spPr>
          <a:xfrm>
            <a:off x="9767947" y="1560311"/>
            <a:ext cx="2404533" cy="4013201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aphicFrame>
        <p:nvGraphicFramePr>
          <p:cNvPr id="6" name="Chart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10761116"/>
              </p:ext>
            </p:extLst>
          </p:nvPr>
        </p:nvGraphicFramePr>
        <p:xfrm>
          <a:off x="9977802" y="-14497"/>
          <a:ext cx="12192000" cy="685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245753" y="6731079"/>
            <a:ext cx="163166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/>
              <a:t>64 </a:t>
            </a:r>
            <a:r>
              <a:rPr lang="en-US" sz="3200" dirty="0"/>
              <a:t>Cores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339278" y="6731079"/>
            <a:ext cx="1840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/>
              <a:t>128 </a:t>
            </a:r>
            <a:r>
              <a:rPr lang="en-US" sz="3200" dirty="0"/>
              <a:t>Cores</a:t>
            </a:r>
          </a:p>
        </p:txBody>
      </p:sp>
    </p:spTree>
    <p:extLst>
      <p:ext uri="{BB962C8B-B14F-4D97-AF65-F5344CB8AC3E}">
        <p14:creationId xmlns:p14="http://schemas.microsoft.com/office/powerpoint/2010/main" val="16583374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</TotalTime>
  <Words>4</Words>
  <Application>Microsoft Macintosh PowerPoint</Application>
  <PresentationFormat>Custom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Calibri</vt:lpstr>
      <vt:lpstr>Calibri Light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15.0041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4</cp:revision>
  <dcterms:created xsi:type="dcterms:W3CDTF">2018-09-16T06:56:32Z</dcterms:created>
  <dcterms:modified xsi:type="dcterms:W3CDTF">2018-09-16T12:37:33Z</dcterms:modified>
</cp:coreProperties>
</file>