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4" r:id="rId1"/>
  </p:sldMasterIdLst>
  <p:sldIdLst>
    <p:sldId id="256" r:id="rId2"/>
  </p:sldIdLst>
  <p:sldSz cx="8099425" cy="4319588"/>
  <p:notesSz cx="6858000" cy="9144000"/>
  <p:defaultTextStyle>
    <a:defPPr>
      <a:defRPr lang="en-US"/>
    </a:defPPr>
    <a:lvl1pPr marL="0" algn="l" defTabSz="739857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1pPr>
    <a:lvl2pPr marL="369928" algn="l" defTabSz="739857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2pPr>
    <a:lvl3pPr marL="739857" algn="l" defTabSz="739857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3pPr>
    <a:lvl4pPr marL="1109785" algn="l" defTabSz="739857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4pPr>
    <a:lvl5pPr marL="1479713" algn="l" defTabSz="739857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5pPr>
    <a:lvl6pPr marL="1849642" algn="l" defTabSz="739857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6pPr>
    <a:lvl7pPr marL="2219570" algn="l" defTabSz="739857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7pPr>
    <a:lvl8pPr marL="2589498" algn="l" defTabSz="739857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8pPr>
    <a:lvl9pPr marL="2959427" algn="l" defTabSz="739857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03"/>
    <p:restoredTop sz="94643"/>
  </p:normalViewPr>
  <p:slideViewPr>
    <p:cSldViewPr snapToGrid="0" snapToObjects="1">
      <p:cViewPr>
        <p:scale>
          <a:sx n="94" d="100"/>
          <a:sy n="94" d="100"/>
        </p:scale>
        <p:origin x="2704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428" y="706933"/>
            <a:ext cx="6074569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2428" y="2268784"/>
            <a:ext cx="6074569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73FA-1883-2D4D-AF49-958C76ED721E}" type="datetimeFigureOut">
              <a:rPr lang="en-US" smtClean="0"/>
              <a:t>8/13/18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6E8F5-4F1D-994D-BEA7-C4F2D29A8F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73FA-1883-2D4D-AF49-958C76ED721E}" type="datetimeFigureOut">
              <a:rPr lang="en-US" smtClean="0"/>
              <a:t>8/13/18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6E8F5-4F1D-994D-BEA7-C4F2D29A8F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617" y="1076898"/>
            <a:ext cx="6985754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617" y="2890725"/>
            <a:ext cx="6985754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73FA-1883-2D4D-AF49-958C76ED721E}" type="datetimeFigureOut">
              <a:rPr lang="en-US" smtClean="0"/>
              <a:t>8/13/18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6E8F5-4F1D-994D-BEA7-C4F2D29A8F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6835" y="1149890"/>
            <a:ext cx="3442256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0334" y="1149890"/>
            <a:ext cx="3442256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73FA-1883-2D4D-AF49-958C76ED721E}" type="datetimeFigureOut">
              <a:rPr lang="en-US" smtClean="0"/>
              <a:t>8/13/18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6E8F5-4F1D-994D-BEA7-C4F2D29A8F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890" y="229978"/>
            <a:ext cx="6985754" cy="8349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7891" y="1058899"/>
            <a:ext cx="342643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891" y="1577849"/>
            <a:ext cx="342643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00334" y="1058899"/>
            <a:ext cx="3443311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00334" y="1577849"/>
            <a:ext cx="3443311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73FA-1883-2D4D-AF49-958C76ED721E}" type="datetimeFigureOut">
              <a:rPr lang="en-US" smtClean="0"/>
              <a:t>8/13/18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6E8F5-4F1D-994D-BEA7-C4F2D29A8F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73FA-1883-2D4D-AF49-958C76ED721E}" type="datetimeFigureOut">
              <a:rPr lang="en-US" smtClean="0"/>
              <a:t>8/13/18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6E8F5-4F1D-994D-BEA7-C4F2D29A8F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73FA-1883-2D4D-AF49-958C76ED721E}" type="datetimeFigureOut">
              <a:rPr lang="en-US" smtClean="0"/>
              <a:t>8/13/18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6E8F5-4F1D-994D-BEA7-C4F2D29A8F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891" y="287972"/>
            <a:ext cx="261227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3311" y="621941"/>
            <a:ext cx="4100334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7891" y="1295877"/>
            <a:ext cx="261227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73FA-1883-2D4D-AF49-958C76ED721E}" type="datetimeFigureOut">
              <a:rPr lang="en-US" smtClean="0"/>
              <a:t>8/13/18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6E8F5-4F1D-994D-BEA7-C4F2D29A8F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891" y="287972"/>
            <a:ext cx="261227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43311" y="621941"/>
            <a:ext cx="4100334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7891" y="1295877"/>
            <a:ext cx="261227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73FA-1883-2D4D-AF49-958C76ED721E}" type="datetimeFigureOut">
              <a:rPr lang="en-US" smtClean="0"/>
              <a:t>8/13/18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6E8F5-4F1D-994D-BEA7-C4F2D29A8F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73FA-1883-2D4D-AF49-958C76ED721E}" type="datetimeFigureOut">
              <a:rPr lang="en-US" smtClean="0"/>
              <a:t>8/13/18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6E8F5-4F1D-994D-BEA7-C4F2D29A8F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796151" y="229978"/>
            <a:ext cx="1746439" cy="36606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6835" y="229978"/>
            <a:ext cx="5138073" cy="36606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73FA-1883-2D4D-AF49-958C76ED721E}" type="datetimeFigureOut">
              <a:rPr lang="en-US" smtClean="0"/>
              <a:t>8/13/18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6E8F5-4F1D-994D-BEA7-C4F2D29A8F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6836" y="229978"/>
            <a:ext cx="6985754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836" y="1149890"/>
            <a:ext cx="6985754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6835" y="4003618"/>
            <a:ext cx="1822371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873FA-1883-2D4D-AF49-958C76ED721E}" type="datetimeFigureOut">
              <a:rPr lang="en-US" smtClean="0"/>
              <a:t>8/13/18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82935" y="4003618"/>
            <a:ext cx="2733556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219" y="4003618"/>
            <a:ext cx="1822371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6E8F5-4F1D-994D-BEA7-C4F2D29A8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an 107"/>
          <p:cNvSpPr/>
          <p:nvPr/>
        </p:nvSpPr>
        <p:spPr>
          <a:xfrm>
            <a:off x="5106224" y="1526306"/>
            <a:ext cx="783598" cy="354915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Spec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06074" y="1325601"/>
            <a:ext cx="1169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Celsius,</a:t>
            </a:r>
          </a:p>
          <a:p>
            <a:r>
              <a:rPr lang="en-US" sz="1400" dirty="0"/>
              <a:t>Fahrenheit.</a:t>
            </a:r>
          </a:p>
        </p:txBody>
      </p:sp>
      <p:sp>
        <p:nvSpPr>
          <p:cNvPr id="112" name="Oval 111"/>
          <p:cNvSpPr/>
          <p:nvPr/>
        </p:nvSpPr>
        <p:spPr>
          <a:xfrm>
            <a:off x="4850365" y="219919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3" name="Rectangle 112"/>
          <p:cNvSpPr/>
          <p:nvPr/>
        </p:nvSpPr>
        <p:spPr>
          <a:xfrm>
            <a:off x="4840247" y="225004"/>
            <a:ext cx="380232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R1</a:t>
            </a:r>
          </a:p>
        </p:txBody>
      </p:sp>
      <p:cxnSp>
        <p:nvCxnSpPr>
          <p:cNvPr id="114" name="Straight Arrow Connector 113"/>
          <p:cNvCxnSpPr/>
          <p:nvPr/>
        </p:nvCxnSpPr>
        <p:spPr>
          <a:xfrm flipV="1">
            <a:off x="5210386" y="395253"/>
            <a:ext cx="3676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5578046" y="215253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7" name="Rectangle 116"/>
          <p:cNvSpPr/>
          <p:nvPr/>
        </p:nvSpPr>
        <p:spPr>
          <a:xfrm>
            <a:off x="5568730" y="220338"/>
            <a:ext cx="378630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118" name="Straight Arrow Connector 117"/>
          <p:cNvCxnSpPr>
            <a:stCxn id="112" idx="4"/>
            <a:endCxn id="108" idx="1"/>
          </p:cNvCxnSpPr>
          <p:nvPr/>
        </p:nvCxnSpPr>
        <p:spPr>
          <a:xfrm>
            <a:off x="5030365" y="579919"/>
            <a:ext cx="467658" cy="946366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4837890" y="851866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7" name="Rectangle 126"/>
          <p:cNvSpPr/>
          <p:nvPr/>
        </p:nvSpPr>
        <p:spPr>
          <a:xfrm>
            <a:off x="4794910" y="856951"/>
            <a:ext cx="445956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W1</a:t>
            </a:r>
            <a:endParaRPr lang="en-US" dirty="0"/>
          </a:p>
        </p:txBody>
      </p:sp>
      <p:cxnSp>
        <p:nvCxnSpPr>
          <p:cNvPr id="132" name="Straight Arrow Connector 131"/>
          <p:cNvCxnSpPr/>
          <p:nvPr/>
        </p:nvCxnSpPr>
        <p:spPr>
          <a:xfrm>
            <a:off x="4492117" y="1028906"/>
            <a:ext cx="36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>
            <a:off x="4490365" y="395253"/>
            <a:ext cx="36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>
            <a:stCxn id="126" idx="4"/>
            <a:endCxn id="108" idx="1"/>
          </p:cNvCxnSpPr>
          <p:nvPr/>
        </p:nvCxnSpPr>
        <p:spPr>
          <a:xfrm>
            <a:off x="5017911" y="1211887"/>
            <a:ext cx="480133" cy="314419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Freeform 145"/>
          <p:cNvSpPr/>
          <p:nvPr/>
        </p:nvSpPr>
        <p:spPr>
          <a:xfrm>
            <a:off x="4714008" y="-14246"/>
            <a:ext cx="680875" cy="1477692"/>
          </a:xfrm>
          <a:custGeom>
            <a:avLst/>
            <a:gdLst>
              <a:gd name="connsiteX0" fmla="*/ 62142 w 680875"/>
              <a:gd name="connsiteY0" fmla="*/ 148440 h 1477692"/>
              <a:gd name="connsiteX1" fmla="*/ 74842 w 680875"/>
              <a:gd name="connsiteY1" fmla="*/ 1316840 h 1477692"/>
              <a:gd name="connsiteX2" fmla="*/ 620942 w 680875"/>
              <a:gd name="connsiteY2" fmla="*/ 1342240 h 1477692"/>
              <a:gd name="connsiteX3" fmla="*/ 608242 w 680875"/>
              <a:gd name="connsiteY3" fmla="*/ 148440 h 1477692"/>
              <a:gd name="connsiteX4" fmla="*/ 62142 w 680875"/>
              <a:gd name="connsiteY4" fmla="*/ 148440 h 1477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875" h="1477692">
                <a:moveTo>
                  <a:pt x="62142" y="148440"/>
                </a:moveTo>
                <a:cubicBezTo>
                  <a:pt x="-26758" y="343173"/>
                  <a:pt x="-18291" y="1117873"/>
                  <a:pt x="74842" y="1316840"/>
                </a:cubicBezTo>
                <a:cubicBezTo>
                  <a:pt x="167975" y="1515807"/>
                  <a:pt x="532042" y="1536973"/>
                  <a:pt x="620942" y="1342240"/>
                </a:cubicBezTo>
                <a:cubicBezTo>
                  <a:pt x="709842" y="1147507"/>
                  <a:pt x="695025" y="349523"/>
                  <a:pt x="608242" y="148440"/>
                </a:cubicBezTo>
                <a:cubicBezTo>
                  <a:pt x="521459" y="-52643"/>
                  <a:pt x="151042" y="-46293"/>
                  <a:pt x="62142" y="148440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51" name="Straight Arrow Connector 150"/>
          <p:cNvCxnSpPr/>
          <p:nvPr/>
        </p:nvCxnSpPr>
        <p:spPr>
          <a:xfrm flipV="1">
            <a:off x="5938046" y="395253"/>
            <a:ext cx="288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Can 151"/>
          <p:cNvSpPr/>
          <p:nvPr/>
        </p:nvSpPr>
        <p:spPr>
          <a:xfrm>
            <a:off x="677115" y="3391377"/>
            <a:ext cx="825235" cy="354915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Votes</a:t>
            </a:r>
          </a:p>
        </p:txBody>
      </p:sp>
      <p:sp>
        <p:nvSpPr>
          <p:cNvPr id="155" name="Oval 154"/>
          <p:cNvSpPr/>
          <p:nvPr/>
        </p:nvSpPr>
        <p:spPr>
          <a:xfrm>
            <a:off x="497116" y="2702753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6" name="Rectangle 155"/>
          <p:cNvSpPr/>
          <p:nvPr/>
        </p:nvSpPr>
        <p:spPr>
          <a:xfrm>
            <a:off x="486998" y="2707838"/>
            <a:ext cx="380232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R1</a:t>
            </a:r>
          </a:p>
        </p:txBody>
      </p:sp>
      <p:cxnSp>
        <p:nvCxnSpPr>
          <p:cNvPr id="157" name="Straight Arrow Connector 156"/>
          <p:cNvCxnSpPr>
            <a:stCxn id="155" idx="6"/>
            <a:endCxn id="159" idx="2"/>
          </p:cNvCxnSpPr>
          <p:nvPr/>
        </p:nvCxnSpPr>
        <p:spPr>
          <a:xfrm>
            <a:off x="857117" y="2882753"/>
            <a:ext cx="202221" cy="26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1059337" y="2705423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0" name="Rectangle 159"/>
          <p:cNvSpPr/>
          <p:nvPr/>
        </p:nvSpPr>
        <p:spPr>
          <a:xfrm>
            <a:off x="1016357" y="2710508"/>
            <a:ext cx="445956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W</a:t>
            </a:r>
            <a:r>
              <a:rPr lang="en-US" dirty="0"/>
              <a:t>1</a:t>
            </a:r>
          </a:p>
        </p:txBody>
      </p:sp>
      <p:cxnSp>
        <p:nvCxnSpPr>
          <p:cNvPr id="161" name="Straight Arrow Connector 160"/>
          <p:cNvCxnSpPr>
            <a:stCxn id="155" idx="4"/>
            <a:endCxn id="152" idx="1"/>
          </p:cNvCxnSpPr>
          <p:nvPr/>
        </p:nvCxnSpPr>
        <p:spPr>
          <a:xfrm>
            <a:off x="677116" y="3062754"/>
            <a:ext cx="412616" cy="328623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endCxn id="155" idx="2"/>
          </p:cNvCxnSpPr>
          <p:nvPr/>
        </p:nvCxnSpPr>
        <p:spPr>
          <a:xfrm>
            <a:off x="229286" y="2868789"/>
            <a:ext cx="267831" cy="13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stCxn id="159" idx="6"/>
            <a:endCxn id="177" idx="3"/>
          </p:cNvCxnSpPr>
          <p:nvPr/>
        </p:nvCxnSpPr>
        <p:spPr>
          <a:xfrm flipV="1">
            <a:off x="1419337" y="2530229"/>
            <a:ext cx="162342" cy="3551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stCxn id="152" idx="1"/>
            <a:endCxn id="159" idx="4"/>
          </p:cNvCxnSpPr>
          <p:nvPr/>
        </p:nvCxnSpPr>
        <p:spPr>
          <a:xfrm flipV="1">
            <a:off x="1089733" y="3065424"/>
            <a:ext cx="149605" cy="325953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val 176"/>
          <p:cNvSpPr/>
          <p:nvPr/>
        </p:nvSpPr>
        <p:spPr>
          <a:xfrm>
            <a:off x="1528958" y="2222949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8" name="Rectangle 177"/>
          <p:cNvSpPr/>
          <p:nvPr/>
        </p:nvSpPr>
        <p:spPr>
          <a:xfrm>
            <a:off x="1518840" y="2228034"/>
            <a:ext cx="380232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R2</a:t>
            </a:r>
            <a:endParaRPr lang="en-US" dirty="0"/>
          </a:p>
        </p:txBody>
      </p:sp>
      <p:grpSp>
        <p:nvGrpSpPr>
          <p:cNvPr id="236" name="Group 235"/>
          <p:cNvGrpSpPr/>
          <p:nvPr/>
        </p:nvGrpSpPr>
        <p:grpSpPr>
          <a:xfrm>
            <a:off x="2984225" y="3373230"/>
            <a:ext cx="1174205" cy="354915"/>
            <a:chOff x="8593216" y="1832362"/>
            <a:chExt cx="1174205" cy="354915"/>
          </a:xfrm>
        </p:grpSpPr>
        <p:sp>
          <p:nvSpPr>
            <p:cNvPr id="186" name="Can 185"/>
            <p:cNvSpPr/>
            <p:nvPr/>
          </p:nvSpPr>
          <p:spPr>
            <a:xfrm>
              <a:off x="8593216" y="1832362"/>
              <a:ext cx="1137975" cy="354915"/>
            </a:xfrm>
            <a:prstGeom prst="ca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8618580" y="1847646"/>
              <a:ext cx="1148841" cy="3165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Leaderboard</a:t>
              </a:r>
            </a:p>
          </p:txBody>
        </p:sp>
      </p:grpSp>
      <p:cxnSp>
        <p:nvCxnSpPr>
          <p:cNvPr id="188" name="Straight Arrow Connector 187"/>
          <p:cNvCxnSpPr>
            <a:stCxn id="177" idx="4"/>
            <a:endCxn id="193" idx="1"/>
          </p:cNvCxnSpPr>
          <p:nvPr/>
        </p:nvCxnSpPr>
        <p:spPr>
          <a:xfrm>
            <a:off x="1708959" y="2582950"/>
            <a:ext cx="619799" cy="757687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3" name="Group 282"/>
          <p:cNvGrpSpPr/>
          <p:nvPr/>
        </p:nvGrpSpPr>
        <p:grpSpPr>
          <a:xfrm>
            <a:off x="1909570" y="3340636"/>
            <a:ext cx="838471" cy="601876"/>
            <a:chOff x="6695405" y="1691095"/>
            <a:chExt cx="838471" cy="601876"/>
          </a:xfrm>
        </p:grpSpPr>
        <p:sp>
          <p:nvSpPr>
            <p:cNvPr id="193" name="Can 192"/>
            <p:cNvSpPr/>
            <p:nvPr/>
          </p:nvSpPr>
          <p:spPr>
            <a:xfrm>
              <a:off x="6701975" y="1691095"/>
              <a:ext cx="825235" cy="584940"/>
            </a:xfrm>
            <a:prstGeom prst="ca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6695405" y="1752182"/>
              <a:ext cx="838471" cy="5407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Vote counts</a:t>
              </a:r>
            </a:p>
          </p:txBody>
        </p:sp>
      </p:grpSp>
      <p:sp>
        <p:nvSpPr>
          <p:cNvPr id="199" name="Oval 198"/>
          <p:cNvSpPr/>
          <p:nvPr/>
        </p:nvSpPr>
        <p:spPr>
          <a:xfrm>
            <a:off x="2200043" y="2226421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0" name="Rectangle 199"/>
          <p:cNvSpPr/>
          <p:nvPr/>
        </p:nvSpPr>
        <p:spPr>
          <a:xfrm>
            <a:off x="2190727" y="2231506"/>
            <a:ext cx="378630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201" name="Straight Arrow Connector 200"/>
          <p:cNvCxnSpPr>
            <a:stCxn id="177" idx="6"/>
            <a:endCxn id="199" idx="2"/>
          </p:cNvCxnSpPr>
          <p:nvPr/>
        </p:nvCxnSpPr>
        <p:spPr>
          <a:xfrm>
            <a:off x="1888971" y="2402949"/>
            <a:ext cx="311085" cy="34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2"/>
          <p:cNvSpPr/>
          <p:nvPr/>
        </p:nvSpPr>
        <p:spPr>
          <a:xfrm>
            <a:off x="2911494" y="2228712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4" name="Rectangle 203"/>
          <p:cNvSpPr/>
          <p:nvPr/>
        </p:nvSpPr>
        <p:spPr>
          <a:xfrm>
            <a:off x="2868514" y="2233797"/>
            <a:ext cx="445956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W2</a:t>
            </a:r>
          </a:p>
        </p:txBody>
      </p:sp>
      <p:cxnSp>
        <p:nvCxnSpPr>
          <p:cNvPr id="205" name="Straight Arrow Connector 204"/>
          <p:cNvCxnSpPr>
            <a:stCxn id="199" idx="6"/>
            <a:endCxn id="203" idx="2"/>
          </p:cNvCxnSpPr>
          <p:nvPr/>
        </p:nvCxnSpPr>
        <p:spPr>
          <a:xfrm>
            <a:off x="2560044" y="2406422"/>
            <a:ext cx="351451" cy="2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/>
          <p:cNvCxnSpPr>
            <a:stCxn id="193" idx="1"/>
            <a:endCxn id="203" idx="4"/>
          </p:cNvCxnSpPr>
          <p:nvPr/>
        </p:nvCxnSpPr>
        <p:spPr>
          <a:xfrm flipV="1">
            <a:off x="2328758" y="2588712"/>
            <a:ext cx="762737" cy="751924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Oval 217"/>
          <p:cNvSpPr/>
          <p:nvPr/>
        </p:nvSpPr>
        <p:spPr>
          <a:xfrm>
            <a:off x="2175008" y="2704516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9" name="Rectangle 218"/>
          <p:cNvSpPr/>
          <p:nvPr/>
        </p:nvSpPr>
        <p:spPr>
          <a:xfrm>
            <a:off x="2132028" y="2709601"/>
            <a:ext cx="445956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W3</a:t>
            </a:r>
          </a:p>
        </p:txBody>
      </p:sp>
      <p:cxnSp>
        <p:nvCxnSpPr>
          <p:cNvPr id="220" name="Straight Arrow Connector 219"/>
          <p:cNvCxnSpPr>
            <a:stCxn id="159" idx="6"/>
            <a:endCxn id="218" idx="2"/>
          </p:cNvCxnSpPr>
          <p:nvPr/>
        </p:nvCxnSpPr>
        <p:spPr>
          <a:xfrm flipV="1">
            <a:off x="1419338" y="2884517"/>
            <a:ext cx="755671" cy="9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/>
          <p:cNvCxnSpPr>
            <a:stCxn id="186" idx="1"/>
            <a:endCxn id="218" idx="4"/>
          </p:cNvCxnSpPr>
          <p:nvPr/>
        </p:nvCxnSpPr>
        <p:spPr>
          <a:xfrm flipH="1" flipV="1">
            <a:off x="2355008" y="3064517"/>
            <a:ext cx="1198204" cy="308713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/>
          <p:cNvCxnSpPr>
            <a:stCxn id="199" idx="6"/>
            <a:endCxn id="245" idx="2"/>
          </p:cNvCxnSpPr>
          <p:nvPr/>
        </p:nvCxnSpPr>
        <p:spPr>
          <a:xfrm>
            <a:off x="2560044" y="2406422"/>
            <a:ext cx="416219" cy="474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Oval 244"/>
          <p:cNvSpPr/>
          <p:nvPr/>
        </p:nvSpPr>
        <p:spPr>
          <a:xfrm>
            <a:off x="2976262" y="2701086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6" name="Rectangle 245"/>
          <p:cNvSpPr/>
          <p:nvPr/>
        </p:nvSpPr>
        <p:spPr>
          <a:xfrm>
            <a:off x="2966144" y="2706171"/>
            <a:ext cx="380232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R3</a:t>
            </a:r>
          </a:p>
        </p:txBody>
      </p:sp>
      <p:cxnSp>
        <p:nvCxnSpPr>
          <p:cNvPr id="248" name="Straight Arrow Connector 247"/>
          <p:cNvCxnSpPr>
            <a:stCxn id="152" idx="1"/>
            <a:endCxn id="245" idx="4"/>
          </p:cNvCxnSpPr>
          <p:nvPr/>
        </p:nvCxnSpPr>
        <p:spPr>
          <a:xfrm flipV="1">
            <a:off x="1089732" y="3061086"/>
            <a:ext cx="2066530" cy="330290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/>
          <p:cNvCxnSpPr>
            <a:stCxn id="245" idx="6"/>
            <a:endCxn id="288" idx="2"/>
          </p:cNvCxnSpPr>
          <p:nvPr/>
        </p:nvCxnSpPr>
        <p:spPr>
          <a:xfrm>
            <a:off x="3336263" y="2881086"/>
            <a:ext cx="461075" cy="26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Oval 287"/>
          <p:cNvSpPr/>
          <p:nvPr/>
        </p:nvSpPr>
        <p:spPr>
          <a:xfrm>
            <a:off x="3797337" y="2703776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9" name="Rectangle 288"/>
          <p:cNvSpPr/>
          <p:nvPr/>
        </p:nvSpPr>
        <p:spPr>
          <a:xfrm>
            <a:off x="3754357" y="2708861"/>
            <a:ext cx="445956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W4</a:t>
            </a:r>
          </a:p>
        </p:txBody>
      </p:sp>
      <p:cxnSp>
        <p:nvCxnSpPr>
          <p:cNvPr id="290" name="Straight Arrow Connector 289"/>
          <p:cNvCxnSpPr>
            <a:stCxn id="152" idx="1"/>
            <a:endCxn id="288" idx="4"/>
          </p:cNvCxnSpPr>
          <p:nvPr/>
        </p:nvCxnSpPr>
        <p:spPr>
          <a:xfrm flipV="1">
            <a:off x="1089733" y="3063776"/>
            <a:ext cx="2887605" cy="327600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/>
          <p:cNvCxnSpPr>
            <a:stCxn id="186" idx="1"/>
            <a:endCxn id="288" idx="4"/>
          </p:cNvCxnSpPr>
          <p:nvPr/>
        </p:nvCxnSpPr>
        <p:spPr>
          <a:xfrm flipV="1">
            <a:off x="3553213" y="3063777"/>
            <a:ext cx="424125" cy="309453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458568" y="1878067"/>
            <a:ext cx="23283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(b) Temp monitor in TStream.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230" y="3858537"/>
            <a:ext cx="82919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(c) Leaderboard Maintenance in TStream (contestant table is omit for simplicity).</a:t>
            </a:r>
          </a:p>
          <a:p>
            <a:r>
              <a:rPr lang="en-US" sz="1400" i="1" dirty="0">
                <a:solidFill>
                  <a:srgbClr val="FF0000"/>
                </a:solidFill>
              </a:rPr>
              <a:t>Every R/W operator is grouped into a stage by itself.</a:t>
            </a:r>
            <a:endParaRPr lang="en-US" sz="1400" dirty="0"/>
          </a:p>
        </p:txBody>
      </p:sp>
      <p:sp>
        <p:nvSpPr>
          <p:cNvPr id="8" name="Can 7"/>
          <p:cNvSpPr/>
          <p:nvPr/>
        </p:nvSpPr>
        <p:spPr>
          <a:xfrm>
            <a:off x="1112330" y="1439339"/>
            <a:ext cx="783598" cy="354915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0248" y="1242187"/>
            <a:ext cx="11695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safe, warning, violation</a:t>
            </a:r>
          </a:p>
        </p:txBody>
      </p:sp>
      <p:cxnSp>
        <p:nvCxnSpPr>
          <p:cNvPr id="12" name="Straight Arrow Connector 11"/>
          <p:cNvCxnSpPr>
            <a:stCxn id="47" idx="4"/>
            <a:endCxn id="8" idx="1"/>
          </p:cNvCxnSpPr>
          <p:nvPr/>
        </p:nvCxnSpPr>
        <p:spPr>
          <a:xfrm>
            <a:off x="780962" y="1132189"/>
            <a:ext cx="723169" cy="307148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60001" y="140242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349883" y="145327"/>
            <a:ext cx="380232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R1</a:t>
            </a:r>
          </a:p>
        </p:txBody>
      </p:sp>
      <p:cxnSp>
        <p:nvCxnSpPr>
          <p:cNvPr id="27" name="Straight Arrow Connector 26"/>
          <p:cNvCxnSpPr>
            <a:stCxn id="25" idx="6"/>
            <a:endCxn id="29" idx="2"/>
          </p:cNvCxnSpPr>
          <p:nvPr/>
        </p:nvCxnSpPr>
        <p:spPr>
          <a:xfrm flipV="1">
            <a:off x="720003" y="315576"/>
            <a:ext cx="3676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87682" y="135576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1078366" y="140661"/>
            <a:ext cx="378630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C1</a:t>
            </a:r>
          </a:p>
        </p:txBody>
      </p:sp>
      <p:cxnSp>
        <p:nvCxnSpPr>
          <p:cNvPr id="33" name="Straight Arrow Connector 32"/>
          <p:cNvCxnSpPr>
            <a:stCxn id="25" idx="4"/>
            <a:endCxn id="8" idx="1"/>
          </p:cNvCxnSpPr>
          <p:nvPr/>
        </p:nvCxnSpPr>
        <p:spPr>
          <a:xfrm>
            <a:off x="540001" y="500244"/>
            <a:ext cx="964128" cy="939095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822297" y="138118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1779318" y="143203"/>
            <a:ext cx="445956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W1</a:t>
            </a:r>
          </a:p>
        </p:txBody>
      </p:sp>
      <p:cxnSp>
        <p:nvCxnSpPr>
          <p:cNvPr id="40" name="Straight Arrow Connector 39"/>
          <p:cNvCxnSpPr>
            <a:stCxn id="29" idx="6"/>
            <a:endCxn id="38" idx="2"/>
          </p:cNvCxnSpPr>
          <p:nvPr/>
        </p:nvCxnSpPr>
        <p:spPr>
          <a:xfrm>
            <a:off x="1447684" y="315576"/>
            <a:ext cx="374615" cy="25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8" idx="4"/>
            <a:endCxn id="8" idx="1"/>
          </p:cNvCxnSpPr>
          <p:nvPr/>
        </p:nvCxnSpPr>
        <p:spPr>
          <a:xfrm flipH="1">
            <a:off x="1504129" y="498120"/>
            <a:ext cx="498168" cy="941219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00960" y="772189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590842" y="777274"/>
            <a:ext cx="380232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altLang="zh-CN" dirty="0"/>
              <a:t>2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960960" y="949229"/>
            <a:ext cx="36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333213" y="774731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1323897" y="779816"/>
            <a:ext cx="378630" cy="3165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</a:t>
            </a:r>
            <a:r>
              <a:rPr lang="en-US" altLang="zh-CN" dirty="0"/>
              <a:t>2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255187" y="949229"/>
            <a:ext cx="36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1" y="325327"/>
            <a:ext cx="36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452173" y="-1970"/>
            <a:ext cx="1840966" cy="1339611"/>
          </a:xfrm>
          <a:custGeom>
            <a:avLst/>
            <a:gdLst>
              <a:gd name="connsiteX0" fmla="*/ 1284819 w 1840966"/>
              <a:gd name="connsiteY0" fmla="*/ 183489 h 1339611"/>
              <a:gd name="connsiteX1" fmla="*/ 624419 w 1840966"/>
              <a:gd name="connsiteY1" fmla="*/ 716889 h 1339611"/>
              <a:gd name="connsiteX2" fmla="*/ 27519 w 1840966"/>
              <a:gd name="connsiteY2" fmla="*/ 754989 h 1339611"/>
              <a:gd name="connsiteX3" fmla="*/ 192619 w 1840966"/>
              <a:gd name="connsiteY3" fmla="*/ 1339189 h 1339611"/>
              <a:gd name="connsiteX4" fmla="*/ 1005419 w 1840966"/>
              <a:gd name="connsiteY4" fmla="*/ 653389 h 1339611"/>
              <a:gd name="connsiteX5" fmla="*/ 1792819 w 1840966"/>
              <a:gd name="connsiteY5" fmla="*/ 551789 h 1339611"/>
              <a:gd name="connsiteX6" fmla="*/ 1703919 w 1840966"/>
              <a:gd name="connsiteY6" fmla="*/ 18389 h 1339611"/>
              <a:gd name="connsiteX7" fmla="*/ 1284819 w 1840966"/>
              <a:gd name="connsiteY7" fmla="*/ 183489 h 1339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40966" h="1339611">
                <a:moveTo>
                  <a:pt x="1284819" y="183489"/>
                </a:moveTo>
                <a:cubicBezTo>
                  <a:pt x="1104902" y="299906"/>
                  <a:pt x="833969" y="621639"/>
                  <a:pt x="624419" y="716889"/>
                </a:cubicBezTo>
                <a:cubicBezTo>
                  <a:pt x="414869" y="812139"/>
                  <a:pt x="99486" y="651272"/>
                  <a:pt x="27519" y="754989"/>
                </a:cubicBezTo>
                <a:cubicBezTo>
                  <a:pt x="-44448" y="858706"/>
                  <a:pt x="29636" y="1356122"/>
                  <a:pt x="192619" y="1339189"/>
                </a:cubicBezTo>
                <a:cubicBezTo>
                  <a:pt x="355602" y="1322256"/>
                  <a:pt x="738719" y="784622"/>
                  <a:pt x="1005419" y="653389"/>
                </a:cubicBezTo>
                <a:cubicBezTo>
                  <a:pt x="1272119" y="522156"/>
                  <a:pt x="1676402" y="657622"/>
                  <a:pt x="1792819" y="551789"/>
                </a:cubicBezTo>
                <a:cubicBezTo>
                  <a:pt x="1909236" y="445956"/>
                  <a:pt x="1788586" y="81889"/>
                  <a:pt x="1703919" y="18389"/>
                </a:cubicBezTo>
                <a:cubicBezTo>
                  <a:pt x="1619252" y="-45111"/>
                  <a:pt x="1464736" y="67072"/>
                  <a:pt x="1284819" y="183489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307" name="Straight Arrow Connector 306"/>
          <p:cNvCxnSpPr/>
          <p:nvPr/>
        </p:nvCxnSpPr>
        <p:spPr>
          <a:xfrm flipV="1">
            <a:off x="1693213" y="968727"/>
            <a:ext cx="36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84813" y="1860965"/>
            <a:ext cx="16791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(</a:t>
            </a:r>
            <a:r>
              <a:rPr lang="en-US" sz="1400" dirty="0"/>
              <a:t>a) ACEP in TStream.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442801" y="-45824"/>
            <a:ext cx="19715" cy="23401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6061846" y="426064"/>
            <a:ext cx="2625925" cy="865799"/>
            <a:chOff x="6376792" y="-17359"/>
            <a:chExt cx="2625925" cy="865799"/>
          </a:xfrm>
        </p:grpSpPr>
        <p:sp>
          <p:nvSpPr>
            <p:cNvPr id="119" name="TextBox 118"/>
            <p:cNvSpPr txBox="1"/>
            <p:nvPr/>
          </p:nvSpPr>
          <p:spPr>
            <a:xfrm>
              <a:off x="6556123" y="-13334"/>
              <a:ext cx="2446594" cy="861774"/>
            </a:xfrm>
            <a:prstGeom prst="rect">
              <a:avLst/>
            </a:prstGeom>
            <a:noFill/>
          </p:spPr>
          <p:txBody>
            <a:bodyPr wrap="square" lIns="36000" rtlCol="0">
              <a:spAutoFit/>
            </a:bodyPr>
            <a:lstStyle/>
            <a:p>
              <a:pPr>
                <a:lnSpc>
                  <a:spcPts val="1980"/>
                </a:lnSpc>
              </a:pPr>
              <a:r>
                <a:rPr lang="en-US" sz="1400" dirty="0"/>
                <a:t>C1: Monitoring</a:t>
              </a:r>
            </a:p>
            <a:p>
              <a:pPr>
                <a:lnSpc>
                  <a:spcPts val="1980"/>
                </a:lnSpc>
              </a:pPr>
              <a:r>
                <a:rPr lang="en-US" sz="1400" dirty="0"/>
                <a:t>R1: Probe specification</a:t>
              </a:r>
            </a:p>
            <a:p>
              <a:pPr>
                <a:lnSpc>
                  <a:spcPts val="1980"/>
                </a:lnSpc>
              </a:pPr>
              <a:r>
                <a:rPr lang="en-US" sz="1400" dirty="0"/>
                <a:t>W1: Update specification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6376792" y="-17359"/>
              <a:ext cx="187242" cy="861774"/>
            </a:xfrm>
            <a:prstGeom prst="rect">
              <a:avLst/>
            </a:prstGeom>
            <a:noFill/>
          </p:spPr>
          <p:txBody>
            <a:bodyPr wrap="square" lIns="36000" rtlCol="0">
              <a:spAutoFit/>
            </a:bodyPr>
            <a:lstStyle/>
            <a:p>
              <a:pPr marL="177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  <a:p>
              <a:pPr marL="285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  <a:p>
              <a:pPr marL="285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229916" y="2271542"/>
            <a:ext cx="4018177" cy="1631216"/>
            <a:chOff x="12558739" y="-40194"/>
            <a:chExt cx="4018177" cy="1631216"/>
          </a:xfrm>
        </p:grpSpPr>
        <p:sp>
          <p:nvSpPr>
            <p:cNvPr id="162" name="TextBox 161"/>
            <p:cNvSpPr txBox="1"/>
            <p:nvPr/>
          </p:nvSpPr>
          <p:spPr>
            <a:xfrm>
              <a:off x="12744645" y="-40194"/>
              <a:ext cx="3832271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980"/>
                </a:lnSpc>
              </a:pPr>
              <a:r>
                <a:rPr lang="en-US" sz="1400" dirty="0"/>
                <a:t>R1: Check if the vote is valid</a:t>
              </a:r>
            </a:p>
            <a:p>
              <a:pPr>
                <a:lnSpc>
                  <a:spcPts val="1980"/>
                </a:lnSpc>
              </a:pPr>
              <a:r>
                <a:rPr lang="en-US" sz="1400" dirty="0"/>
                <a:t>W1: Post the (valid) vote to Votes table</a:t>
              </a:r>
            </a:p>
            <a:p>
              <a:pPr>
                <a:lnSpc>
                  <a:spcPts val="1980"/>
                </a:lnSpc>
              </a:pPr>
              <a:r>
                <a:rPr lang="en-US" sz="1400" dirty="0"/>
                <a:t>R2, C1, W2: increment vote counts </a:t>
              </a:r>
            </a:p>
            <a:p>
              <a:pPr>
                <a:lnSpc>
                  <a:spcPts val="1980"/>
                </a:lnSpc>
              </a:pPr>
              <a:r>
                <a:rPr lang="en-US" sz="1400" dirty="0"/>
                <a:t>W3: update leaderboard state</a:t>
              </a:r>
            </a:p>
            <a:p>
              <a:pPr>
                <a:lnSpc>
                  <a:spcPts val="1980"/>
                </a:lnSpc>
              </a:pPr>
              <a:r>
                <a:rPr lang="en-US" sz="1400" dirty="0"/>
                <a:t>R3: Determine the lowest contestant</a:t>
              </a:r>
            </a:p>
            <a:p>
              <a:pPr>
                <a:lnSpc>
                  <a:spcPts val="1980"/>
                </a:lnSpc>
              </a:pPr>
              <a:r>
                <a:rPr lang="en-US" sz="1400" dirty="0"/>
                <a:t>W4: Delete lowest contestant and votes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2558739" y="-40194"/>
              <a:ext cx="347528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  <a:p>
              <a:pPr marL="285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  <a:p>
              <a:pPr marL="285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  <a:p>
              <a:pPr marL="285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  <a:p>
              <a:pPr marL="285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  <a:p>
              <a:pPr marL="285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205751" y="8925"/>
            <a:ext cx="2378157" cy="1374735"/>
            <a:chOff x="2095663" y="-44410"/>
            <a:chExt cx="2378157" cy="1374735"/>
          </a:xfrm>
        </p:grpSpPr>
        <p:sp>
          <p:nvSpPr>
            <p:cNvPr id="36" name="TextBox 35"/>
            <p:cNvSpPr txBox="1"/>
            <p:nvPr/>
          </p:nvSpPr>
          <p:spPr>
            <a:xfrm>
              <a:off x="2270437" y="-44410"/>
              <a:ext cx="2203383" cy="1374735"/>
            </a:xfrm>
            <a:prstGeom prst="rect">
              <a:avLst/>
            </a:prstGeom>
            <a:noFill/>
          </p:spPr>
          <p:txBody>
            <a:bodyPr wrap="square" lIns="108000" rtlCol="0">
              <a:spAutoFit/>
            </a:bodyPr>
            <a:lstStyle/>
            <a:p>
              <a:pPr>
                <a:lnSpc>
                  <a:spcPts val="1980"/>
                </a:lnSpc>
              </a:pPr>
              <a:r>
                <a:rPr lang="en-US" sz="1400" dirty="0"/>
                <a:t>C1: Pattern query 1 (Q1)</a:t>
              </a:r>
            </a:p>
            <a:p>
              <a:pPr>
                <a:lnSpc>
                  <a:spcPts val="1980"/>
                </a:lnSpc>
              </a:pPr>
              <a:r>
                <a:rPr lang="en-US" sz="1400" dirty="0"/>
                <a:t>R1: Read operation of Q1</a:t>
              </a:r>
            </a:p>
            <a:p>
              <a:pPr>
                <a:lnSpc>
                  <a:spcPts val="1980"/>
                </a:lnSpc>
              </a:pPr>
              <a:r>
                <a:rPr lang="en-US" sz="1400" dirty="0"/>
                <a:t>W1: Write operation of Q1</a:t>
              </a:r>
            </a:p>
            <a:p>
              <a:pPr>
                <a:lnSpc>
                  <a:spcPts val="1980"/>
                </a:lnSpc>
              </a:pPr>
              <a:r>
                <a:rPr lang="en-US" altLang="zh-CN" sz="1400" dirty="0"/>
                <a:t>R2: Read operation of Q2</a:t>
              </a:r>
            </a:p>
            <a:p>
              <a:pPr>
                <a:lnSpc>
                  <a:spcPts val="1980"/>
                </a:lnSpc>
              </a:pPr>
              <a:r>
                <a:rPr lang="en-US" sz="1400" dirty="0"/>
                <a:t>C2: Pattern query 2 (Q2) 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095663" y="-44410"/>
              <a:ext cx="299981" cy="1374735"/>
            </a:xfrm>
            <a:prstGeom prst="rect">
              <a:avLst/>
            </a:prstGeom>
            <a:noFill/>
          </p:spPr>
          <p:txBody>
            <a:bodyPr wrap="square" lIns="108000" rtlCol="0">
              <a:spAutoFit/>
            </a:bodyPr>
            <a:lstStyle/>
            <a:p>
              <a:pPr marL="141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  <a:p>
              <a:pPr marL="141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  <a:p>
              <a:pPr marL="141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  <a:p>
              <a:pPr marL="141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altLang="zh-CN" sz="1400" dirty="0"/>
                <a:t> </a:t>
              </a:r>
            </a:p>
            <a:p>
              <a:pPr marL="141750" indent="-285750">
                <a:lnSpc>
                  <a:spcPts val="1980"/>
                </a:lnSpc>
                <a:buFont typeface="Wingdings" charset="2"/>
                <a:buChar char="v"/>
              </a:pPr>
              <a:r>
                <a:rPr lang="en-US" sz="1400" dirty="0"/>
                <a:t> </a:t>
              </a:r>
            </a:p>
          </p:txBody>
        </p:sp>
      </p:grpSp>
      <p:cxnSp>
        <p:nvCxnSpPr>
          <p:cNvPr id="122" name="Straight Connector 121"/>
          <p:cNvCxnSpPr/>
          <p:nvPr/>
        </p:nvCxnSpPr>
        <p:spPr>
          <a:xfrm flipV="1">
            <a:off x="95979" y="2158263"/>
            <a:ext cx="77549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00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802</TotalTime>
  <Words>177</Words>
  <Application>Microsoft Macintosh PowerPoint</Application>
  <PresentationFormat>Custom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Calibri Light</vt:lpstr>
      <vt:lpstr>Wingdings</vt:lpstr>
      <vt:lpstr>等线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58</cp:revision>
  <cp:lastPrinted>2018-08-13T04:53:27Z</cp:lastPrinted>
  <dcterms:created xsi:type="dcterms:W3CDTF">2018-08-11T01:27:58Z</dcterms:created>
  <dcterms:modified xsi:type="dcterms:W3CDTF">2018-08-13T06:27:36Z</dcterms:modified>
</cp:coreProperties>
</file>