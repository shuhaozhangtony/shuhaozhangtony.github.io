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6731000" cy="3203575"/>
  <p:notesSz cx="6858000" cy="9144000"/>
  <p:defaultTextStyle>
    <a:defPPr>
      <a:defRPr lang="en-US"/>
    </a:defPPr>
    <a:lvl1pPr marL="0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1pPr>
    <a:lvl2pPr marL="286034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2pPr>
    <a:lvl3pPr marL="572069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3pPr>
    <a:lvl4pPr marL="858103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4pPr>
    <a:lvl5pPr marL="1144138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5pPr>
    <a:lvl6pPr marL="1430172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6pPr>
    <a:lvl7pPr marL="1716207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7pPr>
    <a:lvl8pPr marL="2002240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8pPr>
    <a:lvl9pPr marL="2288275" algn="l" defTabSz="572069" rtl="0" eaLnBrk="1" latinLnBrk="0" hangingPunct="1">
      <a:defRPr sz="1126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43"/>
  </p:normalViewPr>
  <p:slideViewPr>
    <p:cSldViewPr snapToGrid="0" snapToObjects="1">
      <p:cViewPr varScale="1">
        <p:scale>
          <a:sx n="220" d="100"/>
          <a:sy n="220" d="100"/>
        </p:scale>
        <p:origin x="19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375" y="524289"/>
            <a:ext cx="5048250" cy="1115319"/>
          </a:xfrm>
        </p:spPr>
        <p:txBody>
          <a:bodyPr anchor="b"/>
          <a:lstStyle>
            <a:lvl1pPr algn="ctr">
              <a:defRPr sz="28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375" y="1682619"/>
            <a:ext cx="5048250" cy="773455"/>
          </a:xfrm>
        </p:spPr>
        <p:txBody>
          <a:bodyPr/>
          <a:lstStyle>
            <a:lvl1pPr marL="0" indent="0" algn="ctr">
              <a:buNone/>
              <a:defRPr sz="1121"/>
            </a:lvl1pPr>
            <a:lvl2pPr marL="213558" indent="0" algn="ctr">
              <a:buNone/>
              <a:defRPr sz="934"/>
            </a:lvl2pPr>
            <a:lvl3pPr marL="427116" indent="0" algn="ctr">
              <a:buNone/>
              <a:defRPr sz="841"/>
            </a:lvl3pPr>
            <a:lvl4pPr marL="640674" indent="0" algn="ctr">
              <a:buNone/>
              <a:defRPr sz="747"/>
            </a:lvl4pPr>
            <a:lvl5pPr marL="854232" indent="0" algn="ctr">
              <a:buNone/>
              <a:defRPr sz="747"/>
            </a:lvl5pPr>
            <a:lvl6pPr marL="1067791" indent="0" algn="ctr">
              <a:buNone/>
              <a:defRPr sz="747"/>
            </a:lvl6pPr>
            <a:lvl7pPr marL="1281349" indent="0" algn="ctr">
              <a:buNone/>
              <a:defRPr sz="747"/>
            </a:lvl7pPr>
            <a:lvl8pPr marL="1494907" indent="0" algn="ctr">
              <a:buNone/>
              <a:defRPr sz="747"/>
            </a:lvl8pPr>
            <a:lvl9pPr marL="1708465" indent="0" algn="ctr">
              <a:buNone/>
              <a:defRPr sz="747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250" y="798670"/>
            <a:ext cx="5805488" cy="1332598"/>
          </a:xfrm>
        </p:spPr>
        <p:txBody>
          <a:bodyPr anchor="b"/>
          <a:lstStyle>
            <a:lvl1pPr>
              <a:defRPr sz="28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9250" y="2143874"/>
            <a:ext cx="5805488" cy="700782"/>
          </a:xfrm>
        </p:spPr>
        <p:txBody>
          <a:bodyPr/>
          <a:lstStyle>
            <a:lvl1pPr marL="0" indent="0">
              <a:buNone/>
              <a:defRPr sz="1121">
                <a:solidFill>
                  <a:schemeClr val="tx1">
                    <a:tint val="75000"/>
                  </a:schemeClr>
                </a:solidFill>
              </a:defRPr>
            </a:lvl1pPr>
            <a:lvl2pPr marL="213558" indent="0">
              <a:buNone/>
              <a:defRPr sz="934">
                <a:solidFill>
                  <a:schemeClr val="tx1">
                    <a:tint val="75000"/>
                  </a:schemeClr>
                </a:solidFill>
              </a:defRPr>
            </a:lvl2pPr>
            <a:lvl3pPr marL="427116" indent="0">
              <a:buNone/>
              <a:defRPr sz="841">
                <a:solidFill>
                  <a:schemeClr val="tx1">
                    <a:tint val="75000"/>
                  </a:schemeClr>
                </a:solidFill>
              </a:defRPr>
            </a:lvl3pPr>
            <a:lvl4pPr marL="640674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4pPr>
            <a:lvl5pPr marL="854232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5pPr>
            <a:lvl6pPr marL="1067791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6pPr>
            <a:lvl7pPr marL="1281349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7pPr>
            <a:lvl8pPr marL="1494907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8pPr>
            <a:lvl9pPr marL="1708465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2756" y="852803"/>
            <a:ext cx="2860675" cy="20326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7569" y="852803"/>
            <a:ext cx="2860675" cy="20326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633" y="170561"/>
            <a:ext cx="5805488" cy="61921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633" y="785321"/>
            <a:ext cx="2847528" cy="384874"/>
          </a:xfrm>
        </p:spPr>
        <p:txBody>
          <a:bodyPr anchor="b"/>
          <a:lstStyle>
            <a:lvl1pPr marL="0" indent="0">
              <a:buNone/>
              <a:defRPr sz="1121" b="1"/>
            </a:lvl1pPr>
            <a:lvl2pPr marL="213558" indent="0">
              <a:buNone/>
              <a:defRPr sz="934" b="1"/>
            </a:lvl2pPr>
            <a:lvl3pPr marL="427116" indent="0">
              <a:buNone/>
              <a:defRPr sz="841" b="1"/>
            </a:lvl3pPr>
            <a:lvl4pPr marL="640674" indent="0">
              <a:buNone/>
              <a:defRPr sz="747" b="1"/>
            </a:lvl4pPr>
            <a:lvl5pPr marL="854232" indent="0">
              <a:buNone/>
              <a:defRPr sz="747" b="1"/>
            </a:lvl5pPr>
            <a:lvl6pPr marL="1067791" indent="0">
              <a:buNone/>
              <a:defRPr sz="747" b="1"/>
            </a:lvl6pPr>
            <a:lvl7pPr marL="1281349" indent="0">
              <a:buNone/>
              <a:defRPr sz="747" b="1"/>
            </a:lvl7pPr>
            <a:lvl8pPr marL="1494907" indent="0">
              <a:buNone/>
              <a:defRPr sz="747" b="1"/>
            </a:lvl8pPr>
            <a:lvl9pPr marL="1708465" indent="0">
              <a:buNone/>
              <a:defRPr sz="74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33" y="1170195"/>
            <a:ext cx="2847528" cy="17211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7569" y="785321"/>
            <a:ext cx="2861552" cy="384874"/>
          </a:xfrm>
        </p:spPr>
        <p:txBody>
          <a:bodyPr anchor="b"/>
          <a:lstStyle>
            <a:lvl1pPr marL="0" indent="0">
              <a:buNone/>
              <a:defRPr sz="1121" b="1"/>
            </a:lvl1pPr>
            <a:lvl2pPr marL="213558" indent="0">
              <a:buNone/>
              <a:defRPr sz="934" b="1"/>
            </a:lvl2pPr>
            <a:lvl3pPr marL="427116" indent="0">
              <a:buNone/>
              <a:defRPr sz="841" b="1"/>
            </a:lvl3pPr>
            <a:lvl4pPr marL="640674" indent="0">
              <a:buNone/>
              <a:defRPr sz="747" b="1"/>
            </a:lvl4pPr>
            <a:lvl5pPr marL="854232" indent="0">
              <a:buNone/>
              <a:defRPr sz="747" b="1"/>
            </a:lvl5pPr>
            <a:lvl6pPr marL="1067791" indent="0">
              <a:buNone/>
              <a:defRPr sz="747" b="1"/>
            </a:lvl6pPr>
            <a:lvl7pPr marL="1281349" indent="0">
              <a:buNone/>
              <a:defRPr sz="747" b="1"/>
            </a:lvl7pPr>
            <a:lvl8pPr marL="1494907" indent="0">
              <a:buNone/>
              <a:defRPr sz="747" b="1"/>
            </a:lvl8pPr>
            <a:lvl9pPr marL="1708465" indent="0">
              <a:buNone/>
              <a:defRPr sz="74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07569" y="1170195"/>
            <a:ext cx="2861552" cy="17211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633" y="213572"/>
            <a:ext cx="2170923" cy="747501"/>
          </a:xfrm>
        </p:spPr>
        <p:txBody>
          <a:bodyPr anchor="b"/>
          <a:lstStyle>
            <a:lvl1pPr>
              <a:defRPr sz="14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1552" y="461256"/>
            <a:ext cx="3407569" cy="2276615"/>
          </a:xfrm>
        </p:spPr>
        <p:txBody>
          <a:bodyPr/>
          <a:lstStyle>
            <a:lvl1pPr>
              <a:defRPr sz="1495"/>
            </a:lvl1pPr>
            <a:lvl2pPr>
              <a:defRPr sz="1308"/>
            </a:lvl2pPr>
            <a:lvl3pPr>
              <a:defRPr sz="1121"/>
            </a:lvl3pPr>
            <a:lvl4pPr>
              <a:defRPr sz="934"/>
            </a:lvl4pPr>
            <a:lvl5pPr>
              <a:defRPr sz="934"/>
            </a:lvl5pPr>
            <a:lvl6pPr>
              <a:defRPr sz="934"/>
            </a:lvl6pPr>
            <a:lvl7pPr>
              <a:defRPr sz="934"/>
            </a:lvl7pPr>
            <a:lvl8pPr>
              <a:defRPr sz="934"/>
            </a:lvl8pPr>
            <a:lvl9pPr>
              <a:defRPr sz="934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3633" y="961072"/>
            <a:ext cx="2170923" cy="1780506"/>
          </a:xfrm>
        </p:spPr>
        <p:txBody>
          <a:bodyPr/>
          <a:lstStyle>
            <a:lvl1pPr marL="0" indent="0">
              <a:buNone/>
              <a:defRPr sz="747"/>
            </a:lvl1pPr>
            <a:lvl2pPr marL="213558" indent="0">
              <a:buNone/>
              <a:defRPr sz="654"/>
            </a:lvl2pPr>
            <a:lvl3pPr marL="427116" indent="0">
              <a:buNone/>
              <a:defRPr sz="561"/>
            </a:lvl3pPr>
            <a:lvl4pPr marL="640674" indent="0">
              <a:buNone/>
              <a:defRPr sz="467"/>
            </a:lvl4pPr>
            <a:lvl5pPr marL="854232" indent="0">
              <a:buNone/>
              <a:defRPr sz="467"/>
            </a:lvl5pPr>
            <a:lvl6pPr marL="1067791" indent="0">
              <a:buNone/>
              <a:defRPr sz="467"/>
            </a:lvl6pPr>
            <a:lvl7pPr marL="1281349" indent="0">
              <a:buNone/>
              <a:defRPr sz="467"/>
            </a:lvl7pPr>
            <a:lvl8pPr marL="1494907" indent="0">
              <a:buNone/>
              <a:defRPr sz="467"/>
            </a:lvl8pPr>
            <a:lvl9pPr marL="1708465" indent="0">
              <a:buNone/>
              <a:defRPr sz="4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633" y="213572"/>
            <a:ext cx="2170923" cy="747501"/>
          </a:xfrm>
        </p:spPr>
        <p:txBody>
          <a:bodyPr anchor="b"/>
          <a:lstStyle>
            <a:lvl1pPr>
              <a:defRPr sz="14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61552" y="461256"/>
            <a:ext cx="3407569" cy="2276615"/>
          </a:xfrm>
        </p:spPr>
        <p:txBody>
          <a:bodyPr anchor="t"/>
          <a:lstStyle>
            <a:lvl1pPr marL="0" indent="0">
              <a:buNone/>
              <a:defRPr sz="1495"/>
            </a:lvl1pPr>
            <a:lvl2pPr marL="213558" indent="0">
              <a:buNone/>
              <a:defRPr sz="1308"/>
            </a:lvl2pPr>
            <a:lvl3pPr marL="427116" indent="0">
              <a:buNone/>
              <a:defRPr sz="1121"/>
            </a:lvl3pPr>
            <a:lvl4pPr marL="640674" indent="0">
              <a:buNone/>
              <a:defRPr sz="934"/>
            </a:lvl4pPr>
            <a:lvl5pPr marL="854232" indent="0">
              <a:buNone/>
              <a:defRPr sz="934"/>
            </a:lvl5pPr>
            <a:lvl6pPr marL="1067791" indent="0">
              <a:buNone/>
              <a:defRPr sz="934"/>
            </a:lvl6pPr>
            <a:lvl7pPr marL="1281349" indent="0">
              <a:buNone/>
              <a:defRPr sz="934"/>
            </a:lvl7pPr>
            <a:lvl8pPr marL="1494907" indent="0">
              <a:buNone/>
              <a:defRPr sz="934"/>
            </a:lvl8pPr>
            <a:lvl9pPr marL="1708465" indent="0">
              <a:buNone/>
              <a:defRPr sz="934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3633" y="961072"/>
            <a:ext cx="2170923" cy="1780506"/>
          </a:xfrm>
        </p:spPr>
        <p:txBody>
          <a:bodyPr/>
          <a:lstStyle>
            <a:lvl1pPr marL="0" indent="0">
              <a:buNone/>
              <a:defRPr sz="747"/>
            </a:lvl1pPr>
            <a:lvl2pPr marL="213558" indent="0">
              <a:buNone/>
              <a:defRPr sz="654"/>
            </a:lvl2pPr>
            <a:lvl3pPr marL="427116" indent="0">
              <a:buNone/>
              <a:defRPr sz="561"/>
            </a:lvl3pPr>
            <a:lvl4pPr marL="640674" indent="0">
              <a:buNone/>
              <a:defRPr sz="467"/>
            </a:lvl4pPr>
            <a:lvl5pPr marL="854232" indent="0">
              <a:buNone/>
              <a:defRPr sz="467"/>
            </a:lvl5pPr>
            <a:lvl6pPr marL="1067791" indent="0">
              <a:buNone/>
              <a:defRPr sz="467"/>
            </a:lvl6pPr>
            <a:lvl7pPr marL="1281349" indent="0">
              <a:buNone/>
              <a:defRPr sz="467"/>
            </a:lvl7pPr>
            <a:lvl8pPr marL="1494907" indent="0">
              <a:buNone/>
              <a:defRPr sz="467"/>
            </a:lvl8pPr>
            <a:lvl9pPr marL="1708465" indent="0">
              <a:buNone/>
              <a:defRPr sz="4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16872" y="170561"/>
            <a:ext cx="1451372" cy="271488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2756" y="170561"/>
            <a:ext cx="4269978" cy="271488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2756" y="170561"/>
            <a:ext cx="5805488" cy="619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756" y="852803"/>
            <a:ext cx="5805488" cy="2032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2756" y="2969240"/>
            <a:ext cx="1514475" cy="170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C1123-2B86-AB46-B919-90709BC0FD73}" type="datetimeFigureOut">
              <a:rPr lang="en-US" smtClean="0"/>
              <a:t>7/26/18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29644" y="2969240"/>
            <a:ext cx="2271713" cy="170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53769" y="2969240"/>
            <a:ext cx="1514475" cy="170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E88E3-08EF-AA4E-94C5-C5D5848C5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5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27116" rtl="0" eaLnBrk="1" latinLnBrk="0" hangingPunct="1">
        <a:lnSpc>
          <a:spcPct val="90000"/>
        </a:lnSpc>
        <a:spcBef>
          <a:spcPct val="0"/>
        </a:spcBef>
        <a:buNone/>
        <a:defRPr sz="2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779" indent="-106779" algn="l" defTabSz="427116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8" kern="1200">
          <a:solidFill>
            <a:schemeClr val="tx1"/>
          </a:solidFill>
          <a:latin typeface="+mn-lt"/>
          <a:ea typeface="+mn-ea"/>
          <a:cs typeface="+mn-cs"/>
        </a:defRPr>
      </a:lvl1pPr>
      <a:lvl2pPr marL="320337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2pPr>
      <a:lvl3pPr marL="533895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934" kern="1200">
          <a:solidFill>
            <a:schemeClr val="tx1"/>
          </a:solidFill>
          <a:latin typeface="+mn-lt"/>
          <a:ea typeface="+mn-ea"/>
          <a:cs typeface="+mn-cs"/>
        </a:defRPr>
      </a:lvl3pPr>
      <a:lvl4pPr marL="747453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1" kern="1200">
          <a:solidFill>
            <a:schemeClr val="tx1"/>
          </a:solidFill>
          <a:latin typeface="+mn-lt"/>
          <a:ea typeface="+mn-ea"/>
          <a:cs typeface="+mn-cs"/>
        </a:defRPr>
      </a:lvl4pPr>
      <a:lvl5pPr marL="961012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1" kern="1200">
          <a:solidFill>
            <a:schemeClr val="tx1"/>
          </a:solidFill>
          <a:latin typeface="+mn-lt"/>
          <a:ea typeface="+mn-ea"/>
          <a:cs typeface="+mn-cs"/>
        </a:defRPr>
      </a:lvl5pPr>
      <a:lvl6pPr marL="1174570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1" kern="1200">
          <a:solidFill>
            <a:schemeClr val="tx1"/>
          </a:solidFill>
          <a:latin typeface="+mn-lt"/>
          <a:ea typeface="+mn-ea"/>
          <a:cs typeface="+mn-cs"/>
        </a:defRPr>
      </a:lvl6pPr>
      <a:lvl7pPr marL="1388128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1" kern="1200">
          <a:solidFill>
            <a:schemeClr val="tx1"/>
          </a:solidFill>
          <a:latin typeface="+mn-lt"/>
          <a:ea typeface="+mn-ea"/>
          <a:cs typeface="+mn-cs"/>
        </a:defRPr>
      </a:lvl7pPr>
      <a:lvl8pPr marL="1601686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1" kern="1200">
          <a:solidFill>
            <a:schemeClr val="tx1"/>
          </a:solidFill>
          <a:latin typeface="+mn-lt"/>
          <a:ea typeface="+mn-ea"/>
          <a:cs typeface="+mn-cs"/>
        </a:defRPr>
      </a:lvl8pPr>
      <a:lvl9pPr marL="1815244" indent="-106779" algn="l" defTabSz="427116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1pPr>
      <a:lvl2pPr marL="213558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2pPr>
      <a:lvl3pPr marL="427116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3pPr>
      <a:lvl4pPr marL="640674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4pPr>
      <a:lvl5pPr marL="854232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5pPr>
      <a:lvl6pPr marL="1067791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6pPr>
      <a:lvl7pPr marL="1281349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7pPr>
      <a:lvl8pPr marL="1494907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8pPr>
      <a:lvl9pPr marL="1708465" algn="l" defTabSz="427116" rtl="0" eaLnBrk="1" latinLnBrk="0" hangingPunct="1">
        <a:defRPr sz="8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/>
          <p:cNvSpPr/>
          <p:nvPr/>
        </p:nvSpPr>
        <p:spPr>
          <a:xfrm>
            <a:off x="5719713" y="1597554"/>
            <a:ext cx="210667" cy="278820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6513" tIns="33256" rIns="66513" bIns="332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09"/>
          </a:p>
        </p:txBody>
      </p:sp>
      <p:cxnSp>
        <p:nvCxnSpPr>
          <p:cNvPr id="5" name="Elbow Connector 4"/>
          <p:cNvCxnSpPr/>
          <p:nvPr/>
        </p:nvCxnSpPr>
        <p:spPr>
          <a:xfrm rot="16200000" flipH="1">
            <a:off x="4769218" y="786470"/>
            <a:ext cx="862181" cy="103880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16435" y="2684442"/>
            <a:ext cx="2576893" cy="540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55" dirty="0"/>
              <a:t>b) Operator processes barrier, and store </a:t>
            </a:r>
            <a:r>
              <a:rPr lang="en-US" sz="1455" dirty="0"/>
              <a:t>operator state.</a:t>
            </a:r>
            <a:endParaRPr lang="en-US" sz="1455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5620229" y="1921908"/>
            <a:ext cx="540095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State</a:t>
            </a:r>
          </a:p>
        </p:txBody>
      </p:sp>
      <p:sp>
        <p:nvSpPr>
          <p:cNvPr id="8" name="Oval 7"/>
          <p:cNvSpPr/>
          <p:nvPr/>
        </p:nvSpPr>
        <p:spPr>
          <a:xfrm>
            <a:off x="4348343" y="209665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46" dirty="0"/>
              <a:t>op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555421" y="542222"/>
            <a:ext cx="79292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4218813" y="240661"/>
            <a:ext cx="556" cy="45420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97662" y="33989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0:05</a:t>
            </a:r>
            <a:endParaRPr lang="en-US" sz="1309" dirty="0"/>
          </a:p>
        </p:txBody>
      </p:sp>
      <p:sp>
        <p:nvSpPr>
          <p:cNvPr id="12" name="TextBox 11"/>
          <p:cNvSpPr txBox="1"/>
          <p:nvPr/>
        </p:nvSpPr>
        <p:spPr>
          <a:xfrm>
            <a:off x="5902868" y="1597554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0:05</a:t>
            </a:r>
            <a:endParaRPr lang="en-US" altLang="zh-CN" sz="1309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013466" y="542222"/>
            <a:ext cx="101703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030503" y="209665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746" dirty="0"/>
              <a:t>sink</a:t>
            </a:r>
          </a:p>
        </p:txBody>
      </p:sp>
      <p:sp>
        <p:nvSpPr>
          <p:cNvPr id="15" name="Oval 14"/>
          <p:cNvSpPr/>
          <p:nvPr/>
        </p:nvSpPr>
        <p:spPr>
          <a:xfrm>
            <a:off x="3733268" y="368074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16" name="TextBox 15"/>
          <p:cNvSpPr txBox="1"/>
          <p:nvPr/>
        </p:nvSpPr>
        <p:spPr>
          <a:xfrm>
            <a:off x="3583057" y="36133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0:07</a:t>
            </a:r>
            <a:endParaRPr lang="en-US" sz="1309" dirty="0"/>
          </a:p>
        </p:txBody>
      </p:sp>
      <p:cxnSp>
        <p:nvCxnSpPr>
          <p:cNvPr id="17" name="Elbow Connector 16"/>
          <p:cNvCxnSpPr/>
          <p:nvPr/>
        </p:nvCxnSpPr>
        <p:spPr>
          <a:xfrm rot="5400000" flipH="1" flipV="1">
            <a:off x="3415725" y="944713"/>
            <a:ext cx="1197346" cy="862689"/>
          </a:xfrm>
          <a:prstGeom prst="bentConnector3">
            <a:avLst>
              <a:gd name="adj1" fmla="val -434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4125942" y="964038"/>
            <a:ext cx="453017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34202" y="813834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0:05</a:t>
            </a:r>
            <a:endParaRPr lang="en-US" sz="1309" dirty="0"/>
          </a:p>
        </p:txBody>
      </p:sp>
      <p:sp>
        <p:nvSpPr>
          <p:cNvPr id="20" name="Oval 19"/>
          <p:cNvSpPr/>
          <p:nvPr/>
        </p:nvSpPr>
        <p:spPr>
          <a:xfrm>
            <a:off x="5902872" y="348512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1" name="TextBox 20"/>
          <p:cNvSpPr txBox="1"/>
          <p:nvPr/>
        </p:nvSpPr>
        <p:spPr>
          <a:xfrm>
            <a:off x="5748252" y="36133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0:01</a:t>
            </a:r>
            <a:endParaRPr lang="en-US" sz="1309" dirty="0"/>
          </a:p>
        </p:txBody>
      </p:sp>
      <p:sp>
        <p:nvSpPr>
          <p:cNvPr id="22" name="Oval 21"/>
          <p:cNvSpPr/>
          <p:nvPr/>
        </p:nvSpPr>
        <p:spPr>
          <a:xfrm>
            <a:off x="5041612" y="348512"/>
            <a:ext cx="131877" cy="1433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3" name="TextBox 22"/>
          <p:cNvSpPr txBox="1"/>
          <p:nvPr/>
        </p:nvSpPr>
        <p:spPr>
          <a:xfrm>
            <a:off x="4881215" y="36133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0:02</a:t>
            </a:r>
            <a:endParaRPr lang="en-US" sz="1309" dirty="0"/>
          </a:p>
        </p:txBody>
      </p:sp>
      <p:sp>
        <p:nvSpPr>
          <p:cNvPr id="24" name="Oval 23"/>
          <p:cNvSpPr/>
          <p:nvPr/>
        </p:nvSpPr>
        <p:spPr>
          <a:xfrm>
            <a:off x="5449822" y="347767"/>
            <a:ext cx="131877" cy="1433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5" name="TextBox 24"/>
          <p:cNvSpPr txBox="1"/>
          <p:nvPr/>
        </p:nvSpPr>
        <p:spPr>
          <a:xfrm>
            <a:off x="5285840" y="34996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0:03</a:t>
            </a:r>
            <a:endParaRPr lang="en-US" sz="1309" dirty="0"/>
          </a:p>
        </p:txBody>
      </p:sp>
      <p:sp>
        <p:nvSpPr>
          <p:cNvPr id="26" name="Oval 25"/>
          <p:cNvSpPr/>
          <p:nvPr/>
        </p:nvSpPr>
        <p:spPr>
          <a:xfrm>
            <a:off x="3712489" y="1756047"/>
            <a:ext cx="131877" cy="1433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7" name="TextBox 26"/>
          <p:cNvSpPr txBox="1"/>
          <p:nvPr/>
        </p:nvSpPr>
        <p:spPr>
          <a:xfrm>
            <a:off x="3560126" y="1447503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0:07</a:t>
            </a:r>
            <a:endParaRPr lang="en-US" sz="1309" dirty="0"/>
          </a:p>
        </p:txBody>
      </p:sp>
      <p:sp>
        <p:nvSpPr>
          <p:cNvPr id="28" name="Oval 27"/>
          <p:cNvSpPr/>
          <p:nvPr/>
        </p:nvSpPr>
        <p:spPr>
          <a:xfrm>
            <a:off x="4037113" y="1758586"/>
            <a:ext cx="131877" cy="14334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09"/>
          </a:p>
        </p:txBody>
      </p:sp>
      <p:sp>
        <p:nvSpPr>
          <p:cNvPr id="29" name="TextBox 28"/>
          <p:cNvSpPr txBox="1"/>
          <p:nvPr/>
        </p:nvSpPr>
        <p:spPr>
          <a:xfrm>
            <a:off x="3904095" y="1454875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0:06</a:t>
            </a:r>
            <a:endParaRPr lang="en-US" sz="1309" dirty="0"/>
          </a:p>
        </p:txBody>
      </p:sp>
      <p:sp>
        <p:nvSpPr>
          <p:cNvPr id="30" name="Rectangle 29"/>
          <p:cNvSpPr/>
          <p:nvPr/>
        </p:nvSpPr>
        <p:spPr>
          <a:xfrm>
            <a:off x="4733877" y="1028558"/>
            <a:ext cx="1283810" cy="495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9" dirty="0"/>
              <a:t>Stores operator state</a:t>
            </a:r>
            <a:endParaRPr lang="en-US" sz="1309" dirty="0"/>
          </a:p>
        </p:txBody>
      </p:sp>
      <p:sp>
        <p:nvSpPr>
          <p:cNvPr id="31" name="Oval 30"/>
          <p:cNvSpPr/>
          <p:nvPr/>
        </p:nvSpPr>
        <p:spPr>
          <a:xfrm>
            <a:off x="8864" y="210876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746" dirty="0"/>
              <a:t>src1</a:t>
            </a:r>
          </a:p>
        </p:txBody>
      </p:sp>
      <p:sp>
        <p:nvSpPr>
          <p:cNvPr id="32" name="Oval 31"/>
          <p:cNvSpPr/>
          <p:nvPr/>
        </p:nvSpPr>
        <p:spPr>
          <a:xfrm>
            <a:off x="2269582" y="209665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46" dirty="0"/>
              <a:t>op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673985" y="542227"/>
            <a:ext cx="1595594" cy="121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6005" y="2685402"/>
            <a:ext cx="2675992" cy="540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55" dirty="0"/>
              <a:t>a) Source operators inject barrier at 0:05.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353468" y="263112"/>
            <a:ext cx="1299" cy="43546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flipH="1">
            <a:off x="834123" y="788606"/>
            <a:ext cx="1646012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Stored source tuples</a:t>
            </a:r>
            <a:r>
              <a:rPr lang="zh-CN" altLang="en-US" sz="1309" dirty="0"/>
              <a:t> </a:t>
            </a:r>
            <a:r>
              <a:rPr lang="en-US" altLang="zh-CN" sz="1309" dirty="0"/>
              <a:t>(0:01, 0:02, 0:07)</a:t>
            </a:r>
            <a:endParaRPr lang="en-US" sz="1309" dirty="0"/>
          </a:p>
        </p:txBody>
      </p:sp>
      <p:cxnSp>
        <p:nvCxnSpPr>
          <p:cNvPr id="37" name="Elbow Connector 36"/>
          <p:cNvCxnSpPr/>
          <p:nvPr/>
        </p:nvCxnSpPr>
        <p:spPr>
          <a:xfrm rot="16200000" flipH="1">
            <a:off x="383911" y="833509"/>
            <a:ext cx="192831" cy="27780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Can 37"/>
          <p:cNvSpPr/>
          <p:nvPr/>
        </p:nvSpPr>
        <p:spPr>
          <a:xfrm>
            <a:off x="619229" y="929415"/>
            <a:ext cx="210667" cy="278820"/>
          </a:xfrm>
          <a:prstGeom prst="can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6513" tIns="33256" rIns="66513" bIns="332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09"/>
          </a:p>
        </p:txBody>
      </p:sp>
      <p:sp>
        <p:nvSpPr>
          <p:cNvPr id="39" name="TextBox 38"/>
          <p:cNvSpPr txBox="1"/>
          <p:nvPr/>
        </p:nvSpPr>
        <p:spPr>
          <a:xfrm>
            <a:off x="1133788" y="39452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0:05</a:t>
            </a:r>
            <a:endParaRPr lang="en-US" sz="1309" dirty="0"/>
          </a:p>
        </p:txBody>
      </p:sp>
      <p:sp>
        <p:nvSpPr>
          <p:cNvPr id="40" name="Oval 39"/>
          <p:cNvSpPr/>
          <p:nvPr/>
        </p:nvSpPr>
        <p:spPr>
          <a:xfrm>
            <a:off x="9120" y="1471051"/>
            <a:ext cx="665123" cy="6651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746" dirty="0"/>
              <a:t>src2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1567901" y="1505442"/>
            <a:ext cx="1299" cy="43546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 flipH="1">
            <a:off x="829895" y="2126395"/>
            <a:ext cx="1599529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Stored source tuples (0:03, 0:06, 0:07)</a:t>
            </a:r>
          </a:p>
        </p:txBody>
      </p:sp>
      <p:cxnSp>
        <p:nvCxnSpPr>
          <p:cNvPr id="43" name="Elbow Connector 42"/>
          <p:cNvCxnSpPr/>
          <p:nvPr/>
        </p:nvCxnSpPr>
        <p:spPr>
          <a:xfrm rot="16200000" flipH="1">
            <a:off x="369441" y="2108415"/>
            <a:ext cx="222027" cy="27754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Can 43"/>
          <p:cNvSpPr/>
          <p:nvPr/>
        </p:nvSpPr>
        <p:spPr>
          <a:xfrm>
            <a:off x="619229" y="2218787"/>
            <a:ext cx="210667" cy="278820"/>
          </a:xfrm>
          <a:prstGeom prst="can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66513" tIns="33256" rIns="66513" bIns="332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09"/>
          </a:p>
        </p:txBody>
      </p:sp>
      <p:sp>
        <p:nvSpPr>
          <p:cNvPr id="45" name="TextBox 44"/>
          <p:cNvSpPr txBox="1"/>
          <p:nvPr/>
        </p:nvSpPr>
        <p:spPr>
          <a:xfrm>
            <a:off x="1373959" y="1281602"/>
            <a:ext cx="484428" cy="293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9" dirty="0"/>
              <a:t>0:05</a:t>
            </a:r>
            <a:endParaRPr lang="en-US" sz="1309" dirty="0"/>
          </a:p>
        </p:txBody>
      </p:sp>
      <p:grpSp>
        <p:nvGrpSpPr>
          <p:cNvPr id="46" name="Group 45"/>
          <p:cNvGrpSpPr/>
          <p:nvPr/>
        </p:nvGrpSpPr>
        <p:grpSpPr>
          <a:xfrm>
            <a:off x="1885404" y="39452"/>
            <a:ext cx="484428" cy="455720"/>
            <a:chOff x="2597628" y="-72000"/>
            <a:chExt cx="665983" cy="626516"/>
          </a:xfrm>
        </p:grpSpPr>
        <p:sp>
          <p:nvSpPr>
            <p:cNvPr id="47" name="Oval 46"/>
            <p:cNvSpPr/>
            <p:nvPr/>
          </p:nvSpPr>
          <p:spPr>
            <a:xfrm>
              <a:off x="2810191" y="357448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9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97628" y="-72000"/>
              <a:ext cx="665983" cy="403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09" dirty="0"/>
                <a:t>0:01</a:t>
              </a:r>
              <a:endParaRPr lang="en-US" sz="1309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552535" y="39452"/>
            <a:ext cx="484428" cy="455720"/>
            <a:chOff x="2140006" y="-72000"/>
            <a:chExt cx="665983" cy="626516"/>
          </a:xfrm>
        </p:grpSpPr>
        <p:sp>
          <p:nvSpPr>
            <p:cNvPr id="50" name="Oval 49"/>
            <p:cNvSpPr/>
            <p:nvPr/>
          </p:nvSpPr>
          <p:spPr>
            <a:xfrm>
              <a:off x="2360512" y="357448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9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140006" y="-72000"/>
              <a:ext cx="665983" cy="403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09" dirty="0"/>
                <a:t>0:02</a:t>
              </a:r>
              <a:endParaRPr lang="en-US" sz="1309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09551" y="39456"/>
            <a:ext cx="484428" cy="475283"/>
            <a:chOff x="981087" y="-72000"/>
            <a:chExt cx="665983" cy="653410"/>
          </a:xfrm>
        </p:grpSpPr>
        <p:sp>
          <p:nvSpPr>
            <p:cNvPr id="53" name="Oval 52"/>
            <p:cNvSpPr/>
            <p:nvPr/>
          </p:nvSpPr>
          <p:spPr>
            <a:xfrm>
              <a:off x="1187589" y="384342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9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81087" y="-72000"/>
              <a:ext cx="665983" cy="403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09" dirty="0"/>
                <a:t>0:07</a:t>
              </a:r>
              <a:endParaRPr lang="en-US" sz="1309" dirty="0"/>
            </a:p>
          </p:txBody>
        </p:sp>
      </p:grpSp>
      <p:cxnSp>
        <p:nvCxnSpPr>
          <p:cNvPr id="55" name="Straight Arrow Connector 54"/>
          <p:cNvCxnSpPr/>
          <p:nvPr/>
        </p:nvCxnSpPr>
        <p:spPr>
          <a:xfrm>
            <a:off x="2934701" y="542222"/>
            <a:ext cx="44516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62388" y="1279213"/>
            <a:ext cx="828397" cy="454425"/>
            <a:chOff x="915892" y="1867643"/>
            <a:chExt cx="1138865" cy="624735"/>
          </a:xfrm>
        </p:grpSpPr>
        <p:sp>
          <p:nvSpPr>
            <p:cNvPr id="57" name="Oval 56"/>
            <p:cNvSpPr/>
            <p:nvPr/>
          </p:nvSpPr>
          <p:spPr>
            <a:xfrm>
              <a:off x="1125353" y="2291819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09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15892" y="1867643"/>
              <a:ext cx="665983" cy="403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09" dirty="0"/>
                <a:t>0:07</a:t>
              </a:r>
              <a:endParaRPr lang="en-US" sz="1309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1571639" y="2295310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09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388774" y="1877778"/>
              <a:ext cx="665983" cy="403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09" dirty="0"/>
                <a:t>0:06</a:t>
              </a:r>
              <a:endParaRPr lang="en-US" sz="1309" dirty="0"/>
            </a:p>
          </p:txBody>
        </p:sp>
      </p:grpSp>
      <p:cxnSp>
        <p:nvCxnSpPr>
          <p:cNvPr id="61" name="Elbow Connector 60"/>
          <p:cNvCxnSpPr/>
          <p:nvPr/>
        </p:nvCxnSpPr>
        <p:spPr>
          <a:xfrm flipV="1">
            <a:off x="674244" y="777379"/>
            <a:ext cx="1692743" cy="102623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>
            <a:off x="1822004" y="1277385"/>
            <a:ext cx="484428" cy="456112"/>
            <a:chOff x="7736558" y="-78127"/>
            <a:chExt cx="665983" cy="627055"/>
          </a:xfrm>
        </p:grpSpPr>
        <p:sp>
          <p:nvSpPr>
            <p:cNvPr id="63" name="Oval 62"/>
            <p:cNvSpPr/>
            <p:nvPr/>
          </p:nvSpPr>
          <p:spPr>
            <a:xfrm>
              <a:off x="7961992" y="351860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09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736558" y="-78127"/>
              <a:ext cx="665983" cy="403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09" dirty="0"/>
                <a:t>0:03</a:t>
              </a:r>
              <a:endParaRPr lang="en-US" sz="1309" dirty="0"/>
            </a:p>
          </p:txBody>
        </p:sp>
      </p:grpSp>
    </p:spTree>
    <p:extLst>
      <p:ext uri="{BB962C8B-B14F-4D97-AF65-F5344CB8AC3E}">
        <p14:creationId xmlns:p14="http://schemas.microsoft.com/office/powerpoint/2010/main" val="11085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</TotalTime>
  <Words>66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等线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2018-07-26T03:19:33Z</dcterms:created>
  <dcterms:modified xsi:type="dcterms:W3CDTF">2018-07-26T03:22:41Z</dcterms:modified>
</cp:coreProperties>
</file>