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0" r:id="rId1"/>
  </p:sldMasterIdLst>
  <p:sldIdLst>
    <p:sldId id="256" r:id="rId2"/>
  </p:sldIdLst>
  <p:sldSz cx="8280400" cy="8064500"/>
  <p:notesSz cx="6858000" cy="9144000"/>
  <p:defaultTextStyle>
    <a:defPPr>
      <a:defRPr lang="en-US"/>
    </a:defPPr>
    <a:lvl1pPr marL="0" algn="l" defTabSz="839423" rtl="0" eaLnBrk="1" latinLnBrk="0" hangingPunct="1">
      <a:defRPr sz="1652" kern="1200">
        <a:solidFill>
          <a:schemeClr val="tx1"/>
        </a:solidFill>
        <a:latin typeface="+mn-lt"/>
        <a:ea typeface="+mn-ea"/>
        <a:cs typeface="+mn-cs"/>
      </a:defRPr>
    </a:lvl1pPr>
    <a:lvl2pPr marL="419711" algn="l" defTabSz="839423" rtl="0" eaLnBrk="1" latinLnBrk="0" hangingPunct="1">
      <a:defRPr sz="1652" kern="1200">
        <a:solidFill>
          <a:schemeClr val="tx1"/>
        </a:solidFill>
        <a:latin typeface="+mn-lt"/>
        <a:ea typeface="+mn-ea"/>
        <a:cs typeface="+mn-cs"/>
      </a:defRPr>
    </a:lvl2pPr>
    <a:lvl3pPr marL="839423" algn="l" defTabSz="839423" rtl="0" eaLnBrk="1" latinLnBrk="0" hangingPunct="1">
      <a:defRPr sz="1652" kern="1200">
        <a:solidFill>
          <a:schemeClr val="tx1"/>
        </a:solidFill>
        <a:latin typeface="+mn-lt"/>
        <a:ea typeface="+mn-ea"/>
        <a:cs typeface="+mn-cs"/>
      </a:defRPr>
    </a:lvl3pPr>
    <a:lvl4pPr marL="1259134" algn="l" defTabSz="839423" rtl="0" eaLnBrk="1" latinLnBrk="0" hangingPunct="1">
      <a:defRPr sz="1652" kern="1200">
        <a:solidFill>
          <a:schemeClr val="tx1"/>
        </a:solidFill>
        <a:latin typeface="+mn-lt"/>
        <a:ea typeface="+mn-ea"/>
        <a:cs typeface="+mn-cs"/>
      </a:defRPr>
    </a:lvl4pPr>
    <a:lvl5pPr marL="1678846" algn="l" defTabSz="839423" rtl="0" eaLnBrk="1" latinLnBrk="0" hangingPunct="1">
      <a:defRPr sz="1652" kern="1200">
        <a:solidFill>
          <a:schemeClr val="tx1"/>
        </a:solidFill>
        <a:latin typeface="+mn-lt"/>
        <a:ea typeface="+mn-ea"/>
        <a:cs typeface="+mn-cs"/>
      </a:defRPr>
    </a:lvl5pPr>
    <a:lvl6pPr marL="2098557" algn="l" defTabSz="839423" rtl="0" eaLnBrk="1" latinLnBrk="0" hangingPunct="1">
      <a:defRPr sz="1652" kern="1200">
        <a:solidFill>
          <a:schemeClr val="tx1"/>
        </a:solidFill>
        <a:latin typeface="+mn-lt"/>
        <a:ea typeface="+mn-ea"/>
        <a:cs typeface="+mn-cs"/>
      </a:defRPr>
    </a:lvl6pPr>
    <a:lvl7pPr marL="2518269" algn="l" defTabSz="839423" rtl="0" eaLnBrk="1" latinLnBrk="0" hangingPunct="1">
      <a:defRPr sz="1652" kern="1200">
        <a:solidFill>
          <a:schemeClr val="tx1"/>
        </a:solidFill>
        <a:latin typeface="+mn-lt"/>
        <a:ea typeface="+mn-ea"/>
        <a:cs typeface="+mn-cs"/>
      </a:defRPr>
    </a:lvl7pPr>
    <a:lvl8pPr marL="2937980" algn="l" defTabSz="839423" rtl="0" eaLnBrk="1" latinLnBrk="0" hangingPunct="1">
      <a:defRPr sz="1652" kern="1200">
        <a:solidFill>
          <a:schemeClr val="tx1"/>
        </a:solidFill>
        <a:latin typeface="+mn-lt"/>
        <a:ea typeface="+mn-ea"/>
        <a:cs typeface="+mn-cs"/>
      </a:defRPr>
    </a:lvl8pPr>
    <a:lvl9pPr marL="3357691" algn="l" defTabSz="839423" rtl="0" eaLnBrk="1" latinLnBrk="0" hangingPunct="1">
      <a:defRPr sz="165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7216"/>
    <p:restoredTop sz="94643"/>
  </p:normalViewPr>
  <p:slideViewPr>
    <p:cSldViewPr snapToGrid="0" snapToObjects="1">
      <p:cViewPr>
        <p:scale>
          <a:sx n="66" d="100"/>
          <a:sy n="66" d="100"/>
        </p:scale>
        <p:origin x="4032" y="1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1030" y="1319816"/>
            <a:ext cx="7038340" cy="2807641"/>
          </a:xfrm>
        </p:spPr>
        <p:txBody>
          <a:bodyPr anchor="b"/>
          <a:lstStyle>
            <a:lvl1pPr algn="ctr">
              <a:defRPr sz="5434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35050" y="4235730"/>
            <a:ext cx="6210300" cy="1947053"/>
          </a:xfrm>
        </p:spPr>
        <p:txBody>
          <a:bodyPr/>
          <a:lstStyle>
            <a:lvl1pPr marL="0" indent="0" algn="ctr">
              <a:buNone/>
              <a:defRPr sz="2173"/>
            </a:lvl1pPr>
            <a:lvl2pPr marL="414040" indent="0" algn="ctr">
              <a:buNone/>
              <a:defRPr sz="1811"/>
            </a:lvl2pPr>
            <a:lvl3pPr marL="828081" indent="0" algn="ctr">
              <a:buNone/>
              <a:defRPr sz="1630"/>
            </a:lvl3pPr>
            <a:lvl4pPr marL="1242121" indent="0" algn="ctr">
              <a:buNone/>
              <a:defRPr sz="1449"/>
            </a:lvl4pPr>
            <a:lvl5pPr marL="1656161" indent="0" algn="ctr">
              <a:buNone/>
              <a:defRPr sz="1449"/>
            </a:lvl5pPr>
            <a:lvl6pPr marL="2070202" indent="0" algn="ctr">
              <a:buNone/>
              <a:defRPr sz="1449"/>
            </a:lvl6pPr>
            <a:lvl7pPr marL="2484242" indent="0" algn="ctr">
              <a:buNone/>
              <a:defRPr sz="1449"/>
            </a:lvl7pPr>
            <a:lvl8pPr marL="2898282" indent="0" algn="ctr">
              <a:buNone/>
              <a:defRPr sz="1449"/>
            </a:lvl8pPr>
            <a:lvl9pPr marL="3312323" indent="0" algn="ctr">
              <a:buNone/>
              <a:defRPr sz="1449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6A657-1E65-D244-AC9C-DCDAE47B258D}" type="datetimeFigureOut">
              <a:rPr lang="en-US" smtClean="0"/>
              <a:t>4/2/18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DB412-8D0B-0145-BFA3-406ED982A62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6A657-1E65-D244-AC9C-DCDAE47B258D}" type="datetimeFigureOut">
              <a:rPr lang="en-US" smtClean="0"/>
              <a:t>4/2/18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DB412-8D0B-0145-BFA3-406ED982A62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4965" y="2010527"/>
            <a:ext cx="7141845" cy="3354607"/>
          </a:xfrm>
        </p:spPr>
        <p:txBody>
          <a:bodyPr anchor="b"/>
          <a:lstStyle>
            <a:lvl1pPr>
              <a:defRPr sz="5434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4965" y="5396870"/>
            <a:ext cx="7141845" cy="1764109"/>
          </a:xfrm>
        </p:spPr>
        <p:txBody>
          <a:bodyPr/>
          <a:lstStyle>
            <a:lvl1pPr marL="0" indent="0">
              <a:buNone/>
              <a:defRPr sz="2173">
                <a:solidFill>
                  <a:schemeClr val="tx1"/>
                </a:solidFill>
              </a:defRPr>
            </a:lvl1pPr>
            <a:lvl2pPr marL="414040" indent="0">
              <a:buNone/>
              <a:defRPr sz="1811">
                <a:solidFill>
                  <a:schemeClr val="tx1">
                    <a:tint val="75000"/>
                  </a:schemeClr>
                </a:solidFill>
              </a:defRPr>
            </a:lvl2pPr>
            <a:lvl3pPr marL="828081" indent="0">
              <a:buNone/>
              <a:defRPr sz="1630">
                <a:solidFill>
                  <a:schemeClr val="tx1">
                    <a:tint val="75000"/>
                  </a:schemeClr>
                </a:solidFill>
              </a:defRPr>
            </a:lvl3pPr>
            <a:lvl4pPr marL="1242121" indent="0">
              <a:buNone/>
              <a:defRPr sz="1449">
                <a:solidFill>
                  <a:schemeClr val="tx1">
                    <a:tint val="75000"/>
                  </a:schemeClr>
                </a:solidFill>
              </a:defRPr>
            </a:lvl4pPr>
            <a:lvl5pPr marL="1656161" indent="0">
              <a:buNone/>
              <a:defRPr sz="1449">
                <a:solidFill>
                  <a:schemeClr val="tx1">
                    <a:tint val="75000"/>
                  </a:schemeClr>
                </a:solidFill>
              </a:defRPr>
            </a:lvl5pPr>
            <a:lvl6pPr marL="2070202" indent="0">
              <a:buNone/>
              <a:defRPr sz="1449">
                <a:solidFill>
                  <a:schemeClr val="tx1">
                    <a:tint val="75000"/>
                  </a:schemeClr>
                </a:solidFill>
              </a:defRPr>
            </a:lvl6pPr>
            <a:lvl7pPr marL="2484242" indent="0">
              <a:buNone/>
              <a:defRPr sz="1449">
                <a:solidFill>
                  <a:schemeClr val="tx1">
                    <a:tint val="75000"/>
                  </a:schemeClr>
                </a:solidFill>
              </a:defRPr>
            </a:lvl7pPr>
            <a:lvl8pPr marL="2898282" indent="0">
              <a:buNone/>
              <a:defRPr sz="1449">
                <a:solidFill>
                  <a:schemeClr val="tx1">
                    <a:tint val="75000"/>
                  </a:schemeClr>
                </a:solidFill>
              </a:defRPr>
            </a:lvl8pPr>
            <a:lvl9pPr marL="3312323" indent="0">
              <a:buNone/>
              <a:defRPr sz="144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6A657-1E65-D244-AC9C-DCDAE47B258D}" type="datetimeFigureOut">
              <a:rPr lang="en-US" smtClean="0"/>
              <a:t>4/2/18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DB412-8D0B-0145-BFA3-406ED982A62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9278" y="2146800"/>
            <a:ext cx="3519170" cy="511685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91953" y="2146800"/>
            <a:ext cx="3519170" cy="511685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6A657-1E65-D244-AC9C-DCDAE47B258D}" type="datetimeFigureOut">
              <a:rPr lang="en-US" smtClean="0"/>
              <a:t>4/2/18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DB412-8D0B-0145-BFA3-406ED982A62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0356" y="429362"/>
            <a:ext cx="7141845" cy="155876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0357" y="1976923"/>
            <a:ext cx="3502997" cy="968859"/>
          </a:xfrm>
        </p:spPr>
        <p:txBody>
          <a:bodyPr anchor="b"/>
          <a:lstStyle>
            <a:lvl1pPr marL="0" indent="0">
              <a:buNone/>
              <a:defRPr sz="2173" b="1"/>
            </a:lvl1pPr>
            <a:lvl2pPr marL="414040" indent="0">
              <a:buNone/>
              <a:defRPr sz="1811" b="1"/>
            </a:lvl2pPr>
            <a:lvl3pPr marL="828081" indent="0">
              <a:buNone/>
              <a:defRPr sz="1630" b="1"/>
            </a:lvl3pPr>
            <a:lvl4pPr marL="1242121" indent="0">
              <a:buNone/>
              <a:defRPr sz="1449" b="1"/>
            </a:lvl4pPr>
            <a:lvl5pPr marL="1656161" indent="0">
              <a:buNone/>
              <a:defRPr sz="1449" b="1"/>
            </a:lvl5pPr>
            <a:lvl6pPr marL="2070202" indent="0">
              <a:buNone/>
              <a:defRPr sz="1449" b="1"/>
            </a:lvl6pPr>
            <a:lvl7pPr marL="2484242" indent="0">
              <a:buNone/>
              <a:defRPr sz="1449" b="1"/>
            </a:lvl7pPr>
            <a:lvl8pPr marL="2898282" indent="0">
              <a:buNone/>
              <a:defRPr sz="1449" b="1"/>
            </a:lvl8pPr>
            <a:lvl9pPr marL="3312323" indent="0">
              <a:buNone/>
              <a:defRPr sz="1449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0357" y="2945782"/>
            <a:ext cx="3502997" cy="433280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191953" y="1976923"/>
            <a:ext cx="3520249" cy="968859"/>
          </a:xfrm>
        </p:spPr>
        <p:txBody>
          <a:bodyPr anchor="b"/>
          <a:lstStyle>
            <a:lvl1pPr marL="0" indent="0">
              <a:buNone/>
              <a:defRPr sz="2173" b="1"/>
            </a:lvl1pPr>
            <a:lvl2pPr marL="414040" indent="0">
              <a:buNone/>
              <a:defRPr sz="1811" b="1"/>
            </a:lvl2pPr>
            <a:lvl3pPr marL="828081" indent="0">
              <a:buNone/>
              <a:defRPr sz="1630" b="1"/>
            </a:lvl3pPr>
            <a:lvl4pPr marL="1242121" indent="0">
              <a:buNone/>
              <a:defRPr sz="1449" b="1"/>
            </a:lvl4pPr>
            <a:lvl5pPr marL="1656161" indent="0">
              <a:buNone/>
              <a:defRPr sz="1449" b="1"/>
            </a:lvl5pPr>
            <a:lvl6pPr marL="2070202" indent="0">
              <a:buNone/>
              <a:defRPr sz="1449" b="1"/>
            </a:lvl6pPr>
            <a:lvl7pPr marL="2484242" indent="0">
              <a:buNone/>
              <a:defRPr sz="1449" b="1"/>
            </a:lvl7pPr>
            <a:lvl8pPr marL="2898282" indent="0">
              <a:buNone/>
              <a:defRPr sz="1449" b="1"/>
            </a:lvl8pPr>
            <a:lvl9pPr marL="3312323" indent="0">
              <a:buNone/>
              <a:defRPr sz="1449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91953" y="2945782"/>
            <a:ext cx="3520249" cy="433280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6A657-1E65-D244-AC9C-DCDAE47B258D}" type="datetimeFigureOut">
              <a:rPr lang="en-US" smtClean="0"/>
              <a:t>4/2/18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DB412-8D0B-0145-BFA3-406ED982A62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6A657-1E65-D244-AC9C-DCDAE47B258D}" type="datetimeFigureOut">
              <a:rPr lang="en-US" smtClean="0"/>
              <a:t>4/2/18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DB412-8D0B-0145-BFA3-406ED982A62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6A657-1E65-D244-AC9C-DCDAE47B258D}" type="datetimeFigureOut">
              <a:rPr lang="en-US" smtClean="0"/>
              <a:t>4/2/18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DB412-8D0B-0145-BFA3-406ED982A62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0356" y="537633"/>
            <a:ext cx="2670645" cy="1881717"/>
          </a:xfrm>
        </p:spPr>
        <p:txBody>
          <a:bodyPr anchor="b"/>
          <a:lstStyle>
            <a:lvl1pPr>
              <a:defRPr sz="2898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20248" y="1161140"/>
            <a:ext cx="4191953" cy="5731022"/>
          </a:xfrm>
        </p:spPr>
        <p:txBody>
          <a:bodyPr/>
          <a:lstStyle>
            <a:lvl1pPr>
              <a:defRPr sz="2898"/>
            </a:lvl1pPr>
            <a:lvl2pPr>
              <a:defRPr sz="2536"/>
            </a:lvl2pPr>
            <a:lvl3pPr>
              <a:defRPr sz="2173"/>
            </a:lvl3pPr>
            <a:lvl4pPr>
              <a:defRPr sz="1811"/>
            </a:lvl4pPr>
            <a:lvl5pPr>
              <a:defRPr sz="1811"/>
            </a:lvl5pPr>
            <a:lvl6pPr>
              <a:defRPr sz="1811"/>
            </a:lvl6pPr>
            <a:lvl7pPr>
              <a:defRPr sz="1811"/>
            </a:lvl7pPr>
            <a:lvl8pPr>
              <a:defRPr sz="1811"/>
            </a:lvl8pPr>
            <a:lvl9pPr>
              <a:defRPr sz="1811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0356" y="2419350"/>
            <a:ext cx="2670645" cy="4482145"/>
          </a:xfrm>
        </p:spPr>
        <p:txBody>
          <a:bodyPr/>
          <a:lstStyle>
            <a:lvl1pPr marL="0" indent="0">
              <a:buNone/>
              <a:defRPr sz="1449"/>
            </a:lvl1pPr>
            <a:lvl2pPr marL="414040" indent="0">
              <a:buNone/>
              <a:defRPr sz="1268"/>
            </a:lvl2pPr>
            <a:lvl3pPr marL="828081" indent="0">
              <a:buNone/>
              <a:defRPr sz="1087"/>
            </a:lvl3pPr>
            <a:lvl4pPr marL="1242121" indent="0">
              <a:buNone/>
              <a:defRPr sz="906"/>
            </a:lvl4pPr>
            <a:lvl5pPr marL="1656161" indent="0">
              <a:buNone/>
              <a:defRPr sz="906"/>
            </a:lvl5pPr>
            <a:lvl6pPr marL="2070202" indent="0">
              <a:buNone/>
              <a:defRPr sz="906"/>
            </a:lvl6pPr>
            <a:lvl7pPr marL="2484242" indent="0">
              <a:buNone/>
              <a:defRPr sz="906"/>
            </a:lvl7pPr>
            <a:lvl8pPr marL="2898282" indent="0">
              <a:buNone/>
              <a:defRPr sz="906"/>
            </a:lvl8pPr>
            <a:lvl9pPr marL="3312323" indent="0">
              <a:buNone/>
              <a:defRPr sz="906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6A657-1E65-D244-AC9C-DCDAE47B258D}" type="datetimeFigureOut">
              <a:rPr lang="en-US" smtClean="0"/>
              <a:t>4/2/18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DB412-8D0B-0145-BFA3-406ED982A62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0356" y="537633"/>
            <a:ext cx="2670645" cy="1881717"/>
          </a:xfrm>
        </p:spPr>
        <p:txBody>
          <a:bodyPr anchor="b"/>
          <a:lstStyle>
            <a:lvl1pPr>
              <a:defRPr sz="2898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20248" y="1161140"/>
            <a:ext cx="4191953" cy="5731022"/>
          </a:xfrm>
        </p:spPr>
        <p:txBody>
          <a:bodyPr anchor="t"/>
          <a:lstStyle>
            <a:lvl1pPr marL="0" indent="0">
              <a:buNone/>
              <a:defRPr sz="2898"/>
            </a:lvl1pPr>
            <a:lvl2pPr marL="414040" indent="0">
              <a:buNone/>
              <a:defRPr sz="2536"/>
            </a:lvl2pPr>
            <a:lvl3pPr marL="828081" indent="0">
              <a:buNone/>
              <a:defRPr sz="2173"/>
            </a:lvl3pPr>
            <a:lvl4pPr marL="1242121" indent="0">
              <a:buNone/>
              <a:defRPr sz="1811"/>
            </a:lvl4pPr>
            <a:lvl5pPr marL="1656161" indent="0">
              <a:buNone/>
              <a:defRPr sz="1811"/>
            </a:lvl5pPr>
            <a:lvl6pPr marL="2070202" indent="0">
              <a:buNone/>
              <a:defRPr sz="1811"/>
            </a:lvl6pPr>
            <a:lvl7pPr marL="2484242" indent="0">
              <a:buNone/>
              <a:defRPr sz="1811"/>
            </a:lvl7pPr>
            <a:lvl8pPr marL="2898282" indent="0">
              <a:buNone/>
              <a:defRPr sz="1811"/>
            </a:lvl8pPr>
            <a:lvl9pPr marL="3312323" indent="0">
              <a:buNone/>
              <a:defRPr sz="1811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0356" y="2419350"/>
            <a:ext cx="2670645" cy="4482145"/>
          </a:xfrm>
        </p:spPr>
        <p:txBody>
          <a:bodyPr/>
          <a:lstStyle>
            <a:lvl1pPr marL="0" indent="0">
              <a:buNone/>
              <a:defRPr sz="1449"/>
            </a:lvl1pPr>
            <a:lvl2pPr marL="414040" indent="0">
              <a:buNone/>
              <a:defRPr sz="1268"/>
            </a:lvl2pPr>
            <a:lvl3pPr marL="828081" indent="0">
              <a:buNone/>
              <a:defRPr sz="1087"/>
            </a:lvl3pPr>
            <a:lvl4pPr marL="1242121" indent="0">
              <a:buNone/>
              <a:defRPr sz="906"/>
            </a:lvl4pPr>
            <a:lvl5pPr marL="1656161" indent="0">
              <a:buNone/>
              <a:defRPr sz="906"/>
            </a:lvl5pPr>
            <a:lvl6pPr marL="2070202" indent="0">
              <a:buNone/>
              <a:defRPr sz="906"/>
            </a:lvl6pPr>
            <a:lvl7pPr marL="2484242" indent="0">
              <a:buNone/>
              <a:defRPr sz="906"/>
            </a:lvl7pPr>
            <a:lvl8pPr marL="2898282" indent="0">
              <a:buNone/>
              <a:defRPr sz="906"/>
            </a:lvl8pPr>
            <a:lvl9pPr marL="3312323" indent="0">
              <a:buNone/>
              <a:defRPr sz="906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6A657-1E65-D244-AC9C-DCDAE47B258D}" type="datetimeFigureOut">
              <a:rPr lang="en-US" smtClean="0"/>
              <a:t>4/2/18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DB412-8D0B-0145-BFA3-406ED982A62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6A657-1E65-D244-AC9C-DCDAE47B258D}" type="datetimeFigureOut">
              <a:rPr lang="en-US" smtClean="0"/>
              <a:t>4/2/18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DB412-8D0B-0145-BFA3-406ED982A62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25662" y="429360"/>
            <a:ext cx="1785461" cy="683429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9278" y="429360"/>
            <a:ext cx="5252879" cy="683429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6A657-1E65-D244-AC9C-DCDAE47B258D}" type="datetimeFigureOut">
              <a:rPr lang="en-US" smtClean="0"/>
              <a:t>4/2/18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DB412-8D0B-0145-BFA3-406ED982A62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69278" y="429362"/>
            <a:ext cx="7141845" cy="15587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9278" y="2146800"/>
            <a:ext cx="7141845" cy="51168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9278" y="7474599"/>
            <a:ext cx="1863090" cy="4293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B6A657-1E65-D244-AC9C-DCDAE47B258D}" type="datetimeFigureOut">
              <a:rPr lang="en-US" smtClean="0"/>
              <a:t>4/2/18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42883" y="7474599"/>
            <a:ext cx="2794635" cy="4293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848033" y="7474599"/>
            <a:ext cx="1863090" cy="4293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2DB412-8D0B-0145-BFA3-406ED982A6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989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828081" rtl="0" eaLnBrk="1" latinLnBrk="0" hangingPunct="1">
        <a:lnSpc>
          <a:spcPct val="90000"/>
        </a:lnSpc>
        <a:spcBef>
          <a:spcPct val="0"/>
        </a:spcBef>
        <a:buNone/>
        <a:defRPr sz="398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7020" indent="-207020" algn="l" defTabSz="828081" rtl="0" eaLnBrk="1" latinLnBrk="0" hangingPunct="1">
        <a:lnSpc>
          <a:spcPct val="90000"/>
        </a:lnSpc>
        <a:spcBef>
          <a:spcPts val="906"/>
        </a:spcBef>
        <a:buFont typeface="Arial" panose="020B0604020202020204" pitchFamily="34" charset="0"/>
        <a:buChar char="•"/>
        <a:defRPr sz="2536" kern="1200">
          <a:solidFill>
            <a:schemeClr val="tx1"/>
          </a:solidFill>
          <a:latin typeface="+mn-lt"/>
          <a:ea typeface="+mn-ea"/>
          <a:cs typeface="+mn-cs"/>
        </a:defRPr>
      </a:lvl1pPr>
      <a:lvl2pPr marL="621060" indent="-207020" algn="l" defTabSz="828081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2pPr>
      <a:lvl3pPr marL="1035101" indent="-207020" algn="l" defTabSz="828081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1811" kern="1200">
          <a:solidFill>
            <a:schemeClr val="tx1"/>
          </a:solidFill>
          <a:latin typeface="+mn-lt"/>
          <a:ea typeface="+mn-ea"/>
          <a:cs typeface="+mn-cs"/>
        </a:defRPr>
      </a:lvl3pPr>
      <a:lvl4pPr marL="1449141" indent="-207020" algn="l" defTabSz="828081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1630" kern="1200">
          <a:solidFill>
            <a:schemeClr val="tx1"/>
          </a:solidFill>
          <a:latin typeface="+mn-lt"/>
          <a:ea typeface="+mn-ea"/>
          <a:cs typeface="+mn-cs"/>
        </a:defRPr>
      </a:lvl4pPr>
      <a:lvl5pPr marL="1863181" indent="-207020" algn="l" defTabSz="828081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1630" kern="1200">
          <a:solidFill>
            <a:schemeClr val="tx1"/>
          </a:solidFill>
          <a:latin typeface="+mn-lt"/>
          <a:ea typeface="+mn-ea"/>
          <a:cs typeface="+mn-cs"/>
        </a:defRPr>
      </a:lvl5pPr>
      <a:lvl6pPr marL="2277222" indent="-207020" algn="l" defTabSz="828081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1630" kern="1200">
          <a:solidFill>
            <a:schemeClr val="tx1"/>
          </a:solidFill>
          <a:latin typeface="+mn-lt"/>
          <a:ea typeface="+mn-ea"/>
          <a:cs typeface="+mn-cs"/>
        </a:defRPr>
      </a:lvl6pPr>
      <a:lvl7pPr marL="2691262" indent="-207020" algn="l" defTabSz="828081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1630" kern="1200">
          <a:solidFill>
            <a:schemeClr val="tx1"/>
          </a:solidFill>
          <a:latin typeface="+mn-lt"/>
          <a:ea typeface="+mn-ea"/>
          <a:cs typeface="+mn-cs"/>
        </a:defRPr>
      </a:lvl7pPr>
      <a:lvl8pPr marL="3105302" indent="-207020" algn="l" defTabSz="828081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1630" kern="1200">
          <a:solidFill>
            <a:schemeClr val="tx1"/>
          </a:solidFill>
          <a:latin typeface="+mn-lt"/>
          <a:ea typeface="+mn-ea"/>
          <a:cs typeface="+mn-cs"/>
        </a:defRPr>
      </a:lvl8pPr>
      <a:lvl9pPr marL="3519343" indent="-207020" algn="l" defTabSz="828081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16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28081" rtl="0" eaLnBrk="1" latinLnBrk="0" hangingPunct="1">
        <a:defRPr sz="1630" kern="1200">
          <a:solidFill>
            <a:schemeClr val="tx1"/>
          </a:solidFill>
          <a:latin typeface="+mn-lt"/>
          <a:ea typeface="+mn-ea"/>
          <a:cs typeface="+mn-cs"/>
        </a:defRPr>
      </a:lvl1pPr>
      <a:lvl2pPr marL="414040" algn="l" defTabSz="828081" rtl="0" eaLnBrk="1" latinLnBrk="0" hangingPunct="1">
        <a:defRPr sz="1630" kern="1200">
          <a:solidFill>
            <a:schemeClr val="tx1"/>
          </a:solidFill>
          <a:latin typeface="+mn-lt"/>
          <a:ea typeface="+mn-ea"/>
          <a:cs typeface="+mn-cs"/>
        </a:defRPr>
      </a:lvl2pPr>
      <a:lvl3pPr marL="828081" algn="l" defTabSz="828081" rtl="0" eaLnBrk="1" latinLnBrk="0" hangingPunct="1">
        <a:defRPr sz="1630" kern="1200">
          <a:solidFill>
            <a:schemeClr val="tx1"/>
          </a:solidFill>
          <a:latin typeface="+mn-lt"/>
          <a:ea typeface="+mn-ea"/>
          <a:cs typeface="+mn-cs"/>
        </a:defRPr>
      </a:lvl3pPr>
      <a:lvl4pPr marL="1242121" algn="l" defTabSz="828081" rtl="0" eaLnBrk="1" latinLnBrk="0" hangingPunct="1">
        <a:defRPr sz="1630" kern="1200">
          <a:solidFill>
            <a:schemeClr val="tx1"/>
          </a:solidFill>
          <a:latin typeface="+mn-lt"/>
          <a:ea typeface="+mn-ea"/>
          <a:cs typeface="+mn-cs"/>
        </a:defRPr>
      </a:lvl4pPr>
      <a:lvl5pPr marL="1656161" algn="l" defTabSz="828081" rtl="0" eaLnBrk="1" latinLnBrk="0" hangingPunct="1">
        <a:defRPr sz="1630" kern="1200">
          <a:solidFill>
            <a:schemeClr val="tx1"/>
          </a:solidFill>
          <a:latin typeface="+mn-lt"/>
          <a:ea typeface="+mn-ea"/>
          <a:cs typeface="+mn-cs"/>
        </a:defRPr>
      </a:lvl5pPr>
      <a:lvl6pPr marL="2070202" algn="l" defTabSz="828081" rtl="0" eaLnBrk="1" latinLnBrk="0" hangingPunct="1">
        <a:defRPr sz="1630" kern="1200">
          <a:solidFill>
            <a:schemeClr val="tx1"/>
          </a:solidFill>
          <a:latin typeface="+mn-lt"/>
          <a:ea typeface="+mn-ea"/>
          <a:cs typeface="+mn-cs"/>
        </a:defRPr>
      </a:lvl6pPr>
      <a:lvl7pPr marL="2484242" algn="l" defTabSz="828081" rtl="0" eaLnBrk="1" latinLnBrk="0" hangingPunct="1">
        <a:defRPr sz="1630" kern="1200">
          <a:solidFill>
            <a:schemeClr val="tx1"/>
          </a:solidFill>
          <a:latin typeface="+mn-lt"/>
          <a:ea typeface="+mn-ea"/>
          <a:cs typeface="+mn-cs"/>
        </a:defRPr>
      </a:lvl7pPr>
      <a:lvl8pPr marL="2898282" algn="l" defTabSz="828081" rtl="0" eaLnBrk="1" latinLnBrk="0" hangingPunct="1">
        <a:defRPr sz="1630" kern="1200">
          <a:solidFill>
            <a:schemeClr val="tx1"/>
          </a:solidFill>
          <a:latin typeface="+mn-lt"/>
          <a:ea typeface="+mn-ea"/>
          <a:cs typeface="+mn-cs"/>
        </a:defRPr>
      </a:lvl8pPr>
      <a:lvl9pPr marL="3312323" algn="l" defTabSz="828081" rtl="0" eaLnBrk="1" latinLnBrk="0" hangingPunct="1">
        <a:defRPr sz="16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0" y="210391"/>
            <a:ext cx="816336" cy="81633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2143" dirty="0"/>
              <a:t>src1</a:t>
            </a:r>
          </a:p>
        </p:txBody>
      </p:sp>
      <p:sp>
        <p:nvSpPr>
          <p:cNvPr id="6" name="Oval 5"/>
          <p:cNvSpPr/>
          <p:nvPr/>
        </p:nvSpPr>
        <p:spPr>
          <a:xfrm>
            <a:off x="2774681" y="208905"/>
            <a:ext cx="816336" cy="81633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143" dirty="0"/>
              <a:t>op</a:t>
            </a:r>
          </a:p>
        </p:txBody>
      </p:sp>
      <p:cxnSp>
        <p:nvCxnSpPr>
          <p:cNvPr id="9" name="Straight Arrow Connector 8"/>
          <p:cNvCxnSpPr>
            <a:stCxn id="4" idx="6"/>
            <a:endCxn id="6" idx="2"/>
          </p:cNvCxnSpPr>
          <p:nvPr/>
        </p:nvCxnSpPr>
        <p:spPr>
          <a:xfrm flipV="1">
            <a:off x="816337" y="617074"/>
            <a:ext cx="1958345" cy="1486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340152" y="3247495"/>
            <a:ext cx="3284367" cy="6419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86" dirty="0"/>
              <a:t>a) Source operators inject barrier at 0:05.</a:t>
            </a:r>
          </a:p>
        </p:txBody>
      </p:sp>
      <p:cxnSp>
        <p:nvCxnSpPr>
          <p:cNvPr id="1470" name="Straight Connector 1469"/>
          <p:cNvCxnSpPr/>
          <p:nvPr/>
        </p:nvCxnSpPr>
        <p:spPr>
          <a:xfrm>
            <a:off x="1650292" y="274508"/>
            <a:ext cx="1594" cy="53446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58" name="TextBox 1557"/>
          <p:cNvSpPr txBox="1"/>
          <p:nvPr/>
        </p:nvSpPr>
        <p:spPr>
          <a:xfrm flipH="1">
            <a:off x="1012882" y="919471"/>
            <a:ext cx="2020225" cy="586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7" dirty="0"/>
              <a:t>Stored source tuples</a:t>
            </a:r>
            <a:r>
              <a:rPr lang="zh-CN" altLang="en-US" sz="1607" dirty="0"/>
              <a:t> </a:t>
            </a:r>
            <a:r>
              <a:rPr lang="en-US" altLang="zh-CN" sz="1607" dirty="0"/>
              <a:t>(0:01, 0:02, 0:07)</a:t>
            </a:r>
            <a:endParaRPr lang="en-US" sz="1607" dirty="0"/>
          </a:p>
        </p:txBody>
      </p:sp>
      <p:cxnSp>
        <p:nvCxnSpPr>
          <p:cNvPr id="1560" name="Elbow Connector 1559"/>
          <p:cNvCxnSpPr>
            <a:stCxn id="4" idx="4"/>
            <a:endCxn id="1564" idx="2"/>
          </p:cNvCxnSpPr>
          <p:nvPr/>
        </p:nvCxnSpPr>
        <p:spPr>
          <a:xfrm rot="16200000" flipH="1">
            <a:off x="460312" y="974582"/>
            <a:ext cx="236670" cy="340959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64" name="Can 1563"/>
          <p:cNvSpPr/>
          <p:nvPr/>
        </p:nvSpPr>
        <p:spPr>
          <a:xfrm>
            <a:off x="749127" y="1092292"/>
            <a:ext cx="258561" cy="342209"/>
          </a:xfrm>
          <a:prstGeom prst="can">
            <a:avLst/>
          </a:prstGeom>
          <a:gradFill flip="none" rotWithShape="1">
            <a:gsLst>
              <a:gs pos="0">
                <a:schemeClr val="lt1">
                  <a:shade val="30000"/>
                  <a:satMod val="115000"/>
                </a:schemeClr>
              </a:gs>
              <a:gs pos="50000">
                <a:schemeClr val="lt1">
                  <a:shade val="67500"/>
                  <a:satMod val="115000"/>
                </a:schemeClr>
              </a:gs>
              <a:gs pos="100000">
                <a:schemeClr val="lt1">
                  <a:shade val="100000"/>
                  <a:satMod val="115000"/>
                </a:schemeClr>
              </a:gs>
            </a:gsLst>
            <a:lin ang="2700000" scaled="1"/>
            <a:tileRect/>
          </a:gra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1634" tIns="40817" rIns="81634" bIns="408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7"/>
          </a:p>
        </p:txBody>
      </p:sp>
      <p:sp>
        <p:nvSpPr>
          <p:cNvPr id="2" name="TextBox 1"/>
          <p:cNvSpPr txBox="1"/>
          <p:nvPr/>
        </p:nvSpPr>
        <p:spPr>
          <a:xfrm>
            <a:off x="1380674" y="0"/>
            <a:ext cx="551754" cy="3396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7" dirty="0"/>
              <a:t>0:05</a:t>
            </a:r>
            <a:endParaRPr lang="en-US" sz="1607" dirty="0"/>
          </a:p>
        </p:txBody>
      </p:sp>
      <p:sp>
        <p:nvSpPr>
          <p:cNvPr id="115" name="Oval 114"/>
          <p:cNvSpPr/>
          <p:nvPr/>
        </p:nvSpPr>
        <p:spPr>
          <a:xfrm>
            <a:off x="314" y="1757062"/>
            <a:ext cx="816336" cy="81633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2143" dirty="0"/>
              <a:t>src2</a:t>
            </a:r>
          </a:p>
        </p:txBody>
      </p:sp>
      <p:cxnSp>
        <p:nvCxnSpPr>
          <p:cNvPr id="122" name="Straight Connector 121"/>
          <p:cNvCxnSpPr/>
          <p:nvPr/>
        </p:nvCxnSpPr>
        <p:spPr>
          <a:xfrm>
            <a:off x="1913476" y="1799276"/>
            <a:ext cx="1594" cy="53446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 flipH="1">
            <a:off x="1007687" y="2561400"/>
            <a:ext cx="1963175" cy="586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7" dirty="0"/>
              <a:t>Stored source tuples (0:03, 0:06, 0:07)</a:t>
            </a:r>
          </a:p>
        </p:txBody>
      </p:sp>
      <p:cxnSp>
        <p:nvCxnSpPr>
          <p:cNvPr id="124" name="Elbow Connector 123"/>
          <p:cNvCxnSpPr>
            <a:stCxn id="115" idx="4"/>
            <a:endCxn id="125" idx="2"/>
          </p:cNvCxnSpPr>
          <p:nvPr/>
        </p:nvCxnSpPr>
        <p:spPr>
          <a:xfrm rot="16200000" flipH="1">
            <a:off x="442552" y="2539327"/>
            <a:ext cx="272504" cy="340644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5" name="Can 124"/>
          <p:cNvSpPr/>
          <p:nvPr/>
        </p:nvSpPr>
        <p:spPr>
          <a:xfrm>
            <a:off x="749127" y="2674797"/>
            <a:ext cx="258561" cy="342209"/>
          </a:xfrm>
          <a:prstGeom prst="can">
            <a:avLst/>
          </a:prstGeom>
          <a:gradFill flip="none" rotWithShape="1">
            <a:gsLst>
              <a:gs pos="0">
                <a:schemeClr val="lt1">
                  <a:shade val="30000"/>
                  <a:satMod val="115000"/>
                </a:schemeClr>
              </a:gs>
              <a:gs pos="50000">
                <a:schemeClr val="lt1">
                  <a:shade val="67500"/>
                  <a:satMod val="115000"/>
                </a:schemeClr>
              </a:gs>
              <a:gs pos="100000">
                <a:schemeClr val="lt1">
                  <a:shade val="100000"/>
                  <a:satMod val="115000"/>
                </a:schemeClr>
              </a:gs>
            </a:gsLst>
            <a:lin ang="2700000" scaled="1"/>
            <a:tileRect/>
          </a:gra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1634" tIns="40817" rIns="81634" bIns="408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7"/>
          </a:p>
        </p:txBody>
      </p:sp>
      <p:sp>
        <p:nvSpPr>
          <p:cNvPr id="126" name="TextBox 125"/>
          <p:cNvSpPr txBox="1"/>
          <p:nvPr/>
        </p:nvSpPr>
        <p:spPr>
          <a:xfrm>
            <a:off x="1675447" y="1524547"/>
            <a:ext cx="551754" cy="3396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7" dirty="0"/>
              <a:t>0:05</a:t>
            </a:r>
            <a:endParaRPr lang="en-US" sz="1607" dirty="0"/>
          </a:p>
        </p:txBody>
      </p:sp>
      <p:grpSp>
        <p:nvGrpSpPr>
          <p:cNvPr id="44" name="Group 43"/>
          <p:cNvGrpSpPr/>
          <p:nvPr/>
        </p:nvGrpSpPr>
        <p:grpSpPr>
          <a:xfrm>
            <a:off x="2303165" y="0"/>
            <a:ext cx="551753" cy="559326"/>
            <a:chOff x="2597628" y="-72000"/>
            <a:chExt cx="618034" cy="626516"/>
          </a:xfrm>
        </p:grpSpPr>
        <p:sp>
          <p:nvSpPr>
            <p:cNvPr id="1435" name="Oval 1434"/>
            <p:cNvSpPr/>
            <p:nvPr/>
          </p:nvSpPr>
          <p:spPr>
            <a:xfrm>
              <a:off x="2810191" y="357448"/>
              <a:ext cx="181302" cy="197068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27" name="TextBox 126"/>
            <p:cNvSpPr txBox="1"/>
            <p:nvPr/>
          </p:nvSpPr>
          <p:spPr>
            <a:xfrm>
              <a:off x="2597628" y="-72000"/>
              <a:ext cx="618034" cy="3804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7" dirty="0"/>
                <a:t>0:01</a:t>
              </a:r>
              <a:endParaRPr lang="en-US" sz="1607" dirty="0"/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1894620" y="0"/>
            <a:ext cx="551753" cy="559326"/>
            <a:chOff x="2140006" y="-72000"/>
            <a:chExt cx="618034" cy="626516"/>
          </a:xfrm>
        </p:grpSpPr>
        <p:sp>
          <p:nvSpPr>
            <p:cNvPr id="22" name="Oval 21"/>
            <p:cNvSpPr/>
            <p:nvPr/>
          </p:nvSpPr>
          <p:spPr>
            <a:xfrm>
              <a:off x="2360512" y="357448"/>
              <a:ext cx="181302" cy="197068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2140006" y="-72000"/>
              <a:ext cx="618034" cy="3804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7" dirty="0"/>
                <a:t>0:02</a:t>
              </a:r>
              <a:endParaRPr lang="en-US" sz="1607" dirty="0"/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859988" y="0"/>
            <a:ext cx="551753" cy="583336"/>
            <a:chOff x="981087" y="-72000"/>
            <a:chExt cx="618034" cy="653410"/>
          </a:xfrm>
        </p:grpSpPr>
        <p:sp>
          <p:nvSpPr>
            <p:cNvPr id="172" name="Oval 171"/>
            <p:cNvSpPr/>
            <p:nvPr/>
          </p:nvSpPr>
          <p:spPr>
            <a:xfrm>
              <a:off x="1187589" y="384342"/>
              <a:ext cx="181302" cy="197068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981087" y="-72000"/>
              <a:ext cx="618034" cy="3804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7" dirty="0"/>
                <a:t>0:07</a:t>
              </a:r>
              <a:endParaRPr lang="en-US" sz="1607" dirty="0"/>
            </a:p>
          </p:txBody>
        </p:sp>
      </p:grpSp>
      <p:cxnSp>
        <p:nvCxnSpPr>
          <p:cNvPr id="139" name="Straight Arrow Connector 138"/>
          <p:cNvCxnSpPr>
            <a:stCxn id="6" idx="6"/>
          </p:cNvCxnSpPr>
          <p:nvPr/>
        </p:nvCxnSpPr>
        <p:spPr>
          <a:xfrm>
            <a:off x="3591017" y="617073"/>
            <a:ext cx="546367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95" name="Group 94"/>
          <p:cNvGrpSpPr/>
          <p:nvPr/>
        </p:nvGrpSpPr>
        <p:grpSpPr>
          <a:xfrm>
            <a:off x="802099" y="1521610"/>
            <a:ext cx="973922" cy="557736"/>
            <a:chOff x="915892" y="1867643"/>
            <a:chExt cx="1090916" cy="624735"/>
          </a:xfrm>
        </p:grpSpPr>
        <p:sp>
          <p:nvSpPr>
            <p:cNvPr id="151" name="Oval 150"/>
            <p:cNvSpPr/>
            <p:nvPr/>
          </p:nvSpPr>
          <p:spPr>
            <a:xfrm>
              <a:off x="1125353" y="2291819"/>
              <a:ext cx="181302" cy="197068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53" name="TextBox 152"/>
            <p:cNvSpPr txBox="1"/>
            <p:nvPr/>
          </p:nvSpPr>
          <p:spPr>
            <a:xfrm>
              <a:off x="915892" y="1867643"/>
              <a:ext cx="618034" cy="3804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7" dirty="0"/>
                <a:t>0:07</a:t>
              </a:r>
              <a:endParaRPr lang="en-US" sz="1607" dirty="0"/>
            </a:p>
          </p:txBody>
        </p:sp>
        <p:sp>
          <p:nvSpPr>
            <p:cNvPr id="156" name="Oval 155"/>
            <p:cNvSpPr/>
            <p:nvPr/>
          </p:nvSpPr>
          <p:spPr>
            <a:xfrm>
              <a:off x="1571639" y="2295310"/>
              <a:ext cx="181302" cy="197068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57" name="TextBox 156"/>
            <p:cNvSpPr txBox="1"/>
            <p:nvPr/>
          </p:nvSpPr>
          <p:spPr>
            <a:xfrm>
              <a:off x="1388774" y="1877778"/>
              <a:ext cx="618034" cy="3804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7" dirty="0"/>
                <a:t>0:06</a:t>
              </a:r>
              <a:endParaRPr lang="en-US" sz="1607" dirty="0"/>
            </a:p>
          </p:txBody>
        </p:sp>
      </p:grpSp>
      <p:cxnSp>
        <p:nvCxnSpPr>
          <p:cNvPr id="46" name="Elbow Connector 45"/>
          <p:cNvCxnSpPr>
            <a:stCxn id="115" idx="6"/>
            <a:endCxn id="6" idx="3"/>
          </p:cNvCxnSpPr>
          <p:nvPr/>
        </p:nvCxnSpPr>
        <p:spPr>
          <a:xfrm flipV="1">
            <a:off x="816650" y="905691"/>
            <a:ext cx="2077580" cy="1259539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84" name="Group 183"/>
          <p:cNvGrpSpPr/>
          <p:nvPr/>
        </p:nvGrpSpPr>
        <p:grpSpPr>
          <a:xfrm>
            <a:off x="2225350" y="1519372"/>
            <a:ext cx="551753" cy="559807"/>
            <a:chOff x="7736558" y="-78127"/>
            <a:chExt cx="618034" cy="627055"/>
          </a:xfrm>
        </p:grpSpPr>
        <p:sp>
          <p:nvSpPr>
            <p:cNvPr id="185" name="Oval 184"/>
            <p:cNvSpPr/>
            <p:nvPr/>
          </p:nvSpPr>
          <p:spPr>
            <a:xfrm>
              <a:off x="7961992" y="351860"/>
              <a:ext cx="181302" cy="197068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86" name="TextBox 185"/>
            <p:cNvSpPr txBox="1"/>
            <p:nvPr/>
          </p:nvSpPr>
          <p:spPr>
            <a:xfrm>
              <a:off x="7736558" y="-78127"/>
              <a:ext cx="618034" cy="38044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7" dirty="0"/>
                <a:t>0:03</a:t>
              </a:r>
              <a:endParaRPr lang="en-US" sz="1607" dirty="0"/>
            </a:p>
          </p:txBody>
        </p:sp>
      </p:grpSp>
      <p:sp>
        <p:nvSpPr>
          <p:cNvPr id="66" name="Oval 65"/>
          <p:cNvSpPr/>
          <p:nvPr/>
        </p:nvSpPr>
        <p:spPr>
          <a:xfrm>
            <a:off x="90250" y="4085381"/>
            <a:ext cx="816336" cy="81633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143" dirty="0"/>
              <a:t>op</a:t>
            </a:r>
          </a:p>
        </p:txBody>
      </p:sp>
      <p:cxnSp>
        <p:nvCxnSpPr>
          <p:cNvPr id="78" name="Straight Arrow Connector 77"/>
          <p:cNvCxnSpPr>
            <a:stCxn id="66" idx="6"/>
            <a:endCxn id="85" idx="2"/>
          </p:cNvCxnSpPr>
          <p:nvPr/>
        </p:nvCxnSpPr>
        <p:spPr>
          <a:xfrm flipV="1">
            <a:off x="906586" y="4493477"/>
            <a:ext cx="1298325" cy="72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2204911" y="4085309"/>
            <a:ext cx="816336" cy="81633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2143" dirty="0"/>
              <a:t>sink</a:t>
            </a:r>
          </a:p>
        </p:txBody>
      </p:sp>
      <p:grpSp>
        <p:nvGrpSpPr>
          <p:cNvPr id="199" name="Group 198"/>
          <p:cNvGrpSpPr/>
          <p:nvPr/>
        </p:nvGrpSpPr>
        <p:grpSpPr>
          <a:xfrm>
            <a:off x="1729340" y="3878306"/>
            <a:ext cx="551753" cy="811121"/>
            <a:chOff x="5716054" y="-79511"/>
            <a:chExt cx="618034" cy="908558"/>
          </a:xfrm>
        </p:grpSpPr>
        <p:cxnSp>
          <p:nvCxnSpPr>
            <p:cNvPr id="200" name="Straight Connector 199"/>
            <p:cNvCxnSpPr/>
            <p:nvPr/>
          </p:nvCxnSpPr>
          <p:spPr>
            <a:xfrm flipH="1">
              <a:off x="6020088" y="204618"/>
              <a:ext cx="764" cy="624429"/>
            </a:xfrm>
            <a:prstGeom prst="line">
              <a:avLst/>
            </a:prstGeom>
            <a:ln w="3810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01" name="TextBox 200"/>
            <p:cNvSpPr txBox="1"/>
            <p:nvPr/>
          </p:nvSpPr>
          <p:spPr>
            <a:xfrm>
              <a:off x="5716054" y="-79511"/>
              <a:ext cx="618034" cy="3804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7" dirty="0"/>
                <a:t>0:05</a:t>
              </a:r>
              <a:endParaRPr lang="en-US" sz="1607" dirty="0"/>
            </a:p>
          </p:txBody>
        </p:sp>
      </p:grpSp>
      <p:cxnSp>
        <p:nvCxnSpPr>
          <p:cNvPr id="101" name="Curved Connector 100"/>
          <p:cNvCxnSpPr>
            <a:stCxn id="85" idx="4"/>
            <a:endCxn id="66" idx="4"/>
          </p:cNvCxnSpPr>
          <p:nvPr/>
        </p:nvCxnSpPr>
        <p:spPr>
          <a:xfrm rot="5400000">
            <a:off x="1555715" y="3844351"/>
            <a:ext cx="72" cy="2114661"/>
          </a:xfrm>
          <a:prstGeom prst="curvedConnector3">
            <a:avLst>
              <a:gd name="adj1" fmla="val 282322222"/>
            </a:avLst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1054544" y="4787057"/>
            <a:ext cx="1286827" cy="3396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7" dirty="0"/>
              <a:t>acknowledge</a:t>
            </a:r>
          </a:p>
        </p:txBody>
      </p:sp>
      <p:cxnSp>
        <p:nvCxnSpPr>
          <p:cNvPr id="207" name="Elbow Connector 206"/>
          <p:cNvCxnSpPr>
            <a:stCxn id="66" idx="4"/>
            <a:endCxn id="212" idx="2"/>
          </p:cNvCxnSpPr>
          <p:nvPr/>
        </p:nvCxnSpPr>
        <p:spPr>
          <a:xfrm rot="16200000" flipH="1">
            <a:off x="594059" y="4806075"/>
            <a:ext cx="1004178" cy="1195460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8" name="TextBox 207"/>
          <p:cNvSpPr txBox="1"/>
          <p:nvPr/>
        </p:nvSpPr>
        <p:spPr>
          <a:xfrm>
            <a:off x="1971746" y="5680913"/>
            <a:ext cx="955070" cy="8342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7" dirty="0" smtClean="0"/>
              <a:t>0:05</a:t>
            </a:r>
          </a:p>
          <a:p>
            <a:r>
              <a:rPr lang="en-US" sz="1607" dirty="0" smtClean="0"/>
              <a:t>(</a:t>
            </a:r>
            <a:r>
              <a:rPr lang="en-US" sz="1607" b="1" dirty="0" smtClean="0"/>
              <a:t>reliable</a:t>
            </a:r>
            <a:r>
              <a:rPr lang="en-US" sz="1607" dirty="0"/>
              <a:t>)</a:t>
            </a:r>
          </a:p>
          <a:p>
            <a:endParaRPr lang="en-US" sz="1607" dirty="0"/>
          </a:p>
        </p:txBody>
      </p:sp>
      <p:sp>
        <p:nvSpPr>
          <p:cNvPr id="212" name="Can 211"/>
          <p:cNvSpPr/>
          <p:nvPr/>
        </p:nvSpPr>
        <p:spPr>
          <a:xfrm>
            <a:off x="1693878" y="5734790"/>
            <a:ext cx="258561" cy="342209"/>
          </a:xfrm>
          <a:prstGeom prst="can">
            <a:avLst/>
          </a:prstGeom>
          <a:gradFill flip="none" rotWithShape="1">
            <a:gsLst>
              <a:gs pos="0">
                <a:schemeClr val="lt1">
                  <a:shade val="30000"/>
                  <a:satMod val="115000"/>
                </a:schemeClr>
              </a:gs>
              <a:gs pos="50000">
                <a:schemeClr val="lt1">
                  <a:shade val="67500"/>
                  <a:satMod val="115000"/>
                </a:schemeClr>
              </a:gs>
              <a:gs pos="100000">
                <a:schemeClr val="lt1">
                  <a:shade val="100000"/>
                  <a:satMod val="115000"/>
                </a:schemeClr>
              </a:gs>
            </a:gsLst>
            <a:lin ang="2700000" scaled="1"/>
            <a:tileRect/>
          </a:gra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1634" tIns="40817" rIns="81634" bIns="408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7"/>
          </a:p>
        </p:txBody>
      </p:sp>
      <p:sp>
        <p:nvSpPr>
          <p:cNvPr id="215" name="TextBox 214"/>
          <p:cNvSpPr txBox="1"/>
          <p:nvPr/>
        </p:nvSpPr>
        <p:spPr>
          <a:xfrm flipH="1">
            <a:off x="1527343" y="6082317"/>
            <a:ext cx="662883" cy="339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7" dirty="0"/>
              <a:t>State</a:t>
            </a:r>
          </a:p>
        </p:txBody>
      </p:sp>
      <p:sp>
        <p:nvSpPr>
          <p:cNvPr id="1856" name="Rectangle 1855"/>
          <p:cNvSpPr/>
          <p:nvPr/>
        </p:nvSpPr>
        <p:spPr>
          <a:xfrm>
            <a:off x="513463" y="5314707"/>
            <a:ext cx="1188325" cy="5869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7"/>
              <a:t>Force flush to disk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214138" y="6695009"/>
            <a:ext cx="3162740" cy="1466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86" dirty="0"/>
              <a:t>c) Sink acknowledge barrier, and operator force flush changes to disk when receiving </a:t>
            </a:r>
            <a:r>
              <a:rPr lang="en-US" sz="1786" dirty="0" err="1"/>
              <a:t>ack</a:t>
            </a:r>
            <a:r>
              <a:rPr lang="en-US" sz="1786" dirty="0"/>
              <a:t> from all its consumers, and then </a:t>
            </a:r>
            <a:r>
              <a:rPr lang="en-US" sz="1786" dirty="0" err="1"/>
              <a:t>ack</a:t>
            </a:r>
            <a:r>
              <a:rPr lang="en-US" sz="1786" dirty="0"/>
              <a:t> backward.</a:t>
            </a:r>
          </a:p>
        </p:txBody>
      </p:sp>
      <p:sp>
        <p:nvSpPr>
          <p:cNvPr id="56" name="Can 55"/>
          <p:cNvSpPr/>
          <p:nvPr/>
        </p:nvSpPr>
        <p:spPr>
          <a:xfrm>
            <a:off x="7010243" y="1919035"/>
            <a:ext cx="258561" cy="342209"/>
          </a:xfrm>
          <a:prstGeom prst="ca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1634" tIns="40817" rIns="81634" bIns="408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7"/>
          </a:p>
        </p:txBody>
      </p:sp>
      <p:cxnSp>
        <p:nvCxnSpPr>
          <p:cNvPr id="57" name="Elbow Connector 56"/>
          <p:cNvCxnSpPr>
            <a:stCxn id="1489" idx="4"/>
            <a:endCxn id="56" idx="2"/>
          </p:cNvCxnSpPr>
          <p:nvPr/>
        </p:nvCxnSpPr>
        <p:spPr>
          <a:xfrm rot="16200000" flipH="1">
            <a:off x="5843657" y="923554"/>
            <a:ext cx="1058194" cy="1274977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4674263" y="3253023"/>
            <a:ext cx="3162740" cy="6419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86" dirty="0"/>
              <a:t>b) Operator processes barrier, and store state through MMIO.</a:t>
            </a:r>
          </a:p>
        </p:txBody>
      </p:sp>
      <p:sp>
        <p:nvSpPr>
          <p:cNvPr id="72" name="TextBox 71"/>
          <p:cNvSpPr txBox="1"/>
          <p:nvPr/>
        </p:nvSpPr>
        <p:spPr>
          <a:xfrm flipH="1">
            <a:off x="6888142" y="2317130"/>
            <a:ext cx="662883" cy="339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7" dirty="0"/>
              <a:t>State</a:t>
            </a:r>
          </a:p>
        </p:txBody>
      </p:sp>
      <p:sp>
        <p:nvSpPr>
          <p:cNvPr id="1489" name="Oval 1488"/>
          <p:cNvSpPr/>
          <p:nvPr/>
        </p:nvSpPr>
        <p:spPr>
          <a:xfrm>
            <a:off x="5327098" y="215610"/>
            <a:ext cx="816336" cy="81633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143" dirty="0"/>
              <a:t>op</a:t>
            </a:r>
          </a:p>
        </p:txBody>
      </p:sp>
      <p:cxnSp>
        <p:nvCxnSpPr>
          <p:cNvPr id="1863" name="Straight Arrow Connector 1862"/>
          <p:cNvCxnSpPr>
            <a:endCxn id="1489" idx="2"/>
          </p:cNvCxnSpPr>
          <p:nvPr/>
        </p:nvCxnSpPr>
        <p:spPr>
          <a:xfrm>
            <a:off x="4353909" y="623778"/>
            <a:ext cx="973190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98" name="Group 97"/>
          <p:cNvGrpSpPr/>
          <p:nvPr/>
        </p:nvGrpSpPr>
        <p:grpSpPr>
          <a:xfrm>
            <a:off x="4896694" y="0"/>
            <a:ext cx="551753" cy="811121"/>
            <a:chOff x="5716054" y="-79511"/>
            <a:chExt cx="618034" cy="908558"/>
          </a:xfrm>
        </p:grpSpPr>
        <p:cxnSp>
          <p:nvCxnSpPr>
            <p:cNvPr id="1513" name="Straight Connector 1512"/>
            <p:cNvCxnSpPr/>
            <p:nvPr/>
          </p:nvCxnSpPr>
          <p:spPr>
            <a:xfrm flipH="1">
              <a:off x="6020088" y="204618"/>
              <a:ext cx="764" cy="624429"/>
            </a:xfrm>
            <a:prstGeom prst="line">
              <a:avLst/>
            </a:prstGeom>
            <a:ln w="3810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TextBox 52"/>
            <p:cNvSpPr txBox="1"/>
            <p:nvPr/>
          </p:nvSpPr>
          <p:spPr>
            <a:xfrm>
              <a:off x="5716054" y="-79511"/>
              <a:ext cx="618034" cy="3804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7" dirty="0"/>
                <a:t>0:05</a:t>
              </a:r>
              <a:endParaRPr lang="en-US" sz="1607" dirty="0"/>
            </a:p>
          </p:txBody>
        </p:sp>
      </p:grpSp>
      <p:sp>
        <p:nvSpPr>
          <p:cNvPr id="60" name="TextBox 59"/>
          <p:cNvSpPr txBox="1"/>
          <p:nvPr/>
        </p:nvSpPr>
        <p:spPr>
          <a:xfrm>
            <a:off x="7235042" y="1919035"/>
            <a:ext cx="1176284" cy="5869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7" dirty="0" smtClean="0"/>
              <a:t>0:05</a:t>
            </a:r>
          </a:p>
          <a:p>
            <a:r>
              <a:rPr lang="en-US" sz="1607" dirty="0" smtClean="0"/>
              <a:t>(</a:t>
            </a:r>
            <a:r>
              <a:rPr lang="en-US" sz="1607" b="1" dirty="0" smtClean="0"/>
              <a:t>unreliable</a:t>
            </a:r>
            <a:r>
              <a:rPr lang="en-US" sz="1607" dirty="0" smtClean="0"/>
              <a:t>)</a:t>
            </a:r>
            <a:endParaRPr lang="en-US" sz="1607" dirty="0"/>
          </a:p>
        </p:txBody>
      </p:sp>
      <p:cxnSp>
        <p:nvCxnSpPr>
          <p:cNvPr id="79" name="Straight Arrow Connector 78"/>
          <p:cNvCxnSpPr>
            <a:stCxn id="1489" idx="6"/>
            <a:endCxn id="80" idx="2"/>
          </p:cNvCxnSpPr>
          <p:nvPr/>
        </p:nvCxnSpPr>
        <p:spPr>
          <a:xfrm>
            <a:off x="6143434" y="623778"/>
            <a:ext cx="1248256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0" name="Oval 79"/>
          <p:cNvSpPr/>
          <p:nvPr/>
        </p:nvSpPr>
        <p:spPr>
          <a:xfrm>
            <a:off x="7391690" y="215610"/>
            <a:ext cx="816336" cy="81633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2143" dirty="0"/>
              <a:t>sink</a:t>
            </a:r>
          </a:p>
        </p:txBody>
      </p:sp>
      <p:grpSp>
        <p:nvGrpSpPr>
          <p:cNvPr id="131" name="Group 130"/>
          <p:cNvGrpSpPr/>
          <p:nvPr/>
        </p:nvGrpSpPr>
        <p:grpSpPr>
          <a:xfrm>
            <a:off x="4387832" y="2631"/>
            <a:ext cx="551753" cy="583336"/>
            <a:chOff x="981087" y="-72000"/>
            <a:chExt cx="618034" cy="653410"/>
          </a:xfrm>
        </p:grpSpPr>
        <p:sp>
          <p:nvSpPr>
            <p:cNvPr id="132" name="Oval 131"/>
            <p:cNvSpPr/>
            <p:nvPr/>
          </p:nvSpPr>
          <p:spPr>
            <a:xfrm>
              <a:off x="1187589" y="384342"/>
              <a:ext cx="181302" cy="197068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33" name="TextBox 132"/>
            <p:cNvSpPr txBox="1"/>
            <p:nvPr/>
          </p:nvSpPr>
          <p:spPr>
            <a:xfrm>
              <a:off x="981087" y="-72000"/>
              <a:ext cx="618034" cy="3804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7" dirty="0"/>
                <a:t>0:07</a:t>
              </a:r>
              <a:endParaRPr lang="en-US" sz="1607" dirty="0"/>
            </a:p>
          </p:txBody>
        </p:sp>
      </p:grpSp>
      <p:cxnSp>
        <p:nvCxnSpPr>
          <p:cNvPr id="160" name="Elbow Connector 159"/>
          <p:cNvCxnSpPr>
            <a:endCxn id="1489" idx="3"/>
          </p:cNvCxnSpPr>
          <p:nvPr/>
        </p:nvCxnSpPr>
        <p:spPr>
          <a:xfrm rot="5400000" flipH="1" flipV="1">
            <a:off x="4182459" y="1117768"/>
            <a:ext cx="1469558" cy="1058818"/>
          </a:xfrm>
          <a:prstGeom prst="bentConnector3">
            <a:avLst>
              <a:gd name="adj1" fmla="val -434"/>
            </a:avLst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1" name="Straight Connector 170"/>
          <p:cNvCxnSpPr/>
          <p:nvPr/>
        </p:nvCxnSpPr>
        <p:spPr>
          <a:xfrm flipV="1">
            <a:off x="5054135" y="1141492"/>
            <a:ext cx="556008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3" name="TextBox 172"/>
          <p:cNvSpPr txBox="1"/>
          <p:nvPr/>
        </p:nvSpPr>
        <p:spPr>
          <a:xfrm>
            <a:off x="4573340" y="957139"/>
            <a:ext cx="551754" cy="3396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7" dirty="0"/>
              <a:t>0:05</a:t>
            </a:r>
            <a:endParaRPr lang="en-US" sz="1607" dirty="0"/>
          </a:p>
        </p:txBody>
      </p:sp>
      <p:grpSp>
        <p:nvGrpSpPr>
          <p:cNvPr id="174" name="Group 173"/>
          <p:cNvGrpSpPr/>
          <p:nvPr/>
        </p:nvGrpSpPr>
        <p:grpSpPr>
          <a:xfrm>
            <a:off x="7045275" y="2631"/>
            <a:ext cx="551753" cy="559326"/>
            <a:chOff x="2597628" y="-72000"/>
            <a:chExt cx="618034" cy="626516"/>
          </a:xfrm>
        </p:grpSpPr>
        <p:sp>
          <p:nvSpPr>
            <p:cNvPr id="175" name="Oval 174"/>
            <p:cNvSpPr/>
            <p:nvPr/>
          </p:nvSpPr>
          <p:spPr>
            <a:xfrm>
              <a:off x="2810191" y="357448"/>
              <a:ext cx="181302" cy="197068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76" name="TextBox 175"/>
            <p:cNvSpPr txBox="1"/>
            <p:nvPr/>
          </p:nvSpPr>
          <p:spPr>
            <a:xfrm>
              <a:off x="2597628" y="-72000"/>
              <a:ext cx="618034" cy="3804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7" dirty="0"/>
                <a:t>0:01</a:t>
              </a:r>
              <a:endParaRPr lang="en-US" sz="1607" dirty="0"/>
            </a:p>
          </p:txBody>
        </p:sp>
      </p:grpSp>
      <p:grpSp>
        <p:nvGrpSpPr>
          <p:cNvPr id="177" name="Group 176"/>
          <p:cNvGrpSpPr/>
          <p:nvPr/>
        </p:nvGrpSpPr>
        <p:grpSpPr>
          <a:xfrm>
            <a:off x="5981121" y="2631"/>
            <a:ext cx="551753" cy="559326"/>
            <a:chOff x="2140006" y="-72000"/>
            <a:chExt cx="618034" cy="626516"/>
          </a:xfrm>
        </p:grpSpPr>
        <p:sp>
          <p:nvSpPr>
            <p:cNvPr id="178" name="Oval 177"/>
            <p:cNvSpPr/>
            <p:nvPr/>
          </p:nvSpPr>
          <p:spPr>
            <a:xfrm>
              <a:off x="2360512" y="357448"/>
              <a:ext cx="181302" cy="197068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79" name="TextBox 178"/>
            <p:cNvSpPr txBox="1"/>
            <p:nvPr/>
          </p:nvSpPr>
          <p:spPr>
            <a:xfrm>
              <a:off x="2140006" y="-72000"/>
              <a:ext cx="618034" cy="3804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7" dirty="0"/>
                <a:t>0:02</a:t>
              </a:r>
              <a:endParaRPr lang="en-US" sz="1607" dirty="0"/>
            </a:p>
          </p:txBody>
        </p:sp>
      </p:grpSp>
      <p:grpSp>
        <p:nvGrpSpPr>
          <p:cNvPr id="94" name="Group 93"/>
          <p:cNvGrpSpPr/>
          <p:nvPr/>
        </p:nvGrpSpPr>
        <p:grpSpPr>
          <a:xfrm>
            <a:off x="6477733" y="1236"/>
            <a:ext cx="551753" cy="559807"/>
            <a:chOff x="7736558" y="-78127"/>
            <a:chExt cx="618034" cy="627055"/>
          </a:xfrm>
        </p:grpSpPr>
        <p:sp>
          <p:nvSpPr>
            <p:cNvPr id="181" name="Oval 180"/>
            <p:cNvSpPr/>
            <p:nvPr/>
          </p:nvSpPr>
          <p:spPr>
            <a:xfrm>
              <a:off x="7961992" y="351860"/>
              <a:ext cx="181302" cy="197068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82" name="TextBox 181"/>
            <p:cNvSpPr txBox="1"/>
            <p:nvPr/>
          </p:nvSpPr>
          <p:spPr>
            <a:xfrm>
              <a:off x="7736558" y="-78127"/>
              <a:ext cx="618034" cy="38044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7" dirty="0"/>
                <a:t>0:03</a:t>
              </a:r>
              <a:endParaRPr lang="en-US" sz="1607" dirty="0"/>
            </a:p>
          </p:txBody>
        </p:sp>
      </p:grpSp>
      <p:grpSp>
        <p:nvGrpSpPr>
          <p:cNvPr id="188" name="Group 187"/>
          <p:cNvGrpSpPr/>
          <p:nvPr/>
        </p:nvGrpSpPr>
        <p:grpSpPr>
          <a:xfrm>
            <a:off x="4359689" y="1734870"/>
            <a:ext cx="973922" cy="557736"/>
            <a:chOff x="915892" y="1867643"/>
            <a:chExt cx="1090916" cy="624735"/>
          </a:xfrm>
        </p:grpSpPr>
        <p:sp>
          <p:nvSpPr>
            <p:cNvPr id="189" name="Oval 188"/>
            <p:cNvSpPr/>
            <p:nvPr/>
          </p:nvSpPr>
          <p:spPr>
            <a:xfrm>
              <a:off x="1125353" y="2291819"/>
              <a:ext cx="181302" cy="197068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90" name="TextBox 189"/>
            <p:cNvSpPr txBox="1"/>
            <p:nvPr/>
          </p:nvSpPr>
          <p:spPr>
            <a:xfrm>
              <a:off x="915892" y="1867643"/>
              <a:ext cx="618034" cy="3804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7" dirty="0"/>
                <a:t>0:07</a:t>
              </a:r>
              <a:endParaRPr lang="en-US" sz="1607" dirty="0"/>
            </a:p>
          </p:txBody>
        </p:sp>
        <p:sp>
          <p:nvSpPr>
            <p:cNvPr id="191" name="Oval 190"/>
            <p:cNvSpPr/>
            <p:nvPr/>
          </p:nvSpPr>
          <p:spPr>
            <a:xfrm>
              <a:off x="1571639" y="2295310"/>
              <a:ext cx="181302" cy="197068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92" name="TextBox 191"/>
            <p:cNvSpPr txBox="1"/>
            <p:nvPr/>
          </p:nvSpPr>
          <p:spPr>
            <a:xfrm>
              <a:off x="1388774" y="1877778"/>
              <a:ext cx="618034" cy="3804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7" dirty="0"/>
                <a:t>0:06</a:t>
              </a:r>
              <a:endParaRPr lang="en-US" sz="1607" dirty="0"/>
            </a:p>
          </p:txBody>
        </p:sp>
      </p:grpSp>
      <p:sp>
        <p:nvSpPr>
          <p:cNvPr id="218" name="Rectangle 217"/>
          <p:cNvSpPr/>
          <p:nvPr/>
        </p:nvSpPr>
        <p:spPr>
          <a:xfrm>
            <a:off x="5800287" y="1220680"/>
            <a:ext cx="1575679" cy="8342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7"/>
              <a:t>Memory mapped I/O (MMIO) put</a:t>
            </a:r>
          </a:p>
        </p:txBody>
      </p:sp>
      <p:sp>
        <p:nvSpPr>
          <p:cNvPr id="265" name="Oval 264"/>
          <p:cNvSpPr/>
          <p:nvPr/>
        </p:nvSpPr>
        <p:spPr>
          <a:xfrm>
            <a:off x="4546691" y="4122251"/>
            <a:ext cx="816336" cy="81633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2143" dirty="0"/>
              <a:t>src1</a:t>
            </a:r>
          </a:p>
        </p:txBody>
      </p:sp>
      <p:sp>
        <p:nvSpPr>
          <p:cNvPr id="266" name="Oval 265"/>
          <p:cNvSpPr/>
          <p:nvPr/>
        </p:nvSpPr>
        <p:spPr>
          <a:xfrm>
            <a:off x="7321372" y="4120764"/>
            <a:ext cx="816336" cy="81633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143" dirty="0"/>
              <a:t>op</a:t>
            </a:r>
          </a:p>
        </p:txBody>
      </p:sp>
      <p:cxnSp>
        <p:nvCxnSpPr>
          <p:cNvPr id="267" name="Straight Arrow Connector 266"/>
          <p:cNvCxnSpPr>
            <a:stCxn id="267" idx="6"/>
          </p:cNvCxnSpPr>
          <p:nvPr/>
        </p:nvCxnSpPr>
        <p:spPr>
          <a:xfrm flipV="1">
            <a:off x="5363028" y="4528933"/>
            <a:ext cx="1958345" cy="1486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8" name="Straight Connector 267"/>
          <p:cNvCxnSpPr/>
          <p:nvPr/>
        </p:nvCxnSpPr>
        <p:spPr>
          <a:xfrm>
            <a:off x="6196984" y="4186368"/>
            <a:ext cx="1594" cy="53446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1" name="Can 270"/>
          <p:cNvSpPr/>
          <p:nvPr/>
        </p:nvSpPr>
        <p:spPr>
          <a:xfrm>
            <a:off x="5962917" y="5932114"/>
            <a:ext cx="258561" cy="342209"/>
          </a:xfrm>
          <a:prstGeom prst="can">
            <a:avLst/>
          </a:prstGeom>
          <a:gradFill flip="none" rotWithShape="1">
            <a:gsLst>
              <a:gs pos="0">
                <a:schemeClr val="lt1">
                  <a:shade val="30000"/>
                  <a:satMod val="115000"/>
                </a:schemeClr>
              </a:gs>
              <a:gs pos="50000">
                <a:schemeClr val="lt1">
                  <a:shade val="67500"/>
                  <a:satMod val="115000"/>
                </a:schemeClr>
              </a:gs>
              <a:gs pos="100000">
                <a:schemeClr val="lt1">
                  <a:shade val="100000"/>
                  <a:satMod val="115000"/>
                </a:schemeClr>
              </a:gs>
            </a:gsLst>
            <a:lin ang="2700000" scaled="1"/>
            <a:tileRect/>
          </a:gra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1634" tIns="40817" rIns="81634" bIns="408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7"/>
          </a:p>
        </p:txBody>
      </p:sp>
      <p:sp>
        <p:nvSpPr>
          <p:cNvPr id="272" name="TextBox 271"/>
          <p:cNvSpPr txBox="1"/>
          <p:nvPr/>
        </p:nvSpPr>
        <p:spPr>
          <a:xfrm>
            <a:off x="5927365" y="3911859"/>
            <a:ext cx="551754" cy="3396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7" dirty="0"/>
              <a:t>0:15</a:t>
            </a:r>
            <a:endParaRPr lang="en-US" sz="1607" dirty="0"/>
          </a:p>
        </p:txBody>
      </p:sp>
      <p:grpSp>
        <p:nvGrpSpPr>
          <p:cNvPr id="282" name="Group 281"/>
          <p:cNvGrpSpPr/>
          <p:nvPr/>
        </p:nvGrpSpPr>
        <p:grpSpPr>
          <a:xfrm>
            <a:off x="6441311" y="3911859"/>
            <a:ext cx="551753" cy="559326"/>
            <a:chOff x="2140006" y="-72000"/>
            <a:chExt cx="618034" cy="626516"/>
          </a:xfrm>
        </p:grpSpPr>
        <p:sp>
          <p:nvSpPr>
            <p:cNvPr id="283" name="Oval 282"/>
            <p:cNvSpPr/>
            <p:nvPr/>
          </p:nvSpPr>
          <p:spPr>
            <a:xfrm>
              <a:off x="2360512" y="357448"/>
              <a:ext cx="181302" cy="197068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284" name="TextBox 283"/>
            <p:cNvSpPr txBox="1"/>
            <p:nvPr/>
          </p:nvSpPr>
          <p:spPr>
            <a:xfrm>
              <a:off x="2140006" y="-72000"/>
              <a:ext cx="618034" cy="3804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7" dirty="0"/>
                <a:t>0:11</a:t>
              </a:r>
              <a:endParaRPr lang="en-US" sz="1607" dirty="0"/>
            </a:p>
          </p:txBody>
        </p:sp>
      </p:grpSp>
      <p:grpSp>
        <p:nvGrpSpPr>
          <p:cNvPr id="285" name="Group 284"/>
          <p:cNvGrpSpPr/>
          <p:nvPr/>
        </p:nvGrpSpPr>
        <p:grpSpPr>
          <a:xfrm>
            <a:off x="5406679" y="3911859"/>
            <a:ext cx="551753" cy="583336"/>
            <a:chOff x="981087" y="-72000"/>
            <a:chExt cx="618034" cy="653410"/>
          </a:xfrm>
        </p:grpSpPr>
        <p:sp>
          <p:nvSpPr>
            <p:cNvPr id="286" name="Oval 285"/>
            <p:cNvSpPr/>
            <p:nvPr/>
          </p:nvSpPr>
          <p:spPr>
            <a:xfrm>
              <a:off x="1187589" y="384342"/>
              <a:ext cx="181302" cy="197068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287" name="TextBox 286"/>
            <p:cNvSpPr txBox="1"/>
            <p:nvPr/>
          </p:nvSpPr>
          <p:spPr>
            <a:xfrm>
              <a:off x="981087" y="-72000"/>
              <a:ext cx="618034" cy="3804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7" dirty="0"/>
                <a:t>0:21</a:t>
              </a:r>
              <a:endParaRPr lang="en-US" sz="1607" dirty="0"/>
            </a:p>
          </p:txBody>
        </p:sp>
      </p:grpSp>
      <p:cxnSp>
        <p:nvCxnSpPr>
          <p:cNvPr id="1874" name="Elbow Connector 1873"/>
          <p:cNvCxnSpPr>
            <a:stCxn id="265" idx="4"/>
            <a:endCxn id="271" idx="2"/>
          </p:cNvCxnSpPr>
          <p:nvPr/>
        </p:nvCxnSpPr>
        <p:spPr>
          <a:xfrm rot="16200000" flipH="1">
            <a:off x="4876572" y="5016874"/>
            <a:ext cx="1164632" cy="1008058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5" name="TextBox 304"/>
          <p:cNvSpPr txBox="1"/>
          <p:nvPr/>
        </p:nvSpPr>
        <p:spPr>
          <a:xfrm flipH="1">
            <a:off x="6331259" y="5693916"/>
            <a:ext cx="1954849" cy="834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7" dirty="0"/>
              <a:t>Stored source tuples</a:t>
            </a:r>
            <a:r>
              <a:rPr lang="zh-CN" altLang="en-US" sz="1607" dirty="0"/>
              <a:t> </a:t>
            </a:r>
            <a:r>
              <a:rPr lang="en-US" altLang="zh-CN" sz="1607" dirty="0"/>
              <a:t>(</a:t>
            </a:r>
            <a:r>
              <a:rPr lang="en-US" altLang="zh-CN" sz="1607" strike="sngStrike" dirty="0"/>
              <a:t>0:01, 0:02, </a:t>
            </a:r>
            <a:r>
              <a:rPr lang="en-US" altLang="zh-CN" sz="1607" dirty="0"/>
              <a:t>0:07, 0:11, 0:21)</a:t>
            </a:r>
            <a:endParaRPr lang="en-US" sz="1607" dirty="0"/>
          </a:p>
        </p:txBody>
      </p:sp>
      <p:sp>
        <p:nvSpPr>
          <p:cNvPr id="1876" name="Rectangle 1875"/>
          <p:cNvSpPr/>
          <p:nvPr/>
        </p:nvSpPr>
        <p:spPr>
          <a:xfrm>
            <a:off x="4964810" y="5195919"/>
            <a:ext cx="2254774" cy="5869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7" dirty="0"/>
              <a:t>Source tuples before 0:05 can be removed.</a:t>
            </a:r>
            <a:endParaRPr lang="en-US" sz="1607" dirty="0"/>
          </a:p>
        </p:txBody>
      </p:sp>
      <p:cxnSp>
        <p:nvCxnSpPr>
          <p:cNvPr id="307" name="Curved Connector 306"/>
          <p:cNvCxnSpPr>
            <a:stCxn id="266" idx="4"/>
            <a:endCxn id="265" idx="4"/>
          </p:cNvCxnSpPr>
          <p:nvPr/>
        </p:nvCxnSpPr>
        <p:spPr>
          <a:xfrm rot="5400000">
            <a:off x="6341457" y="3550503"/>
            <a:ext cx="1486" cy="2774681"/>
          </a:xfrm>
          <a:prstGeom prst="curvedConnector3">
            <a:avLst>
              <a:gd name="adj1" fmla="val 13829730"/>
            </a:avLst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10" name="TextBox 309"/>
          <p:cNvSpPr txBox="1"/>
          <p:nvPr/>
        </p:nvSpPr>
        <p:spPr>
          <a:xfrm>
            <a:off x="5779332" y="4787057"/>
            <a:ext cx="1286827" cy="3396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7" dirty="0"/>
              <a:t>acknowledge</a:t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4953187" y="6695009"/>
            <a:ext cx="3162740" cy="1191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86" dirty="0"/>
              <a:t>d) Source operator can safely discard stored source tuples when receiving acknowledge to save space.</a:t>
            </a:r>
          </a:p>
        </p:txBody>
      </p:sp>
    </p:spTree>
    <p:extLst>
      <p:ext uri="{BB962C8B-B14F-4D97-AF65-F5344CB8AC3E}">
        <p14:creationId xmlns:p14="http://schemas.microsoft.com/office/powerpoint/2010/main" val="1717719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293</TotalTime>
  <Words>158</Words>
  <Application>Microsoft Macintosh PowerPoint</Application>
  <PresentationFormat>Custom</PresentationFormat>
  <Paragraphs>47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Calibri</vt:lpstr>
      <vt:lpstr>Calibri Light</vt:lpstr>
      <vt:lpstr>等线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15.0041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99</cp:revision>
  <cp:lastPrinted>2018-03-27T07:25:36Z</cp:lastPrinted>
  <dcterms:created xsi:type="dcterms:W3CDTF">2018-03-23T06:41:52Z</dcterms:created>
  <dcterms:modified xsi:type="dcterms:W3CDTF">2018-04-02T03:42:12Z</dcterms:modified>
</cp:coreProperties>
</file>