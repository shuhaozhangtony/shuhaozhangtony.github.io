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7199313" cy="5400675"/>
  <p:notesSz cx="6858000" cy="9144000"/>
  <p:defaultTextStyle>
    <a:defPPr>
      <a:defRPr lang="en-US"/>
    </a:defPPr>
    <a:lvl1pPr marL="0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1pPr>
    <a:lvl2pPr marL="362834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2pPr>
    <a:lvl3pPr marL="725668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3pPr>
    <a:lvl4pPr marL="1088502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4pPr>
    <a:lvl5pPr marL="1451336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5pPr>
    <a:lvl6pPr marL="1814170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6pPr>
    <a:lvl7pPr marL="2177004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7pPr>
    <a:lvl8pPr marL="2539837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8pPr>
    <a:lvl9pPr marL="2902671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47"/>
  </p:normalViewPr>
  <p:slideViewPr>
    <p:cSldViewPr snapToGrid="0" snapToObjects="1">
      <p:cViewPr varScale="1">
        <p:scale>
          <a:sx n="66" d="100"/>
          <a:sy n="66" d="100"/>
        </p:scale>
        <p:origin x="63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\\Users\shuhaozhang\myworkingonpapers\tsp_experiments\experiments\MB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partition!$B$1</c:f>
              <c:strCache>
                <c:ptCount val="1"/>
                <c:pt idx="0">
                  <c:v>NOCC</c:v>
                </c:pt>
              </c:strCache>
            </c:strRef>
          </c:tx>
          <c:spPr>
            <a:pattFill prst="pct5">
              <a:fgClr>
                <a:srgbClr val="C90001"/>
              </a:fgClr>
              <a:bgClr>
                <a:sysClr val="window" lastClr="FFFFFF"/>
              </a:bgClr>
            </a:pattFill>
            <a:ln w="25400">
              <a:solidFill>
                <a:schemeClr val="tx1"/>
              </a:solidFill>
            </a:ln>
            <a:effectLst/>
          </c:spPr>
          <c:invertIfNegative val="0"/>
          <c:cat>
            <c:numRef>
              <c:f>partition!$A$2:$A$7</c:f>
              <c:numCache>
                <c:formatCode>General</c:formatCode>
                <c:ptCount val="6"/>
                <c:pt idx="0">
                  <c:v>2</c:v>
                </c:pt>
                <c:pt idx="1">
                  <c:v>8</c:v>
                </c:pt>
                <c:pt idx="2">
                  <c:v>16</c:v>
                </c:pt>
                <c:pt idx="3">
                  <c:v>24</c:v>
                </c:pt>
                <c:pt idx="4">
                  <c:v>32</c:v>
                </c:pt>
                <c:pt idx="5">
                  <c:v>38</c:v>
                </c:pt>
              </c:numCache>
            </c:numRef>
          </c:cat>
          <c:val>
            <c:numRef>
              <c:f>partition!$B$2:$B$7</c:f>
              <c:numCache>
                <c:formatCode>0.00E+00</c:formatCode>
                <c:ptCount val="6"/>
                <c:pt idx="0">
                  <c:v>134.633371968002</c:v>
                </c:pt>
                <c:pt idx="1">
                  <c:v>280.82895563759388</c:v>
                </c:pt>
                <c:pt idx="2">
                  <c:v>583.69082145748405</c:v>
                </c:pt>
                <c:pt idx="3" formatCode="0.00000000E+00">
                  <c:v>778.95105206974984</c:v>
                </c:pt>
                <c:pt idx="4">
                  <c:v>1134.54992264003</c:v>
                </c:pt>
                <c:pt idx="5">
                  <c:v>1167.7652558995301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4B-4D0B-99E6-2CB95F70EA66}"/>
            </c:ext>
          </c:extLst>
        </c:ser>
        <c:ser>
          <c:idx val="1"/>
          <c:order val="1"/>
          <c:tx>
            <c:strRef>
              <c:f>partition!$C$1</c:f>
              <c:strCache>
                <c:ptCount val="1"/>
                <c:pt idx="0">
                  <c:v>LAL</c:v>
                </c:pt>
              </c:strCache>
            </c:strRef>
          </c:tx>
          <c:spPr>
            <a:pattFill prst="wdUpDiag">
              <a:fgClr>
                <a:schemeClr val="accent1"/>
              </a:fgClr>
              <a:bgClr>
                <a:schemeClr val="bg1"/>
              </a:bgClr>
            </a:pattFill>
            <a:ln w="25400">
              <a:solidFill>
                <a:schemeClr val="tx1"/>
              </a:solidFill>
            </a:ln>
            <a:effectLst/>
          </c:spPr>
          <c:invertIfNegative val="0"/>
          <c:cat>
            <c:numRef>
              <c:f>partition!$A$2:$A$7</c:f>
              <c:numCache>
                <c:formatCode>General</c:formatCode>
                <c:ptCount val="6"/>
                <c:pt idx="0">
                  <c:v>2</c:v>
                </c:pt>
                <c:pt idx="1">
                  <c:v>8</c:v>
                </c:pt>
                <c:pt idx="2">
                  <c:v>16</c:v>
                </c:pt>
                <c:pt idx="3">
                  <c:v>24</c:v>
                </c:pt>
                <c:pt idx="4">
                  <c:v>32</c:v>
                </c:pt>
                <c:pt idx="5">
                  <c:v>38</c:v>
                </c:pt>
              </c:numCache>
            </c:numRef>
          </c:cat>
          <c:val>
            <c:numRef>
              <c:f>partition!$C$2:$C$7</c:f>
              <c:numCache>
                <c:formatCode>0.00E+00</c:formatCode>
                <c:ptCount val="6"/>
                <c:pt idx="0">
                  <c:v>121.667055020047</c:v>
                </c:pt>
                <c:pt idx="1">
                  <c:v>66.927810146989884</c:v>
                </c:pt>
                <c:pt idx="2">
                  <c:v>65.739620991113199</c:v>
                </c:pt>
                <c:pt idx="3">
                  <c:v>44.127625500939999</c:v>
                </c:pt>
                <c:pt idx="4">
                  <c:v>39.772352956651197</c:v>
                </c:pt>
                <c:pt idx="5">
                  <c:v>39.526246773172197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24B-4D0B-99E6-2CB95F70EA66}"/>
            </c:ext>
          </c:extLst>
        </c:ser>
        <c:ser>
          <c:idx val="2"/>
          <c:order val="2"/>
          <c:tx>
            <c:strRef>
              <c:f>partition!$D$1</c:f>
              <c:strCache>
                <c:ptCount val="1"/>
                <c:pt idx="0">
                  <c:v>LWM</c:v>
                </c:pt>
              </c:strCache>
            </c:strRef>
          </c:tx>
          <c:spPr>
            <a:pattFill prst="dkHorz">
              <a:fgClr>
                <a:schemeClr val="accent6"/>
              </a:fgClr>
              <a:bgClr>
                <a:schemeClr val="bg1"/>
              </a:bgClr>
            </a:pattFill>
            <a:ln w="25400">
              <a:solidFill>
                <a:schemeClr val="tx1"/>
              </a:solidFill>
            </a:ln>
            <a:effectLst/>
          </c:spPr>
          <c:invertIfNegative val="0"/>
          <c:cat>
            <c:numRef>
              <c:f>partition!$A$2:$A$7</c:f>
              <c:numCache>
                <c:formatCode>General</c:formatCode>
                <c:ptCount val="6"/>
                <c:pt idx="0">
                  <c:v>2</c:v>
                </c:pt>
                <c:pt idx="1">
                  <c:v>8</c:v>
                </c:pt>
                <c:pt idx="2">
                  <c:v>16</c:v>
                </c:pt>
                <c:pt idx="3">
                  <c:v>24</c:v>
                </c:pt>
                <c:pt idx="4">
                  <c:v>32</c:v>
                </c:pt>
                <c:pt idx="5">
                  <c:v>38</c:v>
                </c:pt>
              </c:numCache>
            </c:numRef>
          </c:cat>
          <c:val>
            <c:numRef>
              <c:f>partition!$D$2:$D$7</c:f>
              <c:numCache>
                <c:formatCode>0.00E+00</c:formatCode>
                <c:ptCount val="6"/>
                <c:pt idx="0">
                  <c:v>73.05207157352676</c:v>
                </c:pt>
                <c:pt idx="1">
                  <c:v>63.807144656844393</c:v>
                </c:pt>
                <c:pt idx="2">
                  <c:v>56.557279701680287</c:v>
                </c:pt>
                <c:pt idx="3">
                  <c:v>36.942870804734298</c:v>
                </c:pt>
                <c:pt idx="4">
                  <c:v>33.02702909731039</c:v>
                </c:pt>
                <c:pt idx="5">
                  <c:v>30.3148160138206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24B-4D0B-99E6-2CB95F70EA66}"/>
            </c:ext>
          </c:extLst>
        </c:ser>
        <c:ser>
          <c:idx val="3"/>
          <c:order val="3"/>
          <c:tx>
            <c:strRef>
              <c:f>partition!$E$1</c:f>
              <c:strCache>
                <c:ptCount val="1"/>
                <c:pt idx="0">
                  <c:v>T-Stream</c:v>
                </c:pt>
              </c:strCache>
            </c:strRef>
          </c:tx>
          <c:spPr>
            <a:pattFill prst="pct50">
              <a:fgClr>
                <a:srgbClr val="A345EE"/>
              </a:fgClr>
              <a:bgClr>
                <a:schemeClr val="bg1"/>
              </a:bgClr>
            </a:pattFill>
            <a:ln w="25400">
              <a:solidFill>
                <a:schemeClr val="tx1"/>
              </a:solidFill>
            </a:ln>
            <a:effectLst/>
          </c:spPr>
          <c:invertIfNegative val="0"/>
          <c:cat>
            <c:numRef>
              <c:f>partition!$A$2:$A$7</c:f>
              <c:numCache>
                <c:formatCode>General</c:formatCode>
                <c:ptCount val="6"/>
                <c:pt idx="0">
                  <c:v>2</c:v>
                </c:pt>
                <c:pt idx="1">
                  <c:v>8</c:v>
                </c:pt>
                <c:pt idx="2">
                  <c:v>16</c:v>
                </c:pt>
                <c:pt idx="3">
                  <c:v>24</c:v>
                </c:pt>
                <c:pt idx="4">
                  <c:v>32</c:v>
                </c:pt>
                <c:pt idx="5">
                  <c:v>38</c:v>
                </c:pt>
              </c:numCache>
            </c:numRef>
          </c:cat>
          <c:val>
            <c:numRef>
              <c:f>partition!$E$2:$E$7</c:f>
              <c:numCache>
                <c:formatCode>0.00E+00</c:formatCode>
                <c:ptCount val="6"/>
                <c:pt idx="0">
                  <c:v>44.378394779461203</c:v>
                </c:pt>
                <c:pt idx="1">
                  <c:v>157.69771494608099</c:v>
                </c:pt>
                <c:pt idx="2">
                  <c:v>167.324221437071</c:v>
                </c:pt>
                <c:pt idx="3">
                  <c:v>228.130163489886</c:v>
                </c:pt>
                <c:pt idx="4">
                  <c:v>275.09579118203698</c:v>
                </c:pt>
                <c:pt idx="5">
                  <c:v>312.93279651399888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24B-4D0B-99E6-2CB95F70EA66}"/>
            </c:ext>
          </c:extLst>
        </c:ser>
        <c:ser>
          <c:idx val="4"/>
          <c:order val="4"/>
          <c:tx>
            <c:strRef>
              <c:f>partition!$F$1</c:f>
              <c:strCache>
                <c:ptCount val="1"/>
                <c:pt idx="0">
                  <c:v>PAT</c:v>
                </c:pt>
              </c:strCache>
            </c:strRef>
          </c:tx>
          <c:spPr>
            <a:pattFill prst="pct90">
              <a:fgClr>
                <a:schemeClr val="tx1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</a:ln>
            <a:effectLst/>
          </c:spPr>
          <c:invertIfNegative val="0"/>
          <c:cat>
            <c:numRef>
              <c:f>partition!$A$2:$A$7</c:f>
              <c:numCache>
                <c:formatCode>General</c:formatCode>
                <c:ptCount val="6"/>
                <c:pt idx="0">
                  <c:v>2</c:v>
                </c:pt>
                <c:pt idx="1">
                  <c:v>8</c:v>
                </c:pt>
                <c:pt idx="2">
                  <c:v>16</c:v>
                </c:pt>
                <c:pt idx="3">
                  <c:v>24</c:v>
                </c:pt>
                <c:pt idx="4">
                  <c:v>32</c:v>
                </c:pt>
                <c:pt idx="5">
                  <c:v>38</c:v>
                </c:pt>
              </c:numCache>
            </c:numRef>
          </c:cat>
          <c:val>
            <c:numRef>
              <c:f>partition!$F$2:$F$7</c:f>
              <c:numCache>
                <c:formatCode>General</c:formatCode>
                <c:ptCount val="6"/>
                <c:pt idx="0">
                  <c:v>52.8395166993243</c:v>
                </c:pt>
                <c:pt idx="1">
                  <c:v>183.436966236264</c:v>
                </c:pt>
                <c:pt idx="2">
                  <c:v>240.11903259268399</c:v>
                </c:pt>
                <c:pt idx="3">
                  <c:v>295.941742314159</c:v>
                </c:pt>
                <c:pt idx="4">
                  <c:v>415.831684219576</c:v>
                </c:pt>
                <c:pt idx="5">
                  <c:v>435.85003685942002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24B-4D0B-99E6-2CB95F70EA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04063088"/>
        <c:axId val="982304752"/>
      </c:barChart>
      <c:catAx>
        <c:axId val="140406308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defRPr>
                </a:pPr>
                <a:r>
                  <a:rPr lang="en-US" dirty="0" smtClean="0"/>
                  <a:t>Number of Cores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Helvetica" charset="0"/>
                  <a:ea typeface="Helvetica" charset="0"/>
                  <a:cs typeface="Helvetica" charset="0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982304752"/>
        <c:crosses val="autoZero"/>
        <c:auto val="1"/>
        <c:lblAlgn val="ctr"/>
        <c:lblOffset val="100"/>
        <c:noMultiLvlLbl val="0"/>
      </c:catAx>
      <c:valAx>
        <c:axId val="98230475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defRPr>
                </a:pPr>
                <a:r>
                  <a:rPr lang="en-US" dirty="0" smtClean="0"/>
                  <a:t>Throughput (k events/s)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Helvetica" charset="0"/>
                  <a:ea typeface="Helvetica" charset="0"/>
                  <a:cs typeface="Helvetica" charset="0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1404063088"/>
        <c:crosses val="autoZero"/>
        <c:crossBetween val="between"/>
      </c:valAx>
      <c:spPr>
        <a:noFill/>
        <a:ln w="25400">
          <a:solidFill>
            <a:schemeClr val="tx1"/>
          </a:solidFill>
        </a:ln>
        <a:effectLst/>
      </c:spPr>
    </c:plotArea>
    <c:legend>
      <c:legendPos val="t"/>
      <c:layout/>
      <c:overlay val="0"/>
      <c:spPr>
        <a:noFill/>
        <a:ln w="2540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" charset="0"/>
              <a:ea typeface="Helvetica" charset="0"/>
              <a:cs typeface="Helvetica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  <a:latin typeface="Helvetica" charset="0"/>
          <a:ea typeface="Helvetica" charset="0"/>
          <a:cs typeface="Helvetica" charset="0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883861"/>
            <a:ext cx="6119416" cy="1880235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2836605"/>
            <a:ext cx="5399485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1346420"/>
            <a:ext cx="6209407" cy="2246530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3614203"/>
            <a:ext cx="6209407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437680"/>
            <a:ext cx="3059708" cy="34266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437680"/>
            <a:ext cx="3059708" cy="34266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87537"/>
            <a:ext cx="6209407" cy="104388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323916"/>
            <a:ext cx="304564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1972747"/>
            <a:ext cx="3045646" cy="2901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323916"/>
            <a:ext cx="306064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1972747"/>
            <a:ext cx="3060646" cy="2901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360045"/>
            <a:ext cx="2321966" cy="1260158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777598"/>
            <a:ext cx="3644652" cy="3837980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1620202"/>
            <a:ext cx="2321966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360045"/>
            <a:ext cx="2321966" cy="1260158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777598"/>
            <a:ext cx="3644652" cy="3837980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1620202"/>
            <a:ext cx="2321966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287536"/>
            <a:ext cx="1552352" cy="457682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287536"/>
            <a:ext cx="4567064" cy="457682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287537"/>
            <a:ext cx="6209407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437680"/>
            <a:ext cx="6209407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5005627"/>
            <a:ext cx="1619845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5005627"/>
            <a:ext cx="2429768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5005627"/>
            <a:ext cx="1619845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79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9762907"/>
              </p:ext>
            </p:extLst>
          </p:nvPr>
        </p:nvGraphicFramePr>
        <p:xfrm>
          <a:off x="0" y="-1"/>
          <a:ext cx="7199313" cy="5400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00545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DengXian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DengXian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2946</TotalTime>
  <Words>8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zhang shuhao Tony</cp:lastModifiedBy>
  <cp:revision>28</cp:revision>
  <cp:lastPrinted>2018-09-27T01:12:24Z</cp:lastPrinted>
  <dcterms:created xsi:type="dcterms:W3CDTF">2018-09-13T08:59:53Z</dcterms:created>
  <dcterms:modified xsi:type="dcterms:W3CDTF">2018-10-16T02:58:02Z</dcterms:modified>
</cp:coreProperties>
</file>