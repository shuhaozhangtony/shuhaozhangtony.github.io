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147334634198399"/>
          <c:y val="3.4075746841968242E-2"/>
          <c:w val="0.82323935953880001"/>
          <c:h val="0.646382840363999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factor!$B$1</c:f>
              <c:strCache>
                <c:ptCount val="1"/>
                <c:pt idx="0">
                  <c:v>Read-Only (theta=0.0)</c:v>
                </c:pt>
              </c:strCache>
            </c:strRef>
          </c:tx>
          <c:spPr>
            <a:pattFill prst="pct90">
              <a:fgClr>
                <a:srgbClr val="70AD47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factor!$A$2:$A$5</c:f>
              <c:strCache>
                <c:ptCount val="4"/>
                <c:pt idx="0">
                  <c:v>simple</c:v>
                </c:pt>
                <c:pt idx="1">
                  <c:v>+numa-aware</c:v>
                </c:pt>
                <c:pt idx="2">
                  <c:v>+dual-tier</c:v>
                </c:pt>
                <c:pt idx="3">
                  <c:v>+work-stealing</c:v>
                </c:pt>
              </c:strCache>
            </c:strRef>
          </c:cat>
          <c:val>
            <c:numRef>
              <c:f>factor!$B$2:$B$5</c:f>
              <c:numCache>
                <c:formatCode>General</c:formatCode>
                <c:ptCount val="4"/>
                <c:pt idx="0">
                  <c:v>156.30489785695701</c:v>
                </c:pt>
                <c:pt idx="1">
                  <c:v>166.92638977712201</c:v>
                </c:pt>
                <c:pt idx="2" formatCode="0.00E+00">
                  <c:v>109.945000624538</c:v>
                </c:pt>
                <c:pt idx="3">
                  <c:v>312.93279651399888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42-40CF-B9FB-2DA1DD138CFB}"/>
            </c:ext>
          </c:extLst>
        </c:ser>
        <c:ser>
          <c:idx val="1"/>
          <c:order val="1"/>
          <c:tx>
            <c:strRef>
              <c:f>factor!$C$1</c:f>
              <c:strCache>
                <c:ptCount val="1"/>
                <c:pt idx="0">
                  <c:v>Write-Intensive (theta=0.6)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factor!$A$2:$A$5</c:f>
              <c:strCache>
                <c:ptCount val="4"/>
                <c:pt idx="0">
                  <c:v>simple</c:v>
                </c:pt>
                <c:pt idx="1">
                  <c:v>+numa-aware</c:v>
                </c:pt>
                <c:pt idx="2">
                  <c:v>+dual-tier</c:v>
                </c:pt>
                <c:pt idx="3">
                  <c:v>+work-stealing</c:v>
                </c:pt>
              </c:strCache>
            </c:strRef>
          </c:cat>
          <c:val>
            <c:numRef>
              <c:f>factor!$C$2:$C$5</c:f>
              <c:numCache>
                <c:formatCode>General</c:formatCode>
                <c:ptCount val="4"/>
                <c:pt idx="0">
                  <c:v>35.571047866662482</c:v>
                </c:pt>
                <c:pt idx="1">
                  <c:v>38.955907696012993</c:v>
                </c:pt>
                <c:pt idx="2" formatCode="0.00E+00">
                  <c:v>80.231711339737998</c:v>
                </c:pt>
                <c:pt idx="3">
                  <c:v>256.53362769475302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42-40CF-B9FB-2DA1DD138CFB}"/>
            </c:ext>
          </c:extLst>
        </c:ser>
        <c:ser>
          <c:idx val="2"/>
          <c:order val="2"/>
          <c:tx>
            <c:strRef>
              <c:f>factor!$D$1</c:f>
              <c:strCache>
                <c:ptCount val="1"/>
                <c:pt idx="0">
                  <c:v>Write-Intensive (theta=0.8)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factor!$A$2:$A$5</c:f>
              <c:strCache>
                <c:ptCount val="4"/>
                <c:pt idx="0">
                  <c:v>simple</c:v>
                </c:pt>
                <c:pt idx="1">
                  <c:v>+numa-aware</c:v>
                </c:pt>
                <c:pt idx="2">
                  <c:v>+dual-tier</c:v>
                </c:pt>
                <c:pt idx="3">
                  <c:v>+work-stealing</c:v>
                </c:pt>
              </c:strCache>
            </c:strRef>
          </c:cat>
          <c:val>
            <c:numRef>
              <c:f>factor!$D$2:$D$5</c:f>
              <c:numCache>
                <c:formatCode>General</c:formatCode>
                <c:ptCount val="4"/>
                <c:pt idx="0">
                  <c:v>22.767671555162799</c:v>
                </c:pt>
                <c:pt idx="1">
                  <c:v>25.120548503230399</c:v>
                </c:pt>
                <c:pt idx="2">
                  <c:v>36.769883274179797</c:v>
                </c:pt>
                <c:pt idx="3" formatCode="0.00E+00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42-40CF-B9FB-2DA1DD138CFB}"/>
            </c:ext>
          </c:extLst>
        </c:ser>
        <c:ser>
          <c:idx val="3"/>
          <c:order val="3"/>
          <c:tx>
            <c:strRef>
              <c:f>factor!$E$1</c:f>
              <c:strCache>
                <c:ptCount val="1"/>
                <c:pt idx="0">
                  <c:v>Read/Write Mixture (50%, theta=0.6)</c:v>
                </c:pt>
              </c:strCache>
            </c:strRef>
          </c:tx>
          <c:spPr>
            <a:pattFill prst="pct5">
              <a:fgClr>
                <a:srgbClr val="FF0000"/>
              </a:fgClr>
              <a:bgClr>
                <a:sysClr val="window" lastClr="FFFFFF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factor!$A$2:$A$5</c:f>
              <c:strCache>
                <c:ptCount val="4"/>
                <c:pt idx="0">
                  <c:v>simple</c:v>
                </c:pt>
                <c:pt idx="1">
                  <c:v>+numa-aware</c:v>
                </c:pt>
                <c:pt idx="2">
                  <c:v>+dual-tier</c:v>
                </c:pt>
                <c:pt idx="3">
                  <c:v>+work-stealing</c:v>
                </c:pt>
              </c:strCache>
            </c:strRef>
          </c:cat>
          <c:val>
            <c:numRef>
              <c:f>factor!$E$2:$E$5</c:f>
              <c:numCache>
                <c:formatCode>General</c:formatCode>
                <c:ptCount val="4"/>
                <c:pt idx="0">
                  <c:v>42.116400807748093</c:v>
                </c:pt>
                <c:pt idx="1">
                  <c:v>46.0470151669968</c:v>
                </c:pt>
                <c:pt idx="2">
                  <c:v>68.055606666878901</c:v>
                </c:pt>
                <c:pt idx="3">
                  <c:v>272.57314772251192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42-40CF-B9FB-2DA1DD138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2"/>
        <c:axId val="1364730400"/>
        <c:axId val="962571056"/>
      </c:barChart>
      <c:catAx>
        <c:axId val="1364730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62571056"/>
        <c:crosses val="autoZero"/>
        <c:auto val="1"/>
        <c:lblAlgn val="ctr"/>
        <c:lblOffset val="100"/>
        <c:noMultiLvlLbl val="0"/>
      </c:catAx>
      <c:valAx>
        <c:axId val="9625710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z="2400" dirty="0" smtClean="0"/>
                  <a:t>Throughput (k events/s)</a:t>
                </a:r>
                <a:endParaRPr lang="en-US" sz="2400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64730400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16900851081325549"/>
          <c:y val="3.7624933480524841E-2"/>
          <c:w val="0.60906125474211981"/>
          <c:h val="0.26099001717193077"/>
        </c:manualLayout>
      </c:layout>
      <c:overlay val="1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4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385737"/>
              </p:ext>
            </p:extLst>
          </p:nvPr>
        </p:nvGraphicFramePr>
        <p:xfrm>
          <a:off x="1" y="0"/>
          <a:ext cx="7199312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3176</TotalTime>
  <Words>5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51</cp:revision>
  <cp:lastPrinted>2018-10-12T03:03:11Z</cp:lastPrinted>
  <dcterms:created xsi:type="dcterms:W3CDTF">2018-09-13T08:59:53Z</dcterms:created>
  <dcterms:modified xsi:type="dcterms:W3CDTF">2018-10-16T03:17:34Z</dcterms:modified>
</cp:coreProperties>
</file>