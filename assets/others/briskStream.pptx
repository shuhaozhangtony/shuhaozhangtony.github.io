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2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6"/>
  </p:notesMasterIdLst>
  <p:sldIdLst>
    <p:sldId id="256" r:id="rId2"/>
    <p:sldId id="257" r:id="rId3"/>
    <p:sldId id="259" r:id="rId4"/>
    <p:sldId id="260" r:id="rId5"/>
    <p:sldId id="262" r:id="rId6"/>
    <p:sldId id="290" r:id="rId7"/>
    <p:sldId id="294" r:id="rId8"/>
    <p:sldId id="345" r:id="rId9"/>
    <p:sldId id="312" r:id="rId10"/>
    <p:sldId id="315" r:id="rId11"/>
    <p:sldId id="316" r:id="rId12"/>
    <p:sldId id="344" r:id="rId13"/>
    <p:sldId id="332" r:id="rId14"/>
    <p:sldId id="346" r:id="rId15"/>
    <p:sldId id="333" r:id="rId16"/>
    <p:sldId id="296" r:id="rId17"/>
    <p:sldId id="334" r:id="rId18"/>
    <p:sldId id="311" r:id="rId19"/>
    <p:sldId id="347" r:id="rId20"/>
    <p:sldId id="293" r:id="rId21"/>
    <p:sldId id="331" r:id="rId22"/>
    <p:sldId id="338" r:id="rId23"/>
    <p:sldId id="340" r:id="rId24"/>
    <p:sldId id="297" r:id="rId25"/>
    <p:sldId id="323" r:id="rId26"/>
    <p:sldId id="325" r:id="rId27"/>
    <p:sldId id="326" r:id="rId28"/>
    <p:sldId id="268" r:id="rId29"/>
    <p:sldId id="281" r:id="rId30"/>
    <p:sldId id="284" r:id="rId31"/>
    <p:sldId id="301" r:id="rId32"/>
    <p:sldId id="310" r:id="rId33"/>
    <p:sldId id="341" r:id="rId34"/>
    <p:sldId id="289" r:id="rId35"/>
  </p:sldIdLst>
  <p:sldSz cx="10152063" cy="7596188"/>
  <p:notesSz cx="7596188" cy="10152063"/>
  <p:defaultTextStyle>
    <a:defPPr>
      <a:defRPr lang="en-GB"/>
    </a:defPPr>
    <a:lvl1pPr algn="l" rtl="0" eaLnBrk="0" fontAlgn="base" hangingPunct="0">
      <a:spcBef>
        <a:spcPct val="0"/>
      </a:spcBef>
      <a:spcAft>
        <a:spcPct val="0"/>
      </a:spcAft>
      <a:defRPr sz="2400" kern="1200">
        <a:solidFill>
          <a:schemeClr val="tx1"/>
        </a:solidFill>
        <a:latin typeface="Times" pitchFamily="2"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2"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2"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mn-ea"/>
        <a:cs typeface="+mn-cs"/>
      </a:defRPr>
    </a:lvl5pPr>
    <a:lvl6pPr marL="2286000" algn="l" defTabSz="914400" rtl="0" eaLnBrk="1" latinLnBrk="0" hangingPunct="1">
      <a:defRPr sz="2400" kern="1200">
        <a:solidFill>
          <a:schemeClr val="tx1"/>
        </a:solidFill>
        <a:latin typeface="Times" pitchFamily="2" charset="0"/>
        <a:ea typeface="+mn-ea"/>
        <a:cs typeface="+mn-cs"/>
      </a:defRPr>
    </a:lvl6pPr>
    <a:lvl7pPr marL="2743200" algn="l" defTabSz="914400" rtl="0" eaLnBrk="1" latinLnBrk="0" hangingPunct="1">
      <a:defRPr sz="2400" kern="1200">
        <a:solidFill>
          <a:schemeClr val="tx1"/>
        </a:solidFill>
        <a:latin typeface="Times" pitchFamily="2" charset="0"/>
        <a:ea typeface="+mn-ea"/>
        <a:cs typeface="+mn-cs"/>
      </a:defRPr>
    </a:lvl7pPr>
    <a:lvl8pPr marL="3200400" algn="l" defTabSz="914400" rtl="0" eaLnBrk="1" latinLnBrk="0" hangingPunct="1">
      <a:defRPr sz="2400" kern="1200">
        <a:solidFill>
          <a:schemeClr val="tx1"/>
        </a:solidFill>
        <a:latin typeface="Times" pitchFamily="2" charset="0"/>
        <a:ea typeface="+mn-ea"/>
        <a:cs typeface="+mn-cs"/>
      </a:defRPr>
    </a:lvl8pPr>
    <a:lvl9pPr marL="3657600" algn="l" defTabSz="914400" rtl="0" eaLnBrk="1" latinLnBrk="0" hangingPunct="1">
      <a:defRPr sz="2400" kern="1200">
        <a:solidFill>
          <a:schemeClr val="tx1"/>
        </a:solidFill>
        <a:latin typeface="Times" pitchFamily="2" charset="0"/>
        <a:ea typeface="+mn-ea"/>
        <a:cs typeface="+mn-cs"/>
      </a:defRPr>
    </a:lvl9pPr>
  </p:defaultTextStyle>
  <p:extLst>
    <p:ext uri="{EFAFB233-063F-42B5-8137-9DF3F51BA10A}">
      <p15:sldGuideLst xmlns:p15="http://schemas.microsoft.com/office/powerpoint/2012/main">
        <p15:guide id="1" orient="horz" pos="1392">
          <p15:clr>
            <a:srgbClr val="A4A3A4"/>
          </p15:clr>
        </p15:guide>
        <p15:guide id="2" pos="321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523" autoAdjust="0"/>
    <p:restoredTop sz="87016"/>
  </p:normalViewPr>
  <p:slideViewPr>
    <p:cSldViewPr>
      <p:cViewPr varScale="1">
        <p:scale>
          <a:sx n="111" d="100"/>
          <a:sy n="111" d="100"/>
        </p:scale>
        <p:origin x="216" y="432"/>
      </p:cViewPr>
      <p:guideLst>
        <p:guide orient="horz" pos="1392"/>
        <p:guide pos="3216"/>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Users\shuhaozhang\briskstream_experiments\RLAS.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Users\shuhaozhang\birskStream%20response\STREAMBOX.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Users\shuhaozhang\birskStream%20response\STREAMBOX.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tx>
            <c:strRef>
              <c:f>'RLAS-fix'!$B$1</c:f>
              <c:strCache>
                <c:ptCount val="1"/>
                <c:pt idx="0">
                  <c:v>RLAS</c:v>
                </c:pt>
              </c:strCache>
            </c:strRef>
          </c:tx>
          <c:spPr>
            <a:pattFill prst="pct90">
              <a:fgClr>
                <a:schemeClr val="tx1"/>
              </a:fgClr>
              <a:bgClr>
                <a:schemeClr val="bg1"/>
              </a:bgClr>
            </a:pattFill>
            <a:ln w="19050">
              <a:solidFill>
                <a:schemeClr val="tx1"/>
              </a:solidFill>
            </a:ln>
            <a:effectLst/>
          </c:spPr>
          <c:invertIfNegative val="0"/>
          <c:cat>
            <c:strRef>
              <c:f>'RLAS-fix'!$A$2:$A$5</c:f>
              <c:strCache>
                <c:ptCount val="4"/>
                <c:pt idx="0">
                  <c:v>WC</c:v>
                </c:pt>
                <c:pt idx="1">
                  <c:v>FD</c:v>
                </c:pt>
                <c:pt idx="2">
                  <c:v>SD</c:v>
                </c:pt>
                <c:pt idx="3">
                  <c:v>LR</c:v>
                </c:pt>
              </c:strCache>
            </c:strRef>
          </c:cat>
          <c:val>
            <c:numRef>
              <c:f>'RLAS-fix'!$B$2:$B$5</c:f>
              <c:numCache>
                <c:formatCode>General</c:formatCode>
                <c:ptCount val="4"/>
                <c:pt idx="0">
                  <c:v>96390.832857281945</c:v>
                </c:pt>
                <c:pt idx="1">
                  <c:v>7172.5708127091066</c:v>
                </c:pt>
                <c:pt idx="2">
                  <c:v>14591.4943776808</c:v>
                </c:pt>
                <c:pt idx="3">
                  <c:v>8738.33639840256</c:v>
                </c:pt>
              </c:numCache>
            </c:numRef>
          </c:val>
          <c:extLst>
            <c:ext xmlns:c16="http://schemas.microsoft.com/office/drawing/2014/chart" uri="{C3380CC4-5D6E-409C-BE32-E72D297353CC}">
              <c16:uniqueId val="{00000000-D875-4134-99E7-C7790E90752F}"/>
            </c:ext>
          </c:extLst>
        </c:ser>
        <c:ser>
          <c:idx val="1"/>
          <c:order val="1"/>
          <c:tx>
            <c:strRef>
              <c:f>'RLAS-fix'!$C$1</c:f>
              <c:strCache>
                <c:ptCount val="1"/>
                <c:pt idx="0">
                  <c:v>RLAS_fix(L)</c:v>
                </c:pt>
              </c:strCache>
            </c:strRef>
          </c:tx>
          <c:spPr>
            <a:pattFill prst="pct40">
              <a:fgClr>
                <a:schemeClr val="tx1"/>
              </a:fgClr>
              <a:bgClr>
                <a:schemeClr val="bg1"/>
              </a:bgClr>
            </a:pattFill>
            <a:ln w="19050">
              <a:solidFill>
                <a:schemeClr val="tx1"/>
              </a:solidFill>
            </a:ln>
            <a:effectLst/>
          </c:spPr>
          <c:invertIfNegative val="0"/>
          <c:cat>
            <c:strRef>
              <c:f>'RLAS-fix'!$A$2:$A$5</c:f>
              <c:strCache>
                <c:ptCount val="4"/>
                <c:pt idx="0">
                  <c:v>WC</c:v>
                </c:pt>
                <c:pt idx="1">
                  <c:v>FD</c:v>
                </c:pt>
                <c:pt idx="2">
                  <c:v>SD</c:v>
                </c:pt>
                <c:pt idx="3">
                  <c:v>LR</c:v>
                </c:pt>
              </c:strCache>
            </c:strRef>
          </c:cat>
          <c:val>
            <c:numRef>
              <c:f>'RLAS-fix'!$C$2:$C$5</c:f>
              <c:numCache>
                <c:formatCode>General</c:formatCode>
                <c:ptCount val="4"/>
                <c:pt idx="0">
                  <c:v>69448.426381115205</c:v>
                </c:pt>
                <c:pt idx="1">
                  <c:v>5872.5527488768348</c:v>
                </c:pt>
                <c:pt idx="2">
                  <c:v>12215.11625996054</c:v>
                </c:pt>
                <c:pt idx="3">
                  <c:v>6766.79622312028</c:v>
                </c:pt>
              </c:numCache>
            </c:numRef>
          </c:val>
          <c:extLst>
            <c:ext xmlns:c16="http://schemas.microsoft.com/office/drawing/2014/chart" uri="{C3380CC4-5D6E-409C-BE32-E72D297353CC}">
              <c16:uniqueId val="{00000001-D875-4134-99E7-C7790E90752F}"/>
            </c:ext>
          </c:extLst>
        </c:ser>
        <c:ser>
          <c:idx val="2"/>
          <c:order val="2"/>
          <c:tx>
            <c:strRef>
              <c:f>'RLAS-fix'!$D$1</c:f>
              <c:strCache>
                <c:ptCount val="1"/>
                <c:pt idx="0">
                  <c:v>RLAS_fix(U)</c:v>
                </c:pt>
              </c:strCache>
            </c:strRef>
          </c:tx>
          <c:spPr>
            <a:pattFill prst="wdDnDiag">
              <a:fgClr>
                <a:schemeClr val="tx1"/>
              </a:fgClr>
              <a:bgClr>
                <a:schemeClr val="bg1"/>
              </a:bgClr>
            </a:pattFill>
            <a:ln w="19050">
              <a:solidFill>
                <a:schemeClr val="tx1"/>
              </a:solidFill>
            </a:ln>
            <a:effectLst/>
          </c:spPr>
          <c:invertIfNegative val="0"/>
          <c:cat>
            <c:strRef>
              <c:f>'RLAS-fix'!$A$2:$A$5</c:f>
              <c:strCache>
                <c:ptCount val="4"/>
                <c:pt idx="0">
                  <c:v>WC</c:v>
                </c:pt>
                <c:pt idx="1">
                  <c:v>FD</c:v>
                </c:pt>
                <c:pt idx="2">
                  <c:v>SD</c:v>
                </c:pt>
                <c:pt idx="3">
                  <c:v>LR</c:v>
                </c:pt>
              </c:strCache>
            </c:strRef>
          </c:cat>
          <c:val>
            <c:numRef>
              <c:f>'RLAS-fix'!$D$2:$D$5</c:f>
              <c:numCache>
                <c:formatCode>General</c:formatCode>
                <c:ptCount val="4"/>
                <c:pt idx="0">
                  <c:v>35390.6869758549</c:v>
                </c:pt>
                <c:pt idx="1">
                  <c:v>3725.3950616853799</c:v>
                </c:pt>
                <c:pt idx="2">
                  <c:v>3201.99235826626</c:v>
                </c:pt>
                <c:pt idx="3">
                  <c:v>3201.99235826626</c:v>
                </c:pt>
              </c:numCache>
            </c:numRef>
          </c:val>
          <c:extLst>
            <c:ext xmlns:c16="http://schemas.microsoft.com/office/drawing/2014/chart" uri="{C3380CC4-5D6E-409C-BE32-E72D297353CC}">
              <c16:uniqueId val="{00000002-D875-4134-99E7-C7790E90752F}"/>
            </c:ext>
          </c:extLst>
        </c:ser>
        <c:dLbls>
          <c:showLegendKey val="0"/>
          <c:showVal val="0"/>
          <c:showCatName val="0"/>
          <c:showSerName val="0"/>
          <c:showPercent val="0"/>
          <c:showBubbleSize val="0"/>
        </c:dLbls>
        <c:gapWidth val="223"/>
        <c:overlap val="-6"/>
        <c:axId val="241090992"/>
        <c:axId val="241088912"/>
      </c:barChart>
      <c:catAx>
        <c:axId val="241090992"/>
        <c:scaling>
          <c:orientation val="minMax"/>
        </c:scaling>
        <c:delete val="0"/>
        <c:axPos val="b"/>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Helvetica" charset="0"/>
                <a:ea typeface="Helvetica" charset="0"/>
                <a:cs typeface="Helvetica" charset="0"/>
              </a:defRPr>
            </a:pPr>
            <a:endParaRPr lang="en-US"/>
          </a:p>
        </c:txPr>
        <c:crossAx val="241088912"/>
        <c:crosses val="autoZero"/>
        <c:auto val="1"/>
        <c:lblAlgn val="ctr"/>
        <c:lblOffset val="100"/>
        <c:noMultiLvlLbl val="0"/>
      </c:catAx>
      <c:valAx>
        <c:axId val="241088912"/>
        <c:scaling>
          <c:orientation val="minMax"/>
        </c:scaling>
        <c:delete val="0"/>
        <c:axPos val="l"/>
        <c:title>
          <c:tx>
            <c:rich>
              <a:bodyPr rot="-5400000" spcFirstLastPara="1" vertOverflow="ellipsis" vert="horz" wrap="square" anchor="ctr" anchorCtr="1"/>
              <a:lstStyle/>
              <a:p>
                <a:pPr>
                  <a:defRPr sz="1800" b="0" i="0" u="none" strike="noStrike" kern="1200" baseline="0">
                    <a:solidFill>
                      <a:schemeClr val="tx1"/>
                    </a:solidFill>
                    <a:latin typeface="Helvetica" charset="0"/>
                    <a:ea typeface="Helvetica" charset="0"/>
                    <a:cs typeface="Helvetica" charset="0"/>
                  </a:defRPr>
                </a:pPr>
                <a:r>
                  <a:rPr lang="en-US" sz="1800" dirty="0"/>
                  <a:t>Throughput (k events/s)</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solidFill>
                  <a:latin typeface="Helvetica" charset="0"/>
                  <a:ea typeface="Helvetica" charset="0"/>
                  <a:cs typeface="Helvetica"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Helvetica" charset="0"/>
                <a:ea typeface="Helvetica" charset="0"/>
                <a:cs typeface="Helvetica" charset="0"/>
              </a:defRPr>
            </a:pPr>
            <a:endParaRPr lang="en-US"/>
          </a:p>
        </c:txPr>
        <c:crossAx val="241090992"/>
        <c:crosses val="autoZero"/>
        <c:crossBetween val="between"/>
      </c:valAx>
      <c:spPr>
        <a:noFill/>
        <a:ln w="25400">
          <a:solidFill>
            <a:schemeClr val="tx1"/>
          </a:solidFill>
        </a:ln>
        <a:effectLst/>
      </c:spPr>
    </c:plotArea>
    <c:legend>
      <c:legendPos val="t"/>
      <c:overlay val="0"/>
      <c:spPr>
        <a:noFill/>
        <a:ln w="25400">
          <a:solidFill>
            <a:schemeClr val="tx1"/>
          </a:solidFill>
        </a:ln>
        <a:effectLst/>
      </c:spPr>
      <c:txPr>
        <a:bodyPr rot="0" spcFirstLastPara="1" vertOverflow="ellipsis" vert="horz" wrap="square" anchor="ctr" anchorCtr="1"/>
        <a:lstStyle/>
        <a:p>
          <a:pPr>
            <a:defRPr sz="2000" b="0" i="0" u="none" strike="noStrike" kern="1200" baseline="0">
              <a:solidFill>
                <a:schemeClr val="tx1"/>
              </a:solidFill>
              <a:latin typeface="Helvetica" charset="0"/>
              <a:ea typeface="Helvetica" charset="0"/>
              <a:cs typeface="Helvetica" charset="0"/>
            </a:defRPr>
          </a:pPr>
          <a:endParaRPr lang="en-US"/>
        </a:p>
      </c:txPr>
    </c:legend>
    <c:plotVisOnly val="1"/>
    <c:dispBlanksAs val="gap"/>
    <c:showDLblsOverMax val="0"/>
  </c:chart>
  <c:spPr>
    <a:noFill/>
    <a:ln>
      <a:noFill/>
    </a:ln>
    <a:effectLst/>
  </c:spPr>
  <c:txPr>
    <a:bodyPr/>
    <a:lstStyle/>
    <a:p>
      <a:pPr>
        <a:defRPr sz="2000">
          <a:solidFill>
            <a:schemeClr val="tx1"/>
          </a:solidFill>
          <a:latin typeface="Helvetica" charset="0"/>
          <a:ea typeface="Helvetica" charset="0"/>
          <a:cs typeface="Helvetica" charset="0"/>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2838888383037251"/>
          <c:y val="2.8236280050867701E-2"/>
          <c:w val="0.75836947510171615"/>
          <c:h val="0.76817624312215704"/>
        </c:manualLayout>
      </c:layout>
      <c:barChart>
        <c:barDir val="col"/>
        <c:grouping val="clustered"/>
        <c:varyColors val="0"/>
        <c:ser>
          <c:idx val="1"/>
          <c:order val="0"/>
          <c:tx>
            <c:strRef>
              <c:f>'compare with StreamBox'!$B$2</c:f>
              <c:strCache>
                <c:ptCount val="1"/>
                <c:pt idx="0">
                  <c:v>BriskStream</c:v>
                </c:pt>
              </c:strCache>
            </c:strRef>
          </c:tx>
          <c:spPr>
            <a:pattFill prst="pct90">
              <a:fgClr>
                <a:sysClr val="windowText" lastClr="000000"/>
              </a:fgClr>
              <a:bgClr>
                <a:sysClr val="window" lastClr="FFFFFF"/>
              </a:bgClr>
            </a:pattFill>
            <a:ln w="19050">
              <a:solidFill>
                <a:schemeClr val="tx1"/>
              </a:solidFill>
            </a:ln>
            <a:effectLst/>
          </c:spPr>
          <c:invertIfNegative val="0"/>
          <c:cat>
            <c:numRef>
              <c:f>'compare with StreamBox'!$C$1:$I$1</c:f>
              <c:numCache>
                <c:formatCode>General</c:formatCode>
                <c:ptCount val="7"/>
                <c:pt idx="0">
                  <c:v>2</c:v>
                </c:pt>
                <c:pt idx="1">
                  <c:v>4</c:v>
                </c:pt>
                <c:pt idx="2">
                  <c:v>8</c:v>
                </c:pt>
                <c:pt idx="3">
                  <c:v>16</c:v>
                </c:pt>
                <c:pt idx="4">
                  <c:v>32</c:v>
                </c:pt>
                <c:pt idx="5">
                  <c:v>72</c:v>
                </c:pt>
                <c:pt idx="6">
                  <c:v>144</c:v>
                </c:pt>
              </c:numCache>
            </c:numRef>
          </c:cat>
          <c:val>
            <c:numRef>
              <c:f>'compare with StreamBox'!$C$2:$I$2</c:f>
              <c:numCache>
                <c:formatCode>General</c:formatCode>
                <c:ptCount val="7"/>
                <c:pt idx="0">
                  <c:v>2079.6460167518881</c:v>
                </c:pt>
                <c:pt idx="1">
                  <c:v>4159.2920335037797</c:v>
                </c:pt>
                <c:pt idx="2">
                  <c:v>8318.5840670075504</c:v>
                </c:pt>
                <c:pt idx="3">
                  <c:v>16637.168134015101</c:v>
                </c:pt>
                <c:pt idx="4">
                  <c:v>30654.518282546898</c:v>
                </c:pt>
                <c:pt idx="5">
                  <c:v>53020.955624234899</c:v>
                </c:pt>
                <c:pt idx="6">
                  <c:v>96390.832857281945</c:v>
                </c:pt>
              </c:numCache>
            </c:numRef>
          </c:val>
          <c:extLst>
            <c:ext xmlns:c16="http://schemas.microsoft.com/office/drawing/2014/chart" uri="{C3380CC4-5D6E-409C-BE32-E72D297353CC}">
              <c16:uniqueId val="{00000000-B281-4A45-BC00-0FC86427772C}"/>
            </c:ext>
          </c:extLst>
        </c:ser>
        <c:ser>
          <c:idx val="2"/>
          <c:order val="1"/>
          <c:tx>
            <c:strRef>
              <c:f>'compare with StreamBox'!$B$3</c:f>
              <c:strCache>
                <c:ptCount val="1"/>
                <c:pt idx="0">
                  <c:v>StreamBox</c:v>
                </c:pt>
              </c:strCache>
            </c:strRef>
          </c:tx>
          <c:spPr>
            <a:pattFill prst="wdDnDiag">
              <a:fgClr>
                <a:srgbClr val="E7E6E6">
                  <a:lumMod val="50000"/>
                </a:srgbClr>
              </a:fgClr>
              <a:bgClr>
                <a:sysClr val="window" lastClr="FFFFFF"/>
              </a:bgClr>
            </a:pattFill>
            <a:ln w="19050">
              <a:solidFill>
                <a:schemeClr val="tx1"/>
              </a:solidFill>
            </a:ln>
            <a:effectLst/>
          </c:spPr>
          <c:invertIfNegative val="0"/>
          <c:cat>
            <c:numRef>
              <c:f>'compare with StreamBox'!$C$1:$I$1</c:f>
              <c:numCache>
                <c:formatCode>General</c:formatCode>
                <c:ptCount val="7"/>
                <c:pt idx="0">
                  <c:v>2</c:v>
                </c:pt>
                <c:pt idx="1">
                  <c:v>4</c:v>
                </c:pt>
                <c:pt idx="2">
                  <c:v>8</c:v>
                </c:pt>
                <c:pt idx="3">
                  <c:v>16</c:v>
                </c:pt>
                <c:pt idx="4">
                  <c:v>32</c:v>
                </c:pt>
                <c:pt idx="5">
                  <c:v>72</c:v>
                </c:pt>
                <c:pt idx="6">
                  <c:v>144</c:v>
                </c:pt>
              </c:numCache>
            </c:numRef>
          </c:cat>
          <c:val>
            <c:numRef>
              <c:f>'compare with StreamBox'!$C$3:$I$3</c:f>
              <c:numCache>
                <c:formatCode>General</c:formatCode>
                <c:ptCount val="7"/>
                <c:pt idx="0">
                  <c:v>2002.88</c:v>
                </c:pt>
                <c:pt idx="1">
                  <c:v>2954.85</c:v>
                </c:pt>
                <c:pt idx="2">
                  <c:v>4010</c:v>
                </c:pt>
                <c:pt idx="3">
                  <c:v>5005</c:v>
                </c:pt>
                <c:pt idx="4">
                  <c:v>7561</c:v>
                </c:pt>
                <c:pt idx="5">
                  <c:v>6915.03</c:v>
                </c:pt>
                <c:pt idx="6">
                  <c:v>471.76</c:v>
                </c:pt>
              </c:numCache>
            </c:numRef>
          </c:val>
          <c:extLst>
            <c:ext xmlns:c16="http://schemas.microsoft.com/office/drawing/2014/chart" uri="{C3380CC4-5D6E-409C-BE32-E72D297353CC}">
              <c16:uniqueId val="{00000001-B281-4A45-BC00-0FC86427772C}"/>
            </c:ext>
          </c:extLst>
        </c:ser>
        <c:dLbls>
          <c:showLegendKey val="0"/>
          <c:showVal val="0"/>
          <c:showCatName val="0"/>
          <c:showSerName val="0"/>
          <c:showPercent val="0"/>
          <c:showBubbleSize val="0"/>
        </c:dLbls>
        <c:gapWidth val="42"/>
        <c:overlap val="-20"/>
        <c:axId val="238980256"/>
        <c:axId val="238982032"/>
      </c:barChart>
      <c:catAx>
        <c:axId val="238980256"/>
        <c:scaling>
          <c:orientation val="minMax"/>
        </c:scaling>
        <c:delete val="0"/>
        <c:axPos val="b"/>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Helvetica" charset="0"/>
                <a:ea typeface="Helvetica" charset="0"/>
                <a:cs typeface="Helvetica" charset="0"/>
              </a:defRPr>
            </a:pPr>
            <a:endParaRPr lang="en-US"/>
          </a:p>
        </c:txPr>
        <c:crossAx val="238982032"/>
        <c:crosses val="autoZero"/>
        <c:auto val="1"/>
        <c:lblAlgn val="ctr"/>
        <c:lblOffset val="100"/>
        <c:noMultiLvlLbl val="0"/>
      </c:catAx>
      <c:valAx>
        <c:axId val="238982032"/>
        <c:scaling>
          <c:orientation val="minMax"/>
          <c:max val="97000"/>
          <c:min val="0"/>
        </c:scaling>
        <c:delete val="0"/>
        <c:axPos val="l"/>
        <c:title>
          <c:tx>
            <c:rich>
              <a:bodyPr rot="-5400000" spcFirstLastPara="1" vertOverflow="ellipsis" vert="horz" wrap="square" anchor="ctr" anchorCtr="1"/>
              <a:lstStyle/>
              <a:p>
                <a:pPr>
                  <a:defRPr sz="2000" b="0" i="0" u="none" strike="noStrike" kern="1200" baseline="0">
                    <a:solidFill>
                      <a:schemeClr val="tx1"/>
                    </a:solidFill>
                    <a:latin typeface="Helvetica" charset="0"/>
                    <a:ea typeface="Helvetica" charset="0"/>
                    <a:cs typeface="Helvetica" charset="0"/>
                  </a:defRPr>
                </a:pPr>
                <a:r>
                  <a:rPr lang="en-US"/>
                  <a:t>Throughput (k events/s)</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solidFill>
                  <a:latin typeface="Helvetica" charset="0"/>
                  <a:ea typeface="Helvetica" charset="0"/>
                  <a:cs typeface="Helvetica"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solidFill>
                <a:latin typeface="Helvetica" charset="0"/>
                <a:ea typeface="Helvetica" charset="0"/>
                <a:cs typeface="Helvetica" charset="0"/>
              </a:defRPr>
            </a:pPr>
            <a:endParaRPr lang="en-US"/>
          </a:p>
        </c:txPr>
        <c:crossAx val="238980256"/>
        <c:crosses val="autoZero"/>
        <c:crossBetween val="between"/>
      </c:valAx>
      <c:spPr>
        <a:noFill/>
        <a:ln w="25400">
          <a:solidFill>
            <a:schemeClr val="tx1"/>
          </a:solidFill>
        </a:ln>
        <a:effectLst/>
      </c:spPr>
    </c:plotArea>
    <c:legend>
      <c:legendPos val="l"/>
      <c:layout>
        <c:manualLayout>
          <c:xMode val="edge"/>
          <c:yMode val="edge"/>
          <c:x val="0.24114784658957489"/>
          <c:y val="4.8525099334180505E-2"/>
          <c:w val="0.35582573357805902"/>
          <c:h val="0.32458960242108992"/>
        </c:manualLayout>
      </c:layout>
      <c:overlay val="1"/>
      <c:spPr>
        <a:noFill/>
        <a:ln w="25400">
          <a:solidFill>
            <a:schemeClr val="tx1"/>
          </a:solidFill>
        </a:ln>
        <a:effectLst/>
      </c:spPr>
      <c:txPr>
        <a:bodyPr rot="0" spcFirstLastPara="1" vertOverflow="ellipsis" vert="horz" wrap="square" anchor="ctr" anchorCtr="1"/>
        <a:lstStyle/>
        <a:p>
          <a:pPr>
            <a:defRPr sz="1600" b="0" i="0" u="none" strike="noStrike" kern="1200" baseline="0">
              <a:solidFill>
                <a:schemeClr val="tx1"/>
              </a:solidFill>
              <a:latin typeface="Helvetica" charset="0"/>
              <a:ea typeface="Helvetica" charset="0"/>
              <a:cs typeface="Helvetica" charset="0"/>
            </a:defRPr>
          </a:pPr>
          <a:endParaRPr lang="en-US"/>
        </a:p>
      </c:txPr>
    </c:legend>
    <c:plotVisOnly val="1"/>
    <c:dispBlanksAs val="gap"/>
    <c:showDLblsOverMax val="0"/>
  </c:chart>
  <c:spPr>
    <a:noFill/>
    <a:ln>
      <a:noFill/>
    </a:ln>
    <a:effectLst/>
  </c:spPr>
  <c:txPr>
    <a:bodyPr/>
    <a:lstStyle/>
    <a:p>
      <a:pPr>
        <a:defRPr sz="2000">
          <a:solidFill>
            <a:schemeClr val="tx1"/>
          </a:solidFill>
          <a:latin typeface="Helvetica" charset="0"/>
          <a:ea typeface="Helvetica" charset="0"/>
          <a:cs typeface="Helvetica" charset="0"/>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22838888383037251"/>
          <c:y val="2.8236280050867701E-2"/>
          <c:w val="0.75836947510171615"/>
          <c:h val="0.76817624312215704"/>
        </c:manualLayout>
      </c:layout>
      <c:barChart>
        <c:barDir val="col"/>
        <c:grouping val="clustered"/>
        <c:varyColors val="0"/>
        <c:ser>
          <c:idx val="1"/>
          <c:order val="0"/>
          <c:tx>
            <c:strRef>
              <c:f>'compare with StreamBox'!$B$2</c:f>
              <c:strCache>
                <c:ptCount val="1"/>
                <c:pt idx="0">
                  <c:v>BriskStream</c:v>
                </c:pt>
              </c:strCache>
            </c:strRef>
          </c:tx>
          <c:spPr>
            <a:pattFill prst="pct90">
              <a:fgClr>
                <a:sysClr val="windowText" lastClr="000000"/>
              </a:fgClr>
              <a:bgClr>
                <a:sysClr val="window" lastClr="FFFFFF"/>
              </a:bgClr>
            </a:pattFill>
            <a:ln w="19050">
              <a:solidFill>
                <a:schemeClr val="tx1"/>
              </a:solidFill>
            </a:ln>
            <a:effectLst/>
          </c:spPr>
          <c:invertIfNegative val="0"/>
          <c:cat>
            <c:numRef>
              <c:f>'compare with StreamBox'!$C$1:$I$1</c:f>
              <c:numCache>
                <c:formatCode>General</c:formatCode>
                <c:ptCount val="7"/>
                <c:pt idx="0">
                  <c:v>2</c:v>
                </c:pt>
                <c:pt idx="1">
                  <c:v>4</c:v>
                </c:pt>
                <c:pt idx="2">
                  <c:v>8</c:v>
                </c:pt>
                <c:pt idx="3">
                  <c:v>16</c:v>
                </c:pt>
                <c:pt idx="4">
                  <c:v>32</c:v>
                </c:pt>
                <c:pt idx="5">
                  <c:v>72</c:v>
                </c:pt>
                <c:pt idx="6">
                  <c:v>144</c:v>
                </c:pt>
              </c:numCache>
            </c:numRef>
          </c:cat>
          <c:val>
            <c:numRef>
              <c:f>'compare with StreamBox'!$C$2:$I$2</c:f>
              <c:numCache>
                <c:formatCode>General</c:formatCode>
                <c:ptCount val="7"/>
                <c:pt idx="0">
                  <c:v>2079.6460167518881</c:v>
                </c:pt>
                <c:pt idx="1">
                  <c:v>4159.2920335037797</c:v>
                </c:pt>
                <c:pt idx="2">
                  <c:v>8318.5840670075504</c:v>
                </c:pt>
                <c:pt idx="3">
                  <c:v>16637.168134015101</c:v>
                </c:pt>
                <c:pt idx="4">
                  <c:v>30654.518282546898</c:v>
                </c:pt>
                <c:pt idx="5">
                  <c:v>53020.955624234899</c:v>
                </c:pt>
                <c:pt idx="6">
                  <c:v>96390.832857281945</c:v>
                </c:pt>
              </c:numCache>
            </c:numRef>
          </c:val>
          <c:extLst>
            <c:ext xmlns:c16="http://schemas.microsoft.com/office/drawing/2014/chart" uri="{C3380CC4-5D6E-409C-BE32-E72D297353CC}">
              <c16:uniqueId val="{00000000-8120-AC4D-B9FD-625DE6877240}"/>
            </c:ext>
          </c:extLst>
        </c:ser>
        <c:ser>
          <c:idx val="0"/>
          <c:order val="1"/>
          <c:tx>
            <c:strRef>
              <c:f>'compare with StreamBox'!$B$4</c:f>
              <c:strCache>
                <c:ptCount val="1"/>
                <c:pt idx="0">
                  <c:v>StreamBox (out-of-order)</c:v>
                </c:pt>
              </c:strCache>
            </c:strRef>
          </c:tx>
          <c:spPr>
            <a:pattFill prst="wdUpDiag">
              <a:fgClr>
                <a:srgbClr val="E7E6E6">
                  <a:lumMod val="75000"/>
                </a:srgbClr>
              </a:fgClr>
              <a:bgClr>
                <a:sysClr val="window" lastClr="FFFFFF"/>
              </a:bgClr>
            </a:pattFill>
            <a:ln w="25400">
              <a:solidFill>
                <a:sysClr val="windowText" lastClr="000000"/>
              </a:solidFill>
            </a:ln>
            <a:effectLst/>
          </c:spPr>
          <c:invertIfNegative val="0"/>
          <c:cat>
            <c:numRef>
              <c:f>'compare with StreamBox'!$C$1:$I$1</c:f>
              <c:numCache>
                <c:formatCode>General</c:formatCode>
                <c:ptCount val="7"/>
                <c:pt idx="0">
                  <c:v>2</c:v>
                </c:pt>
                <c:pt idx="1">
                  <c:v>4</c:v>
                </c:pt>
                <c:pt idx="2">
                  <c:v>8</c:v>
                </c:pt>
                <c:pt idx="3">
                  <c:v>16</c:v>
                </c:pt>
                <c:pt idx="4">
                  <c:v>32</c:v>
                </c:pt>
                <c:pt idx="5">
                  <c:v>72</c:v>
                </c:pt>
                <c:pt idx="6">
                  <c:v>144</c:v>
                </c:pt>
              </c:numCache>
            </c:numRef>
          </c:cat>
          <c:val>
            <c:numRef>
              <c:f>'compare with StreamBox'!$C$4:$I$4</c:f>
              <c:numCache>
                <c:formatCode>General</c:formatCode>
                <c:ptCount val="7"/>
                <c:pt idx="0">
                  <c:v>10044</c:v>
                </c:pt>
                <c:pt idx="1">
                  <c:v>12341.56</c:v>
                </c:pt>
                <c:pt idx="2">
                  <c:v>18511.310000000001</c:v>
                </c:pt>
                <c:pt idx="3">
                  <c:v>37028.800000000003</c:v>
                </c:pt>
                <c:pt idx="4">
                  <c:v>37028.69</c:v>
                </c:pt>
                <c:pt idx="5">
                  <c:v>26269.74</c:v>
                </c:pt>
                <c:pt idx="6">
                  <c:v>16561.8</c:v>
                </c:pt>
              </c:numCache>
            </c:numRef>
          </c:val>
          <c:extLst>
            <c:ext xmlns:c16="http://schemas.microsoft.com/office/drawing/2014/chart" uri="{C3380CC4-5D6E-409C-BE32-E72D297353CC}">
              <c16:uniqueId val="{00000002-8120-AC4D-B9FD-625DE6877240}"/>
            </c:ext>
          </c:extLst>
        </c:ser>
        <c:dLbls>
          <c:showLegendKey val="0"/>
          <c:showVal val="0"/>
          <c:showCatName val="0"/>
          <c:showSerName val="0"/>
          <c:showPercent val="0"/>
          <c:showBubbleSize val="0"/>
        </c:dLbls>
        <c:gapWidth val="42"/>
        <c:overlap val="-20"/>
        <c:axId val="238980256"/>
        <c:axId val="238982032"/>
      </c:barChart>
      <c:catAx>
        <c:axId val="238980256"/>
        <c:scaling>
          <c:orientation val="minMax"/>
        </c:scaling>
        <c:delete val="0"/>
        <c:axPos val="b"/>
        <c:numFmt formatCode="General" sourceLinked="1"/>
        <c:majorTickMark val="out"/>
        <c:minorTickMark val="none"/>
        <c:tickLblPos val="nextTo"/>
        <c:spPr>
          <a:noFill/>
          <a:ln w="25400" cap="flat" cmpd="sng" algn="ctr">
            <a:solidFill>
              <a:schemeClr val="tx1"/>
            </a:solidFill>
            <a:round/>
          </a:ln>
          <a:effectLst/>
        </c:spPr>
        <c:txPr>
          <a:bodyPr rot="-60000000" spcFirstLastPara="1" vertOverflow="ellipsis" vert="horz" wrap="square" anchor="ctr" anchorCtr="1"/>
          <a:lstStyle/>
          <a:p>
            <a:pPr>
              <a:defRPr sz="2000" b="0" i="0" u="none" strike="noStrike" kern="1200" baseline="0">
                <a:solidFill>
                  <a:schemeClr val="tx1"/>
                </a:solidFill>
                <a:latin typeface="Helvetica" charset="0"/>
                <a:ea typeface="Helvetica" charset="0"/>
                <a:cs typeface="Helvetica" charset="0"/>
              </a:defRPr>
            </a:pPr>
            <a:endParaRPr lang="en-US"/>
          </a:p>
        </c:txPr>
        <c:crossAx val="238982032"/>
        <c:crosses val="autoZero"/>
        <c:auto val="1"/>
        <c:lblAlgn val="ctr"/>
        <c:lblOffset val="100"/>
        <c:noMultiLvlLbl val="0"/>
      </c:catAx>
      <c:valAx>
        <c:axId val="238982032"/>
        <c:scaling>
          <c:orientation val="minMax"/>
          <c:max val="97000"/>
          <c:min val="0"/>
        </c:scaling>
        <c:delete val="0"/>
        <c:axPos val="l"/>
        <c:title>
          <c:tx>
            <c:rich>
              <a:bodyPr rot="-5400000" spcFirstLastPara="1" vertOverflow="ellipsis" vert="horz" wrap="square" anchor="ctr" anchorCtr="1"/>
              <a:lstStyle/>
              <a:p>
                <a:pPr>
                  <a:defRPr sz="2000" b="0" i="0" u="none" strike="noStrike" kern="1200" baseline="0">
                    <a:solidFill>
                      <a:schemeClr val="tx1"/>
                    </a:solidFill>
                    <a:latin typeface="Helvetica" charset="0"/>
                    <a:ea typeface="Helvetica" charset="0"/>
                    <a:cs typeface="Helvetica" charset="0"/>
                  </a:defRPr>
                </a:pPr>
                <a:r>
                  <a:rPr lang="en-US"/>
                  <a:t>Throughput (k events/s)</a:t>
                </a:r>
              </a:p>
            </c:rich>
          </c:tx>
          <c:overlay val="0"/>
          <c:spPr>
            <a:noFill/>
            <a:ln>
              <a:noFill/>
            </a:ln>
            <a:effectLst/>
          </c:spPr>
          <c:txPr>
            <a:bodyPr rot="-5400000" spcFirstLastPara="1" vertOverflow="ellipsis" vert="horz" wrap="square" anchor="ctr" anchorCtr="1"/>
            <a:lstStyle/>
            <a:p>
              <a:pPr>
                <a:defRPr sz="2000" b="0" i="0" u="none" strike="noStrike" kern="1200" baseline="0">
                  <a:solidFill>
                    <a:schemeClr val="tx1"/>
                  </a:solidFill>
                  <a:latin typeface="Helvetica" charset="0"/>
                  <a:ea typeface="Helvetica" charset="0"/>
                  <a:cs typeface="Helvetica"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solidFill>
                <a:latin typeface="Helvetica" charset="0"/>
                <a:ea typeface="Helvetica" charset="0"/>
                <a:cs typeface="Helvetica" charset="0"/>
              </a:defRPr>
            </a:pPr>
            <a:endParaRPr lang="en-US"/>
          </a:p>
        </c:txPr>
        <c:crossAx val="238980256"/>
        <c:crosses val="autoZero"/>
        <c:crossBetween val="between"/>
      </c:valAx>
      <c:spPr>
        <a:noFill/>
        <a:ln w="25400">
          <a:solidFill>
            <a:schemeClr val="tx1"/>
          </a:solidFill>
        </a:ln>
        <a:effectLst/>
      </c:spPr>
    </c:plotArea>
    <c:legend>
      <c:legendPos val="l"/>
      <c:layout>
        <c:manualLayout>
          <c:xMode val="edge"/>
          <c:yMode val="edge"/>
          <c:x val="0.24114784658957489"/>
          <c:y val="4.8525099334180505E-2"/>
          <c:w val="0.50919782047165607"/>
          <c:h val="0.32458960242108992"/>
        </c:manualLayout>
      </c:layout>
      <c:overlay val="1"/>
      <c:spPr>
        <a:noFill/>
        <a:ln w="25400">
          <a:solidFill>
            <a:schemeClr val="tx1"/>
          </a:solidFill>
        </a:ln>
        <a:effectLst/>
      </c:spPr>
      <c:txPr>
        <a:bodyPr rot="0" spcFirstLastPara="1" vertOverflow="ellipsis" vert="horz" wrap="square" anchor="ctr" anchorCtr="1"/>
        <a:lstStyle/>
        <a:p>
          <a:pPr>
            <a:defRPr sz="1600" b="0" i="0" u="none" strike="noStrike" kern="1200" baseline="0">
              <a:solidFill>
                <a:schemeClr val="tx1"/>
              </a:solidFill>
              <a:latin typeface="Helvetica" charset="0"/>
              <a:ea typeface="Helvetica" charset="0"/>
              <a:cs typeface="Helvetica" charset="0"/>
            </a:defRPr>
          </a:pPr>
          <a:endParaRPr lang="en-US"/>
        </a:p>
      </c:txPr>
    </c:legend>
    <c:plotVisOnly val="1"/>
    <c:dispBlanksAs val="gap"/>
    <c:showDLblsOverMax val="0"/>
  </c:chart>
  <c:spPr>
    <a:noFill/>
    <a:ln>
      <a:noFill/>
    </a:ln>
    <a:effectLst/>
  </c:spPr>
  <c:txPr>
    <a:bodyPr/>
    <a:lstStyle/>
    <a:p>
      <a:pPr>
        <a:defRPr sz="2000">
          <a:solidFill>
            <a:schemeClr val="tx1"/>
          </a:solidFill>
          <a:latin typeface="Helvetica" charset="0"/>
          <a:ea typeface="Helvetica" charset="0"/>
          <a:cs typeface="Helvetica"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92475" cy="5095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302125" y="0"/>
            <a:ext cx="3292475" cy="509588"/>
          </a:xfrm>
          <a:prstGeom prst="rect">
            <a:avLst/>
          </a:prstGeom>
        </p:spPr>
        <p:txBody>
          <a:bodyPr vert="horz" lIns="91440" tIns="45720" rIns="91440" bIns="45720" rtlCol="0"/>
          <a:lstStyle>
            <a:lvl1pPr algn="r">
              <a:defRPr sz="1200"/>
            </a:lvl1pPr>
          </a:lstStyle>
          <a:p>
            <a:fld id="{1274C648-3956-3440-B661-357F8557CBF6}" type="datetimeFigureOut">
              <a:rPr lang="en-US" smtClean="0"/>
              <a:t>6/25/19</a:t>
            </a:fld>
            <a:endParaRPr lang="en-US"/>
          </a:p>
        </p:txBody>
      </p:sp>
      <p:sp>
        <p:nvSpPr>
          <p:cNvPr id="4" name="Slide Image Placeholder 3"/>
          <p:cNvSpPr>
            <a:spLocks noGrp="1" noRot="1" noChangeAspect="1"/>
          </p:cNvSpPr>
          <p:nvPr>
            <p:ph type="sldImg" idx="2"/>
          </p:nvPr>
        </p:nvSpPr>
        <p:spPr>
          <a:xfrm>
            <a:off x="1508125" y="1268413"/>
            <a:ext cx="4581525" cy="34274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60413" y="4886325"/>
            <a:ext cx="6076950" cy="39973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642475"/>
            <a:ext cx="3292475" cy="5095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302125" y="9642475"/>
            <a:ext cx="3292475" cy="509588"/>
          </a:xfrm>
          <a:prstGeom prst="rect">
            <a:avLst/>
          </a:prstGeom>
        </p:spPr>
        <p:txBody>
          <a:bodyPr vert="horz" lIns="91440" tIns="45720" rIns="91440" bIns="45720" rtlCol="0" anchor="b"/>
          <a:lstStyle>
            <a:lvl1pPr algn="r">
              <a:defRPr sz="1200"/>
            </a:lvl1pPr>
          </a:lstStyle>
          <a:p>
            <a:fld id="{8CD2E60E-8848-2F49-BBBA-7F27067E706A}" type="slidenum">
              <a:rPr lang="en-US" smtClean="0"/>
              <a:t>‹#›</a:t>
            </a:fld>
            <a:endParaRPr lang="en-US"/>
          </a:p>
        </p:txBody>
      </p:sp>
    </p:spTree>
    <p:extLst>
      <p:ext uri="{BB962C8B-B14F-4D97-AF65-F5344CB8AC3E}">
        <p14:creationId xmlns:p14="http://schemas.microsoft.com/office/powerpoint/2010/main" val="322445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a:t>
            </a:r>
            <a:r>
              <a:rPr lang="en-US" baseline="0" dirty="0"/>
              <a:t> t</a:t>
            </a:r>
            <a:r>
              <a:rPr lang="en-US" dirty="0"/>
              <a:t>hanks</a:t>
            </a:r>
            <a:r>
              <a:rPr lang="en-US" baseline="0" dirty="0"/>
              <a:t> for coming to my talk. I’m going to present my recent work on data stream processing system with NUMA awareness.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My name is Shuhao, and </a:t>
            </a:r>
            <a:r>
              <a:rPr lang="en-US" altLang="zh-CN" dirty="0"/>
              <a:t>this a joint</a:t>
            </a:r>
            <a:r>
              <a:rPr lang="en-US" altLang="zh-CN" baseline="0" dirty="0"/>
              <a:t> work with </a:t>
            </a:r>
            <a:r>
              <a:rPr lang="en-US" altLang="zh-CN" baseline="0" dirty="0" err="1"/>
              <a:t>Jiong</a:t>
            </a:r>
            <a:r>
              <a:rPr lang="en-US" altLang="zh-CN" baseline="0" dirty="0"/>
              <a:t> He, Amelie Chi Zhou and </a:t>
            </a:r>
            <a:r>
              <a:rPr lang="en-US" altLang="zh-CN" baseline="0" dirty="0" err="1"/>
              <a:t>BingSheng</a:t>
            </a:r>
            <a:r>
              <a:rPr lang="en-US" altLang="zh-CN" baseline="0" dirty="0"/>
              <a:t> He.</a:t>
            </a:r>
            <a:endParaRPr lang="en-US" dirty="0"/>
          </a:p>
          <a:p>
            <a:endParaRPr lang="en-US" baseline="0" dirty="0"/>
          </a:p>
          <a:p>
            <a:endParaRPr lang="en-US" baseline="0" dirty="0"/>
          </a:p>
          <a:p>
            <a:endParaRPr lang="en-US" dirty="0"/>
          </a:p>
        </p:txBody>
      </p:sp>
      <p:sp>
        <p:nvSpPr>
          <p:cNvPr id="4" name="Slide Number Placeholder 3"/>
          <p:cNvSpPr>
            <a:spLocks noGrp="1"/>
          </p:cNvSpPr>
          <p:nvPr>
            <p:ph type="sldNum" sz="quarter" idx="5"/>
          </p:nvPr>
        </p:nvSpPr>
        <p:spPr/>
        <p:txBody>
          <a:bodyPr/>
          <a:lstStyle/>
          <a:p>
            <a:fld id="{8CD2E60E-8848-2F49-BBBA-7F27067E706A}" type="slidenum">
              <a:rPr lang="en-US" smtClean="0"/>
              <a:t>1</a:t>
            </a:fld>
            <a:endParaRPr lang="en-US"/>
          </a:p>
        </p:txBody>
      </p:sp>
    </p:spTree>
    <p:extLst>
      <p:ext uri="{BB962C8B-B14F-4D97-AF65-F5344CB8AC3E}">
        <p14:creationId xmlns:p14="http://schemas.microsoft.com/office/powerpoint/2010/main" val="3749964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start with motivation of this work.</a:t>
            </a:r>
          </a:p>
          <a:p>
            <a:r>
              <a:rPr lang="en-US" dirty="0"/>
              <a:t>Then, I will briefly discuss the performance model and algorithm design of the concerned optimization problem</a:t>
            </a:r>
          </a:p>
          <a:p>
            <a:r>
              <a:rPr lang="en-US" dirty="0"/>
              <a:t>Finally, I will go through a few experimental results.</a:t>
            </a:r>
          </a:p>
        </p:txBody>
      </p:sp>
      <p:sp>
        <p:nvSpPr>
          <p:cNvPr id="4" name="Slide Number Placeholder 3"/>
          <p:cNvSpPr>
            <a:spLocks noGrp="1"/>
          </p:cNvSpPr>
          <p:nvPr>
            <p:ph type="sldNum" sz="quarter" idx="5"/>
          </p:nvPr>
        </p:nvSpPr>
        <p:spPr/>
        <p:txBody>
          <a:bodyPr/>
          <a:lstStyle/>
          <a:p>
            <a:fld id="{8CD2E60E-8848-2F49-BBBA-7F27067E706A}" type="slidenum">
              <a:rPr lang="en-US" smtClean="0"/>
              <a:t>2</a:t>
            </a:fld>
            <a:endParaRPr lang="en-US"/>
          </a:p>
        </p:txBody>
      </p:sp>
    </p:spTree>
    <p:extLst>
      <p:ext uri="{BB962C8B-B14F-4D97-AF65-F5344CB8AC3E}">
        <p14:creationId xmlns:p14="http://schemas.microsoft.com/office/powerpoint/2010/main" val="3282768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baseline="0" dirty="0">
                <a:solidFill>
                  <a:schemeClr val="tx1"/>
                </a:solidFill>
                <a:latin typeface="+mn-lt"/>
                <a:ea typeface="+mn-ea"/>
                <a:cs typeface="+mn-cs"/>
              </a:rPr>
              <a:t>There is an increasing demand for handling real-time data streams, such as stock market monitoring and IoT (Internet of Things).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baseline="0" dirty="0">
                <a:solidFill>
                  <a:schemeClr val="tx1"/>
                </a:solidFill>
                <a:latin typeface="+mn-lt"/>
                <a:ea typeface="+mn-ea"/>
                <a:cs typeface="+mn-cs"/>
              </a:rPr>
              <a:t>Many data stream processing (DSP) systems have been proposed such as Apache Storm, </a:t>
            </a:r>
            <a:r>
              <a:rPr lang="en-US" altLang="zh-CN" dirty="0"/>
              <a:t>Twitter </a:t>
            </a:r>
            <a:r>
              <a:rPr lang="en-US" altLang="zh-CN" sz="1200" b="0" i="0" u="none" strike="noStrike" kern="1200" baseline="0" dirty="0">
                <a:solidFill>
                  <a:schemeClr val="tx1"/>
                </a:solidFill>
                <a:latin typeface="+mn-lt"/>
                <a:ea typeface="+mn-ea"/>
                <a:cs typeface="+mn-cs"/>
              </a:rPr>
              <a:t>Heron and Apache Flink and so on.</a:t>
            </a:r>
          </a:p>
          <a:p>
            <a:endParaRPr lang="en-US" dirty="0"/>
          </a:p>
          <a:p>
            <a:endParaRPr lang="en-US" dirty="0"/>
          </a:p>
        </p:txBody>
      </p:sp>
      <p:sp>
        <p:nvSpPr>
          <p:cNvPr id="4" name="Slide Number Placeholder 3"/>
          <p:cNvSpPr>
            <a:spLocks noGrp="1"/>
          </p:cNvSpPr>
          <p:nvPr>
            <p:ph type="sldNum" sz="quarter" idx="5"/>
          </p:nvPr>
        </p:nvSpPr>
        <p:spPr/>
        <p:txBody>
          <a:bodyPr/>
          <a:lstStyle/>
          <a:p>
            <a:fld id="{8CD2E60E-8848-2F49-BBBA-7F27067E706A}" type="slidenum">
              <a:rPr lang="en-US" smtClean="0"/>
              <a:t>3</a:t>
            </a:fld>
            <a:endParaRPr lang="en-US"/>
          </a:p>
        </p:txBody>
      </p:sp>
    </p:spTree>
    <p:extLst>
      <p:ext uri="{BB962C8B-B14F-4D97-AF65-F5344CB8AC3E}">
        <p14:creationId xmlns:p14="http://schemas.microsoft.com/office/powerpoint/2010/main" val="18466542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Multicore architectures have attracted many researches including DSPSs.</a:t>
            </a:r>
          </a:p>
          <a:p>
            <a:r>
              <a:rPr lang="en-US" sz="1200" dirty="0"/>
              <a:t>Fully exploiting its computation power can be challenging.</a:t>
            </a:r>
            <a:endParaRPr lang="en-US" dirty="0"/>
          </a:p>
        </p:txBody>
      </p:sp>
      <p:sp>
        <p:nvSpPr>
          <p:cNvPr id="4" name="Slide Number Placeholder 3"/>
          <p:cNvSpPr>
            <a:spLocks noGrp="1"/>
          </p:cNvSpPr>
          <p:nvPr>
            <p:ph type="sldNum" sz="quarter" idx="5"/>
          </p:nvPr>
        </p:nvSpPr>
        <p:spPr/>
        <p:txBody>
          <a:bodyPr/>
          <a:lstStyle/>
          <a:p>
            <a:fld id="{8CD2E60E-8848-2F49-BBBA-7F27067E706A}" type="slidenum">
              <a:rPr lang="en-US" smtClean="0"/>
              <a:t>4</a:t>
            </a:fld>
            <a:endParaRPr lang="en-US"/>
          </a:p>
        </p:txBody>
      </p:sp>
    </p:spTree>
    <p:extLst>
      <p:ext uri="{BB962C8B-B14F-4D97-AF65-F5344CB8AC3E}">
        <p14:creationId xmlns:p14="http://schemas.microsoft.com/office/powerpoint/2010/main" val="4162248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dirty="0"/>
              <a:t>A </a:t>
            </a:r>
            <a:r>
              <a:rPr lang="en-US" altLang="zh-CN" dirty="0"/>
              <a:t>streaming application is represented by a graph,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where nodes in the graph represent operators, and </a:t>
            </a:r>
            <a:r>
              <a:rPr lang="en-US" altLang="zh-CN" dirty="0" err="1"/>
              <a:t>edges【click</a:t>
            </a:r>
            <a:r>
              <a:rPr lang="en-US" altLang="zh-CN" dirty="0"/>
              <a:t>】 represent the data dependency </a:t>
            </a:r>
            <a:r>
              <a:rPr lang="en-GB" altLang="zh-CN" dirty="0"/>
              <a:t>between operators.</a:t>
            </a:r>
            <a:r>
              <a:rPr lang="en-US" altLang="zh-CN" dirty="0"/>
              <a:t>【</a:t>
            </a:r>
            <a:r>
              <a:rPr lang="en-US" altLang="zh-CN" dirty="0" err="1"/>
              <a:t>click】Each</a:t>
            </a:r>
            <a:r>
              <a:rPr lang="en-US" altLang="zh-CN" baseline="0" dirty="0"/>
              <a:t> operator executes independently and continuously perform</a:t>
            </a:r>
            <a:r>
              <a:rPr lang="en-US" altLang="zh-CN" dirty="0"/>
              <a:t> </a:t>
            </a:r>
            <a:r>
              <a:rPr lang="en-US" altLang="zh-CN" baseline="0" dirty="0"/>
              <a:t>fetch, process and output operations in a pipelining way.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altLang="zh-CN" dirty="0"/>
          </a:p>
        </p:txBody>
      </p:sp>
      <p:sp>
        <p:nvSpPr>
          <p:cNvPr id="4" name="Slide Number Placeholder 3"/>
          <p:cNvSpPr>
            <a:spLocks noGrp="1"/>
          </p:cNvSpPr>
          <p:nvPr>
            <p:ph type="sldNum" sz="quarter" idx="10"/>
          </p:nvPr>
        </p:nvSpPr>
        <p:spPr/>
        <p:txBody>
          <a:bodyPr/>
          <a:lstStyle/>
          <a:p>
            <a:fld id="{8CC97D51-C29A-4204-BCA9-7887F111546D}" type="slidenum">
              <a:rPr lang="en-US" smtClean="0"/>
              <a:t>5</a:t>
            </a:fld>
            <a:endParaRPr lang="en-US"/>
          </a:p>
        </p:txBody>
      </p:sp>
    </p:spTree>
    <p:extLst>
      <p:ext uri="{BB962C8B-B14F-4D97-AF65-F5344CB8AC3E}">
        <p14:creationId xmlns:p14="http://schemas.microsoft.com/office/powerpoint/2010/main" val="944156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4000" i="0" dirty="0">
                <a:solidFill>
                  <a:srgbClr val="FF0000"/>
                </a:solidFill>
                <a:latin typeface="Helvetica" pitchFamily="2" charset="0"/>
              </a:rPr>
              <a:t>The left figure shows the logical view of WC</a:t>
            </a:r>
          </a:p>
          <a:p>
            <a:r>
              <a:rPr lang="en-US" altLang="zh-CN" sz="4000" i="0" dirty="0">
                <a:solidFill>
                  <a:srgbClr val="FF0000"/>
                </a:solidFill>
                <a:latin typeface="Helvetica" pitchFamily="2" charset="0"/>
              </a:rPr>
              <a:t>What is the optimal replication?</a:t>
            </a:r>
            <a:endParaRPr lang="en-US" sz="4000" i="0" dirty="0">
              <a:solidFill>
                <a:srgbClr val="FF0000"/>
              </a:solidFill>
              <a:latin typeface="Helvetica" pitchFamily="2" charset="0"/>
            </a:endParaRPr>
          </a:p>
          <a:p>
            <a:r>
              <a:rPr lang="en-US" sz="4000" i="0" dirty="0">
                <a:solidFill>
                  <a:srgbClr val="FF0000"/>
                </a:solidFill>
                <a:latin typeface="Helvetica" pitchFamily="2" charset="0"/>
              </a:rPr>
              <a:t>What is the optimal way to allocate each replica instance?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3600" dirty="0"/>
          </a:p>
        </p:txBody>
      </p:sp>
      <p:sp>
        <p:nvSpPr>
          <p:cNvPr id="4" name="Slide Number Placeholder 3"/>
          <p:cNvSpPr>
            <a:spLocks noGrp="1"/>
          </p:cNvSpPr>
          <p:nvPr>
            <p:ph type="sldNum" sz="quarter" idx="10"/>
          </p:nvPr>
        </p:nvSpPr>
        <p:spPr/>
        <p:txBody>
          <a:bodyPr/>
          <a:lstStyle/>
          <a:p>
            <a:fld id="{8CC97D51-C29A-4204-BCA9-7887F111546D}" type="slidenum">
              <a:rPr lang="en-US" smtClean="0"/>
              <a:t>6</a:t>
            </a:fld>
            <a:endParaRPr lang="en-US"/>
          </a:p>
        </p:txBody>
      </p:sp>
    </p:spTree>
    <p:extLst>
      <p:ext uri="{BB962C8B-B14F-4D97-AF65-F5344CB8AC3E}">
        <p14:creationId xmlns:p14="http://schemas.microsoft.com/office/powerpoint/2010/main" val="756838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0" i="0" u="none" strike="noStrike" kern="1200" baseline="0" dirty="0">
                <a:solidFill>
                  <a:schemeClr val="tx1"/>
                </a:solidFill>
                <a:latin typeface="+mn-lt"/>
                <a:ea typeface="+mn-ea"/>
                <a:cs typeface="+mn-cs"/>
              </a:rPr>
              <a:t>Let us first zoom into the system design of most common DSPSs.</a:t>
            </a:r>
          </a:p>
          <a:p>
            <a:endParaRPr lang="en-US" altLang="zh-CN" sz="1200" b="0" i="0" u="none" strike="noStrike" kern="1200" baseline="0" dirty="0">
              <a:solidFill>
                <a:schemeClr val="tx1"/>
              </a:solidFill>
              <a:latin typeface="+mn-lt"/>
              <a:ea typeface="+mn-ea"/>
              <a:cs typeface="+mn-cs"/>
            </a:endParaRPr>
          </a:p>
          <a:p>
            <a:r>
              <a:rPr lang="en-US" altLang="zh-CN" sz="1200" b="0" i="0" u="none" strike="noStrike" kern="1200" baseline="0" dirty="0">
                <a:solidFill>
                  <a:schemeClr val="tx1"/>
                </a:solidFill>
                <a:latin typeface="+mn-lt"/>
                <a:ea typeface="+mn-ea"/>
                <a:cs typeface="+mn-cs"/>
              </a:rPr>
              <a:t>This figure explains how the message passing between operators are achieved in a shared memory environment.</a:t>
            </a:r>
          </a:p>
          <a:p>
            <a:endParaRPr lang="en-US" altLang="zh-CN" sz="1200" b="0" i="0" u="none" strike="noStrike" kern="1200" baseline="0" dirty="0">
              <a:solidFill>
                <a:schemeClr val="tx1"/>
              </a:solidFill>
              <a:latin typeface="+mn-lt"/>
              <a:ea typeface="+mn-ea"/>
              <a:cs typeface="+mn-cs"/>
            </a:endParaRPr>
          </a:p>
          <a:p>
            <a:r>
              <a:rPr lang="en-US" altLang="zh-CN" sz="1200" b="0" i="0" u="none" strike="noStrike" kern="1200" baseline="0" dirty="0">
                <a:solidFill>
                  <a:schemeClr val="tx1"/>
                </a:solidFill>
                <a:latin typeface="+mn-lt"/>
                <a:ea typeface="+mn-ea"/>
                <a:cs typeface="+mn-cs"/>
              </a:rPr>
              <a:t>[Click] In this example, there are two operators, which are denoted as producer and consumer.</a:t>
            </a:r>
          </a:p>
          <a:p>
            <a:endParaRPr lang="en-US" altLang="zh-CN" sz="1200" b="0" i="0" u="none" strike="noStrike" kern="1200" baseline="0" dirty="0">
              <a:solidFill>
                <a:schemeClr val="tx1"/>
              </a:solidFill>
              <a:latin typeface="+mn-lt"/>
              <a:ea typeface="+mn-ea"/>
              <a:cs typeface="+mn-cs"/>
            </a:endParaRPr>
          </a:p>
          <a:p>
            <a:r>
              <a:rPr lang="en-US" altLang="zh-CN" sz="1200" b="0" i="0" u="none" strike="noStrike" kern="1200" baseline="0" dirty="0">
                <a:solidFill>
                  <a:schemeClr val="tx1"/>
                </a:solidFill>
                <a:latin typeface="+mn-lt"/>
                <a:ea typeface="+mn-ea"/>
                <a:cs typeface="+mn-cs"/>
              </a:rPr>
              <a:t>[Click] The producer first writes its output data to the local memory</a:t>
            </a:r>
          </a:p>
          <a:p>
            <a:r>
              <a:rPr lang="en-US" altLang="zh-CN" sz="1200" b="0" i="0" u="none" strike="noStrike" kern="1200" baseline="0" dirty="0">
                <a:solidFill>
                  <a:schemeClr val="tx1"/>
                </a:solidFill>
                <a:latin typeface="+mn-lt"/>
                <a:ea typeface="+mn-ea"/>
                <a:cs typeface="+mn-cs"/>
              </a:rPr>
              <a:t>and [Click] emits a tuple containing a reference to the output data to its output queue</a:t>
            </a:r>
          </a:p>
          <a:p>
            <a:r>
              <a:rPr lang="en-US" altLang="zh-CN" sz="1200" b="0" i="0" u="none" strike="noStrike" kern="1200" baseline="0" dirty="0">
                <a:solidFill>
                  <a:schemeClr val="tx1"/>
                </a:solidFill>
                <a:latin typeface="+mn-lt"/>
                <a:ea typeface="+mn-ea"/>
                <a:cs typeface="+mn-cs"/>
              </a:rPr>
              <a:t> </a:t>
            </a:r>
          </a:p>
          <a:p>
            <a:r>
              <a:rPr lang="en-US" altLang="zh-CN" sz="1200" b="0" i="0" u="none" strike="noStrike" kern="1200" baseline="0" dirty="0">
                <a:solidFill>
                  <a:schemeClr val="tx1"/>
                </a:solidFill>
                <a:latin typeface="+mn-lt"/>
                <a:ea typeface="+mn-ea"/>
                <a:cs typeface="+mn-cs"/>
              </a:rPr>
              <a:t>[Click] The consumer fetches from the corresponding queue to obtain the tuple and </a:t>
            </a:r>
          </a:p>
          <a:p>
            <a:r>
              <a:rPr lang="en-US" altLang="zh-CN" sz="1200" b="0" i="0" u="none" strike="noStrike" kern="1200" baseline="0" dirty="0">
                <a:solidFill>
                  <a:schemeClr val="tx1"/>
                </a:solidFill>
                <a:latin typeface="+mn-lt"/>
                <a:ea typeface="+mn-ea"/>
                <a:cs typeface="+mn-cs"/>
              </a:rPr>
              <a:t>then [Click] accesses the data by the </a:t>
            </a:r>
            <a:r>
              <a:rPr lang="en-GB" altLang="zh-CN" sz="1200" b="0" i="0" u="none" strike="noStrike" kern="1200" baseline="0" dirty="0">
                <a:solidFill>
                  <a:schemeClr val="tx1"/>
                </a:solidFill>
                <a:latin typeface="+mn-lt"/>
                <a:ea typeface="+mn-ea"/>
                <a:cs typeface="+mn-cs"/>
              </a:rPr>
              <a:t>reference.</a:t>
            </a:r>
          </a:p>
          <a:p>
            <a:endParaRPr lang="en-GB" altLang="zh-CN" sz="1200" b="0" i="0" u="none" strike="noStrike" kern="1200" baseline="0" dirty="0">
              <a:solidFill>
                <a:schemeClr val="tx1"/>
              </a:solidFill>
              <a:latin typeface="+mn-lt"/>
              <a:ea typeface="+mn-ea"/>
              <a:cs typeface="+mn-cs"/>
            </a:endParaRPr>
          </a:p>
          <a:p>
            <a:r>
              <a:rPr lang="en-US" altLang="zh-CN" dirty="0"/>
              <a:t>Now we see it is obvious that the data fetch of consumer will be much faster if it is allocated in the same socket of producer than if it is allocated in other sockets.</a:t>
            </a:r>
            <a:endParaRPr lang="zh-CN" altLang="en-US" dirty="0"/>
          </a:p>
        </p:txBody>
      </p:sp>
      <p:sp>
        <p:nvSpPr>
          <p:cNvPr id="4" name="Slide Number Placeholder 3"/>
          <p:cNvSpPr>
            <a:spLocks noGrp="1"/>
          </p:cNvSpPr>
          <p:nvPr>
            <p:ph type="sldNum" sz="quarter" idx="10"/>
          </p:nvPr>
        </p:nvSpPr>
        <p:spPr/>
        <p:txBody>
          <a:bodyPr/>
          <a:lstStyle/>
          <a:p>
            <a:fld id="{8CC97D51-C29A-4204-BCA9-7887F111546D}" type="slidenum">
              <a:rPr lang="en-US" smtClean="0"/>
              <a:t>7</a:t>
            </a:fld>
            <a:endParaRPr lang="en-US"/>
          </a:p>
        </p:txBody>
      </p:sp>
    </p:spTree>
    <p:extLst>
      <p:ext uri="{BB962C8B-B14F-4D97-AF65-F5344CB8AC3E}">
        <p14:creationId xmlns:p14="http://schemas.microsoft.com/office/powerpoint/2010/main" val="714003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first discuss the performance model of RLAS.</a:t>
            </a:r>
          </a:p>
        </p:txBody>
      </p:sp>
      <p:sp>
        <p:nvSpPr>
          <p:cNvPr id="4" name="Slide Number Placeholder 3"/>
          <p:cNvSpPr>
            <a:spLocks noGrp="1"/>
          </p:cNvSpPr>
          <p:nvPr>
            <p:ph type="sldNum" sz="quarter" idx="5"/>
          </p:nvPr>
        </p:nvSpPr>
        <p:spPr/>
        <p:txBody>
          <a:bodyPr/>
          <a:lstStyle/>
          <a:p>
            <a:fld id="{8CD2E60E-8848-2F49-BBBA-7F27067E706A}" type="slidenum">
              <a:rPr lang="en-US" smtClean="0"/>
              <a:t>8</a:t>
            </a:fld>
            <a:endParaRPr lang="en-US"/>
          </a:p>
        </p:txBody>
      </p:sp>
    </p:spTree>
    <p:extLst>
      <p:ext uri="{BB962C8B-B14F-4D97-AF65-F5344CB8AC3E}">
        <p14:creationId xmlns:p14="http://schemas.microsoft.com/office/powerpoint/2010/main" val="4156209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Let me use </a:t>
            </a:r>
            <a:r>
              <a:rPr lang="en-US" altLang="zh-CN" dirty="0" err="1"/>
              <a:t>ri</a:t>
            </a:r>
            <a:r>
              <a:rPr lang="en-US" altLang="zh-CN" dirty="0"/>
              <a:t> and </a:t>
            </a:r>
            <a:r>
              <a:rPr lang="en-US" altLang="zh-CN" dirty="0" err="1"/>
              <a:t>ro</a:t>
            </a:r>
            <a:r>
              <a:rPr lang="en-US" altLang="zh-CN" dirty="0"/>
              <a:t> to denote input and output rate of each operator.</a:t>
            </a:r>
          </a:p>
          <a:p>
            <a:r>
              <a:rPr lang="en-US" altLang="zh-CN" dirty="0"/>
              <a:t>Then, </a:t>
            </a:r>
          </a:p>
          <a:p>
            <a:pPr marL="342900" lvl="0" indent="-342900">
              <a:buFont typeface="Arial" charset="0"/>
              <a:buChar char="•"/>
            </a:pPr>
            <a:r>
              <a:rPr lang="en-US" sz="2400" dirty="0" err="1">
                <a:latin typeface="Helvetica" charset="0"/>
                <a:ea typeface="Helvetica" charset="0"/>
                <a:cs typeface="Helvetica" charset="0"/>
              </a:rPr>
              <a:t>r</a:t>
            </a:r>
            <a:r>
              <a:rPr lang="en-US" sz="2400" baseline="-25000" dirty="0" err="1">
                <a:latin typeface="Helvetica" charset="0"/>
                <a:ea typeface="Helvetica" charset="0"/>
                <a:cs typeface="Helvetica" charset="0"/>
              </a:rPr>
              <a:t>o</a:t>
            </a:r>
            <a:r>
              <a:rPr lang="en-US" sz="2400" dirty="0">
                <a:latin typeface="Helvetica" charset="0"/>
                <a:ea typeface="Helvetica" charset="0"/>
                <a:cs typeface="Helvetica" charset="0"/>
              </a:rPr>
              <a:t> is related to its </a:t>
            </a:r>
            <a:r>
              <a:rPr lang="en-US" sz="2400" u="sng" dirty="0">
                <a:latin typeface="Helvetica" charset="0"/>
                <a:ea typeface="Helvetica" charset="0"/>
                <a:cs typeface="Helvetica" charset="0"/>
              </a:rPr>
              <a:t>processing speed </a:t>
            </a:r>
            <a:r>
              <a:rPr lang="en-US" sz="2400" dirty="0">
                <a:latin typeface="Helvetica" charset="0"/>
                <a:ea typeface="Helvetica" charset="0"/>
                <a:cs typeface="Helvetica" charset="0"/>
              </a:rPr>
              <a:t>as well as its </a:t>
            </a:r>
            <a:r>
              <a:rPr lang="en-US" sz="2400" u="sng" dirty="0">
                <a:latin typeface="Helvetica" charset="0"/>
                <a:ea typeface="Helvetica" charset="0"/>
                <a:cs typeface="Helvetica" charset="0"/>
              </a:rPr>
              <a:t>input rate</a:t>
            </a:r>
            <a:r>
              <a:rPr lang="en-US" sz="2400" dirty="0">
                <a:latin typeface="Helvetica" charset="0"/>
                <a:ea typeface="Helvetica" charset="0"/>
                <a:cs typeface="Helvetica" charset="0"/>
              </a:rPr>
              <a:t>.</a:t>
            </a:r>
          </a:p>
          <a:p>
            <a:pPr marL="342900" lvl="0" indent="-342900">
              <a:buFont typeface="Arial" charset="0"/>
              <a:buChar char="•"/>
            </a:pPr>
            <a:r>
              <a:rPr lang="en-US" sz="2400" dirty="0" err="1">
                <a:latin typeface="Helvetica" charset="0"/>
                <a:ea typeface="Helvetica" charset="0"/>
                <a:cs typeface="Helvetica" charset="0"/>
              </a:rPr>
              <a:t>r</a:t>
            </a:r>
            <a:r>
              <a:rPr lang="en-US" sz="2400" baseline="-25000" dirty="0" err="1">
                <a:latin typeface="Helvetica" charset="0"/>
                <a:ea typeface="Helvetica" charset="0"/>
                <a:cs typeface="Helvetica" charset="0"/>
              </a:rPr>
              <a:t>i</a:t>
            </a:r>
            <a:r>
              <a:rPr lang="en-US" sz="2400" dirty="0">
                <a:latin typeface="Helvetica" charset="0"/>
                <a:ea typeface="Helvetica" charset="0"/>
                <a:cs typeface="Helvetica" charset="0"/>
              </a:rPr>
              <a:t> is related to output rate of upstream operators.</a:t>
            </a:r>
            <a:endParaRPr lang="it-IT" sz="2400" dirty="0">
              <a:latin typeface="Helvetica" charset="0"/>
              <a:ea typeface="Helvetica" charset="0"/>
              <a:cs typeface="Helvetica" charset="0"/>
            </a:endParaRPr>
          </a:p>
          <a:p>
            <a:endParaRPr lang="en-US" altLang="zh-CN" dirty="0"/>
          </a:p>
        </p:txBody>
      </p:sp>
      <p:sp>
        <p:nvSpPr>
          <p:cNvPr id="4" name="Slide Number Placeholder 3"/>
          <p:cNvSpPr>
            <a:spLocks noGrp="1"/>
          </p:cNvSpPr>
          <p:nvPr>
            <p:ph type="sldNum" sz="quarter" idx="10"/>
          </p:nvPr>
        </p:nvSpPr>
        <p:spPr/>
        <p:txBody>
          <a:bodyPr/>
          <a:lstStyle/>
          <a:p>
            <a:fld id="{8CC97D51-C29A-4204-BCA9-7887F111546D}" type="slidenum">
              <a:rPr lang="en-US" smtClean="0"/>
              <a:t>9</a:t>
            </a:fld>
            <a:endParaRPr lang="en-US"/>
          </a:p>
        </p:txBody>
      </p:sp>
    </p:spTree>
    <p:extLst>
      <p:ext uri="{BB962C8B-B14F-4D97-AF65-F5344CB8AC3E}">
        <p14:creationId xmlns:p14="http://schemas.microsoft.com/office/powerpoint/2010/main" val="3974215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14:m>
                  <m:oMath xmlns:m="http://schemas.openxmlformats.org/officeDocument/2006/math">
                    <m:r>
                      <m:rPr>
                        <m:sty m:val="p"/>
                      </m:rPr>
                      <a:rPr lang="en-US" sz="1200" b="0" i="0" dirty="0" smtClean="0">
                        <a:solidFill>
                          <a:srgbClr val="003399"/>
                        </a:solidFill>
                        <a:latin typeface="Cambria Math" panose="02040503050406030204" pitchFamily="18" charset="0"/>
                      </a:rPr>
                      <m:t>Intitively</m:t>
                    </m:r>
                    <m:r>
                      <a:rPr lang="en-US" sz="1200" b="0" i="0" dirty="0" smtClean="0">
                        <a:solidFill>
                          <a:srgbClr val="003399"/>
                        </a:solidFill>
                        <a:latin typeface="Cambria Math" panose="02040503050406030204" pitchFamily="18" charset="0"/>
                      </a:rPr>
                      <m:t>,  </m:t>
                    </m:r>
                    <m:r>
                      <a:rPr lang="it-IT" sz="1200" dirty="0" smtClean="0">
                        <a:solidFill>
                          <a:srgbClr val="003399"/>
                        </a:solidFill>
                        <a:latin typeface="Cambria Math" panose="02040503050406030204" pitchFamily="18" charset="0"/>
                      </a:rPr>
                      <m:t>𝑟</m:t>
                    </m:r>
                    <m:r>
                      <a:rPr lang="it-IT" sz="1200" baseline="-25000" dirty="0">
                        <a:solidFill>
                          <a:srgbClr val="003399"/>
                        </a:solidFill>
                        <a:latin typeface="Cambria Math" panose="02040503050406030204" pitchFamily="18" charset="0"/>
                      </a:rPr>
                      <m:t>𝑜</m:t>
                    </m:r>
                  </m:oMath>
                </a14:m>
                <a:r>
                  <a:rPr lang="it-IT" sz="1200" dirty="0">
                    <a:solidFill>
                      <a:srgbClr val="003399"/>
                    </a:solidFill>
                    <a:latin typeface="+mn-lt"/>
                  </a:rPr>
                  <a:t> can be estimate </a:t>
                </a:r>
                <a:r>
                  <a:rPr lang="en-US" sz="1200" dirty="0">
                    <a:solidFill>
                      <a:srgbClr val="003399"/>
                    </a:solidFill>
                    <a:latin typeface="+mn-lt"/>
                  </a:rPr>
                  <a:t>as</a:t>
                </a:r>
                <a:r>
                  <a:rPr lang="it-IT" sz="1200" dirty="0">
                    <a:solidFill>
                      <a:srgbClr val="003399"/>
                    </a:solidFill>
                    <a:latin typeface="+mn-lt"/>
                  </a:rPr>
                  <a:t> </a:t>
                </a:r>
                <a:r>
                  <a:rPr lang="en-US" sz="1200" dirty="0">
                    <a:solidFill>
                      <a:srgbClr val="003399"/>
                    </a:solidFill>
                    <a:latin typeface="+mn-lt"/>
                  </a:rPr>
                  <a:t>number</a:t>
                </a:r>
                <a:r>
                  <a:rPr lang="en-US" sz="1200" baseline="0" dirty="0">
                    <a:solidFill>
                      <a:srgbClr val="003399"/>
                    </a:solidFill>
                    <a:latin typeface="+mn-lt"/>
                  </a:rPr>
                  <a:t> of </a:t>
                </a:r>
                <a:r>
                  <a:rPr lang="en-US" altLang="zh-CN" sz="1200" dirty="0">
                    <a:solidFill>
                      <a:srgbClr val="003399"/>
                    </a:solidFill>
                    <a:latin typeface="+mn-lt"/>
                  </a:rPr>
                  <a:t>tuples processed</a:t>
                </a:r>
                <a:r>
                  <a:rPr lang="en-US" altLang="zh-CN" sz="1200" baseline="0" dirty="0">
                    <a:solidFill>
                      <a:srgbClr val="003399"/>
                    </a:solidFill>
                    <a:latin typeface="+mn-lt"/>
                  </a:rPr>
                  <a:t> </a:t>
                </a:r>
                <a:r>
                  <a:rPr lang="en-US" altLang="zh-CN" sz="1200" dirty="0">
                    <a:solidFill>
                      <a:srgbClr val="003399"/>
                    </a:solidFill>
                    <a:latin typeface="+mn-lt"/>
                  </a:rPr>
                  <a:t>/ time needed to process them.</a:t>
                </a:r>
              </a:p>
              <a:p>
                <a:r>
                  <a:rPr lang="en-US" dirty="0"/>
                  <a:t>Then, consider an arbitrary observation time t,  </a:t>
                </a:r>
              </a:p>
              <a:p>
                <a:r>
                  <a:rPr lang="en-US" dirty="0"/>
                  <a:t>N is the aggregated inputs from all producers during t, and </a:t>
                </a:r>
                <a:r>
                  <a:rPr lang="en-US" dirty="0" err="1"/>
                  <a:t>tp</a:t>
                </a:r>
                <a:r>
                  <a:rPr lang="en-US" dirty="0"/>
                  <a:t> is the aggregated execution time for processing all tuples by that operator.</a:t>
                </a:r>
                <a:endParaRPr lang="en-US" altLang="zh-CN" dirty="0"/>
              </a:p>
              <a:p>
                <a:r>
                  <a:rPr lang="en-US" altLang="zh-CN" dirty="0"/>
                  <a:t>Capital TP stands for average time spend on each tuple, and it is varying on different execution plans.</a:t>
                </a:r>
              </a:p>
            </p:txBody>
          </p:sp>
        </mc:Choice>
        <mc:Fallback>
          <p:sp>
            <p:nvSpPr>
              <p:cNvPr id="3" name="Notes Placeholder 2"/>
              <p:cNvSpPr>
                <a:spLocks noGrp="1"/>
              </p:cNvSpPr>
              <p:nvPr>
                <p:ph type="body" idx="1"/>
              </p:nvPr>
            </p:nvSpPr>
            <p:spPr/>
            <p:txBody>
              <a:bodyPr/>
              <a:lstStyle/>
              <a:p>
                <a:r>
                  <a:rPr lang="en-US" sz="1200" b="0" i="0" dirty="0">
                    <a:solidFill>
                      <a:srgbClr val="003399"/>
                    </a:solidFill>
                    <a:latin typeface="Cambria Math" panose="02040503050406030204" pitchFamily="18" charset="0"/>
                  </a:rPr>
                  <a:t>Intitively,  </a:t>
                </a:r>
                <a:r>
                  <a:rPr lang="it-IT" sz="1200" i="0" dirty="0">
                    <a:solidFill>
                      <a:srgbClr val="003399"/>
                    </a:solidFill>
                    <a:latin typeface="Cambria Math" panose="02040503050406030204" pitchFamily="18" charset="0"/>
                  </a:rPr>
                  <a:t>𝑟</a:t>
                </a:r>
                <a:r>
                  <a:rPr lang="it-IT" sz="1200" i="0" baseline="-25000" dirty="0">
                    <a:solidFill>
                      <a:srgbClr val="003399"/>
                    </a:solidFill>
                    <a:latin typeface="Cambria Math" panose="02040503050406030204" pitchFamily="18" charset="0"/>
                  </a:rPr>
                  <a:t>𝑜</a:t>
                </a:r>
                <a:r>
                  <a:rPr lang="it-IT" sz="1200" dirty="0">
                    <a:solidFill>
                      <a:srgbClr val="003399"/>
                    </a:solidFill>
                    <a:latin typeface="+mn-lt"/>
                  </a:rPr>
                  <a:t> can be estimate </a:t>
                </a:r>
                <a:r>
                  <a:rPr lang="en-US" sz="1200" dirty="0">
                    <a:solidFill>
                      <a:srgbClr val="003399"/>
                    </a:solidFill>
                    <a:latin typeface="+mn-lt"/>
                  </a:rPr>
                  <a:t>as</a:t>
                </a:r>
                <a:r>
                  <a:rPr lang="it-IT" sz="1200" dirty="0">
                    <a:solidFill>
                      <a:srgbClr val="003399"/>
                    </a:solidFill>
                    <a:latin typeface="+mn-lt"/>
                  </a:rPr>
                  <a:t> </a:t>
                </a:r>
                <a:r>
                  <a:rPr lang="en-US" sz="1200" dirty="0">
                    <a:solidFill>
                      <a:srgbClr val="003399"/>
                    </a:solidFill>
                    <a:latin typeface="+mn-lt"/>
                  </a:rPr>
                  <a:t>number</a:t>
                </a:r>
                <a:r>
                  <a:rPr lang="en-US" sz="1200" baseline="0" dirty="0">
                    <a:solidFill>
                      <a:srgbClr val="003399"/>
                    </a:solidFill>
                    <a:latin typeface="+mn-lt"/>
                  </a:rPr>
                  <a:t> of </a:t>
                </a:r>
                <a:r>
                  <a:rPr lang="en-US" altLang="zh-CN" sz="1200" dirty="0">
                    <a:solidFill>
                      <a:srgbClr val="003399"/>
                    </a:solidFill>
                    <a:latin typeface="+mn-lt"/>
                  </a:rPr>
                  <a:t>tuples processed</a:t>
                </a:r>
                <a:r>
                  <a:rPr lang="en-US" altLang="zh-CN" sz="1200" baseline="0" dirty="0">
                    <a:solidFill>
                      <a:srgbClr val="003399"/>
                    </a:solidFill>
                    <a:latin typeface="+mn-lt"/>
                  </a:rPr>
                  <a:t> </a:t>
                </a:r>
                <a:r>
                  <a:rPr lang="en-US" altLang="zh-CN" sz="1200" dirty="0">
                    <a:solidFill>
                      <a:srgbClr val="003399"/>
                    </a:solidFill>
                    <a:latin typeface="+mn-lt"/>
                  </a:rPr>
                  <a:t>/ time needed to process them.</a:t>
                </a:r>
              </a:p>
              <a:p>
                <a:r>
                  <a:rPr lang="en-US" dirty="0"/>
                  <a:t>Then, consider an arbitrary observation time t,  </a:t>
                </a:r>
              </a:p>
              <a:p>
                <a:r>
                  <a:rPr lang="en-US" dirty="0"/>
                  <a:t>N is the aggregated inputs from all producers during t, and </a:t>
                </a:r>
                <a:r>
                  <a:rPr lang="en-US" dirty="0" err="1"/>
                  <a:t>tp</a:t>
                </a:r>
                <a:r>
                  <a:rPr lang="en-US" dirty="0"/>
                  <a:t> is the aggregated execution time for processing all tuples by that operator.</a:t>
                </a:r>
                <a:endParaRPr lang="en-US" altLang="zh-CN" dirty="0"/>
              </a:p>
              <a:p>
                <a:r>
                  <a:rPr lang="en-US" altLang="zh-CN" dirty="0"/>
                  <a:t>Capital TP stands for average time spend on each tuple, and it is varying on different execution plans.</a:t>
                </a:r>
              </a:p>
            </p:txBody>
          </p:sp>
        </mc:Fallback>
      </mc:AlternateContent>
      <p:sp>
        <p:nvSpPr>
          <p:cNvPr id="4" name="Slide Number Placeholder 3"/>
          <p:cNvSpPr>
            <a:spLocks noGrp="1"/>
          </p:cNvSpPr>
          <p:nvPr>
            <p:ph type="sldNum" sz="quarter" idx="10"/>
          </p:nvPr>
        </p:nvSpPr>
        <p:spPr/>
        <p:txBody>
          <a:bodyPr/>
          <a:lstStyle/>
          <a:p>
            <a:fld id="{8CC97D51-C29A-4204-BCA9-7887F111546D}" type="slidenum">
              <a:rPr lang="en-US" smtClean="0"/>
              <a:t>10</a:t>
            </a:fld>
            <a:endParaRPr lang="en-US"/>
          </a:p>
        </p:txBody>
      </p:sp>
    </p:spTree>
    <p:extLst>
      <p:ext uri="{BB962C8B-B14F-4D97-AF65-F5344CB8AC3E}">
        <p14:creationId xmlns:p14="http://schemas.microsoft.com/office/powerpoint/2010/main" val="32172794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Captial</a:t>
            </a:r>
            <a:r>
              <a:rPr lang="en-US" sz="1200" kern="1200" dirty="0">
                <a:solidFill>
                  <a:schemeClr val="tx1"/>
                </a:solidFill>
                <a:effectLst/>
                <a:latin typeface="+mn-lt"/>
                <a:ea typeface="+mn-ea"/>
                <a:cs typeface="+mn-cs"/>
              </a:rPr>
              <a:t> T(p) can be divided into two disjoint components.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Te</a:t>
            </a:r>
            <a:r>
              <a:rPr lang="en-US" sz="1200" kern="1200" dirty="0">
                <a:solidFill>
                  <a:schemeClr val="tx1"/>
                </a:solidFill>
                <a:effectLst/>
                <a:latin typeface="+mn-lt"/>
                <a:ea typeface="+mn-ea"/>
                <a:cs typeface="+mn-cs"/>
              </a:rPr>
              <a:t> stands for the time spend in </a:t>
            </a:r>
            <a:r>
              <a:rPr lang="en-US" sz="1200" kern="1200" dirty="0">
                <a:solidFill>
                  <a:schemeClr val="tx1"/>
                </a:solidFill>
                <a:effectLst/>
                <a:latin typeface="Helvetica" charset="0"/>
                <a:ea typeface="+mn-ea"/>
                <a:cs typeface="+mn-cs"/>
              </a:rPr>
              <a:t>a</a:t>
            </a:r>
            <a:r>
              <a:rPr lang="en-US" sz="1200" dirty="0">
                <a:latin typeface="Helvetica" charset="0"/>
                <a:ea typeface="Helvetica" charset="0"/>
                <a:cs typeface="Helvetica" charset="0"/>
              </a:rPr>
              <a:t>ctual function execution and emitting output tuples assuming the operator has the input data.</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Specifically, we estimate the cross socket communication cost based on the total size of data transfer N bytes per input tuple, cache line size S and the worst case memory access latency (L(</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j)) that operator and its producer allocated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 j). </a:t>
            </a:r>
            <a:endParaRPr lang="en-US" dirty="0"/>
          </a:p>
          <a:p>
            <a:endParaRPr lang="en-US" dirty="0"/>
          </a:p>
        </p:txBody>
      </p:sp>
      <p:sp>
        <p:nvSpPr>
          <p:cNvPr id="4" name="Slide Number Placeholder 3"/>
          <p:cNvSpPr>
            <a:spLocks noGrp="1"/>
          </p:cNvSpPr>
          <p:nvPr>
            <p:ph type="sldNum" sz="quarter" idx="10"/>
          </p:nvPr>
        </p:nvSpPr>
        <p:spPr/>
        <p:txBody>
          <a:bodyPr/>
          <a:lstStyle/>
          <a:p>
            <a:fld id="{8CC97D51-C29A-4204-BCA9-7887F111546D}" type="slidenum">
              <a:rPr lang="en-US" smtClean="0"/>
              <a:t>11</a:t>
            </a:fld>
            <a:endParaRPr lang="en-US"/>
          </a:p>
        </p:txBody>
      </p:sp>
    </p:spTree>
    <p:extLst>
      <p:ext uri="{BB962C8B-B14F-4D97-AF65-F5344CB8AC3E}">
        <p14:creationId xmlns:p14="http://schemas.microsoft.com/office/powerpoint/2010/main" val="12802584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just discussed how to model capital T(P) to solve equation 1, but there is one thing left to discuss. </a:t>
            </a:r>
          </a:p>
          <a:p>
            <a:r>
              <a:rPr lang="en-US" dirty="0"/>
              <a:t>Note that equation 1 essentially make an implicit assumption that there are always sufficient input tuples to process and the operator is always busy processing them.</a:t>
            </a:r>
          </a:p>
          <a:p>
            <a:r>
              <a:rPr lang="en-US" dirty="0"/>
              <a:t>In other words, </a:t>
            </a:r>
            <a:r>
              <a:rPr lang="en-US" dirty="0" err="1"/>
              <a:t>tp</a:t>
            </a:r>
            <a:r>
              <a:rPr lang="en-US" dirty="0"/>
              <a:t> is larger than t.</a:t>
            </a:r>
          </a:p>
          <a:p>
            <a:r>
              <a:rPr lang="en-US" altLang="zh-CN" dirty="0"/>
              <a:t>What happen when the assumption does not hold?</a:t>
            </a:r>
          </a:p>
        </p:txBody>
      </p:sp>
      <p:sp>
        <p:nvSpPr>
          <p:cNvPr id="4" name="Slide Number Placeholder 3"/>
          <p:cNvSpPr>
            <a:spLocks noGrp="1"/>
          </p:cNvSpPr>
          <p:nvPr>
            <p:ph type="sldNum" sz="quarter" idx="10"/>
          </p:nvPr>
        </p:nvSpPr>
        <p:spPr/>
        <p:txBody>
          <a:bodyPr/>
          <a:lstStyle/>
          <a:p>
            <a:fld id="{8CC97D51-C29A-4204-BCA9-7887F111546D}" type="slidenum">
              <a:rPr lang="en-US" smtClean="0"/>
              <a:t>12</a:t>
            </a:fld>
            <a:endParaRPr lang="en-US"/>
          </a:p>
        </p:txBody>
      </p:sp>
    </p:spTree>
    <p:extLst>
      <p:ext uri="{BB962C8B-B14F-4D97-AF65-F5344CB8AC3E}">
        <p14:creationId xmlns:p14="http://schemas.microsoft.com/office/powerpoint/2010/main" val="25936111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ea typeface="Apple Chancery" charset="0"/>
                <a:cs typeface="Apple Chancery" charset="0"/>
              </a:rPr>
              <a:t>An operator can have only two possible conditions under a given execution plan.</a:t>
            </a:r>
          </a:p>
          <a:p>
            <a:r>
              <a:rPr lang="en-US" dirty="0"/>
              <a:t>Under-supplied or over-supplied.</a:t>
            </a:r>
          </a:p>
        </p:txBody>
      </p:sp>
      <p:sp>
        <p:nvSpPr>
          <p:cNvPr id="4" name="Slide Number Placeholder 3"/>
          <p:cNvSpPr>
            <a:spLocks noGrp="1"/>
          </p:cNvSpPr>
          <p:nvPr>
            <p:ph type="sldNum" sz="quarter" idx="10"/>
          </p:nvPr>
        </p:nvSpPr>
        <p:spPr/>
        <p:txBody>
          <a:bodyPr/>
          <a:lstStyle/>
          <a:p>
            <a:fld id="{8CC97D51-C29A-4204-BCA9-7887F111546D}" type="slidenum">
              <a:rPr lang="en-US" smtClean="0"/>
              <a:t>13</a:t>
            </a:fld>
            <a:endParaRPr lang="en-US"/>
          </a:p>
        </p:txBody>
      </p:sp>
    </p:spTree>
    <p:extLst>
      <p:ext uri="{BB962C8B-B14F-4D97-AF65-F5344CB8AC3E}">
        <p14:creationId xmlns:p14="http://schemas.microsoft.com/office/powerpoint/2010/main" val="1089747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can proceed to discuss algorithm design of solving RLAS.</a:t>
            </a:r>
          </a:p>
        </p:txBody>
      </p:sp>
      <p:sp>
        <p:nvSpPr>
          <p:cNvPr id="4" name="Slide Number Placeholder 3"/>
          <p:cNvSpPr>
            <a:spLocks noGrp="1"/>
          </p:cNvSpPr>
          <p:nvPr>
            <p:ph type="sldNum" sz="quarter" idx="5"/>
          </p:nvPr>
        </p:nvSpPr>
        <p:spPr/>
        <p:txBody>
          <a:bodyPr/>
          <a:lstStyle/>
          <a:p>
            <a:fld id="{8CD2E60E-8848-2F49-BBBA-7F27067E706A}" type="slidenum">
              <a:rPr lang="en-US" smtClean="0"/>
              <a:t>14</a:t>
            </a:fld>
            <a:endParaRPr lang="en-US"/>
          </a:p>
        </p:txBody>
      </p:sp>
    </p:spTree>
    <p:extLst>
      <p:ext uri="{BB962C8B-B14F-4D97-AF65-F5344CB8AC3E}">
        <p14:creationId xmlns:p14="http://schemas.microsoft.com/office/powerpoint/2010/main" val="2601183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0000"/>
                </a:solidFill>
                <a:latin typeface="Comic Sans MS" charset="0"/>
                <a:ea typeface="ＭＳ Ｐゴシック" charset="0"/>
                <a:cs typeface="ＭＳ Ｐゴシック" charset="0"/>
              </a:rPr>
              <a:t>The key idea to optimize streaming application is to remove bottlenecks.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achieve that, RLAS optimization is an iterative process composing two components: Scaling Optimization and Placement Optimization.</a:t>
            </a:r>
          </a:p>
          <a:p>
            <a:endParaRPr lang="en-US" dirty="0"/>
          </a:p>
        </p:txBody>
      </p:sp>
      <p:sp>
        <p:nvSpPr>
          <p:cNvPr id="4" name="Slide Number Placeholder 3"/>
          <p:cNvSpPr>
            <a:spLocks noGrp="1"/>
          </p:cNvSpPr>
          <p:nvPr>
            <p:ph type="sldNum" sz="quarter" idx="5"/>
          </p:nvPr>
        </p:nvSpPr>
        <p:spPr/>
        <p:txBody>
          <a:bodyPr/>
          <a:lstStyle/>
          <a:p>
            <a:fld id="{8CD2E60E-8848-2F49-BBBA-7F27067E706A}" type="slidenum">
              <a:rPr lang="en-US" smtClean="0"/>
              <a:t>15</a:t>
            </a:fld>
            <a:endParaRPr lang="en-US"/>
          </a:p>
        </p:txBody>
      </p:sp>
    </p:spTree>
    <p:extLst>
      <p:ext uri="{BB962C8B-B14F-4D97-AF65-F5344CB8AC3E}">
        <p14:creationId xmlns:p14="http://schemas.microsoft.com/office/powerpoint/2010/main" val="8108598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However, relative-location awareness makes the optimization problem much harder to solve.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For two main reasons.</a:t>
            </a:r>
            <a:endParaRPr lang="en-US" dirty="0"/>
          </a:p>
          <a:p>
            <a:pPr marL="914400" lvl="1" indent="-457200">
              <a:buFont typeface="+mj-lt"/>
              <a:buAutoNum type="arabicPeriod"/>
            </a:pPr>
            <a:r>
              <a:rPr lang="en-US" sz="2800" dirty="0"/>
              <a:t>Stochasticity is introduced into the problem as the objective value (e.g., throughput) or weight (e.g., resource demand) of each operator is variable and depends on all previous decisions. </a:t>
            </a:r>
          </a:p>
          <a:p>
            <a:pPr marL="914400" lvl="1" indent="-457200">
              <a:buFont typeface="+mj-lt"/>
              <a:buAutoNum type="arabicPeriod"/>
            </a:pPr>
            <a:r>
              <a:rPr lang="en-US" sz="2800" dirty="0"/>
              <a:t>Additionally, the placement decisions may conflict with each other and ordering is introduced into the problem.</a:t>
            </a:r>
          </a:p>
          <a:p>
            <a:r>
              <a:rPr lang="en-US" dirty="0"/>
              <a:t>Checkout the algorithm detail</a:t>
            </a:r>
            <a:r>
              <a:rPr lang="en-US" baseline="0" dirty="0"/>
              <a:t> in our paper.</a:t>
            </a:r>
            <a:endParaRPr lang="en-US" dirty="0"/>
          </a:p>
        </p:txBody>
      </p:sp>
      <p:sp>
        <p:nvSpPr>
          <p:cNvPr id="4" name="Slide Number Placeholder 3"/>
          <p:cNvSpPr>
            <a:spLocks noGrp="1"/>
          </p:cNvSpPr>
          <p:nvPr>
            <p:ph type="sldNum" sz="quarter" idx="10"/>
          </p:nvPr>
        </p:nvSpPr>
        <p:spPr/>
        <p:txBody>
          <a:bodyPr/>
          <a:lstStyle/>
          <a:p>
            <a:fld id="{8CC97D51-C29A-4204-BCA9-7887F111546D}" type="slidenum">
              <a:rPr lang="en-US" smtClean="0"/>
              <a:t>16</a:t>
            </a:fld>
            <a:endParaRPr lang="en-US"/>
          </a:p>
        </p:txBody>
      </p:sp>
    </p:spTree>
    <p:extLst>
      <p:ext uri="{BB962C8B-B14F-4D97-AF65-F5344CB8AC3E}">
        <p14:creationId xmlns:p14="http://schemas.microsoft.com/office/powerpoint/2010/main" val="5325435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RLAS optimization framework, we built a new DSP system</a:t>
            </a:r>
            <a:r>
              <a:rPr lang="en-US" baseline="0" dirty="0"/>
              <a:t> from scratch, called BriskStream.</a:t>
            </a:r>
          </a:p>
          <a:p>
            <a:endParaRPr lang="en-US" baseline="0" dirty="0"/>
          </a:p>
          <a:p>
            <a:endParaRPr lang="en-US" baseline="0" dirty="0"/>
          </a:p>
          <a:p>
            <a:endParaRPr lang="en-US" dirty="0"/>
          </a:p>
        </p:txBody>
      </p:sp>
      <p:sp>
        <p:nvSpPr>
          <p:cNvPr id="4" name="Slide Number Placeholder 3"/>
          <p:cNvSpPr>
            <a:spLocks noGrp="1"/>
          </p:cNvSpPr>
          <p:nvPr>
            <p:ph type="sldNum" sz="quarter" idx="10"/>
          </p:nvPr>
        </p:nvSpPr>
        <p:spPr/>
        <p:txBody>
          <a:bodyPr/>
          <a:lstStyle/>
          <a:p>
            <a:fld id="{143BF221-2579-FF4E-8BB9-FF167BC5A326}" type="slidenum">
              <a:rPr lang="en-US" smtClean="0"/>
              <a:t>18</a:t>
            </a:fld>
            <a:endParaRPr lang="en-US"/>
          </a:p>
        </p:txBody>
      </p:sp>
    </p:spTree>
    <p:extLst>
      <p:ext uri="{BB962C8B-B14F-4D97-AF65-F5344CB8AC3E}">
        <p14:creationId xmlns:p14="http://schemas.microsoft.com/office/powerpoint/2010/main" val="19870719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proceed to discuss some experimental results.</a:t>
            </a:r>
          </a:p>
          <a:p>
            <a:r>
              <a:rPr lang="en-US" dirty="0"/>
              <a:t>The following experiments are primarily conducted on the shown 8 sockets machine with 144 cores without HT.</a:t>
            </a:r>
          </a:p>
        </p:txBody>
      </p:sp>
      <p:sp>
        <p:nvSpPr>
          <p:cNvPr id="4" name="Slide Number Placeholder 3"/>
          <p:cNvSpPr>
            <a:spLocks noGrp="1"/>
          </p:cNvSpPr>
          <p:nvPr>
            <p:ph type="sldNum" sz="quarter" idx="5"/>
          </p:nvPr>
        </p:nvSpPr>
        <p:spPr/>
        <p:txBody>
          <a:bodyPr/>
          <a:lstStyle/>
          <a:p>
            <a:fld id="{8CD2E60E-8848-2F49-BBBA-7F27067E706A}" type="slidenum">
              <a:rPr lang="en-US" smtClean="0"/>
              <a:t>19</a:t>
            </a:fld>
            <a:endParaRPr lang="en-US"/>
          </a:p>
        </p:txBody>
      </p:sp>
    </p:spTree>
    <p:extLst>
      <p:ext uri="{BB962C8B-B14F-4D97-AF65-F5344CB8AC3E}">
        <p14:creationId xmlns:p14="http://schemas.microsoft.com/office/powerpoint/2010/main" val="4128873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We use this figure demonstrate the importance of considering relative location awareness.</a:t>
            </a:r>
          </a:p>
          <a:p>
            <a:endParaRPr lang="en-US" sz="1200" b="0" i="0" u="none" strike="noStrike" kern="1200" baseline="0" dirty="0">
              <a:solidFill>
                <a:schemeClr val="tx1"/>
              </a:solidFill>
              <a:latin typeface="+mn-lt"/>
              <a:ea typeface="+mn-ea"/>
              <a:cs typeface="+mn-cs"/>
            </a:endParaRPr>
          </a:p>
          <a:p>
            <a:pPr>
              <a:lnSpc>
                <a:spcPct val="90000"/>
              </a:lnSpc>
              <a:spcBef>
                <a:spcPts val="831"/>
              </a:spcBef>
            </a:pPr>
            <a:r>
              <a:rPr lang="zh-CN" altLang="en-US" dirty="0">
                <a:latin typeface="Comic Sans MS" charset="0"/>
                <a:ea typeface="ＭＳ Ｐゴシック" charset="0"/>
                <a:cs typeface="ＭＳ Ｐゴシック" charset="0"/>
              </a:rPr>
              <a:t>（</a:t>
            </a:r>
            <a:r>
              <a:rPr lang="en-US" altLang="zh-CN" dirty="0">
                <a:latin typeface="Comic Sans MS" charset="0"/>
                <a:ea typeface="ＭＳ Ｐゴシック" charset="0"/>
                <a:cs typeface="ＭＳ Ｐゴシック" charset="0"/>
              </a:rPr>
              <a:t>1</a:t>
            </a:r>
            <a:r>
              <a:rPr lang="zh-CN" altLang="en-US" dirty="0">
                <a:latin typeface="Comic Sans MS" charset="0"/>
                <a:ea typeface="ＭＳ Ｐゴシック" charset="0"/>
                <a:cs typeface="ＭＳ Ｐゴシック" charset="0"/>
              </a:rPr>
              <a:t>） </a:t>
            </a:r>
            <a:r>
              <a:rPr lang="en-US" altLang="zh-CN" dirty="0">
                <a:latin typeface="Comic Sans MS" charset="0"/>
                <a:ea typeface="ＭＳ Ｐゴシック" charset="0"/>
                <a:cs typeface="ＭＳ Ｐゴシック" charset="0"/>
              </a:rPr>
              <a:t>RLAS_fix(L) assumes RMA overhead always present</a:t>
            </a:r>
          </a:p>
          <a:p>
            <a:pPr marL="316497" indent="-316497">
              <a:lnSpc>
                <a:spcPct val="90000"/>
              </a:lnSpc>
              <a:spcBef>
                <a:spcPts val="831"/>
              </a:spcBef>
              <a:buFont typeface="Arial" charset="0"/>
              <a:buChar char="•"/>
            </a:pPr>
            <a:r>
              <a:rPr lang="en-US" altLang="zh-CN" dirty="0">
                <a:latin typeface="Comic Sans MS" charset="0"/>
                <a:ea typeface="ＭＳ Ｐゴシック" charset="0"/>
                <a:cs typeface="ＭＳ Ｐゴシック" charset="0"/>
              </a:rPr>
              <a:t>over-estimates resource demand </a:t>
            </a:r>
          </a:p>
          <a:p>
            <a:pPr marL="316497" indent="-316497">
              <a:lnSpc>
                <a:spcPct val="90000"/>
              </a:lnSpc>
              <a:spcBef>
                <a:spcPts val="831"/>
              </a:spcBef>
              <a:buFont typeface="Arial" charset="0"/>
              <a:buChar char="•"/>
            </a:pPr>
            <a:r>
              <a:rPr lang="en-US" altLang="zh-CN" dirty="0">
                <a:latin typeface="Comic Sans MS" charset="0"/>
                <a:ea typeface="ＭＳ Ｐゴシック" charset="0"/>
                <a:cs typeface="ＭＳ Ｐゴシック" charset="0"/>
              </a:rPr>
              <a:t>underutilize resources</a:t>
            </a:r>
          </a:p>
          <a:p>
            <a:pPr marL="316497" indent="-316497">
              <a:lnSpc>
                <a:spcPct val="90000"/>
              </a:lnSpc>
              <a:spcBef>
                <a:spcPts val="831"/>
              </a:spcBef>
              <a:buFont typeface="Arial" charset="0"/>
              <a:buChar char="•"/>
            </a:pPr>
            <a:endParaRPr lang="en-US" dirty="0">
              <a:latin typeface="Comic Sans MS" charset="0"/>
              <a:ea typeface="ＭＳ Ｐゴシック" charset="0"/>
              <a:cs typeface="ＭＳ Ｐゴシック" charset="0"/>
            </a:endParaRPr>
          </a:p>
          <a:p>
            <a:pPr>
              <a:lnSpc>
                <a:spcPct val="90000"/>
              </a:lnSpc>
              <a:spcBef>
                <a:spcPts val="831"/>
              </a:spcBef>
            </a:pPr>
            <a:r>
              <a:rPr lang="zh-CN" altLang="en-US" dirty="0">
                <a:latin typeface="Comic Sans MS" charset="0"/>
                <a:ea typeface="ＭＳ Ｐゴシック" charset="0"/>
                <a:cs typeface="ＭＳ Ｐゴシック" charset="0"/>
              </a:rPr>
              <a:t>（</a:t>
            </a:r>
            <a:r>
              <a:rPr lang="en-US" altLang="zh-CN" dirty="0">
                <a:latin typeface="Comic Sans MS" charset="0"/>
                <a:ea typeface="ＭＳ Ｐゴシック" charset="0"/>
                <a:cs typeface="ＭＳ Ｐゴシック" charset="0"/>
              </a:rPr>
              <a:t>2</a:t>
            </a:r>
            <a:r>
              <a:rPr lang="zh-CN" altLang="en-US" dirty="0">
                <a:latin typeface="Comic Sans MS" charset="0"/>
                <a:ea typeface="ＭＳ Ｐゴシック" charset="0"/>
                <a:cs typeface="ＭＳ Ｐゴシック" charset="0"/>
              </a:rPr>
              <a:t>）</a:t>
            </a:r>
            <a:r>
              <a:rPr lang="en-US" altLang="zh-CN" dirty="0">
                <a:latin typeface="Comic Sans MS" charset="0"/>
                <a:ea typeface="ＭＳ Ｐゴシック" charset="0"/>
                <a:cs typeface="ＭＳ Ｐゴシック" charset="0"/>
              </a:rPr>
              <a:t>RLAS_fix(U) ignores RMA overhead completely</a:t>
            </a:r>
          </a:p>
          <a:p>
            <a:pPr marL="316497" indent="-316497">
              <a:lnSpc>
                <a:spcPct val="90000"/>
              </a:lnSpc>
              <a:spcBef>
                <a:spcPts val="831"/>
              </a:spcBef>
              <a:buFont typeface="Arial" charset="0"/>
              <a:buChar char="•"/>
            </a:pPr>
            <a:r>
              <a:rPr lang="en-US" altLang="zh-CN" dirty="0">
                <a:latin typeface="Comic Sans MS" charset="0"/>
                <a:ea typeface="ＭＳ Ｐゴシック" charset="0"/>
                <a:cs typeface="ＭＳ Ｐゴシック" charset="0"/>
              </a:rPr>
              <a:t>under-estimates resource demand </a:t>
            </a:r>
          </a:p>
          <a:p>
            <a:pPr marL="316497" indent="-316497">
              <a:lnSpc>
                <a:spcPct val="90000"/>
              </a:lnSpc>
              <a:spcBef>
                <a:spcPts val="831"/>
              </a:spcBef>
              <a:buFont typeface="Arial" charset="0"/>
              <a:buChar char="•"/>
            </a:pPr>
            <a:r>
              <a:rPr lang="en-US" altLang="zh-CN" dirty="0">
                <a:latin typeface="Comic Sans MS" charset="0"/>
                <a:ea typeface="ＭＳ Ｐゴシック" charset="0"/>
                <a:cs typeface="ＭＳ Ｐゴシック" charset="0"/>
              </a:rPr>
              <a:t>mislead optimization process to involve severely interference</a:t>
            </a:r>
            <a:endParaRPr lang="en-US" dirty="0">
              <a:latin typeface="Comic Sans MS" charset="0"/>
              <a:ea typeface="ＭＳ Ｐゴシック" charset="0"/>
              <a:cs typeface="ＭＳ Ｐゴシック" charset="0"/>
            </a:endParaRPr>
          </a:p>
          <a:p>
            <a:pPr marL="316497" indent="-316497">
              <a:lnSpc>
                <a:spcPct val="90000"/>
              </a:lnSpc>
              <a:spcBef>
                <a:spcPts val="831"/>
              </a:spcBef>
              <a:buFont typeface="Arial" charset="0"/>
              <a:buChar char="•"/>
            </a:pPr>
            <a:endParaRPr lang="en-US" dirty="0">
              <a:latin typeface="Comic Sans MS" charset="0"/>
              <a:ea typeface="ＭＳ Ｐゴシック" charset="0"/>
              <a:cs typeface="ＭＳ Ｐゴシック" charset="0"/>
            </a:endParaRP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CC97D51-C29A-4204-BCA9-7887F111546D}" type="slidenum">
              <a:rPr lang="en-US" smtClean="0"/>
              <a:t>20</a:t>
            </a:fld>
            <a:endParaRPr lang="en-US"/>
          </a:p>
        </p:txBody>
      </p:sp>
    </p:spTree>
    <p:extLst>
      <p:ext uri="{BB962C8B-B14F-4D97-AF65-F5344CB8AC3E}">
        <p14:creationId xmlns:p14="http://schemas.microsoft.com/office/powerpoint/2010/main" val="10166937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We use this figure demonstrate the importance of model-guided optimization. It shows the results of monte-carol simulation of 1000 randomly generated plans, none can achieve the same performance of our optimized plan.</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CC97D51-C29A-4204-BCA9-7887F111546D}" type="slidenum">
              <a:rPr lang="en-US" smtClean="0"/>
              <a:t>21</a:t>
            </a:fld>
            <a:endParaRPr lang="en-US"/>
          </a:p>
        </p:txBody>
      </p:sp>
    </p:spTree>
    <p:extLst>
      <p:ext uri="{BB962C8B-B14F-4D97-AF65-F5344CB8AC3E}">
        <p14:creationId xmlns:p14="http://schemas.microsoft.com/office/powerpoint/2010/main" val="29742572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baseline="0" dirty="0">
                <a:solidFill>
                  <a:schemeClr val="tx1"/>
                </a:solidFill>
                <a:latin typeface="+mn-lt"/>
                <a:ea typeface="+mn-ea"/>
                <a:cs typeface="+mn-cs"/>
              </a:rPr>
              <a:t>We use this figure demonstrate the problem of relying on simple heuristics.</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CC97D51-C29A-4204-BCA9-7887F111546D}" type="slidenum">
              <a:rPr lang="en-US" smtClean="0"/>
              <a:t>22</a:t>
            </a:fld>
            <a:endParaRPr lang="en-US"/>
          </a:p>
        </p:txBody>
      </p:sp>
    </p:spTree>
    <p:extLst>
      <p:ext uri="{BB962C8B-B14F-4D97-AF65-F5344CB8AC3E}">
        <p14:creationId xmlns:p14="http://schemas.microsoft.com/office/powerpoint/2010/main" val="333459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237944">
              <a:lnSpc>
                <a:spcPct val="90000"/>
              </a:lnSpc>
              <a:spcBef>
                <a:spcPts val="833"/>
              </a:spcBef>
              <a:buFont typeface="Arial" charset="0"/>
              <a:buChar char="•"/>
            </a:pPr>
            <a:r>
              <a:rPr lang="en-US" sz="1200" dirty="0">
                <a:solidFill>
                  <a:srgbClr val="FF0000"/>
                </a:solidFill>
                <a:latin typeface="Comic Sans MS" charset="0"/>
                <a:ea typeface="ＭＳ Ｐゴシック" charset="0"/>
                <a:cs typeface="ＭＳ Ｐゴシック" charset="0"/>
              </a:rPr>
              <a:t>We use a different server to repeat the same heuristic study, and we keep the same input loads.</a:t>
            </a:r>
          </a:p>
          <a:p>
            <a:pPr indent="-237944">
              <a:lnSpc>
                <a:spcPct val="90000"/>
              </a:lnSpc>
              <a:spcBef>
                <a:spcPts val="833"/>
              </a:spcBef>
              <a:buFont typeface="Arial" charset="0"/>
              <a:buChar char="•"/>
            </a:pPr>
            <a:r>
              <a:rPr lang="en-US" sz="1200" dirty="0">
                <a:solidFill>
                  <a:srgbClr val="FF0000"/>
                </a:solidFill>
                <a:latin typeface="Comic Sans MS" charset="0"/>
                <a:ea typeface="ＭＳ Ｐゴシック" charset="0"/>
                <a:cs typeface="ＭＳ Ｐゴシック" charset="0"/>
              </a:rPr>
              <a:t>The figure shows that the maximum achievable system capacity of Server B is larger.</a:t>
            </a:r>
          </a:p>
          <a:p>
            <a:pPr indent="-237944">
              <a:lnSpc>
                <a:spcPct val="90000"/>
              </a:lnSpc>
              <a:spcBef>
                <a:spcPts val="833"/>
              </a:spcBef>
              <a:buFont typeface="Arial" charset="0"/>
              <a:buChar char="•"/>
            </a:pPr>
            <a:r>
              <a:rPr lang="en-US" sz="1200" dirty="0">
                <a:solidFill>
                  <a:srgbClr val="FF0000"/>
                </a:solidFill>
                <a:latin typeface="Comic Sans MS" charset="0"/>
                <a:ea typeface="ＭＳ Ｐゴシック" charset="0"/>
                <a:cs typeface="ＭＳ Ｐゴシック" charset="0"/>
              </a:rPr>
              <a:t>As a result, RLAS choose not to use all CPU sockets in Server B to achieve maximum throughput under the given ingest rate.</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CC97D51-C29A-4204-BCA9-7887F111546D}" type="slidenum">
              <a:rPr lang="en-US" smtClean="0"/>
              <a:t>23</a:t>
            </a:fld>
            <a:endParaRPr lang="en-US"/>
          </a:p>
        </p:txBody>
      </p:sp>
    </p:spTree>
    <p:extLst>
      <p:ext uri="{BB962C8B-B14F-4D97-AF65-F5344CB8AC3E}">
        <p14:creationId xmlns:p14="http://schemas.microsoft.com/office/powerpoint/2010/main" val="35373922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charset="0"/>
              <a:buChar char="•"/>
            </a:pPr>
            <a:r>
              <a:rPr lang="en-US" sz="1200" dirty="0"/>
              <a:t>Execute: time spend in function execution (</a:t>
            </a:r>
            <a:r>
              <a:rPr lang="en-US" sz="1200" dirty="0" err="1"/>
              <a:t>T</a:t>
            </a:r>
            <a:r>
              <a:rPr lang="en-US" sz="1200" baseline="30000" dirty="0" err="1"/>
              <a:t>e</a:t>
            </a:r>
            <a:r>
              <a:rPr lang="en-US" sz="1200" dirty="0"/>
              <a:t>).</a:t>
            </a:r>
          </a:p>
          <a:p>
            <a:pPr>
              <a:buFont typeface="Arial" charset="0"/>
              <a:buChar char="•"/>
            </a:pPr>
            <a:r>
              <a:rPr lang="en-US" sz="1200" dirty="0"/>
              <a:t>Others: e.g., context switching.</a:t>
            </a:r>
          </a:p>
          <a:p>
            <a:pPr>
              <a:buFont typeface="Arial" charset="0"/>
              <a:buChar char="•"/>
            </a:pPr>
            <a:r>
              <a:rPr lang="en-US" sz="1200" dirty="0"/>
              <a:t>RMA: time spend in remote memory access (</a:t>
            </a:r>
            <a:r>
              <a:rPr lang="en-US" sz="1200" dirty="0" err="1"/>
              <a:t>T</a:t>
            </a:r>
            <a:r>
              <a:rPr lang="en-US" sz="1200" baseline="30000" dirty="0" err="1"/>
              <a:t>f</a:t>
            </a:r>
            <a:r>
              <a:rPr lang="en-US" sz="1200" dirty="0"/>
              <a:t>).</a:t>
            </a:r>
          </a:p>
          <a:p>
            <a:endParaRPr lang="en-US" dirty="0"/>
          </a:p>
        </p:txBody>
      </p:sp>
      <p:sp>
        <p:nvSpPr>
          <p:cNvPr id="4" name="Slide Number Placeholder 3"/>
          <p:cNvSpPr>
            <a:spLocks noGrp="1"/>
          </p:cNvSpPr>
          <p:nvPr>
            <p:ph type="sldNum" sz="quarter" idx="10"/>
          </p:nvPr>
        </p:nvSpPr>
        <p:spPr/>
        <p:txBody>
          <a:bodyPr/>
          <a:lstStyle/>
          <a:p>
            <a:fld id="{8CC97D51-C29A-4204-BCA9-7887F111546D}" type="slidenum">
              <a:rPr lang="en-US" smtClean="0"/>
              <a:t>26</a:t>
            </a:fld>
            <a:endParaRPr lang="en-US"/>
          </a:p>
        </p:txBody>
      </p:sp>
    </p:spTree>
    <p:extLst>
      <p:ext uri="{BB962C8B-B14F-4D97-AF65-F5344CB8AC3E}">
        <p14:creationId xmlns:p14="http://schemas.microsoft.com/office/powerpoint/2010/main" val="19893018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a:solidFill>
                  <a:schemeClr val="tx1"/>
                </a:solidFill>
                <a:latin typeface="+mn-lt"/>
                <a:ea typeface="+mn-ea"/>
                <a:cs typeface="+mn-cs"/>
              </a:rPr>
              <a:t>Streambox</a:t>
            </a:r>
            <a:r>
              <a:rPr lang="en-US" sz="1200" b="0" i="0" u="none" strike="noStrike" kern="1200" baseline="0" dirty="0">
                <a:solidFill>
                  <a:schemeClr val="tx1"/>
                </a:solidFill>
                <a:latin typeface="+mn-lt"/>
                <a:ea typeface="+mn-ea"/>
                <a:cs typeface="+mn-cs"/>
              </a:rPr>
              <a:t> is a recently proposed multicore optimized stream processing system with morsel-driven like system design. </a:t>
            </a:r>
            <a:r>
              <a:rPr lang="en-US" altLang="zh-CN" dirty="0">
                <a:solidFill>
                  <a:srgbClr val="FF0000"/>
                </a:solidFill>
                <a:latin typeface="Comic Sans MS" charset="0"/>
                <a:ea typeface="ＭＳ Ｐゴシック" charset="0"/>
                <a:cs typeface="ＭＳ Ｐゴシック" charset="0"/>
              </a:rPr>
              <a:t>Due to the difference in testing machine, we were unable to reproduce the exact results of original StreamBox. However, the scalability trend is still consistent with their original paper.</a:t>
            </a:r>
          </a:p>
          <a:p>
            <a:r>
              <a:rPr lang="en-US" dirty="0">
                <a:solidFill>
                  <a:srgbClr val="FF0000"/>
                </a:solidFill>
                <a:latin typeface="Comic Sans MS" charset="0"/>
                <a:ea typeface="ＭＳ Ｐゴシック" charset="0"/>
                <a:cs typeface="ＭＳ Ｐゴシック" charset="0"/>
              </a:rPr>
              <a:t>Nevertheless, it shows a much poorer performance due to its different design focus.</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CC97D51-C29A-4204-BCA9-7887F111546D}" type="slidenum">
              <a:rPr lang="en-US" smtClean="0"/>
              <a:t>27</a:t>
            </a:fld>
            <a:endParaRPr lang="en-US"/>
          </a:p>
        </p:txBody>
      </p:sp>
    </p:spTree>
    <p:extLst>
      <p:ext uri="{BB962C8B-B14F-4D97-AF65-F5344CB8AC3E}">
        <p14:creationId xmlns:p14="http://schemas.microsoft.com/office/powerpoint/2010/main" val="25924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The current solution </a:t>
            </a:r>
            <a:r>
              <a:rPr lang="en-US" sz="1200" b="0" i="0" u="none" strike="noStrike" kern="1200" baseline="0" dirty="0" err="1">
                <a:solidFill>
                  <a:schemeClr val="tx1"/>
                </a:solidFill>
                <a:latin typeface="+mn-lt"/>
                <a:ea typeface="+mn-ea"/>
                <a:cs typeface="+mn-cs"/>
              </a:rPr>
              <a:t>relys</a:t>
            </a:r>
            <a:r>
              <a:rPr lang="en-US" sz="1200" b="0" i="0" u="none" strike="noStrike" kern="1200" baseline="0" dirty="0">
                <a:solidFill>
                  <a:schemeClr val="tx1"/>
                </a:solidFill>
                <a:latin typeface="+mn-lt"/>
                <a:ea typeface="+mn-ea"/>
                <a:cs typeface="+mn-cs"/>
              </a:rPr>
              <a:t> on </a:t>
            </a:r>
            <a:r>
              <a:rPr lang="en-US" sz="1200" b="0" i="0" u="none" strike="noStrike" kern="1200" baseline="0" dirty="0" err="1">
                <a:solidFill>
                  <a:schemeClr val="tx1"/>
                </a:solidFill>
                <a:latin typeface="+mn-lt"/>
                <a:ea typeface="+mn-ea"/>
                <a:cs typeface="+mn-cs"/>
              </a:rPr>
              <a:t>heurstic</a:t>
            </a:r>
            <a:r>
              <a:rPr lang="en-US" sz="1200" b="0" i="0" u="none" strike="noStrike" kern="1200" baseline="0" dirty="0">
                <a:solidFill>
                  <a:schemeClr val="tx1"/>
                </a:solidFill>
                <a:latin typeface="+mn-lt"/>
                <a:ea typeface="+mn-ea"/>
                <a:cs typeface="+mn-cs"/>
              </a:rPr>
              <a:t>.</a:t>
            </a:r>
          </a:p>
          <a:p>
            <a:r>
              <a:rPr lang="en-US" sz="1200" b="0" i="0" u="none" strike="noStrike" kern="1200" baseline="0" dirty="0">
                <a:solidFill>
                  <a:schemeClr val="tx1"/>
                </a:solidFill>
                <a:latin typeface="+mn-lt"/>
                <a:ea typeface="+mn-ea"/>
                <a:cs typeface="+mn-cs"/>
              </a:rPr>
              <a:t>It remains a open question how to better optimize morsel-driven like execution model in addressing NUMA effect. </a:t>
            </a:r>
          </a:p>
          <a:p>
            <a:pPr marL="0" indent="0">
              <a:lnSpc>
                <a:spcPct val="90000"/>
              </a:lnSpc>
              <a:spcBef>
                <a:spcPts val="1000"/>
              </a:spcBef>
              <a:buFont typeface="Arial" charset="0"/>
              <a:buNone/>
            </a:pPr>
            <a:r>
              <a:rPr lang="en-US" altLang="zh-CN" sz="1200" dirty="0">
                <a:solidFill>
                  <a:srgbClr val="FF0000"/>
                </a:solidFill>
                <a:latin typeface="Comic Sans MS" charset="0"/>
                <a:ea typeface="ＭＳ Ｐゴシック" charset="0"/>
                <a:cs typeface="ＭＳ Ｐゴシック" charset="0"/>
              </a:rPr>
              <a:t>An interesting future work is to investigate the possibility of composing morsel-driven like execution model into BriskStream.</a:t>
            </a:r>
          </a:p>
          <a:p>
            <a:pPr marL="0" indent="0">
              <a:lnSpc>
                <a:spcPct val="90000"/>
              </a:lnSpc>
              <a:spcBef>
                <a:spcPts val="1000"/>
              </a:spcBef>
              <a:buFont typeface="Arial" charset="0"/>
              <a:buNone/>
            </a:pPr>
            <a:r>
              <a:rPr lang="en-US" sz="1200" dirty="0">
                <a:solidFill>
                  <a:srgbClr val="FF0000"/>
                </a:solidFill>
                <a:latin typeface="Comic Sans MS" charset="0"/>
                <a:ea typeface="ＭＳ Ｐゴシック" charset="0"/>
                <a:cs typeface="ＭＳ Ｐゴシック" charset="0"/>
              </a:rPr>
              <a:t>This may be equivalent to include </a:t>
            </a:r>
            <a:r>
              <a:rPr lang="en-US" sz="1200" u="sng" dirty="0">
                <a:solidFill>
                  <a:srgbClr val="FF0000"/>
                </a:solidFill>
                <a:latin typeface="Comic Sans MS" charset="0"/>
                <a:ea typeface="ＭＳ Ｐゴシック" charset="0"/>
                <a:cs typeface="ＭＳ Ｐゴシック" charset="0"/>
              </a:rPr>
              <a:t>operator fusion technique</a:t>
            </a:r>
            <a:r>
              <a:rPr lang="en-US" sz="1200" dirty="0">
                <a:solidFill>
                  <a:srgbClr val="FF0000"/>
                </a:solidFill>
                <a:latin typeface="Comic Sans MS" charset="0"/>
                <a:ea typeface="ＭＳ Ｐゴシック" charset="0"/>
                <a:cs typeface="ＭＳ Ｐゴシック" charset="0"/>
              </a:rPr>
              <a:t> (check out appendix of our paper).</a:t>
            </a:r>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8CC97D51-C29A-4204-BCA9-7887F111546D}" type="slidenum">
              <a:rPr lang="en-US" smtClean="0"/>
              <a:t>28</a:t>
            </a:fld>
            <a:endParaRPr lang="en-US"/>
          </a:p>
        </p:txBody>
      </p:sp>
    </p:spTree>
    <p:extLst>
      <p:ext uri="{BB962C8B-B14F-4D97-AF65-F5344CB8AC3E}">
        <p14:creationId xmlns:p14="http://schemas.microsoft.com/office/powerpoint/2010/main" val="13635244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C97D51-C29A-4204-BCA9-7887F111546D}" type="slidenum">
              <a:rPr lang="en-US" smtClean="0"/>
              <a:t>29</a:t>
            </a:fld>
            <a:endParaRPr lang="en-US"/>
          </a:p>
        </p:txBody>
      </p:sp>
    </p:spTree>
    <p:extLst>
      <p:ext uri="{BB962C8B-B14F-4D97-AF65-F5344CB8AC3E}">
        <p14:creationId xmlns:p14="http://schemas.microsoft.com/office/powerpoint/2010/main" val="7059747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acknowledge the funding</a:t>
            </a:r>
            <a:r>
              <a:rPr lang="en-US" baseline="0" dirty="0"/>
              <a:t> received from varies parties.</a:t>
            </a:r>
            <a:endParaRPr lang="en-US" dirty="0"/>
          </a:p>
        </p:txBody>
      </p:sp>
      <p:sp>
        <p:nvSpPr>
          <p:cNvPr id="4" name="Slide Number Placeholder 3"/>
          <p:cNvSpPr>
            <a:spLocks noGrp="1"/>
          </p:cNvSpPr>
          <p:nvPr>
            <p:ph type="sldNum" sz="quarter" idx="10"/>
          </p:nvPr>
        </p:nvSpPr>
        <p:spPr/>
        <p:txBody>
          <a:bodyPr/>
          <a:lstStyle/>
          <a:p>
            <a:fld id="{8CC97D51-C29A-4204-BCA9-7887F111546D}" type="slidenum">
              <a:rPr lang="en-US" smtClean="0"/>
              <a:t>30</a:t>
            </a:fld>
            <a:endParaRPr lang="en-US"/>
          </a:p>
        </p:txBody>
      </p:sp>
    </p:spTree>
    <p:extLst>
      <p:ext uri="{BB962C8B-B14F-4D97-AF65-F5344CB8AC3E}">
        <p14:creationId xmlns:p14="http://schemas.microsoft.com/office/powerpoint/2010/main" val="13470808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open-sourced our system.</a:t>
            </a:r>
          </a:p>
          <a:p>
            <a:r>
              <a:rPr lang="en-US" dirty="0"/>
              <a:t>It is still under heavily active development, so expect more bug-fixing and new features adding.</a:t>
            </a:r>
          </a:p>
        </p:txBody>
      </p:sp>
      <p:sp>
        <p:nvSpPr>
          <p:cNvPr id="4" name="Slide Number Placeholder 3"/>
          <p:cNvSpPr>
            <a:spLocks noGrp="1"/>
          </p:cNvSpPr>
          <p:nvPr>
            <p:ph type="sldNum" sz="quarter" idx="10"/>
          </p:nvPr>
        </p:nvSpPr>
        <p:spPr/>
        <p:txBody>
          <a:bodyPr/>
          <a:lstStyle/>
          <a:p>
            <a:fld id="{8CC97D51-C29A-4204-BCA9-7887F111546D}" type="slidenum">
              <a:rPr lang="en-US" smtClean="0"/>
              <a:t>31</a:t>
            </a:fld>
            <a:endParaRPr lang="en-US"/>
          </a:p>
        </p:txBody>
      </p:sp>
    </p:spTree>
    <p:extLst>
      <p:ext uri="{BB962C8B-B14F-4D97-AF65-F5344CB8AC3E}">
        <p14:creationId xmlns:p14="http://schemas.microsoft.com/office/powerpoint/2010/main" val="1689929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then review the literature and we found that</a:t>
            </a:r>
          </a:p>
          <a:p>
            <a:pPr marL="228600" indent="-228600">
              <a:buAutoNum type="arabicParenR"/>
            </a:pPr>
            <a:r>
              <a:rPr lang="en-US" dirty="0"/>
              <a:t>Despite that there are many useful techniques on approaching operator replication and placement optimization. They run into suboptimal in our context. Because they commonly assume the processing behavior of each operator/replica is fixed, independent to where it is allocated.</a:t>
            </a:r>
          </a:p>
          <a:p>
            <a:r>
              <a:rPr lang="en-US" dirty="0"/>
              <a:t>2) There are also a number of works on improving NUMA-awareness on data management systems. But, they often have different optimization goals such as minimizing resource consumption, better load balancing, and often </a:t>
            </a:r>
            <a:r>
              <a:rPr lang="en-US" dirty="0" err="1"/>
              <a:t>relys</a:t>
            </a:r>
            <a:r>
              <a:rPr lang="en-US" dirty="0"/>
              <a:t> on simple heuristics, which can easily result in suboptimal.</a:t>
            </a:r>
          </a:p>
        </p:txBody>
      </p:sp>
      <p:sp>
        <p:nvSpPr>
          <p:cNvPr id="4" name="Slide Number Placeholder 3"/>
          <p:cNvSpPr>
            <a:spLocks noGrp="1"/>
          </p:cNvSpPr>
          <p:nvPr>
            <p:ph type="sldNum" sz="quarter" idx="10"/>
          </p:nvPr>
        </p:nvSpPr>
        <p:spPr/>
        <p:txBody>
          <a:bodyPr/>
          <a:lstStyle/>
          <a:p>
            <a:fld id="{143BF221-2579-FF4E-8BB9-FF167BC5A326}" type="slidenum">
              <a:rPr lang="en-US" smtClean="0"/>
              <a:t>32</a:t>
            </a:fld>
            <a:endParaRPr lang="en-US"/>
          </a:p>
        </p:txBody>
      </p:sp>
    </p:spTree>
    <p:extLst>
      <p:ext uri="{BB962C8B-B14F-4D97-AF65-F5344CB8AC3E}">
        <p14:creationId xmlns:p14="http://schemas.microsoft.com/office/powerpoint/2010/main" val="2244387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We propose RLAS optimization framework.</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It is a model-guided, relative-location aware, maximizing throughput optimization scheme for streaming application.</a:t>
            </a:r>
          </a:p>
        </p:txBody>
      </p:sp>
      <p:sp>
        <p:nvSpPr>
          <p:cNvPr id="4" name="Slide Number Placeholder 3"/>
          <p:cNvSpPr>
            <a:spLocks noGrp="1"/>
          </p:cNvSpPr>
          <p:nvPr>
            <p:ph type="sldNum" sz="quarter" idx="10"/>
          </p:nvPr>
        </p:nvSpPr>
        <p:spPr/>
        <p:txBody>
          <a:bodyPr/>
          <a:lstStyle/>
          <a:p>
            <a:fld id="{8CC97D51-C29A-4204-BCA9-7887F111546D}" type="slidenum">
              <a:rPr lang="en-US" smtClean="0"/>
              <a:t>33</a:t>
            </a:fld>
            <a:endParaRPr lang="en-US"/>
          </a:p>
        </p:txBody>
      </p:sp>
    </p:spTree>
    <p:extLst>
      <p:ext uri="{BB962C8B-B14F-4D97-AF65-F5344CB8AC3E}">
        <p14:creationId xmlns:p14="http://schemas.microsoft.com/office/powerpoint/2010/main" val="336411094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dirty="0">
                <a:solidFill>
                  <a:schemeClr val="tx1"/>
                </a:solidFill>
                <a:effectLst/>
                <a:latin typeface="+mn-lt"/>
                <a:ea typeface="+mn-ea"/>
                <a:cs typeface="+mn-cs"/>
              </a:rPr>
              <a:t>M</a:t>
            </a:r>
            <a:r>
              <a:rPr lang="en-US" sz="1200" kern="1200" dirty="0">
                <a:solidFill>
                  <a:schemeClr val="tx1"/>
                </a:solidFill>
                <a:effectLst/>
                <a:latin typeface="+mn-lt"/>
                <a:ea typeface="+mn-ea"/>
                <a:cs typeface="+mn-cs"/>
              </a:rPr>
              <a:t>odern machines scale to multiple sockets with non- uniform-memory-access (NUMA) architecture. Each socket has its own “local" memory and is connected to other sockets remotely. Therefore, access latency and bandwidth vary depending on whether a core in a socket is accessing “local" or “remote" memory. Such NUMA effect requires ones to carefully align the communication patterns accordingly to get good performance.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[Click]</a:t>
            </a:r>
            <a:r>
              <a:rPr lang="en-US" sz="1200" kern="1200" baseline="0" dirty="0">
                <a:solidFill>
                  <a:schemeClr val="tx1"/>
                </a:solidFill>
                <a:effectLst/>
                <a:latin typeface="+mn-lt"/>
                <a:ea typeface="+mn-ea"/>
                <a:cs typeface="+mn-cs"/>
              </a:rPr>
              <a:t> This figure shows the NUMA topology of our servers.</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8CC97D51-C29A-4204-BCA9-7887F111546D}" type="slidenum">
              <a:rPr lang="en-US" smtClean="0"/>
              <a:t>34</a:t>
            </a:fld>
            <a:endParaRPr lang="en-US"/>
          </a:p>
        </p:txBody>
      </p:sp>
    </p:spTree>
    <p:extLst>
      <p:ext uri="{BB962C8B-B14F-4D97-AF65-F5344CB8AC3E}">
        <p14:creationId xmlns:p14="http://schemas.microsoft.com/office/powerpoint/2010/main" val="14097824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202" name="Rectangle 10">
            <a:extLst>
              <a:ext uri="{FF2B5EF4-FFF2-40B4-BE49-F238E27FC236}">
                <a16:creationId xmlns:a16="http://schemas.microsoft.com/office/drawing/2014/main" id="{13632A84-2EFE-6245-8D70-F2C33B5DF1F2}"/>
              </a:ext>
            </a:extLst>
          </p:cNvPr>
          <p:cNvSpPr>
            <a:spLocks noChangeArrowheads="1"/>
          </p:cNvSpPr>
          <p:nvPr userDrawn="1"/>
        </p:nvSpPr>
        <p:spPr bwMode="auto">
          <a:xfrm>
            <a:off x="0" y="0"/>
            <a:ext cx="10152063" cy="5486400"/>
          </a:xfrm>
          <a:prstGeom prst="rect">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203" name="Rectangle 11">
            <a:extLst>
              <a:ext uri="{FF2B5EF4-FFF2-40B4-BE49-F238E27FC236}">
                <a16:creationId xmlns:a16="http://schemas.microsoft.com/office/drawing/2014/main" id="{B9BF6E0C-2EA0-4443-B965-4F8BE9A3AD7A}"/>
              </a:ext>
            </a:extLst>
          </p:cNvPr>
          <p:cNvSpPr>
            <a:spLocks noChangeArrowheads="1"/>
          </p:cNvSpPr>
          <p:nvPr userDrawn="1"/>
        </p:nvSpPr>
        <p:spPr bwMode="auto">
          <a:xfrm>
            <a:off x="0" y="7315200"/>
            <a:ext cx="10152063" cy="280988"/>
          </a:xfrm>
          <a:prstGeom prst="rect">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4" name="Rectangle 2">
            <a:extLst>
              <a:ext uri="{FF2B5EF4-FFF2-40B4-BE49-F238E27FC236}">
                <a16:creationId xmlns:a16="http://schemas.microsoft.com/office/drawing/2014/main" id="{85EE094C-2F97-FA4E-86FE-7403D946246F}"/>
              </a:ext>
            </a:extLst>
          </p:cNvPr>
          <p:cNvSpPr>
            <a:spLocks noGrp="1" noChangeArrowheads="1"/>
          </p:cNvSpPr>
          <p:nvPr>
            <p:ph type="ctrTitle"/>
          </p:nvPr>
        </p:nvSpPr>
        <p:spPr>
          <a:xfrm>
            <a:off x="609600" y="1524000"/>
            <a:ext cx="8991600" cy="1752600"/>
          </a:xfrm>
        </p:spPr>
        <p:txBody>
          <a:bodyPr/>
          <a:lstStyle>
            <a:lvl1pPr algn="ctr">
              <a:defRPr sz="6000">
                <a:solidFill>
                  <a:schemeClr val="bg1"/>
                </a:solidFill>
              </a:defRPr>
            </a:lvl1pPr>
          </a:lstStyle>
          <a:p>
            <a:pPr lvl="0"/>
            <a:r>
              <a:rPr lang="en-GB" altLang="en-US" noProof="0"/>
              <a:t>Click to edit Master title style</a:t>
            </a:r>
          </a:p>
        </p:txBody>
      </p:sp>
      <p:pic>
        <p:nvPicPr>
          <p:cNvPr id="8205" name="Picture 13">
            <a:extLst>
              <a:ext uri="{FF2B5EF4-FFF2-40B4-BE49-F238E27FC236}">
                <a16:creationId xmlns:a16="http://schemas.microsoft.com/office/drawing/2014/main" id="{44A49738-30F3-B34D-A3B0-29A3555C516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733800" y="5757863"/>
            <a:ext cx="2573338" cy="12588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D5558-3D16-BF46-910C-1397B5AAFC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350167-F2B1-D54B-8A33-99560460AF0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3600A-AFBD-C14A-AECE-EACCB018AB61}"/>
              </a:ext>
            </a:extLst>
          </p:cNvPr>
          <p:cNvSpPr>
            <a:spLocks noGrp="1"/>
          </p:cNvSpPr>
          <p:nvPr>
            <p:ph type="dt" sz="half" idx="10"/>
          </p:nvPr>
        </p:nvSpPr>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E087908A-DD82-1A44-AF97-275E02852A83}"/>
              </a:ext>
            </a:extLst>
          </p:cNvPr>
          <p:cNvSpPr>
            <a:spLocks noGrp="1"/>
          </p:cNvSpPr>
          <p:nvPr>
            <p:ph type="sldNum" sz="quarter" idx="11"/>
          </p:nvPr>
        </p:nvSpPr>
        <p:spPr/>
        <p:txBody>
          <a:bodyPr/>
          <a:lstStyle>
            <a:lvl1pPr>
              <a:defRPr/>
            </a:lvl1pPr>
          </a:lstStyle>
          <a:p>
            <a:fld id="{1D9AD3FC-6ACF-244F-BF01-C89461EF6431}" type="slidenum">
              <a:rPr lang="en-GB" altLang="en-US"/>
              <a:pPr/>
              <a:t>‹#›</a:t>
            </a:fld>
            <a:endParaRPr lang="en-GB" altLang="en-US" sz="1600">
              <a:solidFill>
                <a:schemeClr val="tx1"/>
              </a:solidFill>
            </a:endParaRPr>
          </a:p>
        </p:txBody>
      </p:sp>
      <p:sp>
        <p:nvSpPr>
          <p:cNvPr id="6" name="Footer Placeholder 5">
            <a:extLst>
              <a:ext uri="{FF2B5EF4-FFF2-40B4-BE49-F238E27FC236}">
                <a16:creationId xmlns:a16="http://schemas.microsoft.com/office/drawing/2014/main" id="{9611A3AF-EBBF-7F44-A342-A3EEE786A0DB}"/>
              </a:ext>
            </a:extLst>
          </p:cNvPr>
          <p:cNvSpPr>
            <a:spLocks noGrp="1"/>
          </p:cNvSpPr>
          <p:nvPr>
            <p:ph type="ftr" sz="quarter" idx="12"/>
          </p:nvPr>
        </p:nvSpPr>
        <p:spPr/>
        <p:txBody>
          <a:bodyPr/>
          <a:lstStyle>
            <a:lvl1pPr>
              <a:defRPr/>
            </a:lvl1pPr>
          </a:lstStyle>
          <a:p>
            <a:endParaRPr lang="en-GB" altLang="en-US"/>
          </a:p>
          <a:p>
            <a:endParaRPr lang="en-GB" altLang="en-US"/>
          </a:p>
        </p:txBody>
      </p:sp>
    </p:spTree>
    <p:extLst>
      <p:ext uri="{BB962C8B-B14F-4D97-AF65-F5344CB8AC3E}">
        <p14:creationId xmlns:p14="http://schemas.microsoft.com/office/powerpoint/2010/main" val="995840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FAD71-8987-394A-A163-250FD01C89F7}"/>
              </a:ext>
            </a:extLst>
          </p:cNvPr>
          <p:cNvSpPr>
            <a:spLocks noGrp="1"/>
          </p:cNvSpPr>
          <p:nvPr>
            <p:ph type="title"/>
          </p:nvPr>
        </p:nvSpPr>
        <p:spPr>
          <a:xfrm>
            <a:off x="692150" y="1893888"/>
            <a:ext cx="8756650" cy="315912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F94760-C3BE-A04C-A490-8B1276D1771C}"/>
              </a:ext>
            </a:extLst>
          </p:cNvPr>
          <p:cNvSpPr>
            <a:spLocks noGrp="1"/>
          </p:cNvSpPr>
          <p:nvPr>
            <p:ph type="body" idx="1"/>
          </p:nvPr>
        </p:nvSpPr>
        <p:spPr>
          <a:xfrm>
            <a:off x="692150" y="5083175"/>
            <a:ext cx="8756650" cy="1662113"/>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Date Placeholder 3">
            <a:extLst>
              <a:ext uri="{FF2B5EF4-FFF2-40B4-BE49-F238E27FC236}">
                <a16:creationId xmlns:a16="http://schemas.microsoft.com/office/drawing/2014/main" id="{CEAFF1E2-4A8E-DD47-B58B-159324C0E4D4}"/>
              </a:ext>
            </a:extLst>
          </p:cNvPr>
          <p:cNvSpPr>
            <a:spLocks noGrp="1"/>
          </p:cNvSpPr>
          <p:nvPr>
            <p:ph type="dt" sz="half" idx="10"/>
          </p:nvPr>
        </p:nvSpPr>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25096EDB-0646-FD4D-A11F-AB86F28FEC2F}"/>
              </a:ext>
            </a:extLst>
          </p:cNvPr>
          <p:cNvSpPr>
            <a:spLocks noGrp="1"/>
          </p:cNvSpPr>
          <p:nvPr>
            <p:ph type="sldNum" sz="quarter" idx="11"/>
          </p:nvPr>
        </p:nvSpPr>
        <p:spPr/>
        <p:txBody>
          <a:bodyPr/>
          <a:lstStyle>
            <a:lvl1pPr>
              <a:defRPr/>
            </a:lvl1pPr>
          </a:lstStyle>
          <a:p>
            <a:fld id="{A7551EE1-C970-B842-8CC3-34317DF1BCEF}" type="slidenum">
              <a:rPr lang="en-GB" altLang="en-US"/>
              <a:pPr/>
              <a:t>‹#›</a:t>
            </a:fld>
            <a:endParaRPr lang="en-GB" altLang="en-US" sz="1600">
              <a:solidFill>
                <a:schemeClr val="tx1"/>
              </a:solidFill>
            </a:endParaRPr>
          </a:p>
        </p:txBody>
      </p:sp>
      <p:sp>
        <p:nvSpPr>
          <p:cNvPr id="6" name="Footer Placeholder 5">
            <a:extLst>
              <a:ext uri="{FF2B5EF4-FFF2-40B4-BE49-F238E27FC236}">
                <a16:creationId xmlns:a16="http://schemas.microsoft.com/office/drawing/2014/main" id="{182D6BFF-2F26-344F-A3EC-4D273680BA19}"/>
              </a:ext>
            </a:extLst>
          </p:cNvPr>
          <p:cNvSpPr>
            <a:spLocks noGrp="1"/>
          </p:cNvSpPr>
          <p:nvPr>
            <p:ph type="ftr" sz="quarter" idx="12"/>
          </p:nvPr>
        </p:nvSpPr>
        <p:spPr/>
        <p:txBody>
          <a:bodyPr/>
          <a:lstStyle>
            <a:lvl1pPr>
              <a:defRPr/>
            </a:lvl1pPr>
          </a:lstStyle>
          <a:p>
            <a:endParaRPr lang="en-GB" altLang="en-US"/>
          </a:p>
          <a:p>
            <a:endParaRPr lang="en-GB" altLang="en-US"/>
          </a:p>
        </p:txBody>
      </p:sp>
    </p:spTree>
    <p:extLst>
      <p:ext uri="{BB962C8B-B14F-4D97-AF65-F5344CB8AC3E}">
        <p14:creationId xmlns:p14="http://schemas.microsoft.com/office/powerpoint/2010/main" val="1371345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F70F8-6E06-B541-8F1A-649B361F55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12EA62-786E-4148-81D9-BC373ABE148D}"/>
              </a:ext>
            </a:extLst>
          </p:cNvPr>
          <p:cNvSpPr>
            <a:spLocks noGrp="1"/>
          </p:cNvSpPr>
          <p:nvPr>
            <p:ph sz="half" idx="1"/>
          </p:nvPr>
        </p:nvSpPr>
        <p:spPr>
          <a:xfrm>
            <a:off x="611188" y="2193925"/>
            <a:ext cx="4237037" cy="47402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5DDF32-4F84-B448-9563-2196337EB325}"/>
              </a:ext>
            </a:extLst>
          </p:cNvPr>
          <p:cNvSpPr>
            <a:spLocks noGrp="1"/>
          </p:cNvSpPr>
          <p:nvPr>
            <p:ph sz="half" idx="2"/>
          </p:nvPr>
        </p:nvSpPr>
        <p:spPr>
          <a:xfrm>
            <a:off x="5000625" y="2193925"/>
            <a:ext cx="4238625" cy="47402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C715265-1B4D-A043-AC5E-3B864DA54A3D}"/>
              </a:ext>
            </a:extLst>
          </p:cNvPr>
          <p:cNvSpPr>
            <a:spLocks noGrp="1"/>
          </p:cNvSpPr>
          <p:nvPr>
            <p:ph type="dt" sz="half" idx="10"/>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E24CBCAC-1D0D-4145-B10A-88D16E69D937}"/>
              </a:ext>
            </a:extLst>
          </p:cNvPr>
          <p:cNvSpPr>
            <a:spLocks noGrp="1"/>
          </p:cNvSpPr>
          <p:nvPr>
            <p:ph type="sldNum" sz="quarter" idx="11"/>
          </p:nvPr>
        </p:nvSpPr>
        <p:spPr/>
        <p:txBody>
          <a:bodyPr/>
          <a:lstStyle>
            <a:lvl1pPr>
              <a:defRPr/>
            </a:lvl1pPr>
          </a:lstStyle>
          <a:p>
            <a:fld id="{3802E8F9-045D-C24C-9E3B-0275377A48C9}" type="slidenum">
              <a:rPr lang="en-GB" altLang="en-US"/>
              <a:pPr/>
              <a:t>‹#›</a:t>
            </a:fld>
            <a:endParaRPr lang="en-GB" altLang="en-US" sz="1600">
              <a:solidFill>
                <a:schemeClr val="tx1"/>
              </a:solidFill>
            </a:endParaRPr>
          </a:p>
        </p:txBody>
      </p:sp>
      <p:sp>
        <p:nvSpPr>
          <p:cNvPr id="7" name="Footer Placeholder 6">
            <a:extLst>
              <a:ext uri="{FF2B5EF4-FFF2-40B4-BE49-F238E27FC236}">
                <a16:creationId xmlns:a16="http://schemas.microsoft.com/office/drawing/2014/main" id="{67EFEB68-B2A7-8B45-B671-3235B5FD17E2}"/>
              </a:ext>
            </a:extLst>
          </p:cNvPr>
          <p:cNvSpPr>
            <a:spLocks noGrp="1"/>
          </p:cNvSpPr>
          <p:nvPr>
            <p:ph type="ftr" sz="quarter" idx="12"/>
          </p:nvPr>
        </p:nvSpPr>
        <p:spPr/>
        <p:txBody>
          <a:bodyPr/>
          <a:lstStyle>
            <a:lvl1pPr>
              <a:defRPr/>
            </a:lvl1pPr>
          </a:lstStyle>
          <a:p>
            <a:endParaRPr lang="en-GB" altLang="en-US"/>
          </a:p>
          <a:p>
            <a:endParaRPr lang="en-GB" altLang="en-US"/>
          </a:p>
        </p:txBody>
      </p:sp>
    </p:spTree>
    <p:extLst>
      <p:ext uri="{BB962C8B-B14F-4D97-AF65-F5344CB8AC3E}">
        <p14:creationId xmlns:p14="http://schemas.microsoft.com/office/powerpoint/2010/main" val="3244361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AA626-0D84-884F-B4AB-8E6F191D7A9A}"/>
              </a:ext>
            </a:extLst>
          </p:cNvPr>
          <p:cNvSpPr>
            <a:spLocks noGrp="1"/>
          </p:cNvSpPr>
          <p:nvPr>
            <p:ph type="title"/>
          </p:nvPr>
        </p:nvSpPr>
        <p:spPr>
          <a:xfrm>
            <a:off x="698500" y="404813"/>
            <a:ext cx="8756650" cy="1468437"/>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129A2A-BF3B-C341-88B5-C1F254079FF1}"/>
              </a:ext>
            </a:extLst>
          </p:cNvPr>
          <p:cNvSpPr>
            <a:spLocks noGrp="1"/>
          </p:cNvSpPr>
          <p:nvPr>
            <p:ph type="body" idx="1"/>
          </p:nvPr>
        </p:nvSpPr>
        <p:spPr>
          <a:xfrm>
            <a:off x="698500" y="1862138"/>
            <a:ext cx="4295775" cy="9128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C323C43-2BAB-1644-A0BD-A824FA9DF366}"/>
              </a:ext>
            </a:extLst>
          </p:cNvPr>
          <p:cNvSpPr>
            <a:spLocks noGrp="1"/>
          </p:cNvSpPr>
          <p:nvPr>
            <p:ph sz="half" idx="2"/>
          </p:nvPr>
        </p:nvSpPr>
        <p:spPr>
          <a:xfrm>
            <a:off x="698500" y="2774950"/>
            <a:ext cx="4295775" cy="40814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8B9140-FAD5-DB46-8A3B-5ABF451632C8}"/>
              </a:ext>
            </a:extLst>
          </p:cNvPr>
          <p:cNvSpPr>
            <a:spLocks noGrp="1"/>
          </p:cNvSpPr>
          <p:nvPr>
            <p:ph type="body" sz="quarter" idx="3"/>
          </p:nvPr>
        </p:nvSpPr>
        <p:spPr>
          <a:xfrm>
            <a:off x="5138738" y="1862138"/>
            <a:ext cx="4316412" cy="9128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BC2083C-A173-5046-85B0-E92070CB6232}"/>
              </a:ext>
            </a:extLst>
          </p:cNvPr>
          <p:cNvSpPr>
            <a:spLocks noGrp="1"/>
          </p:cNvSpPr>
          <p:nvPr>
            <p:ph sz="quarter" idx="4"/>
          </p:nvPr>
        </p:nvSpPr>
        <p:spPr>
          <a:xfrm>
            <a:off x="5138738" y="2774950"/>
            <a:ext cx="4316412" cy="40814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798595-E88C-7D48-8740-1148725E1B56}"/>
              </a:ext>
            </a:extLst>
          </p:cNvPr>
          <p:cNvSpPr>
            <a:spLocks noGrp="1"/>
          </p:cNvSpPr>
          <p:nvPr>
            <p:ph type="dt" sz="half" idx="10"/>
          </p:nvPr>
        </p:nvSpPr>
        <p:spPr/>
        <p:txBody>
          <a:bodyPr/>
          <a:lstStyle>
            <a:lvl1pPr>
              <a:defRPr/>
            </a:lvl1pPr>
          </a:lstStyle>
          <a:p>
            <a:endParaRPr lang="en-GB" altLang="en-US"/>
          </a:p>
        </p:txBody>
      </p:sp>
      <p:sp>
        <p:nvSpPr>
          <p:cNvPr id="8" name="Slide Number Placeholder 7">
            <a:extLst>
              <a:ext uri="{FF2B5EF4-FFF2-40B4-BE49-F238E27FC236}">
                <a16:creationId xmlns:a16="http://schemas.microsoft.com/office/drawing/2014/main" id="{25C206AA-0AE6-0D4A-B919-C796AC996CD3}"/>
              </a:ext>
            </a:extLst>
          </p:cNvPr>
          <p:cNvSpPr>
            <a:spLocks noGrp="1"/>
          </p:cNvSpPr>
          <p:nvPr>
            <p:ph type="sldNum" sz="quarter" idx="11"/>
          </p:nvPr>
        </p:nvSpPr>
        <p:spPr/>
        <p:txBody>
          <a:bodyPr/>
          <a:lstStyle>
            <a:lvl1pPr>
              <a:defRPr/>
            </a:lvl1pPr>
          </a:lstStyle>
          <a:p>
            <a:fld id="{05C7B917-6AEA-0F4E-A9BC-B450258C4C9F}" type="slidenum">
              <a:rPr lang="en-GB" altLang="en-US"/>
              <a:pPr/>
              <a:t>‹#›</a:t>
            </a:fld>
            <a:endParaRPr lang="en-GB" altLang="en-US" sz="1600">
              <a:solidFill>
                <a:schemeClr val="tx1"/>
              </a:solidFill>
            </a:endParaRPr>
          </a:p>
        </p:txBody>
      </p:sp>
      <p:sp>
        <p:nvSpPr>
          <p:cNvPr id="9" name="Footer Placeholder 8">
            <a:extLst>
              <a:ext uri="{FF2B5EF4-FFF2-40B4-BE49-F238E27FC236}">
                <a16:creationId xmlns:a16="http://schemas.microsoft.com/office/drawing/2014/main" id="{27460B81-45CA-E142-A0B9-1D37C900F857}"/>
              </a:ext>
            </a:extLst>
          </p:cNvPr>
          <p:cNvSpPr>
            <a:spLocks noGrp="1"/>
          </p:cNvSpPr>
          <p:nvPr>
            <p:ph type="ftr" sz="quarter" idx="12"/>
          </p:nvPr>
        </p:nvSpPr>
        <p:spPr/>
        <p:txBody>
          <a:bodyPr/>
          <a:lstStyle>
            <a:lvl1pPr>
              <a:defRPr/>
            </a:lvl1pPr>
          </a:lstStyle>
          <a:p>
            <a:endParaRPr lang="en-GB" altLang="en-US"/>
          </a:p>
          <a:p>
            <a:endParaRPr lang="en-GB" altLang="en-US"/>
          </a:p>
        </p:txBody>
      </p:sp>
    </p:spTree>
    <p:extLst>
      <p:ext uri="{BB962C8B-B14F-4D97-AF65-F5344CB8AC3E}">
        <p14:creationId xmlns:p14="http://schemas.microsoft.com/office/powerpoint/2010/main" val="356204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11B77-CE72-5445-B16C-0E045D74A85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9957D0-B39B-5A48-BB51-0AFC2D2AC7E7}"/>
              </a:ext>
            </a:extLst>
          </p:cNvPr>
          <p:cNvSpPr>
            <a:spLocks noGrp="1"/>
          </p:cNvSpPr>
          <p:nvPr>
            <p:ph type="dt" sz="half" idx="10"/>
          </p:nvPr>
        </p:nvSpPr>
        <p:spPr/>
        <p:txBody>
          <a:bodyPr/>
          <a:lstStyle>
            <a:lvl1pPr>
              <a:defRPr/>
            </a:lvl1pPr>
          </a:lstStyle>
          <a:p>
            <a:endParaRPr lang="en-GB" altLang="en-US"/>
          </a:p>
        </p:txBody>
      </p:sp>
      <p:sp>
        <p:nvSpPr>
          <p:cNvPr id="4" name="Slide Number Placeholder 3">
            <a:extLst>
              <a:ext uri="{FF2B5EF4-FFF2-40B4-BE49-F238E27FC236}">
                <a16:creationId xmlns:a16="http://schemas.microsoft.com/office/drawing/2014/main" id="{D3DE00CC-637F-5548-A86C-531ED3CA467E}"/>
              </a:ext>
            </a:extLst>
          </p:cNvPr>
          <p:cNvSpPr>
            <a:spLocks noGrp="1"/>
          </p:cNvSpPr>
          <p:nvPr>
            <p:ph type="sldNum" sz="quarter" idx="11"/>
          </p:nvPr>
        </p:nvSpPr>
        <p:spPr/>
        <p:txBody>
          <a:bodyPr/>
          <a:lstStyle>
            <a:lvl1pPr>
              <a:defRPr/>
            </a:lvl1pPr>
          </a:lstStyle>
          <a:p>
            <a:fld id="{D4AB98FE-9B44-8F4F-955D-F7EF3C7C350C}" type="slidenum">
              <a:rPr lang="en-GB" altLang="en-US"/>
              <a:pPr/>
              <a:t>‹#›</a:t>
            </a:fld>
            <a:endParaRPr lang="en-GB" altLang="en-US" sz="1600">
              <a:solidFill>
                <a:schemeClr val="tx1"/>
              </a:solidFill>
            </a:endParaRPr>
          </a:p>
        </p:txBody>
      </p:sp>
      <p:sp>
        <p:nvSpPr>
          <p:cNvPr id="5" name="Footer Placeholder 4">
            <a:extLst>
              <a:ext uri="{FF2B5EF4-FFF2-40B4-BE49-F238E27FC236}">
                <a16:creationId xmlns:a16="http://schemas.microsoft.com/office/drawing/2014/main" id="{49848597-AF98-3148-A773-041F7A66D7F1}"/>
              </a:ext>
            </a:extLst>
          </p:cNvPr>
          <p:cNvSpPr>
            <a:spLocks noGrp="1"/>
          </p:cNvSpPr>
          <p:nvPr>
            <p:ph type="ftr" sz="quarter" idx="12"/>
          </p:nvPr>
        </p:nvSpPr>
        <p:spPr/>
        <p:txBody>
          <a:bodyPr/>
          <a:lstStyle>
            <a:lvl1pPr>
              <a:defRPr/>
            </a:lvl1pPr>
          </a:lstStyle>
          <a:p>
            <a:endParaRPr lang="en-GB" altLang="en-US"/>
          </a:p>
          <a:p>
            <a:endParaRPr lang="en-GB" altLang="en-US"/>
          </a:p>
        </p:txBody>
      </p:sp>
    </p:spTree>
    <p:extLst>
      <p:ext uri="{BB962C8B-B14F-4D97-AF65-F5344CB8AC3E}">
        <p14:creationId xmlns:p14="http://schemas.microsoft.com/office/powerpoint/2010/main" val="2399684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FBF8E1-C0F4-284E-B0BE-1D298B977895}"/>
              </a:ext>
            </a:extLst>
          </p:cNvPr>
          <p:cNvSpPr>
            <a:spLocks noGrp="1"/>
          </p:cNvSpPr>
          <p:nvPr>
            <p:ph type="dt" sz="half" idx="10"/>
          </p:nvPr>
        </p:nvSpPr>
        <p:spPr/>
        <p:txBody>
          <a:bodyPr/>
          <a:lstStyle>
            <a:lvl1pPr>
              <a:defRPr/>
            </a:lvl1pPr>
          </a:lstStyle>
          <a:p>
            <a:endParaRPr lang="en-GB" altLang="en-US"/>
          </a:p>
        </p:txBody>
      </p:sp>
      <p:sp>
        <p:nvSpPr>
          <p:cNvPr id="3" name="Slide Number Placeholder 2">
            <a:extLst>
              <a:ext uri="{FF2B5EF4-FFF2-40B4-BE49-F238E27FC236}">
                <a16:creationId xmlns:a16="http://schemas.microsoft.com/office/drawing/2014/main" id="{7099DC78-96C4-1E4C-8A73-2352EAC640C0}"/>
              </a:ext>
            </a:extLst>
          </p:cNvPr>
          <p:cNvSpPr>
            <a:spLocks noGrp="1"/>
          </p:cNvSpPr>
          <p:nvPr>
            <p:ph type="sldNum" sz="quarter" idx="11"/>
          </p:nvPr>
        </p:nvSpPr>
        <p:spPr/>
        <p:txBody>
          <a:bodyPr/>
          <a:lstStyle>
            <a:lvl1pPr>
              <a:defRPr/>
            </a:lvl1pPr>
          </a:lstStyle>
          <a:p>
            <a:fld id="{AC467FBF-22C3-BD4A-99C3-C4C824D7D4CA}" type="slidenum">
              <a:rPr lang="en-GB" altLang="en-US"/>
              <a:pPr/>
              <a:t>‹#›</a:t>
            </a:fld>
            <a:endParaRPr lang="en-GB" altLang="en-US" sz="1600">
              <a:solidFill>
                <a:schemeClr val="tx1"/>
              </a:solidFill>
            </a:endParaRPr>
          </a:p>
        </p:txBody>
      </p:sp>
      <p:sp>
        <p:nvSpPr>
          <p:cNvPr id="4" name="Footer Placeholder 3">
            <a:extLst>
              <a:ext uri="{FF2B5EF4-FFF2-40B4-BE49-F238E27FC236}">
                <a16:creationId xmlns:a16="http://schemas.microsoft.com/office/drawing/2014/main" id="{02324E89-1EE0-224F-90F2-DC3B1CEFF8AC}"/>
              </a:ext>
            </a:extLst>
          </p:cNvPr>
          <p:cNvSpPr>
            <a:spLocks noGrp="1"/>
          </p:cNvSpPr>
          <p:nvPr>
            <p:ph type="ftr" sz="quarter" idx="12"/>
          </p:nvPr>
        </p:nvSpPr>
        <p:spPr/>
        <p:txBody>
          <a:bodyPr/>
          <a:lstStyle>
            <a:lvl1pPr>
              <a:defRPr/>
            </a:lvl1pPr>
          </a:lstStyle>
          <a:p>
            <a:endParaRPr lang="en-GB" altLang="en-US"/>
          </a:p>
          <a:p>
            <a:endParaRPr lang="en-GB" altLang="en-US"/>
          </a:p>
        </p:txBody>
      </p:sp>
    </p:spTree>
    <p:extLst>
      <p:ext uri="{BB962C8B-B14F-4D97-AF65-F5344CB8AC3E}">
        <p14:creationId xmlns:p14="http://schemas.microsoft.com/office/powerpoint/2010/main" val="1538920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4C004-D4C6-8A4E-A997-1860721C29F6}"/>
              </a:ext>
            </a:extLst>
          </p:cNvPr>
          <p:cNvSpPr>
            <a:spLocks noGrp="1"/>
          </p:cNvSpPr>
          <p:nvPr>
            <p:ph type="title"/>
          </p:nvPr>
        </p:nvSpPr>
        <p:spPr>
          <a:xfrm>
            <a:off x="698500" y="506413"/>
            <a:ext cx="3275013" cy="1773237"/>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46D277-9D6E-974B-A3C9-F717BEB9585B}"/>
              </a:ext>
            </a:extLst>
          </p:cNvPr>
          <p:cNvSpPr>
            <a:spLocks noGrp="1"/>
          </p:cNvSpPr>
          <p:nvPr>
            <p:ph idx="1"/>
          </p:nvPr>
        </p:nvSpPr>
        <p:spPr>
          <a:xfrm>
            <a:off x="4316413" y="1093788"/>
            <a:ext cx="5138737" cy="53975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EA7F2E-D130-5440-8E71-22E84BA5B941}"/>
              </a:ext>
            </a:extLst>
          </p:cNvPr>
          <p:cNvSpPr>
            <a:spLocks noGrp="1"/>
          </p:cNvSpPr>
          <p:nvPr>
            <p:ph type="body" sz="half" idx="2"/>
          </p:nvPr>
        </p:nvSpPr>
        <p:spPr>
          <a:xfrm>
            <a:off x="698500" y="2279650"/>
            <a:ext cx="3275013" cy="42211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1F32F5-E885-AB45-A8FC-DE6231A75E07}"/>
              </a:ext>
            </a:extLst>
          </p:cNvPr>
          <p:cNvSpPr>
            <a:spLocks noGrp="1"/>
          </p:cNvSpPr>
          <p:nvPr>
            <p:ph type="dt" sz="half" idx="10"/>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09FF824C-7D1D-FF4B-8455-7BB4204FF618}"/>
              </a:ext>
            </a:extLst>
          </p:cNvPr>
          <p:cNvSpPr>
            <a:spLocks noGrp="1"/>
          </p:cNvSpPr>
          <p:nvPr>
            <p:ph type="sldNum" sz="quarter" idx="11"/>
          </p:nvPr>
        </p:nvSpPr>
        <p:spPr/>
        <p:txBody>
          <a:bodyPr/>
          <a:lstStyle>
            <a:lvl1pPr>
              <a:defRPr/>
            </a:lvl1pPr>
          </a:lstStyle>
          <a:p>
            <a:fld id="{80B9967C-9C61-F447-A014-8276EA034E41}" type="slidenum">
              <a:rPr lang="en-GB" altLang="en-US"/>
              <a:pPr/>
              <a:t>‹#›</a:t>
            </a:fld>
            <a:endParaRPr lang="en-GB" altLang="en-US" sz="1600">
              <a:solidFill>
                <a:schemeClr val="tx1"/>
              </a:solidFill>
            </a:endParaRPr>
          </a:p>
        </p:txBody>
      </p:sp>
      <p:sp>
        <p:nvSpPr>
          <p:cNvPr id="7" name="Footer Placeholder 6">
            <a:extLst>
              <a:ext uri="{FF2B5EF4-FFF2-40B4-BE49-F238E27FC236}">
                <a16:creationId xmlns:a16="http://schemas.microsoft.com/office/drawing/2014/main" id="{94F6414E-D3F5-1E45-AFA7-22BAD00EE6E0}"/>
              </a:ext>
            </a:extLst>
          </p:cNvPr>
          <p:cNvSpPr>
            <a:spLocks noGrp="1"/>
          </p:cNvSpPr>
          <p:nvPr>
            <p:ph type="ftr" sz="quarter" idx="12"/>
          </p:nvPr>
        </p:nvSpPr>
        <p:spPr/>
        <p:txBody>
          <a:bodyPr/>
          <a:lstStyle>
            <a:lvl1pPr>
              <a:defRPr/>
            </a:lvl1pPr>
          </a:lstStyle>
          <a:p>
            <a:endParaRPr lang="en-GB" altLang="en-US"/>
          </a:p>
          <a:p>
            <a:endParaRPr lang="en-GB" altLang="en-US"/>
          </a:p>
        </p:txBody>
      </p:sp>
    </p:spTree>
    <p:extLst>
      <p:ext uri="{BB962C8B-B14F-4D97-AF65-F5344CB8AC3E}">
        <p14:creationId xmlns:p14="http://schemas.microsoft.com/office/powerpoint/2010/main" val="316474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3D619-CDC5-9945-8E7F-9FB9D8274E40}"/>
              </a:ext>
            </a:extLst>
          </p:cNvPr>
          <p:cNvSpPr>
            <a:spLocks noGrp="1"/>
          </p:cNvSpPr>
          <p:nvPr>
            <p:ph type="title"/>
          </p:nvPr>
        </p:nvSpPr>
        <p:spPr>
          <a:xfrm>
            <a:off x="698500" y="506413"/>
            <a:ext cx="3275013" cy="1773237"/>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2B36BC-64E4-9C43-94F9-626D021A660E}"/>
              </a:ext>
            </a:extLst>
          </p:cNvPr>
          <p:cNvSpPr>
            <a:spLocks noGrp="1"/>
          </p:cNvSpPr>
          <p:nvPr>
            <p:ph type="pic" idx="1"/>
          </p:nvPr>
        </p:nvSpPr>
        <p:spPr>
          <a:xfrm>
            <a:off x="4316413" y="1093788"/>
            <a:ext cx="5138737" cy="53975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AFCA58-A70C-E14D-A60F-4B092279CF84}"/>
              </a:ext>
            </a:extLst>
          </p:cNvPr>
          <p:cNvSpPr>
            <a:spLocks noGrp="1"/>
          </p:cNvSpPr>
          <p:nvPr>
            <p:ph type="body" sz="half" idx="2"/>
          </p:nvPr>
        </p:nvSpPr>
        <p:spPr>
          <a:xfrm>
            <a:off x="698500" y="2279650"/>
            <a:ext cx="3275013" cy="42211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4475B58-3308-FD4C-ACAC-3C96FC0A500B}"/>
              </a:ext>
            </a:extLst>
          </p:cNvPr>
          <p:cNvSpPr>
            <a:spLocks noGrp="1"/>
          </p:cNvSpPr>
          <p:nvPr>
            <p:ph type="dt" sz="half" idx="10"/>
          </p:nvPr>
        </p:nvSpPr>
        <p:spPr/>
        <p:txBody>
          <a:bodyPr/>
          <a:lstStyle>
            <a:lvl1pPr>
              <a:defRPr/>
            </a:lvl1pPr>
          </a:lstStyle>
          <a:p>
            <a:endParaRPr lang="en-GB" altLang="en-US"/>
          </a:p>
        </p:txBody>
      </p:sp>
      <p:sp>
        <p:nvSpPr>
          <p:cNvPr id="6" name="Slide Number Placeholder 5">
            <a:extLst>
              <a:ext uri="{FF2B5EF4-FFF2-40B4-BE49-F238E27FC236}">
                <a16:creationId xmlns:a16="http://schemas.microsoft.com/office/drawing/2014/main" id="{9EA04447-BEA0-6543-8C5B-A12DC8EA8637}"/>
              </a:ext>
            </a:extLst>
          </p:cNvPr>
          <p:cNvSpPr>
            <a:spLocks noGrp="1"/>
          </p:cNvSpPr>
          <p:nvPr>
            <p:ph type="sldNum" sz="quarter" idx="11"/>
          </p:nvPr>
        </p:nvSpPr>
        <p:spPr/>
        <p:txBody>
          <a:bodyPr/>
          <a:lstStyle>
            <a:lvl1pPr>
              <a:defRPr/>
            </a:lvl1pPr>
          </a:lstStyle>
          <a:p>
            <a:fld id="{E693B4EB-5218-214B-A7E4-9FD6B3B3D6B8}" type="slidenum">
              <a:rPr lang="en-GB" altLang="en-US"/>
              <a:pPr/>
              <a:t>‹#›</a:t>
            </a:fld>
            <a:endParaRPr lang="en-GB" altLang="en-US" sz="1600">
              <a:solidFill>
                <a:schemeClr val="tx1"/>
              </a:solidFill>
            </a:endParaRPr>
          </a:p>
        </p:txBody>
      </p:sp>
      <p:sp>
        <p:nvSpPr>
          <p:cNvPr id="7" name="Footer Placeholder 6">
            <a:extLst>
              <a:ext uri="{FF2B5EF4-FFF2-40B4-BE49-F238E27FC236}">
                <a16:creationId xmlns:a16="http://schemas.microsoft.com/office/drawing/2014/main" id="{43C73C6B-B77D-4842-9B05-C250BDCBC15D}"/>
              </a:ext>
            </a:extLst>
          </p:cNvPr>
          <p:cNvSpPr>
            <a:spLocks noGrp="1"/>
          </p:cNvSpPr>
          <p:nvPr>
            <p:ph type="ftr" sz="quarter" idx="12"/>
          </p:nvPr>
        </p:nvSpPr>
        <p:spPr/>
        <p:txBody>
          <a:bodyPr/>
          <a:lstStyle>
            <a:lvl1pPr>
              <a:defRPr/>
            </a:lvl1pPr>
          </a:lstStyle>
          <a:p>
            <a:endParaRPr lang="en-GB" altLang="en-US"/>
          </a:p>
          <a:p>
            <a:endParaRPr lang="en-GB" altLang="en-US"/>
          </a:p>
        </p:txBody>
      </p:sp>
    </p:spTree>
    <p:extLst>
      <p:ext uri="{BB962C8B-B14F-4D97-AF65-F5344CB8AC3E}">
        <p14:creationId xmlns:p14="http://schemas.microsoft.com/office/powerpoint/2010/main" val="4213445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2C907-1D48-4548-9D03-55C381EE9D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AF97F9-B809-FC4D-BA86-F820B206720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7B9C3C-EB29-4247-BA89-65C0D8E05717}"/>
              </a:ext>
            </a:extLst>
          </p:cNvPr>
          <p:cNvSpPr>
            <a:spLocks noGrp="1"/>
          </p:cNvSpPr>
          <p:nvPr>
            <p:ph type="dt" sz="half" idx="10"/>
          </p:nvPr>
        </p:nvSpPr>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A859035C-44FD-A042-99F0-214A54AB854D}"/>
              </a:ext>
            </a:extLst>
          </p:cNvPr>
          <p:cNvSpPr>
            <a:spLocks noGrp="1"/>
          </p:cNvSpPr>
          <p:nvPr>
            <p:ph type="sldNum" sz="quarter" idx="11"/>
          </p:nvPr>
        </p:nvSpPr>
        <p:spPr/>
        <p:txBody>
          <a:bodyPr/>
          <a:lstStyle>
            <a:lvl1pPr>
              <a:defRPr/>
            </a:lvl1pPr>
          </a:lstStyle>
          <a:p>
            <a:fld id="{360054CE-B890-364A-8F1D-626584633B8F}" type="slidenum">
              <a:rPr lang="en-GB" altLang="en-US"/>
              <a:pPr/>
              <a:t>‹#›</a:t>
            </a:fld>
            <a:endParaRPr lang="en-GB" altLang="en-US" sz="1600">
              <a:solidFill>
                <a:schemeClr val="tx1"/>
              </a:solidFill>
            </a:endParaRPr>
          </a:p>
        </p:txBody>
      </p:sp>
      <p:sp>
        <p:nvSpPr>
          <p:cNvPr id="6" name="Footer Placeholder 5">
            <a:extLst>
              <a:ext uri="{FF2B5EF4-FFF2-40B4-BE49-F238E27FC236}">
                <a16:creationId xmlns:a16="http://schemas.microsoft.com/office/drawing/2014/main" id="{546BCE1F-3FEB-5D49-9883-0E672E449DEE}"/>
              </a:ext>
            </a:extLst>
          </p:cNvPr>
          <p:cNvSpPr>
            <a:spLocks noGrp="1"/>
          </p:cNvSpPr>
          <p:nvPr>
            <p:ph type="ftr" sz="quarter" idx="12"/>
          </p:nvPr>
        </p:nvSpPr>
        <p:spPr/>
        <p:txBody>
          <a:bodyPr/>
          <a:lstStyle>
            <a:lvl1pPr>
              <a:defRPr/>
            </a:lvl1pPr>
          </a:lstStyle>
          <a:p>
            <a:endParaRPr lang="en-GB" altLang="en-US"/>
          </a:p>
          <a:p>
            <a:endParaRPr lang="en-GB" altLang="en-US"/>
          </a:p>
        </p:txBody>
      </p:sp>
    </p:spTree>
    <p:extLst>
      <p:ext uri="{BB962C8B-B14F-4D97-AF65-F5344CB8AC3E}">
        <p14:creationId xmlns:p14="http://schemas.microsoft.com/office/powerpoint/2010/main" val="4209282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8D4C49-B5C0-E543-B10A-386F48307223}"/>
              </a:ext>
            </a:extLst>
          </p:cNvPr>
          <p:cNvSpPr>
            <a:spLocks noGrp="1"/>
          </p:cNvSpPr>
          <p:nvPr>
            <p:ph type="title" orient="vert"/>
          </p:nvPr>
        </p:nvSpPr>
        <p:spPr>
          <a:xfrm>
            <a:off x="7083425" y="914400"/>
            <a:ext cx="2155825" cy="60198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FA20068-3DA7-2A4F-93DD-1D81B6DDC746}"/>
              </a:ext>
            </a:extLst>
          </p:cNvPr>
          <p:cNvSpPr>
            <a:spLocks noGrp="1"/>
          </p:cNvSpPr>
          <p:nvPr>
            <p:ph type="body" orient="vert" idx="1"/>
          </p:nvPr>
        </p:nvSpPr>
        <p:spPr>
          <a:xfrm>
            <a:off x="611188" y="914400"/>
            <a:ext cx="6319837" cy="6019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2A4C0-7C48-A145-8BF1-9A05906A4C8D}"/>
              </a:ext>
            </a:extLst>
          </p:cNvPr>
          <p:cNvSpPr>
            <a:spLocks noGrp="1"/>
          </p:cNvSpPr>
          <p:nvPr>
            <p:ph type="dt" sz="half" idx="10"/>
          </p:nvPr>
        </p:nvSpPr>
        <p:spPr/>
        <p:txBody>
          <a:bodyPr/>
          <a:lstStyle>
            <a:lvl1pPr>
              <a:defRPr/>
            </a:lvl1pPr>
          </a:lstStyle>
          <a:p>
            <a:endParaRPr lang="en-GB" altLang="en-US"/>
          </a:p>
        </p:txBody>
      </p:sp>
      <p:sp>
        <p:nvSpPr>
          <p:cNvPr id="5" name="Slide Number Placeholder 4">
            <a:extLst>
              <a:ext uri="{FF2B5EF4-FFF2-40B4-BE49-F238E27FC236}">
                <a16:creationId xmlns:a16="http://schemas.microsoft.com/office/drawing/2014/main" id="{4F6B6E34-DAEF-FF46-AF94-DBDD18C73D22}"/>
              </a:ext>
            </a:extLst>
          </p:cNvPr>
          <p:cNvSpPr>
            <a:spLocks noGrp="1"/>
          </p:cNvSpPr>
          <p:nvPr>
            <p:ph type="sldNum" sz="quarter" idx="11"/>
          </p:nvPr>
        </p:nvSpPr>
        <p:spPr/>
        <p:txBody>
          <a:bodyPr/>
          <a:lstStyle>
            <a:lvl1pPr>
              <a:defRPr/>
            </a:lvl1pPr>
          </a:lstStyle>
          <a:p>
            <a:fld id="{DE1A353E-482F-D749-BBA7-40D74F324ADC}" type="slidenum">
              <a:rPr lang="en-GB" altLang="en-US"/>
              <a:pPr/>
              <a:t>‹#›</a:t>
            </a:fld>
            <a:endParaRPr lang="en-GB" altLang="en-US" sz="1600">
              <a:solidFill>
                <a:schemeClr val="tx1"/>
              </a:solidFill>
            </a:endParaRPr>
          </a:p>
        </p:txBody>
      </p:sp>
      <p:sp>
        <p:nvSpPr>
          <p:cNvPr id="6" name="Footer Placeholder 5">
            <a:extLst>
              <a:ext uri="{FF2B5EF4-FFF2-40B4-BE49-F238E27FC236}">
                <a16:creationId xmlns:a16="http://schemas.microsoft.com/office/drawing/2014/main" id="{CDA3D45A-7DD1-884E-ACD5-9F5119F355CB}"/>
              </a:ext>
            </a:extLst>
          </p:cNvPr>
          <p:cNvSpPr>
            <a:spLocks noGrp="1"/>
          </p:cNvSpPr>
          <p:nvPr>
            <p:ph type="ftr" sz="quarter" idx="12"/>
          </p:nvPr>
        </p:nvSpPr>
        <p:spPr/>
        <p:txBody>
          <a:bodyPr/>
          <a:lstStyle>
            <a:lvl1pPr>
              <a:defRPr/>
            </a:lvl1pPr>
          </a:lstStyle>
          <a:p>
            <a:endParaRPr lang="en-GB" altLang="en-US"/>
          </a:p>
          <a:p>
            <a:endParaRPr lang="en-GB" altLang="en-US"/>
          </a:p>
        </p:txBody>
      </p:sp>
    </p:spTree>
    <p:extLst>
      <p:ext uri="{BB962C8B-B14F-4D97-AF65-F5344CB8AC3E}">
        <p14:creationId xmlns:p14="http://schemas.microsoft.com/office/powerpoint/2010/main" val="1523118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8470930E-94F0-B94A-A946-633A0D994220}"/>
              </a:ext>
            </a:extLst>
          </p:cNvPr>
          <p:cNvSpPr>
            <a:spLocks noGrp="1" noChangeArrowheads="1"/>
          </p:cNvSpPr>
          <p:nvPr>
            <p:ph type="title"/>
          </p:nvPr>
        </p:nvSpPr>
        <p:spPr bwMode="auto">
          <a:xfrm>
            <a:off x="611188" y="914400"/>
            <a:ext cx="7237412"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384" tIns="50691" rIns="101384" bIns="50691"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F3EFC19C-D7CC-B946-89FB-7743B6CB2A41}"/>
              </a:ext>
            </a:extLst>
          </p:cNvPr>
          <p:cNvSpPr>
            <a:spLocks noGrp="1" noChangeArrowheads="1"/>
          </p:cNvSpPr>
          <p:nvPr>
            <p:ph type="body" idx="1"/>
          </p:nvPr>
        </p:nvSpPr>
        <p:spPr bwMode="auto">
          <a:xfrm>
            <a:off x="611188" y="2193925"/>
            <a:ext cx="8628062" cy="474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384" tIns="50691" rIns="101384" bIns="50691"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a:extLst>
              <a:ext uri="{FF2B5EF4-FFF2-40B4-BE49-F238E27FC236}">
                <a16:creationId xmlns:a16="http://schemas.microsoft.com/office/drawing/2014/main" id="{DC9186BC-0D3B-F14C-A693-654D6590D636}"/>
              </a:ext>
            </a:extLst>
          </p:cNvPr>
          <p:cNvSpPr>
            <a:spLocks noGrp="1" noChangeArrowheads="1"/>
          </p:cNvSpPr>
          <p:nvPr>
            <p:ph type="dt" sz="half" idx="2"/>
          </p:nvPr>
        </p:nvSpPr>
        <p:spPr bwMode="auto">
          <a:xfrm>
            <a:off x="611188" y="7016750"/>
            <a:ext cx="2114550"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384" tIns="50691" rIns="101384" bIns="50691" numCol="1" anchor="t" anchorCtr="0" compatLnSpc="1">
            <a:prstTxWarp prst="textNoShape">
              <a:avLst/>
            </a:prstTxWarp>
          </a:bodyPr>
          <a:lstStyle>
            <a:lvl1pPr defTabSz="1014413">
              <a:defRPr sz="1000">
                <a:solidFill>
                  <a:srgbClr val="003399"/>
                </a:solidFill>
              </a:defRPr>
            </a:lvl1pPr>
          </a:lstStyle>
          <a:p>
            <a:endParaRPr lang="en-GB" altLang="en-US"/>
          </a:p>
        </p:txBody>
      </p:sp>
      <p:sp>
        <p:nvSpPr>
          <p:cNvPr id="1030" name="Rectangle 6">
            <a:extLst>
              <a:ext uri="{FF2B5EF4-FFF2-40B4-BE49-F238E27FC236}">
                <a16:creationId xmlns:a16="http://schemas.microsoft.com/office/drawing/2014/main" id="{ABE49660-58EF-214D-A4DE-AE6D871AC814}"/>
              </a:ext>
            </a:extLst>
          </p:cNvPr>
          <p:cNvSpPr>
            <a:spLocks noGrp="1" noChangeArrowheads="1"/>
          </p:cNvSpPr>
          <p:nvPr>
            <p:ph type="sldNum" sz="quarter" idx="4"/>
          </p:nvPr>
        </p:nvSpPr>
        <p:spPr bwMode="auto">
          <a:xfrm>
            <a:off x="7696200" y="7016750"/>
            <a:ext cx="2114550"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384" tIns="50691" rIns="101384" bIns="50691" numCol="1" anchor="t" anchorCtr="0" compatLnSpc="1">
            <a:prstTxWarp prst="textNoShape">
              <a:avLst/>
            </a:prstTxWarp>
          </a:bodyPr>
          <a:lstStyle>
            <a:lvl1pPr algn="r" defTabSz="1014413">
              <a:defRPr sz="1000">
                <a:solidFill>
                  <a:srgbClr val="003399"/>
                </a:solidFill>
              </a:defRPr>
            </a:lvl1pPr>
          </a:lstStyle>
          <a:p>
            <a:fld id="{449B3359-DFE4-E44C-A902-F69E8F948C1D}" type="slidenum">
              <a:rPr lang="en-GB" altLang="en-US"/>
              <a:pPr/>
              <a:t>‹#›</a:t>
            </a:fld>
            <a:endParaRPr lang="en-GB" altLang="en-US" sz="1600">
              <a:solidFill>
                <a:schemeClr val="tx1"/>
              </a:solidFill>
            </a:endParaRPr>
          </a:p>
        </p:txBody>
      </p:sp>
      <p:sp>
        <p:nvSpPr>
          <p:cNvPr id="1031" name="Rectangle 7">
            <a:extLst>
              <a:ext uri="{FF2B5EF4-FFF2-40B4-BE49-F238E27FC236}">
                <a16:creationId xmlns:a16="http://schemas.microsoft.com/office/drawing/2014/main" id="{9DADEA5D-87B5-F345-AB69-5403D39DA35F}"/>
              </a:ext>
            </a:extLst>
          </p:cNvPr>
          <p:cNvSpPr>
            <a:spLocks noChangeArrowheads="1"/>
          </p:cNvSpPr>
          <p:nvPr userDrawn="1"/>
        </p:nvSpPr>
        <p:spPr bwMode="auto">
          <a:xfrm>
            <a:off x="0" y="7312025"/>
            <a:ext cx="10152063" cy="280988"/>
          </a:xfrm>
          <a:prstGeom prst="rect">
            <a:avLst/>
          </a:prstGeom>
          <a:solidFill>
            <a:srgbClr val="0033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2" name="Rectangle 8">
            <a:extLst>
              <a:ext uri="{FF2B5EF4-FFF2-40B4-BE49-F238E27FC236}">
                <a16:creationId xmlns:a16="http://schemas.microsoft.com/office/drawing/2014/main" id="{40669B70-4207-CF41-A827-17E603EFCDCC}"/>
              </a:ext>
            </a:extLst>
          </p:cNvPr>
          <p:cNvSpPr>
            <a:spLocks noChangeArrowheads="1"/>
          </p:cNvSpPr>
          <p:nvPr userDrawn="1"/>
        </p:nvSpPr>
        <p:spPr bwMode="auto">
          <a:xfrm>
            <a:off x="0" y="0"/>
            <a:ext cx="10152063" cy="280988"/>
          </a:xfrm>
          <a:prstGeom prst="rect">
            <a:avLst/>
          </a:prstGeom>
          <a:solidFill>
            <a:srgbClr val="0033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034" name="Picture 10">
            <a:extLst>
              <a:ext uri="{FF2B5EF4-FFF2-40B4-BE49-F238E27FC236}">
                <a16:creationId xmlns:a16="http://schemas.microsoft.com/office/drawing/2014/main" id="{ADA1DCB7-B23B-6F4A-BE3C-04B5E973F885}"/>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229600" y="431800"/>
            <a:ext cx="1612900" cy="788988"/>
          </a:xfrm>
          <a:prstGeom prst="rect">
            <a:avLst/>
          </a:prstGeom>
          <a:noFill/>
          <a:extLst>
            <a:ext uri="{909E8E84-426E-40DD-AFC4-6F175D3DCCD1}">
              <a14:hiddenFill xmlns:a14="http://schemas.microsoft.com/office/drawing/2010/main">
                <a:solidFill>
                  <a:srgbClr val="FFFFFF"/>
                </a:solidFill>
              </a14:hiddenFill>
            </a:ext>
          </a:extLst>
        </p:spPr>
      </p:pic>
      <p:sp>
        <p:nvSpPr>
          <p:cNvPr id="1035" name="Text Box 11">
            <a:extLst>
              <a:ext uri="{FF2B5EF4-FFF2-40B4-BE49-F238E27FC236}">
                <a16:creationId xmlns:a16="http://schemas.microsoft.com/office/drawing/2014/main" id="{1B90F14A-3DD6-5348-80E7-C5B33D2A5C17}"/>
              </a:ext>
            </a:extLst>
          </p:cNvPr>
          <p:cNvSpPr txBox="1">
            <a:spLocks noChangeArrowheads="1"/>
          </p:cNvSpPr>
          <p:nvPr userDrawn="1"/>
        </p:nvSpPr>
        <p:spPr bwMode="auto">
          <a:xfrm>
            <a:off x="611188" y="358775"/>
            <a:ext cx="72390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500" dirty="0">
                <a:solidFill>
                  <a:srgbClr val="003399"/>
                </a:solidFill>
                <a:latin typeface="Times New Roman" panose="02020603050405020304" pitchFamily="18" charset="0"/>
              </a:rPr>
              <a:t>Scaling Data Stream Processing on Shared-Memory Multicore Architectures</a:t>
            </a:r>
            <a:endParaRPr lang="en-GB" altLang="en-US" sz="1500" dirty="0">
              <a:solidFill>
                <a:srgbClr val="003399"/>
              </a:solidFill>
              <a:latin typeface="Times New Roman" panose="02020603050405020304" pitchFamily="18" charset="0"/>
            </a:endParaRPr>
          </a:p>
        </p:txBody>
      </p:sp>
      <p:sp>
        <p:nvSpPr>
          <p:cNvPr id="1036" name="Rectangle 12">
            <a:extLst>
              <a:ext uri="{FF2B5EF4-FFF2-40B4-BE49-F238E27FC236}">
                <a16:creationId xmlns:a16="http://schemas.microsoft.com/office/drawing/2014/main" id="{34FFBE9C-0D53-034D-A444-FAB0E681E655}"/>
              </a:ext>
            </a:extLst>
          </p:cNvPr>
          <p:cNvSpPr>
            <a:spLocks noGrp="1" noChangeArrowheads="1"/>
          </p:cNvSpPr>
          <p:nvPr>
            <p:ph type="ftr" sz="quarter" idx="3"/>
          </p:nvPr>
        </p:nvSpPr>
        <p:spPr bwMode="auto">
          <a:xfrm>
            <a:off x="3505200" y="7016750"/>
            <a:ext cx="3214688"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384" tIns="50691" rIns="101384" bIns="50691" numCol="1" anchor="t" anchorCtr="0" compatLnSpc="1">
            <a:prstTxWarp prst="textNoShape">
              <a:avLst/>
            </a:prstTxWarp>
          </a:bodyPr>
          <a:lstStyle>
            <a:lvl1pPr algn="ctr" defTabSz="1014413">
              <a:defRPr sz="1600"/>
            </a:lvl1pPr>
          </a:lstStyle>
          <a:p>
            <a:endParaRPr lang="en-GB" altLang="en-US"/>
          </a:p>
          <a:p>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1014413" rtl="0" fontAlgn="base">
        <a:spcBef>
          <a:spcPct val="0"/>
        </a:spcBef>
        <a:spcAft>
          <a:spcPct val="0"/>
        </a:spcAft>
        <a:defRPr sz="3500" kern="1200">
          <a:solidFill>
            <a:srgbClr val="FF6600"/>
          </a:solidFill>
          <a:latin typeface="+mj-lt"/>
          <a:ea typeface="+mj-ea"/>
          <a:cs typeface="+mj-cs"/>
        </a:defRPr>
      </a:lvl1pPr>
      <a:lvl2pPr algn="l" defTabSz="1014413" rtl="0" fontAlgn="base">
        <a:spcBef>
          <a:spcPct val="0"/>
        </a:spcBef>
        <a:spcAft>
          <a:spcPct val="0"/>
        </a:spcAft>
        <a:defRPr sz="3500">
          <a:solidFill>
            <a:srgbClr val="FF6600"/>
          </a:solidFill>
          <a:latin typeface="Times New Roman" panose="02020603050405020304" pitchFamily="18" charset="0"/>
        </a:defRPr>
      </a:lvl2pPr>
      <a:lvl3pPr algn="l" defTabSz="1014413" rtl="0" fontAlgn="base">
        <a:spcBef>
          <a:spcPct val="0"/>
        </a:spcBef>
        <a:spcAft>
          <a:spcPct val="0"/>
        </a:spcAft>
        <a:defRPr sz="3500">
          <a:solidFill>
            <a:srgbClr val="FF6600"/>
          </a:solidFill>
          <a:latin typeface="Times New Roman" panose="02020603050405020304" pitchFamily="18" charset="0"/>
        </a:defRPr>
      </a:lvl3pPr>
      <a:lvl4pPr algn="l" defTabSz="1014413" rtl="0" fontAlgn="base">
        <a:spcBef>
          <a:spcPct val="0"/>
        </a:spcBef>
        <a:spcAft>
          <a:spcPct val="0"/>
        </a:spcAft>
        <a:defRPr sz="3500">
          <a:solidFill>
            <a:srgbClr val="FF6600"/>
          </a:solidFill>
          <a:latin typeface="Times New Roman" panose="02020603050405020304" pitchFamily="18" charset="0"/>
        </a:defRPr>
      </a:lvl4pPr>
      <a:lvl5pPr algn="l" defTabSz="1014413" rtl="0" fontAlgn="base">
        <a:spcBef>
          <a:spcPct val="0"/>
        </a:spcBef>
        <a:spcAft>
          <a:spcPct val="0"/>
        </a:spcAft>
        <a:defRPr sz="3500">
          <a:solidFill>
            <a:srgbClr val="FF6600"/>
          </a:solidFill>
          <a:latin typeface="Times New Roman" panose="02020603050405020304" pitchFamily="18" charset="0"/>
        </a:defRPr>
      </a:lvl5pPr>
      <a:lvl6pPr marL="457200" algn="l" defTabSz="1014413" rtl="0" fontAlgn="base">
        <a:spcBef>
          <a:spcPct val="0"/>
        </a:spcBef>
        <a:spcAft>
          <a:spcPct val="0"/>
        </a:spcAft>
        <a:defRPr sz="3500">
          <a:solidFill>
            <a:srgbClr val="FF6600"/>
          </a:solidFill>
          <a:latin typeface="Times New Roman" panose="02020603050405020304" pitchFamily="18" charset="0"/>
        </a:defRPr>
      </a:lvl6pPr>
      <a:lvl7pPr marL="914400" algn="l" defTabSz="1014413" rtl="0" fontAlgn="base">
        <a:spcBef>
          <a:spcPct val="0"/>
        </a:spcBef>
        <a:spcAft>
          <a:spcPct val="0"/>
        </a:spcAft>
        <a:defRPr sz="3500">
          <a:solidFill>
            <a:srgbClr val="FF6600"/>
          </a:solidFill>
          <a:latin typeface="Times New Roman" panose="02020603050405020304" pitchFamily="18" charset="0"/>
        </a:defRPr>
      </a:lvl7pPr>
      <a:lvl8pPr marL="1371600" algn="l" defTabSz="1014413" rtl="0" fontAlgn="base">
        <a:spcBef>
          <a:spcPct val="0"/>
        </a:spcBef>
        <a:spcAft>
          <a:spcPct val="0"/>
        </a:spcAft>
        <a:defRPr sz="3500">
          <a:solidFill>
            <a:srgbClr val="FF6600"/>
          </a:solidFill>
          <a:latin typeface="Times New Roman" panose="02020603050405020304" pitchFamily="18" charset="0"/>
        </a:defRPr>
      </a:lvl8pPr>
      <a:lvl9pPr marL="1828800" algn="l" defTabSz="1014413" rtl="0" fontAlgn="base">
        <a:spcBef>
          <a:spcPct val="0"/>
        </a:spcBef>
        <a:spcAft>
          <a:spcPct val="0"/>
        </a:spcAft>
        <a:defRPr sz="3500">
          <a:solidFill>
            <a:srgbClr val="FF6600"/>
          </a:solidFill>
          <a:latin typeface="Times New Roman" panose="02020603050405020304" pitchFamily="18" charset="0"/>
        </a:defRPr>
      </a:lvl9pPr>
    </p:titleStyle>
    <p:bodyStyle>
      <a:lvl1pPr algn="l" defTabSz="1014413" rtl="0" fontAlgn="base">
        <a:spcBef>
          <a:spcPct val="20000"/>
        </a:spcBef>
        <a:spcAft>
          <a:spcPct val="0"/>
        </a:spcAft>
        <a:defRPr sz="2500" b="1" kern="1200">
          <a:solidFill>
            <a:srgbClr val="003399"/>
          </a:solidFill>
          <a:latin typeface="+mn-lt"/>
          <a:ea typeface="+mn-ea"/>
          <a:cs typeface="+mn-cs"/>
        </a:defRPr>
      </a:lvl1pPr>
      <a:lvl2pPr marL="374650" indent="6350" algn="l" defTabSz="1014413" rtl="0" fontAlgn="base">
        <a:spcBef>
          <a:spcPct val="20000"/>
        </a:spcBef>
        <a:spcAft>
          <a:spcPct val="0"/>
        </a:spcAft>
        <a:defRPr sz="2600" kern="1200">
          <a:solidFill>
            <a:srgbClr val="003399"/>
          </a:solidFill>
          <a:latin typeface="+mn-lt"/>
          <a:ea typeface="+mn-ea"/>
          <a:cs typeface="+mn-cs"/>
        </a:defRPr>
      </a:lvl2pPr>
      <a:lvl3pPr marL="755650" algn="l" defTabSz="1014413" rtl="0" fontAlgn="base">
        <a:spcBef>
          <a:spcPct val="20000"/>
        </a:spcBef>
        <a:spcAft>
          <a:spcPct val="0"/>
        </a:spcAft>
        <a:defRPr sz="2200" b="1" kern="1200">
          <a:solidFill>
            <a:srgbClr val="FF6600"/>
          </a:solidFill>
          <a:latin typeface="+mn-lt"/>
          <a:ea typeface="+mn-ea"/>
          <a:cs typeface="+mn-cs"/>
        </a:defRPr>
      </a:lvl3pPr>
      <a:lvl4pPr marL="1143000" indent="6350" algn="l" defTabSz="1014413" rtl="0" fontAlgn="base">
        <a:spcBef>
          <a:spcPct val="20000"/>
        </a:spcBef>
        <a:spcAft>
          <a:spcPct val="0"/>
        </a:spcAft>
        <a:defRPr sz="2200" i="1" kern="1200">
          <a:solidFill>
            <a:srgbClr val="003399"/>
          </a:solidFill>
          <a:latin typeface="+mn-lt"/>
          <a:ea typeface="+mn-ea"/>
          <a:cs typeface="+mn-cs"/>
        </a:defRPr>
      </a:lvl4pPr>
      <a:lvl5pPr marL="1524000" algn="l" defTabSz="1014413" rtl="0" fontAlgn="base">
        <a:spcBef>
          <a:spcPct val="20000"/>
        </a:spcBef>
        <a:spcAft>
          <a:spcPct val="0"/>
        </a:spcAft>
        <a:defRPr sz="2000" kern="1200">
          <a:solidFill>
            <a:srgbClr val="003399"/>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tiff"/><Relationship Id="rId4" Type="http://schemas.openxmlformats.org/officeDocument/2006/relationships/image" Target="../media/image3.tif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6.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0.png"/><Relationship Id="rId4"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a:extLst>
              <a:ext uri="{FF2B5EF4-FFF2-40B4-BE49-F238E27FC236}">
                <a16:creationId xmlns:a16="http://schemas.microsoft.com/office/drawing/2014/main" id="{45EF1C5C-FB8D-9E4D-A237-4053EAD62BEC}"/>
              </a:ext>
            </a:extLst>
          </p:cNvPr>
          <p:cNvSpPr>
            <a:spLocks noGrp="1"/>
          </p:cNvSpPr>
          <p:nvPr>
            <p:ph type="ftr" sz="quarter" idx="12"/>
          </p:nvPr>
        </p:nvSpPr>
        <p:spPr/>
        <p:txBody>
          <a:bodyPr/>
          <a:lstStyle/>
          <a:p>
            <a:endParaRPr lang="en-GB" altLang="en-US"/>
          </a:p>
          <a:p>
            <a:endParaRPr lang="en-GB" altLang="en-US"/>
          </a:p>
        </p:txBody>
      </p:sp>
      <p:sp>
        <p:nvSpPr>
          <p:cNvPr id="2065" name="Rectangle 17">
            <a:extLst>
              <a:ext uri="{FF2B5EF4-FFF2-40B4-BE49-F238E27FC236}">
                <a16:creationId xmlns:a16="http://schemas.microsoft.com/office/drawing/2014/main" id="{44CBE188-49FF-854B-8E05-7E0B4B195FCE}"/>
              </a:ext>
            </a:extLst>
          </p:cNvPr>
          <p:cNvSpPr>
            <a:spLocks noChangeArrowheads="1"/>
          </p:cNvSpPr>
          <p:nvPr/>
        </p:nvSpPr>
        <p:spPr bwMode="auto">
          <a:xfrm>
            <a:off x="0" y="0"/>
            <a:ext cx="10152063" cy="5486400"/>
          </a:xfrm>
          <a:prstGeom prst="rect">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66" name="Text Box 18">
            <a:extLst>
              <a:ext uri="{FF2B5EF4-FFF2-40B4-BE49-F238E27FC236}">
                <a16:creationId xmlns:a16="http://schemas.microsoft.com/office/drawing/2014/main" id="{E6983B4C-3483-5B4A-97BD-12221A923A4A}"/>
              </a:ext>
            </a:extLst>
          </p:cNvPr>
          <p:cNvSpPr txBox="1">
            <a:spLocks noChangeArrowheads="1"/>
          </p:cNvSpPr>
          <p:nvPr/>
        </p:nvSpPr>
        <p:spPr bwMode="auto">
          <a:xfrm>
            <a:off x="792163" y="1447800"/>
            <a:ext cx="858043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pPr>
            <a:r>
              <a:rPr lang="en-US" altLang="en-US" sz="4800" dirty="0">
                <a:solidFill>
                  <a:schemeClr val="bg1"/>
                </a:solidFill>
                <a:latin typeface="Times New Roman" panose="02020603050405020304" pitchFamily="18" charset="0"/>
              </a:rPr>
              <a:t>BriskStream: Scaling Data Stream Processing on Shared-Memory Multicore Architectures</a:t>
            </a:r>
            <a:endParaRPr lang="en-GB" altLang="en-US" sz="4800" dirty="0">
              <a:solidFill>
                <a:schemeClr val="bg1"/>
              </a:solidFill>
              <a:latin typeface="Times New Roman" panose="02020603050405020304" pitchFamily="18" charset="0"/>
            </a:endParaRPr>
          </a:p>
        </p:txBody>
      </p:sp>
      <p:sp>
        <p:nvSpPr>
          <p:cNvPr id="2067" name="Rectangle 19">
            <a:extLst>
              <a:ext uri="{FF2B5EF4-FFF2-40B4-BE49-F238E27FC236}">
                <a16:creationId xmlns:a16="http://schemas.microsoft.com/office/drawing/2014/main" id="{3C31D1F6-A717-B74B-8AEE-4A2CA62D5D04}"/>
              </a:ext>
            </a:extLst>
          </p:cNvPr>
          <p:cNvSpPr>
            <a:spLocks noChangeArrowheads="1"/>
          </p:cNvSpPr>
          <p:nvPr/>
        </p:nvSpPr>
        <p:spPr bwMode="auto">
          <a:xfrm>
            <a:off x="0" y="7315200"/>
            <a:ext cx="10152063" cy="280988"/>
          </a:xfrm>
          <a:prstGeom prst="rect">
            <a:avLst/>
          </a:prstGeom>
          <a:solidFill>
            <a:srgbClr val="FF66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Rectangle 1">
            <a:extLst>
              <a:ext uri="{FF2B5EF4-FFF2-40B4-BE49-F238E27FC236}">
                <a16:creationId xmlns:a16="http://schemas.microsoft.com/office/drawing/2014/main" id="{AEED6F4A-046B-FC4B-B030-C68FE243FF76}"/>
              </a:ext>
            </a:extLst>
          </p:cNvPr>
          <p:cNvSpPr/>
          <p:nvPr/>
        </p:nvSpPr>
        <p:spPr>
          <a:xfrm>
            <a:off x="1418431" y="4067500"/>
            <a:ext cx="7848600" cy="461665"/>
          </a:xfrm>
          <a:prstGeom prst="rect">
            <a:avLst/>
          </a:prstGeom>
        </p:spPr>
        <p:txBody>
          <a:bodyPr wrap="square">
            <a:spAutoFit/>
          </a:bodyPr>
          <a:lstStyle/>
          <a:p>
            <a:r>
              <a:rPr lang="en-US" dirty="0">
                <a:solidFill>
                  <a:schemeClr val="bg1"/>
                </a:solidFill>
              </a:rPr>
              <a:t>Shuhao Zhang</a:t>
            </a:r>
            <a:r>
              <a:rPr lang="en-US" baseline="30000" dirty="0">
                <a:solidFill>
                  <a:schemeClr val="bg1"/>
                </a:solidFill>
              </a:rPr>
              <a:t>*1</a:t>
            </a:r>
            <a:r>
              <a:rPr lang="en-US" dirty="0">
                <a:solidFill>
                  <a:schemeClr val="bg1"/>
                </a:solidFill>
              </a:rPr>
              <a:t>, </a:t>
            </a:r>
            <a:r>
              <a:rPr lang="en-US" dirty="0" err="1">
                <a:solidFill>
                  <a:schemeClr val="bg1"/>
                </a:solidFill>
              </a:rPr>
              <a:t>Jiong</a:t>
            </a:r>
            <a:r>
              <a:rPr lang="en-US" dirty="0">
                <a:solidFill>
                  <a:schemeClr val="bg1"/>
                </a:solidFill>
              </a:rPr>
              <a:t> He</a:t>
            </a:r>
            <a:r>
              <a:rPr lang="en-US" baseline="30000" dirty="0">
                <a:solidFill>
                  <a:schemeClr val="bg1"/>
                </a:solidFill>
              </a:rPr>
              <a:t>2</a:t>
            </a:r>
            <a:r>
              <a:rPr lang="en-US" dirty="0">
                <a:solidFill>
                  <a:schemeClr val="bg1"/>
                </a:solidFill>
              </a:rPr>
              <a:t>, Amelie Chi Zhou</a:t>
            </a:r>
            <a:r>
              <a:rPr lang="en-US" baseline="30000" dirty="0">
                <a:solidFill>
                  <a:schemeClr val="bg1"/>
                </a:solidFill>
              </a:rPr>
              <a:t>3</a:t>
            </a:r>
            <a:r>
              <a:rPr lang="en-US" dirty="0">
                <a:solidFill>
                  <a:schemeClr val="bg1"/>
                </a:solidFill>
              </a:rPr>
              <a:t>,</a:t>
            </a:r>
            <a:r>
              <a:rPr lang="en-US" baseline="30000" dirty="0">
                <a:solidFill>
                  <a:schemeClr val="bg1"/>
                </a:solidFill>
              </a:rPr>
              <a:t> </a:t>
            </a:r>
            <a:r>
              <a:rPr lang="en-US" dirty="0" err="1">
                <a:solidFill>
                  <a:schemeClr val="bg1"/>
                </a:solidFill>
              </a:rPr>
              <a:t>Bingsheng</a:t>
            </a:r>
            <a:r>
              <a:rPr lang="en-US" dirty="0">
                <a:solidFill>
                  <a:schemeClr val="bg1"/>
                </a:solidFill>
              </a:rPr>
              <a:t> He</a:t>
            </a:r>
            <a:r>
              <a:rPr lang="en-US" baseline="30000" dirty="0">
                <a:solidFill>
                  <a:schemeClr val="bg1"/>
                </a:solidFill>
              </a:rPr>
              <a:t>1</a:t>
            </a:r>
          </a:p>
        </p:txBody>
      </p:sp>
      <p:pic>
        <p:nvPicPr>
          <p:cNvPr id="9" name="Picture 6">
            <a:extLst>
              <a:ext uri="{FF2B5EF4-FFF2-40B4-BE49-F238E27FC236}">
                <a16:creationId xmlns:a16="http://schemas.microsoft.com/office/drawing/2014/main" id="{60E53FC3-1A2B-0E4B-ADB7-745F994607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256" t="19476" r="12821" b="21317"/>
          <a:stretch/>
        </p:blipFill>
        <p:spPr bwMode="auto">
          <a:xfrm>
            <a:off x="1530872" y="5679520"/>
            <a:ext cx="2286000" cy="1066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3" name="Picture 12">
            <a:extLst>
              <a:ext uri="{FF2B5EF4-FFF2-40B4-BE49-F238E27FC236}">
                <a16:creationId xmlns:a16="http://schemas.microsoft.com/office/drawing/2014/main" id="{F7216F96-E74E-CD4C-9553-9A46C7197715}"/>
              </a:ext>
            </a:extLst>
          </p:cNvPr>
          <p:cNvPicPr>
            <a:picLocks noChangeAspect="1"/>
          </p:cNvPicPr>
          <p:nvPr/>
        </p:nvPicPr>
        <p:blipFill rotWithShape="1">
          <a:blip r:embed="rId4"/>
          <a:srcRect t="30157" b="30396"/>
          <a:stretch/>
        </p:blipFill>
        <p:spPr>
          <a:xfrm>
            <a:off x="4314031" y="5697865"/>
            <a:ext cx="2717676" cy="1072029"/>
          </a:xfrm>
          <a:prstGeom prst="rect">
            <a:avLst/>
          </a:prstGeom>
        </p:spPr>
      </p:pic>
      <p:pic>
        <p:nvPicPr>
          <p:cNvPr id="14" name="Picture 13">
            <a:extLst>
              <a:ext uri="{FF2B5EF4-FFF2-40B4-BE49-F238E27FC236}">
                <a16:creationId xmlns:a16="http://schemas.microsoft.com/office/drawing/2014/main" id="{D58C465B-0C89-2848-B454-EAFA9CE2CDB5}"/>
              </a:ext>
            </a:extLst>
          </p:cNvPr>
          <p:cNvPicPr>
            <a:picLocks noChangeAspect="1"/>
          </p:cNvPicPr>
          <p:nvPr/>
        </p:nvPicPr>
        <p:blipFill>
          <a:blip r:embed="rId5"/>
          <a:stretch>
            <a:fillRect/>
          </a:stretch>
        </p:blipFill>
        <p:spPr>
          <a:xfrm>
            <a:off x="7528866" y="5592382"/>
            <a:ext cx="1177512" cy="1177512"/>
          </a:xfrm>
          <a:prstGeom prst="rect">
            <a:avLst/>
          </a:prstGeom>
        </p:spPr>
      </p:pic>
      <p:sp>
        <p:nvSpPr>
          <p:cNvPr id="11" name="TextBox 10">
            <a:extLst>
              <a:ext uri="{FF2B5EF4-FFF2-40B4-BE49-F238E27FC236}">
                <a16:creationId xmlns:a16="http://schemas.microsoft.com/office/drawing/2014/main" id="{9E1C7C76-C387-F748-A372-DD218DC6E42B}"/>
              </a:ext>
            </a:extLst>
          </p:cNvPr>
          <p:cNvSpPr txBox="1"/>
          <p:nvPr/>
        </p:nvSpPr>
        <p:spPr>
          <a:xfrm>
            <a:off x="4113566" y="5589090"/>
            <a:ext cx="312906" cy="369332"/>
          </a:xfrm>
          <a:prstGeom prst="rect">
            <a:avLst/>
          </a:prstGeom>
          <a:noFill/>
        </p:spPr>
        <p:txBody>
          <a:bodyPr wrap="none" rtlCol="0">
            <a:spAutoFit/>
          </a:bodyPr>
          <a:lstStyle/>
          <a:p>
            <a:r>
              <a:rPr lang="en-US" dirty="0"/>
              <a:t>2</a:t>
            </a:r>
          </a:p>
        </p:txBody>
      </p:sp>
      <p:sp>
        <p:nvSpPr>
          <p:cNvPr id="12" name="TextBox 11">
            <a:extLst>
              <a:ext uri="{FF2B5EF4-FFF2-40B4-BE49-F238E27FC236}">
                <a16:creationId xmlns:a16="http://schemas.microsoft.com/office/drawing/2014/main" id="{83010645-7D9F-DF4B-BF08-04A76D88A715}"/>
              </a:ext>
            </a:extLst>
          </p:cNvPr>
          <p:cNvSpPr txBox="1"/>
          <p:nvPr/>
        </p:nvSpPr>
        <p:spPr>
          <a:xfrm>
            <a:off x="7215960" y="5588857"/>
            <a:ext cx="312906" cy="369332"/>
          </a:xfrm>
          <a:prstGeom prst="rect">
            <a:avLst/>
          </a:prstGeom>
          <a:noFill/>
        </p:spPr>
        <p:txBody>
          <a:bodyPr wrap="none" rtlCol="0">
            <a:spAutoFit/>
          </a:bodyPr>
          <a:lstStyle/>
          <a:p>
            <a:r>
              <a:rPr lang="en-US" dirty="0"/>
              <a:t>3</a:t>
            </a:r>
          </a:p>
        </p:txBody>
      </p:sp>
      <p:sp>
        <p:nvSpPr>
          <p:cNvPr id="10" name="TextBox 9">
            <a:extLst>
              <a:ext uri="{FF2B5EF4-FFF2-40B4-BE49-F238E27FC236}">
                <a16:creationId xmlns:a16="http://schemas.microsoft.com/office/drawing/2014/main" id="{176047E3-00DF-344E-B905-95C719781010}"/>
              </a:ext>
            </a:extLst>
          </p:cNvPr>
          <p:cNvSpPr txBox="1"/>
          <p:nvPr/>
        </p:nvSpPr>
        <p:spPr>
          <a:xfrm>
            <a:off x="1374419" y="5589090"/>
            <a:ext cx="312906" cy="369332"/>
          </a:xfrm>
          <a:prstGeom prst="rect">
            <a:avLst/>
          </a:prstGeom>
          <a:noFill/>
        </p:spPr>
        <p:txBody>
          <a:bodyPr wrap="none" rtlCol="0">
            <a:spAutoFit/>
          </a:bodyPr>
          <a:lstStyle/>
          <a:p>
            <a:r>
              <a:rPr lang="en-US" dirty="0"/>
              <a:t>1</a:t>
            </a:r>
          </a:p>
        </p:txBody>
      </p:sp>
      <p:sp>
        <p:nvSpPr>
          <p:cNvPr id="3" name="Rectangle 2">
            <a:extLst>
              <a:ext uri="{FF2B5EF4-FFF2-40B4-BE49-F238E27FC236}">
                <a16:creationId xmlns:a16="http://schemas.microsoft.com/office/drawing/2014/main" id="{BAA6FA7E-9828-1A48-9F10-A8F11FCF54A8}"/>
              </a:ext>
            </a:extLst>
          </p:cNvPr>
          <p:cNvSpPr/>
          <p:nvPr/>
        </p:nvSpPr>
        <p:spPr>
          <a:xfrm>
            <a:off x="0" y="6948067"/>
            <a:ext cx="6834187" cy="369332"/>
          </a:xfrm>
          <a:prstGeom prst="rect">
            <a:avLst/>
          </a:prstGeom>
        </p:spPr>
        <p:txBody>
          <a:bodyPr wrap="square">
            <a:spAutoFit/>
          </a:bodyPr>
          <a:lstStyle/>
          <a:p>
            <a:r>
              <a:rPr lang="en-US" sz="1800" baseline="30000" dirty="0"/>
              <a:t>*</a:t>
            </a:r>
            <a:r>
              <a:rPr lang="en-US" sz="1800" dirty="0"/>
              <a:t>Work done while as research trainee at SAP Singapore.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5">
            <a:extLst>
              <a:ext uri="{FF2B5EF4-FFF2-40B4-BE49-F238E27FC236}">
                <a16:creationId xmlns:a16="http://schemas.microsoft.com/office/drawing/2014/main" id="{608C40F7-9281-8A43-9285-1E68E97E8744}"/>
              </a:ext>
            </a:extLst>
          </p:cNvPr>
          <p:cNvSpPr>
            <a:spLocks noGrp="1"/>
          </p:cNvSpPr>
          <p:nvPr>
            <p:ph type="ftr" sz="quarter" idx="12"/>
          </p:nvPr>
        </p:nvSpPr>
        <p:spPr/>
        <p:txBody>
          <a:bodyPr/>
          <a:lstStyle/>
          <a:p>
            <a:endParaRPr lang="en-GB" altLang="en-US"/>
          </a:p>
          <a:p>
            <a:endParaRPr lang="en-GB" altLang="en-US"/>
          </a:p>
        </p:txBody>
      </p:sp>
      <p:sp>
        <p:nvSpPr>
          <p:cNvPr id="14338" name="Rectangle 2">
            <a:extLst>
              <a:ext uri="{FF2B5EF4-FFF2-40B4-BE49-F238E27FC236}">
                <a16:creationId xmlns:a16="http://schemas.microsoft.com/office/drawing/2014/main" id="{7B85D8F9-2B91-ED47-B4F1-78197046B3B7}"/>
              </a:ext>
            </a:extLst>
          </p:cNvPr>
          <p:cNvSpPr>
            <a:spLocks noGrp="1" noChangeArrowheads="1"/>
          </p:cNvSpPr>
          <p:nvPr>
            <p:ph type="title"/>
          </p:nvPr>
        </p:nvSpPr>
        <p:spPr/>
        <p:txBody>
          <a:bodyPr/>
          <a:lstStyle/>
          <a:p>
            <a:r>
              <a:rPr lang="en-US" dirty="0"/>
              <a:t>Outline</a:t>
            </a:r>
            <a:endParaRPr lang="en-GB" altLang="en-US" dirty="0"/>
          </a:p>
        </p:txBody>
      </p:sp>
      <p:sp>
        <p:nvSpPr>
          <p:cNvPr id="14339" name="Rectangle 3">
            <a:extLst>
              <a:ext uri="{FF2B5EF4-FFF2-40B4-BE49-F238E27FC236}">
                <a16:creationId xmlns:a16="http://schemas.microsoft.com/office/drawing/2014/main" id="{9E153C3C-1718-7747-AED1-F46255C2D4B2}"/>
              </a:ext>
            </a:extLst>
          </p:cNvPr>
          <p:cNvSpPr>
            <a:spLocks noGrp="1" noChangeArrowheads="1"/>
          </p:cNvSpPr>
          <p:nvPr>
            <p:ph type="body" idx="1"/>
          </p:nvPr>
        </p:nvSpPr>
        <p:spPr/>
        <p:txBody>
          <a:bodyPr/>
          <a:lstStyle/>
          <a:p>
            <a:pPr marL="342900" indent="-342900">
              <a:buFont typeface="Arial" panose="020B0604020202020204" pitchFamily="34" charset="0"/>
              <a:buChar char="•"/>
            </a:pPr>
            <a:r>
              <a:rPr lang="en-GB" altLang="en-US" dirty="0"/>
              <a:t>Motivation</a:t>
            </a:r>
          </a:p>
          <a:p>
            <a:pPr marL="342900" indent="-342900">
              <a:buFont typeface="Arial" panose="020B0604020202020204" pitchFamily="34" charset="0"/>
              <a:buChar char="•"/>
            </a:pPr>
            <a:r>
              <a:rPr lang="en-GB" altLang="en-US" dirty="0"/>
              <a:t>Performance Model </a:t>
            </a:r>
          </a:p>
          <a:p>
            <a:pPr marL="342900" indent="-342900">
              <a:buFont typeface="Arial" panose="020B0604020202020204" pitchFamily="34" charset="0"/>
              <a:buChar char="•"/>
            </a:pPr>
            <a:r>
              <a:rPr lang="en-GB" altLang="en-US" dirty="0"/>
              <a:t>Algorithm Design</a:t>
            </a:r>
          </a:p>
          <a:p>
            <a:pPr marL="342900" indent="-342900">
              <a:buFont typeface="Arial" panose="020B0604020202020204" pitchFamily="34" charset="0"/>
              <a:buChar char="•"/>
            </a:pPr>
            <a:r>
              <a:rPr lang="en-GB" altLang="en-US" dirty="0"/>
              <a:t>Experimental Results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37973-8EC6-584D-B904-2A1EB3C89D12}"/>
              </a:ext>
            </a:extLst>
          </p:cNvPr>
          <p:cNvSpPr>
            <a:spLocks noGrp="1"/>
          </p:cNvSpPr>
          <p:nvPr>
            <p:ph type="title"/>
          </p:nvPr>
        </p:nvSpPr>
        <p:spPr/>
        <p:txBody>
          <a:bodyPr/>
          <a:lstStyle/>
          <a:p>
            <a:r>
              <a:rPr lang="en-US" altLang="en-US" dirty="0"/>
              <a:t>Importance of D</a:t>
            </a:r>
            <a:r>
              <a:rPr lang="en-US" dirty="0"/>
              <a:t>ata Stream Processing</a:t>
            </a:r>
          </a:p>
        </p:txBody>
      </p:sp>
      <p:sp>
        <p:nvSpPr>
          <p:cNvPr id="3" name="Content Placeholder 2">
            <a:extLst>
              <a:ext uri="{FF2B5EF4-FFF2-40B4-BE49-F238E27FC236}">
                <a16:creationId xmlns:a16="http://schemas.microsoft.com/office/drawing/2014/main" id="{8C0602F8-ADC9-844C-93FE-DD99B2E729FF}"/>
              </a:ext>
            </a:extLst>
          </p:cNvPr>
          <p:cNvSpPr>
            <a:spLocks noGrp="1"/>
          </p:cNvSpPr>
          <p:nvPr>
            <p:ph idx="1"/>
          </p:nvPr>
        </p:nvSpPr>
        <p:spPr/>
        <p:txBody>
          <a:bodyPr/>
          <a:lstStyle/>
          <a:p>
            <a:pPr marL="457200" indent="-457200">
              <a:lnSpc>
                <a:spcPct val="100000"/>
              </a:lnSpc>
              <a:buFont typeface="Arial" panose="020B0604020202020204" pitchFamily="34" charset="0"/>
              <a:buChar char="•"/>
            </a:pPr>
            <a:r>
              <a:rPr lang="en-US" sz="2800" dirty="0"/>
              <a:t>Data stream processing (DSP) has attracted much attention for </a:t>
            </a:r>
            <a:r>
              <a:rPr lang="en-US" sz="2800" i="1" dirty="0"/>
              <a:t>real-time</a:t>
            </a:r>
            <a:r>
              <a:rPr lang="en-US" sz="2800" dirty="0"/>
              <a:t> </a:t>
            </a:r>
            <a:r>
              <a:rPr lang="en-US" altLang="zh-CN" sz="2800" dirty="0"/>
              <a:t>analysis applications, e.g., stock market monitoring and IoT (Internet of Things).</a:t>
            </a:r>
          </a:p>
          <a:p>
            <a:pPr marL="457200" indent="-457200">
              <a:lnSpc>
                <a:spcPct val="100000"/>
              </a:lnSpc>
              <a:buFont typeface="Arial" panose="020B0604020202020204" pitchFamily="34" charset="0"/>
              <a:buChar char="•"/>
            </a:pPr>
            <a:r>
              <a:rPr lang="en-US" sz="2800" dirty="0"/>
              <a:t>Many DSP systems (DSPSs) have been proposed recently.</a:t>
            </a:r>
          </a:p>
          <a:p>
            <a:endParaRPr lang="en-US" dirty="0"/>
          </a:p>
        </p:txBody>
      </p:sp>
      <p:sp>
        <p:nvSpPr>
          <p:cNvPr id="4" name="Footer Placeholder 3">
            <a:extLst>
              <a:ext uri="{FF2B5EF4-FFF2-40B4-BE49-F238E27FC236}">
                <a16:creationId xmlns:a16="http://schemas.microsoft.com/office/drawing/2014/main" id="{4F76F178-80F5-6D4B-8A6D-3015DFA7E062}"/>
              </a:ext>
            </a:extLst>
          </p:cNvPr>
          <p:cNvSpPr>
            <a:spLocks noGrp="1"/>
          </p:cNvSpPr>
          <p:nvPr>
            <p:ph type="ftr" sz="quarter" idx="12"/>
          </p:nvPr>
        </p:nvSpPr>
        <p:spPr/>
        <p:txBody>
          <a:bodyPr/>
          <a:lstStyle/>
          <a:p>
            <a:endParaRPr lang="en-GB" altLang="en-US"/>
          </a:p>
          <a:p>
            <a:endParaRPr lang="en-GB" altLang="en-US"/>
          </a:p>
        </p:txBody>
      </p:sp>
      <p:pic>
        <p:nvPicPr>
          <p:cNvPr id="5" name="Picture 2" descr="Image result for apache storm">
            <a:extLst>
              <a:ext uri="{FF2B5EF4-FFF2-40B4-BE49-F238E27FC236}">
                <a16:creationId xmlns:a16="http://schemas.microsoft.com/office/drawing/2014/main" id="{D98A870B-CECA-0F4E-B614-5F56A89A90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11" y="4944191"/>
            <a:ext cx="2295178" cy="1697417"/>
          </a:xfrm>
          <a:prstGeom prst="rect">
            <a:avLst/>
          </a:prstGeom>
          <a:noFill/>
          <a:extLst>
            <a:ext uri="{909E8E84-426E-40dd-AFC4-6F175D3DCCD1}">
              <a14:hiddenFill xmlns:a14="http://schemas.microsoft.com/office/drawing/2010/main" xmlns="">
                <a:solidFill>
                  <a:srgbClr val="FFFFFF"/>
                </a:solidFill>
              </a14:hiddenFill>
            </a:ext>
          </a:extLst>
        </p:spPr>
      </p:pic>
      <p:sp>
        <p:nvSpPr>
          <p:cNvPr id="6" name="TextBox 5">
            <a:extLst>
              <a:ext uri="{FF2B5EF4-FFF2-40B4-BE49-F238E27FC236}">
                <a16:creationId xmlns:a16="http://schemas.microsoft.com/office/drawing/2014/main" id="{D07E88D0-8646-B74A-A12C-D645E97BBC92}"/>
              </a:ext>
            </a:extLst>
          </p:cNvPr>
          <p:cNvSpPr txBox="1"/>
          <p:nvPr/>
        </p:nvSpPr>
        <p:spPr>
          <a:xfrm>
            <a:off x="988671" y="6636114"/>
            <a:ext cx="1504899" cy="369332"/>
          </a:xfrm>
          <a:prstGeom prst="rect">
            <a:avLst/>
          </a:prstGeom>
          <a:noFill/>
        </p:spPr>
        <p:txBody>
          <a:bodyPr wrap="none" rtlCol="0">
            <a:spAutoFit/>
          </a:bodyPr>
          <a:lstStyle/>
          <a:p>
            <a:r>
              <a:rPr lang="en-US" altLang="zh-CN" dirty="0"/>
              <a:t>Apache Storm</a:t>
            </a:r>
            <a:endParaRPr lang="zh-CN" altLang="en-US" dirty="0"/>
          </a:p>
        </p:txBody>
      </p:sp>
      <p:sp>
        <p:nvSpPr>
          <p:cNvPr id="7" name="TextBox 6">
            <a:extLst>
              <a:ext uri="{FF2B5EF4-FFF2-40B4-BE49-F238E27FC236}">
                <a16:creationId xmlns:a16="http://schemas.microsoft.com/office/drawing/2014/main" id="{646B1227-5651-C840-BBE8-5264AD0F3B86}"/>
              </a:ext>
            </a:extLst>
          </p:cNvPr>
          <p:cNvSpPr txBox="1"/>
          <p:nvPr/>
        </p:nvSpPr>
        <p:spPr>
          <a:xfrm>
            <a:off x="3827632" y="6632920"/>
            <a:ext cx="1481559" cy="369332"/>
          </a:xfrm>
          <a:prstGeom prst="rect">
            <a:avLst/>
          </a:prstGeom>
          <a:noFill/>
        </p:spPr>
        <p:txBody>
          <a:bodyPr wrap="none" rtlCol="0">
            <a:spAutoFit/>
          </a:bodyPr>
          <a:lstStyle/>
          <a:p>
            <a:r>
              <a:rPr lang="en-US" altLang="zh-CN" dirty="0"/>
              <a:t>Twitter Heron</a:t>
            </a:r>
            <a:endParaRPr lang="zh-CN" altLang="en-US" dirty="0"/>
          </a:p>
        </p:txBody>
      </p:sp>
      <p:sp>
        <p:nvSpPr>
          <p:cNvPr id="8" name="TextBox 7">
            <a:extLst>
              <a:ext uri="{FF2B5EF4-FFF2-40B4-BE49-F238E27FC236}">
                <a16:creationId xmlns:a16="http://schemas.microsoft.com/office/drawing/2014/main" id="{FCD6B662-F08D-C841-B128-EF583B1779A2}"/>
              </a:ext>
            </a:extLst>
          </p:cNvPr>
          <p:cNvSpPr txBox="1"/>
          <p:nvPr/>
        </p:nvSpPr>
        <p:spPr>
          <a:xfrm>
            <a:off x="7064780" y="6641608"/>
            <a:ext cx="1375698" cy="369332"/>
          </a:xfrm>
          <a:prstGeom prst="rect">
            <a:avLst/>
          </a:prstGeom>
          <a:noFill/>
        </p:spPr>
        <p:txBody>
          <a:bodyPr wrap="none" rtlCol="0">
            <a:spAutoFit/>
          </a:bodyPr>
          <a:lstStyle/>
          <a:p>
            <a:r>
              <a:rPr lang="en-US" altLang="zh-CN" dirty="0"/>
              <a:t>Apache </a:t>
            </a:r>
            <a:r>
              <a:rPr lang="en-US" altLang="zh-CN" dirty="0" err="1"/>
              <a:t>Flink</a:t>
            </a:r>
            <a:endParaRPr lang="zh-CN" altLang="en-US" dirty="0"/>
          </a:p>
        </p:txBody>
      </p:sp>
      <p:pic>
        <p:nvPicPr>
          <p:cNvPr id="9" name="Picture 8" descr="Image result for apache flink">
            <a:extLst>
              <a:ext uri="{FF2B5EF4-FFF2-40B4-BE49-F238E27FC236}">
                <a16:creationId xmlns:a16="http://schemas.microsoft.com/office/drawing/2014/main" id="{9730F9BA-079D-8C43-B666-EC769727555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98522" y="4949685"/>
            <a:ext cx="2295178" cy="1691923"/>
          </a:xfrm>
          <a:prstGeom prst="rect">
            <a:avLst/>
          </a:prstGeom>
          <a:noFill/>
          <a:extLst>
            <a:ext uri="{909E8E84-426E-40dd-AFC4-6F175D3DCCD1}">
              <a14:hiddenFill xmlns:a14="http://schemas.microsoft.com/office/drawing/2010/main" xmlns="">
                <a:solidFill>
                  <a:srgbClr val="FFFFFF"/>
                </a:solidFill>
              </a14:hiddenFill>
            </a:ext>
          </a:extLst>
        </p:spPr>
      </p:pic>
      <p:pic>
        <p:nvPicPr>
          <p:cNvPr id="10" name="Picture 2" descr="Image result for apache heron">
            <a:extLst>
              <a:ext uri="{FF2B5EF4-FFF2-40B4-BE49-F238E27FC236}">
                <a16:creationId xmlns:a16="http://schemas.microsoft.com/office/drawing/2014/main" id="{230D3B2E-455E-5C47-80E2-69997E3531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47012" y="5364273"/>
            <a:ext cx="2466975" cy="85725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470B22A-B5EA-BA4C-8CA6-47BFFD71094E}"/>
              </a:ext>
            </a:extLst>
          </p:cNvPr>
          <p:cNvSpPr txBox="1"/>
          <p:nvPr/>
        </p:nvSpPr>
        <p:spPr>
          <a:xfrm>
            <a:off x="9455387" y="5636749"/>
            <a:ext cx="468398" cy="584775"/>
          </a:xfrm>
          <a:prstGeom prst="rect">
            <a:avLst/>
          </a:prstGeom>
          <a:noFill/>
        </p:spPr>
        <p:txBody>
          <a:bodyPr wrap="none" rtlCol="0">
            <a:spAutoFit/>
          </a:bodyPr>
          <a:lstStyle/>
          <a:p>
            <a:r>
              <a:rPr lang="en-US" sz="3200" dirty="0">
                <a:solidFill>
                  <a:schemeClr val="tx1">
                    <a:lumMod val="95000"/>
                    <a:lumOff val="5000"/>
                  </a:schemeClr>
                </a:solidFill>
              </a:rPr>
              <a:t>…</a:t>
            </a:r>
          </a:p>
        </p:txBody>
      </p:sp>
    </p:spTree>
    <p:extLst>
      <p:ext uri="{BB962C8B-B14F-4D97-AF65-F5344CB8AC3E}">
        <p14:creationId xmlns:p14="http://schemas.microsoft.com/office/powerpoint/2010/main" val="227146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3F1F3-A669-A245-9396-AB5A907A494F}"/>
              </a:ext>
            </a:extLst>
          </p:cNvPr>
          <p:cNvSpPr>
            <a:spLocks noGrp="1"/>
          </p:cNvSpPr>
          <p:nvPr>
            <p:ph type="title"/>
          </p:nvPr>
        </p:nvSpPr>
        <p:spPr/>
        <p:txBody>
          <a:bodyPr/>
          <a:lstStyle/>
          <a:p>
            <a:r>
              <a:rPr lang="en-US" dirty="0"/>
              <a:t>DSPS on Modern Hardware</a:t>
            </a:r>
          </a:p>
        </p:txBody>
      </p:sp>
      <p:sp>
        <p:nvSpPr>
          <p:cNvPr id="3" name="Content Placeholder 2">
            <a:extLst>
              <a:ext uri="{FF2B5EF4-FFF2-40B4-BE49-F238E27FC236}">
                <a16:creationId xmlns:a16="http://schemas.microsoft.com/office/drawing/2014/main" id="{FB4E992F-08B5-9D47-84FC-A78E158F7B15}"/>
              </a:ext>
            </a:extLst>
          </p:cNvPr>
          <p:cNvSpPr>
            <a:spLocks noGrp="1"/>
          </p:cNvSpPr>
          <p:nvPr>
            <p:ph idx="1"/>
          </p:nvPr>
        </p:nvSpPr>
        <p:spPr/>
        <p:txBody>
          <a:bodyPr/>
          <a:lstStyle/>
          <a:p>
            <a:pPr>
              <a:buFont typeface="Arial" charset="0"/>
              <a:buChar char="•"/>
            </a:pPr>
            <a:r>
              <a:rPr lang="en-US" sz="2800" dirty="0"/>
              <a:t>Multicore architectures are attractive platform for DSPSs.</a:t>
            </a:r>
          </a:p>
          <a:p>
            <a:pPr>
              <a:buFont typeface="Arial" charset="0"/>
              <a:buChar char="•"/>
            </a:pPr>
            <a:r>
              <a:rPr lang="en-US" sz="2800" dirty="0"/>
              <a:t>However, fully exploiting its computation power can be challenging. </a:t>
            </a:r>
          </a:p>
          <a:p>
            <a:endParaRPr lang="en-US" dirty="0"/>
          </a:p>
        </p:txBody>
      </p:sp>
      <p:sp>
        <p:nvSpPr>
          <p:cNvPr id="4" name="Footer Placeholder 3">
            <a:extLst>
              <a:ext uri="{FF2B5EF4-FFF2-40B4-BE49-F238E27FC236}">
                <a16:creationId xmlns:a16="http://schemas.microsoft.com/office/drawing/2014/main" id="{5E0ECAF1-BE52-DF47-A72C-B525DDE1E226}"/>
              </a:ext>
            </a:extLst>
          </p:cNvPr>
          <p:cNvSpPr>
            <a:spLocks noGrp="1"/>
          </p:cNvSpPr>
          <p:nvPr>
            <p:ph type="ftr" sz="quarter" idx="12"/>
          </p:nvPr>
        </p:nvSpPr>
        <p:spPr/>
        <p:txBody>
          <a:bodyPr/>
          <a:lstStyle/>
          <a:p>
            <a:endParaRPr lang="en-GB" altLang="en-US"/>
          </a:p>
          <a:p>
            <a:endParaRPr lang="en-GB" altLang="en-US"/>
          </a:p>
        </p:txBody>
      </p:sp>
      <p:sp>
        <p:nvSpPr>
          <p:cNvPr id="5" name="TextBox 4">
            <a:extLst>
              <a:ext uri="{FF2B5EF4-FFF2-40B4-BE49-F238E27FC236}">
                <a16:creationId xmlns:a16="http://schemas.microsoft.com/office/drawing/2014/main" id="{1A0D2B59-AB57-7E46-8CD4-33A09BB884A6}"/>
              </a:ext>
            </a:extLst>
          </p:cNvPr>
          <p:cNvSpPr txBox="1"/>
          <p:nvPr/>
        </p:nvSpPr>
        <p:spPr>
          <a:xfrm>
            <a:off x="3399631" y="4712494"/>
            <a:ext cx="2576804"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8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StreamBox, ATC’17</a:t>
            </a:r>
          </a:p>
        </p:txBody>
      </p:sp>
      <p:sp>
        <p:nvSpPr>
          <p:cNvPr id="6" name="TextBox 5">
            <a:extLst>
              <a:ext uri="{FF2B5EF4-FFF2-40B4-BE49-F238E27FC236}">
                <a16:creationId xmlns:a16="http://schemas.microsoft.com/office/drawing/2014/main" id="{5C2F7C93-C394-154F-B35B-2F2FCD8DBF14}"/>
              </a:ext>
            </a:extLst>
          </p:cNvPr>
          <p:cNvSpPr txBox="1"/>
          <p:nvPr/>
        </p:nvSpPr>
        <p:spPr>
          <a:xfrm>
            <a:off x="480093" y="4711070"/>
            <a:ext cx="2576804" cy="95410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800" b="1"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rPr>
              <a:t>Saber, SIGMOD’16</a:t>
            </a:r>
          </a:p>
        </p:txBody>
      </p:sp>
      <p:sp>
        <p:nvSpPr>
          <p:cNvPr id="7" name="TextBox 6">
            <a:extLst>
              <a:ext uri="{FF2B5EF4-FFF2-40B4-BE49-F238E27FC236}">
                <a16:creationId xmlns:a16="http://schemas.microsoft.com/office/drawing/2014/main" id="{E8248E5B-6F40-8343-938A-697239145760}"/>
              </a:ext>
            </a:extLst>
          </p:cNvPr>
          <p:cNvSpPr txBox="1"/>
          <p:nvPr/>
        </p:nvSpPr>
        <p:spPr>
          <a:xfrm>
            <a:off x="3376935" y="5832596"/>
            <a:ext cx="2699393" cy="461665"/>
          </a:xfrm>
          <a:prstGeom prst="rect">
            <a:avLst/>
          </a:prstGeom>
          <a:noFill/>
        </p:spPr>
        <p:txBody>
          <a:bodyPr wrap="none" rtlCol="0">
            <a:spAutoFit/>
          </a:bodyPr>
          <a:lstStyle/>
          <a:p>
            <a:pPr algn="ctr"/>
            <a:r>
              <a:rPr lang="en-US" sz="2400" dirty="0"/>
              <a:t>Out-of-order arrival</a:t>
            </a:r>
          </a:p>
        </p:txBody>
      </p:sp>
      <p:sp>
        <p:nvSpPr>
          <p:cNvPr id="8" name="TextBox 7">
            <a:extLst>
              <a:ext uri="{FF2B5EF4-FFF2-40B4-BE49-F238E27FC236}">
                <a16:creationId xmlns:a16="http://schemas.microsoft.com/office/drawing/2014/main" id="{7141BF1B-E66E-284D-B8C0-BF34E3C1EC40}"/>
              </a:ext>
            </a:extLst>
          </p:cNvPr>
          <p:cNvSpPr txBox="1"/>
          <p:nvPr/>
        </p:nvSpPr>
        <p:spPr>
          <a:xfrm>
            <a:off x="1064616" y="5832595"/>
            <a:ext cx="1407758" cy="461665"/>
          </a:xfrm>
          <a:prstGeom prst="rect">
            <a:avLst/>
          </a:prstGeom>
          <a:noFill/>
        </p:spPr>
        <p:txBody>
          <a:bodyPr wrap="none" rtlCol="0">
            <a:spAutoFit/>
          </a:bodyPr>
          <a:lstStyle/>
          <a:p>
            <a:pPr algn="ctr"/>
            <a:r>
              <a:rPr lang="en-US" sz="2400"/>
              <a:t>CPU+GPU</a:t>
            </a:r>
            <a:endParaRPr lang="en-US" sz="2400" dirty="0"/>
          </a:p>
        </p:txBody>
      </p:sp>
      <p:grpSp>
        <p:nvGrpSpPr>
          <p:cNvPr id="9" name="Group 8">
            <a:extLst>
              <a:ext uri="{FF2B5EF4-FFF2-40B4-BE49-F238E27FC236}">
                <a16:creationId xmlns:a16="http://schemas.microsoft.com/office/drawing/2014/main" id="{BF690DFF-27A8-DE43-99DD-929870DBB34B}"/>
              </a:ext>
            </a:extLst>
          </p:cNvPr>
          <p:cNvGrpSpPr/>
          <p:nvPr/>
        </p:nvGrpSpPr>
        <p:grpSpPr>
          <a:xfrm>
            <a:off x="7130301" y="4689379"/>
            <a:ext cx="2906486" cy="1583190"/>
            <a:chOff x="7910187" y="5222856"/>
            <a:chExt cx="2906486" cy="1583190"/>
          </a:xfrm>
        </p:grpSpPr>
        <p:sp>
          <p:nvSpPr>
            <p:cNvPr id="10" name="TextBox 9">
              <a:extLst>
                <a:ext uri="{FF2B5EF4-FFF2-40B4-BE49-F238E27FC236}">
                  <a16:creationId xmlns:a16="http://schemas.microsoft.com/office/drawing/2014/main" id="{3F2B0319-918C-6A49-9A93-8089771555E1}"/>
                </a:ext>
              </a:extLst>
            </p:cNvPr>
            <p:cNvSpPr txBox="1"/>
            <p:nvPr/>
          </p:nvSpPr>
          <p:spPr>
            <a:xfrm>
              <a:off x="7910187" y="5222856"/>
              <a:ext cx="2906486" cy="954107"/>
            </a:xfrm>
            <a:prstGeom prst="rect">
              <a:avLst/>
            </a:prstGeom>
            <a:solidFill>
              <a:schemeClr val="bg1"/>
            </a:solidFill>
            <a:effectLst>
              <a:outerShdw blurRad="50800" dist="50800" dir="5400000" algn="ctr" rotWithShape="0">
                <a:srgbClr val="000000">
                  <a:alpha val="0"/>
                </a:srgbClr>
              </a:outerShdw>
            </a:effectLst>
          </p:spPr>
          <p:style>
            <a:lnRef idx="2">
              <a:schemeClr val="accent1"/>
            </a:lnRef>
            <a:fillRef idx="1">
              <a:schemeClr val="lt1"/>
            </a:fillRef>
            <a:effectRef idx="0">
              <a:schemeClr val="accent1"/>
            </a:effectRef>
            <a:fontRef idx="minor">
              <a:schemeClr val="dk1"/>
            </a:fontRef>
          </p:style>
          <p:txBody>
            <a:bodyPr wrap="square" rtlCol="0">
              <a:spAutoFit/>
              <a:scene3d>
                <a:camera prst="orthographicFront"/>
                <a:lightRig rig="soft" dir="t">
                  <a:rot lat="0" lon="0" rev="15600000"/>
                </a:lightRig>
              </a:scene3d>
              <a:sp3d extrusionH="57150" prstMaterial="softEdge">
                <a:bevelT w="25400" h="38100"/>
              </a:sp3d>
            </a:bodyPr>
            <a:lstStyle/>
            <a:p>
              <a:pPr algn="ctr"/>
              <a:r>
                <a:rPr lang="en-US" sz="2800" b="1" dirty="0">
                  <a:ln/>
                  <a:solidFill>
                    <a:schemeClr val="accent4"/>
                  </a:solidFill>
                </a:rPr>
                <a:t>BriskStream, SIGMOD’19</a:t>
              </a:r>
            </a:p>
          </p:txBody>
        </p:sp>
        <p:sp>
          <p:nvSpPr>
            <p:cNvPr id="11" name="TextBox 10">
              <a:extLst>
                <a:ext uri="{FF2B5EF4-FFF2-40B4-BE49-F238E27FC236}">
                  <a16:creationId xmlns:a16="http://schemas.microsoft.com/office/drawing/2014/main" id="{3AC92453-FC9E-2341-BBAB-BC34BB7307D1}"/>
                </a:ext>
              </a:extLst>
            </p:cNvPr>
            <p:cNvSpPr txBox="1"/>
            <p:nvPr/>
          </p:nvSpPr>
          <p:spPr>
            <a:xfrm>
              <a:off x="8423204" y="6344381"/>
              <a:ext cx="1880451" cy="461665"/>
            </a:xfrm>
            <a:prstGeom prst="rect">
              <a:avLst/>
            </a:prstGeom>
            <a:noFill/>
          </p:spPr>
          <p:txBody>
            <a:bodyPr wrap="none" rtlCol="0">
              <a:spAutoFit/>
            </a:bodyPr>
            <a:lstStyle/>
            <a:p>
              <a:pPr algn="ctr"/>
              <a:r>
                <a:rPr lang="en-US" sz="2400"/>
                <a:t>NUMA-aware</a:t>
              </a:r>
              <a:endParaRPr lang="en-US" sz="2400" dirty="0"/>
            </a:p>
          </p:txBody>
        </p:sp>
      </p:grpSp>
      <p:sp>
        <p:nvSpPr>
          <p:cNvPr id="12" name="TextBox 11">
            <a:extLst>
              <a:ext uri="{FF2B5EF4-FFF2-40B4-BE49-F238E27FC236}">
                <a16:creationId xmlns:a16="http://schemas.microsoft.com/office/drawing/2014/main" id="{D5A4125D-CB51-1B40-A4BC-86ED0C7764A0}"/>
              </a:ext>
            </a:extLst>
          </p:cNvPr>
          <p:cNvSpPr txBox="1"/>
          <p:nvPr/>
        </p:nvSpPr>
        <p:spPr>
          <a:xfrm>
            <a:off x="6319169" y="4711070"/>
            <a:ext cx="468398" cy="584775"/>
          </a:xfrm>
          <a:prstGeom prst="rect">
            <a:avLst/>
          </a:prstGeom>
          <a:noFill/>
        </p:spPr>
        <p:txBody>
          <a:bodyPr wrap="none" rtlCol="0">
            <a:spAutoFit/>
          </a:bodyPr>
          <a:lstStyle/>
          <a:p>
            <a:r>
              <a:rPr lang="en-US" sz="3200" dirty="0">
                <a:solidFill>
                  <a:schemeClr val="tx1">
                    <a:lumMod val="95000"/>
                    <a:lumOff val="5000"/>
                  </a:schemeClr>
                </a:solidFill>
              </a:rPr>
              <a:t>…</a:t>
            </a:r>
          </a:p>
        </p:txBody>
      </p:sp>
    </p:spTree>
    <p:extLst>
      <p:ext uri="{BB962C8B-B14F-4D97-AF65-F5344CB8AC3E}">
        <p14:creationId xmlns:p14="http://schemas.microsoft.com/office/powerpoint/2010/main" val="3699336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Pipelined processing with message passing</a:t>
            </a:r>
            <a:endParaRPr lang="en-US" dirty="0"/>
          </a:p>
        </p:txBody>
      </p:sp>
      <p:sp>
        <p:nvSpPr>
          <p:cNvPr id="3" name="Content Placeholder 2"/>
          <p:cNvSpPr>
            <a:spLocks noGrp="1"/>
          </p:cNvSpPr>
          <p:nvPr>
            <p:ph idx="1"/>
          </p:nvPr>
        </p:nvSpPr>
        <p:spPr/>
        <p:txBody>
          <a:bodyPr/>
          <a:lstStyle/>
          <a:p>
            <a:endParaRPr lang="en-US" dirty="0"/>
          </a:p>
          <a:p>
            <a:endParaRPr lang="en-US" dirty="0"/>
          </a:p>
        </p:txBody>
      </p:sp>
      <p:sp>
        <p:nvSpPr>
          <p:cNvPr id="5" name="Slide Number Placeholder 4"/>
          <p:cNvSpPr>
            <a:spLocks noGrp="1"/>
          </p:cNvSpPr>
          <p:nvPr>
            <p:ph type="sldNum" sz="quarter" idx="12"/>
          </p:nvPr>
        </p:nvSpPr>
        <p:spPr/>
        <p:txBody>
          <a:bodyPr/>
          <a:lstStyle/>
          <a:p>
            <a:fld id="{12D8FB24-4664-4497-A38E-DB90968F7542}" type="slidenum">
              <a:rPr lang="en-US" smtClean="0"/>
              <a:t>5</a:t>
            </a:fld>
            <a:endParaRPr lang="en-US"/>
          </a:p>
        </p:txBody>
      </p:sp>
      <p:sp>
        <p:nvSpPr>
          <p:cNvPr id="7" name="Oval 6"/>
          <p:cNvSpPr/>
          <p:nvPr/>
        </p:nvSpPr>
        <p:spPr>
          <a:xfrm>
            <a:off x="697954" y="2785950"/>
            <a:ext cx="1680341" cy="76140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998" dirty="0"/>
              <a:t>Parser</a:t>
            </a:r>
          </a:p>
        </p:txBody>
      </p:sp>
      <p:sp>
        <p:nvSpPr>
          <p:cNvPr id="8" name="Oval 7"/>
          <p:cNvSpPr/>
          <p:nvPr/>
        </p:nvSpPr>
        <p:spPr>
          <a:xfrm>
            <a:off x="2817634" y="2785950"/>
            <a:ext cx="1680341" cy="76140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998" dirty="0"/>
              <a:t>Split</a:t>
            </a:r>
          </a:p>
        </p:txBody>
      </p:sp>
      <p:sp>
        <p:nvSpPr>
          <p:cNvPr id="9" name="Oval 8"/>
          <p:cNvSpPr/>
          <p:nvPr/>
        </p:nvSpPr>
        <p:spPr>
          <a:xfrm>
            <a:off x="4937315" y="2785950"/>
            <a:ext cx="1680341" cy="76140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998" dirty="0"/>
              <a:t>Count</a:t>
            </a:r>
          </a:p>
        </p:txBody>
      </p:sp>
      <p:sp>
        <p:nvSpPr>
          <p:cNvPr id="10" name="Oval 9"/>
          <p:cNvSpPr/>
          <p:nvPr/>
        </p:nvSpPr>
        <p:spPr>
          <a:xfrm>
            <a:off x="7056996" y="2785950"/>
            <a:ext cx="1680341" cy="76140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998" dirty="0"/>
              <a:t>Sink</a:t>
            </a:r>
          </a:p>
        </p:txBody>
      </p:sp>
      <p:cxnSp>
        <p:nvCxnSpPr>
          <p:cNvPr id="12" name="Straight Arrow Connector 11"/>
          <p:cNvCxnSpPr>
            <a:stCxn id="7" idx="6"/>
            <a:endCxn id="8" idx="2"/>
          </p:cNvCxnSpPr>
          <p:nvPr/>
        </p:nvCxnSpPr>
        <p:spPr>
          <a:xfrm>
            <a:off x="2378296" y="3166653"/>
            <a:ext cx="43933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p:cNvCxnSpPr>
            <a:stCxn id="8" idx="6"/>
            <a:endCxn id="9" idx="2"/>
          </p:cNvCxnSpPr>
          <p:nvPr/>
        </p:nvCxnSpPr>
        <p:spPr>
          <a:xfrm>
            <a:off x="4497975" y="3166653"/>
            <a:ext cx="43934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8" name="Straight Arrow Connector 17"/>
          <p:cNvCxnSpPr>
            <a:stCxn id="9" idx="6"/>
            <a:endCxn id="10" idx="2"/>
          </p:cNvCxnSpPr>
          <p:nvPr/>
        </p:nvCxnSpPr>
        <p:spPr>
          <a:xfrm>
            <a:off x="6617656" y="3166653"/>
            <a:ext cx="43934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1" name="Rectangle 20"/>
          <p:cNvSpPr/>
          <p:nvPr/>
        </p:nvSpPr>
        <p:spPr>
          <a:xfrm flipH="1" flipV="1">
            <a:off x="1312329" y="3720658"/>
            <a:ext cx="451592" cy="299311"/>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8"/>
          </a:p>
        </p:txBody>
      </p:sp>
      <p:sp>
        <p:nvSpPr>
          <p:cNvPr id="22" name="Rectangle 21"/>
          <p:cNvSpPr/>
          <p:nvPr/>
        </p:nvSpPr>
        <p:spPr>
          <a:xfrm flipH="1" flipV="1">
            <a:off x="1312329" y="4124978"/>
            <a:ext cx="451592" cy="299311"/>
          </a:xfrm>
          <a:prstGeom prst="rect">
            <a:avLst/>
          </a:prstGeom>
          <a:ln>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1998"/>
          </a:p>
        </p:txBody>
      </p:sp>
      <p:sp>
        <p:nvSpPr>
          <p:cNvPr id="23" name="Rectangle 22"/>
          <p:cNvSpPr/>
          <p:nvPr/>
        </p:nvSpPr>
        <p:spPr>
          <a:xfrm flipH="1" flipV="1">
            <a:off x="1312329" y="4529297"/>
            <a:ext cx="451592" cy="299311"/>
          </a:xfrm>
          <a:prstGeom prst="rect">
            <a:avLst/>
          </a:prstGeom>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998"/>
          </a:p>
        </p:txBody>
      </p:sp>
      <p:sp>
        <p:nvSpPr>
          <p:cNvPr id="24" name="Rectangle 23"/>
          <p:cNvSpPr/>
          <p:nvPr/>
        </p:nvSpPr>
        <p:spPr>
          <a:xfrm flipH="1" flipV="1">
            <a:off x="1312329" y="4940968"/>
            <a:ext cx="451592" cy="299311"/>
          </a:xfrm>
          <a:prstGeom prst="rect">
            <a:avLst/>
          </a:prstGeom>
          <a:ln>
            <a:solidFill>
              <a:schemeClr val="tx1"/>
            </a:solid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1998"/>
          </a:p>
        </p:txBody>
      </p:sp>
      <p:sp>
        <p:nvSpPr>
          <p:cNvPr id="6" name="Oval 5"/>
          <p:cNvSpPr/>
          <p:nvPr/>
        </p:nvSpPr>
        <p:spPr>
          <a:xfrm>
            <a:off x="392788" y="2417293"/>
            <a:ext cx="2115013" cy="1303365"/>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8"/>
          </a:p>
        </p:txBody>
      </p:sp>
      <p:sp>
        <p:nvSpPr>
          <p:cNvPr id="19" name="Oval 18"/>
          <p:cNvSpPr/>
          <p:nvPr/>
        </p:nvSpPr>
        <p:spPr>
          <a:xfrm>
            <a:off x="2223764" y="2957031"/>
            <a:ext cx="663135" cy="45131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8"/>
          </a:p>
        </p:txBody>
      </p:sp>
      <p:sp>
        <p:nvSpPr>
          <p:cNvPr id="16" name="TextBox 15"/>
          <p:cNvSpPr txBox="1"/>
          <p:nvPr/>
        </p:nvSpPr>
        <p:spPr>
          <a:xfrm>
            <a:off x="138382" y="5152744"/>
            <a:ext cx="1399742" cy="399789"/>
          </a:xfrm>
          <a:prstGeom prst="rect">
            <a:avLst/>
          </a:prstGeom>
          <a:noFill/>
        </p:spPr>
        <p:txBody>
          <a:bodyPr wrap="none" rtlCol="0">
            <a:spAutoFit/>
          </a:bodyPr>
          <a:lstStyle/>
          <a:p>
            <a:r>
              <a:rPr lang="en-US" altLang="zh-CN" sz="1998" dirty="0"/>
              <a:t>Input tuples</a:t>
            </a:r>
            <a:endParaRPr lang="en-US" sz="1998" dirty="0"/>
          </a:p>
        </p:txBody>
      </p:sp>
      <p:sp>
        <p:nvSpPr>
          <p:cNvPr id="11" name="TextBox 10"/>
          <p:cNvSpPr txBox="1"/>
          <p:nvPr/>
        </p:nvSpPr>
        <p:spPr>
          <a:xfrm>
            <a:off x="6529395" y="4274633"/>
            <a:ext cx="3250057" cy="399789"/>
          </a:xfrm>
          <a:prstGeom prst="rect">
            <a:avLst/>
          </a:prstGeom>
          <a:noFill/>
        </p:spPr>
        <p:txBody>
          <a:bodyPr wrap="none" rtlCol="0">
            <a:spAutoFit/>
          </a:bodyPr>
          <a:lstStyle/>
          <a:p>
            <a:r>
              <a:rPr lang="en-US" sz="1998" dirty="0"/>
              <a:t>Word-count (WC) application</a:t>
            </a:r>
          </a:p>
        </p:txBody>
      </p:sp>
    </p:spTree>
    <p:extLst>
      <p:ext uri="{BB962C8B-B14F-4D97-AF65-F5344CB8AC3E}">
        <p14:creationId xmlns:p14="http://schemas.microsoft.com/office/powerpoint/2010/main" val="2305467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6"/>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2"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2"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63" presetClass="path" presetSubtype="0" accel="50000" decel="50000" fill="hold" grpId="0" nodeType="withEffect">
                                  <p:stCondLst>
                                    <p:cond delay="0"/>
                                  </p:stCondLst>
                                  <p:childTnLst>
                                    <p:animMotion origin="layout" path="M -2.29167E-6 -1.11022E-16 L 0.21328 0.00023 " pathEditMode="relative" rAng="0" ptsTypes="AA">
                                      <p:cBhvr>
                                        <p:cTn id="32" dur="2000" fill="hold"/>
                                        <p:tgtEl>
                                          <p:spTgt spid="21"/>
                                        </p:tgtEl>
                                        <p:attrNameLst>
                                          <p:attrName>ppt_x</p:attrName>
                                          <p:attrName>ppt_y</p:attrName>
                                        </p:attrNameLst>
                                      </p:cBhvr>
                                      <p:rCtr x="10664" y="0"/>
                                    </p:animMotion>
                                  </p:childTnLst>
                                </p:cTn>
                              </p:par>
                              <p:par>
                                <p:cTn id="33" presetID="42" presetClass="path" presetSubtype="0" accel="50000" decel="50000" fill="hold" grpId="0" nodeType="withEffect">
                                  <p:stCondLst>
                                    <p:cond delay="0"/>
                                  </p:stCondLst>
                                  <p:childTnLst>
                                    <p:animMotion origin="layout" path="M -2.29167E-6 -3.33333E-6 L -2.29167E-6 -0.07083 " pathEditMode="relative" rAng="0" ptsTypes="AA">
                                      <p:cBhvr>
                                        <p:cTn id="34" dur="2000" fill="hold"/>
                                        <p:tgtEl>
                                          <p:spTgt spid="22"/>
                                        </p:tgtEl>
                                        <p:attrNameLst>
                                          <p:attrName>ppt_x</p:attrName>
                                          <p:attrName>ppt_y</p:attrName>
                                        </p:attrNameLst>
                                      </p:cBhvr>
                                      <p:rCtr x="0" y="-3542"/>
                                    </p:animMotion>
                                  </p:childTnLst>
                                </p:cTn>
                              </p:par>
                            </p:childTnLst>
                          </p:cTn>
                        </p:par>
                      </p:childTnLst>
                    </p:cTn>
                  </p:par>
                  <p:par>
                    <p:cTn id="35" fill="hold">
                      <p:stCondLst>
                        <p:cond delay="indefinite"/>
                      </p:stCondLst>
                      <p:childTnLst>
                        <p:par>
                          <p:cTn id="36" fill="hold">
                            <p:stCondLst>
                              <p:cond delay="0"/>
                            </p:stCondLst>
                            <p:childTnLst>
                              <p:par>
                                <p:cTn id="37" presetID="42" presetClass="path" presetSubtype="0" accel="50000" decel="50000" fill="hold" grpId="1" nodeType="clickEffect">
                                  <p:stCondLst>
                                    <p:cond delay="0"/>
                                  </p:stCondLst>
                                  <p:childTnLst>
                                    <p:animMotion origin="layout" path="M 0.21328 0.00023 L 0.41524 -1.11022E-16 " pathEditMode="relative" rAng="0" ptsTypes="AA">
                                      <p:cBhvr>
                                        <p:cTn id="38" dur="2000" fill="hold"/>
                                        <p:tgtEl>
                                          <p:spTgt spid="21"/>
                                        </p:tgtEl>
                                        <p:attrNameLst>
                                          <p:attrName>ppt_x</p:attrName>
                                          <p:attrName>ppt_y</p:attrName>
                                        </p:attrNameLst>
                                      </p:cBhvr>
                                      <p:rCtr x="10299" y="-23"/>
                                    </p:animMotion>
                                  </p:childTnLst>
                                </p:cTn>
                              </p:par>
                              <p:par>
                                <p:cTn id="39" presetID="42" presetClass="path" presetSubtype="0" accel="50000" decel="50000" fill="hold" grpId="1" nodeType="withEffect">
                                  <p:stCondLst>
                                    <p:cond delay="0"/>
                                  </p:stCondLst>
                                  <p:childTnLst>
                                    <p:animMotion origin="layout" path="M -2.29167E-6 -0.07083 L 0.21328 -0.0706 " pathEditMode="relative" rAng="0" ptsTypes="AA">
                                      <p:cBhvr>
                                        <p:cTn id="40" dur="2000" fill="hold"/>
                                        <p:tgtEl>
                                          <p:spTgt spid="22"/>
                                        </p:tgtEl>
                                        <p:attrNameLst>
                                          <p:attrName>ppt_x</p:attrName>
                                          <p:attrName>ppt_y</p:attrName>
                                        </p:attrNameLst>
                                      </p:cBhvr>
                                      <p:rCtr x="10612" y="0"/>
                                    </p:animMotion>
                                  </p:childTnLst>
                                </p:cTn>
                              </p:par>
                              <p:par>
                                <p:cTn id="41" presetID="42" presetClass="path" presetSubtype="0" accel="50000" decel="50000" fill="hold" grpId="0" nodeType="withEffect">
                                  <p:stCondLst>
                                    <p:cond delay="0"/>
                                  </p:stCondLst>
                                  <p:childTnLst>
                                    <p:animMotion origin="layout" path="M -2.29167E-6 3.33333E-6 L -1.875E-6 -0.14167 " pathEditMode="relative" rAng="0" ptsTypes="AA">
                                      <p:cBhvr>
                                        <p:cTn id="42" dur="2000" fill="hold"/>
                                        <p:tgtEl>
                                          <p:spTgt spid="23"/>
                                        </p:tgtEl>
                                        <p:attrNameLst>
                                          <p:attrName>ppt_x</p:attrName>
                                          <p:attrName>ppt_y</p:attrName>
                                        </p:attrNameLst>
                                      </p:cBhvr>
                                      <p:rCtr x="-13" y="-708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1" grpId="1" animBg="1"/>
      <p:bldP spid="21" grpId="2" animBg="1"/>
      <p:bldP spid="22" grpId="0" animBg="1"/>
      <p:bldP spid="22" grpId="1" animBg="1"/>
      <p:bldP spid="22" grpId="2" animBg="1"/>
      <p:bldP spid="23" grpId="0" animBg="1"/>
      <p:bldP spid="23" grpId="1" animBg="1"/>
      <p:bldP spid="24" grpId="0" animBg="1"/>
      <p:bldP spid="6" grpId="0" animBg="1"/>
      <p:bldP spid="6" grpId="1" animBg="1"/>
      <p:bldP spid="19" grpId="0" animBg="1"/>
      <p:bldP spid="19" grpId="1" animBg="1"/>
      <p:bldP spid="16"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Execution plan optimization</a:t>
            </a:r>
          </a:p>
        </p:txBody>
      </p:sp>
      <p:sp>
        <p:nvSpPr>
          <p:cNvPr id="26" name="TextBox 25"/>
          <p:cNvSpPr txBox="1"/>
          <p:nvPr/>
        </p:nvSpPr>
        <p:spPr>
          <a:xfrm>
            <a:off x="1163191" y="6175470"/>
            <a:ext cx="7924800" cy="369332"/>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endParaRPr lang="en-US" i="1" dirty="0">
              <a:solidFill>
                <a:srgbClr val="FF0000"/>
              </a:solidFill>
              <a:latin typeface="Helvetica" pitchFamily="2" charset="0"/>
            </a:endParaRPr>
          </a:p>
        </p:txBody>
      </p:sp>
      <p:grpSp>
        <p:nvGrpSpPr>
          <p:cNvPr id="11" name="Group 10"/>
          <p:cNvGrpSpPr/>
          <p:nvPr/>
        </p:nvGrpSpPr>
        <p:grpSpPr>
          <a:xfrm>
            <a:off x="708223" y="2354028"/>
            <a:ext cx="4417368" cy="1905463"/>
            <a:chOff x="628650" y="2125267"/>
            <a:chExt cx="3988095" cy="1720292"/>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2125267"/>
              <a:ext cx="3988095" cy="791225"/>
            </a:xfrm>
            <a:prstGeom prst="rect">
              <a:avLst/>
            </a:prstGeom>
          </p:spPr>
        </p:pic>
        <p:sp>
          <p:nvSpPr>
            <p:cNvPr id="7" name="TextBox 6"/>
            <p:cNvSpPr txBox="1"/>
            <p:nvPr/>
          </p:nvSpPr>
          <p:spPr>
            <a:xfrm>
              <a:off x="1499193" y="3484331"/>
              <a:ext cx="2430355" cy="361228"/>
            </a:xfrm>
            <a:prstGeom prst="rect">
              <a:avLst/>
            </a:prstGeom>
            <a:noFill/>
          </p:spPr>
          <p:txBody>
            <a:bodyPr wrap="none" rtlCol="0">
              <a:spAutoFit/>
            </a:bodyPr>
            <a:lstStyle/>
            <a:p>
              <a:r>
                <a:rPr lang="en-US" sz="2000" dirty="0">
                  <a:latin typeface="+mn-lt"/>
                </a:rPr>
                <a:t>(a) Logical view of WC.</a:t>
              </a:r>
            </a:p>
          </p:txBody>
        </p:sp>
      </p:grpSp>
      <p:grpSp>
        <p:nvGrpSpPr>
          <p:cNvPr id="9" name="Group 8"/>
          <p:cNvGrpSpPr/>
          <p:nvPr/>
        </p:nvGrpSpPr>
        <p:grpSpPr>
          <a:xfrm>
            <a:off x="5252197" y="2354029"/>
            <a:ext cx="4318245" cy="2213241"/>
            <a:chOff x="4731046" y="2125267"/>
            <a:chExt cx="3898604" cy="1998161"/>
          </a:xfrm>
        </p:grpSpPr>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3812" y="2125267"/>
              <a:ext cx="3895838" cy="1326097"/>
            </a:xfrm>
            <a:prstGeom prst="rect">
              <a:avLst/>
            </a:prstGeom>
          </p:spPr>
        </p:pic>
        <p:sp>
          <p:nvSpPr>
            <p:cNvPr id="10" name="TextBox 9"/>
            <p:cNvSpPr txBox="1"/>
            <p:nvPr/>
          </p:nvSpPr>
          <p:spPr>
            <a:xfrm>
              <a:off x="4731046" y="3484333"/>
              <a:ext cx="3898604" cy="639095"/>
            </a:xfrm>
            <a:prstGeom prst="rect">
              <a:avLst/>
            </a:prstGeom>
            <a:noFill/>
          </p:spPr>
          <p:txBody>
            <a:bodyPr wrap="square" rtlCol="0">
              <a:spAutoFit/>
            </a:bodyPr>
            <a:lstStyle/>
            <a:p>
              <a:r>
                <a:rPr lang="en-US" sz="2000" dirty="0">
                  <a:latin typeface="+mn-lt"/>
                </a:rPr>
                <a:t>(b) One example execution plan of WC. Three CPU sockets are used.</a:t>
              </a:r>
            </a:p>
          </p:txBody>
        </p:sp>
      </p:grpSp>
      <p:sp>
        <p:nvSpPr>
          <p:cNvPr id="15" name="Content Placeholder 2"/>
          <p:cNvSpPr>
            <a:spLocks noGrp="1"/>
          </p:cNvSpPr>
          <p:nvPr>
            <p:ph idx="1"/>
          </p:nvPr>
        </p:nvSpPr>
        <p:spPr>
          <a:xfrm>
            <a:off x="611188" y="4641501"/>
            <a:ext cx="8959253" cy="1453998"/>
          </a:xfrm>
        </p:spPr>
        <p:txBody>
          <a:bodyPr>
            <a:noAutofit/>
          </a:bodyPr>
          <a:lstStyle/>
          <a:p>
            <a:pPr marL="457200" indent="-457200">
              <a:lnSpc>
                <a:spcPct val="100000"/>
              </a:lnSpc>
              <a:buFont typeface="Arial" panose="020B0604020202020204" pitchFamily="34" charset="0"/>
              <a:buChar char="•"/>
            </a:pPr>
            <a:r>
              <a:rPr lang="en-US" sz="2000" dirty="0">
                <a:latin typeface="+mn-ea"/>
              </a:rPr>
              <a:t>Each operator can be scaled to multiple instances (called replicas).</a:t>
            </a:r>
            <a:r>
              <a:rPr lang="zh-CN" altLang="en-US" sz="2000" dirty="0">
                <a:latin typeface="+mn-ea"/>
              </a:rPr>
              <a:t> </a:t>
            </a:r>
            <a:endParaRPr lang="en-US" altLang="zh-CN" sz="2000" dirty="0">
              <a:latin typeface="+mn-ea"/>
            </a:endParaRPr>
          </a:p>
          <a:p>
            <a:pPr marL="457200" indent="-457200">
              <a:lnSpc>
                <a:spcPct val="100000"/>
              </a:lnSpc>
              <a:buFont typeface="Arial" panose="020B0604020202020204" pitchFamily="34" charset="0"/>
              <a:buChar char="•"/>
            </a:pPr>
            <a:r>
              <a:rPr lang="en-US" sz="2000" dirty="0">
                <a:latin typeface="+mn-ea"/>
              </a:rPr>
              <a:t>Each replica can be independently scheduled.</a:t>
            </a:r>
          </a:p>
        </p:txBody>
      </p:sp>
      <p:sp>
        <p:nvSpPr>
          <p:cNvPr id="4" name="Rectangle 3">
            <a:extLst>
              <a:ext uri="{FF2B5EF4-FFF2-40B4-BE49-F238E27FC236}">
                <a16:creationId xmlns:a16="http://schemas.microsoft.com/office/drawing/2014/main" id="{4E49C14D-2478-F44A-BD6E-B1404098D9D6}"/>
              </a:ext>
            </a:extLst>
          </p:cNvPr>
          <p:cNvSpPr/>
          <p:nvPr/>
        </p:nvSpPr>
        <p:spPr>
          <a:xfrm>
            <a:off x="820986" y="5768466"/>
            <a:ext cx="8609210" cy="1200329"/>
          </a:xfrm>
          <a:prstGeom prst="rect">
            <a:avLst/>
          </a:prstGeom>
        </p:spPr>
        <p:txBody>
          <a:bodyPr wrap="square">
            <a:spAutoFit/>
          </a:bodyPr>
          <a:lstStyle/>
          <a:p>
            <a:r>
              <a:rPr lang="en-US" altLang="zh-CN" dirty="0">
                <a:solidFill>
                  <a:srgbClr val="FF0000"/>
                </a:solidFill>
                <a:latin typeface="Comic Sans MS" charset="0"/>
                <a:ea typeface="ＭＳ Ｐゴシック" charset="0"/>
                <a:cs typeface="ＭＳ Ｐゴシック" charset="0"/>
              </a:rPr>
              <a:t>Given a NUMA machine (limited HW resources), how can we maximize throughput of stream application by operator replication and placement optimization?</a:t>
            </a:r>
          </a:p>
        </p:txBody>
      </p:sp>
    </p:spTree>
    <p:extLst>
      <p:ext uri="{BB962C8B-B14F-4D97-AF65-F5344CB8AC3E}">
        <p14:creationId xmlns:p14="http://schemas.microsoft.com/office/powerpoint/2010/main" val="106336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zh-CN" sz="4000" dirty="0"/>
              <a:t>Zoom into the current system design</a:t>
            </a:r>
            <a:endParaRPr lang="en-US" sz="3987" u="sng" dirty="0"/>
          </a:p>
        </p:txBody>
      </p:sp>
      <p:sp>
        <p:nvSpPr>
          <p:cNvPr id="27" name="Content Placeholder 2"/>
          <p:cNvSpPr>
            <a:spLocks noGrp="1"/>
          </p:cNvSpPr>
          <p:nvPr>
            <p:ph idx="1"/>
          </p:nvPr>
        </p:nvSpPr>
        <p:spPr>
          <a:xfrm>
            <a:off x="708223" y="5926119"/>
            <a:ext cx="8735616" cy="1056530"/>
          </a:xfrm>
        </p:spPr>
        <p:txBody>
          <a:bodyPr vert="horz" wrap="square" lIns="0" tIns="0" rIns="0" bIns="0" numCol="1" anchor="t" anchorCtr="0" compatLnSpc="1">
            <a:prstTxWarp prst="textNoShape">
              <a:avLst/>
            </a:prstTxWarp>
            <a:normAutofit fontScale="92500" lnSpcReduction="10000"/>
          </a:bodyPr>
          <a:lstStyle/>
          <a:p>
            <a:pPr marL="342900" indent="-342900">
              <a:lnSpc>
                <a:spcPct val="100000"/>
              </a:lnSpc>
              <a:buFont typeface="Arial" panose="020B0604020202020204" pitchFamily="34" charset="0"/>
              <a:buChar char="•"/>
            </a:pPr>
            <a:r>
              <a:rPr lang="en-US" sz="2437" dirty="0"/>
              <a:t>Relative location affects the processing behavior of consumer.</a:t>
            </a:r>
          </a:p>
          <a:p>
            <a:pPr marL="342900" indent="-342900">
              <a:lnSpc>
                <a:spcPct val="100000"/>
              </a:lnSpc>
              <a:buFont typeface="Arial" panose="020B0604020202020204" pitchFamily="34" charset="0"/>
              <a:buChar char="•"/>
            </a:pPr>
            <a:r>
              <a:rPr lang="en-US" sz="2437" dirty="0"/>
              <a:t>Each operator (except Spout) is a consumer of its upstream operator.	</a:t>
            </a:r>
          </a:p>
        </p:txBody>
      </p:sp>
      <p:grpSp>
        <p:nvGrpSpPr>
          <p:cNvPr id="3" name="Group 2">
            <a:extLst>
              <a:ext uri="{FF2B5EF4-FFF2-40B4-BE49-F238E27FC236}">
                <a16:creationId xmlns:a16="http://schemas.microsoft.com/office/drawing/2014/main" id="{223DF099-3837-5444-81C6-D37CBD084E85}"/>
              </a:ext>
            </a:extLst>
          </p:cNvPr>
          <p:cNvGrpSpPr/>
          <p:nvPr/>
        </p:nvGrpSpPr>
        <p:grpSpPr>
          <a:xfrm>
            <a:off x="1396487" y="2181225"/>
            <a:ext cx="7359087" cy="3344895"/>
            <a:chOff x="1755544" y="2197894"/>
            <a:chExt cx="6640974" cy="2896849"/>
          </a:xfrm>
        </p:grpSpPr>
        <p:sp>
          <p:nvSpPr>
            <p:cNvPr id="46" name="矩形 59"/>
            <p:cNvSpPr/>
            <p:nvPr/>
          </p:nvSpPr>
          <p:spPr>
            <a:xfrm>
              <a:off x="1755544" y="4194640"/>
              <a:ext cx="1617436" cy="469898"/>
            </a:xfrm>
            <a:prstGeom prst="rect">
              <a:avLst/>
            </a:prstGeom>
            <a:solidFill>
              <a:schemeClr val="accent3">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86086" tIns="43044" rIns="86086" bIns="43044" rtlCol="0" anchor="ctr"/>
            <a:lstStyle/>
            <a:p>
              <a:pPr algn="ctr"/>
              <a:r>
                <a:rPr lang="en-US" altLang="zh-CN" sz="1272" b="1" dirty="0">
                  <a:solidFill>
                    <a:schemeClr val="tx1"/>
                  </a:solidFill>
                </a:rPr>
                <a:t>Memory</a:t>
              </a:r>
              <a:endParaRPr kumimoji="1" lang="zh-CN" altLang="en-US" sz="1272" b="1" dirty="0">
                <a:ln w="12700">
                  <a:solidFill>
                    <a:srgbClr val="000000"/>
                  </a:solidFill>
                  <a:prstDash val="solid"/>
                </a:ln>
                <a:solidFill>
                  <a:schemeClr val="tx1"/>
                </a:solidFill>
              </a:endParaRPr>
            </a:p>
          </p:txBody>
        </p:sp>
        <p:sp>
          <p:nvSpPr>
            <p:cNvPr id="47" name="文本框 62"/>
            <p:cNvSpPr txBox="1"/>
            <p:nvPr/>
          </p:nvSpPr>
          <p:spPr>
            <a:xfrm>
              <a:off x="2195346" y="4752908"/>
              <a:ext cx="985779" cy="341835"/>
            </a:xfrm>
            <a:prstGeom prst="rect">
              <a:avLst/>
            </a:prstGeom>
            <a:noFill/>
          </p:spPr>
          <p:txBody>
            <a:bodyPr wrap="none" lIns="86086" tIns="43044" rIns="86086" bIns="43044" rtlCol="0">
              <a:spAutoFit/>
            </a:bodyPr>
            <a:lstStyle/>
            <a:p>
              <a:r>
                <a:rPr kumimoji="1" lang="en-US" altLang="zh-CN" sz="2000" b="1" dirty="0"/>
                <a:t>Socket 0</a:t>
              </a:r>
              <a:endParaRPr kumimoji="1" lang="zh-CN" altLang="en-US" sz="2000" b="1" dirty="0"/>
            </a:p>
          </p:txBody>
        </p:sp>
        <p:cxnSp>
          <p:nvCxnSpPr>
            <p:cNvPr id="49" name="直线箭头连接符 67"/>
            <p:cNvCxnSpPr>
              <a:stCxn id="53" idx="4"/>
              <a:endCxn id="46" idx="0"/>
            </p:cNvCxnSpPr>
            <p:nvPr/>
          </p:nvCxnSpPr>
          <p:spPr>
            <a:xfrm>
              <a:off x="2558698" y="2637576"/>
              <a:ext cx="5569" cy="1557066"/>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50" name="矩形 68"/>
            <p:cNvSpPr/>
            <p:nvPr/>
          </p:nvSpPr>
          <p:spPr>
            <a:xfrm>
              <a:off x="2631605" y="3717453"/>
              <a:ext cx="741385" cy="469898"/>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lIns="86086" tIns="43044" rIns="86086" bIns="43044" rtlCol="0" anchor="ctr"/>
            <a:lstStyle/>
            <a:p>
              <a:pPr algn="ctr"/>
              <a:r>
                <a:rPr lang="en-US" altLang="zh-CN" sz="1272" b="1" dirty="0">
                  <a:solidFill>
                    <a:schemeClr val="tx1"/>
                  </a:solidFill>
                </a:rPr>
                <a:t>queue</a:t>
              </a:r>
              <a:endParaRPr kumimoji="1" lang="zh-CN" altLang="en-US" sz="1272" b="1" dirty="0">
                <a:ln w="12700">
                  <a:solidFill>
                    <a:srgbClr val="000000"/>
                  </a:solidFill>
                  <a:prstDash val="solid"/>
                </a:ln>
                <a:solidFill>
                  <a:schemeClr val="tx1"/>
                </a:solidFill>
              </a:endParaRPr>
            </a:p>
          </p:txBody>
        </p:sp>
        <p:cxnSp>
          <p:nvCxnSpPr>
            <p:cNvPr id="51" name="直线箭头连接符 74"/>
            <p:cNvCxnSpPr>
              <a:stCxn id="53" idx="4"/>
              <a:endCxn id="50" idx="0"/>
            </p:cNvCxnSpPr>
            <p:nvPr/>
          </p:nvCxnSpPr>
          <p:spPr>
            <a:xfrm>
              <a:off x="2558698" y="2637580"/>
              <a:ext cx="443605" cy="1079877"/>
            </a:xfrm>
            <a:prstGeom prst="straightConnector1">
              <a:avLst/>
            </a:prstGeom>
            <a:ln>
              <a:prstDash val="dash"/>
              <a:tailEnd type="arrow"/>
            </a:ln>
          </p:spPr>
          <p:style>
            <a:lnRef idx="3">
              <a:schemeClr val="dk1"/>
            </a:lnRef>
            <a:fillRef idx="0">
              <a:schemeClr val="dk1"/>
            </a:fillRef>
            <a:effectRef idx="2">
              <a:schemeClr val="dk1"/>
            </a:effectRef>
            <a:fontRef idx="minor">
              <a:schemeClr val="tx1"/>
            </a:fontRef>
          </p:style>
        </p:cxnSp>
        <p:sp>
          <p:nvSpPr>
            <p:cNvPr id="53" name="矩形 95"/>
            <p:cNvSpPr/>
            <p:nvPr/>
          </p:nvSpPr>
          <p:spPr>
            <a:xfrm>
              <a:off x="1933113" y="2206158"/>
              <a:ext cx="1251161" cy="431418"/>
            </a:xfrm>
            <a:prstGeom prst="ellipse">
              <a:avLst/>
            </a:prstGeom>
            <a:solidFill>
              <a:schemeClr val="accent1">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86086" tIns="43044" rIns="86086" bIns="43044" rtlCol="0" anchor="ctr"/>
            <a:lstStyle/>
            <a:p>
              <a:pPr algn="ctr"/>
              <a:r>
                <a:rPr kumimoji="1" lang="en-US" altLang="zh-CN" sz="1400" b="1" dirty="0">
                  <a:solidFill>
                    <a:srgbClr val="000000"/>
                  </a:solidFill>
                </a:rPr>
                <a:t>Producer</a:t>
              </a:r>
              <a:endParaRPr kumimoji="1" lang="zh-CN" altLang="en-US" sz="1400" b="1" dirty="0">
                <a:solidFill>
                  <a:srgbClr val="000000"/>
                </a:solidFill>
              </a:endParaRPr>
            </a:p>
          </p:txBody>
        </p:sp>
        <p:sp>
          <p:nvSpPr>
            <p:cNvPr id="54" name="矩形 81"/>
            <p:cNvSpPr/>
            <p:nvPr/>
          </p:nvSpPr>
          <p:spPr>
            <a:xfrm>
              <a:off x="4882574" y="2206158"/>
              <a:ext cx="1375672" cy="431418"/>
            </a:xfrm>
            <a:prstGeom prst="ellipse">
              <a:avLst/>
            </a:prstGeom>
            <a:solidFill>
              <a:schemeClr val="accent1">
                <a:lumMod val="20000"/>
                <a:lumOff val="80000"/>
              </a:schemeClr>
            </a:solidFill>
            <a:ln>
              <a:solidFill>
                <a:srgbClr val="000000"/>
              </a:solidFill>
            </a:ln>
          </p:spPr>
          <p:style>
            <a:lnRef idx="1">
              <a:schemeClr val="accent1"/>
            </a:lnRef>
            <a:fillRef idx="3">
              <a:schemeClr val="accent1"/>
            </a:fillRef>
            <a:effectRef idx="2">
              <a:schemeClr val="accent1"/>
            </a:effectRef>
            <a:fontRef idx="minor">
              <a:schemeClr val="lt1"/>
            </a:fontRef>
          </p:style>
          <p:txBody>
            <a:bodyPr lIns="86086" tIns="43044" rIns="86086" bIns="43044" rtlCol="0" anchor="ctr"/>
            <a:lstStyle/>
            <a:p>
              <a:pPr algn="ctr"/>
              <a:r>
                <a:rPr kumimoji="1" lang="en-US" altLang="zh-CN" sz="1600" b="1" dirty="0">
                  <a:solidFill>
                    <a:srgbClr val="000000"/>
                  </a:solidFill>
                </a:rPr>
                <a:t>Consumer</a:t>
              </a:r>
              <a:endParaRPr kumimoji="1" lang="zh-CN" altLang="en-US" sz="1600" b="1" dirty="0">
                <a:solidFill>
                  <a:srgbClr val="000000"/>
                </a:solidFill>
              </a:endParaRPr>
            </a:p>
          </p:txBody>
        </p:sp>
        <p:sp>
          <p:nvSpPr>
            <p:cNvPr id="56" name="椭圆 31"/>
            <p:cNvSpPr/>
            <p:nvPr/>
          </p:nvSpPr>
          <p:spPr>
            <a:xfrm>
              <a:off x="2077974" y="2996901"/>
              <a:ext cx="403888" cy="453422"/>
            </a:xfrm>
            <a:prstGeom prst="ellipse">
              <a:avLst/>
            </a:prstGeom>
          </p:spPr>
          <p:style>
            <a:lnRef idx="2">
              <a:schemeClr val="dk1"/>
            </a:lnRef>
            <a:fillRef idx="1">
              <a:schemeClr val="lt1"/>
            </a:fillRef>
            <a:effectRef idx="0">
              <a:schemeClr val="dk1"/>
            </a:effectRef>
            <a:fontRef idx="minor">
              <a:schemeClr val="dk1"/>
            </a:fontRef>
          </p:style>
          <p:txBody>
            <a:bodyPr lIns="86086" tIns="43044" rIns="86086" bIns="43044" spcCol="0" rtlCol="0" anchor="ctr"/>
            <a:lstStyle/>
            <a:p>
              <a:pPr algn="ctr"/>
              <a:r>
                <a:rPr kumimoji="1" lang="en-US" altLang="zh-CN" sz="1272" dirty="0"/>
                <a:t>1</a:t>
              </a:r>
              <a:endParaRPr kumimoji="1" lang="zh-CN" altLang="en-US" sz="1272" dirty="0"/>
            </a:p>
          </p:txBody>
        </p:sp>
        <p:sp>
          <p:nvSpPr>
            <p:cNvPr id="57" name="椭圆 89"/>
            <p:cNvSpPr/>
            <p:nvPr/>
          </p:nvSpPr>
          <p:spPr>
            <a:xfrm>
              <a:off x="2870032" y="2990995"/>
              <a:ext cx="403888" cy="453422"/>
            </a:xfrm>
            <a:prstGeom prst="ellipse">
              <a:avLst/>
            </a:prstGeom>
          </p:spPr>
          <p:style>
            <a:lnRef idx="2">
              <a:schemeClr val="dk1"/>
            </a:lnRef>
            <a:fillRef idx="1">
              <a:schemeClr val="lt1"/>
            </a:fillRef>
            <a:effectRef idx="0">
              <a:schemeClr val="dk1"/>
            </a:effectRef>
            <a:fontRef idx="minor">
              <a:schemeClr val="dk1"/>
            </a:fontRef>
          </p:style>
          <p:txBody>
            <a:bodyPr lIns="86086" tIns="43044" rIns="86086" bIns="43044" spcCol="0" rtlCol="0" anchor="ctr"/>
            <a:lstStyle/>
            <a:p>
              <a:pPr algn="ctr"/>
              <a:r>
                <a:rPr kumimoji="1" lang="en-US" altLang="zh-CN" sz="1272" dirty="0"/>
                <a:t>2</a:t>
              </a:r>
              <a:endParaRPr kumimoji="1" lang="zh-CN" altLang="en-US" sz="1272" dirty="0"/>
            </a:p>
          </p:txBody>
        </p:sp>
        <p:sp>
          <p:nvSpPr>
            <p:cNvPr id="58" name="椭圆 94"/>
            <p:cNvSpPr/>
            <p:nvPr/>
          </p:nvSpPr>
          <p:spPr>
            <a:xfrm>
              <a:off x="5118486" y="2990995"/>
              <a:ext cx="403888" cy="453422"/>
            </a:xfrm>
            <a:prstGeom prst="ellipse">
              <a:avLst/>
            </a:prstGeom>
          </p:spPr>
          <p:style>
            <a:lnRef idx="2">
              <a:schemeClr val="dk1"/>
            </a:lnRef>
            <a:fillRef idx="1">
              <a:schemeClr val="lt1"/>
            </a:fillRef>
            <a:effectRef idx="0">
              <a:schemeClr val="dk1"/>
            </a:effectRef>
            <a:fontRef idx="minor">
              <a:schemeClr val="dk1"/>
            </a:fontRef>
          </p:style>
          <p:txBody>
            <a:bodyPr lIns="86086" tIns="43044" rIns="86086" bIns="43044" spcCol="0" rtlCol="0" anchor="ctr"/>
            <a:lstStyle/>
            <a:p>
              <a:pPr algn="ctr"/>
              <a:r>
                <a:rPr kumimoji="1" lang="en-US" altLang="zh-CN" sz="1272" dirty="0"/>
                <a:t>3</a:t>
              </a:r>
              <a:endParaRPr kumimoji="1" lang="zh-CN" altLang="en-US" sz="1272" dirty="0"/>
            </a:p>
          </p:txBody>
        </p:sp>
        <p:cxnSp>
          <p:nvCxnSpPr>
            <p:cNvPr id="59" name="直线箭头连接符 55"/>
            <p:cNvCxnSpPr>
              <a:stCxn id="50" idx="3"/>
              <a:endCxn id="54" idx="4"/>
            </p:cNvCxnSpPr>
            <p:nvPr/>
          </p:nvCxnSpPr>
          <p:spPr>
            <a:xfrm flipV="1">
              <a:off x="3372990" y="2637580"/>
              <a:ext cx="2197417" cy="1314827"/>
            </a:xfrm>
            <a:prstGeom prst="bentConnector2">
              <a:avLst/>
            </a:prstGeom>
            <a:ln>
              <a:prstDash val="dash"/>
              <a:tailEnd type="arrow"/>
            </a:ln>
          </p:spPr>
          <p:style>
            <a:lnRef idx="3">
              <a:schemeClr val="dk1"/>
            </a:lnRef>
            <a:fillRef idx="0">
              <a:schemeClr val="dk1"/>
            </a:fillRef>
            <a:effectRef idx="2">
              <a:schemeClr val="dk1"/>
            </a:effectRef>
            <a:fontRef idx="minor">
              <a:schemeClr val="tx1"/>
            </a:fontRef>
          </p:style>
        </p:cxnSp>
        <p:cxnSp>
          <p:nvCxnSpPr>
            <p:cNvPr id="60" name="直线箭头连接符 112"/>
            <p:cNvCxnSpPr/>
            <p:nvPr/>
          </p:nvCxnSpPr>
          <p:spPr>
            <a:xfrm flipV="1">
              <a:off x="3367414" y="2622175"/>
              <a:ext cx="2527377" cy="1850199"/>
            </a:xfrm>
            <a:prstGeom prst="bentConnector2">
              <a:avLst/>
            </a:prstGeom>
            <a:ln>
              <a:tailEnd type="arrow"/>
            </a:ln>
          </p:spPr>
          <p:style>
            <a:lnRef idx="3">
              <a:schemeClr val="dk1"/>
            </a:lnRef>
            <a:fillRef idx="0">
              <a:schemeClr val="dk1"/>
            </a:fillRef>
            <a:effectRef idx="2">
              <a:schemeClr val="dk1"/>
            </a:effectRef>
            <a:fontRef idx="minor">
              <a:schemeClr val="tx1"/>
            </a:fontRef>
          </p:style>
        </p:cxnSp>
        <p:sp>
          <p:nvSpPr>
            <p:cNvPr id="61" name="椭圆 117"/>
            <p:cNvSpPr/>
            <p:nvPr/>
          </p:nvSpPr>
          <p:spPr>
            <a:xfrm>
              <a:off x="5948308" y="2985472"/>
              <a:ext cx="403888" cy="453421"/>
            </a:xfrm>
            <a:prstGeom prst="ellipse">
              <a:avLst/>
            </a:prstGeom>
          </p:spPr>
          <p:style>
            <a:lnRef idx="2">
              <a:schemeClr val="dk1"/>
            </a:lnRef>
            <a:fillRef idx="1">
              <a:schemeClr val="lt1"/>
            </a:fillRef>
            <a:effectRef idx="0">
              <a:schemeClr val="dk1"/>
            </a:effectRef>
            <a:fontRef idx="minor">
              <a:schemeClr val="dk1"/>
            </a:fontRef>
          </p:style>
          <p:txBody>
            <a:bodyPr lIns="86086" tIns="43044" rIns="86086" bIns="43044" spcCol="0" rtlCol="0" anchor="ctr"/>
            <a:lstStyle/>
            <a:p>
              <a:pPr algn="ctr"/>
              <a:r>
                <a:rPr kumimoji="1" lang="en-US" altLang="zh-CN" sz="1272" dirty="0"/>
                <a:t>4</a:t>
              </a:r>
              <a:endParaRPr kumimoji="1" lang="zh-CN" altLang="en-US" sz="1272" dirty="0"/>
            </a:p>
          </p:txBody>
        </p:sp>
        <p:grpSp>
          <p:nvGrpSpPr>
            <p:cNvPr id="65" name="Group 64"/>
            <p:cNvGrpSpPr/>
            <p:nvPr/>
          </p:nvGrpSpPr>
          <p:grpSpPr>
            <a:xfrm>
              <a:off x="6602013" y="3526415"/>
              <a:ext cx="1794505" cy="1222580"/>
              <a:chOff x="7884654" y="3798174"/>
              <a:chExt cx="1914849" cy="1089413"/>
            </a:xfrm>
          </p:grpSpPr>
          <p:sp>
            <p:nvSpPr>
              <p:cNvPr id="39" name="文本框 153"/>
              <p:cNvSpPr txBox="1"/>
              <p:nvPr/>
            </p:nvSpPr>
            <p:spPr>
              <a:xfrm>
                <a:off x="8252948" y="3798175"/>
                <a:ext cx="1546555" cy="251897"/>
              </a:xfrm>
              <a:prstGeom prst="rect">
                <a:avLst/>
              </a:prstGeom>
              <a:noFill/>
            </p:spPr>
            <p:txBody>
              <a:bodyPr wrap="square" lIns="86086" tIns="43044" rIns="86086" bIns="43044" rtlCol="0">
                <a:spAutoFit/>
              </a:bodyPr>
              <a:lstStyle/>
              <a:p>
                <a:r>
                  <a:rPr kumimoji="1" lang="en-US" altLang="zh-CN" sz="1272" dirty="0"/>
                  <a:t>Pass value</a:t>
                </a:r>
                <a:endParaRPr kumimoji="1" lang="zh-CN" altLang="en-US" sz="1272" dirty="0"/>
              </a:p>
            </p:txBody>
          </p:sp>
          <p:sp>
            <p:nvSpPr>
              <p:cNvPr id="40" name="矩形 154"/>
              <p:cNvSpPr/>
              <p:nvPr/>
            </p:nvSpPr>
            <p:spPr>
              <a:xfrm>
                <a:off x="7884656" y="3798174"/>
                <a:ext cx="1623842" cy="1089413"/>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lIns="86086" tIns="43044" rIns="86086" bIns="43044" rtlCol="0" anchor="ctr"/>
              <a:lstStyle/>
              <a:p>
                <a:pPr algn="ctr"/>
                <a:endParaRPr kumimoji="1" lang="zh-CN" altLang="en-US" sz="1272"/>
              </a:p>
            </p:txBody>
          </p:sp>
          <p:cxnSp>
            <p:nvCxnSpPr>
              <p:cNvPr id="41" name="直线箭头连接符 155"/>
              <p:cNvCxnSpPr>
                <a:stCxn id="42" idx="1"/>
              </p:cNvCxnSpPr>
              <p:nvPr/>
            </p:nvCxnSpPr>
            <p:spPr>
              <a:xfrm flipH="1">
                <a:off x="7921878" y="4189158"/>
                <a:ext cx="331074" cy="0"/>
              </a:xfrm>
              <a:prstGeom prst="straightConnector1">
                <a:avLst/>
              </a:prstGeom>
              <a:ln>
                <a:solidFill>
                  <a:srgbClr val="000000"/>
                </a:solidFill>
                <a:prstDash val="dash"/>
                <a:tailEnd type="arrow"/>
              </a:ln>
            </p:spPr>
            <p:style>
              <a:lnRef idx="2">
                <a:schemeClr val="dk1"/>
              </a:lnRef>
              <a:fillRef idx="0">
                <a:schemeClr val="dk1"/>
              </a:fillRef>
              <a:effectRef idx="1">
                <a:schemeClr val="dk1"/>
              </a:effectRef>
              <a:fontRef idx="minor">
                <a:schemeClr val="tx1"/>
              </a:fontRef>
            </p:style>
          </p:cxnSp>
          <p:sp>
            <p:nvSpPr>
              <p:cNvPr id="42" name="文本框 158"/>
              <p:cNvSpPr txBox="1"/>
              <p:nvPr/>
            </p:nvSpPr>
            <p:spPr>
              <a:xfrm>
                <a:off x="8252953" y="4063210"/>
                <a:ext cx="1186158" cy="251897"/>
              </a:xfrm>
              <a:prstGeom prst="rect">
                <a:avLst/>
              </a:prstGeom>
              <a:noFill/>
            </p:spPr>
            <p:txBody>
              <a:bodyPr wrap="none" lIns="86086" tIns="43044" rIns="86086" bIns="43044" rtlCol="0">
                <a:spAutoFit/>
              </a:bodyPr>
              <a:lstStyle/>
              <a:p>
                <a:r>
                  <a:rPr kumimoji="1" lang="en-US" altLang="zh-CN" sz="1272" dirty="0"/>
                  <a:t>Pass reference</a:t>
                </a:r>
                <a:endParaRPr kumimoji="1" lang="zh-CN" altLang="en-US" sz="1272" dirty="0"/>
              </a:p>
            </p:txBody>
          </p:sp>
          <p:cxnSp>
            <p:nvCxnSpPr>
              <p:cNvPr id="43" name="直线箭头连接符 56"/>
              <p:cNvCxnSpPr/>
              <p:nvPr/>
            </p:nvCxnSpPr>
            <p:spPr>
              <a:xfrm flipH="1">
                <a:off x="7913144" y="3989996"/>
                <a:ext cx="339786" cy="0"/>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62" name="椭圆 118"/>
              <p:cNvSpPr/>
              <p:nvPr/>
            </p:nvSpPr>
            <p:spPr>
              <a:xfrm>
                <a:off x="7884654" y="4446884"/>
                <a:ext cx="430974" cy="404034"/>
              </a:xfrm>
              <a:prstGeom prst="ellipse">
                <a:avLst/>
              </a:prstGeom>
            </p:spPr>
            <p:style>
              <a:lnRef idx="2">
                <a:schemeClr val="dk1"/>
              </a:lnRef>
              <a:fillRef idx="1">
                <a:schemeClr val="lt1"/>
              </a:fillRef>
              <a:effectRef idx="0">
                <a:schemeClr val="dk1"/>
              </a:effectRef>
              <a:fontRef idx="minor">
                <a:schemeClr val="dk1"/>
              </a:fontRef>
            </p:style>
            <p:txBody>
              <a:bodyPr lIns="86086" tIns="43044" rIns="86086" bIns="43044" spcCol="0" rtlCol="0" anchor="ctr"/>
              <a:lstStyle/>
              <a:p>
                <a:pPr algn="ctr"/>
                <a:r>
                  <a:rPr kumimoji="1" lang="en-US" altLang="zh-CN" sz="1272" dirty="0"/>
                  <a:t>x</a:t>
                </a:r>
                <a:endParaRPr kumimoji="1" lang="zh-CN" altLang="en-US" sz="1272" dirty="0"/>
              </a:p>
            </p:txBody>
          </p:sp>
          <p:sp>
            <p:nvSpPr>
              <p:cNvPr id="63" name="文本框 119"/>
              <p:cNvSpPr txBox="1"/>
              <p:nvPr/>
            </p:nvSpPr>
            <p:spPr>
              <a:xfrm>
                <a:off x="8286950" y="4549120"/>
                <a:ext cx="625113" cy="251897"/>
              </a:xfrm>
              <a:prstGeom prst="rect">
                <a:avLst/>
              </a:prstGeom>
              <a:noFill/>
            </p:spPr>
            <p:txBody>
              <a:bodyPr wrap="none" lIns="86086" tIns="43044" rIns="86086" bIns="43044" rtlCol="0">
                <a:spAutoFit/>
              </a:bodyPr>
              <a:lstStyle/>
              <a:p>
                <a:r>
                  <a:rPr kumimoji="1" lang="en-US" altLang="zh-CN" sz="1272" dirty="0"/>
                  <a:t>Step x</a:t>
                </a:r>
                <a:endParaRPr kumimoji="1" lang="zh-CN" altLang="en-US" sz="1272" dirty="0"/>
              </a:p>
            </p:txBody>
          </p:sp>
        </p:grpSp>
        <p:sp>
          <p:nvSpPr>
            <p:cNvPr id="4" name="TextBox 3"/>
            <p:cNvSpPr txBox="1"/>
            <p:nvPr/>
          </p:nvSpPr>
          <p:spPr>
            <a:xfrm>
              <a:off x="3136445" y="2202848"/>
              <a:ext cx="1846980" cy="501356"/>
            </a:xfrm>
            <a:prstGeom prst="rect">
              <a:avLst/>
            </a:prstGeom>
            <a:noFill/>
          </p:spPr>
          <p:txBody>
            <a:bodyPr wrap="none" rtlCol="0">
              <a:spAutoFit/>
            </a:bodyPr>
            <a:lstStyle/>
            <a:p>
              <a:r>
                <a:rPr lang="en-US" sz="2658" dirty="0"/>
                <a:t>e.g., Splitter</a:t>
              </a:r>
            </a:p>
          </p:txBody>
        </p:sp>
        <p:sp>
          <p:nvSpPr>
            <p:cNvPr id="28" name="TextBox 27"/>
            <p:cNvSpPr txBox="1"/>
            <p:nvPr/>
          </p:nvSpPr>
          <p:spPr>
            <a:xfrm>
              <a:off x="6254349" y="2197894"/>
              <a:ext cx="1941557" cy="501356"/>
            </a:xfrm>
            <a:prstGeom prst="rect">
              <a:avLst/>
            </a:prstGeom>
            <a:noFill/>
          </p:spPr>
          <p:txBody>
            <a:bodyPr wrap="none" rtlCol="0">
              <a:spAutoFit/>
            </a:bodyPr>
            <a:lstStyle/>
            <a:p>
              <a:r>
                <a:rPr lang="en-US" sz="2658" dirty="0"/>
                <a:t>e.g., Counter</a:t>
              </a:r>
            </a:p>
          </p:txBody>
        </p:sp>
        <p:sp>
          <p:nvSpPr>
            <p:cNvPr id="29" name="文本框 63"/>
            <p:cNvSpPr txBox="1"/>
            <p:nvPr/>
          </p:nvSpPr>
          <p:spPr>
            <a:xfrm>
              <a:off x="5118486" y="4748995"/>
              <a:ext cx="1233710" cy="341834"/>
            </a:xfrm>
            <a:prstGeom prst="rect">
              <a:avLst/>
            </a:prstGeom>
            <a:noFill/>
          </p:spPr>
          <p:txBody>
            <a:bodyPr wrap="square" lIns="86086" tIns="43044" rIns="86086" bIns="43044" rtlCol="0">
              <a:spAutoFit/>
            </a:bodyPr>
            <a:lstStyle/>
            <a:p>
              <a:r>
                <a:rPr kumimoji="1" lang="en-US" altLang="zh-CN" sz="2000" b="1" dirty="0">
                  <a:solidFill>
                    <a:srgbClr val="FF0000"/>
                  </a:solidFill>
                </a:rPr>
                <a:t>Socket x?</a:t>
              </a:r>
              <a:endParaRPr kumimoji="1" lang="zh-CN" altLang="en-US" sz="2000" b="1" dirty="0">
                <a:solidFill>
                  <a:srgbClr val="FF0000"/>
                </a:solidFill>
              </a:endParaRPr>
            </a:p>
          </p:txBody>
        </p:sp>
      </p:grpSp>
    </p:spTree>
    <p:extLst>
      <p:ext uri="{BB962C8B-B14F-4D97-AF65-F5344CB8AC3E}">
        <p14:creationId xmlns:p14="http://schemas.microsoft.com/office/powerpoint/2010/main" val="210984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5">
            <a:extLst>
              <a:ext uri="{FF2B5EF4-FFF2-40B4-BE49-F238E27FC236}">
                <a16:creationId xmlns:a16="http://schemas.microsoft.com/office/drawing/2014/main" id="{608C40F7-9281-8A43-9285-1E68E97E8744}"/>
              </a:ext>
            </a:extLst>
          </p:cNvPr>
          <p:cNvSpPr>
            <a:spLocks noGrp="1"/>
          </p:cNvSpPr>
          <p:nvPr>
            <p:ph type="ftr" sz="quarter" idx="12"/>
          </p:nvPr>
        </p:nvSpPr>
        <p:spPr/>
        <p:txBody>
          <a:bodyPr/>
          <a:lstStyle/>
          <a:p>
            <a:endParaRPr lang="en-GB" altLang="en-US"/>
          </a:p>
          <a:p>
            <a:endParaRPr lang="en-GB" altLang="en-US"/>
          </a:p>
        </p:txBody>
      </p:sp>
      <p:sp>
        <p:nvSpPr>
          <p:cNvPr id="14338" name="Rectangle 2">
            <a:extLst>
              <a:ext uri="{FF2B5EF4-FFF2-40B4-BE49-F238E27FC236}">
                <a16:creationId xmlns:a16="http://schemas.microsoft.com/office/drawing/2014/main" id="{7B85D8F9-2B91-ED47-B4F1-78197046B3B7}"/>
              </a:ext>
            </a:extLst>
          </p:cNvPr>
          <p:cNvSpPr>
            <a:spLocks noGrp="1" noChangeArrowheads="1"/>
          </p:cNvSpPr>
          <p:nvPr>
            <p:ph type="title"/>
          </p:nvPr>
        </p:nvSpPr>
        <p:spPr/>
        <p:txBody>
          <a:bodyPr/>
          <a:lstStyle/>
          <a:p>
            <a:r>
              <a:rPr lang="en-US" dirty="0"/>
              <a:t>Outline</a:t>
            </a:r>
            <a:endParaRPr lang="en-GB" altLang="en-US" dirty="0"/>
          </a:p>
        </p:txBody>
      </p:sp>
      <p:sp>
        <p:nvSpPr>
          <p:cNvPr id="14339" name="Rectangle 3">
            <a:extLst>
              <a:ext uri="{FF2B5EF4-FFF2-40B4-BE49-F238E27FC236}">
                <a16:creationId xmlns:a16="http://schemas.microsoft.com/office/drawing/2014/main" id="{9E153C3C-1718-7747-AED1-F46255C2D4B2}"/>
              </a:ext>
            </a:extLst>
          </p:cNvPr>
          <p:cNvSpPr>
            <a:spLocks noGrp="1" noChangeArrowheads="1"/>
          </p:cNvSpPr>
          <p:nvPr>
            <p:ph type="body" idx="1"/>
          </p:nvPr>
        </p:nvSpPr>
        <p:spPr/>
        <p:txBody>
          <a:bodyPr/>
          <a:lstStyle/>
          <a:p>
            <a:pPr marL="342900" indent="-342900">
              <a:buFont typeface="Arial" panose="020B0604020202020204" pitchFamily="34" charset="0"/>
              <a:buChar char="•"/>
            </a:pPr>
            <a:r>
              <a:rPr lang="en-GB" altLang="en-US" dirty="0">
                <a:solidFill>
                  <a:schemeClr val="bg1">
                    <a:lumMod val="50000"/>
                  </a:schemeClr>
                </a:solidFill>
              </a:rPr>
              <a:t>Motivation</a:t>
            </a:r>
          </a:p>
          <a:p>
            <a:pPr marL="342900" indent="-342900">
              <a:buFont typeface="Arial" panose="020B0604020202020204" pitchFamily="34" charset="0"/>
              <a:buChar char="•"/>
            </a:pPr>
            <a:r>
              <a:rPr lang="en-GB" altLang="en-US" dirty="0"/>
              <a:t>Performance Model </a:t>
            </a:r>
          </a:p>
          <a:p>
            <a:pPr marL="342900" indent="-342900">
              <a:buFont typeface="Arial" panose="020B0604020202020204" pitchFamily="34" charset="0"/>
              <a:buChar char="•"/>
            </a:pPr>
            <a:r>
              <a:rPr lang="en-GB" altLang="en-US" dirty="0">
                <a:solidFill>
                  <a:schemeClr val="bg1">
                    <a:lumMod val="50000"/>
                  </a:schemeClr>
                </a:solidFill>
              </a:rPr>
              <a:t>Algorithm Design</a:t>
            </a:r>
          </a:p>
          <a:p>
            <a:pPr marL="342900" indent="-342900">
              <a:buFont typeface="Arial" panose="020B0604020202020204" pitchFamily="34" charset="0"/>
              <a:buChar char="•"/>
            </a:pPr>
            <a:r>
              <a:rPr lang="en-GB" altLang="en-US" dirty="0">
                <a:solidFill>
                  <a:schemeClr val="bg1">
                    <a:lumMod val="50000"/>
                  </a:schemeClr>
                </a:solidFill>
              </a:rPr>
              <a:t>Experimental Results</a:t>
            </a:r>
          </a:p>
        </p:txBody>
      </p:sp>
    </p:spTree>
    <p:extLst>
      <p:ext uri="{BB962C8B-B14F-4D97-AF65-F5344CB8AC3E}">
        <p14:creationId xmlns:p14="http://schemas.microsoft.com/office/powerpoint/2010/main" val="4120873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val 23"/>
          <p:cNvSpPr/>
          <p:nvPr/>
        </p:nvSpPr>
        <p:spPr>
          <a:xfrm>
            <a:off x="3692090" y="2814290"/>
            <a:ext cx="1011994" cy="7614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998" dirty="0"/>
              <a:t>Bolt</a:t>
            </a:r>
            <a:endParaRPr lang="en-US" sz="1998" dirty="0"/>
          </a:p>
        </p:txBody>
      </p:sp>
      <p:sp>
        <p:nvSpPr>
          <p:cNvPr id="2" name="Title 1"/>
          <p:cNvSpPr>
            <a:spLocks noGrp="1"/>
          </p:cNvSpPr>
          <p:nvPr>
            <p:ph type="title"/>
          </p:nvPr>
        </p:nvSpPr>
        <p:spPr/>
        <p:txBody>
          <a:bodyPr/>
          <a:lstStyle/>
          <a:p>
            <a:r>
              <a:rPr lang="en-US" dirty="0"/>
              <a:t>The Performance Model</a:t>
            </a:r>
          </a:p>
        </p:txBody>
      </p:sp>
      <p:sp>
        <p:nvSpPr>
          <p:cNvPr id="29" name="Oval 28"/>
          <p:cNvSpPr/>
          <p:nvPr/>
        </p:nvSpPr>
        <p:spPr>
          <a:xfrm>
            <a:off x="3494591" y="2678325"/>
            <a:ext cx="1011994" cy="7614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998" dirty="0"/>
              <a:t>Bolt</a:t>
            </a:r>
            <a:endParaRPr lang="en-US" sz="1998" dirty="0"/>
          </a:p>
        </p:txBody>
      </p:sp>
      <p:sp>
        <p:nvSpPr>
          <p:cNvPr id="31" name="Oval 30"/>
          <p:cNvSpPr/>
          <p:nvPr/>
        </p:nvSpPr>
        <p:spPr>
          <a:xfrm>
            <a:off x="5298509" y="2678325"/>
            <a:ext cx="1011994" cy="76140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998" dirty="0"/>
              <a:t>Sink</a:t>
            </a:r>
            <a:endParaRPr lang="en-US" sz="1998" dirty="0"/>
          </a:p>
        </p:txBody>
      </p:sp>
      <p:cxnSp>
        <p:nvCxnSpPr>
          <p:cNvPr id="8" name="Straight Arrow Connector 7"/>
          <p:cNvCxnSpPr>
            <a:endCxn id="29" idx="2"/>
          </p:cNvCxnSpPr>
          <p:nvPr/>
        </p:nvCxnSpPr>
        <p:spPr>
          <a:xfrm>
            <a:off x="2702666" y="3059028"/>
            <a:ext cx="791925" cy="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34" name="Straight Arrow Connector 33"/>
          <p:cNvCxnSpPr>
            <a:stCxn id="29" idx="6"/>
            <a:endCxn id="31" idx="2"/>
          </p:cNvCxnSpPr>
          <p:nvPr/>
        </p:nvCxnSpPr>
        <p:spPr>
          <a:xfrm>
            <a:off x="4506585" y="3059028"/>
            <a:ext cx="791925" cy="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37" name="Straight Arrow Connector 36"/>
          <p:cNvCxnSpPr>
            <a:stCxn id="31" idx="6"/>
          </p:cNvCxnSpPr>
          <p:nvPr/>
        </p:nvCxnSpPr>
        <p:spPr>
          <a:xfrm>
            <a:off x="6310504" y="3059028"/>
            <a:ext cx="791925" cy="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mc:AlternateContent xmlns:mc="http://schemas.openxmlformats.org/markup-compatibility/2006" xmlns:a14="http://schemas.microsoft.com/office/drawing/2010/main">
        <mc:Choice Requires="a14">
          <p:sp>
            <p:nvSpPr>
              <p:cNvPr id="18" name="TextBox 17"/>
              <p:cNvSpPr txBox="1"/>
              <p:nvPr/>
            </p:nvSpPr>
            <p:spPr>
              <a:xfrm>
                <a:off x="6592415" y="2678326"/>
                <a:ext cx="2141292" cy="3997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998" i="1" dirty="0">
                          <a:latin typeface="Cambria Math" charset="0"/>
                        </a:rPr>
                        <m:t>𝑇h𝑟𝑜𝑢𝑔h𝑝𝑢𝑡</m:t>
                      </m:r>
                      <m:r>
                        <a:rPr lang="en-US" sz="1998" i="1" dirty="0">
                          <a:latin typeface="Cambria Math" charset="0"/>
                        </a:rPr>
                        <m:t> (</m:t>
                      </m:r>
                      <m:r>
                        <a:rPr lang="en-US" sz="1998" i="1" dirty="0">
                          <a:latin typeface="Cambria Math" charset="0"/>
                        </a:rPr>
                        <m:t>𝑅</m:t>
                      </m:r>
                      <m:r>
                        <a:rPr lang="en-US" sz="1998" i="1" dirty="0">
                          <a:latin typeface="Cambria Math" charset="0"/>
                        </a:rPr>
                        <m:t>) </m:t>
                      </m:r>
                    </m:oMath>
                  </m:oMathPara>
                </a14:m>
                <a:endParaRPr lang="en-US" sz="1998" dirty="0"/>
              </a:p>
            </p:txBody>
          </p:sp>
        </mc:Choice>
        <mc:Fallback xmlns="">
          <p:sp>
            <p:nvSpPr>
              <p:cNvPr id="18" name="TextBox 17"/>
              <p:cNvSpPr txBox="1">
                <a:spLocks noRot="1" noChangeAspect="1" noMove="1" noResize="1" noEditPoints="1" noAdjustHandles="1" noChangeArrowheads="1" noChangeShapeType="1" noTextEdit="1"/>
              </p:cNvSpPr>
              <p:nvPr/>
            </p:nvSpPr>
            <p:spPr>
              <a:xfrm>
                <a:off x="6592415" y="2678326"/>
                <a:ext cx="2141292" cy="399789"/>
              </a:xfrm>
              <a:prstGeom prst="rect">
                <a:avLst/>
              </a:prstGeom>
              <a:blipFill>
                <a:blip r:embed="rId3"/>
                <a:stretch>
                  <a:fillRect b="-156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266485" y="3091893"/>
                <a:ext cx="451598" cy="3929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sz="1998" i="1" dirty="0">
                          <a:latin typeface="Cambria Math" charset="0"/>
                          <a:ea typeface="Helvetica" charset="0"/>
                          <a:cs typeface="Helvetica" charset="0"/>
                        </a:rPr>
                        <m:t>𝑟</m:t>
                      </m:r>
                      <m:r>
                        <a:rPr lang="it-IT" sz="1998" i="1" baseline="-25000" dirty="0">
                          <a:latin typeface="Cambria Math" charset="0"/>
                          <a:ea typeface="Helvetica" charset="0"/>
                          <a:cs typeface="Helvetica" charset="0"/>
                        </a:rPr>
                        <m:t>𝑜</m:t>
                      </m:r>
                    </m:oMath>
                  </m:oMathPara>
                </a14:m>
                <a:endParaRPr lang="it-IT" sz="1998" baseline="-25000" dirty="0">
                  <a:latin typeface="Helvetica" charset="0"/>
                  <a:ea typeface="Helvetica" charset="0"/>
                  <a:cs typeface="Helvetica"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6266485" y="3091893"/>
                <a:ext cx="451598" cy="39299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Rectangle 14"/>
              <p:cNvSpPr/>
              <p:nvPr/>
            </p:nvSpPr>
            <p:spPr>
              <a:xfrm>
                <a:off x="915613" y="3771532"/>
                <a:ext cx="8538495" cy="2308324"/>
              </a:xfrm>
              <a:prstGeom prst="rect">
                <a:avLst/>
              </a:prstGeom>
            </p:spPr>
            <p:txBody>
              <a:bodyPr wrap="square">
                <a:spAutoFit/>
              </a:bodyPr>
              <a:lstStyle/>
              <a:p>
                <a:pPr marL="285533" indent="-285533">
                  <a:buFont typeface="Arial" charset="0"/>
                  <a:buChar char="•"/>
                </a:pPr>
                <a14:m>
                  <m:oMath xmlns:m="http://schemas.openxmlformats.org/officeDocument/2006/math">
                    <m:r>
                      <a:rPr lang="it-IT" dirty="0">
                        <a:solidFill>
                          <a:srgbClr val="003399"/>
                        </a:solidFill>
                        <a:latin typeface="Cambria Math" panose="02040503050406030204" pitchFamily="18" charset="0"/>
                      </a:rPr>
                      <m:t>𝑟</m:t>
                    </m:r>
                    <m:r>
                      <a:rPr lang="it-IT" baseline="-25000" dirty="0" err="1">
                        <a:solidFill>
                          <a:srgbClr val="003399"/>
                        </a:solidFill>
                        <a:latin typeface="Cambria Math" panose="02040503050406030204" pitchFamily="18" charset="0"/>
                      </a:rPr>
                      <m:t>𝑖</m:t>
                    </m:r>
                    <m:r>
                      <a:rPr lang="it-IT" dirty="0">
                        <a:solidFill>
                          <a:srgbClr val="003399"/>
                        </a:solidFill>
                        <a:latin typeface="Cambria Math" panose="02040503050406030204" pitchFamily="18" charset="0"/>
                      </a:rPr>
                      <m:t> </m:t>
                    </m:r>
                  </m:oMath>
                </a14:m>
                <a:r>
                  <a:rPr lang="en-US" dirty="0">
                    <a:solidFill>
                      <a:srgbClr val="003399"/>
                    </a:solidFill>
                    <a:latin typeface="+mn-lt"/>
                  </a:rPr>
                  <a:t>: input rate – depends on (</a:t>
                </a:r>
                <a14:m>
                  <m:oMath xmlns:m="http://schemas.openxmlformats.org/officeDocument/2006/math">
                    <m:r>
                      <a:rPr lang="it-IT" dirty="0">
                        <a:solidFill>
                          <a:srgbClr val="003399"/>
                        </a:solidFill>
                        <a:latin typeface="Cambria Math" panose="02040503050406030204" pitchFamily="18" charset="0"/>
                      </a:rPr>
                      <m:t>𝑟</m:t>
                    </m:r>
                    <m:r>
                      <a:rPr lang="it-IT" baseline="-25000" dirty="0">
                        <a:solidFill>
                          <a:srgbClr val="003399"/>
                        </a:solidFill>
                        <a:latin typeface="Cambria Math" panose="02040503050406030204" pitchFamily="18" charset="0"/>
                      </a:rPr>
                      <m:t>𝑜</m:t>
                    </m:r>
                  </m:oMath>
                </a14:m>
                <a:r>
                  <a:rPr lang="en-US" dirty="0">
                    <a:solidFill>
                      <a:srgbClr val="003399"/>
                    </a:solidFill>
                    <a:latin typeface="+mn-lt"/>
                  </a:rPr>
                  <a:t> of upstream operators).</a:t>
                </a:r>
              </a:p>
              <a:p>
                <a:pPr marL="285533" indent="-285533">
                  <a:buFont typeface="Arial" charset="0"/>
                  <a:buChar char="•"/>
                </a:pPr>
                <a:endParaRPr lang="en-US" dirty="0">
                  <a:solidFill>
                    <a:srgbClr val="003399"/>
                  </a:solidFill>
                  <a:latin typeface="+mn-lt"/>
                </a:endParaRPr>
              </a:p>
              <a:p>
                <a:pPr marL="285533" indent="-285533">
                  <a:buFont typeface="Arial" charset="0"/>
                  <a:buChar char="•"/>
                </a:pPr>
                <a14:m>
                  <m:oMath xmlns:m="http://schemas.openxmlformats.org/officeDocument/2006/math">
                    <m:r>
                      <a:rPr lang="it-IT" dirty="0">
                        <a:solidFill>
                          <a:srgbClr val="003399"/>
                        </a:solidFill>
                        <a:latin typeface="Cambria Math" panose="02040503050406030204" pitchFamily="18" charset="0"/>
                      </a:rPr>
                      <m:t>𝑟</m:t>
                    </m:r>
                    <m:r>
                      <a:rPr lang="it-IT" baseline="-25000" dirty="0">
                        <a:solidFill>
                          <a:srgbClr val="003399"/>
                        </a:solidFill>
                        <a:latin typeface="Cambria Math" panose="02040503050406030204" pitchFamily="18" charset="0"/>
                      </a:rPr>
                      <m:t>𝑜</m:t>
                    </m:r>
                  </m:oMath>
                </a14:m>
                <a:r>
                  <a:rPr lang="en-US" dirty="0">
                    <a:solidFill>
                      <a:srgbClr val="003399"/>
                    </a:solidFill>
                    <a:latin typeface="+mn-lt"/>
                  </a:rPr>
                  <a:t>: output rate – depends on (processing speed) and </a:t>
                </a:r>
                <a14:m>
                  <m:oMath xmlns:m="http://schemas.openxmlformats.org/officeDocument/2006/math">
                    <m:r>
                      <a:rPr lang="en-US" dirty="0">
                        <a:solidFill>
                          <a:srgbClr val="003399"/>
                        </a:solidFill>
                        <a:latin typeface="Cambria Math" panose="02040503050406030204" pitchFamily="18" charset="0"/>
                      </a:rPr>
                      <m:t>(</m:t>
                    </m:r>
                    <m:r>
                      <a:rPr lang="it-IT" dirty="0">
                        <a:solidFill>
                          <a:srgbClr val="003399"/>
                        </a:solidFill>
                        <a:latin typeface="Cambria Math" panose="02040503050406030204" pitchFamily="18" charset="0"/>
                      </a:rPr>
                      <m:t>𝑟</m:t>
                    </m:r>
                    <m:r>
                      <a:rPr lang="it-IT" baseline="-25000" dirty="0" err="1">
                        <a:solidFill>
                          <a:srgbClr val="003399"/>
                        </a:solidFill>
                        <a:latin typeface="Cambria Math" panose="02040503050406030204" pitchFamily="18" charset="0"/>
                      </a:rPr>
                      <m:t>𝑖</m:t>
                    </m:r>
                  </m:oMath>
                </a14:m>
                <a:r>
                  <a:rPr lang="en-US" dirty="0">
                    <a:solidFill>
                      <a:srgbClr val="003399"/>
                    </a:solidFill>
                    <a:latin typeface="+mn-lt"/>
                  </a:rPr>
                  <a:t> of upstream operators).</a:t>
                </a:r>
                <a:br>
                  <a:rPr lang="en-US" dirty="0">
                    <a:solidFill>
                      <a:srgbClr val="003399"/>
                    </a:solidFill>
                    <a:latin typeface="+mn-lt"/>
                  </a:rPr>
                </a:br>
                <a:endParaRPr lang="en-US" dirty="0">
                  <a:solidFill>
                    <a:srgbClr val="003399"/>
                  </a:solidFill>
                  <a:latin typeface="+mn-lt"/>
                </a:endParaRPr>
              </a:p>
              <a:p>
                <a:pPr marL="285533" indent="-285533">
                  <a:buFont typeface="Arial" charset="0"/>
                  <a:buChar char="•"/>
                </a:pPr>
                <a:r>
                  <a:rPr lang="en-US" dirty="0">
                    <a:solidFill>
                      <a:srgbClr val="003399"/>
                    </a:solidFill>
                    <a:latin typeface="+mn-lt"/>
                  </a:rPr>
                  <a:t>The model tries to estimate throughput (</a:t>
                </a:r>
                <a14:m>
                  <m:oMath xmlns:m="http://schemas.openxmlformats.org/officeDocument/2006/math">
                    <m:r>
                      <a:rPr lang="en-US" dirty="0">
                        <a:solidFill>
                          <a:srgbClr val="003399"/>
                        </a:solidFill>
                        <a:latin typeface="Cambria Math" panose="02040503050406030204" pitchFamily="18" charset="0"/>
                      </a:rPr>
                      <m:t>𝑅</m:t>
                    </m:r>
                  </m:oMath>
                </a14:m>
                <a:r>
                  <a:rPr lang="en-US" dirty="0">
                    <a:solidFill>
                      <a:srgbClr val="003399"/>
                    </a:solidFill>
                    <a:latin typeface="+mn-lt"/>
                  </a:rPr>
                  <a:t>), </a:t>
                </a:r>
                <a:r>
                  <a:rPr lang="en-US" altLang="zh-CN" dirty="0">
                    <a:solidFill>
                      <a:srgbClr val="003399"/>
                    </a:solidFill>
                    <a:latin typeface="+mn-lt"/>
                  </a:rPr>
                  <a:t>which is </a:t>
                </a:r>
                <a:r>
                  <a:rPr lang="en-US" dirty="0">
                    <a:solidFill>
                      <a:srgbClr val="003399"/>
                    </a:solidFill>
                    <a:latin typeface="+mn-lt"/>
                  </a:rPr>
                  <a:t>Sink’s </a:t>
                </a:r>
                <a14:m>
                  <m:oMath xmlns:m="http://schemas.openxmlformats.org/officeDocument/2006/math">
                    <m:r>
                      <a:rPr lang="it-IT" dirty="0">
                        <a:solidFill>
                          <a:srgbClr val="003399"/>
                        </a:solidFill>
                        <a:latin typeface="Cambria Math" panose="02040503050406030204" pitchFamily="18" charset="0"/>
                      </a:rPr>
                      <m:t>𝑟</m:t>
                    </m:r>
                    <m:r>
                      <a:rPr lang="it-IT" baseline="-25000" dirty="0">
                        <a:solidFill>
                          <a:srgbClr val="003399"/>
                        </a:solidFill>
                        <a:latin typeface="Cambria Math" panose="02040503050406030204" pitchFamily="18" charset="0"/>
                      </a:rPr>
                      <m:t>𝑜</m:t>
                    </m:r>
                  </m:oMath>
                </a14:m>
                <a:r>
                  <a:rPr lang="it-IT" dirty="0">
                    <a:solidFill>
                      <a:srgbClr val="003399"/>
                    </a:solidFill>
                    <a:latin typeface="+mn-lt"/>
                  </a:rPr>
                  <a:t>.</a:t>
                </a:r>
              </a:p>
            </p:txBody>
          </p:sp>
        </mc:Choice>
        <mc:Fallback>
          <p:sp>
            <p:nvSpPr>
              <p:cNvPr id="15" name="Rectangle 14"/>
              <p:cNvSpPr>
                <a:spLocks noRot="1" noChangeAspect="1" noMove="1" noResize="1" noEditPoints="1" noAdjustHandles="1" noChangeArrowheads="1" noChangeShapeType="1" noTextEdit="1"/>
              </p:cNvSpPr>
              <p:nvPr/>
            </p:nvSpPr>
            <p:spPr>
              <a:xfrm>
                <a:off x="915613" y="3771532"/>
                <a:ext cx="8538495" cy="2308324"/>
              </a:xfrm>
              <a:prstGeom prst="rect">
                <a:avLst/>
              </a:prstGeom>
              <a:blipFill>
                <a:blip r:embed="rId5"/>
                <a:stretch>
                  <a:fillRect l="-1042" t="-1639"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p:cNvSpPr/>
              <p:nvPr/>
            </p:nvSpPr>
            <p:spPr>
              <a:xfrm>
                <a:off x="5052570" y="3097156"/>
                <a:ext cx="417230" cy="3929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it-IT" sz="1998" i="1" dirty="0">
                          <a:latin typeface="Cambria Math" charset="0"/>
                          <a:ea typeface="Helvetica" charset="0"/>
                          <a:cs typeface="Helvetica" charset="0"/>
                        </a:rPr>
                        <m:t>𝑟</m:t>
                      </m:r>
                      <m:r>
                        <a:rPr lang="it-IT" sz="1998" i="1" baseline="-25000" dirty="0" err="1">
                          <a:latin typeface="Cambria Math" charset="0"/>
                          <a:ea typeface="Helvetica" charset="0"/>
                          <a:cs typeface="Helvetica" charset="0"/>
                        </a:rPr>
                        <m:t>𝑖</m:t>
                      </m:r>
                    </m:oMath>
                  </m:oMathPara>
                </a14:m>
                <a:endParaRPr lang="it-IT" sz="1998" baseline="-25000" dirty="0">
                  <a:latin typeface="Helvetica" charset="0"/>
                  <a:ea typeface="Helvetica" charset="0"/>
                  <a:cs typeface="Helvetica" charset="0"/>
                </a:endParaRPr>
              </a:p>
            </p:txBody>
          </p:sp>
        </mc:Choice>
        <mc:Fallback xmlns="">
          <p:sp>
            <p:nvSpPr>
              <p:cNvPr id="19" name="Rectangle 18"/>
              <p:cNvSpPr>
                <a:spLocks noRot="1" noChangeAspect="1" noMove="1" noResize="1" noEditPoints="1" noAdjustHandles="1" noChangeArrowheads="1" noChangeShapeType="1" noTextEdit="1"/>
              </p:cNvSpPr>
              <p:nvPr/>
            </p:nvSpPr>
            <p:spPr>
              <a:xfrm>
                <a:off x="5052570" y="3097156"/>
                <a:ext cx="417230" cy="392993"/>
              </a:xfrm>
              <a:prstGeom prst="rect">
                <a:avLst/>
              </a:prstGeom>
              <a:blipFill>
                <a:blip r:embed="rId6"/>
                <a:stretch>
                  <a:fillRect/>
                </a:stretch>
              </a:blipFill>
            </p:spPr>
            <p:txBody>
              <a:bodyPr/>
              <a:lstStyle/>
              <a:p>
                <a:r>
                  <a:rPr lang="en-US">
                    <a:noFill/>
                  </a:rPr>
                  <a:t> </a:t>
                </a:r>
              </a:p>
            </p:txBody>
          </p:sp>
        </mc:Fallback>
      </mc:AlternateContent>
      <p:cxnSp>
        <p:nvCxnSpPr>
          <p:cNvPr id="25" name="Straight Arrow Connector 24"/>
          <p:cNvCxnSpPr>
            <a:stCxn id="24" idx="6"/>
            <a:endCxn id="31" idx="2"/>
          </p:cNvCxnSpPr>
          <p:nvPr/>
        </p:nvCxnSpPr>
        <p:spPr>
          <a:xfrm flipV="1">
            <a:off x="4704084" y="3059028"/>
            <a:ext cx="594426" cy="135965"/>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26" name="Straight Arrow Connector 25"/>
          <p:cNvCxnSpPr>
            <a:endCxn id="29" idx="2"/>
          </p:cNvCxnSpPr>
          <p:nvPr/>
        </p:nvCxnSpPr>
        <p:spPr>
          <a:xfrm>
            <a:off x="2724114" y="2678326"/>
            <a:ext cx="770477" cy="38070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12" name="TextBox 11"/>
          <p:cNvSpPr txBox="1"/>
          <p:nvPr/>
        </p:nvSpPr>
        <p:spPr>
          <a:xfrm>
            <a:off x="2260965" y="2678326"/>
            <a:ext cx="441146" cy="399789"/>
          </a:xfrm>
          <a:prstGeom prst="rect">
            <a:avLst/>
          </a:prstGeom>
          <a:noFill/>
        </p:spPr>
        <p:txBody>
          <a:bodyPr wrap="none" rtlCol="0">
            <a:spAutoFit/>
          </a:bodyPr>
          <a:lstStyle/>
          <a:p>
            <a:r>
              <a:rPr lang="mr-IN" sz="1998" dirty="0"/>
              <a:t>…</a:t>
            </a:r>
            <a:endParaRPr lang="en-US" sz="1998" dirty="0"/>
          </a:p>
        </p:txBody>
      </p:sp>
      <p:cxnSp>
        <p:nvCxnSpPr>
          <p:cNvPr id="30" name="Straight Arrow Connector 29"/>
          <p:cNvCxnSpPr/>
          <p:nvPr/>
        </p:nvCxnSpPr>
        <p:spPr>
          <a:xfrm>
            <a:off x="4506585" y="2672840"/>
            <a:ext cx="770477" cy="380702"/>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Tree>
    <p:extLst>
      <p:ext uri="{BB962C8B-B14F-4D97-AF65-F5344CB8AC3E}">
        <p14:creationId xmlns:p14="http://schemas.microsoft.com/office/powerpoint/2010/main" val="1228510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ltLang="zh-CN" dirty="0"/>
                  <a:t>Estimating </a:t>
                </a:r>
                <a14:m>
                  <m:oMath xmlns:m="http://schemas.openxmlformats.org/officeDocument/2006/math">
                    <m:r>
                      <a:rPr lang="en-US" i="1" dirty="0" smtClean="0">
                        <a:latin typeface="Cambria Math" charset="0"/>
                      </a:rPr>
                      <m:t>𝑟</m:t>
                    </m:r>
                    <m:r>
                      <a:rPr lang="en-US" i="1" baseline="-25000" dirty="0" err="1" smtClean="0">
                        <a:latin typeface="Cambria Math" charset="0"/>
                      </a:rPr>
                      <m:t>𝑜</m:t>
                    </m:r>
                  </m:oMath>
                </a14:m>
                <a:r>
                  <a:rPr lang="en-US" dirty="0"/>
                  <a:t> of an Operator (1)</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4"/>
                <a:stretch>
                  <a:fillRect l="-228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Rectangle 14"/>
              <p:cNvSpPr/>
              <p:nvPr/>
            </p:nvSpPr>
            <p:spPr>
              <a:xfrm>
                <a:off x="697954" y="2350632"/>
                <a:ext cx="8756154" cy="4170757"/>
              </a:xfrm>
              <a:prstGeom prst="rect">
                <a:avLst/>
              </a:prstGeom>
            </p:spPr>
            <p:txBody>
              <a:bodyPr wrap="square">
                <a:spAutoFit/>
              </a:bodyPr>
              <a:lstStyle/>
              <a:p>
                <a:pPr marL="285533" indent="-285533">
                  <a:buFont typeface="Arial" charset="0"/>
                  <a:buChar char="•"/>
                </a:pPr>
                <a:r>
                  <a:rPr lang="it-IT" sz="2600" dirty="0">
                    <a:solidFill>
                      <a:srgbClr val="003399"/>
                    </a:solidFill>
                  </a:rPr>
                  <a:t>Output rate (</a:t>
                </a:r>
                <a14:m>
                  <m:oMath xmlns:m="http://schemas.openxmlformats.org/officeDocument/2006/math">
                    <m:r>
                      <a:rPr lang="it-IT" sz="2600" dirty="0" smtClean="0">
                        <a:solidFill>
                          <a:srgbClr val="003399"/>
                        </a:solidFill>
                        <a:latin typeface="Cambria Math" panose="02040503050406030204" pitchFamily="18" charset="0"/>
                      </a:rPr>
                      <m:t>𝑟</m:t>
                    </m:r>
                    <m:r>
                      <a:rPr lang="it-IT" sz="2600" baseline="-25000" dirty="0">
                        <a:solidFill>
                          <a:srgbClr val="003399"/>
                        </a:solidFill>
                        <a:latin typeface="Cambria Math" panose="02040503050406030204" pitchFamily="18" charset="0"/>
                      </a:rPr>
                      <m:t>𝑜</m:t>
                    </m:r>
                  </m:oMath>
                </a14:m>
                <a:r>
                  <a:rPr lang="it-IT" sz="2600" dirty="0">
                    <a:solidFill>
                      <a:srgbClr val="003399"/>
                    </a:solidFill>
                    <a:latin typeface="+mn-lt"/>
                  </a:rPr>
                  <a:t>) can be estimate </a:t>
                </a:r>
                <a:r>
                  <a:rPr lang="en-US" sz="2600" dirty="0">
                    <a:solidFill>
                      <a:srgbClr val="003399"/>
                    </a:solidFill>
                    <a:latin typeface="+mn-lt"/>
                  </a:rPr>
                  <a:t>as</a:t>
                </a:r>
                <a:r>
                  <a:rPr lang="it-IT" sz="2600" dirty="0">
                    <a:solidFill>
                      <a:srgbClr val="003399"/>
                    </a:solidFill>
                    <a:latin typeface="+mn-lt"/>
                  </a:rPr>
                  <a:t> </a:t>
                </a:r>
                <a:r>
                  <a:rPr lang="en-US" altLang="zh-CN" sz="2600" dirty="0">
                    <a:solidFill>
                      <a:srgbClr val="003399"/>
                    </a:solidFill>
                    <a:latin typeface="+mn-lt"/>
                  </a:rPr>
                  <a:t>#tuples processed (</a:t>
                </a:r>
                <a14:m>
                  <m:oMath xmlns:m="http://schemas.openxmlformats.org/officeDocument/2006/math">
                    <m:r>
                      <a:rPr lang="en-US" altLang="zh-CN" sz="2600" i="1" dirty="0" smtClean="0">
                        <a:solidFill>
                          <a:srgbClr val="003399"/>
                        </a:solidFill>
                        <a:latin typeface="Cambria Math" panose="02040503050406030204" pitchFamily="18" charset="0"/>
                      </a:rPr>
                      <m:t>𝑁</m:t>
                    </m:r>
                  </m:oMath>
                </a14:m>
                <a:r>
                  <a:rPr lang="en-US" altLang="zh-CN" sz="2600" dirty="0">
                    <a:solidFill>
                      <a:srgbClr val="003399"/>
                    </a:solidFill>
                    <a:latin typeface="+mn-lt"/>
                  </a:rPr>
                  <a:t>) / time needed to process them (</a:t>
                </a:r>
                <a14:m>
                  <m:oMath xmlns:m="http://schemas.openxmlformats.org/officeDocument/2006/math">
                    <m:r>
                      <a:rPr lang="en-US" altLang="zh-CN" sz="2600" i="1" dirty="0" smtClean="0">
                        <a:solidFill>
                          <a:srgbClr val="003399"/>
                        </a:solidFill>
                        <a:latin typeface="Cambria Math" panose="02040503050406030204" pitchFamily="18" charset="0"/>
                      </a:rPr>
                      <m:t>𝑡</m:t>
                    </m:r>
                    <m:r>
                      <a:rPr lang="en-US" altLang="zh-CN" sz="2600" i="1" baseline="-25000" dirty="0" err="1" smtClean="0">
                        <a:solidFill>
                          <a:srgbClr val="003399"/>
                        </a:solidFill>
                        <a:latin typeface="Cambria Math" panose="02040503050406030204" pitchFamily="18" charset="0"/>
                      </a:rPr>
                      <m:t>𝑝</m:t>
                    </m:r>
                  </m:oMath>
                </a14:m>
                <a:r>
                  <a:rPr lang="en-US" altLang="zh-CN" sz="2600" dirty="0">
                    <a:solidFill>
                      <a:srgbClr val="003399"/>
                    </a:solidFill>
                    <a:latin typeface="+mn-lt"/>
                  </a:rPr>
                  <a:t>).</a:t>
                </a:r>
              </a:p>
              <a:p>
                <a:pPr lvl="1"/>
                <a:endParaRPr lang="en-US" sz="2600" u="sng" dirty="0">
                  <a:solidFill>
                    <a:srgbClr val="003399"/>
                  </a:solidFill>
                  <a:latin typeface="+mn-lt"/>
                </a:endParaRPr>
              </a:p>
              <a:p>
                <a:pPr marL="457200" indent="-457200">
                  <a:buFont typeface="Arial" panose="020B0604020202020204" pitchFamily="34" charset="0"/>
                  <a:buChar char="•"/>
                </a:pPr>
                <a:r>
                  <a:rPr lang="en-US" sz="2600" dirty="0">
                    <a:solidFill>
                      <a:srgbClr val="003399"/>
                    </a:solidFill>
                    <a:latin typeface="+mn-lt"/>
                  </a:rPr>
                  <a:t>Consider an arbitrary observation time t,</a:t>
                </a:r>
              </a:p>
              <a:p>
                <a:r>
                  <a:rPr lang="en-US" sz="2600" dirty="0">
                    <a:solidFill>
                      <a:srgbClr val="003399"/>
                    </a:solidFill>
                    <a:latin typeface="+mn-lt"/>
                  </a:rPr>
                  <a:t>	</a:t>
                </a:r>
                <a14:m>
                  <m:oMath xmlns:m="http://schemas.openxmlformats.org/officeDocument/2006/math">
                    <m:r>
                      <a:rPr lang="en-US" altLang="zh-CN" sz="2600" i="1" dirty="0">
                        <a:solidFill>
                          <a:srgbClr val="003399"/>
                        </a:solidFill>
                        <a:latin typeface="Cambria Math" panose="02040503050406030204" pitchFamily="18" charset="0"/>
                      </a:rPr>
                      <m:t>𝑁</m:t>
                    </m:r>
                  </m:oMath>
                </a14:m>
                <a:r>
                  <a:rPr lang="en-US" altLang="zh-CN" sz="2600" dirty="0">
                    <a:solidFill>
                      <a:srgbClr val="003399"/>
                    </a:solidFill>
                  </a:rPr>
                  <a:t>= total aggregated input tuples arrived during t;</a:t>
                </a:r>
              </a:p>
              <a:p>
                <a:r>
                  <a:rPr lang="en-US" altLang="zh-CN" sz="2600" dirty="0">
                    <a:solidFill>
                      <a:srgbClr val="003399"/>
                    </a:solidFill>
                  </a:rPr>
                  <a:t>	</a:t>
                </a:r>
                <a14:m>
                  <m:oMath xmlns:m="http://schemas.openxmlformats.org/officeDocument/2006/math">
                    <m:r>
                      <a:rPr lang="en-US" altLang="zh-CN" sz="2600" i="1" dirty="0">
                        <a:solidFill>
                          <a:srgbClr val="003399"/>
                        </a:solidFill>
                        <a:latin typeface="Cambria Math" panose="02040503050406030204" pitchFamily="18" charset="0"/>
                      </a:rPr>
                      <m:t>𝑡</m:t>
                    </m:r>
                    <m:r>
                      <a:rPr lang="en-US" altLang="zh-CN" sz="2600" i="1" baseline="-25000" dirty="0" err="1">
                        <a:solidFill>
                          <a:srgbClr val="003399"/>
                        </a:solidFill>
                        <a:latin typeface="Cambria Math" panose="02040503050406030204" pitchFamily="18" charset="0"/>
                      </a:rPr>
                      <m:t>𝑝</m:t>
                    </m:r>
                    <m:r>
                      <a:rPr lang="en-US" altLang="zh-CN" sz="2600" i="1" baseline="-25000" dirty="0" err="1">
                        <a:solidFill>
                          <a:srgbClr val="003399"/>
                        </a:solidFill>
                        <a:latin typeface="Cambria Math" panose="02040503050406030204" pitchFamily="18" charset="0"/>
                      </a:rPr>
                      <m:t> </m:t>
                    </m:r>
                  </m:oMath>
                </a14:m>
                <a:r>
                  <a:rPr lang="en-US" altLang="zh-CN" sz="2600" dirty="0">
                    <a:solidFill>
                      <a:srgbClr val="003399"/>
                    </a:solidFill>
                  </a:rPr>
                  <a:t>= </a:t>
                </a:r>
                <a14:m>
                  <m:oMath xmlns:m="http://schemas.openxmlformats.org/officeDocument/2006/math">
                    <m:nary>
                      <m:naryPr>
                        <m:chr m:val="∑"/>
                        <m:ctrlPr>
                          <a:rPr lang="en-US" altLang="zh-CN" sz="2600" i="1" smtClean="0">
                            <a:solidFill>
                              <a:srgbClr val="003399"/>
                            </a:solidFill>
                            <a:latin typeface="Cambria Math" panose="02040503050406030204" pitchFamily="18" charset="0"/>
                          </a:rPr>
                        </m:ctrlPr>
                      </m:naryPr>
                      <m:sub>
                        <m:r>
                          <a:rPr lang="en-US" altLang="zh-CN" sz="2600" i="1" smtClean="0">
                            <a:solidFill>
                              <a:srgbClr val="003399"/>
                            </a:solidFill>
                            <a:latin typeface="Cambria Math" panose="02040503050406030204" pitchFamily="18" charset="0"/>
                          </a:rPr>
                          <m:t>𝑛</m:t>
                        </m:r>
                        <m:r>
                          <a:rPr lang="en-US" altLang="zh-CN" sz="2600" i="1" smtClean="0">
                            <a:solidFill>
                              <a:srgbClr val="003399"/>
                            </a:solidFill>
                            <a:latin typeface="Cambria Math" panose="02040503050406030204" pitchFamily="18" charset="0"/>
                          </a:rPr>
                          <m:t>=1</m:t>
                        </m:r>
                      </m:sub>
                      <m:sup>
                        <m:r>
                          <m:rPr>
                            <m:nor/>
                          </m:rPr>
                          <a:rPr lang="en-US" altLang="zh-CN" sz="2600" b="0" i="0" dirty="0" smtClean="0">
                            <a:solidFill>
                              <a:srgbClr val="003399"/>
                            </a:solidFill>
                          </a:rPr>
                          <m:t>N</m:t>
                        </m:r>
                      </m:sup>
                      <m:e>
                        <m:r>
                          <a:rPr lang="en-US" altLang="zh-CN" sz="2600" b="0" i="1" smtClean="0">
                            <a:solidFill>
                              <a:srgbClr val="003399"/>
                            </a:solidFill>
                            <a:latin typeface="Cambria Math" panose="02040503050406030204" pitchFamily="18" charset="0"/>
                          </a:rPr>
                          <m:t>𝑇</m:t>
                        </m:r>
                        <m:r>
                          <a:rPr lang="en-US" altLang="zh-CN" sz="2600" b="0" i="1" smtClean="0">
                            <a:solidFill>
                              <a:srgbClr val="003399"/>
                            </a:solidFill>
                            <a:latin typeface="Cambria Math" panose="02040503050406030204" pitchFamily="18" charset="0"/>
                          </a:rPr>
                          <m:t>(</m:t>
                        </m:r>
                        <m:r>
                          <a:rPr lang="en-US" altLang="zh-CN" sz="2600" b="0" i="1" smtClean="0">
                            <a:solidFill>
                              <a:srgbClr val="003399"/>
                            </a:solidFill>
                            <a:latin typeface="Cambria Math" panose="02040503050406030204" pitchFamily="18" charset="0"/>
                          </a:rPr>
                          <m:t>𝑝</m:t>
                        </m:r>
                        <m:r>
                          <a:rPr lang="en-US" altLang="zh-CN" sz="2600" b="0" i="1" smtClean="0">
                            <a:solidFill>
                              <a:srgbClr val="003399"/>
                            </a:solidFill>
                            <a:latin typeface="Cambria Math" panose="02040503050406030204" pitchFamily="18" charset="0"/>
                          </a:rPr>
                          <m:t>)</m:t>
                        </m:r>
                      </m:e>
                    </m:nary>
                  </m:oMath>
                </a14:m>
                <a:r>
                  <a:rPr lang="en-US" altLang="zh-CN" sz="2600" dirty="0">
                    <a:solidFill>
                      <a:srgbClr val="003399"/>
                    </a:solidFill>
                  </a:rPr>
                  <a:t>.</a:t>
                </a:r>
              </a:p>
              <a:p>
                <a:r>
                  <a:rPr lang="en-US" altLang="zh-CN" sz="2600" dirty="0">
                    <a:solidFill>
                      <a:srgbClr val="003399"/>
                    </a:solidFill>
                  </a:rPr>
                  <a:t>	under the assumption that </a:t>
                </a:r>
                <a14:m>
                  <m:oMath xmlns:m="http://schemas.openxmlformats.org/officeDocument/2006/math">
                    <m:r>
                      <a:rPr lang="en-US" altLang="zh-CN" sz="2600" i="1" dirty="0">
                        <a:solidFill>
                          <a:srgbClr val="003399"/>
                        </a:solidFill>
                        <a:latin typeface="Cambria Math" panose="02040503050406030204" pitchFamily="18" charset="0"/>
                      </a:rPr>
                      <m:t>𝑡</m:t>
                    </m:r>
                    <m:r>
                      <a:rPr lang="en-US" altLang="zh-CN" sz="2600" i="1" baseline="-25000" dirty="0" err="1">
                        <a:solidFill>
                          <a:srgbClr val="003399"/>
                        </a:solidFill>
                        <a:latin typeface="Cambria Math" panose="02040503050406030204" pitchFamily="18" charset="0"/>
                      </a:rPr>
                      <m:t>𝑝</m:t>
                    </m:r>
                    <m:r>
                      <a:rPr lang="en-US" altLang="zh-CN" sz="2600" i="1" dirty="0" smtClean="0">
                        <a:solidFill>
                          <a:srgbClr val="003399"/>
                        </a:solidFill>
                        <a:latin typeface="Cambria Math" panose="02040503050406030204" pitchFamily="18" charset="0"/>
                        <a:ea typeface="Cambria Math" panose="02040503050406030204" pitchFamily="18" charset="0"/>
                      </a:rPr>
                      <m:t>≥</m:t>
                    </m:r>
                    <m:r>
                      <a:rPr lang="en-US" altLang="zh-CN" sz="2600" b="0" i="1" dirty="0" smtClean="0">
                        <a:solidFill>
                          <a:srgbClr val="003399"/>
                        </a:solidFill>
                        <a:latin typeface="Cambria Math" panose="02040503050406030204" pitchFamily="18" charset="0"/>
                        <a:ea typeface="Cambria Math" panose="02040503050406030204" pitchFamily="18" charset="0"/>
                      </a:rPr>
                      <m:t>𝑡</m:t>
                    </m:r>
                  </m:oMath>
                </a14:m>
                <a:r>
                  <a:rPr lang="en-US" altLang="zh-CN" sz="2600" dirty="0">
                    <a:solidFill>
                      <a:srgbClr val="003399"/>
                    </a:solidFill>
                  </a:rPr>
                  <a:t> (sufficient input). </a:t>
                </a:r>
              </a:p>
              <a:p>
                <a:endParaRPr lang="en-US" altLang="zh-CN" sz="2600" dirty="0">
                  <a:solidFill>
                    <a:srgbClr val="003399"/>
                  </a:solidFill>
                </a:endParaRPr>
              </a:p>
              <a:p>
                <a:pPr marL="457200" indent="-457200">
                  <a:buFont typeface="Arial" panose="020B0604020202020204" pitchFamily="34" charset="0"/>
                  <a:buChar char="•"/>
                </a:pPr>
                <a14:m>
                  <m:oMath xmlns:m="http://schemas.openxmlformats.org/officeDocument/2006/math">
                    <m:r>
                      <a:rPr lang="en-US" altLang="zh-CN" sz="2600" i="1" dirty="0" smtClean="0">
                        <a:solidFill>
                          <a:srgbClr val="003399"/>
                        </a:solidFill>
                        <a:latin typeface="Cambria Math" panose="02040503050406030204" pitchFamily="18" charset="0"/>
                      </a:rPr>
                      <m:t>𝑇</m:t>
                    </m:r>
                    <m:r>
                      <a:rPr lang="en-US" altLang="zh-CN" sz="2600" i="1" dirty="0" smtClean="0">
                        <a:solidFill>
                          <a:srgbClr val="003399"/>
                        </a:solidFill>
                        <a:latin typeface="Cambria Math" panose="02040503050406030204" pitchFamily="18" charset="0"/>
                      </a:rPr>
                      <m:t>(</m:t>
                    </m:r>
                    <m:r>
                      <a:rPr lang="en-US" altLang="zh-CN" sz="2600" i="1" dirty="0" smtClean="0">
                        <a:solidFill>
                          <a:srgbClr val="003399"/>
                        </a:solidFill>
                        <a:latin typeface="Cambria Math" panose="02040503050406030204" pitchFamily="18" charset="0"/>
                      </a:rPr>
                      <m:t>𝑝</m:t>
                    </m:r>
                    <m:r>
                      <a:rPr lang="en-US" altLang="zh-CN" sz="2600" i="1" dirty="0" smtClean="0">
                        <a:solidFill>
                          <a:srgbClr val="003399"/>
                        </a:solidFill>
                        <a:latin typeface="Cambria Math" panose="02040503050406030204" pitchFamily="18" charset="0"/>
                      </a:rPr>
                      <m:t>)</m:t>
                    </m:r>
                  </m:oMath>
                </a14:m>
                <a:r>
                  <a:rPr lang="en-US" altLang="zh-CN" sz="2600" dirty="0">
                    <a:solidFill>
                      <a:srgbClr val="003399"/>
                    </a:solidFill>
                  </a:rPr>
                  <a:t> stands for average time spend on handling each tuple.</a:t>
                </a:r>
              </a:p>
              <a:p>
                <a:r>
                  <a:rPr lang="en-US" sz="2600" dirty="0">
                    <a:solidFill>
                      <a:srgbClr val="003399"/>
                    </a:solidFill>
                    <a:latin typeface="+mn-lt"/>
                  </a:rPr>
                  <a:t>	</a:t>
                </a:r>
              </a:p>
            </p:txBody>
          </p:sp>
        </mc:Choice>
        <mc:Fallback>
          <p:sp>
            <p:nvSpPr>
              <p:cNvPr id="15" name="Rectangle 14"/>
              <p:cNvSpPr>
                <a:spLocks noRot="1" noChangeAspect="1" noMove="1" noResize="1" noEditPoints="1" noAdjustHandles="1" noChangeArrowheads="1" noChangeShapeType="1" noTextEdit="1"/>
              </p:cNvSpPr>
              <p:nvPr/>
            </p:nvSpPr>
            <p:spPr>
              <a:xfrm>
                <a:off x="697954" y="2350632"/>
                <a:ext cx="8756154" cy="4170757"/>
              </a:xfrm>
              <a:prstGeom prst="rect">
                <a:avLst/>
              </a:prstGeom>
              <a:blipFill>
                <a:blip r:embed="rId5"/>
                <a:stretch>
                  <a:fillRect l="-1014" t="-15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Content Placeholder 10">
                <a:extLst>
                  <a:ext uri="{FF2B5EF4-FFF2-40B4-BE49-F238E27FC236}">
                    <a16:creationId xmlns:a16="http://schemas.microsoft.com/office/drawing/2014/main" id="{6784B264-824F-DF42-A196-754B31601325}"/>
                  </a:ext>
                </a:extLst>
              </p:cNvPr>
              <p:cNvSpPr txBox="1">
                <a:spLocks/>
              </p:cNvSpPr>
              <p:nvPr/>
            </p:nvSpPr>
            <p:spPr>
              <a:xfrm>
                <a:off x="961231" y="6290687"/>
                <a:ext cx="8001000" cy="318969"/>
              </a:xfrm>
              <a:prstGeom prst="rect">
                <a:avLst/>
              </a:prstGeom>
              <a:ln>
                <a:noFill/>
              </a:ln>
            </p:spPr>
            <p:txBody>
              <a:bodyPr vert="horz" lIns="76140" tIns="38070" rIns="76140" bIns="3807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v"/>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Wingdings" panose="05000000000000000000" pitchFamily="2" charset="2"/>
                  <a:buChar char="v"/>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Wingdings" panose="05000000000000000000" pitchFamily="2" charset="2"/>
                  <a:buChar char="v"/>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m:rPr>
                          <m:sty m:val="p"/>
                        </m:rPr>
                        <a:rPr lang="en-US" sz="2400" dirty="0" smtClean="0">
                          <a:solidFill>
                            <a:srgbClr val="FF0000"/>
                          </a:solidFill>
                          <a:latin typeface="Cambria Math" panose="02040503050406030204" pitchFamily="18" charset="0"/>
                          <a:ea typeface="ＭＳ Ｐゴシック" charset="0"/>
                          <a:cs typeface="ＭＳ Ｐゴシック" charset="0"/>
                        </a:rPr>
                        <m:t>Prior</m:t>
                      </m:r>
                      <m:r>
                        <a:rPr lang="en-US" sz="2400" dirty="0" smtClean="0">
                          <a:solidFill>
                            <a:srgbClr val="FF0000"/>
                          </a:solidFill>
                          <a:latin typeface="Cambria Math" panose="02040503050406030204" pitchFamily="18" charset="0"/>
                          <a:ea typeface="ＭＳ Ｐゴシック" charset="0"/>
                          <a:cs typeface="ＭＳ Ｐゴシック" charset="0"/>
                        </a:rPr>
                        <m:t> </m:t>
                      </m:r>
                      <m:r>
                        <m:rPr>
                          <m:sty m:val="p"/>
                        </m:rPr>
                        <a:rPr lang="en-US" sz="2400" dirty="0" smtClean="0">
                          <a:solidFill>
                            <a:srgbClr val="FF0000"/>
                          </a:solidFill>
                          <a:latin typeface="Cambria Math" panose="02040503050406030204" pitchFamily="18" charset="0"/>
                          <a:ea typeface="ＭＳ Ｐゴシック" charset="0"/>
                          <a:cs typeface="ＭＳ Ｐゴシック" charset="0"/>
                        </a:rPr>
                        <m:t>works</m:t>
                      </m:r>
                      <m:r>
                        <a:rPr lang="en-US" sz="2400" dirty="0" smtClean="0">
                          <a:solidFill>
                            <a:srgbClr val="FF0000"/>
                          </a:solidFill>
                          <a:latin typeface="Cambria Math" panose="02040503050406030204" pitchFamily="18" charset="0"/>
                          <a:ea typeface="ＭＳ Ｐゴシック" charset="0"/>
                          <a:cs typeface="ＭＳ Ｐゴシック" charset="0"/>
                        </a:rPr>
                        <m:t> </m:t>
                      </m:r>
                      <m:r>
                        <m:rPr>
                          <m:sty m:val="p"/>
                        </m:rPr>
                        <a:rPr lang="en-US" sz="2400" dirty="0" smtClean="0">
                          <a:solidFill>
                            <a:srgbClr val="FF0000"/>
                          </a:solidFill>
                          <a:latin typeface="Cambria Math" panose="02040503050406030204" pitchFamily="18" charset="0"/>
                          <a:ea typeface="ＭＳ Ｐゴシック" charset="0"/>
                          <a:cs typeface="ＭＳ Ｐゴシック" charset="0"/>
                        </a:rPr>
                        <m:t>assume</m:t>
                      </m:r>
                      <m:r>
                        <a:rPr lang="en-US" sz="2400" dirty="0" smtClean="0">
                          <a:solidFill>
                            <a:srgbClr val="FF0000"/>
                          </a:solidFill>
                          <a:latin typeface="Cambria Math" panose="02040503050406030204" pitchFamily="18" charset="0"/>
                          <a:ea typeface="ＭＳ Ｐゴシック" charset="0"/>
                          <a:cs typeface="ＭＳ Ｐゴシック" charset="0"/>
                        </a:rPr>
                        <m:t> </m:t>
                      </m:r>
                      <m:r>
                        <a:rPr lang="en-US" sz="2400" dirty="0" smtClean="0">
                          <a:solidFill>
                            <a:srgbClr val="FF0000"/>
                          </a:solidFill>
                          <a:latin typeface="Cambria Math" panose="02040503050406030204" pitchFamily="18" charset="0"/>
                          <a:ea typeface="ＭＳ Ｐゴシック" charset="0"/>
                          <a:cs typeface="ＭＳ Ｐゴシック" charset="0"/>
                        </a:rPr>
                        <m:t>𝑇</m:t>
                      </m:r>
                      <m:d>
                        <m:dPr>
                          <m:ctrlPr>
                            <a:rPr lang="en-US" sz="2400" i="1" dirty="0">
                              <a:solidFill>
                                <a:srgbClr val="FF0000"/>
                              </a:solidFill>
                              <a:latin typeface="Cambria Math" panose="02040503050406030204" pitchFamily="18" charset="0"/>
                              <a:ea typeface="ＭＳ Ｐゴシック" charset="0"/>
                              <a:cs typeface="ＭＳ Ｐゴシック" charset="0"/>
                            </a:rPr>
                          </m:ctrlPr>
                        </m:dPr>
                        <m:e>
                          <m:r>
                            <a:rPr lang="en-US" sz="2400" dirty="0">
                              <a:solidFill>
                                <a:srgbClr val="FF0000"/>
                              </a:solidFill>
                              <a:latin typeface="Cambria Math" panose="02040503050406030204" pitchFamily="18" charset="0"/>
                              <a:ea typeface="ＭＳ Ｐゴシック" charset="0"/>
                              <a:cs typeface="ＭＳ Ｐゴシック" charset="0"/>
                            </a:rPr>
                            <m:t>𝑝</m:t>
                          </m:r>
                        </m:e>
                      </m:d>
                      <m:r>
                        <a:rPr lang="en-US" sz="2400" dirty="0">
                          <a:solidFill>
                            <a:srgbClr val="FF0000"/>
                          </a:solidFill>
                          <a:latin typeface="Cambria Math" panose="02040503050406030204" pitchFamily="18" charset="0"/>
                          <a:ea typeface="ＭＳ Ｐゴシック" charset="0"/>
                          <a:cs typeface="ＭＳ Ｐゴシック" charset="0"/>
                        </a:rPr>
                        <m:t> </m:t>
                      </m:r>
                      <m:r>
                        <m:rPr>
                          <m:sty m:val="p"/>
                        </m:rPr>
                        <a:rPr lang="en-US" sz="2400" dirty="0">
                          <a:solidFill>
                            <a:srgbClr val="FF0000"/>
                          </a:solidFill>
                          <a:latin typeface="Cambria Math" panose="02040503050406030204" pitchFamily="18" charset="0"/>
                          <a:ea typeface="ＭＳ Ｐゴシック" charset="0"/>
                          <a:cs typeface="ＭＳ Ｐゴシック" charset="0"/>
                        </a:rPr>
                        <m:t>is</m:t>
                      </m:r>
                      <m:r>
                        <a:rPr lang="en-US" sz="2400" dirty="0">
                          <a:solidFill>
                            <a:srgbClr val="FF0000"/>
                          </a:solidFill>
                          <a:latin typeface="Cambria Math" panose="02040503050406030204" pitchFamily="18" charset="0"/>
                          <a:ea typeface="ＭＳ Ｐゴシック" charset="0"/>
                          <a:cs typeface="ＭＳ Ｐゴシック" charset="0"/>
                        </a:rPr>
                        <m:t> </m:t>
                      </m:r>
                      <m:r>
                        <m:rPr>
                          <m:sty m:val="p"/>
                        </m:rPr>
                        <a:rPr lang="en-US" sz="2400" dirty="0">
                          <a:solidFill>
                            <a:srgbClr val="FF0000"/>
                          </a:solidFill>
                          <a:latin typeface="Cambria Math" panose="02040503050406030204" pitchFamily="18" charset="0"/>
                          <a:ea typeface="ＭＳ Ｐゴシック" charset="0"/>
                          <a:cs typeface="ＭＳ Ｐゴシック" charset="0"/>
                        </a:rPr>
                        <m:t>predefined</m:t>
                      </m:r>
                      <m:r>
                        <a:rPr lang="en-US" sz="2400" dirty="0">
                          <a:solidFill>
                            <a:srgbClr val="FF0000"/>
                          </a:solidFill>
                          <a:latin typeface="Cambria Math" panose="02040503050406030204" pitchFamily="18" charset="0"/>
                          <a:ea typeface="ＭＳ Ｐゴシック" charset="0"/>
                          <a:cs typeface="ＭＳ Ｐゴシック" charset="0"/>
                        </a:rPr>
                        <m:t> </m:t>
                      </m:r>
                      <m:r>
                        <m:rPr>
                          <m:sty m:val="p"/>
                        </m:rPr>
                        <a:rPr lang="en-US" sz="2400" dirty="0">
                          <a:solidFill>
                            <a:srgbClr val="FF0000"/>
                          </a:solidFill>
                          <a:latin typeface="Cambria Math" panose="02040503050406030204" pitchFamily="18" charset="0"/>
                          <a:ea typeface="ＭＳ Ｐゴシック" charset="0"/>
                          <a:cs typeface="ＭＳ Ｐゴシック" charset="0"/>
                        </a:rPr>
                        <m:t>and</m:t>
                      </m:r>
                      <m:r>
                        <a:rPr lang="en-US" sz="2400" dirty="0">
                          <a:solidFill>
                            <a:srgbClr val="FF0000"/>
                          </a:solidFill>
                          <a:latin typeface="Cambria Math" panose="02040503050406030204" pitchFamily="18" charset="0"/>
                          <a:ea typeface="ＭＳ Ｐゴシック" charset="0"/>
                          <a:cs typeface="ＭＳ Ｐゴシック" charset="0"/>
                        </a:rPr>
                        <m:t> </m:t>
                      </m:r>
                      <m:r>
                        <m:rPr>
                          <m:sty m:val="p"/>
                        </m:rPr>
                        <a:rPr lang="en-US" sz="2400" dirty="0">
                          <a:solidFill>
                            <a:srgbClr val="FF0000"/>
                          </a:solidFill>
                          <a:latin typeface="Cambria Math" panose="02040503050406030204" pitchFamily="18" charset="0"/>
                          <a:ea typeface="ＭＳ Ｐゴシック" charset="0"/>
                          <a:cs typeface="ＭＳ Ｐゴシック" charset="0"/>
                        </a:rPr>
                        <m:t>independent</m:t>
                      </m:r>
                      <m:r>
                        <a:rPr lang="en-US" sz="2400" dirty="0">
                          <a:solidFill>
                            <a:srgbClr val="FF0000"/>
                          </a:solidFill>
                          <a:latin typeface="Cambria Math" panose="02040503050406030204" pitchFamily="18" charset="0"/>
                          <a:ea typeface="ＭＳ Ｐゴシック" charset="0"/>
                          <a:cs typeface="ＭＳ Ｐゴシック" charset="0"/>
                        </a:rPr>
                        <m:t> </m:t>
                      </m:r>
                      <m:r>
                        <m:rPr>
                          <m:sty m:val="p"/>
                        </m:rPr>
                        <a:rPr lang="en-US" sz="2400" dirty="0">
                          <a:solidFill>
                            <a:srgbClr val="FF0000"/>
                          </a:solidFill>
                          <a:latin typeface="Cambria Math" panose="02040503050406030204" pitchFamily="18" charset="0"/>
                          <a:ea typeface="ＭＳ Ｐゴシック" charset="0"/>
                          <a:cs typeface="ＭＳ Ｐゴシック" charset="0"/>
                        </a:rPr>
                        <m:t>to</m:t>
                      </m:r>
                      <m:r>
                        <a:rPr lang="en-US" sz="2400" dirty="0">
                          <a:solidFill>
                            <a:srgbClr val="FF0000"/>
                          </a:solidFill>
                          <a:latin typeface="Cambria Math" panose="02040503050406030204" pitchFamily="18" charset="0"/>
                          <a:ea typeface="ＭＳ Ｐゴシック" charset="0"/>
                          <a:cs typeface="ＭＳ Ｐゴシック" charset="0"/>
                        </a:rPr>
                        <m:t> </m:t>
                      </m:r>
                    </m:oMath>
                  </m:oMathPara>
                </a14:m>
                <a:endParaRPr lang="en-US" sz="2400" dirty="0">
                  <a:solidFill>
                    <a:srgbClr val="FF0000"/>
                  </a:solidFill>
                  <a:latin typeface="Cambria Math" panose="02040503050406030204" pitchFamily="18" charset="0"/>
                  <a:ea typeface="ＭＳ Ｐゴシック" charset="0"/>
                  <a:cs typeface="ＭＳ Ｐゴシック" charset="0"/>
                </a:endParaRPr>
              </a:p>
              <a:p>
                <a:pPr marL="0" indent="0">
                  <a:buNone/>
                </a:pPr>
                <a14:m>
                  <m:oMath xmlns:m="http://schemas.openxmlformats.org/officeDocument/2006/math">
                    <m:r>
                      <m:rPr>
                        <m:sty m:val="p"/>
                      </m:rPr>
                      <a:rPr lang="en-US" sz="2400" dirty="0">
                        <a:solidFill>
                          <a:srgbClr val="FF0000"/>
                        </a:solidFill>
                        <a:latin typeface="Cambria Math" panose="02040503050406030204" pitchFamily="18" charset="0"/>
                        <a:ea typeface="ＭＳ Ｐゴシック" charset="0"/>
                        <a:cs typeface="ＭＳ Ｐゴシック" charset="0"/>
                      </a:rPr>
                      <m:t>different</m:t>
                    </m:r>
                    <m:r>
                      <a:rPr lang="en-US" sz="2400" dirty="0">
                        <a:solidFill>
                          <a:srgbClr val="FF0000"/>
                        </a:solidFill>
                        <a:latin typeface="Cambria Math" panose="02040503050406030204" pitchFamily="18" charset="0"/>
                        <a:ea typeface="ＭＳ Ｐゴシック" charset="0"/>
                        <a:cs typeface="ＭＳ Ｐゴシック" charset="0"/>
                      </a:rPr>
                      <m:t> </m:t>
                    </m:r>
                    <m:r>
                      <m:rPr>
                        <m:sty m:val="p"/>
                      </m:rPr>
                      <a:rPr lang="en-US" sz="2400" dirty="0">
                        <a:solidFill>
                          <a:srgbClr val="FF0000"/>
                        </a:solidFill>
                        <a:latin typeface="Cambria Math" panose="02040503050406030204" pitchFamily="18" charset="0"/>
                        <a:ea typeface="ＭＳ Ｐゴシック" charset="0"/>
                        <a:cs typeface="ＭＳ Ｐゴシック" charset="0"/>
                      </a:rPr>
                      <m:t>execution</m:t>
                    </m:r>
                    <m:r>
                      <a:rPr lang="en-US" sz="2400" dirty="0">
                        <a:solidFill>
                          <a:srgbClr val="FF0000"/>
                        </a:solidFill>
                        <a:latin typeface="Cambria Math" panose="02040503050406030204" pitchFamily="18" charset="0"/>
                        <a:ea typeface="ＭＳ Ｐゴシック" charset="0"/>
                        <a:cs typeface="ＭＳ Ｐゴシック" charset="0"/>
                      </a:rPr>
                      <m:t> </m:t>
                    </m:r>
                    <m:r>
                      <m:rPr>
                        <m:sty m:val="p"/>
                      </m:rPr>
                      <a:rPr lang="en-US" sz="2400" dirty="0">
                        <a:solidFill>
                          <a:srgbClr val="FF0000"/>
                        </a:solidFill>
                        <a:latin typeface="Cambria Math" panose="02040503050406030204" pitchFamily="18" charset="0"/>
                        <a:ea typeface="ＭＳ Ｐゴシック" charset="0"/>
                        <a:cs typeface="ＭＳ Ｐゴシック" charset="0"/>
                      </a:rPr>
                      <m:t>plans</m:t>
                    </m:r>
                    <m:r>
                      <a:rPr lang="en-US" sz="2400" dirty="0">
                        <a:solidFill>
                          <a:srgbClr val="FF0000"/>
                        </a:solidFill>
                        <a:latin typeface="Cambria Math" panose="02040503050406030204" pitchFamily="18" charset="0"/>
                        <a:ea typeface="ＭＳ Ｐゴシック" charset="0"/>
                        <a:cs typeface="ＭＳ Ｐゴシック" charset="0"/>
                      </a:rPr>
                      <m:t> </m:t>
                    </m:r>
                    <m:d>
                      <m:dPr>
                        <m:ctrlPr>
                          <a:rPr lang="en-US" sz="2400" i="1" dirty="0">
                            <a:solidFill>
                              <a:srgbClr val="FF0000"/>
                            </a:solidFill>
                            <a:latin typeface="Cambria Math" panose="02040503050406030204" pitchFamily="18" charset="0"/>
                            <a:ea typeface="ＭＳ Ｐゴシック" charset="0"/>
                            <a:cs typeface="ＭＳ Ｐゴシック" charset="0"/>
                          </a:rPr>
                        </m:ctrlPr>
                      </m:dPr>
                      <m:e>
                        <m:r>
                          <m:rPr>
                            <m:sty m:val="p"/>
                          </m:rPr>
                          <a:rPr lang="en-US" sz="2400" dirty="0">
                            <a:solidFill>
                              <a:srgbClr val="FF0000"/>
                            </a:solidFill>
                            <a:latin typeface="Cambria Math" panose="02040503050406030204" pitchFamily="18" charset="0"/>
                            <a:ea typeface="ＭＳ Ｐゴシック" charset="0"/>
                            <a:cs typeface="ＭＳ Ｐゴシック" charset="0"/>
                          </a:rPr>
                          <m:t>p</m:t>
                        </m:r>
                      </m:e>
                    </m:d>
                    <m:r>
                      <a:rPr lang="en-US" sz="2400" dirty="0">
                        <a:solidFill>
                          <a:srgbClr val="FF0000"/>
                        </a:solidFill>
                        <a:latin typeface="Cambria Math" panose="02040503050406030204" pitchFamily="18" charset="0"/>
                        <a:ea typeface="ＭＳ Ｐゴシック" charset="0"/>
                        <a:cs typeface="ＭＳ Ｐゴシック" charset="0"/>
                      </a:rPr>
                      <m:t>.</m:t>
                    </m:r>
                  </m:oMath>
                </a14:m>
                <a:r>
                  <a:rPr lang="en-US" sz="2400" dirty="0">
                    <a:solidFill>
                      <a:srgbClr val="FF0000"/>
                    </a:solidFill>
                    <a:latin typeface="Comic Sans MS" panose="030F0902030302020204" pitchFamily="66" charset="0"/>
                    <a:ea typeface="ＭＳ Ｐゴシック" charset="0"/>
                    <a:cs typeface="ＭＳ Ｐゴシック" charset="0"/>
                  </a:rPr>
                  <a:t> </a:t>
                </a:r>
              </a:p>
            </p:txBody>
          </p:sp>
        </mc:Choice>
        <mc:Fallback xmlns="">
          <p:sp>
            <p:nvSpPr>
              <p:cNvPr id="24" name="Content Placeholder 10">
                <a:extLst>
                  <a:ext uri="{FF2B5EF4-FFF2-40B4-BE49-F238E27FC236}">
                    <a16:creationId xmlns:a16="http://schemas.microsoft.com/office/drawing/2014/main" id="{6784B264-824F-DF42-A196-754B31601325}"/>
                  </a:ext>
                </a:extLst>
              </p:cNvPr>
              <p:cNvSpPr txBox="1">
                <a:spLocks noRot="1" noChangeAspect="1" noMove="1" noResize="1" noEditPoints="1" noAdjustHandles="1" noChangeArrowheads="1" noChangeShapeType="1" noTextEdit="1"/>
              </p:cNvSpPr>
              <p:nvPr/>
            </p:nvSpPr>
            <p:spPr>
              <a:xfrm>
                <a:off x="961231" y="6290687"/>
                <a:ext cx="8001000" cy="318969"/>
              </a:xfrm>
              <a:prstGeom prst="rect">
                <a:avLst/>
              </a:prstGeom>
              <a:blipFill>
                <a:blip r:embed="rId6"/>
                <a:stretch>
                  <a:fillRect l="-475" t="-3846" b="-196154"/>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524698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ltLang="zh-CN" dirty="0"/>
                  <a:t>Estimating </a:t>
                </a:r>
                <a14:m>
                  <m:oMath xmlns:m="http://schemas.openxmlformats.org/officeDocument/2006/math">
                    <m:r>
                      <a:rPr lang="en-US" b="0" i="1" dirty="0" smtClean="0">
                        <a:latin typeface="Cambria Math" charset="0"/>
                      </a:rPr>
                      <m:t>𝑇</m:t>
                    </m:r>
                    <m:r>
                      <a:rPr lang="en-US" b="0" i="1" dirty="0" smtClean="0">
                        <a:latin typeface="Cambria Math" charset="0"/>
                      </a:rPr>
                      <m:t>(</m:t>
                    </m:r>
                    <m:r>
                      <a:rPr lang="en-US" b="0" i="1" dirty="0" smtClean="0">
                        <a:latin typeface="Cambria Math" charset="0"/>
                      </a:rPr>
                      <m:t>𝑝</m:t>
                    </m:r>
                    <m:r>
                      <a:rPr lang="en-US" b="0" i="1" dirty="0" smtClean="0">
                        <a:latin typeface="Cambria Math" charset="0"/>
                      </a:rPr>
                      <m:t>)</m:t>
                    </m:r>
                  </m:oMath>
                </a14:m>
                <a:r>
                  <a:rPr lang="en-US" dirty="0"/>
                  <a:t> of an Operator</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22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14:m>
                  <m:oMathPara xmlns:m="http://schemas.openxmlformats.org/officeDocument/2006/math">
                    <m:oMathParaPr>
                      <m:jc m:val="left"/>
                    </m:oMathParaPr>
                    <m:oMath xmlns:m="http://schemas.openxmlformats.org/officeDocument/2006/math">
                      <m:r>
                        <a:rPr lang="en-US" i="1" dirty="0" smtClean="0">
                          <a:latin typeface="Cambria Math" charset="0"/>
                        </a:rPr>
                        <m:t>𝑇</m:t>
                      </m:r>
                      <m:r>
                        <a:rPr lang="en-US" i="1" dirty="0" smtClean="0">
                          <a:latin typeface="Cambria Math" charset="0"/>
                        </a:rPr>
                        <m:t>(</m:t>
                      </m:r>
                      <m:r>
                        <a:rPr lang="en-US" i="1" dirty="0" smtClean="0">
                          <a:latin typeface="Cambria Math" charset="0"/>
                        </a:rPr>
                        <m:t>𝑝</m:t>
                      </m:r>
                      <m:r>
                        <a:rPr lang="en-US" i="1" dirty="0" smtClean="0">
                          <a:latin typeface="Cambria Math" charset="0"/>
                        </a:rPr>
                        <m:t>)= </m:t>
                      </m:r>
                      <m:r>
                        <a:rPr lang="en-US" i="1" dirty="0" err="1" smtClean="0">
                          <a:latin typeface="Cambria Math" charset="0"/>
                        </a:rPr>
                        <m:t>𝑇</m:t>
                      </m:r>
                      <m:r>
                        <a:rPr lang="en-US" i="1" baseline="30000" dirty="0" err="1" smtClean="0">
                          <a:latin typeface="Cambria Math" charset="0"/>
                        </a:rPr>
                        <m:t>𝑒</m:t>
                      </m:r>
                      <m:r>
                        <a:rPr lang="en-US" i="1" dirty="0" smtClean="0">
                          <a:latin typeface="Cambria Math" charset="0"/>
                        </a:rPr>
                        <m:t> + </m:t>
                      </m:r>
                      <m:r>
                        <a:rPr lang="en-US" i="1" dirty="0" err="1" smtClean="0">
                          <a:latin typeface="Cambria Math" charset="0"/>
                        </a:rPr>
                        <m:t>𝑇</m:t>
                      </m:r>
                      <m:r>
                        <a:rPr lang="en-US" i="1" baseline="30000" dirty="0" err="1" smtClean="0">
                          <a:latin typeface="Cambria Math" charset="0"/>
                        </a:rPr>
                        <m:t>𝑓</m:t>
                      </m:r>
                    </m:oMath>
                  </m:oMathPara>
                </a14:m>
                <a:endParaRPr lang="en-US" baseline="30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4"/>
                <a:stretch>
                  <a:fillRect l="-290" t="-135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611188" y="3156758"/>
                <a:ext cx="8678678" cy="913392"/>
              </a:xfrm>
              <a:prstGeom prst="rect">
                <a:avLst/>
              </a:prstGeom>
              <a:noFill/>
            </p:spPr>
            <p:txBody>
              <a:bodyPr wrap="square" rtlCol="0">
                <a:spAutoFit/>
              </a:bodyPr>
              <a:lstStyle/>
              <a:p>
                <a:pPr marL="457200" indent="-457200">
                  <a:buFont typeface="Arial" panose="020B0604020202020204" pitchFamily="34" charset="0"/>
                  <a:buChar char="•"/>
                </a:pPr>
                <a14:m>
                  <m:oMath xmlns:m="http://schemas.openxmlformats.org/officeDocument/2006/math">
                    <m:r>
                      <a:rPr lang="en-US" sz="2600" dirty="0">
                        <a:solidFill>
                          <a:srgbClr val="003399"/>
                        </a:solidFill>
                        <a:latin typeface="Cambria Math" panose="02040503050406030204" pitchFamily="18" charset="0"/>
                      </a:rPr>
                      <m:t>𝑇</m:t>
                    </m:r>
                    <m:r>
                      <a:rPr lang="en-US" sz="2600" baseline="30000" dirty="0" err="1">
                        <a:solidFill>
                          <a:srgbClr val="003399"/>
                        </a:solidFill>
                        <a:latin typeface="Cambria Math" panose="02040503050406030204" pitchFamily="18" charset="0"/>
                      </a:rPr>
                      <m:t>𝑒</m:t>
                    </m:r>
                    <m:r>
                      <a:rPr lang="en-US" sz="2600" dirty="0" err="1">
                        <a:solidFill>
                          <a:srgbClr val="003399"/>
                        </a:solidFill>
                        <a:latin typeface="Cambria Math" panose="02040503050406030204" pitchFamily="18" charset="0"/>
                      </a:rPr>
                      <m:t> </m:t>
                    </m:r>
                  </m:oMath>
                </a14:m>
                <a:r>
                  <a:rPr lang="en-US" sz="2600" dirty="0">
                    <a:solidFill>
                      <a:srgbClr val="003399"/>
                    </a:solidFill>
                    <a:latin typeface="+mn-lt"/>
                  </a:rPr>
                  <a:t>:Actual function execution and emitting output tuples assuming the operator has the input data.</a:t>
                </a:r>
              </a:p>
            </p:txBody>
          </p:sp>
        </mc:Choice>
        <mc:Fallback xmlns="">
          <p:sp>
            <p:nvSpPr>
              <p:cNvPr id="6" name="TextBox 5"/>
              <p:cNvSpPr txBox="1">
                <a:spLocks noRot="1" noChangeAspect="1" noMove="1" noResize="1" noEditPoints="1" noAdjustHandles="1" noChangeArrowheads="1" noChangeShapeType="1" noTextEdit="1"/>
              </p:cNvSpPr>
              <p:nvPr/>
            </p:nvSpPr>
            <p:spPr>
              <a:xfrm>
                <a:off x="611188" y="3156758"/>
                <a:ext cx="8678678" cy="913392"/>
              </a:xfrm>
              <a:prstGeom prst="rect">
                <a:avLst/>
              </a:prstGeom>
              <a:blipFill>
                <a:blip r:embed="rId5"/>
                <a:stretch>
                  <a:fillRect l="-1171" t="-5556" b="-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11188" y="3998087"/>
                <a:ext cx="8678678" cy="913392"/>
              </a:xfrm>
              <a:prstGeom prst="rect">
                <a:avLst/>
              </a:prstGeom>
              <a:noFill/>
            </p:spPr>
            <p:txBody>
              <a:bodyPr wrap="square" rtlCol="0">
                <a:spAutoFit/>
              </a:bodyPr>
              <a:lstStyle/>
              <a:p>
                <a:pPr marL="457200" indent="-457200">
                  <a:buFont typeface="Arial" panose="020B0604020202020204" pitchFamily="34" charset="0"/>
                  <a:buChar char="•"/>
                </a:pPr>
                <a14:m>
                  <m:oMath xmlns:m="http://schemas.openxmlformats.org/officeDocument/2006/math">
                    <m:r>
                      <a:rPr lang="en-US" sz="2600" dirty="0">
                        <a:solidFill>
                          <a:srgbClr val="003399"/>
                        </a:solidFill>
                        <a:latin typeface="Cambria Math" panose="02040503050406030204" pitchFamily="18" charset="0"/>
                      </a:rPr>
                      <m:t>𝑇</m:t>
                    </m:r>
                    <m:r>
                      <a:rPr lang="en-US" sz="2600" baseline="30000" dirty="0" err="1">
                        <a:solidFill>
                          <a:srgbClr val="003399"/>
                        </a:solidFill>
                        <a:latin typeface="Cambria Math" panose="02040503050406030204" pitchFamily="18" charset="0"/>
                      </a:rPr>
                      <m:t>𝑓</m:t>
                    </m:r>
                    <m:r>
                      <a:rPr lang="en-US" sz="2600" dirty="0" err="1">
                        <a:solidFill>
                          <a:srgbClr val="003399"/>
                        </a:solidFill>
                        <a:latin typeface="Cambria Math" panose="02040503050406030204" pitchFamily="18" charset="0"/>
                      </a:rPr>
                      <m:t> </m:t>
                    </m:r>
                  </m:oMath>
                </a14:m>
                <a:r>
                  <a:rPr lang="en-US" sz="2600" dirty="0">
                    <a:solidFill>
                      <a:srgbClr val="003399"/>
                    </a:solidFill>
                    <a:latin typeface="+mn-lt"/>
                  </a:rPr>
                  <a:t>:Time required to fetch (local or remotely) the input data from its producers. Estimated as follows.</a:t>
                </a:r>
              </a:p>
            </p:txBody>
          </p:sp>
        </mc:Choice>
        <mc:Fallback xmlns="">
          <p:sp>
            <p:nvSpPr>
              <p:cNvPr id="7" name="TextBox 6"/>
              <p:cNvSpPr txBox="1">
                <a:spLocks noRot="1" noChangeAspect="1" noMove="1" noResize="1" noEditPoints="1" noAdjustHandles="1" noChangeArrowheads="1" noChangeShapeType="1" noTextEdit="1"/>
              </p:cNvSpPr>
              <p:nvPr/>
            </p:nvSpPr>
            <p:spPr>
              <a:xfrm>
                <a:off x="611188" y="3998087"/>
                <a:ext cx="8678678" cy="913392"/>
              </a:xfrm>
              <a:prstGeom prst="rect">
                <a:avLst/>
              </a:prstGeom>
              <a:blipFill>
                <a:blip r:embed="rId6"/>
                <a:stretch>
                  <a:fillRect l="-1171" t="-5479" r="-293" b="-12329"/>
                </a:stretch>
              </a:blipFill>
            </p:spPr>
            <p:txBody>
              <a:bodyPr/>
              <a:lstStyle/>
              <a:p>
                <a:r>
                  <a:rPr lang="en-US">
                    <a:noFill/>
                  </a:rPr>
                  <a:t> </a:t>
                </a:r>
              </a:p>
            </p:txBody>
          </p:sp>
        </mc:Fallback>
      </mc:AlternateContent>
      <p:sp>
        <p:nvSpPr>
          <p:cNvPr id="8" name="Oval 7"/>
          <p:cNvSpPr/>
          <p:nvPr/>
        </p:nvSpPr>
        <p:spPr>
          <a:xfrm>
            <a:off x="1721947" y="2462993"/>
            <a:ext cx="480270" cy="400917"/>
          </a:xfrm>
          <a:prstGeom prst="ellipse">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998"/>
          </a:p>
        </p:txBody>
      </p:sp>
      <p:sp>
        <p:nvSpPr>
          <p:cNvPr id="9" name="Oval 8"/>
          <p:cNvSpPr/>
          <p:nvPr/>
        </p:nvSpPr>
        <p:spPr>
          <a:xfrm>
            <a:off x="2493113" y="2442594"/>
            <a:ext cx="480270" cy="400917"/>
          </a:xfrm>
          <a:prstGeom prst="ellipse">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998"/>
          </a:p>
        </p:txBody>
      </p:sp>
      <mc:AlternateContent xmlns:mc="http://schemas.openxmlformats.org/markup-compatibility/2006" xmlns:a14="http://schemas.microsoft.com/office/drawing/2010/main">
        <mc:Choice Requires="a14">
          <p:sp>
            <p:nvSpPr>
              <p:cNvPr id="15" name="Content Placeholder 10"/>
              <p:cNvSpPr txBox="1">
                <a:spLocks/>
              </p:cNvSpPr>
              <p:nvPr/>
            </p:nvSpPr>
            <p:spPr>
              <a:xfrm>
                <a:off x="3519101" y="6376429"/>
                <a:ext cx="4365820" cy="318969"/>
              </a:xfrm>
              <a:prstGeom prst="rect">
                <a:avLst/>
              </a:prstGeom>
              <a:ln>
                <a:noFill/>
              </a:ln>
            </p:spPr>
            <p:txBody>
              <a:bodyPr vert="horz" lIns="76140" tIns="38070" rIns="76140" bIns="38070"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v"/>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Wingdings" panose="05000000000000000000" pitchFamily="2" charset="2"/>
                  <a:buChar char="v"/>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Wingdings" panose="05000000000000000000" pitchFamily="2" charset="2"/>
                  <a:buChar char="v"/>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FF0000"/>
                    </a:solidFill>
                    <a:latin typeface="Comic Sans MS" charset="0"/>
                    <a:ea typeface="ＭＳ Ｐゴシック" charset="0"/>
                    <a:cs typeface="ＭＳ Ｐゴシック" charset="0"/>
                  </a:rPr>
                  <a:t>This is why </a:t>
                </a:r>
                <a14:m>
                  <m:oMath xmlns:m="http://schemas.openxmlformats.org/officeDocument/2006/math">
                    <m:r>
                      <a:rPr lang="en-US" sz="2400" i="1" dirty="0">
                        <a:solidFill>
                          <a:srgbClr val="FF0000"/>
                        </a:solidFill>
                        <a:latin typeface="Cambria Math" charset="0"/>
                        <a:ea typeface="ＭＳ Ｐゴシック" charset="0"/>
                        <a:cs typeface="ＭＳ Ｐゴシック" charset="0"/>
                      </a:rPr>
                      <m:t>𝑇</m:t>
                    </m:r>
                    <m:r>
                      <a:rPr lang="en-US" sz="2400" i="1" dirty="0">
                        <a:solidFill>
                          <a:srgbClr val="FF0000"/>
                        </a:solidFill>
                        <a:latin typeface="Cambria Math" charset="0"/>
                        <a:ea typeface="ＭＳ Ｐゴシック" charset="0"/>
                        <a:cs typeface="ＭＳ Ｐゴシック" charset="0"/>
                      </a:rPr>
                      <m:t>(</m:t>
                    </m:r>
                    <m:r>
                      <a:rPr lang="en-US" sz="2400" i="1" dirty="0">
                        <a:solidFill>
                          <a:srgbClr val="FF0000"/>
                        </a:solidFill>
                        <a:latin typeface="Cambria Math" charset="0"/>
                        <a:ea typeface="ＭＳ Ｐゴシック" charset="0"/>
                        <a:cs typeface="ＭＳ Ｐゴシック" charset="0"/>
                      </a:rPr>
                      <m:t>𝑝</m:t>
                    </m:r>
                    <m:r>
                      <a:rPr lang="en-US" sz="2400" i="1" dirty="0">
                        <a:solidFill>
                          <a:srgbClr val="FF0000"/>
                        </a:solidFill>
                        <a:latin typeface="Cambria Math" charset="0"/>
                        <a:ea typeface="ＭＳ Ｐゴシック" charset="0"/>
                        <a:cs typeface="ＭＳ Ｐゴシック" charset="0"/>
                      </a:rPr>
                      <m:t>)</m:t>
                    </m:r>
                  </m:oMath>
                </a14:m>
                <a:r>
                  <a:rPr lang="en-US" sz="2400" dirty="0">
                    <a:solidFill>
                      <a:srgbClr val="FF0000"/>
                    </a:solidFill>
                    <a:latin typeface="Comic Sans MS" charset="0"/>
                    <a:ea typeface="ＭＳ Ｐゴシック" charset="0"/>
                    <a:cs typeface="ＭＳ Ｐゴシック" charset="0"/>
                  </a:rPr>
                  <a:t> varies under different execution plans.</a:t>
                </a:r>
                <a:endParaRPr lang="en-US" sz="3600" dirty="0"/>
              </a:p>
            </p:txBody>
          </p:sp>
        </mc:Choice>
        <mc:Fallback xmlns="">
          <p:sp>
            <p:nvSpPr>
              <p:cNvPr id="15" name="Content Placeholder 10"/>
              <p:cNvSpPr txBox="1">
                <a:spLocks noRot="1" noChangeAspect="1" noMove="1" noResize="1" noEditPoints="1" noAdjustHandles="1" noChangeArrowheads="1" noChangeShapeType="1" noTextEdit="1"/>
              </p:cNvSpPr>
              <p:nvPr/>
            </p:nvSpPr>
            <p:spPr>
              <a:xfrm>
                <a:off x="3519101" y="6376429"/>
                <a:ext cx="4365820" cy="318969"/>
              </a:xfrm>
              <a:prstGeom prst="rect">
                <a:avLst/>
              </a:prstGeom>
              <a:blipFill>
                <a:blip r:embed="rId7"/>
                <a:stretch>
                  <a:fillRect l="-2319" t="-26923" r="-2319" b="-165385"/>
                </a:stretch>
              </a:blipFill>
              <a:ln>
                <a:noFill/>
              </a:ln>
            </p:spPr>
            <p:txBody>
              <a:bodyPr/>
              <a:lstStyle/>
              <a:p>
                <a:r>
                  <a:rPr lang="en-US">
                    <a:noFill/>
                  </a:rPr>
                  <a:t> </a:t>
                </a:r>
              </a:p>
            </p:txBody>
          </p:sp>
        </mc:Fallback>
      </mc:AlternateContent>
      <p:sp>
        <p:nvSpPr>
          <p:cNvPr id="19" name="Rectangle 18"/>
          <p:cNvSpPr/>
          <p:nvPr/>
        </p:nvSpPr>
        <p:spPr>
          <a:xfrm>
            <a:off x="2588395" y="5358638"/>
            <a:ext cx="305560" cy="185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8"/>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50B1161-A5A5-A24F-B121-4F8530E8B2E2}"/>
                  </a:ext>
                </a:extLst>
              </p:cNvPr>
              <p:cNvSpPr txBox="1"/>
              <p:nvPr/>
            </p:nvSpPr>
            <p:spPr>
              <a:xfrm>
                <a:off x="1568295" y="5150281"/>
                <a:ext cx="5253489" cy="492443"/>
              </a:xfrm>
              <a:prstGeom prst="rect">
                <a:avLst/>
              </a:prstGeom>
              <a:noFill/>
            </p:spPr>
            <p:txBody>
              <a:bodyPr wrap="none" rtlCol="0">
                <a:spAutoFit/>
              </a:bodyPr>
              <a:lstStyle/>
              <a:p>
                <a14:m>
                  <m:oMath xmlns:m="http://schemas.openxmlformats.org/officeDocument/2006/math">
                    <m:r>
                      <a:rPr lang="en-US" sz="2600" dirty="0">
                        <a:solidFill>
                          <a:srgbClr val="003399"/>
                        </a:solidFill>
                        <a:latin typeface="Cambria Math" panose="02040503050406030204" pitchFamily="18" charset="0"/>
                      </a:rPr>
                      <m:t>𝑇</m:t>
                    </m:r>
                    <m:r>
                      <a:rPr lang="en-US" sz="2600" baseline="30000" dirty="0" err="1">
                        <a:solidFill>
                          <a:srgbClr val="003399"/>
                        </a:solidFill>
                        <a:latin typeface="Cambria Math" panose="02040503050406030204" pitchFamily="18" charset="0"/>
                      </a:rPr>
                      <m:t>𝑓</m:t>
                    </m:r>
                    <m:r>
                      <a:rPr lang="en-US" sz="2600" dirty="0" err="1">
                        <a:solidFill>
                          <a:srgbClr val="003399"/>
                        </a:solidFill>
                        <a:latin typeface="Cambria Math" panose="02040503050406030204" pitchFamily="18" charset="0"/>
                      </a:rPr>
                      <m:t> </m:t>
                    </m:r>
                  </m:oMath>
                </a14:m>
                <a:r>
                  <a:rPr lang="en-US" altLang="zh-CN" sz="2600" dirty="0">
                    <a:solidFill>
                      <a:srgbClr val="003399"/>
                    </a:solidFill>
                    <a:latin typeface="Cambria Math" panose="02040503050406030204" pitchFamily="18" charset="0"/>
                  </a:rPr>
                  <a:t>= #access * RMA cost per access</a:t>
                </a:r>
                <a:endParaRPr lang="en-US" sz="2600" dirty="0">
                  <a:solidFill>
                    <a:srgbClr val="003399"/>
                  </a:solidFill>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A50B1161-A5A5-A24F-B121-4F8530E8B2E2}"/>
                  </a:ext>
                </a:extLst>
              </p:cNvPr>
              <p:cNvSpPr txBox="1">
                <a:spLocks noRot="1" noChangeAspect="1" noMove="1" noResize="1" noEditPoints="1" noAdjustHandles="1" noChangeArrowheads="1" noChangeShapeType="1" noTextEdit="1"/>
              </p:cNvSpPr>
              <p:nvPr/>
            </p:nvSpPr>
            <p:spPr>
              <a:xfrm>
                <a:off x="1568295" y="5150281"/>
                <a:ext cx="5253489" cy="492443"/>
              </a:xfrm>
              <a:prstGeom prst="rect">
                <a:avLst/>
              </a:prstGeom>
              <a:blipFill>
                <a:blip r:embed="rId8"/>
                <a:stretch>
                  <a:fillRect l="-241" t="-10256" b="-30769"/>
                </a:stretch>
              </a:blipFill>
            </p:spPr>
            <p:txBody>
              <a:bodyPr/>
              <a:lstStyle/>
              <a:p>
                <a:r>
                  <a:rPr lang="en-US">
                    <a:noFill/>
                  </a:rPr>
                  <a:t> </a:t>
                </a:r>
              </a:p>
            </p:txBody>
          </p:sp>
        </mc:Fallback>
      </mc:AlternateContent>
      <p:cxnSp>
        <p:nvCxnSpPr>
          <p:cNvPr id="27" name="Curved Connector 26">
            <a:extLst>
              <a:ext uri="{FF2B5EF4-FFF2-40B4-BE49-F238E27FC236}">
                <a16:creationId xmlns:a16="http://schemas.microsoft.com/office/drawing/2014/main" id="{50055F49-4360-D64E-9B2D-4449B0ED706F}"/>
              </a:ext>
            </a:extLst>
          </p:cNvPr>
          <p:cNvCxnSpPr>
            <a:endCxn id="15" idx="0"/>
          </p:cNvCxnSpPr>
          <p:nvPr/>
        </p:nvCxnSpPr>
        <p:spPr bwMode="auto">
          <a:xfrm rot="16200000" flipH="1">
            <a:off x="5070624" y="5745042"/>
            <a:ext cx="832464" cy="430310"/>
          </a:xfrm>
          <a:prstGeom prst="curvedConnector3">
            <a:avLst/>
          </a:prstGeom>
          <a:solidFill>
            <a:schemeClr val="accent1"/>
          </a:solidFill>
          <a:ln w="381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148814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altLang="zh-CN" dirty="0"/>
                  <a:t>Estimating </a:t>
                </a:r>
                <a14:m>
                  <m:oMath xmlns:m="http://schemas.openxmlformats.org/officeDocument/2006/math">
                    <m:acc>
                      <m:accPr>
                        <m:chr m:val="̅"/>
                        <m:ctrlPr>
                          <a:rPr lang="en-US" i="1" dirty="0" smtClean="0">
                            <a:latin typeface="Cambria Math" panose="02040503050406030204" pitchFamily="18" charset="0"/>
                          </a:rPr>
                        </m:ctrlPr>
                      </m:accPr>
                      <m:e>
                        <m:r>
                          <a:rPr lang="en-US" i="1" dirty="0" smtClean="0">
                            <a:latin typeface="Cambria Math" charset="0"/>
                          </a:rPr>
                          <m:t>𝑟</m:t>
                        </m:r>
                        <m:r>
                          <a:rPr lang="en-US" i="1" baseline="-25000" dirty="0" err="1" smtClean="0">
                            <a:latin typeface="Cambria Math" charset="0"/>
                          </a:rPr>
                          <m:t>𝑜</m:t>
                        </m:r>
                      </m:e>
                    </m:acc>
                  </m:oMath>
                </a14:m>
                <a:r>
                  <a:rPr lang="en-US" dirty="0"/>
                  <a:t> of an Operator</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4"/>
                <a:stretch>
                  <a:fillRect l="-22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697954" y="2350632"/>
                <a:ext cx="8756154" cy="1384995"/>
              </a:xfrm>
              <a:prstGeom prst="rect">
                <a:avLst/>
              </a:prstGeom>
            </p:spPr>
            <p:txBody>
              <a:bodyPr wrap="square">
                <a:spAutoFit/>
              </a:bodyPr>
              <a:lstStyle/>
              <a:p>
                <a:pPr marL="285533" indent="-285533">
                  <a:buFont typeface="Arial" charset="0"/>
                  <a:buChar char="•"/>
                </a:pPr>
                <a14:m>
                  <m:oMath xmlns:m="http://schemas.openxmlformats.org/officeDocument/2006/math">
                    <m:r>
                      <m:rPr>
                        <m:sty m:val="p"/>
                      </m:rPr>
                      <a:rPr lang="en-US" sz="2800" i="1" dirty="0" smtClean="0">
                        <a:solidFill>
                          <a:srgbClr val="003399"/>
                        </a:solidFill>
                        <a:latin typeface="Cambria Math" panose="02040503050406030204" pitchFamily="18" charset="0"/>
                      </a:rPr>
                      <m:t>I</m:t>
                    </m:r>
                    <m:r>
                      <m:rPr>
                        <m:sty m:val="p"/>
                      </m:rPr>
                      <a:rPr lang="en-US" sz="2800" dirty="0">
                        <a:solidFill>
                          <a:srgbClr val="003399"/>
                        </a:solidFill>
                        <a:latin typeface="Cambria Math" panose="02040503050406030204" pitchFamily="18" charset="0"/>
                      </a:rPr>
                      <m:t>mplict</m:t>
                    </m:r>
                    <m:r>
                      <a:rPr lang="en-US" sz="2800" dirty="0">
                        <a:solidFill>
                          <a:srgbClr val="003399"/>
                        </a:solidFill>
                        <a:latin typeface="Cambria Math" panose="02040503050406030204" pitchFamily="18" charset="0"/>
                      </a:rPr>
                      <m:t> </m:t>
                    </m:r>
                    <m:r>
                      <m:rPr>
                        <m:sty m:val="p"/>
                      </m:rPr>
                      <a:rPr lang="en-US" sz="2800" dirty="0">
                        <a:solidFill>
                          <a:srgbClr val="003399"/>
                        </a:solidFill>
                        <a:latin typeface="Cambria Math" panose="02040503050406030204" pitchFamily="18" charset="0"/>
                      </a:rPr>
                      <m:t>assumption</m:t>
                    </m:r>
                    <m:r>
                      <a:rPr lang="en-US" sz="2800" dirty="0">
                        <a:solidFill>
                          <a:srgbClr val="003399"/>
                        </a:solidFill>
                        <a:latin typeface="Cambria Math" panose="02040503050406030204" pitchFamily="18" charset="0"/>
                      </a:rPr>
                      <m:t>: </m:t>
                    </m:r>
                    <m:r>
                      <a:rPr lang="en-US" sz="2800" dirty="0">
                        <a:solidFill>
                          <a:srgbClr val="003399"/>
                        </a:solidFill>
                        <a:latin typeface="Cambria Math" panose="02040503050406030204" pitchFamily="18" charset="0"/>
                      </a:rPr>
                      <m:t>𝑡𝑝</m:t>
                    </m:r>
                    <m:r>
                      <a:rPr lang="en-US" sz="2800" i="1" dirty="0" smtClean="0">
                        <a:solidFill>
                          <a:srgbClr val="003399"/>
                        </a:solidFill>
                        <a:latin typeface="Cambria Math" panose="02040503050406030204" pitchFamily="18" charset="0"/>
                        <a:ea typeface="Cambria Math" panose="02040503050406030204" pitchFamily="18" charset="0"/>
                      </a:rPr>
                      <m:t>≥</m:t>
                    </m:r>
                    <m:r>
                      <a:rPr lang="en-US" sz="2800" dirty="0">
                        <a:solidFill>
                          <a:srgbClr val="003399"/>
                        </a:solidFill>
                        <a:latin typeface="Cambria Math" panose="02040503050406030204" pitchFamily="18" charset="0"/>
                      </a:rPr>
                      <m:t> </m:t>
                    </m:r>
                    <m:r>
                      <m:rPr>
                        <m:sty m:val="p"/>
                      </m:rPr>
                      <a:rPr lang="en-US" sz="2800" dirty="0">
                        <a:solidFill>
                          <a:srgbClr val="003399"/>
                        </a:solidFill>
                        <a:latin typeface="Cambria Math" panose="02040503050406030204" pitchFamily="18" charset="0"/>
                      </a:rPr>
                      <m:t>t</m:t>
                    </m:r>
                  </m:oMath>
                </a14:m>
                <a:endParaRPr lang="en-US" sz="2800" dirty="0">
                  <a:solidFill>
                    <a:srgbClr val="003399"/>
                  </a:solidFill>
                  <a:latin typeface="Times New Roman" panose="02020603050405020304" pitchFamily="18" charset="0"/>
                  <a:cs typeface="Times New Roman" panose="02020603050405020304" pitchFamily="18" charset="0"/>
                </a:endParaRPr>
              </a:p>
              <a:p>
                <a:pPr marL="285533" indent="-285533">
                  <a:buFont typeface="Arial" charset="0"/>
                  <a:buChar char="•"/>
                </a:pPr>
                <a:r>
                  <a:rPr lang="en-US" sz="2800" dirty="0">
                    <a:solidFill>
                      <a:srgbClr val="003399"/>
                    </a:solidFill>
                    <a:latin typeface="Times New Roman" panose="02020603050405020304" pitchFamily="18" charset="0"/>
                    <a:cs typeface="Times New Roman" panose="02020603050405020304" pitchFamily="18" charset="0"/>
                  </a:rPr>
                  <a:t>What happen when the assumption does not hold?</a:t>
                </a:r>
              </a:p>
              <a:p>
                <a:pPr marL="742733" lvl="1" indent="-285533">
                  <a:buFont typeface="Arial" charset="0"/>
                  <a:buChar char="•"/>
                </a:pPr>
                <a:r>
                  <a:rPr lang="en-US" sz="2800" dirty="0">
                    <a:solidFill>
                      <a:srgbClr val="003399"/>
                    </a:solidFill>
                    <a:latin typeface="Times New Roman" panose="02020603050405020304" pitchFamily="18" charset="0"/>
                    <a:cs typeface="Times New Roman" panose="02020603050405020304" pitchFamily="18" charset="0"/>
                  </a:rPr>
                  <a:t>What is the </a:t>
                </a:r>
                <a14:m>
                  <m:oMath xmlns:m="http://schemas.openxmlformats.org/officeDocument/2006/math">
                    <m:acc>
                      <m:accPr>
                        <m:chr m:val="̅"/>
                        <m:ctrlPr>
                          <a:rPr lang="en-US" sz="2800" i="1" dirty="0">
                            <a:solidFill>
                              <a:srgbClr val="003399"/>
                            </a:solidFill>
                            <a:latin typeface="Cambria Math" panose="02040503050406030204" pitchFamily="18" charset="0"/>
                          </a:rPr>
                        </m:ctrlPr>
                      </m:accPr>
                      <m:e>
                        <m:r>
                          <a:rPr lang="en-US" sz="2800" dirty="0">
                            <a:solidFill>
                              <a:srgbClr val="003399"/>
                            </a:solidFill>
                            <a:latin typeface="Cambria Math" panose="02040503050406030204" pitchFamily="18" charset="0"/>
                          </a:rPr>
                          <m:t>𝑟</m:t>
                        </m:r>
                        <m:r>
                          <a:rPr lang="en-US" sz="2800" baseline="-25000" dirty="0" err="1">
                            <a:solidFill>
                              <a:srgbClr val="003399"/>
                            </a:solidFill>
                            <a:latin typeface="Cambria Math" panose="02040503050406030204" pitchFamily="18" charset="0"/>
                          </a:rPr>
                          <m:t>𝑜</m:t>
                        </m:r>
                      </m:e>
                    </m:acc>
                    <m:r>
                      <a:rPr lang="en-US" sz="2800" b="0" i="0" baseline="-25000" dirty="0" smtClean="0">
                        <a:solidFill>
                          <a:srgbClr val="003399"/>
                        </a:solidFill>
                        <a:latin typeface="Cambria Math" panose="02040503050406030204" pitchFamily="18" charset="0"/>
                      </a:rPr>
                      <m:t> </m:t>
                    </m:r>
                    <m:r>
                      <m:rPr>
                        <m:sty m:val="p"/>
                      </m:rPr>
                      <a:rPr lang="en-US" sz="2800" b="0" i="0" dirty="0" smtClean="0">
                        <a:solidFill>
                          <a:srgbClr val="003399"/>
                        </a:solidFill>
                        <a:latin typeface="Cambria Math" panose="02040503050406030204" pitchFamily="18" charset="0"/>
                      </a:rPr>
                      <m:t>in</m:t>
                    </m:r>
                    <m:r>
                      <a:rPr lang="en-US" sz="2800" b="0" i="0" dirty="0" smtClean="0">
                        <a:solidFill>
                          <a:srgbClr val="003399"/>
                        </a:solidFill>
                        <a:latin typeface="Cambria Math" panose="02040503050406030204" pitchFamily="18" charset="0"/>
                      </a:rPr>
                      <m:t> </m:t>
                    </m:r>
                    <m:r>
                      <m:rPr>
                        <m:sty m:val="p"/>
                      </m:rPr>
                      <a:rPr lang="en-US" sz="2800" b="0" i="0" dirty="0" smtClean="0">
                        <a:solidFill>
                          <a:srgbClr val="003399"/>
                        </a:solidFill>
                        <a:latin typeface="Cambria Math" panose="02040503050406030204" pitchFamily="18" charset="0"/>
                      </a:rPr>
                      <m:t>general</m:t>
                    </m:r>
                    <m:r>
                      <a:rPr lang="en-US" sz="2800" dirty="0">
                        <a:solidFill>
                          <a:srgbClr val="003399"/>
                        </a:solidFill>
                        <a:latin typeface="Cambria Math" panose="02040503050406030204" pitchFamily="18" charset="0"/>
                      </a:rPr>
                      <m:t>?</m:t>
                    </m:r>
                  </m:oMath>
                </a14:m>
                <a:endParaRPr lang="en-US" sz="2800" dirty="0">
                  <a:solidFill>
                    <a:srgbClr val="003399"/>
                  </a:solidFill>
                  <a:latin typeface="Times New Roman" panose="02020603050405020304" pitchFamily="18" charset="0"/>
                  <a:cs typeface="Times New Roman" panose="02020603050405020304" pitchFamily="18" charset="0"/>
                </a:endParaRPr>
              </a:p>
            </p:txBody>
          </p:sp>
        </mc:Choice>
        <mc:Fallback xmlns="">
          <p:sp>
            <p:nvSpPr>
              <p:cNvPr id="15" name="Rectangle 14"/>
              <p:cNvSpPr>
                <a:spLocks noRot="1" noChangeAspect="1" noMove="1" noResize="1" noEditPoints="1" noAdjustHandles="1" noChangeArrowheads="1" noChangeShapeType="1" noTextEdit="1"/>
              </p:cNvSpPr>
              <p:nvPr/>
            </p:nvSpPr>
            <p:spPr>
              <a:xfrm>
                <a:off x="697954" y="2350632"/>
                <a:ext cx="8756154" cy="1384995"/>
              </a:xfrm>
              <a:prstGeom prst="rect">
                <a:avLst/>
              </a:prstGeom>
              <a:blipFill>
                <a:blip r:embed="rId5"/>
                <a:stretch>
                  <a:fillRect l="-1159" t="-1818" b="-12727"/>
                </a:stretch>
              </a:blipFill>
            </p:spPr>
            <p:txBody>
              <a:bodyPr/>
              <a:lstStyle/>
              <a:p>
                <a:r>
                  <a:rPr lang="en-US">
                    <a:noFill/>
                  </a:rPr>
                  <a:t> </a:t>
                </a:r>
              </a:p>
            </p:txBody>
          </p:sp>
        </mc:Fallback>
      </mc:AlternateContent>
    </p:spTree>
    <p:extLst>
      <p:ext uri="{BB962C8B-B14F-4D97-AF65-F5344CB8AC3E}">
        <p14:creationId xmlns:p14="http://schemas.microsoft.com/office/powerpoint/2010/main" val="37180455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Bottleneck Operators</a:t>
            </a:r>
          </a:p>
        </p:txBody>
      </p:sp>
      <p:sp>
        <p:nvSpPr>
          <p:cNvPr id="3" name="Content Placeholder 2"/>
          <p:cNvSpPr>
            <a:spLocks noGrp="1"/>
          </p:cNvSpPr>
          <p:nvPr>
            <p:ph idx="1"/>
          </p:nvPr>
        </p:nvSpPr>
        <p:spPr>
          <a:xfrm>
            <a:off x="939395" y="2233425"/>
            <a:ext cx="8514712" cy="877902"/>
          </a:xfrm>
        </p:spPr>
        <p:txBody>
          <a:bodyPr>
            <a:noAutofit/>
          </a:bodyPr>
          <a:lstStyle/>
          <a:p>
            <a:r>
              <a:rPr lang="en-US" sz="2400" b="0" dirty="0">
                <a:ea typeface="Apple Chancery" charset="0"/>
                <a:cs typeface="Apple Chancery" charset="0"/>
              </a:rPr>
              <a:t>An operator can have only two possible conditions under a given execution plan.</a:t>
            </a:r>
          </a:p>
          <a:p>
            <a:pPr lvl="1"/>
            <a:endParaRPr lang="en-US" sz="2000" dirty="0">
              <a:latin typeface="Apple Chancery" charset="0"/>
              <a:ea typeface="Apple Chancery" charset="0"/>
              <a:cs typeface="Apple Chancery" charset="0"/>
            </a:endParaRPr>
          </a:p>
        </p:txBody>
      </p:sp>
      <p:sp>
        <p:nvSpPr>
          <p:cNvPr id="8" name="TextBox 7"/>
          <p:cNvSpPr txBox="1"/>
          <p:nvPr/>
        </p:nvSpPr>
        <p:spPr>
          <a:xfrm>
            <a:off x="1557951" y="5159270"/>
            <a:ext cx="1771447" cy="399789"/>
          </a:xfrm>
          <a:prstGeom prst="rect">
            <a:avLst/>
          </a:prstGeom>
          <a:noFill/>
        </p:spPr>
        <p:txBody>
          <a:bodyPr wrap="none" rtlCol="0">
            <a:spAutoFit/>
          </a:bodyPr>
          <a:lstStyle/>
          <a:p>
            <a:r>
              <a:rPr lang="en-US" sz="1998"/>
              <a:t>Under-supplied</a:t>
            </a:r>
          </a:p>
        </p:txBody>
      </p:sp>
      <p:sp>
        <p:nvSpPr>
          <p:cNvPr id="10" name="TextBox 9"/>
          <p:cNvSpPr txBox="1"/>
          <p:nvPr/>
        </p:nvSpPr>
        <p:spPr>
          <a:xfrm flipH="1">
            <a:off x="939395" y="5815874"/>
            <a:ext cx="2990444" cy="553485"/>
          </a:xfrm>
          <a:prstGeom prst="rect">
            <a:avLst/>
          </a:prstGeom>
          <a:noFill/>
        </p:spPr>
        <p:txBody>
          <a:bodyPr wrap="square" rtlCol="0">
            <a:spAutoFit/>
          </a:bodyPr>
          <a:lstStyle/>
          <a:p>
            <a:pPr>
              <a:lnSpc>
                <a:spcPct val="90000"/>
              </a:lnSpc>
              <a:spcBef>
                <a:spcPts val="833"/>
              </a:spcBef>
              <a:buFont typeface="Wingdings" panose="05000000000000000000" pitchFamily="2" charset="2"/>
            </a:pPr>
            <a:r>
              <a:rPr lang="en-US" sz="1665" dirty="0">
                <a:solidFill>
                  <a:srgbClr val="FF0000"/>
                </a:solidFill>
                <a:latin typeface="Comic Sans MS" charset="0"/>
                <a:ea typeface="ＭＳ Ｐゴシック" charset="0"/>
                <a:cs typeface="ＭＳ Ｐゴシック" charset="0"/>
              </a:rPr>
              <a:t>Output rate is only determined by its input rate</a:t>
            </a:r>
          </a:p>
        </p:txBody>
      </p:sp>
      <p:sp>
        <p:nvSpPr>
          <p:cNvPr id="9" name="TextBox 8"/>
          <p:cNvSpPr txBox="1"/>
          <p:nvPr/>
        </p:nvSpPr>
        <p:spPr>
          <a:xfrm>
            <a:off x="4193242" y="5164263"/>
            <a:ext cx="3409716" cy="399789"/>
          </a:xfrm>
          <a:prstGeom prst="rect">
            <a:avLst/>
          </a:prstGeom>
          <a:noFill/>
        </p:spPr>
        <p:txBody>
          <a:bodyPr wrap="none" rtlCol="0">
            <a:spAutoFit/>
          </a:bodyPr>
          <a:lstStyle/>
          <a:p>
            <a:r>
              <a:rPr lang="en-US" sz="1998" dirty="0"/>
              <a:t>Over-supplied (or just fulfilled)</a:t>
            </a:r>
          </a:p>
        </p:txBody>
      </p:sp>
      <p:sp>
        <p:nvSpPr>
          <p:cNvPr id="11" name="TextBox 10"/>
          <p:cNvSpPr txBox="1"/>
          <p:nvPr/>
        </p:nvSpPr>
        <p:spPr>
          <a:xfrm flipH="1">
            <a:off x="4100606" y="5757233"/>
            <a:ext cx="3604634" cy="553485"/>
          </a:xfrm>
          <a:prstGeom prst="rect">
            <a:avLst/>
          </a:prstGeom>
          <a:noFill/>
        </p:spPr>
        <p:txBody>
          <a:bodyPr wrap="square" rtlCol="0">
            <a:spAutoFit/>
          </a:bodyPr>
          <a:lstStyle/>
          <a:p>
            <a:pPr>
              <a:lnSpc>
                <a:spcPct val="90000"/>
              </a:lnSpc>
              <a:spcBef>
                <a:spcPts val="833"/>
              </a:spcBef>
              <a:buFont typeface="Wingdings" panose="05000000000000000000" pitchFamily="2" charset="2"/>
            </a:pPr>
            <a:r>
              <a:rPr lang="en-US" sz="1665" dirty="0">
                <a:solidFill>
                  <a:srgbClr val="FF0000"/>
                </a:solidFill>
                <a:latin typeface="Comic Sans MS" charset="0"/>
                <a:ea typeface="ＭＳ Ｐゴシック" charset="0"/>
                <a:cs typeface="ＭＳ Ｐゴシック" charset="0"/>
              </a:rPr>
              <a:t>Output rate is determined by its input rate and processing speed</a:t>
            </a:r>
          </a:p>
        </p:txBody>
      </p:sp>
      <p:sp>
        <p:nvSpPr>
          <p:cNvPr id="12" name="TextBox 11"/>
          <p:cNvSpPr txBox="1"/>
          <p:nvPr/>
        </p:nvSpPr>
        <p:spPr>
          <a:xfrm flipH="1">
            <a:off x="7016408" y="3754166"/>
            <a:ext cx="2936422" cy="840230"/>
          </a:xfrm>
          <a:prstGeom prst="rect">
            <a:avLst/>
          </a:prstGeom>
          <a:noFill/>
          <a:ln>
            <a:noFill/>
          </a:ln>
        </p:spPr>
        <p:txBody>
          <a:bodyPr wrap="square" rtlCol="0">
            <a:spAutoFit/>
          </a:bodyPr>
          <a:lstStyle/>
          <a:p>
            <a:pPr>
              <a:lnSpc>
                <a:spcPct val="90000"/>
              </a:lnSpc>
              <a:spcBef>
                <a:spcPts val="833"/>
              </a:spcBef>
              <a:buFont typeface="Wingdings" panose="05000000000000000000" pitchFamily="2" charset="2"/>
            </a:pPr>
            <a:r>
              <a:rPr lang="en-US" sz="1800" dirty="0">
                <a:solidFill>
                  <a:srgbClr val="FF0000"/>
                </a:solidFill>
                <a:latin typeface="Comic Sans MS" charset="0"/>
                <a:ea typeface="ＭＳ Ｐゴシック" charset="0"/>
                <a:cs typeface="ＭＳ Ｐゴシック" charset="0"/>
              </a:rPr>
              <a:t>Operator being over-supplied is essentially the bottleneck.</a:t>
            </a:r>
          </a:p>
        </p:txBody>
      </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396" y="3115852"/>
            <a:ext cx="6233269" cy="2237584"/>
          </a:xfrm>
          <a:prstGeom prst="rect">
            <a:avLst/>
          </a:prstGeom>
        </p:spPr>
      </p:pic>
      <p:sp>
        <p:nvSpPr>
          <p:cNvPr id="17" name="Rectangle 16"/>
          <p:cNvSpPr/>
          <p:nvPr/>
        </p:nvSpPr>
        <p:spPr>
          <a:xfrm>
            <a:off x="939396" y="3115852"/>
            <a:ext cx="2650084" cy="2043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8"/>
          </a:p>
        </p:txBody>
      </p:sp>
      <p:sp>
        <p:nvSpPr>
          <p:cNvPr id="18" name="Rectangle 17"/>
          <p:cNvSpPr/>
          <p:nvPr/>
        </p:nvSpPr>
        <p:spPr>
          <a:xfrm>
            <a:off x="4100606" y="3119939"/>
            <a:ext cx="2757513" cy="2043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8"/>
          </a:p>
        </p:txBody>
      </p:sp>
    </p:spTree>
    <p:extLst>
      <p:ext uri="{BB962C8B-B14F-4D97-AF65-F5344CB8AC3E}">
        <p14:creationId xmlns:p14="http://schemas.microsoft.com/office/powerpoint/2010/main" val="833529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9" grpId="0"/>
      <p:bldP spid="11" grpId="0"/>
      <p:bldP spid="12" grpId="0"/>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5">
            <a:extLst>
              <a:ext uri="{FF2B5EF4-FFF2-40B4-BE49-F238E27FC236}">
                <a16:creationId xmlns:a16="http://schemas.microsoft.com/office/drawing/2014/main" id="{608C40F7-9281-8A43-9285-1E68E97E8744}"/>
              </a:ext>
            </a:extLst>
          </p:cNvPr>
          <p:cNvSpPr>
            <a:spLocks noGrp="1"/>
          </p:cNvSpPr>
          <p:nvPr>
            <p:ph type="ftr" sz="quarter" idx="12"/>
          </p:nvPr>
        </p:nvSpPr>
        <p:spPr/>
        <p:txBody>
          <a:bodyPr/>
          <a:lstStyle/>
          <a:p>
            <a:endParaRPr lang="en-GB" altLang="en-US"/>
          </a:p>
          <a:p>
            <a:endParaRPr lang="en-GB" altLang="en-US"/>
          </a:p>
        </p:txBody>
      </p:sp>
      <p:sp>
        <p:nvSpPr>
          <p:cNvPr id="14338" name="Rectangle 2">
            <a:extLst>
              <a:ext uri="{FF2B5EF4-FFF2-40B4-BE49-F238E27FC236}">
                <a16:creationId xmlns:a16="http://schemas.microsoft.com/office/drawing/2014/main" id="{7B85D8F9-2B91-ED47-B4F1-78197046B3B7}"/>
              </a:ext>
            </a:extLst>
          </p:cNvPr>
          <p:cNvSpPr>
            <a:spLocks noGrp="1" noChangeArrowheads="1"/>
          </p:cNvSpPr>
          <p:nvPr>
            <p:ph type="title"/>
          </p:nvPr>
        </p:nvSpPr>
        <p:spPr/>
        <p:txBody>
          <a:bodyPr/>
          <a:lstStyle/>
          <a:p>
            <a:r>
              <a:rPr lang="en-US" dirty="0"/>
              <a:t>Outline</a:t>
            </a:r>
            <a:endParaRPr lang="en-GB" altLang="en-US" dirty="0"/>
          </a:p>
        </p:txBody>
      </p:sp>
      <p:sp>
        <p:nvSpPr>
          <p:cNvPr id="14339" name="Rectangle 3">
            <a:extLst>
              <a:ext uri="{FF2B5EF4-FFF2-40B4-BE49-F238E27FC236}">
                <a16:creationId xmlns:a16="http://schemas.microsoft.com/office/drawing/2014/main" id="{9E153C3C-1718-7747-AED1-F46255C2D4B2}"/>
              </a:ext>
            </a:extLst>
          </p:cNvPr>
          <p:cNvSpPr>
            <a:spLocks noGrp="1" noChangeArrowheads="1"/>
          </p:cNvSpPr>
          <p:nvPr>
            <p:ph type="body" idx="1"/>
          </p:nvPr>
        </p:nvSpPr>
        <p:spPr/>
        <p:txBody>
          <a:bodyPr/>
          <a:lstStyle/>
          <a:p>
            <a:pPr marL="342900" indent="-342900">
              <a:buFont typeface="Arial" panose="020B0604020202020204" pitchFamily="34" charset="0"/>
              <a:buChar char="•"/>
            </a:pPr>
            <a:r>
              <a:rPr lang="en-GB" altLang="en-US" dirty="0">
                <a:solidFill>
                  <a:schemeClr val="bg1">
                    <a:lumMod val="50000"/>
                  </a:schemeClr>
                </a:solidFill>
              </a:rPr>
              <a:t>Motivation</a:t>
            </a:r>
          </a:p>
          <a:p>
            <a:pPr marL="342900" indent="-342900">
              <a:buFont typeface="Arial" panose="020B0604020202020204" pitchFamily="34" charset="0"/>
              <a:buChar char="•"/>
            </a:pPr>
            <a:r>
              <a:rPr lang="en-GB" altLang="en-US" dirty="0">
                <a:solidFill>
                  <a:schemeClr val="bg1">
                    <a:lumMod val="50000"/>
                  </a:schemeClr>
                </a:solidFill>
              </a:rPr>
              <a:t>Performance Model </a:t>
            </a:r>
          </a:p>
          <a:p>
            <a:pPr marL="342900" indent="-342900">
              <a:buFont typeface="Arial" panose="020B0604020202020204" pitchFamily="34" charset="0"/>
              <a:buChar char="•"/>
            </a:pPr>
            <a:r>
              <a:rPr lang="en-GB" altLang="en-US" sz="2400" dirty="0">
                <a:cs typeface="Apple Chancery" charset="0"/>
              </a:rPr>
              <a:t>Algorithm Design</a:t>
            </a:r>
          </a:p>
          <a:p>
            <a:pPr marL="342900" indent="-342900">
              <a:buFont typeface="Arial" panose="020B0604020202020204" pitchFamily="34" charset="0"/>
              <a:buChar char="•"/>
            </a:pPr>
            <a:r>
              <a:rPr lang="en-GB" altLang="en-US" dirty="0">
                <a:solidFill>
                  <a:schemeClr val="bg1">
                    <a:lumMod val="50000"/>
                  </a:schemeClr>
                </a:solidFill>
              </a:rPr>
              <a:t>Experimental Results</a:t>
            </a:r>
          </a:p>
        </p:txBody>
      </p:sp>
    </p:spTree>
    <p:extLst>
      <p:ext uri="{BB962C8B-B14F-4D97-AF65-F5344CB8AC3E}">
        <p14:creationId xmlns:p14="http://schemas.microsoft.com/office/powerpoint/2010/main" val="3490711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RLAS Overview</a:t>
            </a:r>
          </a:p>
        </p:txBody>
      </p:sp>
      <p:sp>
        <p:nvSpPr>
          <p:cNvPr id="3" name="Content Placeholder 2"/>
          <p:cNvSpPr>
            <a:spLocks noGrp="1"/>
          </p:cNvSpPr>
          <p:nvPr>
            <p:ph idx="1"/>
          </p:nvPr>
        </p:nvSpPr>
        <p:spPr/>
        <p:txBody>
          <a:bodyPr/>
          <a:lstStyle/>
          <a:p>
            <a:r>
              <a:rPr lang="en-US" dirty="0"/>
              <a:t>RLAS optimization </a:t>
            </a:r>
          </a:p>
          <a:p>
            <a:r>
              <a:rPr lang="en-US" dirty="0"/>
              <a:t>= Repeat {Scaling Optimization + Placement Optimization}.</a:t>
            </a:r>
          </a:p>
        </p:txBody>
      </p:sp>
      <p:pic>
        <p:nvPicPr>
          <p:cNvPr id="6"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5631" y="3659162"/>
            <a:ext cx="6450790" cy="1945812"/>
          </a:xfrm>
          <a:prstGeom prst="rect">
            <a:avLst/>
          </a:prstGeom>
        </p:spPr>
      </p:pic>
      <p:sp>
        <p:nvSpPr>
          <p:cNvPr id="7" name="TextBox 6"/>
          <p:cNvSpPr txBox="1"/>
          <p:nvPr/>
        </p:nvSpPr>
        <p:spPr>
          <a:xfrm flipH="1">
            <a:off x="1875630" y="5946678"/>
            <a:ext cx="6450791" cy="645818"/>
          </a:xfrm>
          <a:prstGeom prst="rect">
            <a:avLst/>
          </a:prstGeom>
          <a:noFill/>
          <a:ln>
            <a:noFill/>
          </a:ln>
        </p:spPr>
        <p:txBody>
          <a:bodyPr wrap="square" rtlCol="0">
            <a:spAutoFit/>
          </a:bodyPr>
          <a:lstStyle/>
          <a:p>
            <a:pPr>
              <a:lnSpc>
                <a:spcPct val="90000"/>
              </a:lnSpc>
              <a:spcBef>
                <a:spcPts val="833"/>
              </a:spcBef>
              <a:buFont typeface="Wingdings" panose="05000000000000000000" pitchFamily="2" charset="2"/>
            </a:pPr>
            <a:r>
              <a:rPr lang="en-US" sz="1998" dirty="0">
                <a:solidFill>
                  <a:srgbClr val="FF0000"/>
                </a:solidFill>
                <a:latin typeface="Comic Sans MS" charset="0"/>
                <a:ea typeface="ＭＳ Ｐゴシック" charset="0"/>
                <a:cs typeface="ＭＳ Ｐゴシック" charset="0"/>
              </a:rPr>
              <a:t>The key idea to optimize streaming application is to remove bottlenecks.</a:t>
            </a:r>
          </a:p>
        </p:txBody>
      </p:sp>
    </p:spTree>
    <p:extLst>
      <p:ext uri="{BB962C8B-B14F-4D97-AF65-F5344CB8AC3E}">
        <p14:creationId xmlns:p14="http://schemas.microsoft.com/office/powerpoint/2010/main" val="2021064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Solving RLAS is Tricky</a:t>
            </a:r>
          </a:p>
        </p:txBody>
      </p:sp>
      <p:sp>
        <p:nvSpPr>
          <p:cNvPr id="11" name="Content Placeholder 10"/>
          <p:cNvSpPr>
            <a:spLocks noGrp="1"/>
          </p:cNvSpPr>
          <p:nvPr>
            <p:ph idx="1"/>
          </p:nvPr>
        </p:nvSpPr>
        <p:spPr/>
        <p:txBody>
          <a:bodyPr>
            <a:normAutofit/>
          </a:bodyPr>
          <a:lstStyle/>
          <a:p>
            <a:pPr indent="-379796">
              <a:buFont typeface="+mj-lt"/>
              <a:buAutoNum type="arabicPeriod"/>
            </a:pPr>
            <a:r>
              <a:rPr lang="en-US" dirty="0"/>
              <a:t>Stochasticity is introduced into the problem.</a:t>
            </a:r>
          </a:p>
          <a:p>
            <a:pPr lvl="1"/>
            <a:r>
              <a:rPr lang="en-US" dirty="0"/>
              <a:t>Objective value (e.g., throughput) or weight (e.g., resource demand) of each operator is </a:t>
            </a:r>
            <a:r>
              <a:rPr lang="en-US" dirty="0">
                <a:solidFill>
                  <a:srgbClr val="FF0000"/>
                </a:solidFill>
              </a:rPr>
              <a:t>no longer </a:t>
            </a:r>
            <a:r>
              <a:rPr lang="en-US" dirty="0"/>
              <a:t>constant.</a:t>
            </a:r>
          </a:p>
          <a:p>
            <a:pPr lvl="1"/>
            <a:endParaRPr lang="en-US" sz="2215" dirty="0"/>
          </a:p>
          <a:p>
            <a:pPr lvl="1"/>
            <a:endParaRPr lang="en-US" sz="2215" dirty="0"/>
          </a:p>
          <a:p>
            <a:pPr lvl="1"/>
            <a:endParaRPr lang="en-US" sz="2215" dirty="0"/>
          </a:p>
          <a:p>
            <a:pPr lvl="1"/>
            <a:endParaRPr lang="en-US" sz="2215" dirty="0"/>
          </a:p>
          <a:p>
            <a:pPr indent="-379796">
              <a:buFont typeface="+mj-lt"/>
              <a:buAutoNum type="arabicPeriod"/>
            </a:pPr>
            <a:r>
              <a:rPr lang="en-US" dirty="0"/>
              <a:t>The placement decisions may conflict with each other and </a:t>
            </a:r>
            <a:r>
              <a:rPr lang="en-US" dirty="0">
                <a:solidFill>
                  <a:srgbClr val="FF0000"/>
                </a:solidFill>
              </a:rPr>
              <a:t>ordering</a:t>
            </a:r>
            <a:r>
              <a:rPr lang="en-US" dirty="0"/>
              <a:t> is introduced into the problem.</a:t>
            </a:r>
          </a:p>
        </p:txBody>
      </p:sp>
      <p:sp>
        <p:nvSpPr>
          <p:cNvPr id="12" name="Rectangle 11"/>
          <p:cNvSpPr/>
          <p:nvPr/>
        </p:nvSpPr>
        <p:spPr>
          <a:xfrm>
            <a:off x="611187" y="6310245"/>
            <a:ext cx="8808243" cy="646331"/>
          </a:xfrm>
          <a:prstGeom prst="rect">
            <a:avLst/>
          </a:prstGeom>
          <a:ln>
            <a:noFill/>
          </a:ln>
        </p:spPr>
        <p:txBody>
          <a:bodyPr wrap="square">
            <a:spAutoFit/>
          </a:bodyPr>
          <a:lstStyle/>
          <a:p>
            <a:pPr>
              <a:lnSpc>
                <a:spcPct val="90000"/>
              </a:lnSpc>
              <a:spcBef>
                <a:spcPts val="831"/>
              </a:spcBef>
              <a:buFont typeface="Wingdings" panose="05000000000000000000" pitchFamily="2" charset="2"/>
            </a:pPr>
            <a:r>
              <a:rPr lang="en-US" sz="2000" dirty="0">
                <a:solidFill>
                  <a:srgbClr val="FF0000"/>
                </a:solidFill>
                <a:latin typeface="Comic Sans MS" charset="0"/>
                <a:ea typeface="ＭＳ Ｐゴシック" charset="0"/>
                <a:cs typeface="ＭＳ Ｐゴシック" charset="0"/>
              </a:rPr>
              <a:t>We proposed a branch and bound based approach to solve the concerned optimization problem.</a:t>
            </a:r>
          </a:p>
        </p:txBody>
      </p:sp>
      <p:sp>
        <p:nvSpPr>
          <p:cNvPr id="3" name="Oval 2">
            <a:extLst>
              <a:ext uri="{FF2B5EF4-FFF2-40B4-BE49-F238E27FC236}">
                <a16:creationId xmlns:a16="http://schemas.microsoft.com/office/drawing/2014/main" id="{56BA0A97-EC80-0244-A406-6422B8F0BDBC}"/>
              </a:ext>
            </a:extLst>
          </p:cNvPr>
          <p:cNvSpPr/>
          <p:nvPr/>
        </p:nvSpPr>
        <p:spPr bwMode="auto">
          <a:xfrm>
            <a:off x="4314031" y="3940616"/>
            <a:ext cx="2971800" cy="461665"/>
          </a:xfrm>
          <a:prstGeom prst="ellipse">
            <a:avLst/>
          </a:prstGeom>
          <a:noFill/>
          <a:ln w="28575"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2" charset="0"/>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2E49BCBE-ACBF-FC49-AE8E-C53EC133CF2D}"/>
                  </a:ext>
                </a:extLst>
              </p:cNvPr>
              <p:cNvSpPr/>
              <p:nvPr/>
            </p:nvSpPr>
            <p:spPr>
              <a:xfrm>
                <a:off x="2385555" y="3940616"/>
                <a:ext cx="4811958" cy="461665"/>
              </a:xfrm>
              <a:prstGeom prst="rect">
                <a:avLst/>
              </a:prstGeom>
            </p:spPr>
            <p:txBody>
              <a:bodyPr wrap="none">
                <a:spAutoFit/>
              </a:bodyPr>
              <a:lstStyle/>
              <a:p>
                <a14:m>
                  <m:oMath xmlns:m="http://schemas.openxmlformats.org/officeDocument/2006/math">
                    <m:r>
                      <a:rPr lang="en-US" dirty="0">
                        <a:solidFill>
                          <a:srgbClr val="003399"/>
                        </a:solidFill>
                        <a:latin typeface="Cambria Math" panose="02040503050406030204" pitchFamily="18" charset="0"/>
                      </a:rPr>
                      <m:t>𝑇</m:t>
                    </m:r>
                    <m:r>
                      <a:rPr lang="en-US" baseline="30000" dirty="0" err="1">
                        <a:solidFill>
                          <a:srgbClr val="003399"/>
                        </a:solidFill>
                        <a:latin typeface="Cambria Math" panose="02040503050406030204" pitchFamily="18" charset="0"/>
                      </a:rPr>
                      <m:t>𝑓</m:t>
                    </m:r>
                    <m:r>
                      <a:rPr lang="en-US" dirty="0" err="1">
                        <a:solidFill>
                          <a:srgbClr val="003399"/>
                        </a:solidFill>
                        <a:latin typeface="Cambria Math" panose="02040503050406030204" pitchFamily="18" charset="0"/>
                      </a:rPr>
                      <m:t> </m:t>
                    </m:r>
                  </m:oMath>
                </a14:m>
                <a:r>
                  <a:rPr lang="en-US" altLang="zh-CN" dirty="0">
                    <a:solidFill>
                      <a:srgbClr val="003399"/>
                    </a:solidFill>
                    <a:latin typeface="Cambria Math" panose="02040503050406030204" pitchFamily="18" charset="0"/>
                  </a:rPr>
                  <a:t>= #access * RMA cost per access</a:t>
                </a:r>
                <a:endParaRPr lang="en-US" dirty="0">
                  <a:solidFill>
                    <a:srgbClr val="003399"/>
                  </a:solidFill>
                  <a:latin typeface="Cambria Math" panose="02040503050406030204" pitchFamily="18" charset="0"/>
                </a:endParaRPr>
              </a:p>
            </p:txBody>
          </p:sp>
        </mc:Choice>
        <mc:Fallback xmlns="">
          <p:sp>
            <p:nvSpPr>
              <p:cNvPr id="4" name="Rectangle 3">
                <a:extLst>
                  <a:ext uri="{FF2B5EF4-FFF2-40B4-BE49-F238E27FC236}">
                    <a16:creationId xmlns:a16="http://schemas.microsoft.com/office/drawing/2014/main" id="{2E49BCBE-ACBF-FC49-AE8E-C53EC133CF2D}"/>
                  </a:ext>
                </a:extLst>
              </p:cNvPr>
              <p:cNvSpPr>
                <a:spLocks noRot="1" noChangeAspect="1" noMove="1" noResize="1" noEditPoints="1" noAdjustHandles="1" noChangeArrowheads="1" noChangeShapeType="1" noTextEdit="1"/>
              </p:cNvSpPr>
              <p:nvPr/>
            </p:nvSpPr>
            <p:spPr>
              <a:xfrm>
                <a:off x="2385555" y="3940616"/>
                <a:ext cx="4811958" cy="461665"/>
              </a:xfrm>
              <a:prstGeom prst="rect">
                <a:avLst/>
              </a:prstGeom>
              <a:blipFill>
                <a:blip r:embed="rId3"/>
                <a:stretch>
                  <a:fillRect l="-263" t="-7895" r="-789" b="-23684"/>
                </a:stretch>
              </a:blipFill>
            </p:spPr>
            <p:txBody>
              <a:bodyPr/>
              <a:lstStyle/>
              <a:p>
                <a:r>
                  <a:rPr lang="en-US">
                    <a:noFill/>
                  </a:rPr>
                  <a:t> </a:t>
                </a:r>
              </a:p>
            </p:txBody>
          </p:sp>
        </mc:Fallback>
      </mc:AlternateContent>
    </p:spTree>
    <p:extLst>
      <p:ext uri="{BB962C8B-B14F-4D97-AF65-F5344CB8AC3E}">
        <p14:creationId xmlns:p14="http://schemas.microsoft.com/office/powerpoint/2010/main" val="2496951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 grpId="0" animBg="1"/>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Branch and Bound Solution Overview</a:t>
            </a:r>
          </a:p>
        </p:txBody>
      </p:sp>
      <p:sp>
        <p:nvSpPr>
          <p:cNvPr id="3" name="Content Placeholder 2"/>
          <p:cNvSpPr>
            <a:spLocks noGrp="1"/>
          </p:cNvSpPr>
          <p:nvPr>
            <p:ph idx="1"/>
          </p:nvPr>
        </p:nvSpPr>
        <p:spPr/>
        <p:txBody>
          <a:bodyPr>
            <a:normAutofit/>
          </a:bodyPr>
          <a:lstStyle/>
          <a:p>
            <a:pPr marL="342900" indent="-342900">
              <a:buFont typeface="Arial" panose="020B0604020202020204" pitchFamily="34" charset="0"/>
              <a:buChar char="•"/>
            </a:pPr>
            <a:r>
              <a:rPr lang="en-US" dirty="0"/>
              <a:t>B&amp;B systematically enumerates a tree of candidate solutions, based on a bounding function. </a:t>
            </a:r>
          </a:p>
          <a:p>
            <a:pPr marL="342900" indent="-342900">
              <a:buFont typeface="Arial" panose="020B0604020202020204" pitchFamily="34" charset="0"/>
              <a:buChar char="•"/>
            </a:pPr>
            <a:r>
              <a:rPr lang="en-US" dirty="0"/>
              <a:t>Bounding function: operators remaining scheduled are free to collocate with all of its producers.</a:t>
            </a:r>
          </a:p>
          <a:p>
            <a:pPr marL="342900" indent="-342900">
              <a:buFont typeface="Arial" panose="020B0604020202020204" pitchFamily="34" charset="0"/>
              <a:buChar char="•"/>
            </a:pPr>
            <a:r>
              <a:rPr lang="en-US" dirty="0"/>
              <a:t>The searching space is still too large, and heuristics have to be applied.</a:t>
            </a:r>
          </a:p>
          <a:p>
            <a:pPr marL="717550" lvl="1" indent="-342900">
              <a:buFont typeface="Arial" panose="020B0604020202020204" pitchFamily="34" charset="0"/>
              <a:buChar char="•"/>
            </a:pPr>
            <a:r>
              <a:rPr lang="en-US" dirty="0"/>
              <a:t>Collocation heuristic</a:t>
            </a:r>
          </a:p>
          <a:p>
            <a:pPr marL="717550" lvl="1" indent="-342900">
              <a:buFont typeface="Arial" panose="020B0604020202020204" pitchFamily="34" charset="0"/>
              <a:buChar char="•"/>
            </a:pPr>
            <a:r>
              <a:rPr lang="en-US" dirty="0"/>
              <a:t>Best-fit &amp; Redundant-elimination heuristic </a:t>
            </a:r>
          </a:p>
          <a:p>
            <a:pPr marL="717550" lvl="1" indent="-342900">
              <a:buFont typeface="Arial" panose="020B0604020202020204" pitchFamily="34" charset="0"/>
              <a:buChar char="•"/>
            </a:pPr>
            <a:r>
              <a:rPr lang="en-US" dirty="0"/>
              <a:t>Compress graph </a:t>
            </a:r>
          </a:p>
        </p:txBody>
      </p:sp>
      <p:sp>
        <p:nvSpPr>
          <p:cNvPr id="7" name="Rectangle 6"/>
          <p:cNvSpPr/>
          <p:nvPr/>
        </p:nvSpPr>
        <p:spPr>
          <a:xfrm>
            <a:off x="1342231" y="6565125"/>
            <a:ext cx="7600975" cy="369075"/>
          </a:xfrm>
          <a:prstGeom prst="rect">
            <a:avLst/>
          </a:prstGeom>
          <a:ln>
            <a:noFill/>
          </a:ln>
        </p:spPr>
        <p:txBody>
          <a:bodyPr wrap="square">
            <a:spAutoFit/>
          </a:bodyPr>
          <a:lstStyle/>
          <a:p>
            <a:pPr>
              <a:lnSpc>
                <a:spcPct val="90000"/>
              </a:lnSpc>
              <a:spcBef>
                <a:spcPts val="833"/>
              </a:spcBef>
              <a:buFont typeface="Wingdings" panose="05000000000000000000" pitchFamily="2" charset="2"/>
            </a:pPr>
            <a:r>
              <a:rPr lang="en-US" sz="1998" dirty="0">
                <a:solidFill>
                  <a:srgbClr val="FF0000"/>
                </a:solidFill>
                <a:latin typeface="Comic Sans MS" charset="0"/>
                <a:ea typeface="ＭＳ Ｐゴシック" charset="0"/>
                <a:cs typeface="ＭＳ Ｐゴシック" charset="0"/>
              </a:rPr>
              <a:t>Please checkout our paper for the detailed algorithms</a:t>
            </a:r>
          </a:p>
        </p:txBody>
      </p:sp>
    </p:spTree>
    <p:extLst>
      <p:ext uri="{BB962C8B-B14F-4D97-AF65-F5344CB8AC3E}">
        <p14:creationId xmlns:p14="http://schemas.microsoft.com/office/powerpoint/2010/main" val="784923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BriskStream</a:t>
            </a:r>
            <a:r>
              <a:rPr lang="zh-CN" altLang="en-US" sz="4000" dirty="0"/>
              <a:t> </a:t>
            </a:r>
            <a:r>
              <a:rPr lang="en-US" altLang="zh-CN" sz="4000" dirty="0"/>
              <a:t>Implementation</a:t>
            </a:r>
            <a:endParaRPr lang="en-US" sz="40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dirty="0"/>
                  <a:t>Optimized for shared-memory multicore architecture.</a:t>
                </a:r>
              </a:p>
              <a:p>
                <a:pPr marL="831850" lvl="1" indent="-457200">
                  <a:buFont typeface="Arial" panose="020B0604020202020204" pitchFamily="34" charset="0"/>
                  <a:buChar char="•"/>
                </a:pPr>
                <a:r>
                  <a:rPr lang="en-US" dirty="0"/>
                  <a:t>Reduced instruction footprint (reduce </a:t>
                </a:r>
                <a14:m>
                  <m:oMath xmlns:m="http://schemas.openxmlformats.org/officeDocument/2006/math">
                    <m:r>
                      <a:rPr lang="en-US" i="1" dirty="0" smtClean="0">
                        <a:latin typeface="Cambria Math" panose="02040503050406030204" pitchFamily="18" charset="0"/>
                      </a:rPr>
                      <m:t>𝑇</m:t>
                    </m:r>
                    <m:r>
                      <a:rPr lang="en-US" i="1" baseline="30000" dirty="0" err="1" smtClean="0">
                        <a:latin typeface="Cambria Math" panose="02040503050406030204" pitchFamily="18" charset="0"/>
                      </a:rPr>
                      <m:t>𝑒</m:t>
                    </m:r>
                  </m:oMath>
                </a14:m>
                <a:r>
                  <a:rPr lang="en-US" dirty="0"/>
                  <a:t>).</a:t>
                </a:r>
              </a:p>
              <a:p>
                <a:pPr marL="831850" lvl="1" indent="-457200">
                  <a:buFont typeface="Arial" panose="020B0604020202020204" pitchFamily="34" charset="0"/>
                  <a:buChar char="•"/>
                </a:pPr>
                <a:r>
                  <a:rPr lang="en-US" dirty="0"/>
                  <a:t>Improved communication mechanism (reduce </a:t>
                </a:r>
                <a14:m>
                  <m:oMath xmlns:m="http://schemas.openxmlformats.org/officeDocument/2006/math">
                    <m:r>
                      <a:rPr lang="en-US" i="1" dirty="0" smtClean="0">
                        <a:latin typeface="Cambria Math" panose="02040503050406030204" pitchFamily="18" charset="0"/>
                      </a:rPr>
                      <m:t>𝑇</m:t>
                    </m:r>
                    <m:r>
                      <a:rPr lang="en-US" i="1" baseline="30000" dirty="0" err="1" smtClean="0">
                        <a:latin typeface="Cambria Math" panose="02040503050406030204" pitchFamily="18" charset="0"/>
                      </a:rPr>
                      <m:t>𝑒</m:t>
                    </m:r>
                  </m:oMath>
                </a14:m>
                <a:r>
                  <a:rPr lang="en-US" dirty="0" err="1"/>
                  <a:t>,</a:t>
                </a:r>
                <a:r>
                  <a:rPr lang="en-US" dirty="0"/>
                  <a:t> </a:t>
                </a:r>
                <a14:m>
                  <m:oMath xmlns:m="http://schemas.openxmlformats.org/officeDocument/2006/math">
                    <m:r>
                      <a:rPr lang="en-US" b="0" i="0" dirty="0" smtClean="0">
                        <a:latin typeface="Cambria Math" panose="02040503050406030204" pitchFamily="18" charset="0"/>
                      </a:rPr>
                      <m:t>  </m:t>
                    </m:r>
                    <m:r>
                      <a:rPr lang="en-US" i="1" dirty="0" smtClean="0">
                        <a:latin typeface="Cambria Math" panose="02040503050406030204" pitchFamily="18" charset="0"/>
                      </a:rPr>
                      <m:t>𝑇</m:t>
                    </m:r>
                    <m:r>
                      <a:rPr lang="en-US" i="1" baseline="30000" dirty="0" err="1" smtClean="0">
                        <a:latin typeface="Cambria Math" panose="02040503050406030204" pitchFamily="18" charset="0"/>
                      </a:rPr>
                      <m:t>𝑓</m:t>
                    </m:r>
                  </m:oMath>
                </a14:m>
                <a:r>
                  <a:rPr lang="en-US" dirty="0"/>
                  <a:t>).</a:t>
                </a:r>
              </a:p>
              <a:p>
                <a:pPr marL="342900" indent="-342900">
                  <a:buFont typeface="Arial" panose="020B0604020202020204" pitchFamily="34" charset="0"/>
                  <a:buChar char="•"/>
                </a:pPr>
                <a:r>
                  <a:rPr lang="en-US" dirty="0"/>
                  <a:t>Integrated RLAS optimization framework.</a:t>
                </a:r>
              </a:p>
              <a:p>
                <a:pPr marL="831850" lvl="1" indent="-457200">
                  <a:buFont typeface="Arial" panose="020B0604020202020204" pitchFamily="34" charset="0"/>
                  <a:buChar char="•"/>
                </a:pPr>
                <a:r>
                  <a:rPr lang="en-US" dirty="0"/>
                  <a:t>Performance model.</a:t>
                </a:r>
              </a:p>
              <a:p>
                <a:pPr marL="1212850" lvl="2" indent="-457200">
                  <a:buFont typeface="Arial" panose="020B0604020202020204" pitchFamily="34" charset="0"/>
                  <a:buChar char="•"/>
                </a:pPr>
                <a:r>
                  <a:rPr lang="en-US" dirty="0"/>
                  <a:t>Profiling frameworks.</a:t>
                </a:r>
              </a:p>
              <a:p>
                <a:pPr marL="831850" lvl="1" indent="-457200">
                  <a:buFont typeface="Arial" panose="020B0604020202020204" pitchFamily="34" charset="0"/>
                  <a:buChar char="•"/>
                </a:pPr>
                <a:r>
                  <a:rPr lang="en-US" dirty="0"/>
                  <a:t>Optimization Algorithms.</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29" t="-1070"/>
                </a:stretch>
              </a:blipFill>
            </p:spPr>
            <p:txBody>
              <a:bodyPr/>
              <a:lstStyle/>
              <a:p>
                <a:r>
                  <a:rPr lang="en-US">
                    <a:noFill/>
                  </a:rPr>
                  <a:t> </a:t>
                </a:r>
              </a:p>
            </p:txBody>
          </p:sp>
        </mc:Fallback>
      </mc:AlternateContent>
      <p:sp>
        <p:nvSpPr>
          <p:cNvPr id="4" name="Rectangle 3"/>
          <p:cNvSpPr/>
          <p:nvPr/>
        </p:nvSpPr>
        <p:spPr>
          <a:xfrm>
            <a:off x="1113630" y="6039400"/>
            <a:ext cx="8125619" cy="757130"/>
          </a:xfrm>
          <a:prstGeom prst="rect">
            <a:avLst/>
          </a:prstGeom>
          <a:ln>
            <a:noFill/>
          </a:ln>
        </p:spPr>
        <p:txBody>
          <a:bodyPr wrap="square">
            <a:spAutoFit/>
          </a:bodyPr>
          <a:lstStyle/>
          <a:p>
            <a:pPr>
              <a:lnSpc>
                <a:spcPct val="90000"/>
              </a:lnSpc>
              <a:spcBef>
                <a:spcPts val="831"/>
              </a:spcBef>
            </a:pPr>
            <a:r>
              <a:rPr lang="en-US" dirty="0">
                <a:solidFill>
                  <a:srgbClr val="FF0000"/>
                </a:solidFill>
                <a:latin typeface="Comic Sans MS" charset="0"/>
                <a:ea typeface="ＭＳ Ｐゴシック" charset="0"/>
                <a:cs typeface="ＭＳ Ｐゴシック" charset="0"/>
              </a:rPr>
              <a:t>Please checkout the implementation detail in https://</a:t>
            </a:r>
            <a:r>
              <a:rPr lang="en-US" dirty="0" err="1">
                <a:solidFill>
                  <a:srgbClr val="FF0000"/>
                </a:solidFill>
                <a:latin typeface="Comic Sans MS" charset="0"/>
                <a:ea typeface="ＭＳ Ｐゴシック" charset="0"/>
                <a:cs typeface="ＭＳ Ｐゴシック" charset="0"/>
              </a:rPr>
              <a:t>github.com</a:t>
            </a:r>
            <a:r>
              <a:rPr lang="en-US" dirty="0">
                <a:solidFill>
                  <a:srgbClr val="FF0000"/>
                </a:solidFill>
                <a:latin typeface="Comic Sans MS" charset="0"/>
                <a:ea typeface="ＭＳ Ｐゴシック" charset="0"/>
                <a:cs typeface="ＭＳ Ｐゴシック" charset="0"/>
              </a:rPr>
              <a:t>/</a:t>
            </a:r>
            <a:r>
              <a:rPr lang="en-US" dirty="0" err="1">
                <a:solidFill>
                  <a:srgbClr val="FF0000"/>
                </a:solidFill>
                <a:latin typeface="Comic Sans MS" charset="0"/>
                <a:ea typeface="ＭＳ Ｐゴシック" charset="0"/>
                <a:cs typeface="ＭＳ Ｐゴシック" charset="0"/>
              </a:rPr>
              <a:t>ShuhaoZhangTony</a:t>
            </a:r>
            <a:r>
              <a:rPr lang="en-US" dirty="0">
                <a:solidFill>
                  <a:srgbClr val="FF0000"/>
                </a:solidFill>
                <a:latin typeface="Comic Sans MS" charset="0"/>
                <a:ea typeface="ＭＳ Ｐゴシック" charset="0"/>
                <a:cs typeface="ＭＳ Ｐゴシック" charset="0"/>
              </a:rPr>
              <a:t>/</a:t>
            </a:r>
            <a:r>
              <a:rPr lang="en-US" dirty="0" err="1">
                <a:solidFill>
                  <a:srgbClr val="FF0000"/>
                </a:solidFill>
                <a:latin typeface="Comic Sans MS" charset="0"/>
                <a:ea typeface="ＭＳ Ｐゴシック" charset="0"/>
                <a:cs typeface="ＭＳ Ｐゴシック" charset="0"/>
              </a:rPr>
              <a:t>briskstream</a:t>
            </a:r>
            <a:endParaRPr lang="en-US" dirty="0">
              <a:solidFill>
                <a:srgbClr val="FF0000"/>
              </a:solidFill>
              <a:latin typeface="Comic Sans MS" charset="0"/>
              <a:ea typeface="ＭＳ Ｐゴシック" charset="0"/>
              <a:cs typeface="ＭＳ Ｐゴシック" charset="0"/>
            </a:endParaRPr>
          </a:p>
        </p:txBody>
      </p:sp>
    </p:spTree>
    <p:extLst>
      <p:ext uri="{BB962C8B-B14F-4D97-AF65-F5344CB8AC3E}">
        <p14:creationId xmlns:p14="http://schemas.microsoft.com/office/powerpoint/2010/main" val="2938674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5">
            <a:extLst>
              <a:ext uri="{FF2B5EF4-FFF2-40B4-BE49-F238E27FC236}">
                <a16:creationId xmlns:a16="http://schemas.microsoft.com/office/drawing/2014/main" id="{608C40F7-9281-8A43-9285-1E68E97E8744}"/>
              </a:ext>
            </a:extLst>
          </p:cNvPr>
          <p:cNvSpPr>
            <a:spLocks noGrp="1"/>
          </p:cNvSpPr>
          <p:nvPr>
            <p:ph type="ftr" sz="quarter" idx="12"/>
          </p:nvPr>
        </p:nvSpPr>
        <p:spPr/>
        <p:txBody>
          <a:bodyPr/>
          <a:lstStyle/>
          <a:p>
            <a:endParaRPr lang="en-GB" altLang="en-US"/>
          </a:p>
          <a:p>
            <a:endParaRPr lang="en-GB" altLang="en-US"/>
          </a:p>
        </p:txBody>
      </p:sp>
      <p:sp>
        <p:nvSpPr>
          <p:cNvPr id="14338" name="Rectangle 2">
            <a:extLst>
              <a:ext uri="{FF2B5EF4-FFF2-40B4-BE49-F238E27FC236}">
                <a16:creationId xmlns:a16="http://schemas.microsoft.com/office/drawing/2014/main" id="{7B85D8F9-2B91-ED47-B4F1-78197046B3B7}"/>
              </a:ext>
            </a:extLst>
          </p:cNvPr>
          <p:cNvSpPr>
            <a:spLocks noGrp="1" noChangeArrowheads="1"/>
          </p:cNvSpPr>
          <p:nvPr>
            <p:ph type="title"/>
          </p:nvPr>
        </p:nvSpPr>
        <p:spPr/>
        <p:txBody>
          <a:bodyPr/>
          <a:lstStyle/>
          <a:p>
            <a:r>
              <a:rPr lang="en-US" dirty="0"/>
              <a:t>Outline</a:t>
            </a:r>
            <a:endParaRPr lang="en-GB" altLang="en-US" dirty="0"/>
          </a:p>
        </p:txBody>
      </p:sp>
      <p:sp>
        <p:nvSpPr>
          <p:cNvPr id="14339" name="Rectangle 3">
            <a:extLst>
              <a:ext uri="{FF2B5EF4-FFF2-40B4-BE49-F238E27FC236}">
                <a16:creationId xmlns:a16="http://schemas.microsoft.com/office/drawing/2014/main" id="{9E153C3C-1718-7747-AED1-F46255C2D4B2}"/>
              </a:ext>
            </a:extLst>
          </p:cNvPr>
          <p:cNvSpPr>
            <a:spLocks noGrp="1" noChangeArrowheads="1"/>
          </p:cNvSpPr>
          <p:nvPr>
            <p:ph type="body" idx="1"/>
          </p:nvPr>
        </p:nvSpPr>
        <p:spPr/>
        <p:txBody>
          <a:bodyPr/>
          <a:lstStyle/>
          <a:p>
            <a:pPr marL="342900" indent="-342900">
              <a:buFont typeface="Arial" panose="020B0604020202020204" pitchFamily="34" charset="0"/>
              <a:buChar char="•"/>
            </a:pPr>
            <a:r>
              <a:rPr lang="en-GB" altLang="en-US" dirty="0">
                <a:solidFill>
                  <a:schemeClr val="bg1">
                    <a:lumMod val="50000"/>
                  </a:schemeClr>
                </a:solidFill>
              </a:rPr>
              <a:t>Motivation</a:t>
            </a:r>
          </a:p>
          <a:p>
            <a:pPr marL="342900" indent="-342900">
              <a:buFont typeface="Arial" panose="020B0604020202020204" pitchFamily="34" charset="0"/>
              <a:buChar char="•"/>
            </a:pPr>
            <a:r>
              <a:rPr lang="en-GB" altLang="en-US" dirty="0">
                <a:solidFill>
                  <a:schemeClr val="bg1">
                    <a:lumMod val="50000"/>
                  </a:schemeClr>
                </a:solidFill>
              </a:rPr>
              <a:t>Performance Model </a:t>
            </a:r>
          </a:p>
          <a:p>
            <a:pPr marL="342900" indent="-342900">
              <a:buFont typeface="Arial" panose="020B0604020202020204" pitchFamily="34" charset="0"/>
              <a:buChar char="•"/>
            </a:pPr>
            <a:r>
              <a:rPr lang="en-GB" altLang="en-US" dirty="0">
                <a:solidFill>
                  <a:schemeClr val="bg1">
                    <a:lumMod val="50000"/>
                  </a:schemeClr>
                </a:solidFill>
              </a:rPr>
              <a:t>Algorithm Design</a:t>
            </a:r>
          </a:p>
          <a:p>
            <a:pPr marL="342900" indent="-342900">
              <a:buFont typeface="Arial" panose="020B0604020202020204" pitchFamily="34" charset="0"/>
              <a:buChar char="•"/>
            </a:pPr>
            <a:r>
              <a:rPr lang="en-GB" altLang="en-US" sz="2400" dirty="0">
                <a:cs typeface="Apple Chancery" charset="0"/>
              </a:rPr>
              <a:t>Experimental Results</a:t>
            </a:r>
          </a:p>
        </p:txBody>
      </p:sp>
      <p:pic>
        <p:nvPicPr>
          <p:cNvPr id="6" name="Picture 5">
            <a:extLst>
              <a:ext uri="{FF2B5EF4-FFF2-40B4-BE49-F238E27FC236}">
                <a16:creationId xmlns:a16="http://schemas.microsoft.com/office/drawing/2014/main" id="{F2FBA0EA-0895-1642-8813-5AF43BDF42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1640" y="4026694"/>
            <a:ext cx="4297075" cy="2710586"/>
          </a:xfrm>
          <a:prstGeom prst="rect">
            <a:avLst/>
          </a:prstGeom>
        </p:spPr>
      </p:pic>
      <p:sp>
        <p:nvSpPr>
          <p:cNvPr id="7" name="Content Placeholder 10">
            <a:extLst>
              <a:ext uri="{FF2B5EF4-FFF2-40B4-BE49-F238E27FC236}">
                <a16:creationId xmlns:a16="http://schemas.microsoft.com/office/drawing/2014/main" id="{1A70CAE9-BB69-C44A-9470-19DA332EA8B2}"/>
              </a:ext>
            </a:extLst>
          </p:cNvPr>
          <p:cNvSpPr txBox="1">
            <a:spLocks/>
          </p:cNvSpPr>
          <p:nvPr/>
        </p:nvSpPr>
        <p:spPr>
          <a:xfrm>
            <a:off x="5678657" y="6819830"/>
            <a:ext cx="3223039" cy="372143"/>
          </a:xfrm>
          <a:prstGeom prst="rect">
            <a:avLst/>
          </a:prstGeom>
          <a:ln>
            <a:noFill/>
          </a:ln>
        </p:spPr>
        <p:txBody>
          <a:bodyPr vert="horz" lIns="75962" tIns="37981" rIns="75962" bIns="37981"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v"/>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Wingdings" panose="05000000000000000000" pitchFamily="2" charset="2"/>
              <a:buChar char="v"/>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Wingdings" panose="05000000000000000000" pitchFamily="2" charset="2"/>
              <a:buChar char="v"/>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58" dirty="0">
                <a:solidFill>
                  <a:srgbClr val="FF0000"/>
                </a:solidFill>
                <a:latin typeface="Comic Sans MS" charset="0"/>
                <a:ea typeface="ＭＳ Ｐゴシック" charset="0"/>
              </a:rPr>
              <a:t>144 cores (w/o HT)</a:t>
            </a:r>
            <a:endParaRPr lang="en-US" sz="3987" dirty="0"/>
          </a:p>
        </p:txBody>
      </p:sp>
    </p:spTree>
    <p:extLst>
      <p:ext uri="{BB962C8B-B14F-4D97-AF65-F5344CB8AC3E}">
        <p14:creationId xmlns:p14="http://schemas.microsoft.com/office/powerpoint/2010/main" val="29490227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Why not assume fixed T(P)?</a:t>
            </a:r>
          </a:p>
        </p:txBody>
      </p:sp>
      <p:graphicFrame>
        <p:nvGraphicFramePr>
          <p:cNvPr id="28" name="Chart 27"/>
          <p:cNvGraphicFramePr>
            <a:graphicFrameLocks/>
          </p:cNvGraphicFramePr>
          <p:nvPr>
            <p:extLst>
              <p:ext uri="{D42A27DB-BD31-4B8C-83A1-F6EECF244321}">
                <p14:modId xmlns:p14="http://schemas.microsoft.com/office/powerpoint/2010/main" val="4283664921"/>
              </p:ext>
            </p:extLst>
          </p:nvPr>
        </p:nvGraphicFramePr>
        <p:xfrm>
          <a:off x="211550" y="1969294"/>
          <a:ext cx="5169281" cy="3276600"/>
        </p:xfrm>
        <a:graphic>
          <a:graphicData uri="http://schemas.openxmlformats.org/drawingml/2006/chart">
            <c:chart xmlns:c="http://schemas.openxmlformats.org/drawingml/2006/chart" xmlns:r="http://schemas.openxmlformats.org/officeDocument/2006/relationships" r:id="rId3"/>
          </a:graphicData>
        </a:graphic>
      </p:graphicFrame>
      <p:sp>
        <p:nvSpPr>
          <p:cNvPr id="33" name="Rectangle 32"/>
          <p:cNvSpPr/>
          <p:nvPr/>
        </p:nvSpPr>
        <p:spPr>
          <a:xfrm>
            <a:off x="211550" y="5635990"/>
            <a:ext cx="4564429" cy="997196"/>
          </a:xfrm>
          <a:prstGeom prst="rect">
            <a:avLst/>
          </a:prstGeom>
          <a:ln>
            <a:noFill/>
          </a:ln>
        </p:spPr>
        <p:txBody>
          <a:bodyPr wrap="square" lIns="0" tIns="0" rIns="0" bIns="0">
            <a:spAutoFit/>
          </a:bodyPr>
          <a:lstStyle/>
          <a:p>
            <a:pPr>
              <a:lnSpc>
                <a:spcPct val="90000"/>
              </a:lnSpc>
              <a:spcBef>
                <a:spcPts val="831"/>
              </a:spcBef>
            </a:pPr>
            <a:r>
              <a:rPr lang="zh-CN" altLang="en-US" dirty="0">
                <a:latin typeface="Comic Sans MS" charset="0"/>
                <a:ea typeface="ＭＳ Ｐゴシック" charset="0"/>
                <a:cs typeface="ＭＳ Ｐゴシック" charset="0"/>
              </a:rPr>
              <a:t>（</a:t>
            </a:r>
            <a:r>
              <a:rPr lang="en-US" altLang="zh-CN" dirty="0">
                <a:latin typeface="Comic Sans MS" charset="0"/>
                <a:ea typeface="ＭＳ Ｐゴシック" charset="0"/>
                <a:cs typeface="ＭＳ Ｐゴシック" charset="0"/>
              </a:rPr>
              <a:t>1</a:t>
            </a:r>
            <a:r>
              <a:rPr lang="zh-CN" altLang="en-US" dirty="0">
                <a:latin typeface="Comic Sans MS" charset="0"/>
                <a:ea typeface="ＭＳ Ｐゴシック" charset="0"/>
                <a:cs typeface="ＭＳ Ｐゴシック" charset="0"/>
              </a:rPr>
              <a:t>） </a:t>
            </a:r>
            <a:r>
              <a:rPr lang="en-US" altLang="zh-CN" dirty="0">
                <a:latin typeface="Comic Sans MS" charset="0"/>
                <a:ea typeface="ＭＳ Ｐゴシック" charset="0"/>
                <a:cs typeface="ＭＳ Ｐゴシック" charset="0"/>
              </a:rPr>
              <a:t>RLAS_fix(L) assumes RMA overhead always present, and underutilize HW resources</a:t>
            </a:r>
            <a:endParaRPr lang="en-US" dirty="0">
              <a:latin typeface="Comic Sans MS" charset="0"/>
              <a:ea typeface="ＭＳ Ｐゴシック" charset="0"/>
              <a:cs typeface="ＭＳ Ｐゴシック" charset="0"/>
            </a:endParaRPr>
          </a:p>
        </p:txBody>
      </p:sp>
      <p:sp>
        <p:nvSpPr>
          <p:cNvPr id="34" name="Rectangle 33"/>
          <p:cNvSpPr/>
          <p:nvPr/>
        </p:nvSpPr>
        <p:spPr>
          <a:xfrm>
            <a:off x="4916061" y="5635990"/>
            <a:ext cx="5236002" cy="1329595"/>
          </a:xfrm>
          <a:prstGeom prst="rect">
            <a:avLst/>
          </a:prstGeom>
          <a:ln>
            <a:noFill/>
          </a:ln>
        </p:spPr>
        <p:txBody>
          <a:bodyPr wrap="square" lIns="0" tIns="0" rIns="0" bIns="0">
            <a:spAutoFit/>
          </a:bodyPr>
          <a:lstStyle/>
          <a:p>
            <a:pPr>
              <a:lnSpc>
                <a:spcPct val="90000"/>
              </a:lnSpc>
              <a:spcBef>
                <a:spcPts val="831"/>
              </a:spcBef>
            </a:pPr>
            <a:r>
              <a:rPr lang="zh-CN" altLang="en-US" dirty="0">
                <a:latin typeface="Comic Sans MS" charset="0"/>
                <a:ea typeface="ＭＳ Ｐゴシック" charset="0"/>
                <a:cs typeface="ＭＳ Ｐゴシック" charset="0"/>
              </a:rPr>
              <a:t>（</a:t>
            </a:r>
            <a:r>
              <a:rPr lang="en-US" altLang="zh-CN" dirty="0">
                <a:latin typeface="Comic Sans MS" charset="0"/>
                <a:ea typeface="ＭＳ Ｐゴシック" charset="0"/>
                <a:cs typeface="ＭＳ Ｐゴシック" charset="0"/>
              </a:rPr>
              <a:t>2</a:t>
            </a:r>
            <a:r>
              <a:rPr lang="zh-CN" altLang="en-US" dirty="0">
                <a:latin typeface="Comic Sans MS" charset="0"/>
                <a:ea typeface="ＭＳ Ｐゴシック" charset="0"/>
                <a:cs typeface="ＭＳ Ｐゴシック" charset="0"/>
              </a:rPr>
              <a:t>）</a:t>
            </a:r>
            <a:r>
              <a:rPr lang="en-US" altLang="zh-CN" dirty="0">
                <a:latin typeface="Comic Sans MS" charset="0"/>
                <a:ea typeface="ＭＳ Ｐゴシック" charset="0"/>
                <a:cs typeface="ＭＳ Ｐゴシック" charset="0"/>
              </a:rPr>
              <a:t>RLAS_fix(U) ignores RMA overhead completely, and mislead optimization process to involve severely interference</a:t>
            </a:r>
            <a:endParaRPr lang="en-US" dirty="0">
              <a:latin typeface="Comic Sans MS" charset="0"/>
              <a:ea typeface="ＭＳ Ｐゴシック" charset="0"/>
              <a:cs typeface="ＭＳ Ｐゴシック" charset="0"/>
            </a:endParaRPr>
          </a:p>
        </p:txBody>
      </p:sp>
      <p:sp>
        <p:nvSpPr>
          <p:cNvPr id="3" name="Rectangle 2">
            <a:extLst>
              <a:ext uri="{FF2B5EF4-FFF2-40B4-BE49-F238E27FC236}">
                <a16:creationId xmlns:a16="http://schemas.microsoft.com/office/drawing/2014/main" id="{8EAC6C36-964F-8149-A88E-16648399954C}"/>
              </a:ext>
            </a:extLst>
          </p:cNvPr>
          <p:cNvSpPr/>
          <p:nvPr/>
        </p:nvSpPr>
        <p:spPr>
          <a:xfrm>
            <a:off x="5380831" y="2181225"/>
            <a:ext cx="4648200" cy="1938992"/>
          </a:xfrm>
          <a:prstGeom prst="rect">
            <a:avLst/>
          </a:prstGeom>
        </p:spPr>
        <p:txBody>
          <a:bodyPr wrap="square">
            <a:spAutoFit/>
          </a:bodyPr>
          <a:lstStyle/>
          <a:p>
            <a:pPr marL="342900" indent="-342900">
              <a:buFont typeface="Arial" panose="020B0604020202020204" pitchFamily="34" charset="0"/>
              <a:buChar char="•"/>
            </a:pPr>
            <a:r>
              <a:rPr lang="en-US" altLang="zh-CN" dirty="0">
                <a:latin typeface="Comic Sans MS" charset="0"/>
                <a:ea typeface="ＭＳ Ｐゴシック" charset="0"/>
                <a:cs typeface="ＭＳ Ｐゴシック" charset="0"/>
              </a:rPr>
              <a:t>RLAS stands for our optimization scheme.</a:t>
            </a:r>
          </a:p>
          <a:p>
            <a:pPr marL="342900" indent="-342900">
              <a:buFont typeface="Arial" panose="020B0604020202020204" pitchFamily="34" charset="0"/>
              <a:buChar char="•"/>
            </a:pPr>
            <a:endParaRPr lang="en-US" altLang="zh-CN" dirty="0">
              <a:latin typeface="Comic Sans MS" charset="0"/>
              <a:ea typeface="ＭＳ Ｐゴシック" charset="0"/>
              <a:cs typeface="ＭＳ Ｐゴシック" charset="0"/>
            </a:endParaRPr>
          </a:p>
          <a:p>
            <a:pPr marL="342900" indent="-342900">
              <a:buFont typeface="Arial" panose="020B0604020202020204" pitchFamily="34" charset="0"/>
              <a:buChar char="•"/>
            </a:pPr>
            <a:r>
              <a:rPr lang="en-US" dirty="0">
                <a:latin typeface="Comic Sans MS" charset="0"/>
                <a:ea typeface="ＭＳ Ｐゴシック" charset="0"/>
              </a:rPr>
              <a:t>RLAS_fix ignores relative-location-aware.</a:t>
            </a:r>
            <a:endParaRPr lang="en-US" dirty="0"/>
          </a:p>
        </p:txBody>
      </p:sp>
    </p:spTree>
    <p:extLst>
      <p:ext uri="{BB962C8B-B14F-4D97-AF65-F5344CB8AC3E}">
        <p14:creationId xmlns:p14="http://schemas.microsoft.com/office/powerpoint/2010/main" val="3038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Why do we need a model?</a:t>
            </a:r>
          </a:p>
        </p:txBody>
      </p:sp>
      <p:sp>
        <p:nvSpPr>
          <p:cNvPr id="12" name="Rectangle 11"/>
          <p:cNvSpPr/>
          <p:nvPr/>
        </p:nvSpPr>
        <p:spPr>
          <a:xfrm>
            <a:off x="1298953" y="6206575"/>
            <a:ext cx="7741987" cy="757130"/>
          </a:xfrm>
          <a:prstGeom prst="rect">
            <a:avLst/>
          </a:prstGeom>
          <a:ln>
            <a:noFill/>
          </a:ln>
        </p:spPr>
        <p:txBody>
          <a:bodyPr wrap="square">
            <a:spAutoFit/>
          </a:bodyPr>
          <a:lstStyle/>
          <a:p>
            <a:pPr>
              <a:lnSpc>
                <a:spcPct val="90000"/>
              </a:lnSpc>
              <a:spcBef>
                <a:spcPts val="833"/>
              </a:spcBef>
            </a:pPr>
            <a:r>
              <a:rPr lang="en-US" dirty="0">
                <a:solidFill>
                  <a:srgbClr val="FF0000"/>
                </a:solidFill>
                <a:latin typeface="Comic Sans MS" charset="0"/>
                <a:ea typeface="ＭＳ Ｐゴシック" charset="0"/>
                <a:cs typeface="ＭＳ Ｐゴシック" charset="0"/>
              </a:rPr>
              <a:t>Random plans hurt the performance in a high probability due to the huge optimization space. </a:t>
            </a:r>
          </a:p>
        </p:txBody>
      </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99431" y="2181225"/>
            <a:ext cx="6250053" cy="3515655"/>
          </a:xfrm>
        </p:spPr>
      </p:pic>
      <p:sp>
        <p:nvSpPr>
          <p:cNvPr id="9" name="Rectangle 8"/>
          <p:cNvSpPr/>
          <p:nvPr/>
        </p:nvSpPr>
        <p:spPr>
          <a:xfrm>
            <a:off x="2561431" y="2836293"/>
            <a:ext cx="2608516" cy="23334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8"/>
          </a:p>
        </p:txBody>
      </p:sp>
    </p:spTree>
    <p:extLst>
      <p:ext uri="{BB962C8B-B14F-4D97-AF65-F5344CB8AC3E}">
        <p14:creationId xmlns:p14="http://schemas.microsoft.com/office/powerpoint/2010/main" val="2312054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Why not simple heuristics? (1)</a:t>
            </a:r>
          </a:p>
        </p:txBody>
      </p:sp>
      <p:sp>
        <p:nvSpPr>
          <p:cNvPr id="5" name="Slide Number Placeholder 4"/>
          <p:cNvSpPr>
            <a:spLocks noGrp="1"/>
          </p:cNvSpPr>
          <p:nvPr>
            <p:ph type="sldNum" sz="quarter" idx="12"/>
          </p:nvPr>
        </p:nvSpPr>
        <p:spPr/>
        <p:txBody>
          <a:bodyPr/>
          <a:lstStyle/>
          <a:p>
            <a:fld id="{12D8FB24-4664-4497-A38E-DB90968F7542}" type="slidenum">
              <a:rPr lang="en-US" smtClean="0"/>
              <a:t>22</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9504" y="2247349"/>
            <a:ext cx="3733503" cy="2798482"/>
          </a:xfrm>
          <a:prstGeom prst="rect">
            <a:avLst/>
          </a:prstGeom>
        </p:spPr>
      </p:pic>
      <p:sp>
        <p:nvSpPr>
          <p:cNvPr id="10" name="Content Placeholder 10"/>
          <p:cNvSpPr>
            <a:spLocks noGrp="1"/>
          </p:cNvSpPr>
          <p:nvPr>
            <p:ph idx="1"/>
          </p:nvPr>
        </p:nvSpPr>
        <p:spPr>
          <a:xfrm>
            <a:off x="5873919" y="2462992"/>
            <a:ext cx="3922269" cy="1459244"/>
          </a:xfrm>
        </p:spPr>
        <p:txBody>
          <a:bodyPr>
            <a:normAutofit/>
          </a:bodyPr>
          <a:lstStyle/>
          <a:p>
            <a:endParaRPr lang="en-US" sz="1665" dirty="0"/>
          </a:p>
          <a:p>
            <a:endParaRPr lang="en-US" sz="1665" dirty="0"/>
          </a:p>
        </p:txBody>
      </p:sp>
      <p:sp>
        <p:nvSpPr>
          <p:cNvPr id="12" name="Rectangle 11"/>
          <p:cNvSpPr/>
          <p:nvPr/>
        </p:nvSpPr>
        <p:spPr>
          <a:xfrm>
            <a:off x="1631175" y="5398072"/>
            <a:ext cx="6962737" cy="1589409"/>
          </a:xfrm>
          <a:prstGeom prst="rect">
            <a:avLst/>
          </a:prstGeom>
          <a:ln>
            <a:noFill/>
          </a:ln>
        </p:spPr>
        <p:txBody>
          <a:bodyPr wrap="square">
            <a:spAutoFit/>
          </a:bodyPr>
          <a:lstStyle/>
          <a:p>
            <a:pPr>
              <a:lnSpc>
                <a:spcPct val="90000"/>
              </a:lnSpc>
              <a:spcBef>
                <a:spcPts val="833"/>
              </a:spcBef>
            </a:pPr>
            <a:r>
              <a:rPr lang="en-US" altLang="zh-CN" sz="2332" dirty="0">
                <a:solidFill>
                  <a:srgbClr val="FF0000"/>
                </a:solidFill>
                <a:latin typeface="Comic Sans MS" charset="0"/>
                <a:ea typeface="ＭＳ Ｐゴシック" charset="0"/>
                <a:cs typeface="ＭＳ Ｐゴシック" charset="0"/>
              </a:rPr>
              <a:t>Heuristic approaches commonly used in distributed environment</a:t>
            </a:r>
          </a:p>
          <a:p>
            <a:pPr marL="380710" indent="-380710">
              <a:lnSpc>
                <a:spcPct val="90000"/>
              </a:lnSpc>
              <a:spcBef>
                <a:spcPts val="833"/>
              </a:spcBef>
              <a:buFont typeface="Arial" charset="0"/>
              <a:buChar char="•"/>
            </a:pPr>
            <a:r>
              <a:rPr lang="en-US" altLang="zh-CN" sz="2332" dirty="0">
                <a:solidFill>
                  <a:srgbClr val="FF0000"/>
                </a:solidFill>
                <a:latin typeface="Comic Sans MS" charset="0"/>
                <a:ea typeface="ＭＳ Ｐゴシック" charset="0"/>
                <a:cs typeface="ＭＳ Ｐゴシック" charset="0"/>
              </a:rPr>
              <a:t>either oversubscribe a few CPU sockets (FF) </a:t>
            </a:r>
          </a:p>
          <a:p>
            <a:pPr marL="380710" indent="-380710">
              <a:lnSpc>
                <a:spcPct val="90000"/>
              </a:lnSpc>
              <a:spcBef>
                <a:spcPts val="833"/>
              </a:spcBef>
              <a:buFont typeface="Arial" charset="0"/>
              <a:buChar char="•"/>
            </a:pPr>
            <a:r>
              <a:rPr lang="en-US" altLang="zh-CN" sz="2332" dirty="0">
                <a:solidFill>
                  <a:srgbClr val="FF0000"/>
                </a:solidFill>
                <a:latin typeface="Comic Sans MS" charset="0"/>
                <a:ea typeface="ＭＳ Ｐゴシック" charset="0"/>
                <a:cs typeface="ＭＳ Ｐゴシック" charset="0"/>
              </a:rPr>
              <a:t>or unnecessarily involve RMA overhead (RR).</a:t>
            </a:r>
          </a:p>
        </p:txBody>
      </p:sp>
      <p:sp>
        <p:nvSpPr>
          <p:cNvPr id="3" name="Rectangle 2">
            <a:extLst>
              <a:ext uri="{FF2B5EF4-FFF2-40B4-BE49-F238E27FC236}">
                <a16:creationId xmlns:a16="http://schemas.microsoft.com/office/drawing/2014/main" id="{DF1B0E68-D1EE-B54A-AC5E-66E532DF3285}"/>
              </a:ext>
            </a:extLst>
          </p:cNvPr>
          <p:cNvSpPr/>
          <p:nvPr/>
        </p:nvSpPr>
        <p:spPr>
          <a:xfrm>
            <a:off x="5159375" y="2247349"/>
            <a:ext cx="4636813" cy="2308324"/>
          </a:xfrm>
          <a:prstGeom prst="rect">
            <a:avLst/>
          </a:prstGeom>
        </p:spPr>
        <p:txBody>
          <a:bodyPr wrap="square">
            <a:spAutoFit/>
          </a:bodyPr>
          <a:lstStyle/>
          <a:p>
            <a:pPr marL="342900" indent="-342900">
              <a:buFont typeface="Arial" panose="020B0604020202020204" pitchFamily="34" charset="0"/>
              <a:buChar char="•"/>
            </a:pPr>
            <a:r>
              <a:rPr lang="en-US" dirty="0">
                <a:latin typeface="+mn-lt"/>
              </a:rPr>
              <a:t>OS: No explicit placement optimization</a:t>
            </a:r>
          </a:p>
          <a:p>
            <a:pPr marL="342900" indent="-342900">
              <a:buFont typeface="Arial" panose="020B0604020202020204" pitchFamily="34" charset="0"/>
              <a:buChar char="•"/>
            </a:pPr>
            <a:r>
              <a:rPr lang="en-US" dirty="0">
                <a:latin typeface="+mn-lt"/>
              </a:rPr>
              <a:t>FF: Greedily minimize cross-operator traffic.</a:t>
            </a:r>
          </a:p>
          <a:p>
            <a:pPr marL="342900" indent="-342900">
              <a:buFont typeface="Arial" panose="020B0604020202020204" pitchFamily="34" charset="0"/>
              <a:buChar char="•"/>
            </a:pPr>
            <a:r>
              <a:rPr lang="en-US" dirty="0">
                <a:latin typeface="+mn-lt"/>
              </a:rPr>
              <a:t>RR: Greedily balance workloads among CPU sockets. </a:t>
            </a:r>
          </a:p>
        </p:txBody>
      </p:sp>
    </p:spTree>
    <p:extLst>
      <p:ext uri="{BB962C8B-B14F-4D97-AF65-F5344CB8AC3E}">
        <p14:creationId xmlns:p14="http://schemas.microsoft.com/office/powerpoint/2010/main" val="2855775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Why not simple heuristics? (2)</a:t>
            </a:r>
            <a:endParaRPr lang="en-US" sz="3600" dirty="0"/>
          </a:p>
        </p:txBody>
      </p:sp>
      <p:sp>
        <p:nvSpPr>
          <p:cNvPr id="4" name="Footer Placeholder 3"/>
          <p:cNvSpPr>
            <a:spLocks noGrp="1"/>
          </p:cNvSpPr>
          <p:nvPr>
            <p:ph type="ftr" sz="quarter" idx="11"/>
          </p:nvPr>
        </p:nvSpPr>
        <p:spPr/>
        <p:txBody>
          <a:bodyPr/>
          <a:lstStyle/>
          <a:p>
            <a:r>
              <a:rPr lang="en-US" b="0" dirty="0"/>
              <a:t>BriskStream: Scaling Data Stream Processing on Shared-Memory Multicore Architectures </a:t>
            </a:r>
          </a:p>
        </p:txBody>
      </p:sp>
      <p:sp>
        <p:nvSpPr>
          <p:cNvPr id="5" name="Slide Number Placeholder 4"/>
          <p:cNvSpPr>
            <a:spLocks noGrp="1"/>
          </p:cNvSpPr>
          <p:nvPr>
            <p:ph type="sldNum" sz="quarter" idx="12"/>
          </p:nvPr>
        </p:nvSpPr>
        <p:spPr/>
        <p:txBody>
          <a:bodyPr/>
          <a:lstStyle/>
          <a:p>
            <a:fld id="{12D8FB24-4664-4497-A38E-DB90968F7542}" type="slidenum">
              <a:rPr lang="en-US" smtClean="0"/>
              <a:t>23</a:t>
            </a:fld>
            <a:endParaRPr lang="en-US"/>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954" y="2350633"/>
            <a:ext cx="3959154" cy="2967620"/>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42803" y="2350632"/>
            <a:ext cx="3959157" cy="2967621"/>
          </a:xfrm>
          <a:prstGeom prst="rect">
            <a:avLst/>
          </a:prstGeom>
        </p:spPr>
      </p:pic>
      <p:sp>
        <p:nvSpPr>
          <p:cNvPr id="13" name="TextBox 12"/>
          <p:cNvSpPr txBox="1"/>
          <p:nvPr/>
        </p:nvSpPr>
        <p:spPr>
          <a:xfrm>
            <a:off x="2417658" y="5318252"/>
            <a:ext cx="1087542" cy="399789"/>
          </a:xfrm>
          <a:prstGeom prst="rect">
            <a:avLst/>
          </a:prstGeom>
          <a:noFill/>
        </p:spPr>
        <p:txBody>
          <a:bodyPr wrap="none" rtlCol="0">
            <a:spAutoFit/>
          </a:bodyPr>
          <a:lstStyle/>
          <a:p>
            <a:r>
              <a:rPr lang="en-US" sz="1998" dirty="0"/>
              <a:t>Server A</a:t>
            </a:r>
          </a:p>
        </p:txBody>
      </p:sp>
      <p:sp>
        <p:nvSpPr>
          <p:cNvPr id="15" name="TextBox 14"/>
          <p:cNvSpPr txBox="1"/>
          <p:nvPr/>
        </p:nvSpPr>
        <p:spPr>
          <a:xfrm>
            <a:off x="7151820" y="5318253"/>
            <a:ext cx="1088760" cy="399789"/>
          </a:xfrm>
          <a:prstGeom prst="rect">
            <a:avLst/>
          </a:prstGeom>
          <a:noFill/>
        </p:spPr>
        <p:txBody>
          <a:bodyPr wrap="none" rtlCol="0">
            <a:spAutoFit/>
          </a:bodyPr>
          <a:lstStyle/>
          <a:p>
            <a:r>
              <a:rPr lang="en-US" sz="1998" dirty="0"/>
              <a:t>Server B</a:t>
            </a:r>
          </a:p>
        </p:txBody>
      </p:sp>
      <p:sp>
        <p:nvSpPr>
          <p:cNvPr id="16" name="Rectangle 15"/>
          <p:cNvSpPr/>
          <p:nvPr/>
        </p:nvSpPr>
        <p:spPr>
          <a:xfrm>
            <a:off x="1037431" y="5887591"/>
            <a:ext cx="7840539" cy="757130"/>
          </a:xfrm>
          <a:prstGeom prst="rect">
            <a:avLst/>
          </a:prstGeom>
          <a:ln>
            <a:noFill/>
          </a:ln>
        </p:spPr>
        <p:txBody>
          <a:bodyPr wrap="square">
            <a:spAutoFit/>
          </a:bodyPr>
          <a:lstStyle/>
          <a:p>
            <a:pPr>
              <a:lnSpc>
                <a:spcPct val="90000"/>
              </a:lnSpc>
              <a:spcBef>
                <a:spcPts val="833"/>
              </a:spcBef>
            </a:pPr>
            <a:r>
              <a:rPr lang="en-US" dirty="0">
                <a:solidFill>
                  <a:srgbClr val="FF0000"/>
                </a:solidFill>
                <a:latin typeface="Comic Sans MS" charset="0"/>
                <a:ea typeface="ＭＳ Ｐゴシック" charset="0"/>
                <a:cs typeface="ＭＳ Ｐゴシック" charset="0"/>
              </a:rPr>
              <a:t>Heuristic approach requires tedious tuning process to determine the suitable usage of HW resource.</a:t>
            </a:r>
          </a:p>
        </p:txBody>
      </p:sp>
      <p:sp>
        <p:nvSpPr>
          <p:cNvPr id="8" name="TextBox 7">
            <a:extLst>
              <a:ext uri="{FF2B5EF4-FFF2-40B4-BE49-F238E27FC236}">
                <a16:creationId xmlns:a16="http://schemas.microsoft.com/office/drawing/2014/main" id="{0C809123-89FD-F64E-9DCE-78A23EE33E3E}"/>
              </a:ext>
            </a:extLst>
          </p:cNvPr>
          <p:cNvSpPr txBox="1"/>
          <p:nvPr/>
        </p:nvSpPr>
        <p:spPr>
          <a:xfrm>
            <a:off x="7942804" y="1906547"/>
            <a:ext cx="2209259" cy="461665"/>
          </a:xfrm>
          <a:prstGeom prst="rect">
            <a:avLst/>
          </a:prstGeom>
          <a:noFill/>
        </p:spPr>
        <p:txBody>
          <a:bodyPr wrap="none" rtlCol="0">
            <a:spAutoFit/>
          </a:bodyPr>
          <a:lstStyle/>
          <a:p>
            <a:r>
              <a:rPr lang="en-US" dirty="0"/>
              <a:t>Generally worse</a:t>
            </a:r>
          </a:p>
        </p:txBody>
      </p:sp>
      <p:cxnSp>
        <p:nvCxnSpPr>
          <p:cNvPr id="12" name="Curved Connector 11">
            <a:extLst>
              <a:ext uri="{FF2B5EF4-FFF2-40B4-BE49-F238E27FC236}">
                <a16:creationId xmlns:a16="http://schemas.microsoft.com/office/drawing/2014/main" id="{909AF060-06A6-994A-BFC6-D8A376E98A8B}"/>
              </a:ext>
            </a:extLst>
          </p:cNvPr>
          <p:cNvCxnSpPr>
            <a:cxnSpLocks/>
            <a:stCxn id="8" idx="1"/>
          </p:cNvCxnSpPr>
          <p:nvPr/>
        </p:nvCxnSpPr>
        <p:spPr bwMode="auto">
          <a:xfrm rot="10800000" flipV="1">
            <a:off x="7512178" y="2137380"/>
            <a:ext cx="430626" cy="723572"/>
          </a:xfrm>
          <a:prstGeom prst="curvedConnector2">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230442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Evaluation of Execution Efficiency </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8224" y="2354027"/>
            <a:ext cx="4822546" cy="3614784"/>
          </a:xfrm>
        </p:spPr>
      </p:pic>
      <mc:AlternateContent xmlns:mc="http://schemas.openxmlformats.org/markup-compatibility/2006" xmlns:a14="http://schemas.microsoft.com/office/drawing/2010/main">
        <mc:Choice Requires="a14">
          <p:sp>
            <p:nvSpPr>
              <p:cNvPr id="7" name="Content Placeholder 10"/>
              <p:cNvSpPr txBox="1">
                <a:spLocks/>
              </p:cNvSpPr>
              <p:nvPr/>
            </p:nvSpPr>
            <p:spPr>
              <a:xfrm>
                <a:off x="5530770" y="2354026"/>
                <a:ext cx="4282059" cy="1023683"/>
              </a:xfrm>
              <a:prstGeom prst="rect">
                <a:avLst/>
              </a:prstGeom>
              <a:ln>
                <a:noFill/>
              </a:ln>
            </p:spPr>
            <p:txBody>
              <a:bodyPr vert="horz" lIns="75962" tIns="37981" rIns="75962" bIns="37981" rtlCol="0">
                <a:noAutofit/>
              </a:bodyPr>
              <a:lstStyle>
                <a:lvl1pPr marL="228600" indent="-228600" algn="l" defTabSz="914400" rtl="0" eaLnBrk="1" latinLnBrk="0" hangingPunct="1">
                  <a:lnSpc>
                    <a:spcPct val="90000"/>
                  </a:lnSpc>
                  <a:spcBef>
                    <a:spcPts val="1000"/>
                  </a:spcBef>
                  <a:buFont typeface="Wingdings" panose="05000000000000000000" pitchFamily="2" charset="2"/>
                  <a:buChar char="v"/>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Wingdings" panose="05000000000000000000" pitchFamily="2" charset="2"/>
                  <a:buChar char="v"/>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Wingdings" panose="05000000000000000000" pitchFamily="2" charset="2"/>
                  <a:buChar char="v"/>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solidFill>
                      <a:srgbClr val="FF0000"/>
                    </a:solidFill>
                    <a:latin typeface="Comic Sans MS" charset="0"/>
                    <a:ea typeface="ＭＳ Ｐゴシック" charset="0"/>
                    <a:cs typeface="ＭＳ Ｐゴシック" charset="0"/>
                  </a:rPr>
                  <a:t>Implication: </a:t>
                </a:r>
              </a:p>
              <a:p>
                <a:pPr>
                  <a:buFont typeface="Wingdings" charset="2"/>
                  <a:buChar char="§"/>
                </a:pPr>
                <a:r>
                  <a:rPr lang="en-US" sz="2000" dirty="0">
                    <a:solidFill>
                      <a:srgbClr val="FF0000"/>
                    </a:solidFill>
                    <a:latin typeface="Comic Sans MS" charset="0"/>
                    <a:ea typeface="ＭＳ Ｐゴシック" charset="0"/>
                    <a:cs typeface="ＭＳ Ｐゴシック" charset="0"/>
                  </a:rPr>
                  <a:t>Storm needs (at least) </a:t>
                </a:r>
                <a14:m>
                  <m:oMath xmlns:m="http://schemas.openxmlformats.org/officeDocument/2006/math">
                    <m:r>
                      <a:rPr lang="en-US" sz="2000" b="1" i="1" dirty="0">
                        <a:solidFill>
                          <a:srgbClr val="FF0000"/>
                        </a:solidFill>
                        <a:latin typeface="Cambria Math" charset="0"/>
                        <a:ea typeface="ＭＳ Ｐゴシック" charset="0"/>
                        <a:cs typeface="ＭＳ Ｐゴシック" charset="0"/>
                      </a:rPr>
                      <m:t>𝟏𝟖</m:t>
                    </m:r>
                  </m:oMath>
                </a14:m>
                <a:r>
                  <a:rPr lang="en-US" sz="2000" dirty="0">
                    <a:solidFill>
                      <a:srgbClr val="FF0000"/>
                    </a:solidFill>
                    <a:latin typeface="Comic Sans MS" charset="0"/>
                    <a:ea typeface="ＭＳ Ｐゴシック" charset="0"/>
                    <a:cs typeface="ＭＳ Ｐゴシック" charset="0"/>
                  </a:rPr>
                  <a:t> machines to achieve the same throughput as BriskStream achieved</a:t>
                </a:r>
                <a:r>
                  <a:rPr lang="mr-IN" sz="2000" dirty="0">
                    <a:solidFill>
                      <a:srgbClr val="FF0000"/>
                    </a:solidFill>
                    <a:latin typeface="Comic Sans MS" charset="0"/>
                    <a:ea typeface="ＭＳ Ｐゴシック" charset="0"/>
                    <a:cs typeface="ＭＳ Ｐゴシック" charset="0"/>
                  </a:rPr>
                  <a:t>…</a:t>
                </a:r>
                <a:endParaRPr lang="en-US" sz="2000" dirty="0">
                  <a:solidFill>
                    <a:srgbClr val="FF0000"/>
                  </a:solidFill>
                  <a:latin typeface="Comic Sans MS" charset="0"/>
                  <a:ea typeface="ＭＳ Ｐゴシック" charset="0"/>
                  <a:cs typeface="ＭＳ Ｐゴシック" charset="0"/>
                </a:endParaRPr>
              </a:p>
              <a:p>
                <a:pPr>
                  <a:buFont typeface="Wingdings" charset="2"/>
                  <a:buChar char="§"/>
                </a:pPr>
                <a:r>
                  <a:rPr lang="mr-IN" sz="2000" dirty="0">
                    <a:solidFill>
                      <a:srgbClr val="FF0000"/>
                    </a:solidFill>
                    <a:latin typeface="Comic Sans MS" charset="0"/>
                    <a:ea typeface="ＭＳ Ｐゴシック" charset="0"/>
                    <a:cs typeface="ＭＳ Ｐゴシック" charset="0"/>
                  </a:rPr>
                  <a:t>…</a:t>
                </a:r>
                <a:r>
                  <a:rPr lang="en-US" sz="2000" dirty="0">
                    <a:solidFill>
                      <a:srgbClr val="FF0000"/>
                    </a:solidFill>
                    <a:latin typeface="Comic Sans MS" charset="0"/>
                    <a:ea typeface="ＭＳ Ｐゴシック" charset="0"/>
                    <a:cs typeface="ＭＳ Ｐゴシック" charset="0"/>
                  </a:rPr>
                  <a:t>under the assumption that Storm can linearly scale out. But we know it’s hard.</a:t>
                </a:r>
                <a:endParaRPr lang="en-US" sz="3600" dirty="0"/>
              </a:p>
            </p:txBody>
          </p:sp>
        </mc:Choice>
        <mc:Fallback xmlns="">
          <p:sp>
            <p:nvSpPr>
              <p:cNvPr id="7" name="Content Placeholder 10"/>
              <p:cNvSpPr txBox="1">
                <a:spLocks noRot="1" noChangeAspect="1" noMove="1" noResize="1" noEditPoints="1" noAdjustHandles="1" noChangeArrowheads="1" noChangeShapeType="1" noTextEdit="1"/>
              </p:cNvSpPr>
              <p:nvPr/>
            </p:nvSpPr>
            <p:spPr>
              <a:xfrm>
                <a:off x="5530770" y="2354026"/>
                <a:ext cx="4282059" cy="1023683"/>
              </a:xfrm>
              <a:prstGeom prst="rect">
                <a:avLst/>
              </a:prstGeom>
              <a:blipFill>
                <a:blip r:embed="rId3"/>
                <a:stretch>
                  <a:fillRect l="-2360" t="-7317" r="-2065" b="-159756"/>
                </a:stretch>
              </a:blipFill>
              <a:ln>
                <a:noFill/>
              </a:ln>
            </p:spPr>
            <p:txBody>
              <a:bodyPr/>
              <a:lstStyle/>
              <a:p>
                <a:r>
                  <a:rPr lang="en-US">
                    <a:noFill/>
                  </a:rPr>
                  <a:t> </a:t>
                </a:r>
              </a:p>
            </p:txBody>
          </p:sp>
        </mc:Fallback>
      </mc:AlternateContent>
      <p:sp>
        <p:nvSpPr>
          <p:cNvPr id="9" name="Oval 8"/>
          <p:cNvSpPr/>
          <p:nvPr/>
        </p:nvSpPr>
        <p:spPr>
          <a:xfrm>
            <a:off x="1452223" y="2853095"/>
            <a:ext cx="443934" cy="503534"/>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495"/>
          </a:p>
        </p:txBody>
      </p:sp>
    </p:spTree>
    <p:extLst>
      <p:ext uri="{BB962C8B-B14F-4D97-AF65-F5344CB8AC3E}">
        <p14:creationId xmlns:p14="http://schemas.microsoft.com/office/powerpoint/2010/main" val="3961353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Evaluation of Scalability</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955" y="2462992"/>
            <a:ext cx="4464027" cy="3346053"/>
          </a:xfrm>
          <a:prstGeom prst="rect">
            <a:avLst/>
          </a:prstGeom>
        </p:spPr>
      </p:pic>
      <p:sp>
        <p:nvSpPr>
          <p:cNvPr id="11" name="Content Placeholder 10"/>
          <p:cNvSpPr>
            <a:spLocks noGrp="1"/>
          </p:cNvSpPr>
          <p:nvPr>
            <p:ph idx="1"/>
          </p:nvPr>
        </p:nvSpPr>
        <p:spPr>
          <a:xfrm>
            <a:off x="5161982" y="2462992"/>
            <a:ext cx="4292127" cy="1026089"/>
          </a:xfrm>
          <a:ln>
            <a:noFill/>
          </a:ln>
        </p:spPr>
        <p:txBody>
          <a:bodyPr>
            <a:normAutofit/>
          </a:bodyPr>
          <a:lstStyle/>
          <a:p>
            <a:r>
              <a:rPr lang="en-US" sz="1998" b="0" dirty="0">
                <a:solidFill>
                  <a:srgbClr val="FF0000"/>
                </a:solidFill>
                <a:latin typeface="Comic Sans MS" charset="0"/>
                <a:ea typeface="ＭＳ Ｐゴシック" charset="0"/>
                <a:cs typeface="ＭＳ Ｐゴシック" charset="0"/>
              </a:rPr>
              <a:t>(1) BriskStream scales much better than Storm and Flink on multi-socket servers.</a:t>
            </a:r>
          </a:p>
        </p:txBody>
      </p:sp>
      <p:sp>
        <p:nvSpPr>
          <p:cNvPr id="13" name="Content Placeholder 10"/>
          <p:cNvSpPr txBox="1">
            <a:spLocks/>
          </p:cNvSpPr>
          <p:nvPr/>
        </p:nvSpPr>
        <p:spPr>
          <a:xfrm>
            <a:off x="5170231" y="3873642"/>
            <a:ext cx="4292127" cy="1026089"/>
          </a:xfrm>
          <a:prstGeom prst="rect">
            <a:avLst/>
          </a:prstGeom>
          <a:ln>
            <a:noFill/>
          </a:ln>
        </p:spPr>
        <p:txBody>
          <a:bodyPr vert="horz" lIns="76140" tIns="38070" rIns="76140" bIns="3807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v"/>
              <a:defRPr sz="2800" kern="1200">
                <a:solidFill>
                  <a:schemeClr val="tx1"/>
                </a:solidFill>
                <a:latin typeface="Helvetica" charset="0"/>
                <a:ea typeface="Helvetica" charset="0"/>
                <a:cs typeface="Helvetica" charset="0"/>
              </a:defRPr>
            </a:lvl1pPr>
            <a:lvl2pPr marL="685800" indent="-228600" algn="l" defTabSz="914400" rtl="0" eaLnBrk="1" latinLnBrk="0" hangingPunct="1">
              <a:lnSpc>
                <a:spcPct val="90000"/>
              </a:lnSpc>
              <a:spcBef>
                <a:spcPts val="500"/>
              </a:spcBef>
              <a:buFont typeface="Wingdings" panose="05000000000000000000" pitchFamily="2" charset="2"/>
              <a:buChar char="v"/>
              <a:defRPr sz="2400" kern="1200">
                <a:solidFill>
                  <a:schemeClr val="tx1"/>
                </a:solidFill>
                <a:latin typeface="Helvetica" charset="0"/>
                <a:ea typeface="Helvetica" charset="0"/>
                <a:cs typeface="Helvetica" charset="0"/>
              </a:defRPr>
            </a:lvl2pPr>
            <a:lvl3pPr marL="1143000" indent="-228600" algn="l" defTabSz="914400" rtl="0" eaLnBrk="1" latinLnBrk="0" hangingPunct="1">
              <a:lnSpc>
                <a:spcPct val="90000"/>
              </a:lnSpc>
              <a:spcBef>
                <a:spcPts val="500"/>
              </a:spcBef>
              <a:buFont typeface="Wingdings" panose="05000000000000000000" pitchFamily="2" charset="2"/>
              <a:buChar char="v"/>
              <a:defRPr sz="2000" kern="1200">
                <a:solidFill>
                  <a:schemeClr val="tx1"/>
                </a:solidFill>
                <a:latin typeface="Helvetica" charset="0"/>
                <a:ea typeface="Helvetica" charset="0"/>
                <a:cs typeface="Helvetica"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Helvetica" charset="0"/>
                <a:ea typeface="Helvetica" charset="0"/>
                <a:cs typeface="Helvetica" charset="0"/>
              </a:defRPr>
            </a:lvl4pPr>
            <a:lvl5pPr marL="20574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Helvetica" charset="0"/>
                <a:ea typeface="Helvetica" charset="0"/>
                <a:cs typeface="Helvetica"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998" dirty="0">
                <a:solidFill>
                  <a:srgbClr val="FF0000"/>
                </a:solidFill>
                <a:latin typeface="Comic Sans MS" charset="0"/>
                <a:ea typeface="ＭＳ Ｐゴシック" charset="0"/>
                <a:cs typeface="ＭＳ Ｐゴシック" charset="0"/>
              </a:rPr>
              <a:t>(2) Unable to linearly </a:t>
            </a:r>
            <a:r>
              <a:rPr lang="en-US" sz="1998" dirty="0" err="1">
                <a:solidFill>
                  <a:srgbClr val="FF0000"/>
                </a:solidFill>
                <a:latin typeface="Comic Sans MS" charset="0"/>
                <a:ea typeface="ＭＳ Ｐゴシック" charset="0"/>
                <a:cs typeface="ＭＳ Ｐゴシック" charset="0"/>
              </a:rPr>
              <a:t>scaleup</a:t>
            </a:r>
            <a:r>
              <a:rPr lang="en-US" sz="1998" dirty="0">
                <a:solidFill>
                  <a:srgbClr val="FF0000"/>
                </a:solidFill>
                <a:latin typeface="Comic Sans MS" charset="0"/>
                <a:ea typeface="ＭＳ Ｐゴシック" charset="0"/>
                <a:cs typeface="ＭＳ Ｐゴシック" charset="0"/>
              </a:rPr>
              <a:t> due to significant increase of RMA overhead cross CPU trays.</a:t>
            </a:r>
          </a:p>
          <a:p>
            <a:endParaRPr lang="en-US" sz="3331" dirty="0"/>
          </a:p>
        </p:txBody>
      </p:sp>
      <p:cxnSp>
        <p:nvCxnSpPr>
          <p:cNvPr id="16" name="Straight Connector 15"/>
          <p:cNvCxnSpPr>
            <a:cxnSpLocks/>
          </p:cNvCxnSpPr>
          <p:nvPr/>
        </p:nvCxnSpPr>
        <p:spPr>
          <a:xfrm flipV="1">
            <a:off x="2511646" y="1893094"/>
            <a:ext cx="1649985" cy="1976692"/>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002EF2A-945A-8649-848F-B9BACAD06C7C}"/>
              </a:ext>
            </a:extLst>
          </p:cNvPr>
          <p:cNvSpPr txBox="1"/>
          <p:nvPr/>
        </p:nvSpPr>
        <p:spPr>
          <a:xfrm>
            <a:off x="1733474" y="5809045"/>
            <a:ext cx="3206327" cy="461665"/>
          </a:xfrm>
          <a:prstGeom prst="rect">
            <a:avLst/>
          </a:prstGeom>
          <a:noFill/>
        </p:spPr>
        <p:txBody>
          <a:bodyPr wrap="none" rtlCol="0">
            <a:spAutoFit/>
          </a:bodyPr>
          <a:lstStyle/>
          <a:p>
            <a:r>
              <a:rPr lang="en-US" dirty="0"/>
              <a:t>Linear Road Benchmark</a:t>
            </a:r>
          </a:p>
        </p:txBody>
      </p:sp>
      <p:pic>
        <p:nvPicPr>
          <p:cNvPr id="8" name="Picture 7">
            <a:extLst>
              <a:ext uri="{FF2B5EF4-FFF2-40B4-BE49-F238E27FC236}">
                <a16:creationId xmlns:a16="http://schemas.microsoft.com/office/drawing/2014/main" id="{EF3196BA-ACA0-8941-A2F0-FB3B57A6A5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1603" y="5162106"/>
            <a:ext cx="2497112" cy="1575173"/>
          </a:xfrm>
          <a:prstGeom prst="rect">
            <a:avLst/>
          </a:prstGeom>
        </p:spPr>
      </p:pic>
      <p:sp>
        <p:nvSpPr>
          <p:cNvPr id="4" name="TextBox 3">
            <a:extLst>
              <a:ext uri="{FF2B5EF4-FFF2-40B4-BE49-F238E27FC236}">
                <a16:creationId xmlns:a16="http://schemas.microsoft.com/office/drawing/2014/main" id="{A6E21FF1-51A8-7B4A-AD5D-AD0DB69AF5AD}"/>
              </a:ext>
            </a:extLst>
          </p:cNvPr>
          <p:cNvSpPr txBox="1"/>
          <p:nvPr/>
        </p:nvSpPr>
        <p:spPr>
          <a:xfrm>
            <a:off x="7057231" y="6846094"/>
            <a:ext cx="985141" cy="461665"/>
          </a:xfrm>
          <a:prstGeom prst="rect">
            <a:avLst/>
          </a:prstGeom>
          <a:noFill/>
        </p:spPr>
        <p:txBody>
          <a:bodyPr wrap="none" rtlCol="0">
            <a:spAutoFit/>
          </a:bodyPr>
          <a:lstStyle/>
          <a:p>
            <a:r>
              <a:rPr lang="en-US" dirty="0"/>
              <a:t>Tray 1</a:t>
            </a:r>
          </a:p>
        </p:txBody>
      </p:sp>
      <p:sp>
        <p:nvSpPr>
          <p:cNvPr id="12" name="TextBox 11">
            <a:extLst>
              <a:ext uri="{FF2B5EF4-FFF2-40B4-BE49-F238E27FC236}">
                <a16:creationId xmlns:a16="http://schemas.microsoft.com/office/drawing/2014/main" id="{41DC9EB9-E133-5149-ADD0-0B35192FE289}"/>
              </a:ext>
            </a:extLst>
          </p:cNvPr>
          <p:cNvSpPr txBox="1"/>
          <p:nvPr/>
        </p:nvSpPr>
        <p:spPr>
          <a:xfrm>
            <a:off x="8352631" y="6846093"/>
            <a:ext cx="985141" cy="461665"/>
          </a:xfrm>
          <a:prstGeom prst="rect">
            <a:avLst/>
          </a:prstGeom>
          <a:noFill/>
        </p:spPr>
        <p:txBody>
          <a:bodyPr wrap="none" rtlCol="0">
            <a:spAutoFit/>
          </a:bodyPr>
          <a:lstStyle/>
          <a:p>
            <a:r>
              <a:rPr lang="en-US" dirty="0"/>
              <a:t>Tray 2</a:t>
            </a:r>
          </a:p>
        </p:txBody>
      </p:sp>
      <p:sp>
        <p:nvSpPr>
          <p:cNvPr id="5" name="Oval 4">
            <a:extLst>
              <a:ext uri="{FF2B5EF4-FFF2-40B4-BE49-F238E27FC236}">
                <a16:creationId xmlns:a16="http://schemas.microsoft.com/office/drawing/2014/main" id="{474D26C4-B560-3B43-96AE-4FFC6E4890CC}"/>
              </a:ext>
            </a:extLst>
          </p:cNvPr>
          <p:cNvSpPr/>
          <p:nvPr/>
        </p:nvSpPr>
        <p:spPr bwMode="auto">
          <a:xfrm>
            <a:off x="6752431" y="5162106"/>
            <a:ext cx="1437728" cy="1575173"/>
          </a:xfrm>
          <a:prstGeom prst="ellipse">
            <a:avLst/>
          </a:prstGeom>
          <a:noFill/>
          <a:ln w="3810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2" charset="0"/>
            </a:endParaRPr>
          </a:p>
        </p:txBody>
      </p:sp>
      <p:sp>
        <p:nvSpPr>
          <p:cNvPr id="14" name="Oval 13">
            <a:extLst>
              <a:ext uri="{FF2B5EF4-FFF2-40B4-BE49-F238E27FC236}">
                <a16:creationId xmlns:a16="http://schemas.microsoft.com/office/drawing/2014/main" id="{80707509-7C32-714A-855C-79C5F53B255A}"/>
              </a:ext>
            </a:extLst>
          </p:cNvPr>
          <p:cNvSpPr/>
          <p:nvPr/>
        </p:nvSpPr>
        <p:spPr bwMode="auto">
          <a:xfrm>
            <a:off x="8126337" y="5162105"/>
            <a:ext cx="1437728" cy="1575173"/>
          </a:xfrm>
          <a:prstGeom prst="ellipse">
            <a:avLst/>
          </a:prstGeom>
          <a:noFill/>
          <a:ln w="38100" cap="flat" cmpd="sng" algn="ctr">
            <a:solidFill>
              <a:srgbClr val="FF0000"/>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itchFamily="2" charset="0"/>
            </a:endParaRPr>
          </a:p>
        </p:txBody>
      </p:sp>
    </p:spTree>
    <p:extLst>
      <p:ext uri="{BB962C8B-B14F-4D97-AF65-F5344CB8AC3E}">
        <p14:creationId xmlns:p14="http://schemas.microsoft.com/office/powerpoint/2010/main" val="20064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p:bldP spid="4" grpId="0"/>
      <p:bldP spid="12" grpId="0"/>
      <p:bldP spid="5"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Execution Time </a:t>
            </a:r>
            <a:r>
              <a:rPr lang="en-US" altLang="zh-CN" dirty="0"/>
              <a:t>B</a:t>
            </a:r>
            <a:r>
              <a:rPr lang="en-US" dirty="0"/>
              <a:t>reakdown</a:t>
            </a:r>
          </a:p>
        </p:txBody>
      </p:sp>
      <p:sp>
        <p:nvSpPr>
          <p:cNvPr id="11" name="Content Placeholder 10"/>
          <p:cNvSpPr>
            <a:spLocks noGrp="1"/>
          </p:cNvSpPr>
          <p:nvPr>
            <p:ph idx="1"/>
          </p:nvPr>
        </p:nvSpPr>
        <p:spPr>
          <a:xfrm>
            <a:off x="5531838" y="2462992"/>
            <a:ext cx="3922269" cy="1459244"/>
          </a:xfrm>
        </p:spPr>
        <p:txBody>
          <a:bodyPr>
            <a:normAutofit/>
          </a:bodyPr>
          <a:lstStyle/>
          <a:p>
            <a:endParaRPr lang="en-US" sz="1665" dirty="0"/>
          </a:p>
          <a:p>
            <a:endParaRPr lang="en-US" sz="1665" dirty="0"/>
          </a:p>
        </p:txBody>
      </p:sp>
      <p:pic>
        <p:nvPicPr>
          <p:cNvPr id="8" name="Content Placeholder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954" y="2350632"/>
            <a:ext cx="4833884" cy="3623282"/>
          </a:xfrm>
          <a:prstGeom prst="rect">
            <a:avLst/>
          </a:prstGeom>
        </p:spPr>
      </p:pic>
      <p:sp>
        <p:nvSpPr>
          <p:cNvPr id="3" name="Rectangle 2"/>
          <p:cNvSpPr/>
          <p:nvPr/>
        </p:nvSpPr>
        <p:spPr>
          <a:xfrm>
            <a:off x="5531838" y="4034596"/>
            <a:ext cx="4620224" cy="1199303"/>
          </a:xfrm>
          <a:prstGeom prst="rect">
            <a:avLst/>
          </a:prstGeom>
          <a:noFill/>
          <a:ln>
            <a:noFill/>
          </a:ln>
        </p:spPr>
        <p:txBody>
          <a:bodyPr wrap="square">
            <a:spAutoFit/>
          </a:bodyPr>
          <a:lstStyle/>
          <a:p>
            <a:pPr>
              <a:lnSpc>
                <a:spcPct val="90000"/>
              </a:lnSpc>
              <a:spcBef>
                <a:spcPts val="833"/>
              </a:spcBef>
            </a:pPr>
            <a:r>
              <a:rPr lang="zh-CN" altLang="en-US" sz="1998" dirty="0">
                <a:solidFill>
                  <a:srgbClr val="FF0000"/>
                </a:solidFill>
                <a:latin typeface="Comic Sans MS" charset="0"/>
                <a:ea typeface="ＭＳ Ｐゴシック" charset="0"/>
                <a:cs typeface="ＭＳ Ｐゴシック" charset="0"/>
              </a:rPr>
              <a:t>（</a:t>
            </a:r>
            <a:r>
              <a:rPr lang="en-US" altLang="zh-CN" sz="1998" dirty="0">
                <a:solidFill>
                  <a:srgbClr val="FF0000"/>
                </a:solidFill>
                <a:latin typeface="Comic Sans MS" charset="0"/>
                <a:ea typeface="ＭＳ Ｐゴシック" charset="0"/>
                <a:cs typeface="ＭＳ Ｐゴシック" charset="0"/>
              </a:rPr>
              <a:t>2</a:t>
            </a:r>
            <a:r>
              <a:rPr lang="zh-CN" altLang="en-US" sz="1998" dirty="0">
                <a:solidFill>
                  <a:srgbClr val="FF0000"/>
                </a:solidFill>
                <a:latin typeface="Comic Sans MS" charset="0"/>
                <a:ea typeface="ＭＳ Ｐゴシック" charset="0"/>
                <a:cs typeface="ＭＳ Ｐゴシック" charset="0"/>
              </a:rPr>
              <a:t>） </a:t>
            </a:r>
            <a:r>
              <a:rPr lang="en-US" altLang="zh-CN" sz="1998" dirty="0">
                <a:solidFill>
                  <a:srgbClr val="FF0000"/>
                </a:solidFill>
                <a:latin typeface="Comic Sans MS" charset="0"/>
                <a:ea typeface="ＭＳ Ｐゴシック" charset="0"/>
                <a:cs typeface="ＭＳ Ｐゴシック" charset="0"/>
              </a:rPr>
              <a:t>RMA overhead</a:t>
            </a:r>
            <a:r>
              <a:rPr lang="en-US" sz="1998" dirty="0">
                <a:solidFill>
                  <a:srgbClr val="FF0000"/>
                </a:solidFill>
                <a:latin typeface="Comic Sans MS" charset="0"/>
                <a:ea typeface="ＭＳ Ｐゴシック" charset="0"/>
                <a:cs typeface="ＭＳ Ｐゴシック" charset="0"/>
              </a:rPr>
              <a:t>, as a result of improving efficiency of other components, becomes a critical issue to optimize. </a:t>
            </a:r>
          </a:p>
        </p:txBody>
      </p:sp>
      <p:sp>
        <p:nvSpPr>
          <p:cNvPr id="6" name="Rectangle 5"/>
          <p:cNvSpPr/>
          <p:nvPr/>
        </p:nvSpPr>
        <p:spPr>
          <a:xfrm>
            <a:off x="5531838" y="2612365"/>
            <a:ext cx="4620224" cy="645818"/>
          </a:xfrm>
          <a:prstGeom prst="rect">
            <a:avLst/>
          </a:prstGeom>
          <a:ln>
            <a:noFill/>
          </a:ln>
        </p:spPr>
        <p:txBody>
          <a:bodyPr wrap="square">
            <a:spAutoFit/>
          </a:bodyPr>
          <a:lstStyle/>
          <a:p>
            <a:pPr>
              <a:lnSpc>
                <a:spcPct val="90000"/>
              </a:lnSpc>
              <a:spcBef>
                <a:spcPts val="833"/>
              </a:spcBef>
            </a:pPr>
            <a:r>
              <a:rPr lang="zh-CN" altLang="en-US" sz="1998" dirty="0">
                <a:solidFill>
                  <a:srgbClr val="FF0000"/>
                </a:solidFill>
                <a:latin typeface="Comic Sans MS" charset="0"/>
                <a:ea typeface="ＭＳ Ｐゴシック" charset="0"/>
                <a:cs typeface="ＭＳ Ｐゴシック" charset="0"/>
              </a:rPr>
              <a:t>（</a:t>
            </a:r>
            <a:r>
              <a:rPr lang="en-US" altLang="zh-CN" sz="1998" dirty="0">
                <a:solidFill>
                  <a:srgbClr val="FF0000"/>
                </a:solidFill>
                <a:latin typeface="Comic Sans MS" charset="0"/>
                <a:ea typeface="ＭＳ Ｐゴシック" charset="0"/>
                <a:cs typeface="ＭＳ Ｐゴシック" charset="0"/>
              </a:rPr>
              <a:t>1</a:t>
            </a:r>
            <a:r>
              <a:rPr lang="zh-CN" altLang="en-US" sz="1998" dirty="0">
                <a:solidFill>
                  <a:srgbClr val="FF0000"/>
                </a:solidFill>
                <a:latin typeface="Comic Sans MS" charset="0"/>
                <a:ea typeface="ＭＳ Ｐゴシック" charset="0"/>
                <a:cs typeface="ＭＳ Ｐゴシック" charset="0"/>
              </a:rPr>
              <a:t>） </a:t>
            </a:r>
            <a:r>
              <a:rPr lang="en-US" sz="1998" dirty="0" err="1">
                <a:solidFill>
                  <a:srgbClr val="FF0000"/>
                </a:solidFill>
                <a:latin typeface="Comic Sans MS" charset="0"/>
                <a:ea typeface="ＭＳ Ｐゴシック" charset="0"/>
                <a:cs typeface="ＭＳ Ｐゴシック" charset="0"/>
              </a:rPr>
              <a:t>T</a:t>
            </a:r>
            <a:r>
              <a:rPr lang="en-US" sz="1998" baseline="30000" dirty="0" err="1">
                <a:solidFill>
                  <a:srgbClr val="FF0000"/>
                </a:solidFill>
                <a:latin typeface="Comic Sans MS" charset="0"/>
                <a:ea typeface="ＭＳ Ｐゴシック" charset="0"/>
                <a:cs typeface="ＭＳ Ｐゴシック" charset="0"/>
              </a:rPr>
              <a:t>e</a:t>
            </a:r>
            <a:r>
              <a:rPr lang="en-US" sz="1998" dirty="0">
                <a:solidFill>
                  <a:srgbClr val="FF0000"/>
                </a:solidFill>
                <a:latin typeface="Comic Sans MS" charset="0"/>
                <a:ea typeface="ＭＳ Ｐゴシック" charset="0"/>
                <a:cs typeface="ＭＳ Ｐゴシック" charset="0"/>
              </a:rPr>
              <a:t> is significantly reduced to only 5 ∼ 24% of that of Storm.</a:t>
            </a:r>
          </a:p>
        </p:txBody>
      </p:sp>
    </p:spTree>
    <p:extLst>
      <p:ext uri="{BB962C8B-B14F-4D97-AF65-F5344CB8AC3E}">
        <p14:creationId xmlns:p14="http://schemas.microsoft.com/office/powerpoint/2010/main" val="356228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about other Single-node Optimized DSPS?</a:t>
            </a:r>
          </a:p>
        </p:txBody>
      </p:sp>
      <p:grpSp>
        <p:nvGrpSpPr>
          <p:cNvPr id="17" name="Group 16"/>
          <p:cNvGrpSpPr/>
          <p:nvPr/>
        </p:nvGrpSpPr>
        <p:grpSpPr>
          <a:xfrm>
            <a:off x="234491" y="2148933"/>
            <a:ext cx="5245620" cy="4102083"/>
            <a:chOff x="0" y="0"/>
            <a:chExt cx="7239190" cy="5474938"/>
          </a:xfrm>
        </p:grpSpPr>
        <p:graphicFrame>
          <p:nvGraphicFramePr>
            <p:cNvPr id="18" name="Chart 17"/>
            <p:cNvGraphicFramePr>
              <a:graphicFrameLocks/>
            </p:cNvGraphicFramePr>
            <p:nvPr>
              <p:extLst>
                <p:ext uri="{D42A27DB-BD31-4B8C-83A1-F6EECF244321}">
                  <p14:modId xmlns:p14="http://schemas.microsoft.com/office/powerpoint/2010/main" val="2160951691"/>
                </p:ext>
              </p:extLst>
            </p:nvPr>
          </p:nvGraphicFramePr>
          <p:xfrm>
            <a:off x="0" y="0"/>
            <a:ext cx="7199314" cy="5400676"/>
          </p:xfrm>
          <a:graphic>
            <a:graphicData uri="http://schemas.openxmlformats.org/drawingml/2006/chart">
              <c:chart xmlns:c="http://schemas.openxmlformats.org/drawingml/2006/chart" xmlns:r="http://schemas.openxmlformats.org/officeDocument/2006/relationships" r:id="rId3"/>
            </a:graphicData>
          </a:graphic>
        </p:graphicFrame>
        <p:sp>
          <p:nvSpPr>
            <p:cNvPr id="19" name="TextBox 18"/>
            <p:cNvSpPr txBox="1"/>
            <p:nvPr/>
          </p:nvSpPr>
          <p:spPr>
            <a:xfrm>
              <a:off x="1643875" y="4940688"/>
              <a:ext cx="2659527" cy="533587"/>
            </a:xfrm>
            <a:prstGeom prst="rect">
              <a:avLst/>
            </a:prstGeom>
            <a:noFill/>
          </p:spPr>
          <p:txBody>
            <a:bodyPr wrap="none" rtlCol="0">
              <a:spAutoFit/>
            </a:bodyPr>
            <a:lstStyle/>
            <a:p>
              <a:r>
                <a:rPr lang="en-US" sz="1998" dirty="0"/>
                <a:t>on 1 socket(</a:t>
              </a:r>
              <a:r>
                <a:rPr lang="en-US" sz="1998" dirty="0" err="1"/>
                <a:t>soc.</a:t>
              </a:r>
              <a:r>
                <a:rPr lang="en-US" sz="1998" dirty="0"/>
                <a:t>)</a:t>
              </a:r>
            </a:p>
          </p:txBody>
        </p:sp>
        <p:sp>
          <p:nvSpPr>
            <p:cNvPr id="20" name="Left Brace 19"/>
            <p:cNvSpPr/>
            <p:nvPr/>
          </p:nvSpPr>
          <p:spPr>
            <a:xfrm rot="16200000">
              <a:off x="2869883" y="3206473"/>
              <a:ext cx="306846" cy="3224694"/>
            </a:xfrm>
            <a:prstGeom prst="leftBrac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32"/>
            </a:p>
          </p:txBody>
        </p:sp>
        <p:sp>
          <p:nvSpPr>
            <p:cNvPr id="21" name="TextBox 20"/>
            <p:cNvSpPr txBox="1"/>
            <p:nvPr/>
          </p:nvSpPr>
          <p:spPr>
            <a:xfrm>
              <a:off x="4605198" y="4941351"/>
              <a:ext cx="991515" cy="533587"/>
            </a:xfrm>
            <a:prstGeom prst="rect">
              <a:avLst/>
            </a:prstGeom>
            <a:noFill/>
          </p:spPr>
          <p:txBody>
            <a:bodyPr wrap="none" rtlCol="0">
              <a:spAutoFit/>
            </a:bodyPr>
            <a:lstStyle/>
            <a:p>
              <a:r>
                <a:rPr lang="en-US" sz="1998"/>
                <a:t>2soc</a:t>
              </a:r>
              <a:r>
                <a:rPr lang="en-US" sz="1998" dirty="0" err="1"/>
                <a:t>.</a:t>
              </a:r>
              <a:endParaRPr lang="en-US" sz="1998" dirty="0"/>
            </a:p>
          </p:txBody>
        </p:sp>
        <p:sp>
          <p:nvSpPr>
            <p:cNvPr id="22" name="TextBox 21"/>
            <p:cNvSpPr txBox="1"/>
            <p:nvPr/>
          </p:nvSpPr>
          <p:spPr>
            <a:xfrm>
              <a:off x="5416453" y="4939506"/>
              <a:ext cx="991515" cy="533587"/>
            </a:xfrm>
            <a:prstGeom prst="rect">
              <a:avLst/>
            </a:prstGeom>
            <a:noFill/>
          </p:spPr>
          <p:txBody>
            <a:bodyPr wrap="none" rtlCol="0">
              <a:spAutoFit/>
            </a:bodyPr>
            <a:lstStyle/>
            <a:p>
              <a:r>
                <a:rPr lang="en-US" sz="1998"/>
                <a:t>4soc</a:t>
              </a:r>
              <a:r>
                <a:rPr lang="en-US" sz="1998" dirty="0" err="1"/>
                <a:t>.</a:t>
              </a:r>
              <a:endParaRPr lang="en-US" sz="1998" dirty="0"/>
            </a:p>
          </p:txBody>
        </p:sp>
        <p:sp>
          <p:nvSpPr>
            <p:cNvPr id="23" name="TextBox 22"/>
            <p:cNvSpPr txBox="1"/>
            <p:nvPr/>
          </p:nvSpPr>
          <p:spPr>
            <a:xfrm>
              <a:off x="6247675" y="4941351"/>
              <a:ext cx="991515" cy="533587"/>
            </a:xfrm>
            <a:prstGeom prst="rect">
              <a:avLst/>
            </a:prstGeom>
            <a:noFill/>
          </p:spPr>
          <p:txBody>
            <a:bodyPr wrap="none" rtlCol="0">
              <a:spAutoFit/>
            </a:bodyPr>
            <a:lstStyle/>
            <a:p>
              <a:r>
                <a:rPr lang="en-US" sz="1998" dirty="0"/>
                <a:t>8soc.</a:t>
              </a:r>
            </a:p>
          </p:txBody>
        </p:sp>
        <p:sp>
          <p:nvSpPr>
            <p:cNvPr id="24" name="Left Brace 23"/>
            <p:cNvSpPr/>
            <p:nvPr/>
          </p:nvSpPr>
          <p:spPr>
            <a:xfrm rot="16200000">
              <a:off x="4943707" y="4416981"/>
              <a:ext cx="263454" cy="760288"/>
            </a:xfrm>
            <a:prstGeom prst="leftBrac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32"/>
            </a:p>
          </p:txBody>
        </p:sp>
        <p:sp>
          <p:nvSpPr>
            <p:cNvPr id="25" name="Left Brace 24"/>
            <p:cNvSpPr/>
            <p:nvPr/>
          </p:nvSpPr>
          <p:spPr>
            <a:xfrm rot="16200000">
              <a:off x="5755369" y="4359097"/>
              <a:ext cx="263454" cy="863029"/>
            </a:xfrm>
            <a:prstGeom prst="leftBrac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32"/>
            </a:p>
          </p:txBody>
        </p:sp>
        <p:sp>
          <p:nvSpPr>
            <p:cNvPr id="26" name="Left Brace 25"/>
            <p:cNvSpPr/>
            <p:nvPr/>
          </p:nvSpPr>
          <p:spPr>
            <a:xfrm rot="16200000">
              <a:off x="6586590" y="4436547"/>
              <a:ext cx="263454" cy="721154"/>
            </a:xfrm>
            <a:prstGeom prst="leftBrac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32"/>
            </a:p>
          </p:txBody>
        </p:sp>
        <p:sp>
          <p:nvSpPr>
            <p:cNvPr id="27" name="TextBox 26"/>
            <p:cNvSpPr txBox="1"/>
            <p:nvPr/>
          </p:nvSpPr>
          <p:spPr>
            <a:xfrm rot="16200000">
              <a:off x="6353447" y="3810536"/>
              <a:ext cx="670087" cy="339619"/>
            </a:xfrm>
            <a:prstGeom prst="rect">
              <a:avLst/>
            </a:prstGeom>
            <a:noFill/>
          </p:spPr>
          <p:txBody>
            <a:bodyPr wrap="none" rtlCol="0">
              <a:spAutoFit/>
            </a:bodyPr>
            <a:lstStyle/>
            <a:p>
              <a:r>
                <a:rPr lang="en-US" sz="999" b="1" dirty="0">
                  <a:latin typeface="Helvetica" charset="0"/>
                  <a:ea typeface="Helvetica" charset="0"/>
                  <a:cs typeface="Helvetica" charset="0"/>
                </a:rPr>
                <a:t>471.2</a:t>
              </a:r>
            </a:p>
          </p:txBody>
        </p:sp>
      </p:grpSp>
      <p:sp>
        <p:nvSpPr>
          <p:cNvPr id="29" name="Rectangle 28"/>
          <p:cNvSpPr/>
          <p:nvPr/>
        </p:nvSpPr>
        <p:spPr>
          <a:xfrm>
            <a:off x="5480111" y="2251373"/>
            <a:ext cx="4437462" cy="2214975"/>
          </a:xfrm>
          <a:prstGeom prst="rect">
            <a:avLst/>
          </a:prstGeom>
          <a:ln>
            <a:noFill/>
          </a:ln>
        </p:spPr>
        <p:txBody>
          <a:bodyPr wrap="square" lIns="29977" tIns="29977" rIns="29977" bIns="29977">
            <a:spAutoFit/>
          </a:bodyPr>
          <a:lstStyle/>
          <a:p>
            <a:pPr defTabSz="1014413">
              <a:lnSpc>
                <a:spcPct val="90000"/>
              </a:lnSpc>
              <a:spcBef>
                <a:spcPct val="20000"/>
              </a:spcBef>
            </a:pPr>
            <a:r>
              <a:rPr lang="en-US" altLang="zh-CN" sz="2500" dirty="0">
                <a:solidFill>
                  <a:srgbClr val="003399"/>
                </a:solidFill>
                <a:latin typeface="+mn-lt"/>
              </a:rPr>
              <a:t>It shows a much poorer performance than BriskStream for its different design focus: </a:t>
            </a:r>
          </a:p>
          <a:p>
            <a:pPr marL="800100" lvl="1" indent="-342900" defTabSz="1014413">
              <a:lnSpc>
                <a:spcPct val="90000"/>
              </a:lnSpc>
              <a:spcBef>
                <a:spcPct val="20000"/>
              </a:spcBef>
              <a:buFont typeface="Arial" panose="020B0604020202020204" pitchFamily="34" charset="0"/>
              <a:buChar char="•"/>
            </a:pPr>
            <a:r>
              <a:rPr lang="en-US" altLang="zh-CN" sz="2500" dirty="0">
                <a:solidFill>
                  <a:srgbClr val="003399"/>
                </a:solidFill>
                <a:latin typeface="+mn-lt"/>
              </a:rPr>
              <a:t>providing </a:t>
            </a:r>
            <a:r>
              <a:rPr lang="en-US" altLang="zh-CN" sz="2500" dirty="0">
                <a:solidFill>
                  <a:srgbClr val="FF0000"/>
                </a:solidFill>
                <a:latin typeface="+mn-lt"/>
              </a:rPr>
              <a:t>ordering guarantee</a:t>
            </a:r>
            <a:r>
              <a:rPr lang="en-US" altLang="zh-CN" sz="2500" dirty="0">
                <a:solidFill>
                  <a:srgbClr val="003399"/>
                </a:solidFill>
                <a:latin typeface="+mn-lt"/>
              </a:rPr>
              <a:t> (bears heavy locking overhead).</a:t>
            </a:r>
            <a:endParaRPr lang="en-US" sz="2500" dirty="0">
              <a:solidFill>
                <a:srgbClr val="003399"/>
              </a:solidFill>
              <a:latin typeface="+mn-lt"/>
            </a:endParaRPr>
          </a:p>
        </p:txBody>
      </p:sp>
      <p:cxnSp>
        <p:nvCxnSpPr>
          <p:cNvPr id="8" name="Straight Connector 7"/>
          <p:cNvCxnSpPr/>
          <p:nvPr/>
        </p:nvCxnSpPr>
        <p:spPr>
          <a:xfrm flipV="1">
            <a:off x="1875631" y="3493294"/>
            <a:ext cx="109586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Freeform 8"/>
          <p:cNvSpPr/>
          <p:nvPr/>
        </p:nvSpPr>
        <p:spPr>
          <a:xfrm>
            <a:off x="1551871" y="5197393"/>
            <a:ext cx="2946810" cy="168556"/>
          </a:xfrm>
          <a:custGeom>
            <a:avLst/>
            <a:gdLst>
              <a:gd name="connsiteX0" fmla="*/ 0 w 3538937"/>
              <a:gd name="connsiteY0" fmla="*/ 202425 h 202425"/>
              <a:gd name="connsiteX1" fmla="*/ 732916 w 3538937"/>
              <a:gd name="connsiteY1" fmla="*/ 188464 h 202425"/>
              <a:gd name="connsiteX2" fmla="*/ 1444891 w 3538937"/>
              <a:gd name="connsiteY2" fmla="*/ 153564 h 202425"/>
              <a:gd name="connsiteX3" fmla="*/ 2142907 w 3538937"/>
              <a:gd name="connsiteY3" fmla="*/ 125643 h 202425"/>
              <a:gd name="connsiteX4" fmla="*/ 2854882 w 3538937"/>
              <a:gd name="connsiteY4" fmla="*/ 41881 h 202425"/>
              <a:gd name="connsiteX5" fmla="*/ 3538937 w 3538937"/>
              <a:gd name="connsiteY5" fmla="*/ 0 h 202425"/>
              <a:gd name="connsiteX6" fmla="*/ 3538937 w 3538937"/>
              <a:gd name="connsiteY6" fmla="*/ 0 h 20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38937" h="202425">
                <a:moveTo>
                  <a:pt x="0" y="202425"/>
                </a:moveTo>
                <a:lnTo>
                  <a:pt x="732916" y="188464"/>
                </a:lnTo>
                <a:cubicBezTo>
                  <a:pt x="973731" y="180321"/>
                  <a:pt x="1444891" y="153564"/>
                  <a:pt x="1444891" y="153564"/>
                </a:cubicBezTo>
                <a:cubicBezTo>
                  <a:pt x="1679889" y="143094"/>
                  <a:pt x="1907909" y="144257"/>
                  <a:pt x="2142907" y="125643"/>
                </a:cubicBezTo>
                <a:cubicBezTo>
                  <a:pt x="2377905" y="107029"/>
                  <a:pt x="2622210" y="62821"/>
                  <a:pt x="2854882" y="41881"/>
                </a:cubicBezTo>
                <a:cubicBezTo>
                  <a:pt x="3087554" y="20941"/>
                  <a:pt x="3538937" y="0"/>
                  <a:pt x="3538937" y="0"/>
                </a:cubicBezTo>
                <a:lnTo>
                  <a:pt x="3538937" y="0"/>
                </a:ln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98"/>
          </a:p>
        </p:txBody>
      </p:sp>
    </p:spTree>
    <p:extLst>
      <p:ext uri="{BB962C8B-B14F-4D97-AF65-F5344CB8AC3E}">
        <p14:creationId xmlns:p14="http://schemas.microsoft.com/office/powerpoint/2010/main" val="346233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0BDE3F38-A1D0-5A49-A722-0EF19B597C78}"/>
              </a:ext>
            </a:extLst>
          </p:cNvPr>
          <p:cNvGrpSpPr/>
          <p:nvPr/>
        </p:nvGrpSpPr>
        <p:grpSpPr>
          <a:xfrm>
            <a:off x="234491" y="2148933"/>
            <a:ext cx="5245620" cy="4102083"/>
            <a:chOff x="0" y="0"/>
            <a:chExt cx="7239190" cy="5474938"/>
          </a:xfrm>
        </p:grpSpPr>
        <p:graphicFrame>
          <p:nvGraphicFramePr>
            <p:cNvPr id="33" name="Chart 32">
              <a:extLst>
                <a:ext uri="{FF2B5EF4-FFF2-40B4-BE49-F238E27FC236}">
                  <a16:creationId xmlns:a16="http://schemas.microsoft.com/office/drawing/2014/main" id="{A127CCA8-9993-E04B-BC70-E7CA6BF95470}"/>
                </a:ext>
              </a:extLst>
            </p:cNvPr>
            <p:cNvGraphicFramePr>
              <a:graphicFrameLocks/>
            </p:cNvGraphicFramePr>
            <p:nvPr>
              <p:extLst>
                <p:ext uri="{D42A27DB-BD31-4B8C-83A1-F6EECF244321}">
                  <p14:modId xmlns:p14="http://schemas.microsoft.com/office/powerpoint/2010/main" val="232555435"/>
                </p:ext>
              </p:extLst>
            </p:nvPr>
          </p:nvGraphicFramePr>
          <p:xfrm>
            <a:off x="0" y="0"/>
            <a:ext cx="7199314" cy="5400676"/>
          </p:xfrm>
          <a:graphic>
            <a:graphicData uri="http://schemas.openxmlformats.org/drawingml/2006/chart">
              <c:chart xmlns:c="http://schemas.openxmlformats.org/drawingml/2006/chart" xmlns:r="http://schemas.openxmlformats.org/officeDocument/2006/relationships" r:id="rId3"/>
            </a:graphicData>
          </a:graphic>
        </p:graphicFrame>
        <p:sp>
          <p:nvSpPr>
            <p:cNvPr id="34" name="TextBox 33">
              <a:extLst>
                <a:ext uri="{FF2B5EF4-FFF2-40B4-BE49-F238E27FC236}">
                  <a16:creationId xmlns:a16="http://schemas.microsoft.com/office/drawing/2014/main" id="{8E708086-7542-F245-81A5-E3A454759558}"/>
                </a:ext>
              </a:extLst>
            </p:cNvPr>
            <p:cNvSpPr txBox="1"/>
            <p:nvPr/>
          </p:nvSpPr>
          <p:spPr>
            <a:xfrm>
              <a:off x="1643875" y="4940688"/>
              <a:ext cx="2659527" cy="533587"/>
            </a:xfrm>
            <a:prstGeom prst="rect">
              <a:avLst/>
            </a:prstGeom>
            <a:noFill/>
          </p:spPr>
          <p:txBody>
            <a:bodyPr wrap="none" rtlCol="0">
              <a:spAutoFit/>
            </a:bodyPr>
            <a:lstStyle/>
            <a:p>
              <a:r>
                <a:rPr lang="en-US" sz="1998" dirty="0"/>
                <a:t>on 1 socket(</a:t>
              </a:r>
              <a:r>
                <a:rPr lang="en-US" sz="1998" dirty="0" err="1"/>
                <a:t>soc.</a:t>
              </a:r>
              <a:r>
                <a:rPr lang="en-US" sz="1998" dirty="0"/>
                <a:t>)</a:t>
              </a:r>
            </a:p>
          </p:txBody>
        </p:sp>
        <p:sp>
          <p:nvSpPr>
            <p:cNvPr id="35" name="Left Brace 34">
              <a:extLst>
                <a:ext uri="{FF2B5EF4-FFF2-40B4-BE49-F238E27FC236}">
                  <a16:creationId xmlns:a16="http://schemas.microsoft.com/office/drawing/2014/main" id="{ED1B7A3A-AEC6-DC41-8AD2-F5D61B6342BE}"/>
                </a:ext>
              </a:extLst>
            </p:cNvPr>
            <p:cNvSpPr/>
            <p:nvPr/>
          </p:nvSpPr>
          <p:spPr>
            <a:xfrm rot="16200000">
              <a:off x="2869883" y="3206473"/>
              <a:ext cx="306846" cy="3224694"/>
            </a:xfrm>
            <a:prstGeom prst="leftBrac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32"/>
            </a:p>
          </p:txBody>
        </p:sp>
        <p:sp>
          <p:nvSpPr>
            <p:cNvPr id="36" name="TextBox 35">
              <a:extLst>
                <a:ext uri="{FF2B5EF4-FFF2-40B4-BE49-F238E27FC236}">
                  <a16:creationId xmlns:a16="http://schemas.microsoft.com/office/drawing/2014/main" id="{B6324B02-3F7D-AA44-AECB-22DB0781AEC4}"/>
                </a:ext>
              </a:extLst>
            </p:cNvPr>
            <p:cNvSpPr txBox="1"/>
            <p:nvPr/>
          </p:nvSpPr>
          <p:spPr>
            <a:xfrm>
              <a:off x="4605198" y="4941351"/>
              <a:ext cx="991515" cy="533587"/>
            </a:xfrm>
            <a:prstGeom prst="rect">
              <a:avLst/>
            </a:prstGeom>
            <a:noFill/>
          </p:spPr>
          <p:txBody>
            <a:bodyPr wrap="none" rtlCol="0">
              <a:spAutoFit/>
            </a:bodyPr>
            <a:lstStyle/>
            <a:p>
              <a:r>
                <a:rPr lang="en-US" sz="1998"/>
                <a:t>2soc</a:t>
              </a:r>
              <a:r>
                <a:rPr lang="en-US" sz="1998" dirty="0" err="1"/>
                <a:t>.</a:t>
              </a:r>
              <a:endParaRPr lang="en-US" sz="1998" dirty="0"/>
            </a:p>
          </p:txBody>
        </p:sp>
        <p:sp>
          <p:nvSpPr>
            <p:cNvPr id="37" name="TextBox 36">
              <a:extLst>
                <a:ext uri="{FF2B5EF4-FFF2-40B4-BE49-F238E27FC236}">
                  <a16:creationId xmlns:a16="http://schemas.microsoft.com/office/drawing/2014/main" id="{C37350A7-4EA6-E444-BF75-27C1FF0A6750}"/>
                </a:ext>
              </a:extLst>
            </p:cNvPr>
            <p:cNvSpPr txBox="1"/>
            <p:nvPr/>
          </p:nvSpPr>
          <p:spPr>
            <a:xfrm>
              <a:off x="5416453" y="4939506"/>
              <a:ext cx="991515" cy="533587"/>
            </a:xfrm>
            <a:prstGeom prst="rect">
              <a:avLst/>
            </a:prstGeom>
            <a:noFill/>
          </p:spPr>
          <p:txBody>
            <a:bodyPr wrap="none" rtlCol="0">
              <a:spAutoFit/>
            </a:bodyPr>
            <a:lstStyle/>
            <a:p>
              <a:r>
                <a:rPr lang="en-US" sz="1998"/>
                <a:t>4soc</a:t>
              </a:r>
              <a:r>
                <a:rPr lang="en-US" sz="1998" dirty="0" err="1"/>
                <a:t>.</a:t>
              </a:r>
              <a:endParaRPr lang="en-US" sz="1998" dirty="0"/>
            </a:p>
          </p:txBody>
        </p:sp>
        <p:sp>
          <p:nvSpPr>
            <p:cNvPr id="38" name="TextBox 37">
              <a:extLst>
                <a:ext uri="{FF2B5EF4-FFF2-40B4-BE49-F238E27FC236}">
                  <a16:creationId xmlns:a16="http://schemas.microsoft.com/office/drawing/2014/main" id="{B29465E4-8F7E-9A47-BCD1-0552573C40F5}"/>
                </a:ext>
              </a:extLst>
            </p:cNvPr>
            <p:cNvSpPr txBox="1"/>
            <p:nvPr/>
          </p:nvSpPr>
          <p:spPr>
            <a:xfrm>
              <a:off x="6247675" y="4941351"/>
              <a:ext cx="991515" cy="533587"/>
            </a:xfrm>
            <a:prstGeom prst="rect">
              <a:avLst/>
            </a:prstGeom>
            <a:noFill/>
          </p:spPr>
          <p:txBody>
            <a:bodyPr wrap="none" rtlCol="0">
              <a:spAutoFit/>
            </a:bodyPr>
            <a:lstStyle/>
            <a:p>
              <a:r>
                <a:rPr lang="en-US" sz="1998" dirty="0"/>
                <a:t>8soc.</a:t>
              </a:r>
            </a:p>
          </p:txBody>
        </p:sp>
        <p:sp>
          <p:nvSpPr>
            <p:cNvPr id="39" name="Left Brace 38">
              <a:extLst>
                <a:ext uri="{FF2B5EF4-FFF2-40B4-BE49-F238E27FC236}">
                  <a16:creationId xmlns:a16="http://schemas.microsoft.com/office/drawing/2014/main" id="{3685E678-8995-7746-BE11-9E20F8992BE6}"/>
                </a:ext>
              </a:extLst>
            </p:cNvPr>
            <p:cNvSpPr/>
            <p:nvPr/>
          </p:nvSpPr>
          <p:spPr>
            <a:xfrm rot="16200000">
              <a:off x="4943707" y="4416981"/>
              <a:ext cx="263454" cy="760288"/>
            </a:xfrm>
            <a:prstGeom prst="leftBrac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32"/>
            </a:p>
          </p:txBody>
        </p:sp>
        <p:sp>
          <p:nvSpPr>
            <p:cNvPr id="40" name="Left Brace 39">
              <a:extLst>
                <a:ext uri="{FF2B5EF4-FFF2-40B4-BE49-F238E27FC236}">
                  <a16:creationId xmlns:a16="http://schemas.microsoft.com/office/drawing/2014/main" id="{219B1606-8D51-CF49-90DE-290788B599FF}"/>
                </a:ext>
              </a:extLst>
            </p:cNvPr>
            <p:cNvSpPr/>
            <p:nvPr/>
          </p:nvSpPr>
          <p:spPr>
            <a:xfrm rot="16200000">
              <a:off x="5755369" y="4359097"/>
              <a:ext cx="263454" cy="863029"/>
            </a:xfrm>
            <a:prstGeom prst="leftBrac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32"/>
            </a:p>
          </p:txBody>
        </p:sp>
        <p:sp>
          <p:nvSpPr>
            <p:cNvPr id="41" name="Left Brace 40">
              <a:extLst>
                <a:ext uri="{FF2B5EF4-FFF2-40B4-BE49-F238E27FC236}">
                  <a16:creationId xmlns:a16="http://schemas.microsoft.com/office/drawing/2014/main" id="{8D60A53F-C687-9749-A1C6-78BB4AD9D288}"/>
                </a:ext>
              </a:extLst>
            </p:cNvPr>
            <p:cNvSpPr/>
            <p:nvPr/>
          </p:nvSpPr>
          <p:spPr>
            <a:xfrm rot="16200000">
              <a:off x="6586590" y="4436547"/>
              <a:ext cx="263454" cy="721154"/>
            </a:xfrm>
            <a:prstGeom prst="leftBrace">
              <a:avLst/>
            </a:prstGeom>
            <a:ln w="317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32"/>
            </a:p>
          </p:txBody>
        </p:sp>
        <p:sp>
          <p:nvSpPr>
            <p:cNvPr id="42" name="TextBox 41">
              <a:extLst>
                <a:ext uri="{FF2B5EF4-FFF2-40B4-BE49-F238E27FC236}">
                  <a16:creationId xmlns:a16="http://schemas.microsoft.com/office/drawing/2014/main" id="{916033B1-B571-0B42-BBE6-E211EF981B03}"/>
                </a:ext>
              </a:extLst>
            </p:cNvPr>
            <p:cNvSpPr txBox="1"/>
            <p:nvPr/>
          </p:nvSpPr>
          <p:spPr>
            <a:xfrm rot="16200000">
              <a:off x="6353447" y="3810536"/>
              <a:ext cx="670087" cy="339619"/>
            </a:xfrm>
            <a:prstGeom prst="rect">
              <a:avLst/>
            </a:prstGeom>
            <a:noFill/>
          </p:spPr>
          <p:txBody>
            <a:bodyPr wrap="none" rtlCol="0">
              <a:spAutoFit/>
            </a:bodyPr>
            <a:lstStyle/>
            <a:p>
              <a:r>
                <a:rPr lang="en-US" sz="999" b="1" dirty="0">
                  <a:latin typeface="Helvetica" charset="0"/>
                  <a:ea typeface="Helvetica" charset="0"/>
                  <a:cs typeface="Helvetica" charset="0"/>
                </a:rPr>
                <a:t>471.2</a:t>
              </a:r>
            </a:p>
          </p:txBody>
        </p:sp>
      </p:grpSp>
      <p:sp>
        <p:nvSpPr>
          <p:cNvPr id="2" name="Title 1"/>
          <p:cNvSpPr>
            <a:spLocks noGrp="1"/>
          </p:cNvSpPr>
          <p:nvPr>
            <p:ph type="title"/>
          </p:nvPr>
        </p:nvSpPr>
        <p:spPr/>
        <p:txBody>
          <a:bodyPr/>
          <a:lstStyle/>
          <a:p>
            <a:r>
              <a:rPr lang="en-US" dirty="0"/>
              <a:t>How about other Single-node Optimized DSPS?</a:t>
            </a:r>
          </a:p>
        </p:txBody>
      </p:sp>
      <p:sp>
        <p:nvSpPr>
          <p:cNvPr id="30" name="Rectangle 29"/>
          <p:cNvSpPr/>
          <p:nvPr/>
        </p:nvSpPr>
        <p:spPr>
          <a:xfrm>
            <a:off x="5577508" y="2181225"/>
            <a:ext cx="4237383" cy="3728210"/>
          </a:xfrm>
          <a:prstGeom prst="rect">
            <a:avLst/>
          </a:prstGeom>
          <a:ln>
            <a:noFill/>
          </a:ln>
        </p:spPr>
        <p:txBody>
          <a:bodyPr wrap="square" lIns="29977" tIns="29977" rIns="29977" bIns="29977">
            <a:spAutoFit/>
          </a:bodyPr>
          <a:lstStyle/>
          <a:p>
            <a:pPr marL="342900" indent="-342900">
              <a:lnSpc>
                <a:spcPct val="90000"/>
              </a:lnSpc>
              <a:spcBef>
                <a:spcPts val="833"/>
              </a:spcBef>
              <a:buFont typeface="Arial" panose="020B0604020202020204" pitchFamily="34" charset="0"/>
              <a:buChar char="•"/>
            </a:pPr>
            <a:r>
              <a:rPr lang="en-US" altLang="zh-CN" sz="2500" dirty="0">
                <a:solidFill>
                  <a:srgbClr val="003399"/>
                </a:solidFill>
                <a:latin typeface="+mn-lt"/>
              </a:rPr>
              <a:t>StreamBox (w/o ordering guarantee) still leads to sub-optimality under large core count due to its greedy nature for addressing NUMA effect.</a:t>
            </a:r>
          </a:p>
          <a:p>
            <a:pPr marL="342900" indent="-342900">
              <a:lnSpc>
                <a:spcPct val="90000"/>
              </a:lnSpc>
              <a:spcBef>
                <a:spcPts val="833"/>
              </a:spcBef>
              <a:buFont typeface="Arial" panose="020B0604020202020204" pitchFamily="34" charset="0"/>
              <a:buChar char="•"/>
            </a:pPr>
            <a:endParaRPr lang="en-US" altLang="zh-CN" sz="2500" dirty="0">
              <a:solidFill>
                <a:srgbClr val="003399"/>
              </a:solidFill>
              <a:latin typeface="+mn-lt"/>
            </a:endParaRPr>
          </a:p>
          <a:p>
            <a:pPr marL="342900" indent="-342900">
              <a:lnSpc>
                <a:spcPct val="90000"/>
              </a:lnSpc>
              <a:spcBef>
                <a:spcPts val="833"/>
              </a:spcBef>
              <a:buFont typeface="Arial" panose="020B0604020202020204" pitchFamily="34" charset="0"/>
              <a:buChar char="•"/>
            </a:pPr>
            <a:r>
              <a:rPr lang="en-US" sz="2500" dirty="0">
                <a:solidFill>
                  <a:srgbClr val="003399"/>
                </a:solidFill>
                <a:latin typeface="+mn-lt"/>
              </a:rPr>
              <a:t>Nevertheless, we foresee an interesting future work to employ morsel-driven execution into BriskStream.</a:t>
            </a:r>
          </a:p>
        </p:txBody>
      </p:sp>
    </p:spTree>
    <p:extLst>
      <p:ext uri="{BB962C8B-B14F-4D97-AF65-F5344CB8AC3E}">
        <p14:creationId xmlns:p14="http://schemas.microsoft.com/office/powerpoint/2010/main" val="4111534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Recap</a:t>
            </a:r>
            <a:endParaRPr lang="en-US" dirty="0"/>
          </a:p>
        </p:txBody>
      </p:sp>
      <p:sp>
        <p:nvSpPr>
          <p:cNvPr id="3" name="Content Placeholder 2"/>
          <p:cNvSpPr>
            <a:spLocks noGrp="1"/>
          </p:cNvSpPr>
          <p:nvPr>
            <p:ph idx="1"/>
          </p:nvPr>
        </p:nvSpPr>
        <p:spPr/>
        <p:txBody>
          <a:bodyPr>
            <a:normAutofit/>
          </a:bodyPr>
          <a:lstStyle/>
          <a:p>
            <a:r>
              <a:rPr lang="en-US" sz="2800" b="0" dirty="0"/>
              <a:t>BriskStream scales stream computation towards </a:t>
            </a:r>
            <a:r>
              <a:rPr lang="en-US" sz="2800" b="0" u="sng" dirty="0">
                <a:solidFill>
                  <a:srgbClr val="FF0000"/>
                </a:solidFill>
              </a:rPr>
              <a:t>hundred of cores</a:t>
            </a:r>
            <a:r>
              <a:rPr lang="en-US" sz="2800" b="0" dirty="0"/>
              <a:t> under NUMA effect even without the tedious tuning process.  </a:t>
            </a:r>
          </a:p>
          <a:p>
            <a:endParaRPr lang="en-US" sz="2800" b="0" dirty="0"/>
          </a:p>
          <a:p>
            <a:r>
              <a:rPr lang="en-US" sz="2800" b="0" dirty="0"/>
              <a:t>We demonstrated that </a:t>
            </a:r>
            <a:r>
              <a:rPr lang="en-US" sz="2800" b="0" u="sng" dirty="0">
                <a:solidFill>
                  <a:srgbClr val="FF0000"/>
                </a:solidFill>
              </a:rPr>
              <a:t>relative-location awareness </a:t>
            </a:r>
            <a:r>
              <a:rPr lang="en-US" sz="2800" b="0" dirty="0"/>
              <a:t>(or varying processing capability awareness) is the key to address NUMA effect in optimizing stream computation on modern multicore architectures.</a:t>
            </a:r>
          </a:p>
          <a:p>
            <a:endParaRPr lang="en-US" altLang="en-US" sz="2800" b="0" dirty="0"/>
          </a:p>
        </p:txBody>
      </p:sp>
    </p:spTree>
    <p:extLst>
      <p:ext uri="{BB962C8B-B14F-4D97-AF65-F5344CB8AC3E}">
        <p14:creationId xmlns:p14="http://schemas.microsoft.com/office/powerpoint/2010/main" val="140751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Acknowledgement</a:t>
            </a:r>
          </a:p>
        </p:txBody>
      </p:sp>
      <p:sp>
        <p:nvSpPr>
          <p:cNvPr id="3" name="Content Placeholder 2"/>
          <p:cNvSpPr>
            <a:spLocks noGrp="1"/>
          </p:cNvSpPr>
          <p:nvPr>
            <p:ph idx="1"/>
          </p:nvPr>
        </p:nvSpPr>
        <p:spPr/>
        <p:txBody>
          <a:bodyPr>
            <a:normAutofit/>
          </a:bodyPr>
          <a:lstStyle/>
          <a:p>
            <a:pPr marL="342900" indent="-342900">
              <a:buFont typeface="Arial" panose="020B0604020202020204" pitchFamily="34" charset="0"/>
              <a:buChar char="•"/>
            </a:pPr>
            <a:r>
              <a:rPr lang="en-SG" b="0" dirty="0"/>
              <a:t>This work is supported by a </a:t>
            </a:r>
            <a:r>
              <a:rPr lang="en-SG" b="0" dirty="0" err="1"/>
              <a:t>MoE</a:t>
            </a:r>
            <a:r>
              <a:rPr lang="en-SG" b="0" dirty="0"/>
              <a:t> </a:t>
            </a:r>
            <a:r>
              <a:rPr lang="en-SG" b="0" dirty="0" err="1"/>
              <a:t>AcRF</a:t>
            </a:r>
            <a:r>
              <a:rPr lang="en-SG" b="0" dirty="0"/>
              <a:t> Tier 2 grant (MOE2017-T2-1-122) and an NUS </a:t>
            </a:r>
            <a:r>
              <a:rPr lang="en-SG" b="0" dirty="0" err="1"/>
              <a:t>startup</a:t>
            </a:r>
            <a:r>
              <a:rPr lang="en-SG" b="0" dirty="0"/>
              <a:t> grant in Singapore.</a:t>
            </a:r>
          </a:p>
          <a:p>
            <a:pPr marL="342900" indent="-342900">
              <a:buFont typeface="Arial" panose="020B0604020202020204" pitchFamily="34" charset="0"/>
              <a:buChar char="•"/>
            </a:pPr>
            <a:r>
              <a:rPr lang="en-SG" b="0" dirty="0" err="1"/>
              <a:t>Jiong</a:t>
            </a:r>
            <a:r>
              <a:rPr lang="en-SG" b="0" dirty="0"/>
              <a:t> He is supported by the National Research Foundation, Prime Ministers Office, Singapore under its Campus for Research Excellence and Technological Enterprise (CREATE) programme. </a:t>
            </a:r>
          </a:p>
          <a:p>
            <a:pPr marL="342900" indent="-342900">
              <a:buFont typeface="Arial" panose="020B0604020202020204" pitchFamily="34" charset="0"/>
              <a:buChar char="•"/>
            </a:pPr>
            <a:r>
              <a:rPr lang="en-SG" b="0" dirty="0"/>
              <a:t>Chi Zhou’s work is partially supported by the National Natural Science Foundation of China under Grant 61802260 and the Guangdong Natural Science Foundation under Grant 2018A030310440. </a:t>
            </a:r>
            <a:endParaRPr lang="en-SG" sz="2800" b="0" dirty="0"/>
          </a:p>
          <a:p>
            <a:pPr marL="457200" indent="-457200">
              <a:buFont typeface="Arial" panose="020B0604020202020204" pitchFamily="34" charset="0"/>
              <a:buChar char="•"/>
            </a:pPr>
            <a:endParaRPr lang="en-US" sz="2665" b="0" dirty="0"/>
          </a:p>
        </p:txBody>
      </p:sp>
    </p:spTree>
    <p:extLst>
      <p:ext uri="{BB962C8B-B14F-4D97-AF65-F5344CB8AC3E}">
        <p14:creationId xmlns:p14="http://schemas.microsoft.com/office/powerpoint/2010/main" val="26490591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Q&amp;A</a:t>
            </a:r>
          </a:p>
        </p:txBody>
      </p:sp>
      <p:sp>
        <p:nvSpPr>
          <p:cNvPr id="7" name="Title 6"/>
          <p:cNvSpPr txBox="1">
            <a:spLocks/>
          </p:cNvSpPr>
          <p:nvPr/>
        </p:nvSpPr>
        <p:spPr>
          <a:xfrm>
            <a:off x="2401353" y="3598878"/>
            <a:ext cx="5083840" cy="615998"/>
          </a:xfrm>
          <a:prstGeom prst="rect">
            <a:avLst/>
          </a:prstGeom>
          <a:solidFill>
            <a:schemeClr val="bg1"/>
          </a:solidFill>
        </p:spPr>
        <p:txBody>
          <a:bodyPr vert="horz" lIns="76140" tIns="38070" rIns="76140" bIns="3807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n-US" sz="2665" dirty="0"/>
              <a:t>Thank you</a:t>
            </a:r>
          </a:p>
          <a:p>
            <a:pPr algn="ctr">
              <a:defRPr/>
            </a:pPr>
            <a:r>
              <a:rPr lang="en-US" sz="2665" dirty="0" err="1"/>
              <a:t>shuhao.zhang@comp.nus.edu.sg</a:t>
            </a:r>
            <a:endParaRPr lang="en-US" sz="2665" dirty="0"/>
          </a:p>
        </p:txBody>
      </p:sp>
      <p:sp>
        <p:nvSpPr>
          <p:cNvPr id="8" name="Text Placeholder 7"/>
          <p:cNvSpPr txBox="1">
            <a:spLocks/>
          </p:cNvSpPr>
          <p:nvPr/>
        </p:nvSpPr>
        <p:spPr>
          <a:xfrm>
            <a:off x="3172519" y="5350761"/>
            <a:ext cx="6471940" cy="1249179"/>
          </a:xfrm>
          <a:prstGeom prst="rect">
            <a:avLst/>
          </a:prstGeom>
        </p:spPr>
        <p:txBody>
          <a:bodyPr vert="horz" lIns="76140" tIns="38070" rIns="76140" bIns="38070" rtlCol="0">
            <a:normAutofit/>
          </a:bodyPr>
          <a:lstStyle>
            <a:lvl1pPr marL="228600" indent="-228600" algn="l" defTabSz="914400" rtl="0" eaLnBrk="1" latinLnBrk="0" hangingPunct="1">
              <a:lnSpc>
                <a:spcPct val="90000"/>
              </a:lnSpc>
              <a:spcBef>
                <a:spcPts val="1000"/>
              </a:spcBef>
              <a:buFont typeface="Wingdings" panose="05000000000000000000" pitchFamily="2" charset="2"/>
              <a:buChar char="v"/>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v"/>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v"/>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r>
              <a:rPr lang="en-US" altLang="en-US" sz="2665" dirty="0"/>
              <a:t>END</a:t>
            </a:r>
          </a:p>
        </p:txBody>
      </p:sp>
      <p:sp>
        <p:nvSpPr>
          <p:cNvPr id="6" name="Rectangle 5">
            <a:extLst>
              <a:ext uri="{FF2B5EF4-FFF2-40B4-BE49-F238E27FC236}">
                <a16:creationId xmlns:a16="http://schemas.microsoft.com/office/drawing/2014/main" id="{46C6E436-453B-2E45-A27D-96B02B751E10}"/>
              </a:ext>
            </a:extLst>
          </p:cNvPr>
          <p:cNvSpPr/>
          <p:nvPr/>
        </p:nvSpPr>
        <p:spPr>
          <a:xfrm>
            <a:off x="1133273" y="6346680"/>
            <a:ext cx="7620000" cy="461665"/>
          </a:xfrm>
          <a:prstGeom prst="rect">
            <a:avLst/>
          </a:prstGeom>
        </p:spPr>
        <p:txBody>
          <a:bodyPr wrap="square">
            <a:spAutoFit/>
          </a:bodyPr>
          <a:lstStyle/>
          <a:p>
            <a:r>
              <a:rPr lang="en-US" dirty="0">
                <a:solidFill>
                  <a:srgbClr val="FF0000"/>
                </a:solidFill>
                <a:latin typeface="Comic Sans MS" charset="0"/>
                <a:ea typeface="ＭＳ Ｐゴシック" charset="0"/>
                <a:cs typeface="ＭＳ Ｐゴシック" charset="0"/>
              </a:rPr>
              <a:t>https://</a:t>
            </a:r>
            <a:r>
              <a:rPr lang="en-US" dirty="0" err="1">
                <a:solidFill>
                  <a:srgbClr val="FF0000"/>
                </a:solidFill>
                <a:latin typeface="Comic Sans MS" charset="0"/>
                <a:ea typeface="ＭＳ Ｐゴシック" charset="0"/>
                <a:cs typeface="ＭＳ Ｐゴシック" charset="0"/>
              </a:rPr>
              <a:t>github.com</a:t>
            </a:r>
            <a:r>
              <a:rPr lang="en-US" dirty="0">
                <a:solidFill>
                  <a:srgbClr val="FF0000"/>
                </a:solidFill>
                <a:latin typeface="Comic Sans MS" charset="0"/>
                <a:ea typeface="ＭＳ Ｐゴシック" charset="0"/>
                <a:cs typeface="ＭＳ Ｐゴシック" charset="0"/>
              </a:rPr>
              <a:t>/</a:t>
            </a:r>
            <a:r>
              <a:rPr lang="en-US" dirty="0" err="1">
                <a:solidFill>
                  <a:srgbClr val="FF0000"/>
                </a:solidFill>
                <a:latin typeface="Comic Sans MS" charset="0"/>
                <a:ea typeface="ＭＳ Ｐゴシック" charset="0"/>
                <a:cs typeface="ＭＳ Ｐゴシック" charset="0"/>
              </a:rPr>
              <a:t>ShuhaoZhangTony</a:t>
            </a:r>
            <a:r>
              <a:rPr lang="en-US" dirty="0">
                <a:solidFill>
                  <a:srgbClr val="FF0000"/>
                </a:solidFill>
                <a:latin typeface="Comic Sans MS" charset="0"/>
                <a:ea typeface="ＭＳ Ｐゴシック" charset="0"/>
                <a:cs typeface="ＭＳ Ｐゴシック" charset="0"/>
              </a:rPr>
              <a:t>/</a:t>
            </a:r>
            <a:r>
              <a:rPr lang="en-US" dirty="0" err="1">
                <a:solidFill>
                  <a:srgbClr val="FF0000"/>
                </a:solidFill>
                <a:latin typeface="Comic Sans MS" charset="0"/>
                <a:ea typeface="ＭＳ Ｐゴシック" charset="0"/>
                <a:cs typeface="ＭＳ Ｐゴシック" charset="0"/>
              </a:rPr>
              <a:t>briskstream</a:t>
            </a:r>
            <a:endParaRPr lang="en-US" dirty="0"/>
          </a:p>
        </p:txBody>
      </p:sp>
    </p:spTree>
    <p:extLst>
      <p:ext uri="{BB962C8B-B14F-4D97-AF65-F5344CB8AC3E}">
        <p14:creationId xmlns:p14="http://schemas.microsoft.com/office/powerpoint/2010/main" val="34330657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State-of-the-art</a:t>
            </a:r>
          </a:p>
        </p:txBody>
      </p:sp>
      <p:sp>
        <p:nvSpPr>
          <p:cNvPr id="3" name="Content Placeholder 2"/>
          <p:cNvSpPr>
            <a:spLocks noGrp="1"/>
          </p:cNvSpPr>
          <p:nvPr>
            <p:ph idx="1"/>
          </p:nvPr>
        </p:nvSpPr>
        <p:spPr>
          <a:xfrm>
            <a:off x="611188" y="2193925"/>
            <a:ext cx="8628062" cy="4740275"/>
          </a:xfrm>
        </p:spPr>
        <p:txBody>
          <a:bodyPr/>
          <a:lstStyle/>
          <a:p>
            <a:pPr marL="342900" indent="-342900">
              <a:buFont typeface="Arial" panose="020B0604020202020204" pitchFamily="34" charset="0"/>
              <a:buChar char="•"/>
            </a:pPr>
            <a:r>
              <a:rPr lang="en-US" dirty="0"/>
              <a:t>Operator replication and placement optimization is a classical topic.</a:t>
            </a:r>
          </a:p>
          <a:p>
            <a:pPr marL="831850" lvl="1" indent="-457200">
              <a:buFont typeface="Arial" panose="020B0604020202020204" pitchFamily="34" charset="0"/>
              <a:buChar char="•"/>
            </a:pPr>
            <a:r>
              <a:rPr lang="en-US" dirty="0"/>
              <a:t>But commonly assume a fixed (vs. </a:t>
            </a:r>
            <a:r>
              <a:rPr lang="en-US" u="sng" dirty="0">
                <a:solidFill>
                  <a:srgbClr val="FF0000"/>
                </a:solidFill>
              </a:rPr>
              <a:t>dependent</a:t>
            </a:r>
            <a:r>
              <a:rPr lang="en-US" dirty="0"/>
              <a:t>) processing behavior of each operator/replica.</a:t>
            </a:r>
          </a:p>
          <a:p>
            <a:pPr marL="831850" lvl="1" indent="-457200">
              <a:buFont typeface="Arial" panose="020B0604020202020204" pitchFamily="34" charset="0"/>
              <a:buChar char="•"/>
            </a:pPr>
            <a:endParaRPr lang="en-US" dirty="0"/>
          </a:p>
          <a:p>
            <a:pPr marL="342900" indent="-342900">
              <a:buFont typeface="Arial" panose="020B0604020202020204" pitchFamily="34" charset="0"/>
              <a:buChar char="•"/>
            </a:pPr>
            <a:r>
              <a:rPr lang="en-US" dirty="0"/>
              <a:t>NUMA-aware query optimization.</a:t>
            </a:r>
          </a:p>
          <a:p>
            <a:pPr marL="831850" lvl="1" indent="-457200">
              <a:buFont typeface="Arial" panose="020B0604020202020204" pitchFamily="34" charset="0"/>
              <a:buChar char="•"/>
            </a:pPr>
            <a:r>
              <a:rPr lang="en-US" dirty="0"/>
              <a:t>Different system model (ad-hoc vs. </a:t>
            </a:r>
            <a:r>
              <a:rPr lang="en-US" u="sng" dirty="0">
                <a:solidFill>
                  <a:srgbClr val="FF0000"/>
                </a:solidFill>
              </a:rPr>
              <a:t>continuous</a:t>
            </a:r>
            <a:r>
              <a:rPr lang="en-US" dirty="0"/>
              <a:t>).</a:t>
            </a:r>
          </a:p>
          <a:p>
            <a:pPr marL="831850" lvl="1" indent="-457200">
              <a:buFont typeface="Arial" panose="020B0604020202020204" pitchFamily="34" charset="0"/>
              <a:buChar char="•"/>
            </a:pPr>
            <a:r>
              <a:rPr lang="en-US" dirty="0"/>
              <a:t>Usually different optimization goals (load-balancing vs. </a:t>
            </a:r>
            <a:r>
              <a:rPr lang="en-US" u="sng" dirty="0">
                <a:solidFill>
                  <a:srgbClr val="FF0000"/>
                </a:solidFill>
              </a:rPr>
              <a:t>throughput</a:t>
            </a:r>
            <a:r>
              <a:rPr lang="en-US" dirty="0"/>
              <a:t>).</a:t>
            </a:r>
          </a:p>
          <a:p>
            <a:pPr marL="831850" lvl="1" indent="-457200">
              <a:buFont typeface="Arial" panose="020B0604020202020204" pitchFamily="34" charset="0"/>
              <a:buChar char="•"/>
            </a:pPr>
            <a:r>
              <a:rPr lang="en-US" dirty="0"/>
              <a:t>Based on simple heuristics (greedy vs. </a:t>
            </a:r>
            <a:r>
              <a:rPr lang="en-US" u="sng" dirty="0">
                <a:solidFill>
                  <a:srgbClr val="FF0000"/>
                </a:solidFill>
              </a:rPr>
              <a:t>model-guided</a:t>
            </a:r>
            <a:r>
              <a:rPr lang="en-US" dirty="0"/>
              <a:t>).</a:t>
            </a:r>
          </a:p>
        </p:txBody>
      </p:sp>
    </p:spTree>
    <p:extLst>
      <p:ext uri="{BB962C8B-B14F-4D97-AF65-F5344CB8AC3E}">
        <p14:creationId xmlns:p14="http://schemas.microsoft.com/office/powerpoint/2010/main" val="827551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RLAS</a:t>
            </a:r>
            <a:r>
              <a:rPr lang="zh-CN" altLang="en-US" dirty="0"/>
              <a:t> </a:t>
            </a:r>
            <a:r>
              <a:rPr lang="en-US" altLang="zh-CN" dirty="0"/>
              <a:t>Optimization</a:t>
            </a:r>
            <a:endParaRPr lang="en-US" dirty="0"/>
          </a:p>
        </p:txBody>
      </p:sp>
      <p:sp>
        <p:nvSpPr>
          <p:cNvPr id="4" name="Content Placeholder 3">
            <a:extLst>
              <a:ext uri="{FF2B5EF4-FFF2-40B4-BE49-F238E27FC236}">
                <a16:creationId xmlns:a16="http://schemas.microsoft.com/office/drawing/2014/main" id="{4593544E-AD85-3E4E-A5DB-C64F12EFAE5B}"/>
              </a:ext>
            </a:extLst>
          </p:cNvPr>
          <p:cNvSpPr>
            <a:spLocks noGrp="1"/>
          </p:cNvSpPr>
          <p:nvPr>
            <p:ph idx="1"/>
          </p:nvPr>
        </p:nvSpPr>
        <p:spPr/>
        <p:txBody>
          <a:bodyPr/>
          <a:lstStyle/>
          <a:p>
            <a:r>
              <a:rPr lang="en-US" altLang="zh-CN" sz="2600" dirty="0">
                <a:ea typeface="ＭＳ Ｐゴシック" charset="0"/>
              </a:rPr>
              <a:t>RLAS optimization framework</a:t>
            </a:r>
            <a:r>
              <a:rPr lang="en-US" altLang="zh-CN" dirty="0">
                <a:ea typeface="ＭＳ Ｐゴシック" charset="0"/>
              </a:rPr>
              <a:t>:</a:t>
            </a:r>
          </a:p>
          <a:p>
            <a:pPr marL="717550" lvl="1" indent="-342900">
              <a:buFont typeface="Arial" panose="020B0604020202020204" pitchFamily="34" charset="0"/>
              <a:buChar char="•"/>
            </a:pPr>
            <a:r>
              <a:rPr lang="en-US" altLang="zh-CN" dirty="0">
                <a:ea typeface="ＭＳ Ｐゴシック" charset="0"/>
              </a:rPr>
              <a:t>relative-location aware, </a:t>
            </a:r>
          </a:p>
          <a:p>
            <a:pPr marL="717550" lvl="1" indent="-342900">
              <a:buFont typeface="Arial" panose="020B0604020202020204" pitchFamily="34" charset="0"/>
              <a:buChar char="•"/>
            </a:pPr>
            <a:r>
              <a:rPr lang="en-US" altLang="zh-CN" dirty="0">
                <a:ea typeface="ＭＳ Ｐゴシック" charset="0"/>
              </a:rPr>
              <a:t>model-guided, </a:t>
            </a:r>
          </a:p>
          <a:p>
            <a:pPr marL="717550" lvl="1" indent="-342900">
              <a:buFont typeface="Arial" panose="020B0604020202020204" pitchFamily="34" charset="0"/>
              <a:buChar char="•"/>
            </a:pPr>
            <a:r>
              <a:rPr lang="en-US" altLang="zh-CN" dirty="0">
                <a:ea typeface="ＭＳ Ｐゴシック" charset="0"/>
              </a:rPr>
              <a:t>maximizing throughput for streaming application.</a:t>
            </a:r>
          </a:p>
          <a:p>
            <a:endParaRPr lang="en-US" dirty="0"/>
          </a:p>
        </p:txBody>
      </p:sp>
    </p:spTree>
    <p:extLst>
      <p:ext uri="{BB962C8B-B14F-4D97-AF65-F5344CB8AC3E}">
        <p14:creationId xmlns:p14="http://schemas.microsoft.com/office/powerpoint/2010/main" val="18273031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NUMA Servers</a:t>
            </a:r>
          </a:p>
        </p:txBody>
      </p:sp>
      <p:pic>
        <p:nvPicPr>
          <p:cNvPr id="7" name="Content Placeholder 6"/>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76480" y="2354028"/>
            <a:ext cx="4067359" cy="2637169"/>
          </a:xfr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223" y="2243251"/>
            <a:ext cx="4356304" cy="2747947"/>
          </a:xfrm>
          <a:prstGeom prst="rect">
            <a:avLst/>
          </a:prstGeom>
        </p:spPr>
      </p:pic>
      <mc:AlternateContent xmlns:mc="http://schemas.openxmlformats.org/markup-compatibility/2006" xmlns:a14="http://schemas.microsoft.com/office/drawing/2010/main">
        <mc:Choice Requires="a14">
          <p:sp>
            <p:nvSpPr>
              <p:cNvPr id="9" name="TextBox 8"/>
              <p:cNvSpPr txBox="1"/>
              <p:nvPr/>
            </p:nvSpPr>
            <p:spPr>
              <a:xfrm>
                <a:off x="1646333" y="5243023"/>
                <a:ext cx="2917786" cy="569643"/>
              </a:xfrm>
              <a:prstGeom prst="rect">
                <a:avLst/>
              </a:prstGeom>
              <a:noFill/>
            </p:spPr>
            <p:txBody>
              <a:bodyPr wrap="none" rtlCol="0">
                <a:spAutoFit/>
              </a:bodyPr>
              <a:lstStyle/>
              <a:p>
                <a:r>
                  <a:rPr lang="en-US" sz="1551" dirty="0"/>
                  <a:t>(a) Server A: HUAWEI </a:t>
                </a:r>
                <a:r>
                  <a:rPr lang="en-US" sz="1551" dirty="0" err="1"/>
                  <a:t>KunLun</a:t>
                </a:r>
                <a:endParaRPr lang="en-US" sz="1551" dirty="0"/>
              </a:p>
              <a:p>
                <a14:m>
                  <m:oMath xmlns:m="http://schemas.openxmlformats.org/officeDocument/2006/math">
                    <m:r>
                      <a:rPr lang="en-US" sz="1551" i="1" dirty="0">
                        <a:latin typeface="Cambria Math" charset="0"/>
                      </a:rPr>
                      <m:t>8</m:t>
                    </m:r>
                    <m:r>
                      <a:rPr lang="en-US" sz="1551" i="1" dirty="0">
                        <a:latin typeface="Cambria Math" charset="0"/>
                        <a:ea typeface="Cambria Math" charset="0"/>
                        <a:cs typeface="Cambria Math" charset="0"/>
                      </a:rPr>
                      <m:t>×</m:t>
                    </m:r>
                    <m:r>
                      <a:rPr lang="en-US" sz="1551" i="1" dirty="0">
                        <a:latin typeface="Cambria Math" charset="0"/>
                      </a:rPr>
                      <m:t>18 </m:t>
                    </m:r>
                  </m:oMath>
                </a14:m>
                <a:r>
                  <a:rPr lang="en-US" sz="1551" dirty="0"/>
                  <a:t>Cores  (w/o HT) @ 1.2GHz</a:t>
                </a:r>
              </a:p>
            </p:txBody>
          </p:sp>
        </mc:Choice>
        <mc:Fallback xmlns="">
          <p:sp>
            <p:nvSpPr>
              <p:cNvPr id="9" name="TextBox 8"/>
              <p:cNvSpPr txBox="1">
                <a:spLocks noRot="1" noChangeAspect="1" noMove="1" noResize="1" noEditPoints="1" noAdjustHandles="1" noChangeArrowheads="1" noChangeShapeType="1" noTextEdit="1"/>
              </p:cNvSpPr>
              <p:nvPr/>
            </p:nvSpPr>
            <p:spPr>
              <a:xfrm>
                <a:off x="1646333" y="5243023"/>
                <a:ext cx="2917786" cy="569643"/>
              </a:xfrm>
              <a:prstGeom prst="rect">
                <a:avLst/>
              </a:prstGeom>
              <a:blipFill>
                <a:blip r:embed="rId5"/>
                <a:stretch>
                  <a:fillRect l="-870" t="-2174" b="-13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6152806" y="5243023"/>
                <a:ext cx="2906565" cy="569643"/>
              </a:xfrm>
              <a:prstGeom prst="rect">
                <a:avLst/>
              </a:prstGeom>
              <a:noFill/>
            </p:spPr>
            <p:txBody>
              <a:bodyPr wrap="none" rtlCol="0">
                <a:spAutoFit/>
              </a:bodyPr>
              <a:lstStyle/>
              <a:p>
                <a:r>
                  <a:rPr lang="en-US" sz="1551" dirty="0"/>
                  <a:t>(b) Server B: HP ProLiant DL980</a:t>
                </a:r>
              </a:p>
              <a:p>
                <a14:m>
                  <m:oMath xmlns:m="http://schemas.openxmlformats.org/officeDocument/2006/math">
                    <m:r>
                      <a:rPr lang="en-US" sz="1551" i="1" dirty="0">
                        <a:latin typeface="Cambria Math" charset="0"/>
                      </a:rPr>
                      <m:t>8</m:t>
                    </m:r>
                    <m:r>
                      <a:rPr lang="en-US" sz="1551" i="1" dirty="0">
                        <a:latin typeface="Cambria Math" charset="0"/>
                        <a:ea typeface="Cambria Math" charset="0"/>
                        <a:cs typeface="Cambria Math" charset="0"/>
                      </a:rPr>
                      <m:t>×</m:t>
                    </m:r>
                    <m:r>
                      <a:rPr lang="en-US" sz="1551" i="1" dirty="0">
                        <a:latin typeface="Cambria Math" charset="0"/>
                      </a:rPr>
                      <m:t>8 </m:t>
                    </m:r>
                  </m:oMath>
                </a14:m>
                <a:r>
                  <a:rPr lang="en-US" sz="1551" dirty="0"/>
                  <a:t>Cores (w/o HT) @ 2.27 GHz</a:t>
                </a:r>
              </a:p>
            </p:txBody>
          </p:sp>
        </mc:Choice>
        <mc:Fallback xmlns="">
          <p:sp>
            <p:nvSpPr>
              <p:cNvPr id="10" name="TextBox 9"/>
              <p:cNvSpPr txBox="1">
                <a:spLocks noRot="1" noChangeAspect="1" noMove="1" noResize="1" noEditPoints="1" noAdjustHandles="1" noChangeArrowheads="1" noChangeShapeType="1" noTextEdit="1"/>
              </p:cNvSpPr>
              <p:nvPr/>
            </p:nvSpPr>
            <p:spPr>
              <a:xfrm>
                <a:off x="6152806" y="5243023"/>
                <a:ext cx="2906565" cy="569643"/>
              </a:xfrm>
              <a:prstGeom prst="rect">
                <a:avLst/>
              </a:prstGeom>
              <a:blipFill>
                <a:blip r:embed="rId6"/>
                <a:stretch>
                  <a:fillRect l="-870" t="-2174" b="-13043"/>
                </a:stretch>
              </a:blipFill>
            </p:spPr>
            <p:txBody>
              <a:bodyPr/>
              <a:lstStyle/>
              <a:p>
                <a:r>
                  <a:rPr lang="en-US">
                    <a:noFill/>
                  </a:rPr>
                  <a:t> </a:t>
                </a:r>
              </a:p>
            </p:txBody>
          </p:sp>
        </mc:Fallback>
      </mc:AlternateContent>
      <p:sp>
        <p:nvSpPr>
          <p:cNvPr id="11" name="TextBox 10"/>
          <p:cNvSpPr txBox="1"/>
          <p:nvPr/>
        </p:nvSpPr>
        <p:spPr>
          <a:xfrm>
            <a:off x="3274371" y="6289230"/>
            <a:ext cx="3603320" cy="340863"/>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lIns="0" tIns="0" rIns="0" bIns="0" rtlCol="0">
            <a:spAutoFit/>
          </a:bodyPr>
          <a:lstStyle/>
          <a:p>
            <a:r>
              <a:rPr lang="en-US" sz="2215" dirty="0">
                <a:solidFill>
                  <a:srgbClr val="FF0000"/>
                </a:solidFill>
                <a:latin typeface="Comic Sans MS" charset="0"/>
                <a:ea typeface="ＭＳ Ｐゴシック" charset="0"/>
                <a:cs typeface="ＭＳ Ｐゴシック" charset="0"/>
              </a:rPr>
              <a:t>Different NUMA topology</a:t>
            </a:r>
          </a:p>
        </p:txBody>
      </p:sp>
    </p:spTree>
    <p:extLst>
      <p:ext uri="{BB962C8B-B14F-4D97-AF65-F5344CB8AC3E}">
        <p14:creationId xmlns:p14="http://schemas.microsoft.com/office/powerpoint/2010/main" val="1408223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altLang="en-US" sz="2400" b="0" i="0" u="none" strike="noStrike" cap="none" normalizeH="0" baseline="0" smtClean="0">
            <a:ln>
              <a:noFill/>
            </a:ln>
            <a:solidFill>
              <a:schemeClr val="tx1"/>
            </a:solidFill>
            <a:effectLst/>
            <a:latin typeface="Times" pitchFamily="2"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altLang="en-US" sz="2400" b="0" i="0" u="none" strike="noStrike" cap="none" normalizeH="0" baseline="0" smtClean="0">
            <a:ln>
              <a:noFill/>
            </a:ln>
            <a:solidFill>
              <a:schemeClr val="tx1"/>
            </a:solidFill>
            <a:effectLst/>
            <a:latin typeface="Times" pitchFamily="2"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10955</TotalTime>
  <Words>2943</Words>
  <Application>Microsoft Macintosh PowerPoint</Application>
  <PresentationFormat>Custom</PresentationFormat>
  <Paragraphs>362</Paragraphs>
  <Slides>34</Slides>
  <Notes>31</Notes>
  <HiddenSlides>3</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34</vt:i4>
      </vt:variant>
    </vt:vector>
  </HeadingPairs>
  <TitlesOfParts>
    <vt:vector size="46" baseType="lpstr">
      <vt:lpstr>等线</vt:lpstr>
      <vt:lpstr>ＭＳ Ｐゴシック</vt:lpstr>
      <vt:lpstr>Apple Chancery</vt:lpstr>
      <vt:lpstr>Arial</vt:lpstr>
      <vt:lpstr>Calibri</vt:lpstr>
      <vt:lpstr>Cambria Math</vt:lpstr>
      <vt:lpstr>Comic Sans MS</vt:lpstr>
      <vt:lpstr>Helvetica</vt:lpstr>
      <vt:lpstr>Times</vt:lpstr>
      <vt:lpstr>Times New Roman</vt:lpstr>
      <vt:lpstr>Wingdings</vt:lpstr>
      <vt:lpstr>Blank</vt:lpstr>
      <vt:lpstr>PowerPoint Presentation</vt:lpstr>
      <vt:lpstr>Outline</vt:lpstr>
      <vt:lpstr>Importance of Data Stream Processing</vt:lpstr>
      <vt:lpstr>DSPS on Modern Hardware</vt:lpstr>
      <vt:lpstr>Pipelined processing with message passing</vt:lpstr>
      <vt:lpstr>Execution plan optimization</vt:lpstr>
      <vt:lpstr>Zoom into the current system design</vt:lpstr>
      <vt:lpstr>Outline</vt:lpstr>
      <vt:lpstr>The Performance Model</vt:lpstr>
      <vt:lpstr>Estimating ro of an Operator (1)</vt:lpstr>
      <vt:lpstr>Estimating T(p) of an Operator</vt:lpstr>
      <vt:lpstr>Estimating (ro) ̅ of an Operator</vt:lpstr>
      <vt:lpstr>Bottleneck Operators</vt:lpstr>
      <vt:lpstr>Outline</vt:lpstr>
      <vt:lpstr>RLAS Overview</vt:lpstr>
      <vt:lpstr>Solving RLAS is Tricky</vt:lpstr>
      <vt:lpstr>Branch and Bound Solution Overview</vt:lpstr>
      <vt:lpstr>BriskStream Implementation</vt:lpstr>
      <vt:lpstr>Outline</vt:lpstr>
      <vt:lpstr>Why not assume fixed T(P)?</vt:lpstr>
      <vt:lpstr>Why do we need a model?</vt:lpstr>
      <vt:lpstr>Why not simple heuristics? (1)</vt:lpstr>
      <vt:lpstr>Why not simple heuristics? (2)</vt:lpstr>
      <vt:lpstr>Evaluation of Execution Efficiency </vt:lpstr>
      <vt:lpstr>Evaluation of Scalability</vt:lpstr>
      <vt:lpstr>Execution Time Breakdown</vt:lpstr>
      <vt:lpstr>How about other Single-node Optimized DSPS?</vt:lpstr>
      <vt:lpstr>How about other Single-node Optimized DSPS?</vt:lpstr>
      <vt:lpstr>Recap</vt:lpstr>
      <vt:lpstr>Acknowledgement</vt:lpstr>
      <vt:lpstr>Q&amp;A</vt:lpstr>
      <vt:lpstr>State-of-the-art</vt:lpstr>
      <vt:lpstr>RLAS Optimization</vt:lpstr>
      <vt:lpstr>NUMA Servers</vt:lpstr>
    </vt:vector>
  </TitlesOfParts>
  <Company>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PowerPoint presentation template</dc:subject>
  <dc:creator>PowerPC</dc:creator>
  <cp:keywords>PowerPoint presentation template; ppt presentation template</cp:keywords>
  <cp:lastModifiedBy>Zhang Shuhao</cp:lastModifiedBy>
  <cp:revision>166</cp:revision>
  <cp:lastPrinted>2002-11-20T02:08:40Z</cp:lastPrinted>
  <dcterms:created xsi:type="dcterms:W3CDTF">2001-10-04T11:39:11Z</dcterms:created>
  <dcterms:modified xsi:type="dcterms:W3CDTF">2019-06-25T03:33:09Z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1002903848</vt:i4>
  </property>
  <property fmtid="{D5CDD505-2E9C-101B-9397-08002B2CF9AE}" pid="3" name="_EmailSubject">
    <vt:lpwstr>Corporate Identity - Powerpoint Template</vt:lpwstr>
  </property>
  <property fmtid="{D5CDD505-2E9C-101B-9397-08002B2CF9AE}" pid="4" name="_AuthorEmail">
    <vt:lpwstr>ocrseahm@nus.edu.sg</vt:lpwstr>
  </property>
  <property fmtid="{D5CDD505-2E9C-101B-9397-08002B2CF9AE}" pid="5" name="_AuthorEmailDisplayName">
    <vt:lpwstr>Matthew Seah</vt:lpwstr>
  </property>
</Properties>
</file>