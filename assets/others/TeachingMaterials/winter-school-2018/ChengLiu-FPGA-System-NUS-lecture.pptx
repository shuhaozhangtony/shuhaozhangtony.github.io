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4.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5.xml" ContentType="application/vnd.openxmlformats-officedocument.drawingml.chart+xml"/>
  <Override PartName="/ppt/notesSlides/notesSlide42.xml" ContentType="application/vnd.openxmlformats-officedocument.presentationml.notesSlide+xml"/>
  <Override PartName="/ppt/charts/chart6.xml" ContentType="application/vnd.openxmlformats-officedocument.drawingml.chart+xml"/>
  <Override PartName="/ppt/notesSlides/notesSlide43.xml" ContentType="application/vnd.openxmlformats-officedocument.presentationml.notesSlide+xml"/>
  <Override PartName="/ppt/charts/chart7.xml" ContentType="application/vnd.openxmlformats-officedocument.drawingml.chart+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handoutMasterIdLst>
    <p:handoutMasterId r:id="rId67"/>
  </p:handoutMasterIdLst>
  <p:sldIdLst>
    <p:sldId id="256" r:id="rId2"/>
    <p:sldId id="502" r:id="rId3"/>
    <p:sldId id="275" r:id="rId4"/>
    <p:sldId id="463" r:id="rId5"/>
    <p:sldId id="456" r:id="rId6"/>
    <p:sldId id="464" r:id="rId7"/>
    <p:sldId id="455" r:id="rId8"/>
    <p:sldId id="503" r:id="rId9"/>
    <p:sldId id="428" r:id="rId10"/>
    <p:sldId id="465" r:id="rId11"/>
    <p:sldId id="459" r:id="rId12"/>
    <p:sldId id="460" r:id="rId13"/>
    <p:sldId id="462" r:id="rId14"/>
    <p:sldId id="426" r:id="rId15"/>
    <p:sldId id="461" r:id="rId16"/>
    <p:sldId id="504" r:id="rId17"/>
    <p:sldId id="429" r:id="rId18"/>
    <p:sldId id="449" r:id="rId19"/>
    <p:sldId id="451" r:id="rId20"/>
    <p:sldId id="422" r:id="rId21"/>
    <p:sldId id="466" r:id="rId22"/>
    <p:sldId id="467" r:id="rId23"/>
    <p:sldId id="443" r:id="rId24"/>
    <p:sldId id="444" r:id="rId25"/>
    <p:sldId id="468" r:id="rId26"/>
    <p:sldId id="401" r:id="rId27"/>
    <p:sldId id="416" r:id="rId28"/>
    <p:sldId id="419" r:id="rId29"/>
    <p:sldId id="406" r:id="rId30"/>
    <p:sldId id="435" r:id="rId31"/>
    <p:sldId id="432" r:id="rId32"/>
    <p:sldId id="437" r:id="rId33"/>
    <p:sldId id="448" r:id="rId34"/>
    <p:sldId id="408" r:id="rId35"/>
    <p:sldId id="409" r:id="rId36"/>
    <p:sldId id="410" r:id="rId37"/>
    <p:sldId id="411" r:id="rId38"/>
    <p:sldId id="447" r:id="rId39"/>
    <p:sldId id="349" r:id="rId40"/>
    <p:sldId id="469" r:id="rId41"/>
    <p:sldId id="470" r:id="rId42"/>
    <p:sldId id="472" r:id="rId43"/>
    <p:sldId id="475" r:id="rId44"/>
    <p:sldId id="476" r:id="rId45"/>
    <p:sldId id="477" r:id="rId46"/>
    <p:sldId id="479" r:id="rId47"/>
    <p:sldId id="480" r:id="rId48"/>
    <p:sldId id="481" r:id="rId49"/>
    <p:sldId id="482" r:id="rId50"/>
    <p:sldId id="483" r:id="rId51"/>
    <p:sldId id="487" r:id="rId52"/>
    <p:sldId id="488" r:id="rId53"/>
    <p:sldId id="489" r:id="rId54"/>
    <p:sldId id="490" r:id="rId55"/>
    <p:sldId id="491" r:id="rId56"/>
    <p:sldId id="492" r:id="rId57"/>
    <p:sldId id="493" r:id="rId58"/>
    <p:sldId id="494" r:id="rId59"/>
    <p:sldId id="500" r:id="rId60"/>
    <p:sldId id="497" r:id="rId61"/>
    <p:sldId id="498" r:id="rId62"/>
    <p:sldId id="499" r:id="rId63"/>
    <p:sldId id="501" r:id="rId64"/>
    <p:sldId id="496" r:id="rId65"/>
  </p:sldIdLst>
  <p:sldSz cx="9144000" cy="6858000" type="screen4x3"/>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Zeke" initials="WZ" lastIdx="4"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3979" autoAdjust="0"/>
  </p:normalViewPr>
  <p:slideViewPr>
    <p:cSldViewPr>
      <p:cViewPr varScale="1">
        <p:scale>
          <a:sx n="46" d="100"/>
          <a:sy n="46" d="100"/>
        </p:scale>
        <p:origin x="691" y="48"/>
      </p:cViewPr>
      <p:guideLst>
        <p:guide orient="horz" pos="2160"/>
        <p:guide pos="2880"/>
      </p:guideLst>
    </p:cSldViewPr>
  </p:slideViewPr>
  <p:outlineViewPr>
    <p:cViewPr>
      <p:scale>
        <a:sx n="33" d="100"/>
        <a:sy n="33" d="100"/>
      </p:scale>
      <p:origin x="0" y="-33060"/>
    </p:cViewPr>
  </p:outlineViewPr>
  <p:notesTextViewPr>
    <p:cViewPr>
      <p:scale>
        <a:sx n="100" d="100"/>
        <a:sy n="100" d="100"/>
      </p:scale>
      <p:origin x="0" y="0"/>
    </p:cViewPr>
  </p:notesTextViewPr>
  <p:sorterViewPr>
    <p:cViewPr>
      <p:scale>
        <a:sx n="100" d="100"/>
        <a:sy n="100" d="100"/>
      </p:scale>
      <p:origin x="0" y="-186"/>
    </p:cViewPr>
  </p:sorterViewPr>
  <p:notesViewPr>
    <p:cSldViewPr>
      <p:cViewPr varScale="1">
        <p:scale>
          <a:sx n="81" d="100"/>
          <a:sy n="81" d="100"/>
        </p:scale>
        <p:origin x="1614"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rts/_rels/chart1.xml.rels><?xml version="1.0" encoding="UTF-8" standalone="yes"?>
<Relationships xmlns="http://schemas.openxmlformats.org/package/2006/relationships"><Relationship Id="rId3" Type="http://schemas.openxmlformats.org/officeDocument/2006/relationships/oleObject" Target="file:///C:\study\Dropbox\FPGA_model\paper_svn\performance_model_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study\FPGA_performance_model\paper_svn\performance_mode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study\Dropbox\FPGA_model\paper_svn\performance_model_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1" Type="http://schemas.openxmlformats.org/officeDocument/2006/relationships/oleObject" Target="file:///C:\study\Dropbox\multi-kernel\multi-kernel.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study\Dropbox\multi-kernel\multi-kernel.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study\Dropbox\multi-kernel\multi-kernel.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study\Dropbox\multi-kernel\multi-kernel.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tx1"/>
            </a:solidFill>
            <a:ln>
              <a:solidFill>
                <a:schemeClr val="tx1"/>
              </a:solidFill>
            </a:ln>
            <a:effectLst/>
          </c:spPr>
          <c:invertIfNegative val="0"/>
          <c:dLbls>
            <c:dLbl>
              <c:idx val="5"/>
              <c:layout>
                <c:manualLayout>
                  <c:x val="0"/>
                  <c:y val="1.38888888888889E-2"/>
                </c:manualLayout>
              </c:layout>
              <c:tx>
                <c:rich>
                  <a:bodyPr/>
                  <a:lstStyle/>
                  <a:p>
                    <a:r>
                      <a:rPr lang="en-US" smtClean="0"/>
                      <a:t>100</a:t>
                    </a:r>
                    <a:endParaRPr lang="en-US" dirty="0"/>
                  </a:p>
                </c:rich>
              </c:tx>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0-8793-4111-82AB-43A2863A330E}"/>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MM_introduction!$A$5:$H$5</c:f>
              <c:strCache>
                <c:ptCount val="8"/>
                <c:pt idx="0">
                  <c:v>Baseline</c:v>
                </c:pt>
                <c:pt idx="1">
                  <c:v>SM</c:v>
                </c:pt>
                <c:pt idx="2">
                  <c:v>CU</c:v>
                </c:pt>
                <c:pt idx="3">
                  <c:v>SIMD</c:v>
                </c:pt>
                <c:pt idx="4">
                  <c:v>UL</c:v>
                </c:pt>
                <c:pt idx="5">
                  <c:v>SM+UL</c:v>
                </c:pt>
                <c:pt idx="6">
                  <c:v>SM+CU</c:v>
                </c:pt>
                <c:pt idx="7">
                  <c:v>SM+SIMD</c:v>
                </c:pt>
              </c:strCache>
            </c:strRef>
          </c:cat>
          <c:val>
            <c:numRef>
              <c:f>MM_introduction!$A$6:$H$6</c:f>
              <c:numCache>
                <c:formatCode>General</c:formatCode>
                <c:ptCount val="8"/>
                <c:pt idx="0">
                  <c:v>1</c:v>
                </c:pt>
                <c:pt idx="1">
                  <c:v>1.6</c:v>
                </c:pt>
                <c:pt idx="2">
                  <c:v>1.2</c:v>
                </c:pt>
                <c:pt idx="3">
                  <c:v>5.0999999999999996</c:v>
                </c:pt>
                <c:pt idx="4">
                  <c:v>1.2</c:v>
                </c:pt>
                <c:pt idx="5">
                  <c:v>100.2</c:v>
                </c:pt>
                <c:pt idx="6">
                  <c:v>4.0999999999999996</c:v>
                </c:pt>
                <c:pt idx="7">
                  <c:v>5.9</c:v>
                </c:pt>
              </c:numCache>
            </c:numRef>
          </c:val>
          <c:extLst>
            <c:ext xmlns:c16="http://schemas.microsoft.com/office/drawing/2014/chart" uri="{C3380CC4-5D6E-409C-BE32-E72D297353CC}">
              <c16:uniqueId val="{00000001-8793-4111-82AB-43A2863A330E}"/>
            </c:ext>
          </c:extLst>
        </c:ser>
        <c:dLbls>
          <c:showLegendKey val="0"/>
          <c:showVal val="0"/>
          <c:showCatName val="0"/>
          <c:showSerName val="0"/>
          <c:showPercent val="0"/>
          <c:showBubbleSize val="0"/>
        </c:dLbls>
        <c:gapWidth val="219"/>
        <c:overlap val="-27"/>
        <c:axId val="1347423296"/>
        <c:axId val="1347412416"/>
      </c:barChart>
      <c:catAx>
        <c:axId val="1347423296"/>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347412416"/>
        <c:crosses val="autoZero"/>
        <c:auto val="1"/>
        <c:lblAlgn val="ctr"/>
        <c:lblOffset val="100"/>
        <c:noMultiLvlLbl val="0"/>
      </c:catAx>
      <c:valAx>
        <c:axId val="134741241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r>
                  <a:rPr lang="en-US" sz="1400">
                    <a:solidFill>
                      <a:sysClr val="windowText" lastClr="000000"/>
                    </a:solidFill>
                    <a:latin typeface="Times New Roman" panose="02020603050405020304" pitchFamily="18" charset="0"/>
                    <a:cs typeface="Times New Roman" panose="02020603050405020304" pitchFamily="18" charset="0"/>
                  </a:rPr>
                  <a:t>Speedup over baseline</a:t>
                </a:r>
              </a:p>
            </c:rich>
          </c:tx>
          <c:layout/>
          <c:overlay val="0"/>
          <c:spPr>
            <a:noFill/>
            <a:ln>
              <a:noFill/>
            </a:ln>
            <a:effectLst/>
          </c:spPr>
          <c:txPr>
            <a:bodyPr rot="-5400000" spcFirstLastPara="1" vertOverflow="ellipsis" vert="horz" wrap="square" anchor="ctr" anchorCtr="1"/>
            <a:lstStyle/>
            <a:p>
              <a:pPr>
                <a:defRPr sz="14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crossAx val="1347423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MM_optimization_combinations!$C$3</c:f>
              <c:strCache>
                <c:ptCount val="1"/>
                <c:pt idx="0">
                  <c:v>Measurement</c:v>
                </c:pt>
              </c:strCache>
            </c:strRef>
          </c:tx>
          <c:spPr>
            <a:ln w="28575" cap="rnd">
              <a:solidFill>
                <a:schemeClr val="tx1"/>
              </a:solidFill>
              <a:prstDash val="solid"/>
              <a:round/>
            </a:ln>
            <a:effectLst/>
          </c:spPr>
          <c:marker>
            <c:symbol val="x"/>
            <c:size val="5"/>
            <c:spPr>
              <a:solidFill>
                <a:schemeClr val="tx1"/>
              </a:solidFill>
              <a:ln w="9525">
                <a:solidFill>
                  <a:schemeClr val="tx1"/>
                </a:solidFill>
              </a:ln>
              <a:effectLst/>
            </c:spPr>
          </c:marker>
          <c:cat>
            <c:strRef>
              <c:f>MM_optimization_combinations!$B$4:$B$22</c:f>
              <c:strCache>
                <c:ptCount val="19"/>
                <c:pt idx="0">
                  <c:v>Baseline</c:v>
                </c:pt>
                <c:pt idx="1">
                  <c:v>SM</c:v>
                </c:pt>
                <c:pt idx="2">
                  <c:v>CU16</c:v>
                </c:pt>
                <c:pt idx="3">
                  <c:v>CU20</c:v>
                </c:pt>
                <c:pt idx="4">
                  <c:v>SIMD2</c:v>
                </c:pt>
                <c:pt idx="5">
                  <c:v>SIMD4</c:v>
                </c:pt>
                <c:pt idx="6">
                  <c:v>UL32</c:v>
                </c:pt>
                <c:pt idx="7">
                  <c:v>SM+UL8</c:v>
                </c:pt>
                <c:pt idx="8">
                  <c:v>SM+UL16</c:v>
                </c:pt>
                <c:pt idx="9">
                  <c:v>SM+UL32</c:v>
                </c:pt>
                <c:pt idx="10">
                  <c:v>SM+UL64</c:v>
                </c:pt>
                <c:pt idx="11">
                  <c:v>SM+SIMD8</c:v>
                </c:pt>
                <c:pt idx="12">
                  <c:v>SM+SIMD16</c:v>
                </c:pt>
                <c:pt idx="13">
                  <c:v>SM+CU2</c:v>
                </c:pt>
                <c:pt idx="14">
                  <c:v>SM+CU3</c:v>
                </c:pt>
                <c:pt idx="15">
                  <c:v>SM+UL64+SIMD4</c:v>
                </c:pt>
                <c:pt idx="16">
                  <c:v>SM+UL64+SIMD2+CU2</c:v>
                </c:pt>
                <c:pt idx="17">
                  <c:v>SM+UL64+CU2</c:v>
                </c:pt>
                <c:pt idx="18">
                  <c:v>SM+UL64+CU3</c:v>
                </c:pt>
              </c:strCache>
            </c:strRef>
          </c:cat>
          <c:val>
            <c:numRef>
              <c:f>MM_optimization_combinations!$C$4:$C$22</c:f>
              <c:numCache>
                <c:formatCode>General</c:formatCode>
                <c:ptCount val="19"/>
                <c:pt idx="0">
                  <c:v>1</c:v>
                </c:pt>
                <c:pt idx="1">
                  <c:v>1.6</c:v>
                </c:pt>
                <c:pt idx="2">
                  <c:v>1.2</c:v>
                </c:pt>
                <c:pt idx="3">
                  <c:v>1.2</c:v>
                </c:pt>
                <c:pt idx="4">
                  <c:v>2.4</c:v>
                </c:pt>
                <c:pt idx="5">
                  <c:v>5.0999999999999996</c:v>
                </c:pt>
                <c:pt idx="6">
                  <c:v>1.2</c:v>
                </c:pt>
                <c:pt idx="7">
                  <c:v>12.1</c:v>
                </c:pt>
                <c:pt idx="8">
                  <c:v>24.8</c:v>
                </c:pt>
                <c:pt idx="9">
                  <c:v>49.6</c:v>
                </c:pt>
                <c:pt idx="10">
                  <c:v>100.2</c:v>
                </c:pt>
                <c:pt idx="11">
                  <c:v>5.9</c:v>
                </c:pt>
                <c:pt idx="12">
                  <c:v>5.5</c:v>
                </c:pt>
                <c:pt idx="13">
                  <c:v>3</c:v>
                </c:pt>
                <c:pt idx="14">
                  <c:v>4.0999999999999996</c:v>
                </c:pt>
                <c:pt idx="15">
                  <c:v>362.3</c:v>
                </c:pt>
                <c:pt idx="16">
                  <c:v>362.3</c:v>
                </c:pt>
                <c:pt idx="17">
                  <c:v>188.4</c:v>
                </c:pt>
                <c:pt idx="18">
                  <c:v>261.7</c:v>
                </c:pt>
              </c:numCache>
            </c:numRef>
          </c:val>
          <c:smooth val="0"/>
          <c:extLst>
            <c:ext xmlns:c16="http://schemas.microsoft.com/office/drawing/2014/chart" uri="{C3380CC4-5D6E-409C-BE32-E72D297353CC}">
              <c16:uniqueId val="{00000000-ADD5-4C85-8B24-71C30A28AB41}"/>
            </c:ext>
          </c:extLst>
        </c:ser>
        <c:ser>
          <c:idx val="2"/>
          <c:order val="1"/>
          <c:tx>
            <c:strRef>
              <c:f>MM_optimization_combinations!$E$3</c:f>
              <c:strCache>
                <c:ptCount val="1"/>
                <c:pt idx="0">
                  <c:v>Estimation</c:v>
                </c:pt>
              </c:strCache>
            </c:strRef>
          </c:tx>
          <c:spPr>
            <a:ln w="28575" cap="rnd">
              <a:solidFill>
                <a:schemeClr val="tx1"/>
              </a:solidFill>
              <a:prstDash val="dash"/>
              <a:round/>
            </a:ln>
            <a:effectLst/>
          </c:spPr>
          <c:marker>
            <c:symbol val="circle"/>
            <c:size val="5"/>
            <c:spPr>
              <a:solidFill>
                <a:schemeClr val="tx1"/>
              </a:solidFill>
              <a:ln w="9525">
                <a:solidFill>
                  <a:schemeClr val="tx1"/>
                </a:solidFill>
              </a:ln>
              <a:effectLst/>
            </c:spPr>
          </c:marker>
          <c:cat>
            <c:strRef>
              <c:f>MM_optimization_combinations!$B$4:$B$22</c:f>
              <c:strCache>
                <c:ptCount val="19"/>
                <c:pt idx="0">
                  <c:v>Baseline</c:v>
                </c:pt>
                <c:pt idx="1">
                  <c:v>SM</c:v>
                </c:pt>
                <c:pt idx="2">
                  <c:v>CU16</c:v>
                </c:pt>
                <c:pt idx="3">
                  <c:v>CU20</c:v>
                </c:pt>
                <c:pt idx="4">
                  <c:v>SIMD2</c:v>
                </c:pt>
                <c:pt idx="5">
                  <c:v>SIMD4</c:v>
                </c:pt>
                <c:pt idx="6">
                  <c:v>UL32</c:v>
                </c:pt>
                <c:pt idx="7">
                  <c:v>SM+UL8</c:v>
                </c:pt>
                <c:pt idx="8">
                  <c:v>SM+UL16</c:v>
                </c:pt>
                <c:pt idx="9">
                  <c:v>SM+UL32</c:v>
                </c:pt>
                <c:pt idx="10">
                  <c:v>SM+UL64</c:v>
                </c:pt>
                <c:pt idx="11">
                  <c:v>SM+SIMD8</c:v>
                </c:pt>
                <c:pt idx="12">
                  <c:v>SM+SIMD16</c:v>
                </c:pt>
                <c:pt idx="13">
                  <c:v>SM+CU2</c:v>
                </c:pt>
                <c:pt idx="14">
                  <c:v>SM+CU3</c:v>
                </c:pt>
                <c:pt idx="15">
                  <c:v>SM+UL64+SIMD4</c:v>
                </c:pt>
                <c:pt idx="16">
                  <c:v>SM+UL64+SIMD2+CU2</c:v>
                </c:pt>
                <c:pt idx="17">
                  <c:v>SM+UL64+CU2</c:v>
                </c:pt>
                <c:pt idx="18">
                  <c:v>SM+UL64+CU3</c:v>
                </c:pt>
              </c:strCache>
            </c:strRef>
          </c:cat>
          <c:val>
            <c:numRef>
              <c:f>MM_optimization_combinations!$E$4:$E$22</c:f>
              <c:numCache>
                <c:formatCode>General</c:formatCode>
                <c:ptCount val="19"/>
                <c:pt idx="0">
                  <c:v>0.9</c:v>
                </c:pt>
                <c:pt idx="1">
                  <c:v>1.7</c:v>
                </c:pt>
                <c:pt idx="2">
                  <c:v>0.8</c:v>
                </c:pt>
                <c:pt idx="3">
                  <c:v>0.6</c:v>
                </c:pt>
                <c:pt idx="4">
                  <c:v>1.7</c:v>
                </c:pt>
                <c:pt idx="5">
                  <c:v>3.5</c:v>
                </c:pt>
                <c:pt idx="6">
                  <c:v>1.2</c:v>
                </c:pt>
                <c:pt idx="7">
                  <c:v>12.7</c:v>
                </c:pt>
                <c:pt idx="8">
                  <c:v>26.3</c:v>
                </c:pt>
                <c:pt idx="9">
                  <c:v>51.9</c:v>
                </c:pt>
                <c:pt idx="10">
                  <c:v>106</c:v>
                </c:pt>
                <c:pt idx="11">
                  <c:v>12.2</c:v>
                </c:pt>
                <c:pt idx="12">
                  <c:v>11.4</c:v>
                </c:pt>
                <c:pt idx="13">
                  <c:v>3.2</c:v>
                </c:pt>
                <c:pt idx="14">
                  <c:v>4.3</c:v>
                </c:pt>
                <c:pt idx="15">
                  <c:v>373.9</c:v>
                </c:pt>
                <c:pt idx="16">
                  <c:v>382.7</c:v>
                </c:pt>
                <c:pt idx="17">
                  <c:v>191.3</c:v>
                </c:pt>
                <c:pt idx="18">
                  <c:v>278.2</c:v>
                </c:pt>
              </c:numCache>
            </c:numRef>
          </c:val>
          <c:smooth val="0"/>
          <c:extLst>
            <c:ext xmlns:c16="http://schemas.microsoft.com/office/drawing/2014/chart" uri="{C3380CC4-5D6E-409C-BE32-E72D297353CC}">
              <c16:uniqueId val="{00000001-ADD5-4C85-8B24-71C30A28AB41}"/>
            </c:ext>
          </c:extLst>
        </c:ser>
        <c:dLbls>
          <c:showLegendKey val="0"/>
          <c:showVal val="0"/>
          <c:showCatName val="0"/>
          <c:showSerName val="0"/>
          <c:showPercent val="0"/>
          <c:showBubbleSize val="0"/>
        </c:dLbls>
        <c:marker val="1"/>
        <c:smooth val="0"/>
        <c:axId val="1347420576"/>
        <c:axId val="1347415680"/>
      </c:lineChart>
      <c:catAx>
        <c:axId val="1347420576"/>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crossAx val="1347415680"/>
        <c:crosses val="autoZero"/>
        <c:auto val="1"/>
        <c:lblAlgn val="ctr"/>
        <c:lblOffset val="100"/>
        <c:noMultiLvlLbl val="0"/>
      </c:catAx>
      <c:valAx>
        <c:axId val="1347415680"/>
        <c:scaling>
          <c:orientation val="minMax"/>
          <c:max val="4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0" i="0" u="none" strike="noStrike" kern="1200" baseline="0">
                    <a:solidFill>
                      <a:sysClr val="windowText" lastClr="000000"/>
                    </a:solidFill>
                    <a:latin typeface="+mn-lt"/>
                    <a:ea typeface="+mn-ea"/>
                    <a:cs typeface="+mn-cs"/>
                  </a:defRPr>
                </a:pPr>
                <a:r>
                  <a:rPr lang="en-US" sz="1600">
                    <a:solidFill>
                      <a:sysClr val="windowText" lastClr="000000"/>
                    </a:solidFill>
                  </a:rPr>
                  <a:t>Speedup over baseline</a:t>
                </a:r>
              </a:p>
            </c:rich>
          </c:tx>
          <c:layout>
            <c:manualLayout>
              <c:xMode val="edge"/>
              <c:yMode val="edge"/>
              <c:x val="2.26337448559671E-2"/>
              <c:y val="1.9723792404010999E-2"/>
            </c:manualLayout>
          </c:layout>
          <c:overlay val="0"/>
          <c:spPr>
            <a:noFill/>
            <a:ln>
              <a:noFill/>
            </a:ln>
            <a:effectLst/>
          </c:spPr>
          <c:txPr>
            <a:bodyPr rot="-5400000" spcFirstLastPara="1" vertOverflow="ellipsis" vert="horz" wrap="square" anchor="ctr" anchorCtr="1"/>
            <a:lstStyle/>
            <a:p>
              <a:pPr>
                <a:defRPr sz="1600" b="0" i="0" u="none" strike="noStrike" kern="1200" baseline="0">
                  <a:solidFill>
                    <a:sysClr val="windowText" lastClr="000000"/>
                  </a:solidFill>
                  <a:latin typeface="+mn-lt"/>
                  <a:ea typeface="+mn-ea"/>
                  <a:cs typeface="+mn-cs"/>
                </a:defRPr>
              </a:pPr>
              <a:endParaRPr lang="en-US"/>
            </a:p>
          </c:txPr>
        </c:title>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1347420576"/>
        <c:crosses val="autoZero"/>
        <c:crossBetween val="between"/>
        <c:majorUnit val="100"/>
      </c:valAx>
      <c:spPr>
        <a:noFill/>
        <a:ln>
          <a:noFill/>
        </a:ln>
        <a:effectLst/>
      </c:spPr>
    </c:plotArea>
    <c:legend>
      <c:legendPos val="b"/>
      <c:layout>
        <c:manualLayout>
          <c:xMode val="edge"/>
          <c:yMode val="edge"/>
          <c:x val="0.171913580246914"/>
          <c:y val="2.8151518699245301E-2"/>
          <c:w val="0.27818930041152301"/>
          <c:h val="0.15591993856078301"/>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197630970155599"/>
          <c:y val="3.8204612351473398E-2"/>
          <c:w val="0.73165718671491298"/>
          <c:h val="0.72893797181536601"/>
        </c:manualLayout>
      </c:layout>
      <c:barChart>
        <c:barDir val="col"/>
        <c:grouping val="clustered"/>
        <c:varyColors val="0"/>
        <c:ser>
          <c:idx val="0"/>
          <c:order val="0"/>
          <c:tx>
            <c:strRef>
              <c:f>MM_metric!$C$3</c:f>
              <c:strCache>
                <c:ptCount val="1"/>
                <c:pt idx="0">
                  <c:v>B_mem</c:v>
                </c:pt>
              </c:strCache>
            </c:strRef>
          </c:tx>
          <c:spPr>
            <a:solidFill>
              <a:schemeClr val="tx1"/>
            </a:solidFill>
            <a:ln>
              <a:noFill/>
            </a:ln>
            <a:effectLst/>
          </c:spPr>
          <c:invertIfNegative val="0"/>
          <c:dPt>
            <c:idx val="0"/>
            <c:invertIfNegative val="0"/>
            <c:bubble3D val="0"/>
            <c:spPr>
              <a:solidFill>
                <a:schemeClr val="tx1"/>
              </a:solidFill>
              <a:ln>
                <a:solidFill>
                  <a:schemeClr val="tx1"/>
                </a:solidFill>
              </a:ln>
              <a:effectLst/>
            </c:spPr>
            <c:extLst>
              <c:ext xmlns:c16="http://schemas.microsoft.com/office/drawing/2014/chart" uri="{C3380CC4-5D6E-409C-BE32-E72D297353CC}">
                <c16:uniqueId val="{00000001-69E5-4DB0-9BA1-28E5694071AB}"/>
              </c:ext>
            </c:extLst>
          </c:dPt>
          <c:cat>
            <c:strRef>
              <c:f>MM_metric!$B$4:$B$7</c:f>
              <c:strCache>
                <c:ptCount val="4"/>
                <c:pt idx="0">
                  <c:v>Baseline --&gt;</c:v>
                </c:pt>
                <c:pt idx="1">
                  <c:v>SM --&gt;</c:v>
                </c:pt>
                <c:pt idx="2">
                  <c:v>SM_UL --&gt;</c:v>
                </c:pt>
                <c:pt idx="3">
                  <c:v>SM_UL_SIMD</c:v>
                </c:pt>
              </c:strCache>
            </c:strRef>
          </c:cat>
          <c:val>
            <c:numRef>
              <c:f>MM_metric!$C$4:$C$7</c:f>
              <c:numCache>
                <c:formatCode>General</c:formatCode>
                <c:ptCount val="4"/>
                <c:pt idx="0">
                  <c:v>0.95</c:v>
                </c:pt>
                <c:pt idx="1">
                  <c:v>0.46</c:v>
                </c:pt>
                <c:pt idx="2">
                  <c:v>0.46</c:v>
                </c:pt>
                <c:pt idx="3">
                  <c:v>0.11</c:v>
                </c:pt>
              </c:numCache>
            </c:numRef>
          </c:val>
          <c:extLst>
            <c:ext xmlns:c16="http://schemas.microsoft.com/office/drawing/2014/chart" uri="{C3380CC4-5D6E-409C-BE32-E72D297353CC}">
              <c16:uniqueId val="{00000002-69E5-4DB0-9BA1-28E5694071AB}"/>
            </c:ext>
          </c:extLst>
        </c:ser>
        <c:ser>
          <c:idx val="1"/>
          <c:order val="1"/>
          <c:tx>
            <c:strRef>
              <c:f>MM_metric!$D$3</c:f>
              <c:strCache>
                <c:ptCount val="1"/>
                <c:pt idx="0">
                  <c:v>B_comp</c:v>
                </c:pt>
              </c:strCache>
            </c:strRef>
          </c:tx>
          <c:spPr>
            <a:pattFill prst="dkUpDiag">
              <a:fgClr>
                <a:schemeClr val="tx1"/>
              </a:fgClr>
              <a:bgClr>
                <a:schemeClr val="bg1"/>
              </a:bgClr>
            </a:pattFill>
            <a:ln>
              <a:solidFill>
                <a:schemeClr val="tx1"/>
              </a:solidFill>
            </a:ln>
            <a:effectLst/>
          </c:spPr>
          <c:invertIfNegative val="0"/>
          <c:cat>
            <c:strRef>
              <c:f>MM_metric!$B$4:$B$7</c:f>
              <c:strCache>
                <c:ptCount val="4"/>
                <c:pt idx="0">
                  <c:v>Baseline --&gt;</c:v>
                </c:pt>
                <c:pt idx="1">
                  <c:v>SM --&gt;</c:v>
                </c:pt>
                <c:pt idx="2">
                  <c:v>SM_UL --&gt;</c:v>
                </c:pt>
                <c:pt idx="3">
                  <c:v>SM_UL_SIMD</c:v>
                </c:pt>
              </c:strCache>
            </c:strRef>
          </c:cat>
          <c:val>
            <c:numRef>
              <c:f>MM_metric!$D$4:$D$7</c:f>
              <c:numCache>
                <c:formatCode>General</c:formatCode>
                <c:ptCount val="4"/>
                <c:pt idx="0">
                  <c:v>0.94</c:v>
                </c:pt>
                <c:pt idx="1">
                  <c:v>0.93</c:v>
                </c:pt>
                <c:pt idx="2">
                  <c:v>0.7</c:v>
                </c:pt>
                <c:pt idx="3">
                  <c:v>0</c:v>
                </c:pt>
              </c:numCache>
            </c:numRef>
          </c:val>
          <c:extLst>
            <c:ext xmlns:c16="http://schemas.microsoft.com/office/drawing/2014/chart" uri="{C3380CC4-5D6E-409C-BE32-E72D297353CC}">
              <c16:uniqueId val="{00000003-69E5-4DB0-9BA1-28E5694071AB}"/>
            </c:ext>
          </c:extLst>
        </c:ser>
        <c:ser>
          <c:idx val="2"/>
          <c:order val="2"/>
          <c:tx>
            <c:strRef>
              <c:f>MM_metric!$E$3</c:f>
              <c:strCache>
                <c:ptCount val="1"/>
                <c:pt idx="0">
                  <c:v>B_balance</c:v>
                </c:pt>
              </c:strCache>
            </c:strRef>
          </c:tx>
          <c:spPr>
            <a:pattFill prst="wdDnDiag">
              <a:fgClr>
                <a:schemeClr val="tx1"/>
              </a:fgClr>
              <a:bgClr>
                <a:schemeClr val="bg1"/>
              </a:bgClr>
            </a:pattFill>
            <a:ln>
              <a:solidFill>
                <a:schemeClr val="tx1"/>
              </a:solidFill>
            </a:ln>
            <a:effectLst/>
          </c:spPr>
          <c:invertIfNegative val="0"/>
          <c:cat>
            <c:strRef>
              <c:f>MM_metric!$B$4:$B$7</c:f>
              <c:strCache>
                <c:ptCount val="4"/>
                <c:pt idx="0">
                  <c:v>Baseline --&gt;</c:v>
                </c:pt>
                <c:pt idx="1">
                  <c:v>SM --&gt;</c:v>
                </c:pt>
                <c:pt idx="2">
                  <c:v>SM_UL --&gt;</c:v>
                </c:pt>
                <c:pt idx="3">
                  <c:v>SM_UL_SIMD</c:v>
                </c:pt>
              </c:strCache>
            </c:strRef>
          </c:cat>
          <c:val>
            <c:numRef>
              <c:f>MM_metric!$E$4:$E$7</c:f>
              <c:numCache>
                <c:formatCode>General</c:formatCode>
                <c:ptCount val="4"/>
                <c:pt idx="0">
                  <c:v>0.2</c:v>
                </c:pt>
                <c:pt idx="1">
                  <c:v>0.98</c:v>
                </c:pt>
                <c:pt idx="2">
                  <c:v>0.05</c:v>
                </c:pt>
                <c:pt idx="3">
                  <c:v>0.05</c:v>
                </c:pt>
              </c:numCache>
            </c:numRef>
          </c:val>
          <c:extLst>
            <c:ext xmlns:c16="http://schemas.microsoft.com/office/drawing/2014/chart" uri="{C3380CC4-5D6E-409C-BE32-E72D297353CC}">
              <c16:uniqueId val="{00000004-69E5-4DB0-9BA1-28E5694071AB}"/>
            </c:ext>
          </c:extLst>
        </c:ser>
        <c:dLbls>
          <c:showLegendKey val="0"/>
          <c:showVal val="0"/>
          <c:showCatName val="0"/>
          <c:showSerName val="0"/>
          <c:showPercent val="0"/>
          <c:showBubbleSize val="0"/>
        </c:dLbls>
        <c:gapWidth val="219"/>
        <c:overlap val="-27"/>
        <c:axId val="1347410784"/>
        <c:axId val="1347416768"/>
      </c:barChart>
      <c:lineChart>
        <c:grouping val="standard"/>
        <c:varyColors val="0"/>
        <c:ser>
          <c:idx val="3"/>
          <c:order val="3"/>
          <c:tx>
            <c:strRef>
              <c:f>MM_metric!$F$3</c:f>
              <c:strCache>
                <c:ptCount val="1"/>
                <c:pt idx="0">
                  <c:v>Speedup</c:v>
                </c:pt>
              </c:strCache>
            </c:strRef>
          </c:tx>
          <c:spPr>
            <a:ln w="28575" cap="rnd" cmpd="sng">
              <a:solidFill>
                <a:schemeClr val="tx1"/>
              </a:solidFill>
              <a:round/>
            </a:ln>
            <a:effectLst/>
          </c:spPr>
          <c:marker>
            <c:symbol val="square"/>
            <c:size val="9"/>
            <c:spPr>
              <a:solidFill>
                <a:schemeClr val="tx1"/>
              </a:solidFill>
              <a:ln w="9525">
                <a:solidFill>
                  <a:schemeClr val="tx1"/>
                </a:solidFill>
              </a:ln>
              <a:effectLst/>
            </c:spPr>
          </c:marker>
          <c:cat>
            <c:strRef>
              <c:f>MM_metric!$B$4:$B$7</c:f>
              <c:strCache>
                <c:ptCount val="4"/>
                <c:pt idx="0">
                  <c:v>Baseline --&gt;</c:v>
                </c:pt>
                <c:pt idx="1">
                  <c:v>SM --&gt;</c:v>
                </c:pt>
                <c:pt idx="2">
                  <c:v>SM_UL --&gt;</c:v>
                </c:pt>
                <c:pt idx="3">
                  <c:v>SM_UL_SIMD</c:v>
                </c:pt>
              </c:strCache>
            </c:strRef>
          </c:cat>
          <c:val>
            <c:numRef>
              <c:f>MM_metric!$F$4:$F$7</c:f>
              <c:numCache>
                <c:formatCode>General</c:formatCode>
                <c:ptCount val="4"/>
                <c:pt idx="0">
                  <c:v>1</c:v>
                </c:pt>
                <c:pt idx="1">
                  <c:v>1.6</c:v>
                </c:pt>
                <c:pt idx="2">
                  <c:v>100.2</c:v>
                </c:pt>
                <c:pt idx="3">
                  <c:v>362</c:v>
                </c:pt>
              </c:numCache>
            </c:numRef>
          </c:val>
          <c:smooth val="0"/>
          <c:extLst>
            <c:ext xmlns:c16="http://schemas.microsoft.com/office/drawing/2014/chart" uri="{C3380CC4-5D6E-409C-BE32-E72D297353CC}">
              <c16:uniqueId val="{00000005-69E5-4DB0-9BA1-28E5694071AB}"/>
            </c:ext>
          </c:extLst>
        </c:ser>
        <c:dLbls>
          <c:showLegendKey val="0"/>
          <c:showVal val="0"/>
          <c:showCatName val="0"/>
          <c:showSerName val="0"/>
          <c:showPercent val="0"/>
          <c:showBubbleSize val="0"/>
        </c:dLbls>
        <c:marker val="1"/>
        <c:smooth val="0"/>
        <c:axId val="1347413504"/>
        <c:axId val="1347424384"/>
      </c:lineChart>
      <c:catAx>
        <c:axId val="1347410784"/>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ysClr val="windowText" lastClr="000000"/>
                </a:solidFill>
                <a:latin typeface="+mn-lt"/>
                <a:ea typeface="+mn-ea"/>
                <a:cs typeface="Times New Roman" panose="02020603050405020304" pitchFamily="18" charset="0"/>
              </a:defRPr>
            </a:pPr>
            <a:endParaRPr lang="en-US"/>
          </a:p>
        </c:txPr>
        <c:crossAx val="1347416768"/>
        <c:crosses val="autoZero"/>
        <c:auto val="1"/>
        <c:lblAlgn val="ctr"/>
        <c:lblOffset val="100"/>
        <c:noMultiLvlLbl val="0"/>
      </c:catAx>
      <c:valAx>
        <c:axId val="134741676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r>
                  <a:rPr lang="en-US" sz="1800">
                    <a:solidFill>
                      <a:sysClr val="windowText" lastClr="000000"/>
                    </a:solidFill>
                    <a:latin typeface="+mn-lt"/>
                  </a:rPr>
                  <a:t>Normalized Potential</a:t>
                </a:r>
              </a:p>
            </c:rich>
          </c:tx>
          <c:layout/>
          <c:overlay val="0"/>
          <c:spPr>
            <a:noFill/>
            <a:ln>
              <a:noFill/>
            </a:ln>
            <a:effectLst/>
          </c:spPr>
          <c:txPr>
            <a:bodyPr rot="-5400000" spcFirstLastPara="1" vertOverflow="ellipsis" vert="horz" wrap="square" anchor="ctr" anchorCtr="1"/>
            <a:lstStyle/>
            <a:p>
              <a:pPr>
                <a:defRPr sz="18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347410784"/>
        <c:crosses val="autoZero"/>
        <c:crossBetween val="between"/>
      </c:valAx>
      <c:valAx>
        <c:axId val="1347424384"/>
        <c:scaling>
          <c:orientation val="minMax"/>
        </c:scaling>
        <c:delete val="0"/>
        <c:axPos val="r"/>
        <c:title>
          <c:tx>
            <c:rich>
              <a:bodyPr rot="-5400000" spcFirstLastPara="1" vertOverflow="ellipsis" vert="horz" wrap="square" anchor="ctr" anchorCtr="1"/>
              <a:lstStyle/>
              <a:p>
                <a:pPr>
                  <a:defRPr sz="18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r>
                  <a:rPr lang="en-US" sz="1800">
                    <a:solidFill>
                      <a:sysClr val="windowText" lastClr="000000"/>
                    </a:solidFill>
                  </a:rPr>
                  <a:t>Speedup</a:t>
                </a:r>
              </a:p>
            </c:rich>
          </c:tx>
          <c:layout/>
          <c:overlay val="0"/>
          <c:spPr>
            <a:noFill/>
            <a:ln>
              <a:noFill/>
            </a:ln>
            <a:effectLst/>
          </c:spPr>
          <c:txPr>
            <a:bodyPr rot="-5400000" spcFirstLastPara="1" vertOverflow="ellipsis" vert="horz" wrap="square" anchor="ctr" anchorCtr="1"/>
            <a:lstStyle/>
            <a:p>
              <a:pPr>
                <a:defRPr sz="18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347413504"/>
        <c:crosses val="max"/>
        <c:crossBetween val="between"/>
      </c:valAx>
      <c:catAx>
        <c:axId val="1347413504"/>
        <c:scaling>
          <c:orientation val="minMax"/>
        </c:scaling>
        <c:delete val="1"/>
        <c:axPos val="b"/>
        <c:numFmt formatCode="General" sourceLinked="1"/>
        <c:majorTickMark val="out"/>
        <c:minorTickMark val="none"/>
        <c:tickLblPos val="nextTo"/>
        <c:crossAx val="1347424384"/>
        <c:crosses val="autoZero"/>
        <c:auto val="1"/>
        <c:lblAlgn val="ctr"/>
        <c:lblOffset val="100"/>
        <c:noMultiLvlLbl val="0"/>
      </c:catAx>
      <c:spPr>
        <a:noFill/>
        <a:ln>
          <a:noFill/>
        </a:ln>
        <a:effectLst/>
      </c:spPr>
    </c:plotArea>
    <c:legend>
      <c:legendPos val="b"/>
      <c:layout>
        <c:manualLayout>
          <c:xMode val="edge"/>
          <c:yMode val="edge"/>
          <c:x val="0.14714654868568799"/>
          <c:y val="5.6006242462935403E-2"/>
          <c:w val="0.59543098628916902"/>
          <c:h val="5.5104868648175702E-2"/>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9525" cap="flat" cmpd="sng" algn="ctr">
      <a:noFill/>
      <a:round/>
    </a:ln>
    <a:effectLst/>
  </c:spPr>
  <c:txPr>
    <a:bodyPr/>
    <a:lstStyle/>
    <a:p>
      <a:pPr>
        <a:defRPr sz="1400">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prescan!$X$39</c:f>
              <c:strCache>
                <c:ptCount val="1"/>
                <c:pt idx="0">
                  <c:v>LUTs</c:v>
                </c:pt>
              </c:strCache>
            </c:strRef>
          </c:tx>
          <c:spPr>
            <a:pattFill prst="ltUpDiag">
              <a:fgClr>
                <a:schemeClr val="tx1"/>
              </a:fgClr>
              <a:bgClr>
                <a:schemeClr val="bg1"/>
              </a:bgClr>
            </a:pattFill>
            <a:ln>
              <a:solidFill>
                <a:schemeClr val="tx1"/>
              </a:solidFill>
            </a:ln>
            <a:effectLst/>
          </c:spPr>
          <c:invertIfNegative val="0"/>
          <c:cat>
            <c:strRef>
              <c:f>prescan!$W$40:$W$44</c:f>
              <c:strCache>
                <c:ptCount val="5"/>
                <c:pt idx="0">
                  <c:v>CU=1</c:v>
                </c:pt>
                <c:pt idx="1">
                  <c:v>CU=2</c:v>
                </c:pt>
                <c:pt idx="2">
                  <c:v>CU=4</c:v>
                </c:pt>
                <c:pt idx="3">
                  <c:v>CU=8</c:v>
                </c:pt>
                <c:pt idx="4">
                  <c:v>CU=10</c:v>
                </c:pt>
              </c:strCache>
            </c:strRef>
          </c:cat>
          <c:val>
            <c:numRef>
              <c:f>prescan!$X$40:$X$44</c:f>
              <c:numCache>
                <c:formatCode>General</c:formatCode>
                <c:ptCount val="5"/>
                <c:pt idx="0">
                  <c:v>0.02</c:v>
                </c:pt>
                <c:pt idx="1">
                  <c:v>0.04</c:v>
                </c:pt>
                <c:pt idx="2">
                  <c:v>7.0000000000000007E-2</c:v>
                </c:pt>
                <c:pt idx="3">
                  <c:v>0.14000000000000001</c:v>
                </c:pt>
                <c:pt idx="4">
                  <c:v>0.17</c:v>
                </c:pt>
              </c:numCache>
            </c:numRef>
          </c:val>
          <c:extLst>
            <c:ext xmlns:c16="http://schemas.microsoft.com/office/drawing/2014/chart" uri="{C3380CC4-5D6E-409C-BE32-E72D297353CC}">
              <c16:uniqueId val="{00000000-7568-4346-A438-E1320163D283}"/>
            </c:ext>
          </c:extLst>
        </c:ser>
        <c:ser>
          <c:idx val="1"/>
          <c:order val="1"/>
          <c:tx>
            <c:strRef>
              <c:f>prescan!$Y$39</c:f>
              <c:strCache>
                <c:ptCount val="1"/>
                <c:pt idx="0">
                  <c:v>REGs</c:v>
                </c:pt>
              </c:strCache>
            </c:strRef>
          </c:tx>
          <c:spPr>
            <a:pattFill prst="ltHorz">
              <a:fgClr>
                <a:schemeClr val="tx1"/>
              </a:fgClr>
              <a:bgClr>
                <a:schemeClr val="bg1"/>
              </a:bgClr>
            </a:pattFill>
            <a:ln>
              <a:solidFill>
                <a:schemeClr val="tx1"/>
              </a:solidFill>
            </a:ln>
            <a:effectLst/>
          </c:spPr>
          <c:invertIfNegative val="0"/>
          <c:cat>
            <c:strRef>
              <c:f>prescan!$W$40:$W$44</c:f>
              <c:strCache>
                <c:ptCount val="5"/>
                <c:pt idx="0">
                  <c:v>CU=1</c:v>
                </c:pt>
                <c:pt idx="1">
                  <c:v>CU=2</c:v>
                </c:pt>
                <c:pt idx="2">
                  <c:v>CU=4</c:v>
                </c:pt>
                <c:pt idx="3">
                  <c:v>CU=8</c:v>
                </c:pt>
                <c:pt idx="4">
                  <c:v>CU=10</c:v>
                </c:pt>
              </c:strCache>
            </c:strRef>
          </c:cat>
          <c:val>
            <c:numRef>
              <c:f>prescan!$Y$40:$Y$44</c:f>
              <c:numCache>
                <c:formatCode>General</c:formatCode>
                <c:ptCount val="5"/>
                <c:pt idx="0">
                  <c:v>0.04</c:v>
                </c:pt>
                <c:pt idx="1">
                  <c:v>7.0000000000000007E-2</c:v>
                </c:pt>
                <c:pt idx="2">
                  <c:v>0.15</c:v>
                </c:pt>
                <c:pt idx="3">
                  <c:v>0.28999999999999998</c:v>
                </c:pt>
                <c:pt idx="4">
                  <c:v>0.36</c:v>
                </c:pt>
              </c:numCache>
            </c:numRef>
          </c:val>
          <c:extLst>
            <c:ext xmlns:c16="http://schemas.microsoft.com/office/drawing/2014/chart" uri="{C3380CC4-5D6E-409C-BE32-E72D297353CC}">
              <c16:uniqueId val="{00000001-7568-4346-A438-E1320163D283}"/>
            </c:ext>
          </c:extLst>
        </c:ser>
        <c:ser>
          <c:idx val="2"/>
          <c:order val="2"/>
          <c:tx>
            <c:strRef>
              <c:f>prescan!$Z$39</c:f>
              <c:strCache>
                <c:ptCount val="1"/>
                <c:pt idx="0">
                  <c:v>RAMs</c:v>
                </c:pt>
              </c:strCache>
            </c:strRef>
          </c:tx>
          <c:spPr>
            <a:pattFill prst="pct20">
              <a:fgClr>
                <a:schemeClr val="tx1"/>
              </a:fgClr>
              <a:bgClr>
                <a:schemeClr val="bg1"/>
              </a:bgClr>
            </a:pattFill>
            <a:ln>
              <a:solidFill>
                <a:schemeClr val="tx1"/>
              </a:solidFill>
            </a:ln>
            <a:effectLst/>
          </c:spPr>
          <c:invertIfNegative val="0"/>
          <c:cat>
            <c:strRef>
              <c:f>prescan!$W$40:$W$44</c:f>
              <c:strCache>
                <c:ptCount val="5"/>
                <c:pt idx="0">
                  <c:v>CU=1</c:v>
                </c:pt>
                <c:pt idx="1">
                  <c:v>CU=2</c:v>
                </c:pt>
                <c:pt idx="2">
                  <c:v>CU=4</c:v>
                </c:pt>
                <c:pt idx="3">
                  <c:v>CU=8</c:v>
                </c:pt>
                <c:pt idx="4">
                  <c:v>CU=10</c:v>
                </c:pt>
              </c:strCache>
            </c:strRef>
          </c:cat>
          <c:val>
            <c:numRef>
              <c:f>prescan!$Z$40:$Z$44</c:f>
              <c:numCache>
                <c:formatCode>General</c:formatCode>
                <c:ptCount val="5"/>
                <c:pt idx="0">
                  <c:v>0.06</c:v>
                </c:pt>
                <c:pt idx="1">
                  <c:v>0.13</c:v>
                </c:pt>
                <c:pt idx="2">
                  <c:v>0.26</c:v>
                </c:pt>
                <c:pt idx="3">
                  <c:v>0.52</c:v>
                </c:pt>
                <c:pt idx="4">
                  <c:v>0.64</c:v>
                </c:pt>
              </c:numCache>
            </c:numRef>
          </c:val>
          <c:extLst>
            <c:ext xmlns:c16="http://schemas.microsoft.com/office/drawing/2014/chart" uri="{C3380CC4-5D6E-409C-BE32-E72D297353CC}">
              <c16:uniqueId val="{00000002-7568-4346-A438-E1320163D283}"/>
            </c:ext>
          </c:extLst>
        </c:ser>
        <c:ser>
          <c:idx val="3"/>
          <c:order val="3"/>
          <c:tx>
            <c:strRef>
              <c:f>prescan!$AA$39</c:f>
              <c:strCache>
                <c:ptCount val="1"/>
                <c:pt idx="0">
                  <c:v>DSPs</c:v>
                </c:pt>
              </c:strCache>
            </c:strRef>
          </c:tx>
          <c:spPr>
            <a:pattFill prst="dkDnDiag">
              <a:fgClr>
                <a:schemeClr val="tx1"/>
              </a:fgClr>
              <a:bgClr>
                <a:schemeClr val="bg1"/>
              </a:bgClr>
            </a:pattFill>
            <a:ln>
              <a:solidFill>
                <a:schemeClr val="tx1"/>
              </a:solidFill>
            </a:ln>
            <a:effectLst/>
          </c:spPr>
          <c:invertIfNegative val="0"/>
          <c:cat>
            <c:strRef>
              <c:f>prescan!$W$40:$W$44</c:f>
              <c:strCache>
                <c:ptCount val="5"/>
                <c:pt idx="0">
                  <c:v>CU=1</c:v>
                </c:pt>
                <c:pt idx="1">
                  <c:v>CU=2</c:v>
                </c:pt>
                <c:pt idx="2">
                  <c:v>CU=4</c:v>
                </c:pt>
                <c:pt idx="3">
                  <c:v>CU=8</c:v>
                </c:pt>
                <c:pt idx="4">
                  <c:v>CU=10</c:v>
                </c:pt>
              </c:strCache>
            </c:strRef>
          </c:cat>
          <c:val>
            <c:numRef>
              <c:f>prescan!$AA$40:$AA$44</c:f>
              <c:numCache>
                <c:formatCode>General</c:formatCode>
                <c:ptCount val="5"/>
                <c:pt idx="0">
                  <c:v>0.03</c:v>
                </c:pt>
                <c:pt idx="1">
                  <c:v>0.06</c:v>
                </c:pt>
                <c:pt idx="2">
                  <c:v>0.13</c:v>
                </c:pt>
                <c:pt idx="3">
                  <c:v>0.25</c:v>
                </c:pt>
                <c:pt idx="4">
                  <c:v>0.31</c:v>
                </c:pt>
              </c:numCache>
            </c:numRef>
          </c:val>
          <c:extLst>
            <c:ext xmlns:c16="http://schemas.microsoft.com/office/drawing/2014/chart" uri="{C3380CC4-5D6E-409C-BE32-E72D297353CC}">
              <c16:uniqueId val="{00000003-7568-4346-A438-E1320163D283}"/>
            </c:ext>
          </c:extLst>
        </c:ser>
        <c:dLbls>
          <c:showLegendKey val="0"/>
          <c:showVal val="0"/>
          <c:showCatName val="0"/>
          <c:showSerName val="0"/>
          <c:showPercent val="0"/>
          <c:showBubbleSize val="0"/>
        </c:dLbls>
        <c:gapWidth val="219"/>
        <c:overlap val="-27"/>
        <c:axId val="1347416224"/>
        <c:axId val="1347424928"/>
      </c:barChart>
      <c:lineChart>
        <c:grouping val="stacked"/>
        <c:varyColors val="0"/>
        <c:ser>
          <c:idx val="4"/>
          <c:order val="4"/>
          <c:tx>
            <c:strRef>
              <c:f>prescan!$AB$39</c:f>
              <c:strCache>
                <c:ptCount val="1"/>
                <c:pt idx="0">
                  <c:v>Time(s)</c:v>
                </c:pt>
              </c:strCache>
            </c:strRef>
          </c:tx>
          <c:spPr>
            <a:ln w="28575" cap="rnd">
              <a:solidFill>
                <a:schemeClr val="tx1"/>
              </a:solidFill>
              <a:round/>
            </a:ln>
            <a:effectLst/>
          </c:spPr>
          <c:marker>
            <c:symbol val="circle"/>
            <c:size val="7"/>
            <c:spPr>
              <a:solidFill>
                <a:schemeClr val="tx1"/>
              </a:solidFill>
              <a:ln w="9525">
                <a:solidFill>
                  <a:schemeClr val="tx1"/>
                </a:solidFill>
              </a:ln>
              <a:effectLst/>
            </c:spPr>
          </c:marker>
          <c:cat>
            <c:strRef>
              <c:f>prescan!$W$40:$W$44</c:f>
              <c:strCache>
                <c:ptCount val="5"/>
                <c:pt idx="0">
                  <c:v>CU=1</c:v>
                </c:pt>
                <c:pt idx="1">
                  <c:v>CU=2</c:v>
                </c:pt>
                <c:pt idx="2">
                  <c:v>CU=4</c:v>
                </c:pt>
                <c:pt idx="3">
                  <c:v>CU=8</c:v>
                </c:pt>
                <c:pt idx="4">
                  <c:v>CU=10</c:v>
                </c:pt>
              </c:strCache>
            </c:strRef>
          </c:cat>
          <c:val>
            <c:numRef>
              <c:f>prescan!$AB$40:$AB$44</c:f>
              <c:numCache>
                <c:formatCode>General</c:formatCode>
                <c:ptCount val="5"/>
                <c:pt idx="0">
                  <c:v>5.1899999999999986</c:v>
                </c:pt>
                <c:pt idx="1">
                  <c:v>1.77</c:v>
                </c:pt>
                <c:pt idx="2">
                  <c:v>1.1000000000000001</c:v>
                </c:pt>
                <c:pt idx="3">
                  <c:v>0.47</c:v>
                </c:pt>
                <c:pt idx="4">
                  <c:v>0.43</c:v>
                </c:pt>
              </c:numCache>
            </c:numRef>
          </c:val>
          <c:smooth val="0"/>
          <c:extLst>
            <c:ext xmlns:c16="http://schemas.microsoft.com/office/drawing/2014/chart" uri="{C3380CC4-5D6E-409C-BE32-E72D297353CC}">
              <c16:uniqueId val="{00000004-7568-4346-A438-E1320163D283}"/>
            </c:ext>
          </c:extLst>
        </c:ser>
        <c:dLbls>
          <c:showLegendKey val="0"/>
          <c:showVal val="0"/>
          <c:showCatName val="0"/>
          <c:showSerName val="0"/>
          <c:showPercent val="0"/>
          <c:showBubbleSize val="0"/>
        </c:dLbls>
        <c:marker val="1"/>
        <c:smooth val="0"/>
        <c:axId val="1347419488"/>
        <c:axId val="1347418944"/>
      </c:lineChart>
      <c:catAx>
        <c:axId val="1347416224"/>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347424928"/>
        <c:crosses val="autoZero"/>
        <c:auto val="1"/>
        <c:lblAlgn val="ctr"/>
        <c:lblOffset val="100"/>
        <c:noMultiLvlLbl val="0"/>
      </c:catAx>
      <c:valAx>
        <c:axId val="134742492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a:t>Resource utilization</a:t>
                </a:r>
              </a:p>
            </c:rich>
          </c:tx>
          <c:layout/>
          <c:overlay val="0"/>
          <c:spPr>
            <a:noFill/>
            <a:ln>
              <a:noFill/>
            </a:ln>
            <a:effectLst/>
          </c:spPr>
        </c:title>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347416224"/>
        <c:crosses val="autoZero"/>
        <c:crossBetween val="between"/>
      </c:valAx>
      <c:valAx>
        <c:axId val="1347418944"/>
        <c:scaling>
          <c:orientation val="minMax"/>
        </c:scaling>
        <c:delete val="0"/>
        <c:axPos val="r"/>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a:t>Elapsed time(s)</a:t>
                </a:r>
              </a:p>
            </c:rich>
          </c:tx>
          <c:layout/>
          <c:overlay val="0"/>
          <c:spPr>
            <a:noFill/>
            <a:ln>
              <a:noFill/>
            </a:ln>
            <a:effectLst/>
          </c:spPr>
        </c:title>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347419488"/>
        <c:crosses val="max"/>
        <c:crossBetween val="between"/>
      </c:valAx>
      <c:catAx>
        <c:axId val="1347419488"/>
        <c:scaling>
          <c:orientation val="minMax"/>
        </c:scaling>
        <c:delete val="1"/>
        <c:axPos val="b"/>
        <c:numFmt formatCode="General" sourceLinked="1"/>
        <c:majorTickMark val="out"/>
        <c:minorTickMark val="none"/>
        <c:tickLblPos val="nextTo"/>
        <c:crossAx val="1347418944"/>
        <c:crosses val="autoZero"/>
        <c:auto val="1"/>
        <c:lblAlgn val="ctr"/>
        <c:lblOffset val="100"/>
        <c:noMultiLvlLbl val="0"/>
      </c:cat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6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359273840769899"/>
          <c:y val="6.8356663750364505E-2"/>
          <c:w val="0.78585170603674503"/>
          <c:h val="0.71040412983887702"/>
        </c:manualLayout>
      </c:layout>
      <c:lineChart>
        <c:grouping val="standard"/>
        <c:varyColors val="0"/>
        <c:ser>
          <c:idx val="0"/>
          <c:order val="0"/>
          <c:tx>
            <c:strRef>
              <c:f>'filter+aggregation'!$AB$27</c:f>
              <c:strCache>
                <c:ptCount val="1"/>
                <c:pt idx="0">
                  <c:v>1_Measured</c:v>
                </c:pt>
              </c:strCache>
            </c:strRef>
          </c:tx>
          <c:spPr>
            <a:ln w="28575" cap="rnd">
              <a:solidFill>
                <a:schemeClr val="tx1"/>
              </a:solidFill>
              <a:round/>
            </a:ln>
            <a:effectLst/>
          </c:spPr>
          <c:marker>
            <c:symbol val="triangle"/>
            <c:size val="7"/>
            <c:spPr>
              <a:solidFill>
                <a:schemeClr val="tx1"/>
              </a:solidFill>
              <a:ln w="9525">
                <a:solidFill>
                  <a:schemeClr val="tx1"/>
                </a:solidFill>
              </a:ln>
              <a:effectLst/>
            </c:spPr>
          </c:marker>
          <c:cat>
            <c:strRef>
              <c:f>'filter+aggregation'!$AC$26:$AJ$26</c:f>
              <c:strCache>
                <c:ptCount val="8"/>
                <c:pt idx="0">
                  <c:v>1M</c:v>
                </c:pt>
                <c:pt idx="1">
                  <c:v>2M</c:v>
                </c:pt>
                <c:pt idx="2">
                  <c:v>4M</c:v>
                </c:pt>
                <c:pt idx="3">
                  <c:v>8M</c:v>
                </c:pt>
                <c:pt idx="4">
                  <c:v>16M</c:v>
                </c:pt>
                <c:pt idx="5">
                  <c:v>32M</c:v>
                </c:pt>
                <c:pt idx="6">
                  <c:v>64M</c:v>
                </c:pt>
                <c:pt idx="7">
                  <c:v>128M</c:v>
                </c:pt>
              </c:strCache>
            </c:strRef>
          </c:cat>
          <c:val>
            <c:numRef>
              <c:f>'filter+aggregation'!$AC$27:$AJ$27</c:f>
              <c:numCache>
                <c:formatCode>General</c:formatCode>
                <c:ptCount val="8"/>
                <c:pt idx="0">
                  <c:v>0.33</c:v>
                </c:pt>
                <c:pt idx="1">
                  <c:v>0.68</c:v>
                </c:pt>
                <c:pt idx="2">
                  <c:v>1.44</c:v>
                </c:pt>
                <c:pt idx="3">
                  <c:v>3.02</c:v>
                </c:pt>
                <c:pt idx="4">
                  <c:v>6.42</c:v>
                </c:pt>
                <c:pt idx="5">
                  <c:v>13.37</c:v>
                </c:pt>
                <c:pt idx="6">
                  <c:v>28.03</c:v>
                </c:pt>
                <c:pt idx="7">
                  <c:v>59.79</c:v>
                </c:pt>
              </c:numCache>
            </c:numRef>
          </c:val>
          <c:smooth val="0"/>
          <c:extLst>
            <c:ext xmlns:c16="http://schemas.microsoft.com/office/drawing/2014/chart" uri="{C3380CC4-5D6E-409C-BE32-E72D297353CC}">
              <c16:uniqueId val="{00000000-ECA0-45AC-97E7-007B95B600AC}"/>
            </c:ext>
          </c:extLst>
        </c:ser>
        <c:ser>
          <c:idx val="1"/>
          <c:order val="1"/>
          <c:tx>
            <c:strRef>
              <c:f>'filter+aggregation'!$AB$28</c:f>
              <c:strCache>
                <c:ptCount val="1"/>
                <c:pt idx="0">
                  <c:v>1_Estimated</c:v>
                </c:pt>
              </c:strCache>
            </c:strRef>
          </c:tx>
          <c:spPr>
            <a:ln w="28575" cap="rnd">
              <a:solidFill>
                <a:schemeClr val="tx1"/>
              </a:solidFill>
              <a:prstDash val="sysDot"/>
              <a:round/>
            </a:ln>
            <a:effectLst/>
          </c:spPr>
          <c:marker>
            <c:symbol val="triangle"/>
            <c:size val="7"/>
            <c:spPr>
              <a:solidFill>
                <a:schemeClr val="tx1"/>
              </a:solidFill>
              <a:ln w="9525">
                <a:solidFill>
                  <a:schemeClr val="tx1"/>
                </a:solidFill>
              </a:ln>
              <a:effectLst/>
            </c:spPr>
          </c:marker>
          <c:cat>
            <c:strRef>
              <c:f>'filter+aggregation'!$AC$26:$AJ$26</c:f>
              <c:strCache>
                <c:ptCount val="8"/>
                <c:pt idx="0">
                  <c:v>1M</c:v>
                </c:pt>
                <c:pt idx="1">
                  <c:v>2M</c:v>
                </c:pt>
                <c:pt idx="2">
                  <c:v>4M</c:v>
                </c:pt>
                <c:pt idx="3">
                  <c:v>8M</c:v>
                </c:pt>
                <c:pt idx="4">
                  <c:v>16M</c:v>
                </c:pt>
                <c:pt idx="5">
                  <c:v>32M</c:v>
                </c:pt>
                <c:pt idx="6">
                  <c:v>64M</c:v>
                </c:pt>
                <c:pt idx="7">
                  <c:v>128M</c:v>
                </c:pt>
              </c:strCache>
            </c:strRef>
          </c:cat>
          <c:val>
            <c:numRef>
              <c:f>'filter+aggregation'!$AC$28:$AJ$28</c:f>
              <c:numCache>
                <c:formatCode>General</c:formatCode>
                <c:ptCount val="8"/>
                <c:pt idx="0">
                  <c:v>0.43</c:v>
                </c:pt>
                <c:pt idx="1">
                  <c:v>0.86</c:v>
                </c:pt>
                <c:pt idx="2">
                  <c:v>1.73</c:v>
                </c:pt>
                <c:pt idx="3">
                  <c:v>3.5</c:v>
                </c:pt>
                <c:pt idx="4">
                  <c:v>7</c:v>
                </c:pt>
                <c:pt idx="5">
                  <c:v>14.1</c:v>
                </c:pt>
                <c:pt idx="6">
                  <c:v>29.1</c:v>
                </c:pt>
                <c:pt idx="7">
                  <c:v>57.6</c:v>
                </c:pt>
              </c:numCache>
            </c:numRef>
          </c:val>
          <c:smooth val="0"/>
          <c:extLst>
            <c:ext xmlns:c16="http://schemas.microsoft.com/office/drawing/2014/chart" uri="{C3380CC4-5D6E-409C-BE32-E72D297353CC}">
              <c16:uniqueId val="{00000001-ECA0-45AC-97E7-007B95B600AC}"/>
            </c:ext>
          </c:extLst>
        </c:ser>
        <c:ser>
          <c:idx val="2"/>
          <c:order val="2"/>
          <c:tx>
            <c:strRef>
              <c:f>'filter+aggregation'!$AB$29</c:f>
              <c:strCache>
                <c:ptCount val="1"/>
                <c:pt idx="0">
                  <c:v>2_Measured</c:v>
                </c:pt>
              </c:strCache>
            </c:strRef>
          </c:tx>
          <c:spPr>
            <a:ln w="28575" cap="rnd">
              <a:solidFill>
                <a:srgbClr val="FF0000"/>
              </a:solidFill>
              <a:round/>
            </a:ln>
            <a:effectLst/>
          </c:spPr>
          <c:marker>
            <c:symbol val="circle"/>
            <c:size val="7"/>
            <c:spPr>
              <a:solidFill>
                <a:srgbClr val="FF0000"/>
              </a:solidFill>
              <a:ln w="9525">
                <a:solidFill>
                  <a:srgbClr val="C00000"/>
                </a:solidFill>
              </a:ln>
              <a:effectLst/>
            </c:spPr>
          </c:marker>
          <c:cat>
            <c:strRef>
              <c:f>'filter+aggregation'!$AC$26:$AJ$26</c:f>
              <c:strCache>
                <c:ptCount val="8"/>
                <c:pt idx="0">
                  <c:v>1M</c:v>
                </c:pt>
                <c:pt idx="1">
                  <c:v>2M</c:v>
                </c:pt>
                <c:pt idx="2">
                  <c:v>4M</c:v>
                </c:pt>
                <c:pt idx="3">
                  <c:v>8M</c:v>
                </c:pt>
                <c:pt idx="4">
                  <c:v>16M</c:v>
                </c:pt>
                <c:pt idx="5">
                  <c:v>32M</c:v>
                </c:pt>
                <c:pt idx="6">
                  <c:v>64M</c:v>
                </c:pt>
                <c:pt idx="7">
                  <c:v>128M</c:v>
                </c:pt>
              </c:strCache>
            </c:strRef>
          </c:cat>
          <c:val>
            <c:numRef>
              <c:f>'filter+aggregation'!$AC$29:$AJ$29</c:f>
              <c:numCache>
                <c:formatCode>General</c:formatCode>
                <c:ptCount val="8"/>
                <c:pt idx="0">
                  <c:v>4.09</c:v>
                </c:pt>
                <c:pt idx="1">
                  <c:v>4.2699999999999996</c:v>
                </c:pt>
                <c:pt idx="2">
                  <c:v>4.7</c:v>
                </c:pt>
                <c:pt idx="3">
                  <c:v>5.64</c:v>
                </c:pt>
                <c:pt idx="4">
                  <c:v>7.64</c:v>
                </c:pt>
                <c:pt idx="5">
                  <c:v>11.89</c:v>
                </c:pt>
                <c:pt idx="6">
                  <c:v>20.81</c:v>
                </c:pt>
                <c:pt idx="7">
                  <c:v>38.43</c:v>
                </c:pt>
              </c:numCache>
            </c:numRef>
          </c:val>
          <c:smooth val="0"/>
          <c:extLst>
            <c:ext xmlns:c16="http://schemas.microsoft.com/office/drawing/2014/chart" uri="{C3380CC4-5D6E-409C-BE32-E72D297353CC}">
              <c16:uniqueId val="{00000002-ECA0-45AC-97E7-007B95B600AC}"/>
            </c:ext>
          </c:extLst>
        </c:ser>
        <c:ser>
          <c:idx val="3"/>
          <c:order val="3"/>
          <c:tx>
            <c:strRef>
              <c:f>'filter+aggregation'!$AB$30</c:f>
              <c:strCache>
                <c:ptCount val="1"/>
                <c:pt idx="0">
                  <c:v>2_Estimated</c:v>
                </c:pt>
              </c:strCache>
            </c:strRef>
          </c:tx>
          <c:spPr>
            <a:ln w="28575" cap="rnd">
              <a:solidFill>
                <a:srgbClr val="FF0000"/>
              </a:solidFill>
              <a:prstDash val="sysDot"/>
              <a:round/>
            </a:ln>
            <a:effectLst/>
          </c:spPr>
          <c:marker>
            <c:symbol val="circle"/>
            <c:size val="7"/>
            <c:spPr>
              <a:solidFill>
                <a:srgbClr val="FF0000"/>
              </a:solidFill>
              <a:ln w="9525">
                <a:solidFill>
                  <a:srgbClr val="FF0000"/>
                </a:solidFill>
              </a:ln>
              <a:effectLst/>
            </c:spPr>
          </c:marker>
          <c:cat>
            <c:strRef>
              <c:f>'filter+aggregation'!$AC$26:$AJ$26</c:f>
              <c:strCache>
                <c:ptCount val="8"/>
                <c:pt idx="0">
                  <c:v>1M</c:v>
                </c:pt>
                <c:pt idx="1">
                  <c:v>2M</c:v>
                </c:pt>
                <c:pt idx="2">
                  <c:v>4M</c:v>
                </c:pt>
                <c:pt idx="3">
                  <c:v>8M</c:v>
                </c:pt>
                <c:pt idx="4">
                  <c:v>16M</c:v>
                </c:pt>
                <c:pt idx="5">
                  <c:v>32M</c:v>
                </c:pt>
                <c:pt idx="6">
                  <c:v>64M</c:v>
                </c:pt>
                <c:pt idx="7">
                  <c:v>128M</c:v>
                </c:pt>
              </c:strCache>
            </c:strRef>
          </c:cat>
          <c:val>
            <c:numRef>
              <c:f>'filter+aggregation'!$AC$30:$AJ$30</c:f>
              <c:numCache>
                <c:formatCode>General</c:formatCode>
                <c:ptCount val="8"/>
                <c:pt idx="0">
                  <c:v>4.0999999999999996</c:v>
                </c:pt>
                <c:pt idx="1">
                  <c:v>4.34</c:v>
                </c:pt>
                <c:pt idx="2">
                  <c:v>4.6399999999999997</c:v>
                </c:pt>
                <c:pt idx="3">
                  <c:v>5.54</c:v>
                </c:pt>
                <c:pt idx="4">
                  <c:v>7.54</c:v>
                </c:pt>
                <c:pt idx="5">
                  <c:v>11.25</c:v>
                </c:pt>
                <c:pt idx="6">
                  <c:v>18.670000000000009</c:v>
                </c:pt>
                <c:pt idx="7">
                  <c:v>33.520000000000003</c:v>
                </c:pt>
              </c:numCache>
            </c:numRef>
          </c:val>
          <c:smooth val="0"/>
          <c:extLst>
            <c:ext xmlns:c16="http://schemas.microsoft.com/office/drawing/2014/chart" uri="{C3380CC4-5D6E-409C-BE32-E72D297353CC}">
              <c16:uniqueId val="{00000003-ECA0-45AC-97E7-007B95B600AC}"/>
            </c:ext>
          </c:extLst>
        </c:ser>
        <c:dLbls>
          <c:showLegendKey val="0"/>
          <c:showVal val="0"/>
          <c:showCatName val="0"/>
          <c:showSerName val="0"/>
          <c:showPercent val="0"/>
          <c:showBubbleSize val="0"/>
        </c:dLbls>
        <c:marker val="1"/>
        <c:smooth val="0"/>
        <c:axId val="1278538144"/>
        <c:axId val="1415762576"/>
      </c:lineChart>
      <c:catAx>
        <c:axId val="127853814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600">
                    <a:solidFill>
                      <a:sysClr val="windowText" lastClr="000000"/>
                    </a:solidFill>
                  </a:rPr>
                  <a:t>|S|</a:t>
                </a:r>
              </a:p>
            </c:rich>
          </c:tx>
          <c:layout/>
          <c:overlay val="0"/>
          <c:spPr>
            <a:noFill/>
            <a:ln>
              <a:noFill/>
            </a:ln>
            <a:effectLst/>
          </c:spPr>
        </c:title>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1415762576"/>
        <c:crosses val="autoZero"/>
        <c:auto val="1"/>
        <c:lblAlgn val="ctr"/>
        <c:lblOffset val="100"/>
        <c:noMultiLvlLbl val="0"/>
      </c:catAx>
      <c:valAx>
        <c:axId val="1415762576"/>
        <c:scaling>
          <c:orientation val="minMax"/>
          <c:max val="6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600">
                    <a:solidFill>
                      <a:sysClr val="windowText" lastClr="000000"/>
                    </a:solidFill>
                  </a:rPr>
                  <a:t>Elasped</a:t>
                </a:r>
                <a:r>
                  <a:rPr lang="en-US" sz="1600" baseline="0">
                    <a:solidFill>
                      <a:sysClr val="windowText" lastClr="000000"/>
                    </a:solidFill>
                  </a:rPr>
                  <a:t> time(s)</a:t>
                </a:r>
                <a:endParaRPr lang="en-US" sz="1600">
                  <a:solidFill>
                    <a:sysClr val="windowText" lastClr="000000"/>
                  </a:solidFill>
                </a:endParaRPr>
              </a:p>
            </c:rich>
          </c:tx>
          <c:layout/>
          <c:overlay val="0"/>
          <c:spPr>
            <a:noFill/>
            <a:ln>
              <a:noFill/>
            </a:ln>
            <a:effectLst/>
          </c:spPr>
        </c:title>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600" b="0" i="0" u="none" strike="noStrike" kern="1200" baseline="0">
                <a:solidFill>
                  <a:sysClr val="windowText" lastClr="000000"/>
                </a:solidFill>
                <a:latin typeface="+mn-lt"/>
                <a:ea typeface="+mn-ea"/>
                <a:cs typeface="+mn-cs"/>
              </a:defRPr>
            </a:pPr>
            <a:endParaRPr lang="en-US"/>
          </a:p>
        </c:txPr>
        <c:crossAx val="1278538144"/>
        <c:crosses val="autoZero"/>
        <c:crossBetween val="between"/>
      </c:valAx>
      <c:spPr>
        <a:noFill/>
        <a:ln>
          <a:noFill/>
        </a:ln>
        <a:effectLst/>
      </c:spPr>
    </c:plotArea>
    <c:legend>
      <c:legendPos val="b"/>
      <c:layout>
        <c:manualLayout>
          <c:xMode val="edge"/>
          <c:yMode val="edge"/>
          <c:x val="0.186813256559963"/>
          <c:y val="7.2198213518059995E-2"/>
          <c:w val="0.63835641873237003"/>
          <c:h val="0.20623104211333601"/>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tx1"/>
            </a:solidFill>
            <a:ln>
              <a:solidFill>
                <a:schemeClr val="tx1"/>
              </a:solidFill>
            </a:ln>
            <a:effectLst/>
          </c:spPr>
          <c:invertIfNegative val="0"/>
          <c:cat>
            <c:strRef>
              <c:f>'filter+aggregation'!$AC$45:$AJ$45</c:f>
              <c:strCache>
                <c:ptCount val="8"/>
                <c:pt idx="0">
                  <c:v>1M</c:v>
                </c:pt>
                <c:pt idx="1">
                  <c:v>2M</c:v>
                </c:pt>
                <c:pt idx="2">
                  <c:v>4M</c:v>
                </c:pt>
                <c:pt idx="3">
                  <c:v>8M</c:v>
                </c:pt>
                <c:pt idx="4">
                  <c:v>16M</c:v>
                </c:pt>
                <c:pt idx="5">
                  <c:v>32M</c:v>
                </c:pt>
                <c:pt idx="6">
                  <c:v>64M</c:v>
                </c:pt>
                <c:pt idx="7">
                  <c:v>128M</c:v>
                </c:pt>
              </c:strCache>
            </c:strRef>
          </c:cat>
          <c:val>
            <c:numRef>
              <c:f>'filter+aggregation'!$AC$46:$AJ$46</c:f>
              <c:numCache>
                <c:formatCode>General</c:formatCode>
                <c:ptCount val="8"/>
                <c:pt idx="0">
                  <c:v>1.67</c:v>
                </c:pt>
                <c:pt idx="1">
                  <c:v>1.7</c:v>
                </c:pt>
                <c:pt idx="2">
                  <c:v>1.7</c:v>
                </c:pt>
                <c:pt idx="3">
                  <c:v>1.69</c:v>
                </c:pt>
                <c:pt idx="4">
                  <c:v>1.68</c:v>
                </c:pt>
                <c:pt idx="5">
                  <c:v>1.89</c:v>
                </c:pt>
                <c:pt idx="6">
                  <c:v>2.2799999999999998</c:v>
                </c:pt>
                <c:pt idx="7">
                  <c:v>2.57</c:v>
                </c:pt>
              </c:numCache>
            </c:numRef>
          </c:val>
          <c:extLst>
            <c:ext xmlns:c16="http://schemas.microsoft.com/office/drawing/2014/chart" uri="{C3380CC4-5D6E-409C-BE32-E72D297353CC}">
              <c16:uniqueId val="{00000000-E2C9-44C8-8DEA-59E595EFD7D3}"/>
            </c:ext>
          </c:extLst>
        </c:ser>
        <c:dLbls>
          <c:showLegendKey val="0"/>
          <c:showVal val="0"/>
          <c:showCatName val="0"/>
          <c:showSerName val="0"/>
          <c:showPercent val="0"/>
          <c:showBubbleSize val="0"/>
        </c:dLbls>
        <c:gapWidth val="219"/>
        <c:overlap val="-27"/>
        <c:axId val="1415765840"/>
        <c:axId val="1415770736"/>
      </c:barChart>
      <c:catAx>
        <c:axId val="141576584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1415770736"/>
        <c:crosses val="autoZero"/>
        <c:auto val="1"/>
        <c:lblAlgn val="ctr"/>
        <c:lblOffset val="100"/>
        <c:noMultiLvlLbl val="0"/>
      </c:catAx>
      <c:valAx>
        <c:axId val="14157707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600">
                    <a:solidFill>
                      <a:sysClr val="windowText" lastClr="000000"/>
                    </a:solidFill>
                  </a:rPr>
                  <a:t>Speedup over OmniDB</a:t>
                </a:r>
              </a:p>
            </c:rich>
          </c:tx>
          <c:layout/>
          <c:overlay val="0"/>
          <c:spPr>
            <a:noFill/>
            <a:ln>
              <a:noFill/>
            </a:ln>
            <a:effectLst/>
          </c:spPr>
        </c:title>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600" b="0" i="0" u="none" strike="noStrike" kern="1200" baseline="0">
                <a:solidFill>
                  <a:sysClr val="windowText" lastClr="000000"/>
                </a:solidFill>
                <a:latin typeface="+mn-lt"/>
                <a:ea typeface="+mn-ea"/>
                <a:cs typeface="+mn-cs"/>
              </a:defRPr>
            </a:pPr>
            <a:endParaRPr lang="en-US"/>
          </a:p>
        </c:txPr>
        <c:crossAx val="141576584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tx1"/>
            </a:solidFill>
            <a:ln>
              <a:solidFill>
                <a:schemeClr val="tx1"/>
              </a:solidFill>
            </a:ln>
            <a:effectLst/>
          </c:spPr>
          <c:invertIfNegative val="0"/>
          <c:cat>
            <c:strRef>
              <c:f>'filter+aggregation'!$AC$45:$AJ$45</c:f>
              <c:strCache>
                <c:ptCount val="8"/>
                <c:pt idx="0">
                  <c:v>1M</c:v>
                </c:pt>
                <c:pt idx="1">
                  <c:v>2M</c:v>
                </c:pt>
                <c:pt idx="2">
                  <c:v>4M</c:v>
                </c:pt>
                <c:pt idx="3">
                  <c:v>8M</c:v>
                </c:pt>
                <c:pt idx="4">
                  <c:v>16M</c:v>
                </c:pt>
                <c:pt idx="5">
                  <c:v>32M</c:v>
                </c:pt>
                <c:pt idx="6">
                  <c:v>64M</c:v>
                </c:pt>
                <c:pt idx="7">
                  <c:v>128M</c:v>
                </c:pt>
              </c:strCache>
            </c:strRef>
          </c:cat>
          <c:val>
            <c:numRef>
              <c:f>'filter+aggregation'!$AC$46:$AJ$46</c:f>
              <c:numCache>
                <c:formatCode>General</c:formatCode>
                <c:ptCount val="8"/>
                <c:pt idx="0">
                  <c:v>1.67</c:v>
                </c:pt>
                <c:pt idx="1">
                  <c:v>1.7</c:v>
                </c:pt>
                <c:pt idx="2">
                  <c:v>1.7</c:v>
                </c:pt>
                <c:pt idx="3">
                  <c:v>1.69</c:v>
                </c:pt>
                <c:pt idx="4">
                  <c:v>1.68</c:v>
                </c:pt>
                <c:pt idx="5">
                  <c:v>1.89</c:v>
                </c:pt>
                <c:pt idx="6">
                  <c:v>2.2799999999999998</c:v>
                </c:pt>
                <c:pt idx="7">
                  <c:v>2.57</c:v>
                </c:pt>
              </c:numCache>
            </c:numRef>
          </c:val>
          <c:extLst>
            <c:ext xmlns:c16="http://schemas.microsoft.com/office/drawing/2014/chart" uri="{C3380CC4-5D6E-409C-BE32-E72D297353CC}">
              <c16:uniqueId val="{00000000-E2C9-44C8-8DEA-59E595EFD7D3}"/>
            </c:ext>
          </c:extLst>
        </c:ser>
        <c:dLbls>
          <c:showLegendKey val="0"/>
          <c:showVal val="0"/>
          <c:showCatName val="0"/>
          <c:showSerName val="0"/>
          <c:showPercent val="0"/>
          <c:showBubbleSize val="0"/>
        </c:dLbls>
        <c:gapWidth val="219"/>
        <c:overlap val="-27"/>
        <c:axId val="1415760400"/>
        <c:axId val="1415764208"/>
      </c:barChart>
      <c:catAx>
        <c:axId val="141576040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1415764208"/>
        <c:crosses val="autoZero"/>
        <c:auto val="1"/>
        <c:lblAlgn val="ctr"/>
        <c:lblOffset val="100"/>
        <c:noMultiLvlLbl val="0"/>
      </c:catAx>
      <c:valAx>
        <c:axId val="141576420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600">
                    <a:solidFill>
                      <a:sysClr val="windowText" lastClr="000000"/>
                    </a:solidFill>
                  </a:rPr>
                  <a:t>Speedup over OmniDB</a:t>
                </a:r>
              </a:p>
            </c:rich>
          </c:tx>
          <c:layout/>
          <c:overlay val="0"/>
          <c:spPr>
            <a:noFill/>
            <a:ln>
              <a:noFill/>
            </a:ln>
            <a:effectLst/>
          </c:spPr>
        </c:title>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600" b="0" i="0" u="none" strike="noStrike" kern="1200" baseline="0">
                <a:solidFill>
                  <a:sysClr val="windowText" lastClr="000000"/>
                </a:solidFill>
                <a:latin typeface="+mn-lt"/>
                <a:ea typeface="+mn-ea"/>
                <a:cs typeface="+mn-cs"/>
              </a:defRPr>
            </a:pPr>
            <a:endParaRPr lang="en-US"/>
          </a:p>
        </c:txPr>
        <c:crossAx val="141576040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443" y="0"/>
            <a:ext cx="2945659" cy="496411"/>
          </a:xfrm>
          <a:prstGeom prst="rect">
            <a:avLst/>
          </a:prstGeom>
        </p:spPr>
        <p:txBody>
          <a:bodyPr vert="horz" lIns="91440" tIns="45720" rIns="91440" bIns="45720" rtlCol="0"/>
          <a:lstStyle>
            <a:lvl1pPr algn="r">
              <a:defRPr sz="1200"/>
            </a:lvl1pPr>
          </a:lstStyle>
          <a:p>
            <a:fld id="{095A3196-BF5A-426D-B712-A82D55BC6A64}" type="datetimeFigureOut">
              <a:rPr lang="en-US" smtClean="0"/>
              <a:pPr/>
              <a:t>1/9/2018</a:t>
            </a:fld>
            <a:endParaRPr lang="en-US"/>
          </a:p>
        </p:txBody>
      </p:sp>
      <p:sp>
        <p:nvSpPr>
          <p:cNvPr id="4" name="Footer Placeholder 3"/>
          <p:cNvSpPr>
            <a:spLocks noGrp="1"/>
          </p:cNvSpPr>
          <p:nvPr>
            <p:ph type="ftr" sz="quarter" idx="2"/>
          </p:nvPr>
        </p:nvSpPr>
        <p:spPr>
          <a:xfrm>
            <a:off x="0" y="9430090"/>
            <a:ext cx="2945659" cy="496411"/>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0443" y="9430090"/>
            <a:ext cx="2945659" cy="496411"/>
          </a:xfrm>
          <a:prstGeom prst="rect">
            <a:avLst/>
          </a:prstGeom>
        </p:spPr>
        <p:txBody>
          <a:bodyPr vert="horz" lIns="91440" tIns="45720" rIns="91440" bIns="45720" rtlCol="0" anchor="b"/>
          <a:lstStyle>
            <a:lvl1pPr algn="r">
              <a:defRPr sz="1200"/>
            </a:lvl1pPr>
          </a:lstStyle>
          <a:p>
            <a:fld id="{B7B5B813-65AA-4019-B78A-6E5DFECFB0F6}" type="slidenum">
              <a:rPr lang="en-US" smtClean="0"/>
              <a:pPr/>
              <a:t>‹#›</a:t>
            </a:fld>
            <a:endParaRPr lang="en-US"/>
          </a:p>
        </p:txBody>
      </p:sp>
    </p:spTree>
    <p:extLst>
      <p:ext uri="{BB962C8B-B14F-4D97-AF65-F5344CB8AC3E}">
        <p14:creationId xmlns:p14="http://schemas.microsoft.com/office/powerpoint/2010/main" val="3613772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598DDE98-AA8E-4897-B077-06D90F76AB07}" type="datetimeFigureOut">
              <a:rPr lang="en-US" smtClean="0"/>
              <a:pPr/>
              <a:t>1/9/2018</a:t>
            </a:fld>
            <a:endParaRPr lang="en-US"/>
          </a:p>
        </p:txBody>
      </p:sp>
      <p:sp>
        <p:nvSpPr>
          <p:cNvPr id="4" name="Slide Image Placeholder 3"/>
          <p:cNvSpPr>
            <a:spLocks noGrp="1" noRot="1" noChangeAspect="1"/>
          </p:cNvSpPr>
          <p:nvPr>
            <p:ph type="sldImg" idx="2"/>
          </p:nvPr>
        </p:nvSpPr>
        <p:spPr>
          <a:xfrm>
            <a:off x="915988" y="744538"/>
            <a:ext cx="4965700" cy="37242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15908"/>
            <a:ext cx="5438140" cy="446770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30090"/>
            <a:ext cx="2945659" cy="49641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30090"/>
            <a:ext cx="2945659" cy="496411"/>
          </a:xfrm>
          <a:prstGeom prst="rect">
            <a:avLst/>
          </a:prstGeom>
        </p:spPr>
        <p:txBody>
          <a:bodyPr vert="horz" lIns="91440" tIns="45720" rIns="91440" bIns="45720" rtlCol="0" anchor="b"/>
          <a:lstStyle>
            <a:lvl1pPr algn="r">
              <a:defRPr sz="1200"/>
            </a:lvl1pPr>
          </a:lstStyle>
          <a:p>
            <a:fld id="{78373666-B445-4705-BB8A-F90574925064}" type="slidenum">
              <a:rPr lang="en-US" smtClean="0"/>
              <a:pPr/>
              <a:t>‹#›</a:t>
            </a:fld>
            <a:endParaRPr lang="en-US"/>
          </a:p>
        </p:txBody>
      </p:sp>
    </p:spTree>
    <p:extLst>
      <p:ext uri="{BB962C8B-B14F-4D97-AF65-F5344CB8AC3E}">
        <p14:creationId xmlns:p14="http://schemas.microsoft.com/office/powerpoint/2010/main" val="1454007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Good</a:t>
            </a:r>
            <a:r>
              <a:rPr lang="en-US" baseline="0" dirty="0" smtClean="0"/>
              <a:t> morning, everyone! My name is Zeke Wang, and I come from NTU, Singapore. Today I’ll present our paper about </a:t>
            </a:r>
            <a:r>
              <a:rPr lang="en-US" i="1" dirty="0" smtClean="0"/>
              <a:t>A Performance Analysis Framework for Optimizing OpenCL Applications on FPGAs</a:t>
            </a:r>
            <a:r>
              <a:rPr lang="en-US" baseline="0" dirty="0" smtClean="0"/>
              <a:t>.</a:t>
            </a:r>
            <a:endParaRPr lang="en-SG"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1</a:t>
            </a:fld>
            <a:endParaRPr lang="en-US"/>
          </a:p>
        </p:txBody>
      </p:sp>
    </p:spTree>
    <p:extLst>
      <p:ext uri="{BB962C8B-B14F-4D97-AF65-F5344CB8AC3E}">
        <p14:creationId xmlns:p14="http://schemas.microsoft.com/office/powerpoint/2010/main" val="2827067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a:t>
            </a:r>
            <a:r>
              <a:rPr lang="en-US" baseline="0" dirty="0" smtClean="0"/>
              <a:t> is </a:t>
            </a:r>
            <a:r>
              <a:rPr lang="en-US" altLang="zh-CN" baseline="0" dirty="0" smtClean="0"/>
              <a:t>the </a:t>
            </a:r>
            <a:r>
              <a:rPr lang="en-US" baseline="0" dirty="0" smtClean="0"/>
              <a:t>outline of our paper.</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First,</a:t>
            </a:r>
            <a:r>
              <a:rPr lang="en-US" baseline="0" dirty="0" smtClean="0"/>
              <a:t> we will talk about the background and motivations; Second, we will talk about the design; Third, the experiment is discussed; Fourth, the summary is presented. </a:t>
            </a:r>
            <a:endParaRPr lang="en-US" dirty="0" smtClean="0"/>
          </a:p>
          <a:p>
            <a:endParaRPr lang="en-US"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3</a:t>
            </a:fld>
            <a:endParaRPr lang="en-US"/>
          </a:p>
        </p:txBody>
      </p:sp>
    </p:spTree>
    <p:extLst>
      <p:ext uri="{BB962C8B-B14F-4D97-AF65-F5344CB8AC3E}">
        <p14:creationId xmlns:p14="http://schemas.microsoft.com/office/powerpoint/2010/main" val="1300681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Originally, the FPGA has distributed resource features, such as logic blocks, DSP blocks and memory blocks. </a:t>
            </a:r>
          </a:p>
          <a:p>
            <a:r>
              <a:rPr lang="en-US" sz="1200" b="0" i="0" u="none" strike="noStrike" kern="1200" baseline="0" dirty="0" smtClean="0">
                <a:solidFill>
                  <a:schemeClr val="tx1"/>
                </a:solidFill>
                <a:latin typeface="+mn-lt"/>
                <a:ea typeface="+mn-ea"/>
                <a:cs typeface="+mn-cs"/>
              </a:rPr>
              <a:t>From the hardware centric point of view, FPGA can be used to achieve fine-grained parallelism. In particular, we can implement bit-level computation on FPGAs.</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However, users need to program FPGA with low-level hardware description languages, for example Verilog. Since HDL is cycle-sensitive and error-prone, generally good knowledge of hardware design detail and hand-on experiences are required to guarantee a successful design on FPGA. </a:t>
            </a:r>
            <a:endParaRPr lang="en-US"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9</a:t>
            </a:fld>
            <a:endParaRPr lang="en-US"/>
          </a:p>
        </p:txBody>
      </p:sp>
    </p:spTree>
    <p:extLst>
      <p:ext uri="{BB962C8B-B14F-4D97-AF65-F5344CB8AC3E}">
        <p14:creationId xmlns:p14="http://schemas.microsoft.com/office/powerpoint/2010/main" val="1572982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So</a:t>
            </a:r>
            <a:r>
              <a:rPr lang="en-US" baseline="0" dirty="0" smtClean="0"/>
              <a:t> what is OpenCL? </a:t>
            </a:r>
            <a:r>
              <a:rPr lang="en-US" dirty="0" err="1" smtClean="0"/>
              <a:t>OpenCL</a:t>
            </a:r>
            <a:r>
              <a:rPr lang="en-US" dirty="0" smtClean="0"/>
              <a:t> stands for </a:t>
            </a:r>
            <a:r>
              <a:rPr lang="en-US" i="1" dirty="0" smtClean="0"/>
              <a:t>Open Computing Language</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OpenCL has been developed for heterogeneous computing environments</a:t>
            </a:r>
            <a:r>
              <a:rPr lang="en-US" baseline="0" dirty="0" smtClean="0"/>
              <a:t> </a:t>
            </a:r>
            <a:r>
              <a:rPr lang="en-US" dirty="0" smtClean="0"/>
              <a:t>with a host-accelerator execution model. For</a:t>
            </a:r>
            <a:r>
              <a:rPr lang="en-US" baseline="0" dirty="0" smtClean="0"/>
              <a:t> example, CPU runs the host code and GPU/FPGA runs the kernel code.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OpenCL</a:t>
            </a:r>
            <a:r>
              <a:rPr lang="en-US" baseline="0" dirty="0" smtClean="0"/>
              <a:t> has been used by many companies. For example, </a:t>
            </a:r>
            <a:r>
              <a:rPr lang="en-US" dirty="0" smtClean="0"/>
              <a:t>Intel plans to use OpenCL to program its CPU-FPGA heterogeneous system. </a:t>
            </a:r>
            <a:endParaRPr lang="en-US"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14</a:t>
            </a:fld>
            <a:endParaRPr lang="en-US"/>
          </a:p>
        </p:txBody>
      </p:sp>
    </p:spTree>
    <p:extLst>
      <p:ext uri="{BB962C8B-B14F-4D97-AF65-F5344CB8AC3E}">
        <p14:creationId xmlns:p14="http://schemas.microsoft.com/office/powerpoint/2010/main" val="1525834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Fortunately, the FPGA  community is undergoing significant change to address the programmability issues.</a:t>
            </a:r>
          </a:p>
          <a:p>
            <a:r>
              <a:rPr lang="en-US" altLang="zh-CN" sz="1200" b="0" i="0" u="none" strike="noStrike" kern="1200" baseline="0" dirty="0" smtClean="0">
                <a:solidFill>
                  <a:schemeClr val="tx1"/>
                </a:solidFill>
                <a:latin typeface="+mn-lt"/>
                <a:ea typeface="+mn-ea"/>
                <a:cs typeface="+mn-cs"/>
              </a:rPr>
              <a:t>In particular</a:t>
            </a:r>
            <a:r>
              <a:rPr lang="en-US" sz="1200" b="0" i="0" u="none" strike="noStrike" kern="1200" baseline="0" dirty="0" smtClean="0">
                <a:solidFill>
                  <a:schemeClr val="tx1"/>
                </a:solidFill>
                <a:latin typeface="+mn-lt"/>
                <a:ea typeface="+mn-ea"/>
                <a:cs typeface="+mn-cs"/>
              </a:rPr>
              <a:t>, FPGA vendors such as Altera have started to develop OpenCL SDKs for a much better programmability on FPGAs.</a:t>
            </a:r>
          </a:p>
          <a:p>
            <a:endParaRPr lang="en-US" sz="1200" b="0" i="0" u="none" strike="noStrike"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latin typeface="+mn-lt"/>
                <a:ea typeface="+mn-ea"/>
                <a:cs typeface="+mn-cs"/>
              </a:rPr>
              <a:t>From the software centric point of view, the FPGA is viewed as a parallel architecture.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latin typeface="+mn-lt"/>
                <a:ea typeface="+mn-ea"/>
                <a:cs typeface="+mn-cs"/>
              </a:rPr>
              <a:t>And users can program </a:t>
            </a:r>
            <a:r>
              <a:rPr lang="en-US" altLang="zh-CN" sz="1200" b="0" i="0" u="none" strike="noStrike" kern="1200" baseline="0" dirty="0" smtClean="0">
                <a:solidFill>
                  <a:schemeClr val="tx1"/>
                </a:solidFill>
                <a:latin typeface="+mn-lt"/>
                <a:ea typeface="+mn-ea"/>
                <a:cs typeface="+mn-cs"/>
              </a:rPr>
              <a:t>FPGA</a:t>
            </a:r>
            <a:r>
              <a:rPr lang="en-US" sz="1200" b="0" i="0" u="none" strike="noStrike" kern="1200" baseline="0" dirty="0" smtClean="0">
                <a:solidFill>
                  <a:schemeClr val="tx1"/>
                </a:solidFill>
                <a:latin typeface="+mn-lt"/>
                <a:ea typeface="+mn-ea"/>
                <a:cs typeface="+mn-cs"/>
              </a:rPr>
              <a:t> with OpenCL to use computing ability of FPGAs, not HDL.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latin typeface="+mn-lt"/>
                <a:ea typeface="+mn-ea"/>
                <a:cs typeface="+mn-cs"/>
              </a:rPr>
              <a:t>From OpenCL’s perspective, the global memory is implemented with external DDR.</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latin typeface="+mn-lt"/>
                <a:ea typeface="+mn-ea"/>
                <a:cs typeface="+mn-cs"/>
              </a:rPr>
              <a:t>Local memory is implemented with memory blocks, and pipeline is implemented with </a:t>
            </a:r>
            <a:r>
              <a:rPr lang="en-US" sz="1200" b="0" i="0" u="none" strike="noStrike" kern="1200" baseline="0" dirty="0" err="1" smtClean="0">
                <a:solidFill>
                  <a:schemeClr val="tx1"/>
                </a:solidFill>
                <a:latin typeface="+mn-lt"/>
                <a:ea typeface="+mn-ea"/>
                <a:cs typeface="+mn-cs"/>
              </a:rPr>
              <a:t>dsp</a:t>
            </a:r>
            <a:r>
              <a:rPr lang="en-US" sz="1200" b="0" i="0" u="none" strike="noStrike" kern="1200" baseline="0" dirty="0" smtClean="0">
                <a:solidFill>
                  <a:schemeClr val="tx1"/>
                </a:solidFill>
                <a:latin typeface="+mn-lt"/>
                <a:ea typeface="+mn-ea"/>
                <a:cs typeface="+mn-cs"/>
              </a:rPr>
              <a:t> blocks, memory blocks and logic blocks.</a:t>
            </a:r>
            <a:endParaRPr lang="en-US"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17</a:t>
            </a:fld>
            <a:endParaRPr lang="en-US"/>
          </a:p>
        </p:txBody>
      </p:sp>
    </p:spTree>
    <p:extLst>
      <p:ext uri="{BB962C8B-B14F-4D97-AF65-F5344CB8AC3E}">
        <p14:creationId xmlns:p14="http://schemas.microsoft.com/office/powerpoint/2010/main" val="449165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Since the OpenCL is originally designed for GPU, it is necessary to compare OpenCL on GPU and OpenCL on FPGA.  First, we talk about OpenCL on GPU. </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Take the simple vector addition kernel for example. Each parallel thread is associated with an ID (get global id(0)). The global id indicates the subset of data that each thread operates on. </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There are two add instructions in the OpenCL kernel. </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When the OpenCL code runs on GPU, the first add instruction will go into the core’s pipeline at the first cycle, and the second add instruction at the second cycle</a:t>
            </a:r>
          </a:p>
          <a:p>
            <a:r>
              <a:rPr lang="en-US" sz="1200" b="0" i="0" u="none" strike="noStrike" kern="1200" baseline="0" dirty="0" smtClean="0">
                <a:solidFill>
                  <a:schemeClr val="tx1"/>
                </a:solidFill>
                <a:latin typeface="+mn-lt"/>
                <a:ea typeface="+mn-ea"/>
                <a:cs typeface="+mn-cs"/>
              </a:rPr>
              <a:t>So our first observation here is that both add instructions can share the pipeline of each computing core, based on Von Neumann architecture.</a:t>
            </a:r>
          </a:p>
          <a:p>
            <a:endParaRPr lang="en-US" sz="1200" b="0" i="0" u="none" strike="noStrike"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latin typeface="+mn-lt"/>
                <a:ea typeface="+mn-ea"/>
                <a:cs typeface="+mn-cs"/>
              </a:rPr>
              <a:t>The second observation is that sufficient threads are required to fully utilize the computing ability of cores. For example, there are four cores here, if only 2 threads are active on the OpenCL code, the cores are definitely under-utilized. </a:t>
            </a: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endParaRPr lang="en-US" dirty="0" smtClean="0"/>
          </a:p>
          <a:p>
            <a:pPr marL="0"/>
            <a:endParaRPr lang="en-US" dirty="0" smtClean="0"/>
          </a:p>
        </p:txBody>
      </p:sp>
      <p:sp>
        <p:nvSpPr>
          <p:cNvPr id="4" name="Slide Number Placeholder 3"/>
          <p:cNvSpPr>
            <a:spLocks noGrp="1"/>
          </p:cNvSpPr>
          <p:nvPr>
            <p:ph type="sldNum" sz="quarter" idx="10"/>
          </p:nvPr>
        </p:nvSpPr>
        <p:spPr/>
        <p:txBody>
          <a:bodyPr/>
          <a:lstStyle/>
          <a:p>
            <a:fld id="{78373666-B445-4705-BB8A-F90574925064}" type="slidenum">
              <a:rPr lang="en-US" smtClean="0"/>
              <a:pPr/>
              <a:t>18</a:t>
            </a:fld>
            <a:endParaRPr lang="en-US"/>
          </a:p>
        </p:txBody>
      </p:sp>
    </p:spTree>
    <p:extLst>
      <p:ext uri="{BB962C8B-B14F-4D97-AF65-F5344CB8AC3E}">
        <p14:creationId xmlns:p14="http://schemas.microsoft.com/office/powerpoint/2010/main" val="4820717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Next, we talk about OpenCL on FPGA. </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Take the previous vector addition kernel for example.  Each add instruction has its own custom circuit on FPGA. And its throughput is one addition per cycle.</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latin typeface="+mn-lt"/>
                <a:ea typeface="+mn-ea"/>
                <a:cs typeface="+mn-cs"/>
              </a:rPr>
              <a:t>So our first observation here is that </a:t>
            </a:r>
            <a:r>
              <a:rPr lang="en-US" dirty="0" smtClean="0"/>
              <a:t>Instructions mean real circuits on FPGA.  </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On FPGA, one thread will flow into the custom pipelines at one cycle. If there is only one thread active on the FPGA, one addition unit is always idle. </a:t>
            </a:r>
          </a:p>
          <a:p>
            <a:r>
              <a:rPr lang="en-US" sz="1200" b="0" i="0" u="none" strike="noStrike" kern="1200" baseline="0" dirty="0" smtClean="0">
                <a:solidFill>
                  <a:schemeClr val="tx1"/>
                </a:solidFill>
                <a:latin typeface="+mn-lt"/>
                <a:ea typeface="+mn-ea"/>
                <a:cs typeface="+mn-cs"/>
              </a:rPr>
              <a:t>So the second observation here is that</a:t>
            </a:r>
            <a:r>
              <a:rPr lang="en-US" altLang="zh-CN" sz="1200" b="0" i="0" u="none" strike="noStrike" kern="1200" baseline="0" dirty="0" smtClean="0">
                <a:solidFill>
                  <a:schemeClr val="tx1"/>
                </a:solidFill>
                <a:latin typeface="+mn-lt"/>
                <a:ea typeface="+mn-ea"/>
                <a:cs typeface="+mn-cs"/>
              </a:rPr>
              <a:t> sufficient threads are required to fully utilize custom pipelines.</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So to sum up, GPU only requires sufficient threads to utilize its computing ability, while FPGA requires not only sufficient threads, but also instructions.</a:t>
            </a:r>
          </a:p>
          <a:p>
            <a:endParaRPr lang="en-US" sz="1200" b="0" i="0" u="none" strike="noStrike" kern="1200" baseline="0" dirty="0" smtClean="0">
              <a:solidFill>
                <a:schemeClr val="tx1"/>
              </a:solidFill>
              <a:latin typeface="+mn-lt"/>
              <a:ea typeface="+mn-ea"/>
              <a:cs typeface="+mn-cs"/>
            </a:endParaRPr>
          </a:p>
          <a:p>
            <a:endParaRPr lang="en-US" dirty="0" smtClean="0"/>
          </a:p>
          <a:p>
            <a:pPr marL="0"/>
            <a:endParaRPr lang="en-US" dirty="0" smtClean="0"/>
          </a:p>
        </p:txBody>
      </p:sp>
      <p:sp>
        <p:nvSpPr>
          <p:cNvPr id="4" name="Slide Number Placeholder 3"/>
          <p:cNvSpPr>
            <a:spLocks noGrp="1"/>
          </p:cNvSpPr>
          <p:nvPr>
            <p:ph type="sldNum" sz="quarter" idx="10"/>
          </p:nvPr>
        </p:nvSpPr>
        <p:spPr/>
        <p:txBody>
          <a:bodyPr/>
          <a:lstStyle/>
          <a:p>
            <a:fld id="{78373666-B445-4705-BB8A-F90574925064}" type="slidenum">
              <a:rPr lang="en-US" smtClean="0"/>
              <a:pPr/>
              <a:t>19</a:t>
            </a:fld>
            <a:endParaRPr lang="en-US"/>
          </a:p>
        </p:txBody>
      </p:sp>
    </p:spTree>
    <p:extLst>
      <p:ext uri="{BB962C8B-B14F-4D97-AF65-F5344CB8AC3E}">
        <p14:creationId xmlns:p14="http://schemas.microsoft.com/office/powerpoint/2010/main" val="3025136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Since we can specify the attributions on the OpenCL code, it is necessary to compare the impact of attribute on GPU and on FPGA.</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We also take the previous vector addition kernel for example.  </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We try to add the loop unrolling attribute on the loop. In particular, the loop is unrolled by 8 times.</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What is the impact this attribute on GPU, it can achieve less dependency between addition instructions at the cost of larger code size.</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However, when the code runs on FPGA, the add instruction can have eight addition circuit units, not just one. So the throughput becomes 8 additions per cycle. </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Therefore, there is significantly different about attributes between GPU and FPGA.</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So our observation here is that instructions with optimizations mean real circuits on FPGAs.</a:t>
            </a:r>
          </a:p>
          <a:p>
            <a:pPr marL="0"/>
            <a:endParaRPr lang="en-US" dirty="0" smtClean="0"/>
          </a:p>
          <a:p>
            <a:pPr marL="0"/>
            <a:endParaRPr lang="en-US" dirty="0" smtClean="0"/>
          </a:p>
        </p:txBody>
      </p:sp>
      <p:sp>
        <p:nvSpPr>
          <p:cNvPr id="4" name="Slide Number Placeholder 3"/>
          <p:cNvSpPr>
            <a:spLocks noGrp="1"/>
          </p:cNvSpPr>
          <p:nvPr>
            <p:ph type="sldNum" sz="quarter" idx="10"/>
          </p:nvPr>
        </p:nvSpPr>
        <p:spPr/>
        <p:txBody>
          <a:bodyPr/>
          <a:lstStyle/>
          <a:p>
            <a:fld id="{78373666-B445-4705-BB8A-F90574925064}" type="slidenum">
              <a:rPr lang="en-US" smtClean="0"/>
              <a:pPr/>
              <a:t>20</a:t>
            </a:fld>
            <a:endParaRPr lang="en-US"/>
          </a:p>
        </p:txBody>
      </p:sp>
    </p:spTree>
    <p:extLst>
      <p:ext uri="{BB962C8B-B14F-4D97-AF65-F5344CB8AC3E}">
        <p14:creationId xmlns:p14="http://schemas.microsoft.com/office/powerpoint/2010/main" val="359382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a:t>
            </a:r>
            <a:r>
              <a:rPr lang="en-US" baseline="0" dirty="0" smtClean="0"/>
              <a:t> is </a:t>
            </a:r>
            <a:r>
              <a:rPr lang="en-US" altLang="zh-CN" baseline="0" dirty="0" smtClean="0"/>
              <a:t>the </a:t>
            </a:r>
            <a:r>
              <a:rPr lang="en-US" baseline="0" dirty="0" smtClean="0"/>
              <a:t>outline of our paper.</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First,</a:t>
            </a:r>
            <a:r>
              <a:rPr lang="en-US" baseline="0" dirty="0" smtClean="0"/>
              <a:t> we will talk about the background and motivations; Second, we will talk about the design; Third, the experiment is discussed; Fourth, the summary is presented. </a:t>
            </a:r>
            <a:endParaRPr lang="en-US" dirty="0" smtClean="0"/>
          </a:p>
          <a:p>
            <a:endParaRPr lang="en-US"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21</a:t>
            </a:fld>
            <a:endParaRPr lang="en-US"/>
          </a:p>
        </p:txBody>
      </p:sp>
    </p:spTree>
    <p:extLst>
      <p:ext uri="{BB962C8B-B14F-4D97-AF65-F5344CB8AC3E}">
        <p14:creationId xmlns:p14="http://schemas.microsoft.com/office/powerpoint/2010/main" val="1300681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r>
              <a:rPr lang="en-US" dirty="0" smtClean="0"/>
              <a:t>There are six basic optimization methods for</a:t>
            </a:r>
            <a:r>
              <a:rPr lang="en-US" baseline="0" dirty="0" smtClean="0"/>
              <a:t> OpenCL on FPGA, SM MC, UL, PM, SIMD and CU</a:t>
            </a:r>
            <a:r>
              <a:rPr lang="en-US" dirty="0" smtClean="0"/>
              <a:t>. So</a:t>
            </a:r>
            <a:r>
              <a:rPr lang="en-US" baseline="0" dirty="0" smtClean="0"/>
              <a:t> there are more than 100 optimizations applied on the input kernel. </a:t>
            </a:r>
          </a:p>
          <a:p>
            <a:pPr marL="0"/>
            <a:endParaRPr lang="en-US" baseline="0" dirty="0" smtClean="0"/>
          </a:p>
          <a:p>
            <a:pPr marL="0"/>
            <a:r>
              <a:rPr lang="en-US" dirty="0" smtClean="0"/>
              <a:t>And optimization combinations can have significantly performance</a:t>
            </a:r>
            <a:r>
              <a:rPr lang="en-US" baseline="0" dirty="0" smtClean="0"/>
              <a:t> impact. For example, the SM+UL can have more than 100 times performance speedup over the baseline. </a:t>
            </a:r>
          </a:p>
          <a:p>
            <a:pPr marL="0"/>
            <a:endParaRPr lang="en-US" dirty="0" smtClean="0"/>
          </a:p>
          <a:p>
            <a:pPr marL="0"/>
            <a:endParaRPr lang="en-US" dirty="0" smtClean="0"/>
          </a:p>
        </p:txBody>
      </p:sp>
      <p:sp>
        <p:nvSpPr>
          <p:cNvPr id="4" name="Slide Number Placeholder 3"/>
          <p:cNvSpPr>
            <a:spLocks noGrp="1"/>
          </p:cNvSpPr>
          <p:nvPr>
            <p:ph type="sldNum" sz="quarter" idx="10"/>
          </p:nvPr>
        </p:nvSpPr>
        <p:spPr/>
        <p:txBody>
          <a:bodyPr/>
          <a:lstStyle/>
          <a:p>
            <a:fld id="{78373666-B445-4705-BB8A-F90574925064}" type="slidenum">
              <a:rPr lang="en-US" smtClean="0"/>
              <a:pPr/>
              <a:t>23</a:t>
            </a:fld>
            <a:endParaRPr lang="en-US"/>
          </a:p>
        </p:txBody>
      </p:sp>
    </p:spTree>
    <p:extLst>
      <p:ext uri="{BB962C8B-B14F-4D97-AF65-F5344CB8AC3E}">
        <p14:creationId xmlns:p14="http://schemas.microsoft.com/office/powerpoint/2010/main" val="10162459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To make things worse, each optimization combination requires hours to compile (from OpenCL to FPGA bit-stream). </a:t>
            </a:r>
          </a:p>
          <a:p>
            <a:endParaRPr lang="en-US" baseline="0" dirty="0" smtClean="0"/>
          </a:p>
          <a:p>
            <a:r>
              <a:rPr lang="en-US" baseline="0" dirty="0" smtClean="0"/>
              <a:t>So we cannot choose to evaluate all the optimization combinations on real FPGAs, since it requires hundreds of hours to evaluate. </a:t>
            </a:r>
          </a:p>
          <a:p>
            <a:endParaRPr lang="en-US" baseline="0" dirty="0" smtClean="0"/>
          </a:p>
          <a:p>
            <a:r>
              <a:rPr lang="en-US" altLang="zh-CN" sz="1200" dirty="0" smtClean="0">
                <a:solidFill>
                  <a:schemeClr val="bg1"/>
                </a:solidFill>
              </a:rPr>
              <a:t>A tool for evaluate optimizations for the input OpenCL kernel is needed</a:t>
            </a:r>
            <a:r>
              <a:rPr lang="en-US" altLang="zh-CN" sz="1200" baseline="0" dirty="0" smtClean="0">
                <a:solidFill>
                  <a:schemeClr val="bg1"/>
                </a:solidFill>
              </a:rPr>
              <a:t> and then the hundred-hours synthesis time can be eliminated</a:t>
            </a:r>
            <a:r>
              <a:rPr lang="en-US" altLang="zh-CN" sz="1200" dirty="0" smtClean="0">
                <a:solidFill>
                  <a:schemeClr val="bg1"/>
                </a:solidFill>
              </a:rPr>
              <a:t>. </a:t>
            </a:r>
            <a:endParaRPr lang="en-SG" altLang="en-US" sz="1200" dirty="0" smtClean="0">
              <a:solidFill>
                <a:schemeClr val="bg1"/>
              </a:solidFill>
            </a:endParaRPr>
          </a:p>
          <a:p>
            <a:pPr marL="0"/>
            <a:endParaRPr lang="en-US" baseline="0" dirty="0" smtClean="0"/>
          </a:p>
        </p:txBody>
      </p:sp>
      <p:sp>
        <p:nvSpPr>
          <p:cNvPr id="4" name="Slide Number Placeholder 3"/>
          <p:cNvSpPr>
            <a:spLocks noGrp="1"/>
          </p:cNvSpPr>
          <p:nvPr>
            <p:ph type="sldNum" sz="quarter" idx="10"/>
          </p:nvPr>
        </p:nvSpPr>
        <p:spPr/>
        <p:txBody>
          <a:bodyPr/>
          <a:lstStyle/>
          <a:p>
            <a:fld id="{78373666-B445-4705-BB8A-F90574925064}" type="slidenum">
              <a:rPr lang="en-US" smtClean="0"/>
              <a:pPr/>
              <a:t>24</a:t>
            </a:fld>
            <a:endParaRPr lang="en-US"/>
          </a:p>
        </p:txBody>
      </p:sp>
    </p:spTree>
    <p:extLst>
      <p:ext uri="{BB962C8B-B14F-4D97-AF65-F5344CB8AC3E}">
        <p14:creationId xmlns:p14="http://schemas.microsoft.com/office/powerpoint/2010/main" val="3077653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1200" b="0" i="0" u="none" strike="noStrike" kern="1200" baseline="0" dirty="0" smtClean="0">
                <a:solidFill>
                  <a:schemeClr val="tx1"/>
                </a:solidFill>
                <a:latin typeface="+mn-lt"/>
                <a:ea typeface="+mn-ea"/>
                <a:cs typeface="+mn-cs"/>
              </a:rPr>
              <a:t>Based on the previous FPGA execution model, we propose an FPGA-specific </a:t>
            </a:r>
            <a:r>
              <a:rPr lang="en-US" sz="9600" dirty="0" smtClean="0"/>
              <a:t>performance analysis framework to provide performance guidance on FPGA. </a:t>
            </a:r>
          </a:p>
          <a:p>
            <a:endParaRPr lang="en-US" sz="9600" dirty="0" smtClean="0"/>
          </a:p>
          <a:p>
            <a:r>
              <a:rPr lang="en-US" sz="9600" dirty="0" smtClean="0"/>
              <a:t>The proposed</a:t>
            </a:r>
            <a:r>
              <a:rPr lang="en-US" sz="9600" baseline="0" dirty="0" smtClean="0"/>
              <a:t> performance analysis framework has three components: frontend collector, analytical model and performance potential advisor. </a:t>
            </a:r>
            <a:r>
              <a:rPr lang="en-US" sz="9600" dirty="0" smtClean="0"/>
              <a:t> </a:t>
            </a:r>
          </a:p>
          <a:p>
            <a:r>
              <a:rPr lang="en-US" sz="9600" dirty="0" smtClean="0"/>
              <a:t>First, the OpenCL kernel with the necessary attributes is</a:t>
            </a:r>
            <a:r>
              <a:rPr lang="en-US" sz="9600" baseline="0" dirty="0" smtClean="0"/>
              <a:t> passed to the frontend statistical collector, which is used to obtain OpenCL kernel information about each basic block.</a:t>
            </a:r>
          </a:p>
          <a:p>
            <a:r>
              <a:rPr lang="en-US" sz="9600" baseline="0" dirty="0" smtClean="0"/>
              <a:t>Second, the information from each basic block is passed to the FPGA analytical model, which will generate necessary model output. </a:t>
            </a:r>
          </a:p>
          <a:p>
            <a:r>
              <a:rPr lang="en-US" sz="9600" baseline="0" dirty="0" smtClean="0"/>
              <a:t>Third, the model output is passed to the performance potential advisor, which is used to generate performance metrics.</a:t>
            </a:r>
          </a:p>
          <a:p>
            <a:r>
              <a:rPr lang="en-US" sz="9600" baseline="0" dirty="0" smtClean="0"/>
              <a:t>Finally, the programmer gets the performance potential metrics and then identify the bottleneck of the input OpenCL kernel with the input attributes. Therefore, the programmer can further optimize the input OpenCL kernel in order to reduce the value of performance potential metrics.  </a:t>
            </a:r>
          </a:p>
          <a:p>
            <a:r>
              <a:rPr lang="en-US" sz="9600" baseline="0" dirty="0" smtClean="0"/>
              <a:t> </a:t>
            </a:r>
            <a:endParaRPr lang="en-US"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25</a:t>
            </a:fld>
            <a:endParaRPr lang="en-US"/>
          </a:p>
        </p:txBody>
      </p:sp>
    </p:spTree>
    <p:extLst>
      <p:ext uri="{BB962C8B-B14F-4D97-AF65-F5344CB8AC3E}">
        <p14:creationId xmlns:p14="http://schemas.microsoft.com/office/powerpoint/2010/main" val="40130493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Now we talk about the OpenCL complier, which is based on an LLVM compiler infrastructure. </a:t>
            </a:r>
          </a:p>
          <a:p>
            <a:r>
              <a:rPr lang="en-US" sz="1200" b="0" i="0" u="none" strike="noStrike" kern="1200" baseline="0" dirty="0" smtClean="0">
                <a:solidFill>
                  <a:schemeClr val="tx1"/>
                </a:solidFill>
                <a:latin typeface="+mn-lt"/>
                <a:ea typeface="+mn-ea"/>
                <a:cs typeface="+mn-cs"/>
              </a:rPr>
              <a:t>The first step is convert Ope</a:t>
            </a:r>
            <a:r>
              <a:rPr lang="en-US" altLang="zh-CN" sz="1200" b="0" i="0" u="none" strike="noStrike" kern="1200" baseline="0" dirty="0" smtClean="0">
                <a:solidFill>
                  <a:schemeClr val="tx1"/>
                </a:solidFill>
                <a:latin typeface="+mn-lt"/>
                <a:ea typeface="+mn-ea"/>
                <a:cs typeface="+mn-cs"/>
              </a:rPr>
              <a:t>nCL code to</a:t>
            </a:r>
            <a:r>
              <a:rPr lang="en-US" sz="1200" b="0" i="0" u="none" strike="noStrike" kern="1200" baseline="0" dirty="0" smtClean="0">
                <a:solidFill>
                  <a:schemeClr val="tx1"/>
                </a:solidFill>
                <a:latin typeface="+mn-lt"/>
                <a:ea typeface="+mn-ea"/>
                <a:cs typeface="+mn-cs"/>
              </a:rPr>
              <a:t> an intermediate representation (IR). The second step is to convert the IR to HDL code.  </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Since we want to analyze the performance of input OpenCL code, we need to choose one step to analyze.</a:t>
            </a:r>
          </a:p>
          <a:p>
            <a:r>
              <a:rPr lang="en-US" sz="1200" b="0" i="0" u="none" strike="noStrike" kern="1200" baseline="0" dirty="0" smtClean="0">
                <a:solidFill>
                  <a:schemeClr val="tx1"/>
                </a:solidFill>
                <a:latin typeface="+mn-lt"/>
                <a:ea typeface="+mn-ea"/>
                <a:cs typeface="+mn-cs"/>
              </a:rPr>
              <a:t>If the direct OpenCL code is chosen, it is too high-level and hard to capture all the cases because they are too flexible.</a:t>
            </a:r>
          </a:p>
          <a:p>
            <a:r>
              <a:rPr lang="en-US" dirty="0" smtClean="0"/>
              <a:t>If the</a:t>
            </a:r>
            <a:r>
              <a:rPr lang="en-US" baseline="0" dirty="0" smtClean="0"/>
              <a:t> Verilog code is chosen, it is too low level and its generated HDL code size is too large, so it is hard to map the Verilog code back to the OpenCL code. For example, 20-line OpenCL code can have more than 10 thousands lines of Verilog code.</a:t>
            </a:r>
          </a:p>
          <a:p>
            <a:r>
              <a:rPr lang="en-US" baseline="0" dirty="0" smtClean="0"/>
              <a:t>However, LLVM IR has fixed number of intermediate instructions and LLVM framework has plenty of static analysis tools.</a:t>
            </a:r>
          </a:p>
          <a:p>
            <a:r>
              <a:rPr lang="en-US" baseline="0" dirty="0" smtClean="0"/>
              <a:t>So our performance analysis framework is based on LLVM IR.</a:t>
            </a:r>
            <a:endParaRPr lang="en-US" dirty="0" smtClean="0"/>
          </a:p>
        </p:txBody>
      </p:sp>
      <p:sp>
        <p:nvSpPr>
          <p:cNvPr id="4" name="Slide Number Placeholder 3"/>
          <p:cNvSpPr>
            <a:spLocks noGrp="1"/>
          </p:cNvSpPr>
          <p:nvPr>
            <p:ph type="sldNum" sz="quarter" idx="10"/>
          </p:nvPr>
        </p:nvSpPr>
        <p:spPr/>
        <p:txBody>
          <a:bodyPr/>
          <a:lstStyle/>
          <a:p>
            <a:fld id="{78373666-B445-4705-BB8A-F90574925064}" type="slidenum">
              <a:rPr lang="en-US" smtClean="0"/>
              <a:pPr/>
              <a:t>26</a:t>
            </a:fld>
            <a:endParaRPr lang="en-US"/>
          </a:p>
        </p:txBody>
      </p:sp>
    </p:spTree>
    <p:extLst>
      <p:ext uri="{BB962C8B-B14F-4D97-AF65-F5344CB8AC3E}">
        <p14:creationId xmlns:p14="http://schemas.microsoft.com/office/powerpoint/2010/main" val="11148630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To illustrate the IR, take the OpenCL kernel for example.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latin typeface="+mn-lt"/>
                <a:ea typeface="+mn-ea"/>
                <a:cs typeface="+mn-cs"/>
              </a:rPr>
              <a:t>First, we need to talk about one important concept basic block.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latin typeface="+mn-lt"/>
                <a:ea typeface="+mn-ea"/>
                <a:cs typeface="+mn-cs"/>
              </a:rPr>
              <a:t>a basic block contains a group of instructions in a contiguous sequence.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So the OpenCL kernel has four basic blocks.  The get thread ID instruction belongs to the first basic block, the first loop belongs to the second basic block and the second loop belongs to the third basic block. </a:t>
            </a: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78373666-B445-4705-BB8A-F90574925064}" type="slidenum">
              <a:rPr lang="en-US" smtClean="0"/>
              <a:pPr/>
              <a:t>27</a:t>
            </a:fld>
            <a:endParaRPr lang="en-US"/>
          </a:p>
        </p:txBody>
      </p:sp>
    </p:spTree>
    <p:extLst>
      <p:ext uri="{BB962C8B-B14F-4D97-AF65-F5344CB8AC3E}">
        <p14:creationId xmlns:p14="http://schemas.microsoft.com/office/powerpoint/2010/main" val="39256931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Now we talk about the </a:t>
            </a:r>
            <a:r>
              <a:rPr lang="en-US" altLang="zh-CN" dirty="0" smtClean="0"/>
              <a:t>FPGA execution model,</a:t>
            </a:r>
            <a:r>
              <a:rPr lang="en-US" altLang="zh-CN" baseline="0" dirty="0" smtClean="0"/>
              <a:t> we also take the previous vector addition kernel for example.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r>
              <a:rPr lang="en-US" baseline="0" dirty="0" smtClean="0"/>
              <a:t> E</a:t>
            </a:r>
            <a:r>
              <a:rPr lang="en-US" dirty="0" smtClean="0"/>
              <a:t>ach basic block behaves like a separate core. However,</a:t>
            </a:r>
            <a:r>
              <a:rPr lang="en-US" baseline="0" dirty="0" smtClean="0"/>
              <a:t> e</a:t>
            </a:r>
            <a:r>
              <a:rPr lang="en-US" dirty="0" smtClean="0"/>
              <a:t>ach core contains</a:t>
            </a:r>
            <a:r>
              <a:rPr lang="en-US" baseline="0" dirty="0" smtClean="0"/>
              <a:t> different pipeline circuit. </a:t>
            </a:r>
          </a:p>
          <a:p>
            <a:r>
              <a:rPr lang="en-US" dirty="0" smtClean="0"/>
              <a:t>So they</a:t>
            </a:r>
            <a:r>
              <a:rPr lang="en-US" baseline="0" dirty="0" smtClean="0"/>
              <a:t> are heterogeneous core, not homogeneous core like the one in the multi-core CPU. </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With</a:t>
            </a:r>
            <a:r>
              <a:rPr lang="en-US" baseline="0" dirty="0" smtClean="0"/>
              <a:t> sufficient threads existing in the OpenCL kernel,  a</a:t>
            </a:r>
            <a:r>
              <a:rPr lang="en-US" dirty="0" smtClean="0"/>
              <a:t>ll the basic blocks run simultaneously</a:t>
            </a:r>
            <a:r>
              <a:rPr lang="en-US" baseline="0" dirty="0" smtClean="0"/>
              <a:t> .</a:t>
            </a:r>
          </a:p>
          <a:p>
            <a:endParaRPr lang="en-US" dirty="0" smtClean="0"/>
          </a:p>
          <a:p>
            <a:r>
              <a:rPr lang="en-US" dirty="0" smtClean="0"/>
              <a:t>So the performance of an OpenCL kernel is determined the slowest core (basic block). </a:t>
            </a:r>
          </a:p>
          <a:p>
            <a:endParaRPr lang="en-SG" dirty="0" smtClean="0"/>
          </a:p>
          <a:p>
            <a:r>
              <a:rPr lang="en-US" sz="1200" dirty="0" smtClean="0">
                <a:solidFill>
                  <a:srgbClr val="FF0000"/>
                </a:solidFill>
                <a:latin typeface="Comic Sans MS" panose="030F0702030302020204" pitchFamily="66" charset="0"/>
              </a:rPr>
              <a:t>Keeping the load balance among basic blocks is critical.</a:t>
            </a:r>
          </a:p>
          <a:p>
            <a:endParaRPr lang="en-US" sz="1200" dirty="0" smtClean="0">
              <a:solidFill>
                <a:srgbClr val="FF0000"/>
              </a:solidFill>
              <a:latin typeface="Comic Sans MS" panose="030F0702030302020204" pitchFamily="66" charset="0"/>
            </a:endParaRPr>
          </a:p>
          <a:p>
            <a:r>
              <a:rPr lang="en-US" sz="1200" b="0" i="1" kern="1200" dirty="0" smtClean="0">
                <a:solidFill>
                  <a:schemeClr val="tx1"/>
                </a:solidFill>
                <a:effectLst/>
                <a:latin typeface="+mn-lt"/>
                <a:ea typeface="+mn-ea"/>
                <a:cs typeface="+mn-cs"/>
              </a:rPr>
              <a:t>“Von Neumann architectures were elegant and have served us well, but if you think about something like the human brain, there is no single pipeline to execute instruction after instruction; we have one part for language processing, another for motor control, and so on. These are highly specialized circuits. If you think about Von Neumann architectures as well, executing something simple such as add has many steps—retrieve, decode, rename, schedule, execute and write back—there are usually five to ten steps, depending on what you want to do and this pipeline is not efficient.”</a:t>
            </a:r>
            <a:endParaRPr lang="en-SG"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28</a:t>
            </a:fld>
            <a:endParaRPr lang="en-US"/>
          </a:p>
        </p:txBody>
      </p:sp>
    </p:spTree>
    <p:extLst>
      <p:ext uri="{BB962C8B-B14F-4D97-AF65-F5344CB8AC3E}">
        <p14:creationId xmlns:p14="http://schemas.microsoft.com/office/powerpoint/2010/main" val="39753638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Frontend Collector has three</a:t>
            </a:r>
            <a:r>
              <a:rPr lang="en-US" baseline="0" dirty="0" smtClean="0"/>
              <a:t> inputs. </a:t>
            </a:r>
          </a:p>
          <a:p>
            <a:r>
              <a:rPr lang="en-US" baseline="0" dirty="0" smtClean="0"/>
              <a:t>First, standard inputs contains Frequency and resource utilizations of logic block, memory block, DSP block (they are from compilation report). </a:t>
            </a:r>
          </a:p>
          <a:p>
            <a:r>
              <a:rPr lang="en-US" baseline="0" dirty="0" smtClean="0"/>
              <a:t>Memory width and memory channels (from vendor).  Number of input work items (from host code).</a:t>
            </a:r>
          </a:p>
          <a:p>
            <a:endParaRPr lang="en-US" baseline="0" dirty="0" smtClean="0"/>
          </a:p>
          <a:p>
            <a:r>
              <a:rPr lang="en-US" baseline="0" dirty="0" smtClean="0"/>
              <a:t>Second, we develop one LLVM pass to collect the static input. In particular, we collect information from memory side and computation side. For the memory side, we collect the </a:t>
            </a:r>
            <a:r>
              <a:rPr lang="en-US" sz="1200" dirty="0" smtClean="0">
                <a:solidFill>
                  <a:prstClr val="black"/>
                </a:solidFill>
              </a:rPr>
              <a:t>Memory instructions, average memory bytes and burst length</a:t>
            </a:r>
            <a:r>
              <a:rPr lang="en-US" sz="1200" baseline="0" dirty="0" smtClean="0">
                <a:solidFill>
                  <a:prstClr val="black"/>
                </a:solidFill>
              </a:rPr>
              <a:t>.  For the computation side, we collect the critical path for computing instructions. </a:t>
            </a:r>
            <a:r>
              <a:rPr lang="en-US" baseline="0" dirty="0" smtClean="0"/>
              <a:t>The challenge part here is that we take into consideration the impact of UL and SIMD. </a:t>
            </a:r>
          </a:p>
          <a:p>
            <a:endParaRPr lang="en-US" sz="1200" baseline="0" dirty="0" smtClean="0">
              <a:solidFill>
                <a:prstClr val="black"/>
              </a:solidFill>
            </a:endParaRPr>
          </a:p>
          <a:p>
            <a:r>
              <a:rPr lang="en-US" sz="1200" baseline="0" dirty="0" smtClean="0">
                <a:solidFill>
                  <a:prstClr val="black"/>
                </a:solidFill>
              </a:rPr>
              <a:t>Third, we develop one LLVM pass, based on LLVM::</a:t>
            </a:r>
            <a:r>
              <a:rPr lang="en-US" sz="1200" baseline="0" dirty="0" err="1" smtClean="0">
                <a:solidFill>
                  <a:prstClr val="black"/>
                </a:solidFill>
              </a:rPr>
              <a:t>LoopInfo</a:t>
            </a:r>
            <a:r>
              <a:rPr lang="en-US" sz="1200" baseline="0" dirty="0" smtClean="0">
                <a:solidFill>
                  <a:prstClr val="black"/>
                </a:solidFill>
              </a:rPr>
              <a:t>, to collect the run-time input. In particular, we identify the loop hierarchy of the input kernel and we run the code on GPU to determine the trip counter for each loop in case it is necessary. </a:t>
            </a:r>
          </a:p>
          <a:p>
            <a:endParaRPr lang="en-US" sz="1200" baseline="0" dirty="0" smtClean="0">
              <a:solidFill>
                <a:prstClr val="black"/>
              </a:solidFill>
            </a:endParaRPr>
          </a:p>
          <a:p>
            <a:endParaRPr lang="en-US" baseline="0" dirty="0" smtClean="0"/>
          </a:p>
          <a:p>
            <a:endParaRPr lang="en-US" baseline="0" dirty="0" smtClean="0"/>
          </a:p>
          <a:p>
            <a:endParaRPr lang="en-SG"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29</a:t>
            </a:fld>
            <a:endParaRPr lang="en-US"/>
          </a:p>
        </p:txBody>
      </p:sp>
    </p:spTree>
    <p:extLst>
      <p:ext uri="{BB962C8B-B14F-4D97-AF65-F5344CB8AC3E}">
        <p14:creationId xmlns:p14="http://schemas.microsoft.com/office/powerpoint/2010/main" val="19616944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smtClean="0"/>
              <a:t>Now I will talk about how to estimate the clock cycles Cs required by the input kernel.</a:t>
            </a:r>
          </a:p>
          <a:p>
            <a:r>
              <a:rPr lang="en-US" dirty="0" smtClean="0"/>
              <a:t>Our analytical model follows a down-up approach. In particular, we begin with the evaluation of basic blocks, then father node</a:t>
            </a:r>
            <a:r>
              <a:rPr lang="en-US" baseline="0" dirty="0" smtClean="0"/>
              <a:t>s of basic blocks, until to the root node Cs.</a:t>
            </a:r>
            <a:endParaRPr lang="en-US" dirty="0" smtClean="0"/>
          </a:p>
          <a:p>
            <a:endParaRPr lang="en-SG"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SG" baseline="0" dirty="0" smtClean="0"/>
              <a:t>B_0:: B_3 belongs to the first loop C_0, with trip counter L0. B_5:: B_7 belongs to the second loop C_2, with trip counter L2. </a:t>
            </a:r>
          </a:p>
          <a:p>
            <a:r>
              <a:rPr lang="en-SG" baseline="0" dirty="0" smtClean="0"/>
              <a:t>B_4 belongs to C_1.  The OpenCL kernel has two loops.</a:t>
            </a:r>
          </a:p>
          <a:p>
            <a:endParaRPr lang="en-SG" dirty="0" smtClean="0"/>
          </a:p>
          <a:p>
            <a:r>
              <a:rPr lang="en-SG" dirty="0" smtClean="0"/>
              <a:t>When </a:t>
            </a:r>
            <a:r>
              <a:rPr lang="en-US" altLang="zh-CN" dirty="0" err="1" smtClean="0"/>
              <a:t>non_leaf</a:t>
            </a:r>
            <a:r>
              <a:rPr lang="en-US" altLang="zh-CN" baseline="0" dirty="0" smtClean="0"/>
              <a:t> nodes C_0: C_2 are computed, we can compute the root node Cs.</a:t>
            </a:r>
            <a:endParaRPr lang="en-SG" dirty="0" smtClean="0"/>
          </a:p>
          <a:p>
            <a:endParaRPr lang="en-SG" dirty="0" smtClean="0"/>
          </a:p>
        </p:txBody>
      </p:sp>
      <p:sp>
        <p:nvSpPr>
          <p:cNvPr id="4" name="Slide Number Placeholder 3"/>
          <p:cNvSpPr>
            <a:spLocks noGrp="1"/>
          </p:cNvSpPr>
          <p:nvPr>
            <p:ph type="sldNum" sz="quarter" idx="10"/>
          </p:nvPr>
        </p:nvSpPr>
        <p:spPr/>
        <p:txBody>
          <a:bodyPr/>
          <a:lstStyle/>
          <a:p>
            <a:fld id="{78373666-B445-4705-BB8A-F90574925064}" type="slidenum">
              <a:rPr lang="en-US" smtClean="0"/>
              <a:pPr/>
              <a:t>30</a:t>
            </a:fld>
            <a:endParaRPr lang="en-US"/>
          </a:p>
        </p:txBody>
      </p:sp>
    </p:spTree>
    <p:extLst>
      <p:ext uri="{BB962C8B-B14F-4D97-AF65-F5344CB8AC3E}">
        <p14:creationId xmlns:p14="http://schemas.microsoft.com/office/powerpoint/2010/main" val="25988287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a:t>
            </a:r>
            <a:r>
              <a:rPr lang="en-US" baseline="0" dirty="0" smtClean="0"/>
              <a:t> we begin with the evaluation of basic block.</a:t>
            </a:r>
          </a:p>
          <a:p>
            <a:r>
              <a:rPr lang="en-US" baseline="0" dirty="0" err="1" smtClean="0"/>
              <a:t>C_k</a:t>
            </a:r>
            <a:r>
              <a:rPr lang="en-US" baseline="0" dirty="0" smtClean="0"/>
              <a:t> is computed as the maximum value of Computing cycles </a:t>
            </a:r>
            <a:r>
              <a:rPr lang="en-US" baseline="0" dirty="0" err="1" smtClean="0"/>
              <a:t>Compk</a:t>
            </a:r>
            <a:r>
              <a:rPr lang="en-US" baseline="0" dirty="0" smtClean="0"/>
              <a:t> and memory cycles </a:t>
            </a:r>
            <a:r>
              <a:rPr lang="en-US" baseline="0" dirty="0" err="1" smtClean="0"/>
              <a:t>Memk</a:t>
            </a:r>
            <a:r>
              <a:rPr lang="en-US" baseline="0" dirty="0" smtClean="0"/>
              <a:t>. The details about evaluating </a:t>
            </a:r>
            <a:r>
              <a:rPr lang="en-US" baseline="0" dirty="0" err="1" smtClean="0"/>
              <a:t>Compk</a:t>
            </a:r>
            <a:r>
              <a:rPr lang="en-US" baseline="0" dirty="0" smtClean="0"/>
              <a:t> and </a:t>
            </a:r>
            <a:r>
              <a:rPr lang="en-US" baseline="0" dirty="0" err="1" smtClean="0"/>
              <a:t>Memk</a:t>
            </a:r>
            <a:r>
              <a:rPr lang="en-US" baseline="0" dirty="0" smtClean="0"/>
              <a:t> are shown in our paper.</a:t>
            </a:r>
          </a:p>
          <a:p>
            <a:endParaRPr lang="en-US" dirty="0" smtClean="0"/>
          </a:p>
          <a:p>
            <a:r>
              <a:rPr lang="en-US" dirty="0" smtClean="0"/>
              <a:t>The</a:t>
            </a:r>
            <a:r>
              <a:rPr lang="en-US" baseline="0" dirty="0" smtClean="0"/>
              <a:t> first observation here is that each basic block has its own computing pipeline.</a:t>
            </a:r>
          </a:p>
          <a:p>
            <a:r>
              <a:rPr lang="en-US" baseline="0" dirty="0" smtClean="0"/>
              <a:t>The second observation is that all the basic blocks share the memory bandwidth. So we need to carefully organize the memory instructions. </a:t>
            </a:r>
            <a:endParaRPr lang="en-US"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31</a:t>
            </a:fld>
            <a:endParaRPr lang="en-US"/>
          </a:p>
        </p:txBody>
      </p:sp>
    </p:spTree>
    <p:extLst>
      <p:ext uri="{BB962C8B-B14F-4D97-AF65-F5344CB8AC3E}">
        <p14:creationId xmlns:p14="http://schemas.microsoft.com/office/powerpoint/2010/main" val="29059659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smtClean="0"/>
              <a:t>In this slides, we will talk about how to</a:t>
            </a:r>
            <a:r>
              <a:rPr lang="en-SG" baseline="0" dirty="0" smtClean="0"/>
              <a:t> evaluate C_0, which has four leaf child nodes B_0-B_3. And C_0 belongs to the for-loop type, with the trip counter L0.</a:t>
            </a:r>
          </a:p>
        </p:txBody>
      </p:sp>
      <p:sp>
        <p:nvSpPr>
          <p:cNvPr id="4" name="Slide Number Placeholder 3"/>
          <p:cNvSpPr>
            <a:spLocks noGrp="1"/>
          </p:cNvSpPr>
          <p:nvPr>
            <p:ph type="sldNum" sz="quarter" idx="10"/>
          </p:nvPr>
        </p:nvSpPr>
        <p:spPr/>
        <p:txBody>
          <a:bodyPr/>
          <a:lstStyle/>
          <a:p>
            <a:fld id="{78373666-B445-4705-BB8A-F90574925064}" type="slidenum">
              <a:rPr lang="en-US" smtClean="0"/>
              <a:pPr/>
              <a:t>32</a:t>
            </a:fld>
            <a:endParaRPr lang="en-US"/>
          </a:p>
        </p:txBody>
      </p:sp>
    </p:spTree>
    <p:extLst>
      <p:ext uri="{BB962C8B-B14F-4D97-AF65-F5344CB8AC3E}">
        <p14:creationId xmlns:p14="http://schemas.microsoft.com/office/powerpoint/2010/main" val="10265167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When</a:t>
            </a:r>
            <a:r>
              <a:rPr lang="en-US" baseline="0" dirty="0" smtClean="0"/>
              <a:t> the loop trip  counter is equal to 5, how many  cycles are required for C_0? </a:t>
            </a:r>
          </a:p>
          <a:p>
            <a:endParaRPr lang="en-US" baseline="0" dirty="0" smtClean="0"/>
          </a:p>
          <a:p>
            <a:r>
              <a:rPr lang="en-US" baseline="0" dirty="0" smtClean="0"/>
              <a:t>We can see that C_0 is equal to B_0 + 5B_1 + B_2 +B_3 </a:t>
            </a:r>
          </a:p>
          <a:p>
            <a:endParaRPr lang="en-US" baseline="0" dirty="0" smtClean="0"/>
          </a:p>
          <a:p>
            <a:r>
              <a:rPr lang="en-US" baseline="0" dirty="0" smtClean="0"/>
              <a:t>Our observation here is that B_1 is the bottleneck, and unbalance exists between these four basic blocks.</a:t>
            </a:r>
            <a:endParaRPr lang="en-US"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33</a:t>
            </a:fld>
            <a:endParaRPr lang="en-US"/>
          </a:p>
        </p:txBody>
      </p:sp>
    </p:spTree>
    <p:extLst>
      <p:ext uri="{BB962C8B-B14F-4D97-AF65-F5344CB8AC3E}">
        <p14:creationId xmlns:p14="http://schemas.microsoft.com/office/powerpoint/2010/main" val="41247226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34</a:t>
            </a:fld>
            <a:endParaRPr lang="en-US"/>
          </a:p>
        </p:txBody>
      </p:sp>
    </p:spTree>
    <p:extLst>
      <p:ext uri="{BB962C8B-B14F-4D97-AF65-F5344CB8AC3E}">
        <p14:creationId xmlns:p14="http://schemas.microsoft.com/office/powerpoint/2010/main" val="24046580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Our</a:t>
            </a:r>
            <a:r>
              <a:rPr lang="en-US" baseline="0" dirty="0" smtClean="0"/>
              <a:t> experiment is based on </a:t>
            </a:r>
            <a:r>
              <a:rPr lang="en-US" baseline="0" dirty="0" err="1" smtClean="0"/>
              <a:t>terasic’s</a:t>
            </a:r>
            <a:r>
              <a:rPr lang="en-US" baseline="0" dirty="0" smtClean="0"/>
              <a:t> de5 FPGA board. And we use four application to evaluate our performance analytical framework. </a:t>
            </a:r>
            <a:endParaRPr lang="en-US"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35</a:t>
            </a:fld>
            <a:endParaRPr lang="en-US"/>
          </a:p>
        </p:txBody>
      </p:sp>
    </p:spTree>
    <p:extLst>
      <p:ext uri="{BB962C8B-B14F-4D97-AF65-F5344CB8AC3E}">
        <p14:creationId xmlns:p14="http://schemas.microsoft.com/office/powerpoint/2010/main" val="29564174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smtClean="0"/>
              <a:t>Our framework</a:t>
            </a:r>
            <a:r>
              <a:rPr lang="en-SG" baseline="0" dirty="0" smtClean="0"/>
              <a:t> has two parts. First, we talk about the evaluation of analytical model. We use MM for example.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solidFill>
                <a:srgbClr val="FF0000"/>
              </a:solidFill>
              <a:latin typeface="Comic Sans MS" panose="030F0702030302020204" pitchFamily="66"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FF0000"/>
                </a:solidFill>
                <a:latin typeface="Comic Sans MS" panose="030F0702030302020204" pitchFamily="66" charset="0"/>
              </a:rPr>
              <a:t>Our Estimation can capture the performance trend of 18 optimization combinations.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solidFill>
                <a:srgbClr val="FF0000"/>
              </a:solidFill>
              <a:latin typeface="Comic Sans MS" panose="030F0702030302020204" pitchFamily="66"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FF0000"/>
                </a:solidFill>
                <a:latin typeface="Comic Sans MS" panose="030F0702030302020204" pitchFamily="66" charset="0"/>
              </a:rPr>
              <a:t>The optimal</a:t>
            </a:r>
            <a:r>
              <a:rPr lang="en-US" sz="1200" baseline="0" dirty="0" smtClean="0">
                <a:solidFill>
                  <a:srgbClr val="FF0000"/>
                </a:solidFill>
                <a:latin typeface="Comic Sans MS" panose="030F0702030302020204" pitchFamily="66" charset="0"/>
              </a:rPr>
              <a:t> optimization combination can achieve 350X performance speedup over the baseline. You may be interested in how to find it?</a:t>
            </a:r>
            <a:endParaRPr lang="en-US" sz="1200" dirty="0" smtClean="0">
              <a:solidFill>
                <a:srgbClr val="FF0000"/>
              </a:solidFill>
              <a:latin typeface="Comic Sans MS" panose="030F0702030302020204" pitchFamily="66" charset="0"/>
            </a:endParaRPr>
          </a:p>
          <a:p>
            <a:endParaRPr lang="en-SG"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36</a:t>
            </a:fld>
            <a:endParaRPr lang="en-US"/>
          </a:p>
        </p:txBody>
      </p:sp>
    </p:spTree>
    <p:extLst>
      <p:ext uri="{BB962C8B-B14F-4D97-AF65-F5344CB8AC3E}">
        <p14:creationId xmlns:p14="http://schemas.microsoft.com/office/powerpoint/2010/main" val="7113505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smtClean="0"/>
              <a:t>Now we talk about</a:t>
            </a:r>
            <a:r>
              <a:rPr lang="en-SG" baseline="0" dirty="0" smtClean="0"/>
              <a:t> second part of our framework: code tuning steps.</a:t>
            </a:r>
            <a:endParaRPr lang="en-SG" dirty="0" smtClean="0"/>
          </a:p>
          <a:p>
            <a:r>
              <a:rPr lang="en-SG" dirty="0" smtClean="0"/>
              <a:t>When</a:t>
            </a:r>
            <a:r>
              <a:rPr lang="en-SG" baseline="0" dirty="0" smtClean="0"/>
              <a:t> we use our tool to analyse the baseline implementation, we can see the </a:t>
            </a:r>
            <a:r>
              <a:rPr lang="en-SG" baseline="0" dirty="0" err="1" smtClean="0"/>
              <a:t>B_mem</a:t>
            </a:r>
            <a:r>
              <a:rPr lang="en-SG" baseline="0" dirty="0" smtClean="0"/>
              <a:t> is very high, wo we employ SM to reduce </a:t>
            </a:r>
            <a:r>
              <a:rPr lang="en-SG" baseline="0" dirty="0" err="1" smtClean="0"/>
              <a:t>B_mem</a:t>
            </a:r>
            <a:r>
              <a:rPr lang="en-SG" baseline="0" dirty="0" smtClean="0"/>
              <a:t>. </a:t>
            </a:r>
          </a:p>
          <a:p>
            <a:r>
              <a:rPr lang="en-SG" baseline="0" dirty="0" smtClean="0"/>
              <a:t>We also pass the SM implementation to our tool and find that SM implementation suffers from large </a:t>
            </a:r>
            <a:r>
              <a:rPr lang="en-SG" baseline="0" dirty="0" err="1" smtClean="0"/>
              <a:t>B_inbalance</a:t>
            </a:r>
            <a:r>
              <a:rPr lang="en-SG" baseline="0" dirty="0" smtClean="0"/>
              <a:t>, so the performance speedup is not significant.</a:t>
            </a:r>
          </a:p>
          <a:p>
            <a:endParaRPr lang="en-SG" baseline="0" dirty="0" smtClean="0"/>
          </a:p>
          <a:p>
            <a:r>
              <a:rPr lang="en-SG" baseline="0" dirty="0" smtClean="0"/>
              <a:t>Then we employ UL to the SM implementation. So SM_UL have significant performance speedup over the baseline since </a:t>
            </a:r>
            <a:r>
              <a:rPr lang="en-SG" baseline="0" dirty="0" err="1" smtClean="0"/>
              <a:t>B_mem</a:t>
            </a:r>
            <a:r>
              <a:rPr lang="en-SG" baseline="0" dirty="0" smtClean="0"/>
              <a:t> and </a:t>
            </a:r>
            <a:r>
              <a:rPr lang="en-SG" baseline="0" dirty="0" err="1" smtClean="0"/>
              <a:t>B_balance</a:t>
            </a:r>
            <a:r>
              <a:rPr lang="en-SG" baseline="0" dirty="0" smtClean="0"/>
              <a:t> are low now. </a:t>
            </a:r>
          </a:p>
          <a:p>
            <a:r>
              <a:rPr lang="en-SG" baseline="0" dirty="0" smtClean="0"/>
              <a:t>We can see that we still have the available FPGA resources, so we employ SIMD to further improve the performance and then the highest performance speedup can be achieved.</a:t>
            </a:r>
          </a:p>
          <a:p>
            <a:endParaRPr lang="en-SG" baseline="0" dirty="0" smtClean="0"/>
          </a:p>
          <a:p>
            <a:r>
              <a:rPr lang="en-SG" baseline="0" dirty="0" smtClean="0"/>
              <a:t>We need to stop optimization process here since there is no FPGA resources available. </a:t>
            </a:r>
            <a:endParaRPr lang="en-SG"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37</a:t>
            </a:fld>
            <a:endParaRPr lang="en-US"/>
          </a:p>
        </p:txBody>
      </p:sp>
    </p:spTree>
    <p:extLst>
      <p:ext uri="{BB962C8B-B14F-4D97-AF65-F5344CB8AC3E}">
        <p14:creationId xmlns:p14="http://schemas.microsoft.com/office/powerpoint/2010/main" val="10095951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We compare the performance of the OpenCL program 1) with the optimization guided by our framework, and 2) with the Altera SDK resource driven optimizations (“-O3 approach", “</a:t>
            </a:r>
            <a:r>
              <a:rPr lang="en-US" sz="1200" b="0" i="0" u="none" strike="noStrike" kern="1200" baseline="0" dirty="0" err="1" smtClean="0">
                <a:solidFill>
                  <a:schemeClr val="tx1"/>
                </a:solidFill>
                <a:latin typeface="+mn-lt"/>
                <a:ea typeface="+mn-ea"/>
                <a:cs typeface="+mn-cs"/>
              </a:rPr>
              <a:t>aoc</a:t>
            </a:r>
            <a:r>
              <a:rPr lang="en-US" sz="1200" b="0" i="0" u="none" strike="noStrike" kern="1200" baseline="0" dirty="0" smtClean="0">
                <a:solidFill>
                  <a:schemeClr val="tx1"/>
                </a:solidFill>
                <a:latin typeface="+mn-lt"/>
                <a:ea typeface="+mn-ea"/>
                <a:cs typeface="+mn-cs"/>
              </a:rPr>
              <a:t> -O3" command, with default </a:t>
            </a:r>
            <a:r>
              <a:rPr lang="en-US" sz="1200" b="0" i="0" u="none" strike="noStrike" kern="1200" baseline="0" dirty="0" err="1" smtClean="0">
                <a:solidFill>
                  <a:schemeClr val="tx1"/>
                </a:solidFill>
                <a:latin typeface="+mn-lt"/>
                <a:ea typeface="+mn-ea"/>
                <a:cs typeface="+mn-cs"/>
              </a:rPr>
              <a:t>maximum_logic_utilization</a:t>
            </a:r>
            <a:r>
              <a:rPr lang="en-US" sz="1200" b="0" i="0" u="none" strike="noStrike" kern="1200" baseline="0" dirty="0" smtClean="0">
                <a:solidFill>
                  <a:schemeClr val="tx1"/>
                </a:solidFill>
                <a:latin typeface="+mn-lt"/>
                <a:ea typeface="+mn-ea"/>
                <a:cs typeface="+mn-cs"/>
              </a:rPr>
              <a:t>=85%). In particular, we apply these two optimization frameworks to the four baseline implementations (MM, KM, WC and SS). The experimental result shows that the implementations optimized by our framework over the baselines can achieve significantly higher speedups than the Altera SDK resource driven optimizations, as shown in Table. </a:t>
            </a:r>
            <a:endParaRPr lang="en-SG"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38</a:t>
            </a:fld>
            <a:endParaRPr lang="en-US"/>
          </a:p>
        </p:txBody>
      </p:sp>
    </p:spTree>
    <p:extLst>
      <p:ext uri="{BB962C8B-B14F-4D97-AF65-F5344CB8AC3E}">
        <p14:creationId xmlns:p14="http://schemas.microsoft.com/office/powerpoint/2010/main" val="3084077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39</a:t>
            </a:fld>
            <a:endParaRPr lang="en-US"/>
          </a:p>
        </p:txBody>
      </p:sp>
    </p:spTree>
    <p:extLst>
      <p:ext uri="{BB962C8B-B14F-4D97-AF65-F5344CB8AC3E}">
        <p14:creationId xmlns:p14="http://schemas.microsoft.com/office/powerpoint/2010/main" val="17661228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a:t>
            </a:r>
            <a:r>
              <a:rPr lang="en-US" baseline="0" dirty="0" smtClean="0"/>
              <a:t> is </a:t>
            </a:r>
            <a:r>
              <a:rPr lang="en-US" altLang="zh-CN" baseline="0" dirty="0" smtClean="0"/>
              <a:t>the </a:t>
            </a:r>
            <a:r>
              <a:rPr lang="en-US" baseline="0" dirty="0" smtClean="0"/>
              <a:t>outline of our paper.</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First,</a:t>
            </a:r>
            <a:r>
              <a:rPr lang="en-US" baseline="0" dirty="0" smtClean="0"/>
              <a:t> we will talk about the background and motivations; Second, we will talk about the design; Third, the experiment is discussed; Fourth, the summary is presented. </a:t>
            </a:r>
            <a:endParaRPr lang="en-US" dirty="0" smtClean="0"/>
          </a:p>
          <a:p>
            <a:endParaRPr lang="en-US"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40</a:t>
            </a:fld>
            <a:endParaRPr lang="en-US"/>
          </a:p>
        </p:txBody>
      </p:sp>
    </p:spTree>
    <p:extLst>
      <p:ext uri="{BB962C8B-B14F-4D97-AF65-F5344CB8AC3E}">
        <p14:creationId xmlns:p14="http://schemas.microsoft.com/office/powerpoint/2010/main" val="13006818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On one hand, we have OpenCL to program FPGA; on the other hand, OpenCL-based design and implementation for relational databases have been emerging on CPUs/GPUs. For example, </a:t>
            </a:r>
            <a:r>
              <a:rPr lang="en-US" sz="1200" b="0" i="0" u="none" strike="noStrike" kern="1200" baseline="0" dirty="0" err="1" smtClean="0">
                <a:solidFill>
                  <a:schemeClr val="tx1"/>
                </a:solidFill>
                <a:latin typeface="+mn-lt"/>
                <a:ea typeface="+mn-ea"/>
                <a:cs typeface="+mn-cs"/>
              </a:rPr>
              <a:t>OmniDB</a:t>
            </a:r>
            <a:r>
              <a:rPr lang="en-US" sz="1200" b="0" i="0" u="none" strike="noStrike" kern="1200" baseline="0" dirty="0" smtClean="0">
                <a:solidFill>
                  <a:schemeClr val="tx1"/>
                </a:solidFill>
                <a:latin typeface="+mn-lt"/>
                <a:ea typeface="+mn-ea"/>
                <a:cs typeface="+mn-cs"/>
              </a:rPr>
              <a:t>. </a:t>
            </a:r>
          </a:p>
          <a:p>
            <a:endParaRPr lang="en-US" dirty="0" smtClean="0"/>
          </a:p>
          <a:p>
            <a:r>
              <a:rPr lang="en-US" dirty="0" err="1" smtClean="0"/>
              <a:t>OmniDB</a:t>
            </a:r>
            <a:r>
              <a:rPr lang="en-US" baseline="0" dirty="0" smtClean="0"/>
              <a:t> is </a:t>
            </a:r>
            <a:r>
              <a:rPr lang="en-US" baseline="0" dirty="0" err="1" smtClean="0"/>
              <a:t>OpenCL</a:t>
            </a:r>
            <a:r>
              <a:rPr lang="en-US" baseline="0" dirty="0" smtClean="0"/>
              <a:t>-based database query processing running on CPU/GPU. It is obvious that </a:t>
            </a:r>
            <a:r>
              <a:rPr lang="en-US" baseline="0" dirty="0" err="1" smtClean="0"/>
              <a:t>OmniDB</a:t>
            </a:r>
            <a:r>
              <a:rPr lang="en-US" baseline="0" dirty="0" smtClean="0"/>
              <a:t> can achieve good performance on CPU/GPU. </a:t>
            </a:r>
          </a:p>
          <a:p>
            <a:r>
              <a:rPr lang="en-US" baseline="0" dirty="0" smtClean="0"/>
              <a:t>It has two properties. First, it belongs to the layered design and kernel-based execution. Second, it contains one cost model to schedule the computing tasks among CPUs and GPUs. </a:t>
            </a:r>
          </a:p>
          <a:p>
            <a:endParaRPr lang="en-US" baseline="0" dirty="0" smtClean="0"/>
          </a:p>
          <a:p>
            <a:r>
              <a:rPr lang="en-US" dirty="0" smtClean="0"/>
              <a:t>One natural</a:t>
            </a:r>
            <a:r>
              <a:rPr lang="en-US" baseline="0" dirty="0" smtClean="0"/>
              <a:t> question is that how </a:t>
            </a:r>
            <a:r>
              <a:rPr lang="en-US" baseline="0" dirty="0" err="1" smtClean="0"/>
              <a:t>OmniDB</a:t>
            </a:r>
            <a:r>
              <a:rPr lang="en-US" baseline="0" dirty="0" smtClean="0"/>
              <a:t> performs on OpenCL-based FPGAs. </a:t>
            </a:r>
            <a:r>
              <a:rPr lang="en-US" dirty="0" smtClean="0"/>
              <a:t>We try to run </a:t>
            </a:r>
            <a:r>
              <a:rPr lang="en-US" dirty="0" err="1" smtClean="0"/>
              <a:t>OmniDB</a:t>
            </a:r>
            <a:r>
              <a:rPr lang="en-US" dirty="0" smtClean="0"/>
              <a:t> on FPGA. </a:t>
            </a:r>
            <a:endParaRPr lang="en-US" baseline="0" dirty="0" smtClean="0"/>
          </a:p>
          <a:p>
            <a:r>
              <a:rPr lang="en-US" baseline="0" dirty="0" smtClean="0"/>
              <a:t>It has serious performance problems on FPGA because of the architecture differences between CPU/GPU and FPGA. </a:t>
            </a:r>
          </a:p>
          <a:p>
            <a:endParaRPr lang="en-US" baseline="0" dirty="0" smtClean="0"/>
          </a:p>
          <a:p>
            <a:endParaRPr lang="en-US" baseline="0" dirty="0" smtClean="0"/>
          </a:p>
        </p:txBody>
      </p:sp>
      <p:sp>
        <p:nvSpPr>
          <p:cNvPr id="4" name="Slide Number Placeholder 3"/>
          <p:cNvSpPr>
            <a:spLocks noGrp="1"/>
          </p:cNvSpPr>
          <p:nvPr>
            <p:ph type="sldNum" sz="quarter" idx="10"/>
          </p:nvPr>
        </p:nvSpPr>
        <p:spPr/>
        <p:txBody>
          <a:bodyPr/>
          <a:lstStyle/>
          <a:p>
            <a:fld id="{78373666-B445-4705-BB8A-F90574925064}" type="slidenum">
              <a:rPr lang="en-US" smtClean="0"/>
              <a:pPr/>
              <a:t>41</a:t>
            </a:fld>
            <a:endParaRPr lang="en-US"/>
          </a:p>
        </p:txBody>
      </p:sp>
    </p:spTree>
    <p:extLst>
      <p:ext uri="{BB962C8B-B14F-4D97-AF65-F5344CB8AC3E}">
        <p14:creationId xmlns:p14="http://schemas.microsoft.com/office/powerpoint/2010/main" val="20932275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r>
              <a:rPr lang="en-US" dirty="0" smtClean="0"/>
              <a:t>The first challenge</a:t>
            </a:r>
            <a:r>
              <a:rPr lang="en-US" baseline="0" dirty="0" smtClean="0"/>
              <a:t> comes from the large exploration space. </a:t>
            </a:r>
            <a:r>
              <a:rPr lang="en-US" altLang="zh-CN" baseline="0" dirty="0" smtClean="0"/>
              <a:t>F</a:t>
            </a:r>
            <a:r>
              <a:rPr lang="en-US" baseline="0" dirty="0" smtClean="0"/>
              <a:t>or each </a:t>
            </a:r>
            <a:r>
              <a:rPr lang="en-US" dirty="0" smtClean="0"/>
              <a:t>single SQL query, it can have many implementations. </a:t>
            </a:r>
            <a:r>
              <a:rPr lang="en-US" baseline="0" dirty="0" smtClean="0"/>
              <a:t>In particular, e</a:t>
            </a:r>
            <a:r>
              <a:rPr lang="en-US" dirty="0" smtClean="0"/>
              <a:t>ach query has multiple operators,</a:t>
            </a:r>
            <a:r>
              <a:rPr lang="en-US" baseline="0" dirty="0" smtClean="0"/>
              <a:t> and each operator can consist of multiple OpenCL kernels, each kernel has multiple FPGA-specific optimization combinations. </a:t>
            </a:r>
          </a:p>
          <a:p>
            <a:pPr marL="0"/>
            <a:endParaRPr lang="en-US" baseline="0" dirty="0" smtClean="0"/>
          </a:p>
          <a:p>
            <a:pPr marL="0"/>
            <a:r>
              <a:rPr lang="en-US" baseline="0" dirty="0" smtClean="0"/>
              <a:t>To make the things worse, we also consider another dimension of using multiple FPGA images.  </a:t>
            </a:r>
          </a:p>
          <a:p>
            <a:pPr marL="0"/>
            <a:endParaRPr lang="en-US" dirty="0" smtClean="0"/>
          </a:p>
          <a:p>
            <a:pPr marL="0"/>
            <a:endParaRPr lang="en-US" dirty="0" smtClean="0"/>
          </a:p>
        </p:txBody>
      </p:sp>
      <p:sp>
        <p:nvSpPr>
          <p:cNvPr id="4" name="Slide Number Placeholder 3"/>
          <p:cNvSpPr>
            <a:spLocks noGrp="1"/>
          </p:cNvSpPr>
          <p:nvPr>
            <p:ph type="sldNum" sz="quarter" idx="10"/>
          </p:nvPr>
        </p:nvSpPr>
        <p:spPr/>
        <p:txBody>
          <a:bodyPr/>
          <a:lstStyle/>
          <a:p>
            <a:fld id="{78373666-B445-4705-BB8A-F90574925064}" type="slidenum">
              <a:rPr lang="en-US" smtClean="0"/>
              <a:pPr/>
              <a:t>42</a:t>
            </a:fld>
            <a:endParaRPr lang="en-US"/>
          </a:p>
        </p:txBody>
      </p:sp>
    </p:spTree>
    <p:extLst>
      <p:ext uri="{BB962C8B-B14F-4D97-AF65-F5344CB8AC3E}">
        <p14:creationId xmlns:p14="http://schemas.microsoft.com/office/powerpoint/2010/main" val="11398986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Now I will talk about the FPGA-specific trade-off between the two dimensions: optimization combination and reconfiguration overhead. </a:t>
            </a:r>
          </a:p>
          <a:p>
            <a:r>
              <a:rPr lang="en-US" sz="1200" dirty="0" smtClean="0"/>
              <a:t>In general, More aggregative optimizations </a:t>
            </a:r>
            <a:r>
              <a:rPr lang="en-US" sz="1200" dirty="0" smtClean="0">
                <a:sym typeface="Wingdings" panose="05000000000000000000" pitchFamily="2" charset="2"/>
              </a:rPr>
              <a:t>for</a:t>
            </a:r>
            <a:r>
              <a:rPr lang="en-US" sz="1200" baseline="0" dirty="0" smtClean="0">
                <a:sym typeface="Wingdings" panose="05000000000000000000" pitchFamily="2" charset="2"/>
              </a:rPr>
              <a:t> each kernel will cost </a:t>
            </a:r>
            <a:r>
              <a:rPr lang="en-US" sz="1200" dirty="0" smtClean="0"/>
              <a:t>More resources </a:t>
            </a:r>
            <a:r>
              <a:rPr lang="en-US" sz="1200" dirty="0" smtClean="0">
                <a:sym typeface="Wingdings" panose="05000000000000000000" pitchFamily="2" charset="2"/>
              </a:rPr>
              <a:t>for the kernel. Then,</a:t>
            </a:r>
            <a:r>
              <a:rPr lang="en-US" sz="1200" baseline="0" dirty="0" smtClean="0">
                <a:sym typeface="Wingdings" panose="05000000000000000000" pitchFamily="2" charset="2"/>
              </a:rPr>
              <a:t> </a:t>
            </a:r>
            <a:r>
              <a:rPr lang="en-US" sz="1200" dirty="0" smtClean="0"/>
              <a:t>More resources are required for the entire query </a:t>
            </a:r>
            <a:r>
              <a:rPr lang="en-US" sz="1200" dirty="0" smtClean="0">
                <a:sym typeface="Wingdings" panose="05000000000000000000" pitchFamily="2" charset="2"/>
              </a:rPr>
              <a:t>. In</a:t>
            </a:r>
            <a:r>
              <a:rPr lang="en-US" sz="1200" baseline="0" dirty="0" smtClean="0">
                <a:sym typeface="Wingdings" panose="05000000000000000000" pitchFamily="2" charset="2"/>
              </a:rPr>
              <a:t> particular, m</a:t>
            </a:r>
            <a:r>
              <a:rPr lang="en-US" sz="1200" dirty="0" smtClean="0"/>
              <a:t>ore FPGA images </a:t>
            </a:r>
            <a:r>
              <a:rPr lang="en-US" sz="1200" dirty="0" smtClean="0">
                <a:sym typeface="Wingdings" panose="05000000000000000000" pitchFamily="2" charset="2"/>
              </a:rPr>
              <a:t>are required and h</a:t>
            </a:r>
            <a:r>
              <a:rPr lang="en-US" sz="1200" dirty="0" smtClean="0"/>
              <a:t>igher FPGA reconfiguration overhead appears.</a:t>
            </a:r>
            <a:endParaRPr lang="en-US" dirty="0" smtClean="0"/>
          </a:p>
        </p:txBody>
      </p:sp>
      <p:sp>
        <p:nvSpPr>
          <p:cNvPr id="4" name="Slide Number Placeholder 3"/>
          <p:cNvSpPr>
            <a:spLocks noGrp="1"/>
          </p:cNvSpPr>
          <p:nvPr>
            <p:ph type="sldNum" sz="quarter" idx="10"/>
          </p:nvPr>
        </p:nvSpPr>
        <p:spPr/>
        <p:txBody>
          <a:bodyPr/>
          <a:lstStyle/>
          <a:p>
            <a:fld id="{78373666-B445-4705-BB8A-F90574925064}" type="slidenum">
              <a:rPr lang="en-US" smtClean="0"/>
              <a:pPr/>
              <a:t>43</a:t>
            </a:fld>
            <a:endParaRPr lang="en-US"/>
          </a:p>
        </p:txBody>
      </p:sp>
    </p:spTree>
    <p:extLst>
      <p:ext uri="{BB962C8B-B14F-4D97-AF65-F5344CB8AC3E}">
        <p14:creationId xmlns:p14="http://schemas.microsoft.com/office/powerpoint/2010/main" val="32650628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Now</a:t>
            </a:r>
            <a:r>
              <a:rPr lang="en-US" baseline="0" dirty="0" smtClean="0"/>
              <a:t> I talk about the other observation, about the impact of optimization combination.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Let me use the </a:t>
            </a:r>
            <a:r>
              <a:rPr lang="en-US" baseline="0" dirty="0" err="1" smtClean="0"/>
              <a:t>scanLargeArrays</a:t>
            </a:r>
            <a:r>
              <a:rPr lang="en-US" baseline="0" dirty="0" smtClean="0"/>
              <a:t> kernel with 128M input tuples for example. The figure shows the relationship between (time, resource utilization) and optimization combination.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X-axis is the optimization combination, Y axis is the resource utilization and resource utilization.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Our observation here is that more aggregative optimization means more resource utilization and then higher performance.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 </a:t>
            </a:r>
            <a:endParaRPr lang="en-US" dirty="0" smtClean="0"/>
          </a:p>
        </p:txBody>
      </p:sp>
      <p:sp>
        <p:nvSpPr>
          <p:cNvPr id="4" name="Slide Number Placeholder 3"/>
          <p:cNvSpPr>
            <a:spLocks noGrp="1"/>
          </p:cNvSpPr>
          <p:nvPr>
            <p:ph type="sldNum" sz="quarter" idx="10"/>
          </p:nvPr>
        </p:nvSpPr>
        <p:spPr/>
        <p:txBody>
          <a:bodyPr/>
          <a:lstStyle/>
          <a:p>
            <a:fld id="{78373666-B445-4705-BB8A-F90574925064}" type="slidenum">
              <a:rPr lang="en-US" smtClean="0"/>
              <a:pPr/>
              <a:t>44</a:t>
            </a:fld>
            <a:endParaRPr lang="en-US"/>
          </a:p>
        </p:txBody>
      </p:sp>
    </p:spTree>
    <p:extLst>
      <p:ext uri="{BB962C8B-B14F-4D97-AF65-F5344CB8AC3E}">
        <p14:creationId xmlns:p14="http://schemas.microsoft.com/office/powerpoint/2010/main" val="2940083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Next,</a:t>
            </a:r>
            <a:r>
              <a:rPr lang="en-US" baseline="0" dirty="0" smtClean="0"/>
              <a:t> we talk about the other observation about the FPGA reconfiguration overhead. </a:t>
            </a:r>
            <a:endParaRPr lang="en-US" dirty="0" smtClean="0"/>
          </a:p>
          <a:p>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According to Altera, FPGA reconfiguration overhead contains three sources.  The first</a:t>
            </a:r>
            <a:r>
              <a:rPr lang="en-US" baseline="0" dirty="0" smtClean="0"/>
              <a:t> part is the time taken to t</a:t>
            </a:r>
            <a:r>
              <a:rPr lang="en-US" dirty="0" smtClean="0"/>
              <a:t>ransfer the active contents (memory footprint) from FPGA memory to host memory via </a:t>
            </a:r>
            <a:r>
              <a:rPr lang="en-US" dirty="0" err="1" smtClean="0"/>
              <a:t>PCIe</a:t>
            </a:r>
            <a:r>
              <a:rPr lang="en-US" dirty="0" smtClean="0"/>
              <a:t>. The </a:t>
            </a:r>
            <a:r>
              <a:rPr lang="en-US" dirty="0" err="1" smtClean="0"/>
              <a:t>seond</a:t>
            </a:r>
            <a:r>
              <a:rPr lang="en-US" dirty="0" smtClean="0"/>
              <a:t> </a:t>
            </a:r>
            <a:r>
              <a:rPr lang="en-US" baseline="0" dirty="0" smtClean="0"/>
              <a:t>part is the time taken to reconfigure the FPGA. The third part is the time to </a:t>
            </a:r>
            <a:r>
              <a:rPr lang="en-US" dirty="0" smtClean="0"/>
              <a:t>transfer the active contents from host memory between FPGA memory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The reason</a:t>
            </a:r>
            <a:r>
              <a:rPr lang="en-US" baseline="0" dirty="0" smtClean="0"/>
              <a:t> why to transfer the data between FPGA memory and host memory is that the FPGA reconfiguration will corrupt the FPGA DDR contents. </a:t>
            </a:r>
          </a:p>
        </p:txBody>
      </p:sp>
      <p:sp>
        <p:nvSpPr>
          <p:cNvPr id="4" name="Slide Number Placeholder 3"/>
          <p:cNvSpPr>
            <a:spLocks noGrp="1"/>
          </p:cNvSpPr>
          <p:nvPr>
            <p:ph type="sldNum" sz="quarter" idx="10"/>
          </p:nvPr>
        </p:nvSpPr>
        <p:spPr/>
        <p:txBody>
          <a:bodyPr/>
          <a:lstStyle/>
          <a:p>
            <a:fld id="{78373666-B445-4705-BB8A-F90574925064}" type="slidenum">
              <a:rPr lang="en-US" smtClean="0"/>
              <a:pPr/>
              <a:t>45</a:t>
            </a:fld>
            <a:endParaRPr lang="en-US"/>
          </a:p>
        </p:txBody>
      </p:sp>
    </p:spTree>
    <p:extLst>
      <p:ext uri="{BB962C8B-B14F-4D97-AF65-F5344CB8AC3E}">
        <p14:creationId xmlns:p14="http://schemas.microsoft.com/office/powerpoint/2010/main" val="40309839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Our approach contains</a:t>
            </a:r>
            <a:r>
              <a:rPr lang="en-US" baseline="0" dirty="0" smtClean="0"/>
              <a:t> two parts. The first part is to a</a:t>
            </a:r>
            <a:r>
              <a:rPr lang="en-US" dirty="0" smtClean="0"/>
              <a:t>ccelerate query processor with FPGA-specific optimization methods</a:t>
            </a:r>
            <a:r>
              <a:rPr lang="en-US" sz="1200" baseline="0" dirty="0" smtClean="0"/>
              <a:t>. The second part contains </a:t>
            </a:r>
            <a:r>
              <a:rPr lang="en-US" dirty="0" smtClean="0"/>
              <a:t>one FPGA-specific cost model to determine the optimal query plan for the input query.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fld id="{78373666-B445-4705-BB8A-F90574925064}" type="slidenum">
              <a:rPr lang="en-US" smtClean="0"/>
              <a:pPr/>
              <a:t>46</a:t>
            </a:fld>
            <a:endParaRPr lang="en-US"/>
          </a:p>
        </p:txBody>
      </p:sp>
    </p:spTree>
    <p:extLst>
      <p:ext uri="{BB962C8B-B14F-4D97-AF65-F5344CB8AC3E}">
        <p14:creationId xmlns:p14="http://schemas.microsoft.com/office/powerpoint/2010/main" val="34351618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smtClean="0"/>
              <a:t>We a</a:t>
            </a:r>
            <a:r>
              <a:rPr lang="en-US" dirty="0" smtClean="0"/>
              <a:t>dopt the implementation of the query processor from </a:t>
            </a:r>
            <a:r>
              <a:rPr lang="en-US" dirty="0" err="1" smtClean="0"/>
              <a:t>OmniDB</a:t>
            </a:r>
            <a:r>
              <a:rPr lang="en-US" dirty="0" smtClean="0"/>
              <a:t>, which contains 4 operators</a:t>
            </a:r>
            <a:r>
              <a:rPr lang="en-US" baseline="0" dirty="0" smtClean="0"/>
              <a:t>. And the 4 operators can form any SQL query.  Each operator contains several kernels to implement. </a:t>
            </a:r>
          </a:p>
          <a:p>
            <a:r>
              <a:rPr lang="en-US" baseline="0" dirty="0" smtClean="0"/>
              <a:t>For the detailed description, please read our paper. </a:t>
            </a:r>
            <a:endParaRPr lang="en-US" dirty="0" smtClean="0"/>
          </a:p>
          <a:p>
            <a:r>
              <a:rPr lang="en-US" sz="1200" kern="1200" dirty="0" smtClean="0">
                <a:solidFill>
                  <a:schemeClr val="tx1"/>
                </a:solidFill>
                <a:effectLst/>
                <a:latin typeface="+mn-lt"/>
                <a:ea typeface="+mn-ea"/>
                <a:cs typeface="+mn-cs"/>
              </a:rPr>
              <a:t>The selection operator contains 5 kernels, order-by contains 2 kernels, grouping and aggregation contains 7 kernels. Join contains 2 kernels. </a:t>
            </a:r>
            <a:endParaRPr lang="en-US" altLang="en-US" sz="1200" dirty="0" smtClean="0"/>
          </a:p>
        </p:txBody>
      </p:sp>
      <p:sp>
        <p:nvSpPr>
          <p:cNvPr id="4" name="Slide Number Placeholder 3"/>
          <p:cNvSpPr>
            <a:spLocks noGrp="1"/>
          </p:cNvSpPr>
          <p:nvPr>
            <p:ph type="sldNum" sz="quarter" idx="10"/>
          </p:nvPr>
        </p:nvSpPr>
        <p:spPr/>
        <p:txBody>
          <a:bodyPr/>
          <a:lstStyle/>
          <a:p>
            <a:fld id="{78373666-B445-4705-BB8A-F90574925064}" type="slidenum">
              <a:rPr lang="en-US" smtClean="0"/>
              <a:pPr/>
              <a:t>47</a:t>
            </a:fld>
            <a:endParaRPr lang="en-US"/>
          </a:p>
        </p:txBody>
      </p:sp>
    </p:spTree>
    <p:extLst>
      <p:ext uri="{BB962C8B-B14F-4D97-AF65-F5344CB8AC3E}">
        <p14:creationId xmlns:p14="http://schemas.microsoft.com/office/powerpoint/2010/main" val="33376550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smtClean="0"/>
              <a:t>We a</a:t>
            </a:r>
            <a:r>
              <a:rPr lang="en-US" dirty="0" smtClean="0"/>
              <a:t>dopt the implementation of primitives from </a:t>
            </a:r>
            <a:r>
              <a:rPr lang="en-US" dirty="0" err="1" smtClean="0"/>
              <a:t>OmniDB</a:t>
            </a:r>
            <a:r>
              <a:rPr lang="en-US" dirty="0" smtClean="0"/>
              <a:t>, which has already explored the optimizations, </a:t>
            </a:r>
            <a:r>
              <a:rPr lang="en-US" baseline="0" dirty="0" smtClean="0"/>
              <a:t>thread parallelism, shared memory and memory coalescing. Our paper mainly focuses on the FPGA-specific optimizations. </a:t>
            </a:r>
            <a:endParaRPr lang="en-US" dirty="0" smtClean="0"/>
          </a:p>
          <a:p>
            <a:endParaRPr lang="en-US" altLang="en-US" sz="1200" dirty="0" smtClean="0"/>
          </a:p>
        </p:txBody>
      </p:sp>
      <p:sp>
        <p:nvSpPr>
          <p:cNvPr id="4" name="Slide Number Placeholder 3"/>
          <p:cNvSpPr>
            <a:spLocks noGrp="1"/>
          </p:cNvSpPr>
          <p:nvPr>
            <p:ph type="sldNum" sz="quarter" idx="10"/>
          </p:nvPr>
        </p:nvSpPr>
        <p:spPr/>
        <p:txBody>
          <a:bodyPr/>
          <a:lstStyle/>
          <a:p>
            <a:fld id="{78373666-B445-4705-BB8A-F90574925064}" type="slidenum">
              <a:rPr lang="en-US" smtClean="0"/>
              <a:pPr/>
              <a:t>48</a:t>
            </a:fld>
            <a:endParaRPr lang="en-US"/>
          </a:p>
        </p:txBody>
      </p:sp>
    </p:spTree>
    <p:extLst>
      <p:ext uri="{BB962C8B-B14F-4D97-AF65-F5344CB8AC3E}">
        <p14:creationId xmlns:p14="http://schemas.microsoft.com/office/powerpoint/2010/main" val="34316450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order to generate</a:t>
            </a:r>
            <a:r>
              <a:rPr lang="en-US" baseline="0" dirty="0" smtClean="0"/>
              <a:t> the optimal query plan for the input query, our approach is to use </a:t>
            </a:r>
            <a:r>
              <a:rPr lang="en-US" dirty="0" smtClean="0"/>
              <a:t>an FPGA-specific cost model.  The cost</a:t>
            </a:r>
            <a:r>
              <a:rPr lang="en-US" baseline="0" dirty="0" smtClean="0"/>
              <a:t> model follows the layer design and contains two components, unit cost and optimal query plan generation.  </a:t>
            </a:r>
            <a:endParaRPr lang="en-US" dirty="0" smtClean="0"/>
          </a:p>
          <a:p>
            <a:endParaRPr lang="en-US" sz="1200" baseline="0" dirty="0" smtClean="0"/>
          </a:p>
        </p:txBody>
      </p:sp>
      <p:sp>
        <p:nvSpPr>
          <p:cNvPr id="4" name="Slide Number Placeholder 3"/>
          <p:cNvSpPr>
            <a:spLocks noGrp="1"/>
          </p:cNvSpPr>
          <p:nvPr>
            <p:ph type="sldNum" sz="quarter" idx="10"/>
          </p:nvPr>
        </p:nvSpPr>
        <p:spPr/>
        <p:txBody>
          <a:bodyPr/>
          <a:lstStyle/>
          <a:p>
            <a:fld id="{78373666-B445-4705-BB8A-F90574925064}" type="slidenum">
              <a:rPr lang="en-US" smtClean="0"/>
              <a:pPr/>
              <a:t>49</a:t>
            </a:fld>
            <a:endParaRPr lang="en-US"/>
          </a:p>
        </p:txBody>
      </p:sp>
    </p:spTree>
    <p:extLst>
      <p:ext uri="{BB962C8B-B14F-4D97-AF65-F5344CB8AC3E}">
        <p14:creationId xmlns:p14="http://schemas.microsoft.com/office/powerpoint/2010/main" val="41226642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FPGA is treated as a black box and t</a:t>
            </a:r>
            <a:r>
              <a:rPr lang="en-US" sz="1200" b="0" i="0" u="none" strike="noStrike" kern="1200" baseline="0" dirty="0" smtClean="0">
                <a:solidFill>
                  <a:schemeClr val="tx1"/>
                </a:solidFill>
                <a:latin typeface="+mn-lt"/>
                <a:ea typeface="+mn-ea"/>
                <a:cs typeface="+mn-cs"/>
              </a:rPr>
              <a:t>he unit cost is supposed to be the number of total clock cycles divided by the number of tuples in the input relation. We do not use the elapsed time because the frequency varies with the FPGA image.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smtClean="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we measure the unit cost of each operator kernel with different FPGA-specific</a:t>
            </a:r>
            <a:r>
              <a:rPr lang="en-US" baseline="0" dirty="0" smtClean="0"/>
              <a:t> </a:t>
            </a:r>
            <a:r>
              <a:rPr lang="en-US" dirty="0" smtClean="0"/>
              <a:t>optimization combinations and the corresponding resource utilizations</a:t>
            </a:r>
            <a:r>
              <a:rPr lang="en-US" baseline="0" dirty="0" smtClean="0"/>
              <a:t> and unit costs</a:t>
            </a:r>
            <a:r>
              <a:rPr lang="en-US" dirty="0" smtClean="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smtClean="0">
              <a:solidFill>
                <a:schemeClr val="tx1"/>
              </a:solidFill>
              <a:latin typeface="+mn-lt"/>
              <a:ea typeface="+mn-ea"/>
              <a:cs typeface="+mn-cs"/>
            </a:endParaRPr>
          </a:p>
          <a:p>
            <a:endParaRPr lang="en-US" altLang="en-US" sz="1200" dirty="0" smtClean="0"/>
          </a:p>
        </p:txBody>
      </p:sp>
      <p:sp>
        <p:nvSpPr>
          <p:cNvPr id="4" name="Slide Number Placeholder 3"/>
          <p:cNvSpPr>
            <a:spLocks noGrp="1"/>
          </p:cNvSpPr>
          <p:nvPr>
            <p:ph type="sldNum" sz="quarter" idx="10"/>
          </p:nvPr>
        </p:nvSpPr>
        <p:spPr/>
        <p:txBody>
          <a:bodyPr/>
          <a:lstStyle/>
          <a:p>
            <a:fld id="{78373666-B445-4705-BB8A-F90574925064}" type="slidenum">
              <a:rPr lang="en-US" smtClean="0"/>
              <a:pPr/>
              <a:t>50</a:t>
            </a:fld>
            <a:endParaRPr lang="en-US"/>
          </a:p>
        </p:txBody>
      </p:sp>
    </p:spTree>
    <p:extLst>
      <p:ext uri="{BB962C8B-B14F-4D97-AF65-F5344CB8AC3E}">
        <p14:creationId xmlns:p14="http://schemas.microsoft.com/office/powerpoint/2010/main" val="36903938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conduct</a:t>
            </a:r>
            <a:r>
              <a:rPr lang="en-US" baseline="0" dirty="0" smtClean="0"/>
              <a:t> the experiment on </a:t>
            </a:r>
            <a:r>
              <a:rPr lang="en-SG" altLang="en-US" dirty="0" err="1" smtClean="0"/>
              <a:t>Terasic’s</a:t>
            </a:r>
            <a:r>
              <a:rPr lang="en-SG" altLang="en-US" dirty="0" smtClean="0"/>
              <a:t> DE5-Net board. We evaluate</a:t>
            </a:r>
            <a:r>
              <a:rPr lang="en-SG" altLang="en-US" baseline="0" dirty="0" smtClean="0"/>
              <a:t> four queries. </a:t>
            </a:r>
            <a:endParaRPr lang="en-US" dirty="0" smtClean="0"/>
          </a:p>
          <a:p>
            <a:r>
              <a:rPr lang="en-US" dirty="0" smtClean="0"/>
              <a:t>The input data is a relation (i.e., table) with the tuple format of &lt;key, payload&gt;, in the format of column databases. Both keys and payloads are 4-byte.</a:t>
            </a:r>
            <a:r>
              <a:rPr lang="en-US" baseline="0" dirty="0" smtClean="0"/>
              <a:t>  We use Q3 for example. </a:t>
            </a:r>
          </a:p>
          <a:p>
            <a:endParaRPr lang="en-US"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51</a:t>
            </a:fld>
            <a:endParaRPr lang="en-US"/>
          </a:p>
        </p:txBody>
      </p:sp>
    </p:spTree>
    <p:extLst>
      <p:ext uri="{BB962C8B-B14F-4D97-AF65-F5344CB8AC3E}">
        <p14:creationId xmlns:p14="http://schemas.microsoft.com/office/powerpoint/2010/main" val="36978066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a:t>
            </a:r>
            <a:r>
              <a:rPr lang="en-US" baseline="0" dirty="0" smtClean="0"/>
              <a:t> show the details of Q3. And the right figure shows the corresponding kernels to implement the Q3. We can see that Q3 contain 12 operator kernels. </a:t>
            </a:r>
          </a:p>
          <a:p>
            <a:endParaRPr lang="en-US" baseline="0" dirty="0" smtClean="0"/>
          </a:p>
          <a:p>
            <a:r>
              <a:rPr lang="en-US" baseline="0" dirty="0" smtClean="0"/>
              <a:t>For the next slides, we will show the corresponding execution plan with the different size of Table S.  </a:t>
            </a:r>
            <a:endParaRPr lang="en-US"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52</a:t>
            </a:fld>
            <a:endParaRPr lang="en-US"/>
          </a:p>
        </p:txBody>
      </p:sp>
    </p:spTree>
    <p:extLst>
      <p:ext uri="{BB962C8B-B14F-4D97-AF65-F5344CB8AC3E}">
        <p14:creationId xmlns:p14="http://schemas.microsoft.com/office/powerpoint/2010/main" val="1524657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solidFill>
                  <a:srgbClr val="FF0000"/>
                </a:solidFill>
                <a:latin typeface="Comic Sans MS" pitchFamily="66" charset="0"/>
              </a:rPr>
              <a:t>For</a:t>
            </a:r>
            <a:r>
              <a:rPr lang="en-US" sz="1200" baseline="0" dirty="0" smtClean="0">
                <a:solidFill>
                  <a:srgbClr val="FF0000"/>
                </a:solidFill>
                <a:latin typeface="Comic Sans MS" pitchFamily="66" charset="0"/>
              </a:rPr>
              <a:t> different table size, our cost model recommends two execution plans. </a:t>
            </a:r>
            <a:endParaRPr lang="en-SG" sz="1200" dirty="0" smtClean="0">
              <a:solidFill>
                <a:srgbClr val="FF0000"/>
              </a:solidFill>
              <a:latin typeface="Comic Sans MS" pitchFamily="66" charset="0"/>
            </a:endParaRPr>
          </a:p>
          <a:p>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The observation here is that </a:t>
            </a:r>
            <a:r>
              <a:rPr lang="en-US" sz="1200" dirty="0" smtClean="0"/>
              <a:t>our cost model can roughly predict the resource utilization and frequency of each FPGA image. Next we show the evaluation of Q3.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smtClean="0">
              <a:solidFill>
                <a:srgbClr val="002060"/>
              </a:solidFill>
            </a:endParaRPr>
          </a:p>
          <a:p>
            <a:endParaRPr lang="en-US"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53</a:t>
            </a:fld>
            <a:endParaRPr lang="en-US"/>
          </a:p>
        </p:txBody>
      </p:sp>
    </p:spTree>
    <p:extLst>
      <p:ext uri="{BB962C8B-B14F-4D97-AF65-F5344CB8AC3E}">
        <p14:creationId xmlns:p14="http://schemas.microsoft.com/office/powerpoint/2010/main" val="41934230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From the figure</a:t>
            </a:r>
            <a:r>
              <a:rPr lang="en-US" baseline="0" dirty="0" smtClean="0"/>
              <a:t> x axis is the table size,  y axis is elapsed time for Q3.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In the figure, 1 means the execution plan 1 and 2 means the execution plan 2.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Measured means the time when running on FPGA, Estimated means the time predicted by our cost model.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first observation here is that </a:t>
            </a:r>
            <a:r>
              <a:rPr lang="en-US" sz="1200" dirty="0" smtClean="0"/>
              <a:t>our cost model can roughly predict the performance for each execution plan.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The</a:t>
            </a:r>
            <a:r>
              <a:rPr lang="en-US" sz="1200" baseline="0" dirty="0" smtClean="0">
                <a:solidFill>
                  <a:srgbClr val="002060"/>
                </a:solidFill>
              </a:rPr>
              <a:t> second observation is that our cost model can predict the break-even point for Q3 and our cost model can recommend the optimal execution plan for different table sizes. </a:t>
            </a:r>
            <a:endParaRPr lang="en-US" sz="1200" dirty="0" smtClean="0">
              <a:solidFill>
                <a:srgbClr val="002060"/>
              </a:solidFill>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78373666-B445-4705-BB8A-F90574925064}" type="slidenum">
              <a:rPr lang="en-US" smtClean="0"/>
              <a:pPr/>
              <a:t>54</a:t>
            </a:fld>
            <a:endParaRPr lang="en-US"/>
          </a:p>
        </p:txBody>
      </p:sp>
    </p:spTree>
    <p:extLst>
      <p:ext uri="{BB962C8B-B14F-4D97-AF65-F5344CB8AC3E}">
        <p14:creationId xmlns:p14="http://schemas.microsoft.com/office/powerpoint/2010/main" val="19456144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This slide shows that comparison with </a:t>
            </a:r>
            <a:r>
              <a:rPr lang="en-US" baseline="0" dirty="0" err="1" smtClean="0"/>
              <a:t>OmniDB</a:t>
            </a:r>
            <a:r>
              <a:rPr lang="en-US" baseline="0" dirty="0" smtClean="0"/>
              <a:t> on FPGA. The </a:t>
            </a:r>
            <a:r>
              <a:rPr lang="en-US" baseline="0" dirty="0" err="1" smtClean="0"/>
              <a:t>OmniDB</a:t>
            </a:r>
            <a:r>
              <a:rPr lang="en-US" baseline="0" dirty="0" smtClean="0"/>
              <a:t> means the implementation using one FPGA image without FPGA-specific optimizations.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When table size is less than 16M, only one FPGA image is used ,then the speedup is limited. There are two reasons. First, </a:t>
            </a:r>
            <a:r>
              <a:rPr lang="en-US" sz="1200" dirty="0" smtClean="0"/>
              <a:t>The FPGA reconfiguration overhead &gt; the benefit from the reduced execution time. Second, Optimization level is limited for each operator kernel in one FPGA image.</a:t>
            </a:r>
            <a:endParaRPr lang="en-US" sz="1200" dirty="0" smtClean="0">
              <a:solidFill>
                <a:srgbClr val="00206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smtClean="0">
              <a:solidFill>
                <a:srgbClr val="002060"/>
              </a:solidFill>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78373666-B445-4705-BB8A-F90574925064}" type="slidenum">
              <a:rPr lang="en-US" smtClean="0"/>
              <a:pPr/>
              <a:t>55</a:t>
            </a:fld>
            <a:endParaRPr lang="en-US"/>
          </a:p>
        </p:txBody>
      </p:sp>
    </p:spTree>
    <p:extLst>
      <p:ext uri="{BB962C8B-B14F-4D97-AF65-F5344CB8AC3E}">
        <p14:creationId xmlns:p14="http://schemas.microsoft.com/office/powerpoint/2010/main" val="34673037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When table size is less than 16M, only one FPGA image is used ,then the speedup is limited. When the table size becomes larger, three FPGA images are used, and then the performance speedup becomes larger. And larger input table size will have higher performance speedup. The reason is that </a:t>
            </a:r>
            <a:r>
              <a:rPr lang="en-US" sz="1200" dirty="0" smtClean="0"/>
              <a:t>The FPGA reconfiguration overhead &lt; the benefit from the reduced execution time which comes from more aggregative optimizations for each involved kernel.</a:t>
            </a:r>
            <a:endParaRPr lang="en-US" sz="1200" dirty="0" smtClean="0">
              <a:solidFill>
                <a:srgbClr val="002060"/>
              </a:solidFill>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78373666-B445-4705-BB8A-F90574925064}" type="slidenum">
              <a:rPr lang="en-US" smtClean="0"/>
              <a:pPr/>
              <a:t>56</a:t>
            </a:fld>
            <a:endParaRPr lang="en-US"/>
          </a:p>
        </p:txBody>
      </p:sp>
    </p:spTree>
    <p:extLst>
      <p:ext uri="{BB962C8B-B14F-4D97-AF65-F5344CB8AC3E}">
        <p14:creationId xmlns:p14="http://schemas.microsoft.com/office/powerpoint/2010/main" val="15671838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a:t>
            </a:r>
            <a:r>
              <a:rPr lang="en-US" baseline="0" dirty="0" smtClean="0"/>
              <a:t> is </a:t>
            </a:r>
            <a:r>
              <a:rPr lang="en-US" altLang="zh-CN" baseline="0" dirty="0" smtClean="0"/>
              <a:t>the </a:t>
            </a:r>
            <a:r>
              <a:rPr lang="en-US" baseline="0" dirty="0" smtClean="0"/>
              <a:t>outline of our paper.</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First,</a:t>
            </a:r>
            <a:r>
              <a:rPr lang="en-US" baseline="0" dirty="0" smtClean="0"/>
              <a:t> we will talk about the background and motivations; Second, we will talk about the design; Third, the experiment is discussed; Fourth, the summary is presented. </a:t>
            </a:r>
            <a:endParaRPr lang="en-US" dirty="0" smtClean="0"/>
          </a:p>
          <a:p>
            <a:endParaRPr lang="en-US" dirty="0"/>
          </a:p>
        </p:txBody>
      </p:sp>
      <p:sp>
        <p:nvSpPr>
          <p:cNvPr id="4" name="Slide Number Placeholder 3"/>
          <p:cNvSpPr>
            <a:spLocks noGrp="1"/>
          </p:cNvSpPr>
          <p:nvPr>
            <p:ph type="sldNum" sz="quarter" idx="10"/>
          </p:nvPr>
        </p:nvSpPr>
        <p:spPr/>
        <p:txBody>
          <a:bodyPr/>
          <a:lstStyle/>
          <a:p>
            <a:fld id="{78373666-B445-4705-BB8A-F90574925064}" type="slidenum">
              <a:rPr lang="en-US" smtClean="0"/>
              <a:pPr/>
              <a:t>57</a:t>
            </a:fld>
            <a:endParaRPr lang="en-US"/>
          </a:p>
        </p:txBody>
      </p:sp>
    </p:spTree>
    <p:extLst>
      <p:ext uri="{BB962C8B-B14F-4D97-AF65-F5344CB8AC3E}">
        <p14:creationId xmlns:p14="http://schemas.microsoft.com/office/powerpoint/2010/main" val="1300681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92295C6-9E4C-49A5-BC66-A51585E995F3}" type="datetime1">
              <a:rPr lang="en-US" smtClean="0"/>
              <a:pPr/>
              <a:t>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11C234-576E-458D-ABFD-1D7ACB245E94}" type="datetime1">
              <a:rPr lang="en-US" smtClean="0"/>
              <a:pPr/>
              <a:t>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1881ABC-4917-4B59-B05E-90D4B16643CB}" type="datetime1">
              <a:rPr lang="en-US" smtClean="0"/>
              <a:pPr/>
              <a:t>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A491085-ED77-4A6C-A2B1-4331FC204E8C}" type="datetime1">
              <a:rPr lang="en-US" smtClean="0"/>
              <a:pPr/>
              <a:t>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2620B60-7704-40AD-80EA-3A55F858F29A}" type="datetime1">
              <a:rPr lang="en-US" smtClean="0"/>
              <a:pPr/>
              <a:t>1/9/2018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82B288C-2C13-4071-9AB0-9FDB40AC6243}" type="datetime1">
              <a:rPr lang="en-US" smtClean="0"/>
              <a:pPr/>
              <a:t>1/9/2018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DB1A09-37ED-4CBC-BAF3-B50EE00DE635}" type="datetime1">
              <a:rPr lang="en-US" smtClean="0"/>
              <a:pPr/>
              <a:t>1/9/2018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6648F79-50B3-4E31-A713-6EB725C4D5EF}" type="datetime1">
              <a:rPr lang="en-US" smtClean="0"/>
              <a:pPr/>
              <a:t>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6D54D5-2F64-4FA1-A2E1-39205CD73728}" type="datetime1">
              <a:rPr lang="en-US" smtClean="0"/>
              <a:pPr/>
              <a:t>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B24FC4-6E67-4705-B72A-21BEFED492CB}" type="datetime1">
              <a:rPr lang="en-US" smtClean="0"/>
              <a:pPr/>
              <a:t>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73C628-6B9A-43C7-9278-AED642181E17}" type="datetime1">
              <a:rPr lang="en-US" smtClean="0"/>
              <a:pPr/>
              <a:t>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D4880A-55B6-4C27-B657-FFEF2AF4450A}" type="datetime1">
              <a:rPr lang="en-US" smtClean="0"/>
              <a:pPr/>
              <a:t>1/9/2018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21.emf"/><Relationship Id="rId4" Type="http://schemas.openxmlformats.org/officeDocument/2006/relationships/oleObject" Target="../embeddings/oleObject2.bin"/></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071564"/>
            <a:ext cx="9144000" cy="1922462"/>
          </a:xfrm>
        </p:spPr>
        <p:txBody>
          <a:bodyPr>
            <a:noAutofit/>
          </a:bodyPr>
          <a:lstStyle/>
          <a:p>
            <a:r>
              <a:rPr lang="en-US" i="1" dirty="0" smtClean="0"/>
              <a:t>System Optimizations and Performance Tuning for New Generation FPGAs</a:t>
            </a:r>
            <a:endParaRPr lang="en-US" dirty="0"/>
          </a:p>
        </p:txBody>
      </p:sp>
      <p:sp>
        <p:nvSpPr>
          <p:cNvPr id="3" name="Subtitle 2"/>
          <p:cNvSpPr>
            <a:spLocks noGrp="1"/>
          </p:cNvSpPr>
          <p:nvPr>
            <p:ph type="subTitle" idx="1"/>
          </p:nvPr>
        </p:nvSpPr>
        <p:spPr>
          <a:xfrm>
            <a:off x="1371600" y="3429000"/>
            <a:ext cx="6400800" cy="1752600"/>
          </a:xfrm>
        </p:spPr>
        <p:txBody>
          <a:bodyPr>
            <a:normAutofit/>
          </a:bodyPr>
          <a:lstStyle/>
          <a:p>
            <a:r>
              <a:rPr lang="en-US" dirty="0" smtClean="0"/>
              <a:t>Bingsheng He</a:t>
            </a:r>
          </a:p>
          <a:p>
            <a:r>
              <a:rPr lang="en-US" dirty="0" smtClean="0"/>
              <a:t>NUS Computing</a:t>
            </a:r>
          </a:p>
          <a:p>
            <a:r>
              <a:rPr lang="en-US" dirty="0"/>
              <a:t>http://</a:t>
            </a:r>
            <a:r>
              <a:rPr lang="en-US" dirty="0" err="1"/>
              <a:t>www.comp.nus.edu.sg</a:t>
            </a:r>
            <a:r>
              <a:rPr lang="en-US" dirty="0"/>
              <a:t>/~</a:t>
            </a:r>
            <a:r>
              <a:rPr lang="en-US" dirty="0" err="1"/>
              <a:t>hebs</a:t>
            </a:r>
            <a:r>
              <a:rPr lang="en-US" dirty="0"/>
              <a:t>/</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
        <p:nvSpPr>
          <p:cNvPr id="6" name="AutoShape 2" descr="data:image/jpeg;base64,/9j/4AAQSkZJRgABAQAAAQABAAD/2wCEAAkGBwgHBgkIBwgKCgkLDRYPDQwMDRsUFRAWIB0iIiAdHx8kKDQsJCYxJx8fLT0tMTU3Ojo6Iys/RD84QzQ5OjcBCgoKDQwNGg8PGjclHyU3Nzc3Nzc3Nzc3Nzc3Nzc3Nzc3Nzc3Nzc3Nzc3Nzc3Nzc3Nzc3Nzc3Nzc3Nzc3Nzc3N//AABEIAKAApgMBIgACEQEDEQH/xAAcAAACAwEBAQEAAAAAAAAAAAAGBwAEBQIBAwj/xABFEAABAwMCAwQGBQgKAgMAAAABAgMEAAURBiESMUEHE1FhFCJxgZGhFSMyQmJDUnKCkrHB8BYkNDVTorLC0fElM0Rj4f/EABkBAAMBAQEAAAAAAAAAAAAAAAABAgMEBf/EACYRAAMAAgIBBAICAwAAAAAAAAABAgMRITESIjJBUQSBQmEjcZH/2gAMAwEAAhEDEQA/AHjUqVKAJUqV5mgD2vM1CoedCGqNf2fT6lsB0S5o/wDjsqBKT+I8h7OdLaRNVMrbYX5rPuV7tdrSVXCfHj46OOAH4Um5erNY6ufVHtLT7TJ2LUNGAB+Jzp8RVZvRrLT/AP5+/Mpl81RYiVSpHwTk/Kp8/o53+Q37EMaZ2paZj5Db0mUR/gMH96sCspfbFaxnu7VcFD8RbH+41mwtE21RT3OnL1MB/KTZCYyf2QQqtVGiSlshnSFkSenfznVn/TS9QvLM/o+aO2O2EZXaLgPYps/7q0Inavpp4hL/AKbG83GMgfsk1UVopRbId0lYFbfk5jqD8eGs2boeAn/3aVuTGdiu3zg+B+qs5Pwo9QeWYYdr1LZLqB6Bc4zxP3QsBXwO9a4IxnpSEl6Ptq3OGBe/RZXJMe7sKjOZ8ASBv7K6au+t9FOpTK9IVF6CQO+ZI8l9Pj7qfl9oaz1PuQ+dq9oC0x2mWq7KQxcR9Hyjt9YfqyfJXT2GjtK0qAIIIPKqTT6N5uaW0zqpUqUyyVKlSgCVKlSgCVKlSgCV8JclmIw4/JcS2y2niWtRwAK9lSG4sdb77iG2m0lS1qOAkDrSP1VqO5a+vLdqs7bnoQX9U1y48flF+AHPfl7aTejLLkUL+y9q3tDn3ySbVpdDqGXVcAcQD3r5/D+aPPn7Kq2bRkeJISi7NruV0xxC0xFbN56vOfdH870QaS0+lkLiWFz1kq4J174Rkn7zcf2cirlnxNMG02mFZ4ojwGg2nOVKJypw9VKJ3UfM1Cl9sxnG7flZg2/S8qQwlu7yER4oHqW225aaQPBS/tL+Q8q3osK2WSLwxmY0NgcyAEj3mr+3SsLWdlGoNPS4B/8AapPGz+mNxV9HRrxXBuJIUAQQQeorrG1LKwaxXG7N3X0KZbuVt/q5bkdVA7DGckkfMGjXSV5N+09DuSkpSt5H1iE8kqBwR8RQq2Kcirg1ydqwdV6qt+l48d65B1SX3OBIaTkjAySfIVZ1PbXbvYpkBiQYzr6MJdGfVPu3pGyYN0nX+NYJd89KSy93LclS1ONtOEZ4QT12pU9EZsjjpD9dYiXKLwSGW32HE54XEBQII8DWFI0qqKhX0BMVDSecR4d9GX5FBOU/qkVZ0ra7ta2HU3i8KuTjhBSVNhIb2xgeVb2KO0aa8lyhMah0jElSAy7HRYrqskIQVccOUfwK+6ryPwPOqlg1dfdEz02q8sOvRUHCmXVeshOftNq6jy5dNqdU+DFuEVyLOYbkMODCm3E5BoC1Pp9qLB9HuyXplkB+qlY45FuPiSd1t+OckDnkck1rlHPeFy/KA4s92hXiC3NtzyXmHBsodD4HwNXhSBhSrt2c38esH4UgcQ4FfVSm/wA5J5BX88qd9lu0S825mdAdDjLqcg9QeoI6EU5rZriy+fD7NCpUqVRsSpUqUASvFcqlDHaFqD+j+nHn2lAS3vqo4/Efve4b0N6JqvFNgF2qaofulxTpy05W2lYS93fN53ogeQ/f7K0tM6YLAcskN3hcOFXqaj7QyARHbPTzPQeZ2HdB25+NHN8Q2HLjKdMW1h3fLhzxunyA/cacljtTNntrUNgqWE5UtxX2nFk5UtXmSSahLfLObFLuvOjH1bIuWn9NBWmILK1R8Dui2VBDQ5kJBGf++dLrUusbvqO1mfanFQI1vCPSUtu4cW4s4yAPujG2fGmnq+6O2bT06dHjqedbb9VKehOwUfIczX5+fhxpbUdNj9MkviKXJoWjHCoHcjHMdaVPQvyKcvg/RdjuEe62qNNiLUtl5GQpQwTjY594NCXafLl2Jy1X+396VRni28gZ7tbahyXjzAwfOtnQl8tt5scc2xKWQw2ltcfkWiBy9nnRHsavtHRrzjhi10zoT06Y9fNTNMFyZl1MFtGENlXU567/AD8aMtL2FjTlpTbori3G0rWvjc5nJz08OXurYGBtXK3UIGVrSkeKjihJIJxzBhap00jUDSUi4TYTqRw95GcxlPUFPI+2sLVWkY0DQ6o1iaWh+C4JjCs5WpxPMnxJBNHLT7Tv/qdQv9FQNdnehrYOJYMaH1dE1PbWlhxtE9KcPx+LcEdQPA86JFutoWlCnEhSs8IJGTjntVYWm3JlplpgRRISch4MpCwfbiltqi1RndXyE3q4reuLrGbZHUpUZngJI4O9GTnnnbqOdJtpCdVE88mpcu0VTMx9mBEbkI73gjqW53aXEJz3q+I7YGMDxNbmmdW27U6lswm3jwMJW9xt+qkq5oJ5Ejr7aTE+MEf+OTJa79KkqQ06ptw8KchIbdGxAyfVPDvRv2VW+6PuRZ7U5li1xgtpUNpwrU6o5J4xyThRKh138KmabZhGW3emaOptPRorSrdM/uGWv6l371tkHlg/4aieXQ7cjsIaOvU3Q+p3bTdjwxFu8D6TySfuup8jt7j5U7Z0RibDdiSmw4w8kocQrkoGlFrSwuybc/FcBeudlQC24R60qGeRz1UnkfZ506Wis0OWqnscTagtIUkgpIyCOtd0veyPUarpZ1WyUvikwcBKid1tH7Pw5fCmCKpPaN4tXKpHtSpUplnlI/tKmu6j1wxZYiypLC0xkBPLvFEFZ938DTnuEpMKC/KcwEstqWc+QzSL0QtSrjedSPJ4nYcd15Ger7hISPnj31F/Ry/kPeo+xmaTtrK7k7IZSPQrYj6PgjplO7q/aVYH6powHnWZYIItFjixVKyppod4pXNSuaiffmsx3UirVBeut+djR7ctX9WSEq75ST9kEciTz2qujedSgifaQ+0ttxIUhaSlSTyIPMUPae0RaNO3B2bbEPJU413fAt0rSkZycZ36Dmau6d1FEv8AHU5EQ+0pGOJp9soUAeRweYPjWyTRpMeprkALlo2baNQtX7SPA2pbgEuEVcKHEk+sR0Hjjx5UeJO24warXO5Q7bFVJuEhuOwjmtxWBQRL7VLaXlsWa2zrk4P8JGB/E/KlxJG4xlvW2sZMCY3ZNPMCVeHsbYyGc8ifPr4Y50JRNLy764XbjcLnd3eLDjkdwNx0q8AtX2sfhGK++jLTKmy1vXNt1qbeHnXHy4kpWiO2RxJAOCONSkj9EUybzLbsliky2o3G3EYJQy2MZAGwHhS75M0na8q6FjO0Wu0p9IjLu9rKRnv23RIbR+lwYUB54xW3pPWVxiXNmyarW2px4AxJ6CCiQDy3Gxz0I94ol0Jel3/TrEx6OWHQVNrQVZ3B5g88HzoT19p5HdyIsNsjLSp0FLad23EEd6hIG+FBQUAORBNGvlCa8UrkZwOeVL7tERfJE70GBZE3SJLjYStbf9ldBPrcXTbB38Kp2rtQRBixo+orPcIrqW0pW+W/VWRzVg4P76OrLfbbfY3pFrltvo+8Ad0+0cxT7NPKci1sBdPaIudikwG1tQLjBf3mpfZQTHVjmhWMkdKNdP6ct2n/AEoWxtbaZLneLQVlSUnGMJzyFbAHXrVS4vyo7KXIcYSV8aQWyvh9UnBIPlzppJFTEx0Wz0oZ1mx6O1HvrKMuW9R79I/KRlbOpPkB636td3jWVtsbaDekPRFrzwIUnjK8c8cOfGrGn7tH1PZFSg0pLLqltltwYITuNx5jB99HYOpr07FDGWdEdoqO7J9BU4kZ+6phzkfdn/KafIORsc0iddwlKsMB5wEv21922PHO5Sk5bJ/Vx8TTZ0PcjdtK22WpWXC0EufpJ2P7qme2jDA/GnJv1KlSrOsE+06WYeibisK9ZxKWhj8Sgn+JoA0DEC7BEZI/vC9NBQ/OQ0O8I9nq0WdtLhRpBCB+UmNjPuUf4Vj9niP6lpVPCADImvZ8SApOfnWb9xyXzm/QzZ8qPCiOyZjqWo7aSpxauQFKeG5omXd25EvU78yPGz6LDnJcS214DiUkZA29vWmXqSGZluS2GPSEodQ4tj/ESk5IrMlMaZk5NxtTSPORCI5DxxiqaNcibZd0256e29cy/FeDyu6bVEUS2EIJAwTz3znp0q1f7xGsVqfuEwkNtJ2SnmpXRI8yalgjwY1njItSAiEU8bKR4KPF19tAvaQTetVWTTylERATJlAHmP8ApKvjTfCHVeMb+TBajztVzmLnf23ZSpRJt1qacKUcH56z91sfnc1fKj+36UeTHS3IuDkVoDAi2sCM0j3j1j7SfhQfprtCskOTIdmsSEvSXCC6hA4GmknDaAM5wBjkOZNNK3To1yiNy4TyHmHBlK0HINStMzxKH87ZRten4dtlmW07Nef7stBUqU49hJIJA4icbgfChntFaelT7bbRe3be3MUUIbaZKg4oEH1jnAAxR7S97Ru8/pPpXuUNrc9JVhLisJO3XY7VT6NMiSjSKmh4btn1Uq2N6jcnZY79xjuT3SkkABSVZxnYD3UdXayRLsphclUhDjBUW3I76mlDIwd0kGgLSrSWe051tpqI2ym2IDSYh+q4NscNNClPQsSXjoGZWlVpaUmFd5wB5tTV+lNK8iF5OPYaALtYJlpufpFjaNqvbSC4mPHJLE1sc+78x1bPu8acL7iGW1OOLCEpHEpSjgAeJpY6v7QbDMjriw/SXZDKu8jS2kjDbo+yoZO46HHMZpUkTlUSueAx0VqZnU9nTKSAiQ2eCQ0Puq8vI1uvhSmlhCuFXCcHHI+NKnS8wQO0GJIipDcHUMPvlNDkhzmcexQV+1TZPI5qpe0Xip1PPYAaR005Nukm+apeamXQK4UMAhSYwGceruAfLpR6lCEbIAGegpfuO6xZuE+HpuBa0w0SV4feB4lFXrHkehPhWrpuHq5N3EnUU2G8x3CkBphOOBRIIPLfl40IUNLhIHteQx3eqo4HqqYjXFP6QyhXyQKtdiUnvdNyoyjkx5ZAHgFAH/mretko9OuCFgcL1gkAn9E5H+qsDsIcyLy0eY7hXyWP4VH8zLrMhtVKlStDrF/20tlWkG1J/JzG1H2YUP41k9ni1CDpU7cPfTWf9Sv4UUdqMUy9E3FITxFoJeH6qgf3ZoE0BKCLFAeUf7Be0Z/Ch5Pd7+9VZv3HJfGbf9DauUP0tLI9IdYDbnGS2rBVsds++l9qG7Sb3c1af0fIkuSE7SZ5fV3bI6jbmf5Hkw7pAbukJyG+t1DTgwstOFCiPDI3rMtOkrZZmSxbzLZaJyUplLGT7c5q2tm1zTfBqWyMYlvjRlud4pppKCv84gYzS41GlSe1JY5F61LS3nqeBVMe2pYZhpjRnS6iP9Tkr41Ap2wo+PjQN2qQ5EN22aot6eJ63OYdT4tk53+Y/WpUuBZV6OPgSafVQlPgMEUcdnGqnbIJFvDzCG31pU2h9Di/XOxA4BtnbnWHqq2tx5SbhbsrtdwJejrHJBO6mz4FJ2x4Vib8iPjvWXTPLVPFfA839ayY85uC85CRKc+w0qLJBP8AlrE1TcpMi/abkXBop7qWcJZjugkY6BQyT7Kodn17tLmnbpbL87EDmSWi8RxugpPXmcEc+m1fC8AXW5WVufJmolGzMvx1MHiU65wA4AxnjUc8qre0drt1Key9a5DkPXThtyHVli2ttJEiM4CcAZJQBxfwoic1tKauCLe4uEmWvHCyY0niOeX3fI0I2OH9G6vsReeuX0rJUrvo0xeC2kA44j95JGcYyMpq9eb9amez8sRX4z11kn64KwXONS/WWfMfLamuEE05lvej4dourpUq2OWdx2Ol1a0982226hQRzweIAYNLTO5NQkqJUpWSTkkknPnWhYbS7ebgmMhQbZA45D6tkstjmpR/dUN7OK6eWgwtCFm7aBazxOJbU4U9QkrJHyFO4naldoGN9O6wkX1ppSLXb2fRIAUOYA4R/lyT+kPCme8ooZWoJ4iEk8PjWs9Hp4FqWwBmXy7W2/XFdv0pKlhTmDJbdUEuYAAPDjGenurT07qO73a7IjT7DItrYYUtS3lZCyCAANvPND9w1XIbZjW7Tc5VxvlyXxLJWHEQx1GMerjJ2Pgc0YadReI3ew71ME5aEJWmUGg3nOcpIG2xHwNC7FPu4Zia2OZ05SlAJZsMnIz+cQB+6h/sIb/vp3yYR/rP8aua7lJxql/i2biRoA/SUSsj4LFffsSilrT0uStOPSJZwfEJSB+/NT/MjvOv2MepUqVodZUucRM63SYi9w80pB94pF6GQ4ZN706pQS/JjqDOdsPtHKfmM+6n6eVI7tAiO6X181eIySG3XUy28ciobLT7/wDdUX9nL+QtascVjuKbnaIk5IOX2kqI8DjcfHNCOre0CLHS5bLEr0i8LWWgkpwGTnCionwrQ0nNZZuMm3tqBjSk/SEFXQtr+2kfoq3/AFquvNtWu6PKt9i75+WlT7shBQniUMDhJO+eWOfWn2uDV7qeGVtDWxixWtMddzEuVJWXnj3gILhHrcPl/wB0SyGG5DC2X0JcbWkpUkjYg9KAZmoUnUNtg2yzW524vjvO8zvFQRgqUQkYOOLI/wCaOLfcItwaLkOQ2+hKihSmzkBQ5imhw1rQq7zpe56T9JECKLxp59RU7CczxNezG4I/OHlkdaEjbdN3FXHbr4q3Z5xriyTwHwDidiPaM1+i+EedZF00xY7oouT7VDecPNxTQ4/2hvUuTG/x99CdsVrNgvtslC6Q5MSWh9CX2Fng9VJBSScdSK29OzYQ1pptx6TGCW9PNJKlOJwhXBjGeh5iqluYXp++PafnNtLU1JMm2KkgFDoUMKbJOwChjfopNGQbbuyibU3boqkqQFxnoyA60RnjCklPPwI22yDvSS0RjjRn6suNvc1/pN5qZGWlBe41pdSQkY6nNB13hHUD1mix50ZpqPalPOuOL9RoBW+cZxzFMB2Iq0oEi5rsqWkylFTao6Spxk44Up4Ug8Q3wADnlQlq2V6VIXbbVBQxcrmER0RkNpSqOxnPr8PJSyASOgSKHyPJO9t/IMqslihHvLlqZl1IGS1b2FOLV5BRwB7cURWeyT9UR0wLRBVZdPFQU8656zsnzJ24j5ch50xrDouxWqNGCbZEclNNpCpC2gpalY3Vk+dEYSAMAYHhTUjj8dLspWi2RbPbmYMFvu2GU4SOZPmT1PnXw1DPdiQeCGtlE2QoNR1PnCEqP3j4gDJx1xjrWktQSkqJwBzzQjdLdG1e+lq5x0fR2CqGsSFIdURzcCMYwenlv1qv9HRXC0geh313SF6mR9TMMzZr7aHIz9uijvHgSoKBHtHWjux3V25Wn6RlQnIKFcSktPH1wgdVDoduVBrOldR6emBenLymXGUtKHWZqeNbadtwfIb42+dEmsHVriMWZhWJFzX3SlZ+wyBl1Z8PVyPaRUyZw6W9iw11OIsMNJP192lu3JwDnwfZb/yhPwNNLQNtNq0nboyhhZaDix5q3P76Uzrf9M+0RpiOnMJDiGkjoiO1/wA7/tU+kpSlICQABsAKJ72RgW7dfo6qVKlWdR4aEe0rTv0/px3uE8UuL9cyOqsc0+8fPFF9crGU4pNbJqVUtMR+g7q/KgptzBH0pbFGTbePbvU/lGSfMcv/AMpvQLg3eLQ3Nt7vAXmzwFY3QrqFDxB2IpUdpmnZOnr23qGz8TUdxwLKkfkHs+Hgr/kda3tNamaKF3yK2fRX1AXaI3uYzvLv0jqk9fj0NQvo5sVOH4UW9OwEaUt1z1FqpxAnyXFl5QGfV4iAlI68XPHmKqWK46gnSJeqUx0xbaGghi3hvK5KQdjtyV4H3cqLLzp206mMCVJbQ8lhYcbUnBDifA+INWb8m4swEu2VcZLrB4i1I9VDiAN08Q+z7cVWjXw110abSuNKVHIyMlJ5j219OdADl2kvdoLlruMmREbcipXb0suYQpeMqyfvHngHbbzrSiatSzc2bPdYriLg4x3/APV0lxITkj1gN0nbPIjfnTTKWRF3Vuk7dqiIlmakpcbz3T7ey2z/ABHlQNJ01rS2lDbSLdfGGtmlS0ZcQOm5IPzpoQ5saY3xxX23U5IyhWceVWMjxo0mKsc1yKaPZdcS3z3VutVnyMGQ0j6zH6RKj8MUX6P0RB04pcpTiplxdB7yS7ud+YT4fM+dFWR41y44htJUtSUpHMqOBSUpBOKU9neK8WoJBUogADJJ8KoT7q1Fg+mNNrltZG8cpOBnBVkkDA5n2UG32c+9qw6d1LgWm4sYiqYWWwpWeSjzJ6Y5cvGm3oqrUoJNRpXMgstoeAgSHEokqQoham17DhUOW5Tv4UAXS13TRbkcyDIummo7veIKHCh6KfHIxsM8uRrQm6c1VpqM61YZn0ra+Ej0KQfrGx+E8tvaPZTAiKROtjS3mTwvsjjadT4jcEUuzPXn3wzLtRSVy78+txiO+wgJQ8eEBtAJ7xY/OOT7gKAtYahdZt8i6es3NuyCxBQrYsQ87rPgpfP3jwrf1RfIs1p5b6v/AAEJWH1JP9veB2ZR4pB+0fd40C6etk3tA1YudcB/UkKBfx9lKR9lpP8APLJqae+DPLT4iewx7HdOmDanLxJQUvTdmQR9locj7zv7MUyBXLLaGm0ttpCUJGEpHICu6tLSOjHCiVKJUqVKZZKhqVKAK0+DHuER2JLaS6w6kpWhXIg0j75Z7r2dagbmwFqchuEpQ4oZS4k823Omf+6fNVblAi3OI7EnMpeYdGFIUNjUudmOXErX9i80tqJtqM5MsaHJFuB45dpT6z0Inmtoc1IPPh+HhRq99H6nsriGJRchyU8BcjuYPmM8wfEUp9TaLu+kZ30rp991cVtWUrbz3jI8FD7yfP4ivtYNYxZj5dU+iyXdf2pCE8UWWf8A7EfdPmPj0qVWuGZTlc+nJ2Gl8sU2dcrTOnrjNMWlZdXKbJK3QBy4ceryydzWDpBu53u7XHU0ZSW/S5ojJK0ZU3HT9op32OwG+aKmNUmK2n+kUT0MEbTGVd7FX5hYHq/rAe01eftFpvEcrZXhp45W5EfKA55EpO9VpGjhN7QM65sjrqVv2JbkedESqdxMnBdUVAYPjsk1qaavX9I02ycw881/V1GSyhXq8YIHCQR45O2MjHStyLAWxPkvl5CmnUNoQ0GuHuwnO2c78/AVl6Y0y3p+53d5hQ7ia8HGkf4Yxun4k/uo+SvF+W0ZWu7hPtd/04tmc81ClSwzIZSQEq3GN8Z8eta97tca4XRtmWgKRLhvMkKO3ECkggeOOLfyrnXWnHdR2tlqI+lmVHfS+ytYJTxDocVbiR7nKlx5N1RGY9HSeFphwucS1DBUSQMDGcDz50fIafk0ArOmr1ZIRmaTfVIhrSpMm0SDxDI9VaUk9c58D7eVaU+3ua00LFUhpbN3iqHdhYKVsvJOCD1HQ/A0ZRorcByZIXIWUPud4oLICG9sbfDJ86y39UxlrWzY467pJCsK7jZpB/G4dh7snyo0heEre3waUFyRDtTbl6kx++abHfvJPCjYbq35UI6h1C3cIDzzkhyDp/JSp8ZS9P8AFDI5hJ5cXM9Nt6wdTaqjMOcV3ktXeag5bt0YkQ46h1Wrm4R/IHOsS12PUHaHcEzpzpahcg+pPqIT+a2nr/OaTfwZ3m/jPJ8EJuXaBemIUBgRrfGTwtNJT9VEb5ZP4j8/YKdmnrJEsNrZgQUYbQN1n7S1dVHzqafscGwwEw7eyG2xupR3Us+Kj1NagpzOjTFi8eX2QV7UqVRsSpUqUASpUqUASpUqUAclIIINAuquzW03grkwALfMVkkto9RZ80/8UeV5SaTJuJpaaEMu2610Q4osB5UPqWvrmFjzQdx8B7akDWNq4+8mWp63SCfXkWeQWMnxU2CAT8afCgCOQrEu2krDd8mfbGFrP5RKeFXxG9T4fRzvBU+xgRB1vG2TF1eB+C6285/aRgVtMatlKwW7pph9JHP0tTZ+GDVSX2RWR0kxZk+MT040rHzGfnWY52NNlX1V7Vjr3kYE/Iil6hf518BA5qyYkjjuOmGgevp6lfLArIma1aTkSNXQk/htkBTiv2jkVVR2Mo4hxXrb8Mbf/VWhG7ILO2oKl3Ge9jmkKQgH5Z+dHrD/ADv4BO5axsyyVGJcLw4OSrtIPc+3uh6vyqulzWWsQI0OO63BGwbjp9HjoHmds/P2U2bTofTlqKVxrY0pxPJx76xXxNEKEJSkBIASOQAxT8X8jWC697/4LjS/ZXBhFMi/OJmujkwkENA+z71MZpltptLbSAhCRhKUjAA8MV3XtUkkbxjmFwiVKlSmWSpUqUASpUqUAf/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sp>
        <p:nvSpPr>
          <p:cNvPr id="7" name="AutoShape 4" descr="data:image/jpeg;base64,/9j/4AAQSkZJRgABAQAAAQABAAD/2wCEAAkGBwgHBgkIBwgKCgkLDRYPDQwMDRsUFRAWIB0iIiAdHx8kKDQsJCYxJx8fLT0tMTU3Ojo6Iys/RD84QzQ5OjcBCgoKDQwNGg8PGjclHyU3Nzc3Nzc3Nzc3Nzc3Nzc3Nzc3Nzc3Nzc3Nzc3Nzc3Nzc3Nzc3Nzc3Nzc3Nzc3Nzc3N//AABEIAKAApgMBIgACEQEDEQH/xAAcAAACAwEBAQEAAAAAAAAAAAAGBwAEBQIBAwj/xABFEAABAwMCAwQGBQgKAgMAAAABAgMEAAURBiESMUEHE1FhFCJxgZGhFSMyQmJDUnKCkrHB8BYkNDVTorLC0fElM0Rj4f/EABkBAAMBAQEAAAAAAAAAAAAAAAABAgMEBf/EACYRAAMAAgIBBAICAwAAAAAAAAABAgMRITESIjJBUQSBQmEjcZH/2gAMAwEAAhEDEQA/AHjUqVKAJUqV5mgD2vM1CoedCGqNf2fT6lsB0S5o/wDjsqBKT+I8h7OdLaRNVMrbYX5rPuV7tdrSVXCfHj46OOAH4Um5erNY6ufVHtLT7TJ2LUNGAB+Jzp8RVZvRrLT/AP5+/Mpl81RYiVSpHwTk/Kp8/o53+Q37EMaZ2paZj5Db0mUR/gMH96sCspfbFaxnu7VcFD8RbH+41mwtE21RT3OnL1MB/KTZCYyf2QQqtVGiSlshnSFkSenfznVn/TS9QvLM/o+aO2O2EZXaLgPYps/7q0Inavpp4hL/AKbG83GMgfsk1UVopRbId0lYFbfk5jqD8eGs2boeAn/3aVuTGdiu3zg+B+qs5Pwo9QeWYYdr1LZLqB6Bc4zxP3QsBXwO9a4IxnpSEl6Ptq3OGBe/RZXJMe7sKjOZ8ASBv7K6au+t9FOpTK9IVF6CQO+ZI8l9Pj7qfl9oaz1PuQ+dq9oC0x2mWq7KQxcR9Hyjt9YfqyfJXT2GjtK0qAIIIPKqTT6N5uaW0zqpUqUyyVKlSgCVKlSgCVKlSgCV8JclmIw4/JcS2y2niWtRwAK9lSG4sdb77iG2m0lS1qOAkDrSP1VqO5a+vLdqs7bnoQX9U1y48flF+AHPfl7aTejLLkUL+y9q3tDn3ySbVpdDqGXVcAcQD3r5/D+aPPn7Kq2bRkeJISi7NruV0xxC0xFbN56vOfdH870QaS0+lkLiWFz1kq4J174Rkn7zcf2cirlnxNMG02mFZ4ojwGg2nOVKJypw9VKJ3UfM1Cl9sxnG7flZg2/S8qQwlu7yER4oHqW225aaQPBS/tL+Q8q3osK2WSLwxmY0NgcyAEj3mr+3SsLWdlGoNPS4B/8AapPGz+mNxV9HRrxXBuJIUAQQQeorrG1LKwaxXG7N3X0KZbuVt/q5bkdVA7DGckkfMGjXSV5N+09DuSkpSt5H1iE8kqBwR8RQq2Kcirg1ydqwdV6qt+l48d65B1SX3OBIaTkjAySfIVZ1PbXbvYpkBiQYzr6MJdGfVPu3pGyYN0nX+NYJd89KSy93LclS1ONtOEZ4QT12pU9EZsjjpD9dYiXKLwSGW32HE54XEBQII8DWFI0qqKhX0BMVDSecR4d9GX5FBOU/qkVZ0ra7ta2HU3i8KuTjhBSVNhIb2xgeVb2KO0aa8lyhMah0jElSAy7HRYrqskIQVccOUfwK+6ryPwPOqlg1dfdEz02q8sOvRUHCmXVeshOftNq6jy5dNqdU+DFuEVyLOYbkMODCm3E5BoC1Pp9qLB9HuyXplkB+qlY45FuPiSd1t+OckDnkck1rlHPeFy/KA4s92hXiC3NtzyXmHBsodD4HwNXhSBhSrt2c38esH4UgcQ4FfVSm/wA5J5BX88qd9lu0S825mdAdDjLqcg9QeoI6EU5rZriy+fD7NCpUqVRsSpUqUASvFcqlDHaFqD+j+nHn2lAS3vqo4/Efve4b0N6JqvFNgF2qaofulxTpy05W2lYS93fN53ogeQ/f7K0tM6YLAcskN3hcOFXqaj7QyARHbPTzPQeZ2HdB25+NHN8Q2HLjKdMW1h3fLhzxunyA/cacljtTNntrUNgqWE5UtxX2nFk5UtXmSSahLfLObFLuvOjH1bIuWn9NBWmILK1R8Dui2VBDQ5kJBGf++dLrUusbvqO1mfanFQI1vCPSUtu4cW4s4yAPujG2fGmnq+6O2bT06dHjqedbb9VKehOwUfIczX5+fhxpbUdNj9MkviKXJoWjHCoHcjHMdaVPQvyKcvg/RdjuEe62qNNiLUtl5GQpQwTjY594NCXafLl2Jy1X+396VRni28gZ7tbahyXjzAwfOtnQl8tt5scc2xKWQw2ltcfkWiBy9nnRHsavtHRrzjhi10zoT06Y9fNTNMFyZl1MFtGENlXU567/AD8aMtL2FjTlpTbori3G0rWvjc5nJz08OXurYGBtXK3UIGVrSkeKjihJIJxzBhap00jUDSUi4TYTqRw95GcxlPUFPI+2sLVWkY0DQ6o1iaWh+C4JjCs5WpxPMnxJBNHLT7Tv/qdQv9FQNdnehrYOJYMaH1dE1PbWlhxtE9KcPx+LcEdQPA86JFutoWlCnEhSs8IJGTjntVYWm3JlplpgRRISch4MpCwfbiltqi1RndXyE3q4reuLrGbZHUpUZngJI4O9GTnnnbqOdJtpCdVE88mpcu0VTMx9mBEbkI73gjqW53aXEJz3q+I7YGMDxNbmmdW27U6lswm3jwMJW9xt+qkq5oJ5Ejr7aTE+MEf+OTJa79KkqQ06ptw8KchIbdGxAyfVPDvRv2VW+6PuRZ7U5li1xgtpUNpwrU6o5J4xyThRKh138KmabZhGW3emaOptPRorSrdM/uGWv6l371tkHlg/4aieXQ7cjsIaOvU3Q+p3bTdjwxFu8D6TySfuup8jt7j5U7Z0RibDdiSmw4w8kocQrkoGlFrSwuybc/FcBeudlQC24R60qGeRz1UnkfZ506Wis0OWqnscTagtIUkgpIyCOtd0veyPUarpZ1WyUvikwcBKid1tH7Pw5fCmCKpPaN4tXKpHtSpUplnlI/tKmu6j1wxZYiypLC0xkBPLvFEFZ938DTnuEpMKC/KcwEstqWc+QzSL0QtSrjedSPJ4nYcd15Ger7hISPnj31F/Ry/kPeo+xmaTtrK7k7IZSPQrYj6PgjplO7q/aVYH6powHnWZYIItFjixVKyppod4pXNSuaiffmsx3UirVBeut+djR7ctX9WSEq75ST9kEciTz2qujedSgifaQ+0ttxIUhaSlSTyIPMUPae0RaNO3B2bbEPJU413fAt0rSkZycZ36Dmau6d1FEv8AHU5EQ+0pGOJp9soUAeRweYPjWyTRpMeprkALlo2baNQtX7SPA2pbgEuEVcKHEk+sR0Hjjx5UeJO24warXO5Q7bFVJuEhuOwjmtxWBQRL7VLaXlsWa2zrk4P8JGB/E/KlxJG4xlvW2sZMCY3ZNPMCVeHsbYyGc8ifPr4Y50JRNLy764XbjcLnd3eLDjkdwNx0q8AtX2sfhGK++jLTKmy1vXNt1qbeHnXHy4kpWiO2RxJAOCONSkj9EUybzLbsliky2o3G3EYJQy2MZAGwHhS75M0na8q6FjO0Wu0p9IjLu9rKRnv23RIbR+lwYUB54xW3pPWVxiXNmyarW2px4AxJ6CCiQDy3Gxz0I94ol0Jel3/TrEx6OWHQVNrQVZ3B5g88HzoT19p5HdyIsNsjLSp0FLad23EEd6hIG+FBQUAORBNGvlCa8UrkZwOeVL7tERfJE70GBZE3SJLjYStbf9ldBPrcXTbB38Kp2rtQRBixo+orPcIrqW0pW+W/VWRzVg4P76OrLfbbfY3pFrltvo+8Ad0+0cxT7NPKci1sBdPaIudikwG1tQLjBf3mpfZQTHVjmhWMkdKNdP6ct2n/AEoWxtbaZLneLQVlSUnGMJzyFbAHXrVS4vyo7KXIcYSV8aQWyvh9UnBIPlzppJFTEx0Wz0oZ1mx6O1HvrKMuW9R79I/KRlbOpPkB636td3jWVtsbaDekPRFrzwIUnjK8c8cOfGrGn7tH1PZFSg0pLLqltltwYITuNx5jB99HYOpr07FDGWdEdoqO7J9BU4kZ+6phzkfdn/KafIORsc0iddwlKsMB5wEv21922PHO5Sk5bJ/Vx8TTZ0PcjdtK22WpWXC0EufpJ2P7qme2jDA/GnJv1KlSrOsE+06WYeibisK9ZxKWhj8Sgn+JoA0DEC7BEZI/vC9NBQ/OQ0O8I9nq0WdtLhRpBCB+UmNjPuUf4Vj9niP6lpVPCADImvZ8SApOfnWb9xyXzm/QzZ8qPCiOyZjqWo7aSpxauQFKeG5omXd25EvU78yPGz6LDnJcS214DiUkZA29vWmXqSGZluS2GPSEodQ4tj/ESk5IrMlMaZk5NxtTSPORCI5DxxiqaNcibZd0256e29cy/FeDyu6bVEUS2EIJAwTz3znp0q1f7xGsVqfuEwkNtJ2SnmpXRI8yalgjwY1njItSAiEU8bKR4KPF19tAvaQTetVWTTylERATJlAHmP8ApKvjTfCHVeMb+TBajztVzmLnf23ZSpRJt1qacKUcH56z91sfnc1fKj+36UeTHS3IuDkVoDAi2sCM0j3j1j7SfhQfprtCskOTIdmsSEvSXCC6hA4GmknDaAM5wBjkOZNNK3To1yiNy4TyHmHBlK0HINStMzxKH87ZRten4dtlmW07Nef7stBUqU49hJIJA4icbgfChntFaelT7bbRe3be3MUUIbaZKg4oEH1jnAAxR7S97Ru8/pPpXuUNrc9JVhLisJO3XY7VT6NMiSjSKmh4btn1Uq2N6jcnZY79xjuT3SkkABSVZxnYD3UdXayRLsphclUhDjBUW3I76mlDIwd0kGgLSrSWe051tpqI2ym2IDSYh+q4NscNNClPQsSXjoGZWlVpaUmFd5wB5tTV+lNK8iF5OPYaALtYJlpufpFjaNqvbSC4mPHJLE1sc+78x1bPu8acL7iGW1OOLCEpHEpSjgAeJpY6v7QbDMjriw/SXZDKu8jS2kjDbo+yoZO46HHMZpUkTlUSueAx0VqZnU9nTKSAiQ2eCQ0Puq8vI1uvhSmlhCuFXCcHHI+NKnS8wQO0GJIipDcHUMPvlNDkhzmcexQV+1TZPI5qpe0Xip1PPYAaR005Nukm+apeamXQK4UMAhSYwGceruAfLpR6lCEbIAGegpfuO6xZuE+HpuBa0w0SV4feB4lFXrHkehPhWrpuHq5N3EnUU2G8x3CkBphOOBRIIPLfl40IUNLhIHteQx3eqo4HqqYjXFP6QyhXyQKtdiUnvdNyoyjkx5ZAHgFAH/mretko9OuCFgcL1gkAn9E5H+qsDsIcyLy0eY7hXyWP4VH8zLrMhtVKlStDrF/20tlWkG1J/JzG1H2YUP41k9ni1CDpU7cPfTWf9Sv4UUdqMUy9E3FITxFoJeH6qgf3ZoE0BKCLFAeUf7Be0Z/Ch5Pd7+9VZv3HJfGbf9DauUP0tLI9IdYDbnGS2rBVsds++l9qG7Sb3c1af0fIkuSE7SZ5fV3bI6jbmf5Hkw7pAbukJyG+t1DTgwstOFCiPDI3rMtOkrZZmSxbzLZaJyUplLGT7c5q2tm1zTfBqWyMYlvjRlud4pppKCv84gYzS41GlSe1JY5F61LS3nqeBVMe2pYZhpjRnS6iP9Tkr41Ap2wo+PjQN2qQ5EN22aot6eJ63OYdT4tk53+Y/WpUuBZV6OPgSafVQlPgMEUcdnGqnbIJFvDzCG31pU2h9Di/XOxA4BtnbnWHqq2tx5SbhbsrtdwJejrHJBO6mz4FJ2x4Vib8iPjvWXTPLVPFfA839ayY85uC85CRKc+w0qLJBP8AlrE1TcpMi/abkXBop7qWcJZjugkY6BQyT7Kodn17tLmnbpbL87EDmSWi8RxugpPXmcEc+m1fC8AXW5WVufJmolGzMvx1MHiU65wA4AxnjUc8qre0drt1Key9a5DkPXThtyHVli2ttJEiM4CcAZJQBxfwoic1tKauCLe4uEmWvHCyY0niOeX3fI0I2OH9G6vsReeuX0rJUrvo0xeC2kA44j95JGcYyMpq9eb9amez8sRX4z11kn64KwXONS/WWfMfLamuEE05lvej4dourpUq2OWdx2Ol1a0982226hQRzweIAYNLTO5NQkqJUpWSTkkknPnWhYbS7ebgmMhQbZA45D6tkstjmpR/dUN7OK6eWgwtCFm7aBazxOJbU4U9QkrJHyFO4naldoGN9O6wkX1ppSLXb2fRIAUOYA4R/lyT+kPCme8ooZWoJ4iEk8PjWs9Hp4FqWwBmXy7W2/XFdv0pKlhTmDJbdUEuYAAPDjGenurT07qO73a7IjT7DItrYYUtS3lZCyCAANvPND9w1XIbZjW7Tc5VxvlyXxLJWHEQx1GMerjJ2Pgc0YadReI3ew71ME5aEJWmUGg3nOcpIG2xHwNC7FPu4Zia2OZ05SlAJZsMnIz+cQB+6h/sIb/vp3yYR/rP8aua7lJxql/i2biRoA/SUSsj4LFffsSilrT0uStOPSJZwfEJSB+/NT/MjvOv2MepUqVodZUucRM63SYi9w80pB94pF6GQ4ZN706pQS/JjqDOdsPtHKfmM+6n6eVI7tAiO6X181eIySG3XUy28ciobLT7/wDdUX9nL+QtascVjuKbnaIk5IOX2kqI8DjcfHNCOre0CLHS5bLEr0i8LWWgkpwGTnCionwrQ0nNZZuMm3tqBjSk/SEFXQtr+2kfoq3/AFquvNtWu6PKt9i75+WlT7shBQniUMDhJO+eWOfWn2uDV7qeGVtDWxixWtMddzEuVJWXnj3gILhHrcPl/wB0SyGG5DC2X0JcbWkpUkjYg9KAZmoUnUNtg2yzW524vjvO8zvFQRgqUQkYOOLI/wCaOLfcItwaLkOQ2+hKihSmzkBQ5imhw1rQq7zpe56T9JECKLxp59RU7CczxNezG4I/OHlkdaEjbdN3FXHbr4q3Z5xriyTwHwDidiPaM1+i+EedZF00xY7oouT7VDecPNxTQ4/2hvUuTG/x99CdsVrNgvtslC6Q5MSWh9CX2Fng9VJBSScdSK29OzYQ1pptx6TGCW9PNJKlOJwhXBjGeh5iqluYXp++PafnNtLU1JMm2KkgFDoUMKbJOwChjfopNGQbbuyibU3boqkqQFxnoyA60RnjCklPPwI22yDvSS0RjjRn6suNvc1/pN5qZGWlBe41pdSQkY6nNB13hHUD1mix50ZpqPalPOuOL9RoBW+cZxzFMB2Iq0oEi5rsqWkylFTao6Spxk44Up4Ug8Q3wADnlQlq2V6VIXbbVBQxcrmER0RkNpSqOxnPr8PJSyASOgSKHyPJO9t/IMqslihHvLlqZl1IGS1b2FOLV5BRwB7cURWeyT9UR0wLRBVZdPFQU8656zsnzJ24j5ch50xrDouxWqNGCbZEclNNpCpC2gpalY3Vk+dEYSAMAYHhTUjj8dLspWi2RbPbmYMFvu2GU4SOZPmT1PnXw1DPdiQeCGtlE2QoNR1PnCEqP3j4gDJx1xjrWktQSkqJwBzzQjdLdG1e+lq5x0fR2CqGsSFIdURzcCMYwenlv1qv9HRXC0geh313SF6mR9TMMzZr7aHIz9uijvHgSoKBHtHWjux3V25Wn6RlQnIKFcSktPH1wgdVDoduVBrOldR6emBenLymXGUtKHWZqeNbadtwfIb42+dEmsHVriMWZhWJFzX3SlZ+wyBl1Z8PVyPaRUyZw6W9iw11OIsMNJP192lu3JwDnwfZb/yhPwNNLQNtNq0nboyhhZaDix5q3P76Uzrf9M+0RpiOnMJDiGkjoiO1/wA7/tU+kpSlICQABsAKJ72RgW7dfo6qVKlWdR4aEe0rTv0/px3uE8UuL9cyOqsc0+8fPFF9crGU4pNbJqVUtMR+g7q/KgptzBH0pbFGTbePbvU/lGSfMcv/AMpvQLg3eLQ3Nt7vAXmzwFY3QrqFDxB2IpUdpmnZOnr23qGz8TUdxwLKkfkHs+Hgr/kda3tNamaKF3yK2fRX1AXaI3uYzvLv0jqk9fj0NQvo5sVOH4UW9OwEaUt1z1FqpxAnyXFl5QGfV4iAlI68XPHmKqWK46gnSJeqUx0xbaGghi3hvK5KQdjtyV4H3cqLLzp206mMCVJbQ8lhYcbUnBDifA+INWb8m4swEu2VcZLrB4i1I9VDiAN08Q+z7cVWjXw110abSuNKVHIyMlJ5j219OdADl2kvdoLlruMmREbcipXb0suYQpeMqyfvHngHbbzrSiatSzc2bPdYriLg4x3/APV0lxITkj1gN0nbPIjfnTTKWRF3Vuk7dqiIlmakpcbz3T7ey2z/ABHlQNJ01rS2lDbSLdfGGtmlS0ZcQOm5IPzpoQ5saY3xxX23U5IyhWceVWMjxo0mKsc1yKaPZdcS3z3VutVnyMGQ0j6zH6RKj8MUX6P0RB04pcpTiplxdB7yS7ud+YT4fM+dFWR41y44htJUtSUpHMqOBSUpBOKU9neK8WoJBUogADJJ8KoT7q1Fg+mNNrltZG8cpOBnBVkkDA5n2UG32c+9qw6d1LgWm4sYiqYWWwpWeSjzJ6Y5cvGm3oqrUoJNRpXMgstoeAgSHEokqQoham17DhUOW5Tv4UAXS13TRbkcyDIummo7veIKHCh6KfHIxsM8uRrQm6c1VpqM61YZn0ra+Ej0KQfrGx+E8tvaPZTAiKROtjS3mTwvsjjadT4jcEUuzPXn3wzLtRSVy78+txiO+wgJQ8eEBtAJ7xY/OOT7gKAtYahdZt8i6es3NuyCxBQrYsQ87rPgpfP3jwrf1RfIs1p5b6v/AAEJWH1JP9veB2ZR4pB+0fd40C6etk3tA1YudcB/UkKBfx9lKR9lpP8APLJqae+DPLT4iewx7HdOmDanLxJQUvTdmQR9locj7zv7MUyBXLLaGm0ttpCUJGEpHICu6tLSOjHCiVKJUqVKZZKhqVKAK0+DHuER2JLaS6w6kpWhXIg0j75Z7r2dagbmwFqchuEpQ4oZS4k823Omf+6fNVblAi3OI7EnMpeYdGFIUNjUudmOXErX9i80tqJtqM5MsaHJFuB45dpT6z0Inmtoc1IPPh+HhRq99H6nsriGJRchyU8BcjuYPmM8wfEUp9TaLu+kZ30rp991cVtWUrbz3jI8FD7yfP4ivtYNYxZj5dU+iyXdf2pCE8UWWf8A7EfdPmPj0qVWuGZTlc+nJ2Gl8sU2dcrTOnrjNMWlZdXKbJK3QBy4ceryydzWDpBu53u7XHU0ZSW/S5ojJK0ZU3HT9op32OwG+aKmNUmK2n+kUT0MEbTGVd7FX5hYHq/rAe01eftFpvEcrZXhp45W5EfKA55EpO9VpGjhN7QM65sjrqVv2JbkedESqdxMnBdUVAYPjsk1qaavX9I02ycw881/V1GSyhXq8YIHCQR45O2MjHStyLAWxPkvl5CmnUNoQ0GuHuwnO2c78/AVl6Y0y3p+53d5hQ7ia8HGkf4Yxun4k/uo+SvF+W0ZWu7hPtd/04tmc81ClSwzIZSQEq3GN8Z8eta97tca4XRtmWgKRLhvMkKO3ECkggeOOLfyrnXWnHdR2tlqI+lmVHfS+ytYJTxDocVbiR7nKlx5N1RGY9HSeFphwucS1DBUSQMDGcDz50fIafk0ArOmr1ZIRmaTfVIhrSpMm0SDxDI9VaUk9c58D7eVaU+3ua00LFUhpbN3iqHdhYKVsvJOCD1HQ/A0ZRorcByZIXIWUPud4oLICG9sbfDJ86y39UxlrWzY467pJCsK7jZpB/G4dh7snyo0heEre3waUFyRDtTbl6kx++abHfvJPCjYbq35UI6h1C3cIDzzkhyDp/JSp8ZS9P8AFDI5hJ5cXM9Nt6wdTaqjMOcV3ktXeag5bt0YkQ46h1Wrm4R/IHOsS12PUHaHcEzpzpahcg+pPqIT+a2nr/OaTfwZ3m/jPJ8EJuXaBemIUBgRrfGTwtNJT9VEb5ZP4j8/YKdmnrJEsNrZgQUYbQN1n7S1dVHzqafscGwwEw7eyG2xupR3Us+Kj1NagpzOjTFi8eX2QV7UqVRsSpUqUASpUqUASpUqUAclIIINAuquzW03grkwALfMVkkto9RZ80/8UeV5SaTJuJpaaEMu2610Q4osB5UPqWvrmFjzQdx8B7akDWNq4+8mWp63SCfXkWeQWMnxU2CAT8afCgCOQrEu2krDd8mfbGFrP5RKeFXxG9T4fRzvBU+xgRB1vG2TF1eB+C6285/aRgVtMatlKwW7pph9JHP0tTZ+GDVSX2RWR0kxZk+MT040rHzGfnWY52NNlX1V7Vjr3kYE/Iil6hf518BA5qyYkjjuOmGgevp6lfLArIma1aTkSNXQk/htkBTiv2jkVVR2Mo4hxXrb8Mbf/VWhG7ILO2oKl3Ge9jmkKQgH5Z+dHrD/ADv4BO5axsyyVGJcLw4OSrtIPc+3uh6vyqulzWWsQI0OO63BGwbjp9HjoHmds/P2U2bTofTlqKVxrY0pxPJx76xXxNEKEJSkBIASOQAxT8X8jWC697/4LjS/ZXBhFMi/OJmujkwkENA+z71MZpltptLbSAhCRhKUjAA8MV3XtUkkbxjmFwiVKlSmWSpUqUASpUqUAf/Z"/>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sp>
        <p:nvSpPr>
          <p:cNvPr id="8" name="AutoShape 6" descr="data:image/jpeg;base64,/9j/4AAQSkZJRgABAQAAAQABAAD/2wCEAAkGBwgHBgkIBwgKCgkLDRYPDQwMDRsUFRAWIB0iIiAdHx8kKDQsJCYxJx8fLT0tMTU3Ojo6Iys/RD84QzQ5OjcBCgoKDQwNGg8PGjclHyU3Nzc3Nzc3Nzc3Nzc3Nzc3Nzc3Nzc3Nzc3Nzc3Nzc3Nzc3Nzc3Nzc3Nzc3Nzc3Nzc3N//AABEIAKAApgMBIgACEQEDEQH/xAAcAAACAwEBAQEAAAAAAAAAAAAGBwAEBQIBAwj/xABFEAABAwMCAwQGBQgKAgMAAAABAgMEAAURBiESMUEHE1FhFCJxgZGhFSMyQmJDUnKCkrHB8BYkNDVTorLC0fElM0Rj4f/EABkBAAMBAQEAAAAAAAAAAAAAAAABAgMEBf/EACYRAAMAAgIBBAICAwAAAAAAAAABAgMRITESIjJBUQSBQmEjcZH/2gAMAwEAAhEDEQA/AHjUqVKAJUqV5mgD2vM1CoedCGqNf2fT6lsB0S5o/wDjsqBKT+I8h7OdLaRNVMrbYX5rPuV7tdrSVXCfHj46OOAH4Um5erNY6ufVHtLT7TJ2LUNGAB+Jzp8RVZvRrLT/AP5+/Mpl81RYiVSpHwTk/Kp8/o53+Q37EMaZ2paZj5Db0mUR/gMH96sCspfbFaxnu7VcFD8RbH+41mwtE21RT3OnL1MB/KTZCYyf2QQqtVGiSlshnSFkSenfznVn/TS9QvLM/o+aO2O2EZXaLgPYps/7q0Inavpp4hL/AKbG83GMgfsk1UVopRbId0lYFbfk5jqD8eGs2boeAn/3aVuTGdiu3zg+B+qs5Pwo9QeWYYdr1LZLqB6Bc4zxP3QsBXwO9a4IxnpSEl6Ptq3OGBe/RZXJMe7sKjOZ8ASBv7K6au+t9FOpTK9IVF6CQO+ZI8l9Pj7qfl9oaz1PuQ+dq9oC0x2mWq7KQxcR9Hyjt9YfqyfJXT2GjtK0qAIIIPKqTT6N5uaW0zqpUqUyyVKlSgCVKlSgCVKlSgCV8JclmIw4/JcS2y2niWtRwAK9lSG4sdb77iG2m0lS1qOAkDrSP1VqO5a+vLdqs7bnoQX9U1y48flF+AHPfl7aTejLLkUL+y9q3tDn3ySbVpdDqGXVcAcQD3r5/D+aPPn7Kq2bRkeJISi7NruV0xxC0xFbN56vOfdH870QaS0+lkLiWFz1kq4J174Rkn7zcf2cirlnxNMG02mFZ4ojwGg2nOVKJypw9VKJ3UfM1Cl9sxnG7flZg2/S8qQwlu7yER4oHqW225aaQPBS/tL+Q8q3osK2WSLwxmY0NgcyAEj3mr+3SsLWdlGoNPS4B/8AapPGz+mNxV9HRrxXBuJIUAQQQeorrG1LKwaxXG7N3X0KZbuVt/q5bkdVA7DGckkfMGjXSV5N+09DuSkpSt5H1iE8kqBwR8RQq2Kcirg1ydqwdV6qt+l48d65B1SX3OBIaTkjAySfIVZ1PbXbvYpkBiQYzr6MJdGfVPu3pGyYN0nX+NYJd89KSy93LclS1ONtOEZ4QT12pU9EZsjjpD9dYiXKLwSGW32HE54XEBQII8DWFI0qqKhX0BMVDSecR4d9GX5FBOU/qkVZ0ra7ta2HU3i8KuTjhBSVNhIb2xgeVb2KO0aa8lyhMah0jElSAy7HRYrqskIQVccOUfwK+6ryPwPOqlg1dfdEz02q8sOvRUHCmXVeshOftNq6jy5dNqdU+DFuEVyLOYbkMODCm3E5BoC1Pp9qLB9HuyXplkB+qlY45FuPiSd1t+OckDnkck1rlHPeFy/KA4s92hXiC3NtzyXmHBsodD4HwNXhSBhSrt2c38esH4UgcQ4FfVSm/wA5J5BX88qd9lu0S825mdAdDjLqcg9QeoI6EU5rZriy+fD7NCpUqVRsSpUqUASvFcqlDHaFqD+j+nHn2lAS3vqo4/Efve4b0N6JqvFNgF2qaofulxTpy05W2lYS93fN53ogeQ/f7K0tM6YLAcskN3hcOFXqaj7QyARHbPTzPQeZ2HdB25+NHN8Q2HLjKdMW1h3fLhzxunyA/cacljtTNntrUNgqWE5UtxX2nFk5UtXmSSahLfLObFLuvOjH1bIuWn9NBWmILK1R8Dui2VBDQ5kJBGf++dLrUusbvqO1mfanFQI1vCPSUtu4cW4s4yAPujG2fGmnq+6O2bT06dHjqedbb9VKehOwUfIczX5+fhxpbUdNj9MkviKXJoWjHCoHcjHMdaVPQvyKcvg/RdjuEe62qNNiLUtl5GQpQwTjY594NCXafLl2Jy1X+396VRni28gZ7tbahyXjzAwfOtnQl8tt5scc2xKWQw2ltcfkWiBy9nnRHsavtHRrzjhi10zoT06Y9fNTNMFyZl1MFtGENlXU567/AD8aMtL2FjTlpTbori3G0rWvjc5nJz08OXurYGBtXK3UIGVrSkeKjihJIJxzBhap00jUDSUi4TYTqRw95GcxlPUFPI+2sLVWkY0DQ6o1iaWh+C4JjCs5WpxPMnxJBNHLT7Tv/qdQv9FQNdnehrYOJYMaH1dE1PbWlhxtE9KcPx+LcEdQPA86JFutoWlCnEhSs8IJGTjntVYWm3JlplpgRRISch4MpCwfbiltqi1RndXyE3q4reuLrGbZHUpUZngJI4O9GTnnnbqOdJtpCdVE88mpcu0VTMx9mBEbkI73gjqW53aXEJz3q+I7YGMDxNbmmdW27U6lswm3jwMJW9xt+qkq5oJ5Ejr7aTE+MEf+OTJa79KkqQ06ptw8KchIbdGxAyfVPDvRv2VW+6PuRZ7U5li1xgtpUNpwrU6o5J4xyThRKh138KmabZhGW3emaOptPRorSrdM/uGWv6l371tkHlg/4aieXQ7cjsIaOvU3Q+p3bTdjwxFu8D6TySfuup8jt7j5U7Z0RibDdiSmw4w8kocQrkoGlFrSwuybc/FcBeudlQC24R60qGeRz1UnkfZ506Wis0OWqnscTagtIUkgpIyCOtd0veyPUarpZ1WyUvikwcBKid1tH7Pw5fCmCKpPaN4tXKpHtSpUplnlI/tKmu6j1wxZYiypLC0xkBPLvFEFZ938DTnuEpMKC/KcwEstqWc+QzSL0QtSrjedSPJ4nYcd15Ger7hISPnj31F/Ry/kPeo+xmaTtrK7k7IZSPQrYj6PgjplO7q/aVYH6powHnWZYIItFjixVKyppod4pXNSuaiffmsx3UirVBeut+djR7ctX9WSEq75ST9kEciTz2qujedSgifaQ+0ttxIUhaSlSTyIPMUPae0RaNO3B2bbEPJU413fAt0rSkZycZ36Dmau6d1FEv8AHU5EQ+0pGOJp9soUAeRweYPjWyTRpMeprkALlo2baNQtX7SPA2pbgEuEVcKHEk+sR0Hjjx5UeJO24warXO5Q7bFVJuEhuOwjmtxWBQRL7VLaXlsWa2zrk4P8JGB/E/KlxJG4xlvW2sZMCY3ZNPMCVeHsbYyGc8ifPr4Y50JRNLy764XbjcLnd3eLDjkdwNx0q8AtX2sfhGK++jLTKmy1vXNt1qbeHnXHy4kpWiO2RxJAOCONSkj9EUybzLbsliky2o3G3EYJQy2MZAGwHhS75M0na8q6FjO0Wu0p9IjLu9rKRnv23RIbR+lwYUB54xW3pPWVxiXNmyarW2px4AxJ6CCiQDy3Gxz0I94ol0Jel3/TrEx6OWHQVNrQVZ3B5g88HzoT19p5HdyIsNsjLSp0FLad23EEd6hIG+FBQUAORBNGvlCa8UrkZwOeVL7tERfJE70GBZE3SJLjYStbf9ldBPrcXTbB38Kp2rtQRBixo+orPcIrqW0pW+W/VWRzVg4P76OrLfbbfY3pFrltvo+8Ad0+0cxT7NPKci1sBdPaIudikwG1tQLjBf3mpfZQTHVjmhWMkdKNdP6ct2n/AEoWxtbaZLneLQVlSUnGMJzyFbAHXrVS4vyo7KXIcYSV8aQWyvh9UnBIPlzppJFTEx0Wz0oZ1mx6O1HvrKMuW9R79I/KRlbOpPkB636td3jWVtsbaDekPRFrzwIUnjK8c8cOfGrGn7tH1PZFSg0pLLqltltwYITuNx5jB99HYOpr07FDGWdEdoqO7J9BU4kZ+6phzkfdn/KafIORsc0iddwlKsMB5wEv21922PHO5Sk5bJ/Vx8TTZ0PcjdtK22WpWXC0EufpJ2P7qme2jDA/GnJv1KlSrOsE+06WYeibisK9ZxKWhj8Sgn+JoA0DEC7BEZI/vC9NBQ/OQ0O8I9nq0WdtLhRpBCB+UmNjPuUf4Vj9niP6lpVPCADImvZ8SApOfnWb9xyXzm/QzZ8qPCiOyZjqWo7aSpxauQFKeG5omXd25EvU78yPGz6LDnJcS214DiUkZA29vWmXqSGZluS2GPSEodQ4tj/ESk5IrMlMaZk5NxtTSPORCI5DxxiqaNcibZd0256e29cy/FeDyu6bVEUS2EIJAwTz3znp0q1f7xGsVqfuEwkNtJ2SnmpXRI8yalgjwY1njItSAiEU8bKR4KPF19tAvaQTetVWTTylERATJlAHmP8ApKvjTfCHVeMb+TBajztVzmLnf23ZSpRJt1qacKUcH56z91sfnc1fKj+36UeTHS3IuDkVoDAi2sCM0j3j1j7SfhQfprtCskOTIdmsSEvSXCC6hA4GmknDaAM5wBjkOZNNK3To1yiNy4TyHmHBlK0HINStMzxKH87ZRten4dtlmW07Nef7stBUqU49hJIJA4icbgfChntFaelT7bbRe3be3MUUIbaZKg4oEH1jnAAxR7S97Ru8/pPpXuUNrc9JVhLisJO3XY7VT6NMiSjSKmh4btn1Uq2N6jcnZY79xjuT3SkkABSVZxnYD3UdXayRLsphclUhDjBUW3I76mlDIwd0kGgLSrSWe051tpqI2ym2IDSYh+q4NscNNClPQsSXjoGZWlVpaUmFd5wB5tTV+lNK8iF5OPYaALtYJlpufpFjaNqvbSC4mPHJLE1sc+78x1bPu8acL7iGW1OOLCEpHEpSjgAeJpY6v7QbDMjriw/SXZDKu8jS2kjDbo+yoZO46HHMZpUkTlUSueAx0VqZnU9nTKSAiQ2eCQ0Puq8vI1uvhSmlhCuFXCcHHI+NKnS8wQO0GJIipDcHUMPvlNDkhzmcexQV+1TZPI5qpe0Xip1PPYAaR005Nukm+apeamXQK4UMAhSYwGceruAfLpR6lCEbIAGegpfuO6xZuE+HpuBa0w0SV4feB4lFXrHkehPhWrpuHq5N3EnUU2G8x3CkBphOOBRIIPLfl40IUNLhIHteQx3eqo4HqqYjXFP6QyhXyQKtdiUnvdNyoyjkx5ZAHgFAH/mretko9OuCFgcL1gkAn9E5H+qsDsIcyLy0eY7hXyWP4VH8zLrMhtVKlStDrF/20tlWkG1J/JzG1H2YUP41k9ni1CDpU7cPfTWf9Sv4UUdqMUy9E3FITxFoJeH6qgf3ZoE0BKCLFAeUf7Be0Z/Ch5Pd7+9VZv3HJfGbf9DauUP0tLI9IdYDbnGS2rBVsds++l9qG7Sb3c1af0fIkuSE7SZ5fV3bI6jbmf5Hkw7pAbukJyG+t1DTgwstOFCiPDI3rMtOkrZZmSxbzLZaJyUplLGT7c5q2tm1zTfBqWyMYlvjRlud4pppKCv84gYzS41GlSe1JY5F61LS3nqeBVMe2pYZhpjRnS6iP9Tkr41Ap2wo+PjQN2qQ5EN22aot6eJ63OYdT4tk53+Y/WpUuBZV6OPgSafVQlPgMEUcdnGqnbIJFvDzCG31pU2h9Di/XOxA4BtnbnWHqq2tx5SbhbsrtdwJejrHJBO6mz4FJ2x4Vib8iPjvWXTPLVPFfA839ayY85uC85CRKc+w0qLJBP8AlrE1TcpMi/abkXBop7qWcJZjugkY6BQyT7Kodn17tLmnbpbL87EDmSWi8RxugpPXmcEc+m1fC8AXW5WVufJmolGzMvx1MHiU65wA4AxnjUc8qre0drt1Key9a5DkPXThtyHVli2ttJEiM4CcAZJQBxfwoic1tKauCLe4uEmWvHCyY0niOeX3fI0I2OH9G6vsReeuX0rJUrvo0xeC2kA44j95JGcYyMpq9eb9amez8sRX4z11kn64KwXONS/WWfMfLamuEE05lvej4dourpUq2OWdx2Ol1a0982226hQRzweIAYNLTO5NQkqJUpWSTkkknPnWhYbS7ebgmMhQbZA45D6tkstjmpR/dUN7OK6eWgwtCFm7aBazxOJbU4U9QkrJHyFO4naldoGN9O6wkX1ppSLXb2fRIAUOYA4R/lyT+kPCme8ooZWoJ4iEk8PjWs9Hp4FqWwBmXy7W2/XFdv0pKlhTmDJbdUEuYAAPDjGenurT07qO73a7IjT7DItrYYUtS3lZCyCAANvPND9w1XIbZjW7Tc5VxvlyXxLJWHEQx1GMerjJ2Pgc0YadReI3ew71ME5aEJWmUGg3nOcpIG2xHwNC7FPu4Zia2OZ05SlAJZsMnIz+cQB+6h/sIb/vp3yYR/rP8aua7lJxql/i2biRoA/SUSsj4LFffsSilrT0uStOPSJZwfEJSB+/NT/MjvOv2MepUqVodZUucRM63SYi9w80pB94pF6GQ4ZN706pQS/JjqDOdsPtHKfmM+6n6eVI7tAiO6X181eIySG3XUy28ciobLT7/wDdUX9nL+QtascVjuKbnaIk5IOX2kqI8DjcfHNCOre0CLHS5bLEr0i8LWWgkpwGTnCionwrQ0nNZZuMm3tqBjSk/SEFXQtr+2kfoq3/AFquvNtWu6PKt9i75+WlT7shBQniUMDhJO+eWOfWn2uDV7qeGVtDWxixWtMddzEuVJWXnj3gILhHrcPl/wB0SyGG5DC2X0JcbWkpUkjYg9KAZmoUnUNtg2yzW524vjvO8zvFQRgqUQkYOOLI/wCaOLfcItwaLkOQ2+hKihSmzkBQ5imhw1rQq7zpe56T9JECKLxp59RU7CczxNezG4I/OHlkdaEjbdN3FXHbr4q3Z5xriyTwHwDidiPaM1+i+EedZF00xY7oouT7VDecPNxTQ4/2hvUuTG/x99CdsVrNgvtslC6Q5MSWh9CX2Fng9VJBSScdSK29OzYQ1pptx6TGCW9PNJKlOJwhXBjGeh5iqluYXp++PafnNtLU1JMm2KkgFDoUMKbJOwChjfopNGQbbuyibU3boqkqQFxnoyA60RnjCklPPwI22yDvSS0RjjRn6suNvc1/pN5qZGWlBe41pdSQkY6nNB13hHUD1mix50ZpqPalPOuOL9RoBW+cZxzFMB2Iq0oEi5rsqWkylFTao6Spxk44Up4Ug8Q3wADnlQlq2V6VIXbbVBQxcrmER0RkNpSqOxnPr8PJSyASOgSKHyPJO9t/IMqslihHvLlqZl1IGS1b2FOLV5BRwB7cURWeyT9UR0wLRBVZdPFQU8656zsnzJ24j5ch50xrDouxWqNGCbZEclNNpCpC2gpalY3Vk+dEYSAMAYHhTUjj8dLspWi2RbPbmYMFvu2GU4SOZPmT1PnXw1DPdiQeCGtlE2QoNR1PnCEqP3j4gDJx1xjrWktQSkqJwBzzQjdLdG1e+lq5x0fR2CqGsSFIdURzcCMYwenlv1qv9HRXC0geh313SF6mR9TMMzZr7aHIz9uijvHgSoKBHtHWjux3V25Wn6RlQnIKFcSktPH1wgdVDoduVBrOldR6emBenLymXGUtKHWZqeNbadtwfIb42+dEmsHVriMWZhWJFzX3SlZ+wyBl1Z8PVyPaRUyZw6W9iw11OIsMNJP192lu3JwDnwfZb/yhPwNNLQNtNq0nboyhhZaDix5q3P76Uzrf9M+0RpiOnMJDiGkjoiO1/wA7/tU+kpSlICQABsAKJ72RgW7dfo6qVKlWdR4aEe0rTv0/px3uE8UuL9cyOqsc0+8fPFF9crGU4pNbJqVUtMR+g7q/KgptzBH0pbFGTbePbvU/lGSfMcv/AMpvQLg3eLQ3Nt7vAXmzwFY3QrqFDxB2IpUdpmnZOnr23qGz8TUdxwLKkfkHs+Hgr/kda3tNamaKF3yK2fRX1AXaI3uYzvLv0jqk9fj0NQvo5sVOH4UW9OwEaUt1z1FqpxAnyXFl5QGfV4iAlI68XPHmKqWK46gnSJeqUx0xbaGghi3hvK5KQdjtyV4H3cqLLzp206mMCVJbQ8lhYcbUnBDifA+INWb8m4swEu2VcZLrB4i1I9VDiAN08Q+z7cVWjXw110abSuNKVHIyMlJ5j219OdADl2kvdoLlruMmREbcipXb0suYQpeMqyfvHngHbbzrSiatSzc2bPdYriLg4x3/APV0lxITkj1gN0nbPIjfnTTKWRF3Vuk7dqiIlmakpcbz3T7ey2z/ABHlQNJ01rS2lDbSLdfGGtmlS0ZcQOm5IPzpoQ5saY3xxX23U5IyhWceVWMjxo0mKsc1yKaPZdcS3z3VutVnyMGQ0j6zH6RKj8MUX6P0RB04pcpTiplxdB7yS7ud+YT4fM+dFWR41y44htJUtSUpHMqOBSUpBOKU9neK8WoJBUogADJJ8KoT7q1Fg+mNNrltZG8cpOBnBVkkDA5n2UG32c+9qw6d1LgWm4sYiqYWWwpWeSjzJ6Y5cvGm3oqrUoJNRpXMgstoeAgSHEokqQoham17DhUOW5Tv4UAXS13TRbkcyDIummo7veIKHCh6KfHIxsM8uRrQm6c1VpqM61YZn0ra+Ej0KQfrGx+E8tvaPZTAiKROtjS3mTwvsjjadT4jcEUuzPXn3wzLtRSVy78+txiO+wgJQ8eEBtAJ7xY/OOT7gKAtYahdZt8i6es3NuyCxBQrYsQ87rPgpfP3jwrf1RfIs1p5b6v/AAEJWH1JP9veB2ZR4pB+0fd40C6etk3tA1YudcB/UkKBfx9lKR9lpP8APLJqae+DPLT4iewx7HdOmDanLxJQUvTdmQR9locj7zv7MUyBXLLaGm0ttpCUJGEpHICu6tLSOjHCiVKJUqVKZZKhqVKAK0+DHuER2JLaS6w6kpWhXIg0j75Z7r2dagbmwFqchuEpQ4oZS4k823Omf+6fNVblAi3OI7EnMpeYdGFIUNjUudmOXErX9i80tqJtqM5MsaHJFuB45dpT6z0Inmtoc1IPPh+HhRq99H6nsriGJRchyU8BcjuYPmM8wfEUp9TaLu+kZ30rp991cVtWUrbz3jI8FD7yfP4ivtYNYxZj5dU+iyXdf2pCE8UWWf8A7EfdPmPj0qVWuGZTlc+nJ2Gl8sU2dcrTOnrjNMWlZdXKbJK3QBy4ceryydzWDpBu53u7XHU0ZSW/S5ojJK0ZU3HT9op32OwG+aKmNUmK2n+kUT0MEbTGVd7FX5hYHq/rAe01eftFpvEcrZXhp45W5EfKA55EpO9VpGjhN7QM65sjrqVv2JbkedESqdxMnBdUVAYPjsk1qaavX9I02ycw881/V1GSyhXq8YIHCQR45O2MjHStyLAWxPkvl5CmnUNoQ0GuHuwnO2c78/AVl6Y0y3p+53d5hQ7ia8HGkf4Yxun4k/uo+SvF+W0ZWu7hPtd/04tmc81ClSwzIZSQEq3GN8Z8eta97tca4XRtmWgKRLhvMkKO3ECkggeOOLfyrnXWnHdR2tlqI+lmVHfS+ytYJTxDocVbiR7nKlx5N1RGY9HSeFphwucS1DBUSQMDGcDz50fIafk0ArOmr1ZIRmaTfVIhrSpMm0SDxDI9VaUk9c58D7eVaU+3ua00LFUhpbN3iqHdhYKVsvJOCD1HQ/A0ZRorcByZIXIWUPud4oLICG9sbfDJ86y39UxlrWzY467pJCsK7jZpB/G4dh7snyo0heEre3waUFyRDtTbl6kx++abHfvJPCjYbq35UI6h1C3cIDzzkhyDp/JSp8ZS9P8AFDI5hJ5cXM9Nt6wdTaqjMOcV3ktXeag5bt0YkQ46h1Wrm4R/IHOsS12PUHaHcEzpzpahcg+pPqIT+a2nr/OaTfwZ3m/jPJ8EJuXaBemIUBgRrfGTwtNJT9VEb5ZP4j8/YKdmnrJEsNrZgQUYbQN1n7S1dVHzqafscGwwEw7eyG2xupR3Us+Kj1NagpzOjTFi8eX2QV7UqVRsSpUqUASpUqUASpUqUAclIIINAuquzW03grkwALfMVkkto9RZ80/8UeV5SaTJuJpaaEMu2610Q4osB5UPqWvrmFjzQdx8B7akDWNq4+8mWp63SCfXkWeQWMnxU2CAT8afCgCOQrEu2krDd8mfbGFrP5RKeFXxG9T4fRzvBU+xgRB1vG2TF1eB+C6285/aRgVtMatlKwW7pph9JHP0tTZ+GDVSX2RWR0kxZk+MT040rHzGfnWY52NNlX1V7Vjr3kYE/Iil6hf518BA5qyYkjjuOmGgevp6lfLArIma1aTkSNXQk/htkBTiv2jkVVR2Mo4hxXrb8Mbf/VWhG7ILO2oKl3Ge9jmkKQgH5Z+dHrD/ADv4BO5axsyyVGJcLw4OSrtIPc+3uh6vyqulzWWsQI0OO63BGwbjp9HjoHmds/P2U2bTofTlqKVxrY0pxPJx76xXxNEKEJSkBIASOQAxT8X8jWC697/4LjS/ZXBhFMi/OJmujkwkENA+z71MZpltptLbSAhCRhKUjAA8MV3XtUkkbxjmFwiVKlSmWSpUqUASpUqUAf/Z"/>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Outcomes</a:t>
            </a:r>
            <a:endParaRPr lang="en-SG" dirty="0"/>
          </a:p>
        </p:txBody>
      </p:sp>
      <p:sp>
        <p:nvSpPr>
          <p:cNvPr id="3" name="Content Placeholder 2"/>
          <p:cNvSpPr>
            <a:spLocks noGrp="1"/>
          </p:cNvSpPr>
          <p:nvPr>
            <p:ph idx="1"/>
          </p:nvPr>
        </p:nvSpPr>
        <p:spPr/>
        <p:txBody>
          <a:bodyPr>
            <a:normAutofit/>
          </a:bodyPr>
          <a:lstStyle/>
          <a:p>
            <a:r>
              <a:rPr lang="en-US" dirty="0" smtClean="0"/>
              <a:t>After this lecture, you should be able to understand</a:t>
            </a:r>
          </a:p>
          <a:p>
            <a:pPr lvl="1"/>
            <a:r>
              <a:rPr lang="en-US" dirty="0" smtClean="0"/>
              <a:t>FPGA is an emerging hardware accelerator, which can be challenging for programming.</a:t>
            </a:r>
          </a:p>
          <a:p>
            <a:pPr lvl="1"/>
            <a:r>
              <a:rPr lang="en-US" dirty="0" smtClean="0"/>
              <a:t>System optimization and performance tuning is very important for the system performance on FPGA.</a:t>
            </a:r>
          </a:p>
          <a:p>
            <a:pPr lvl="1"/>
            <a:r>
              <a:rPr lang="en-US" dirty="0" smtClean="0"/>
              <a:t>More R&amp;D efforts have to be put in systems, applications and tools for FPGAs.</a:t>
            </a:r>
          </a:p>
          <a:p>
            <a:endParaRPr lang="en-SG"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42888692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a:xfrm>
            <a:off x="457200" y="1493837"/>
            <a:ext cx="8229600" cy="4525963"/>
          </a:xfrm>
        </p:spPr>
        <p:txBody>
          <a:bodyPr/>
          <a:lstStyle/>
          <a:p>
            <a:r>
              <a:rPr lang="en-US" dirty="0" smtClean="0">
                <a:solidFill>
                  <a:srgbClr val="FF0000"/>
                </a:solidFill>
              </a:rPr>
              <a:t>Background</a:t>
            </a:r>
          </a:p>
          <a:p>
            <a:pPr lvl="1"/>
            <a:r>
              <a:rPr lang="en-US" dirty="0" smtClean="0">
                <a:solidFill>
                  <a:srgbClr val="FF0000"/>
                </a:solidFill>
              </a:rPr>
              <a:t>FPGA</a:t>
            </a:r>
          </a:p>
          <a:p>
            <a:pPr lvl="1"/>
            <a:r>
              <a:rPr lang="en-US" dirty="0" err="1" smtClean="0">
                <a:solidFill>
                  <a:srgbClr val="FF0000"/>
                </a:solidFill>
              </a:rPr>
              <a:t>OpenCL</a:t>
            </a:r>
            <a:r>
              <a:rPr lang="en-US" dirty="0" smtClean="0">
                <a:solidFill>
                  <a:srgbClr val="FF0000"/>
                </a:solidFill>
              </a:rPr>
              <a:t> SDK for FPGAs</a:t>
            </a:r>
          </a:p>
          <a:p>
            <a:r>
              <a:rPr lang="en-US" dirty="0" smtClean="0"/>
              <a:t>A Performance Analysis Framework</a:t>
            </a:r>
          </a:p>
          <a:p>
            <a:r>
              <a:rPr lang="en-US" dirty="0" smtClean="0"/>
              <a:t>Case Study: Database Systems</a:t>
            </a:r>
          </a:p>
          <a:p>
            <a:r>
              <a:rPr lang="en-US" dirty="0" smtClean="0"/>
              <a:t>Conclusion</a:t>
            </a:r>
          </a:p>
          <a:p>
            <a:endParaRPr lang="en-US"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FPGA?</a:t>
            </a:r>
            <a:endParaRPr lang="en-US" dirty="0"/>
          </a:p>
        </p:txBody>
      </p:sp>
      <p:sp>
        <p:nvSpPr>
          <p:cNvPr id="3" name="Content Placeholder 2"/>
          <p:cNvSpPr>
            <a:spLocks noGrp="1"/>
          </p:cNvSpPr>
          <p:nvPr>
            <p:ph idx="1"/>
          </p:nvPr>
        </p:nvSpPr>
        <p:spPr/>
        <p:txBody>
          <a:bodyPr/>
          <a:lstStyle/>
          <a:p>
            <a:r>
              <a:rPr lang="en-US" dirty="0" smtClean="0"/>
              <a:t>Wiki: A </a:t>
            </a:r>
            <a:r>
              <a:rPr lang="en-US" b="1" dirty="0"/>
              <a:t>field-programmable gate array</a:t>
            </a:r>
            <a:r>
              <a:rPr lang="en-US" dirty="0"/>
              <a:t> (</a:t>
            </a:r>
            <a:r>
              <a:rPr lang="en-US" b="1" dirty="0"/>
              <a:t>FPGA</a:t>
            </a:r>
            <a:r>
              <a:rPr lang="en-US" dirty="0"/>
              <a:t>) is an integrated circuit designed to be configured by a customer or a designer after manufacturing – hence "field-programmable".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pic>
        <p:nvPicPr>
          <p:cNvPr id="5" name="Picture 4"/>
          <p:cNvPicPr>
            <a:picLocks noChangeAspect="1"/>
          </p:cNvPicPr>
          <p:nvPr/>
        </p:nvPicPr>
        <p:blipFill>
          <a:blip r:embed="rId2"/>
          <a:stretch>
            <a:fillRect/>
          </a:stretch>
        </p:blipFill>
        <p:spPr>
          <a:xfrm>
            <a:off x="762000" y="4114800"/>
            <a:ext cx="3592286" cy="2400300"/>
          </a:xfrm>
          <a:prstGeom prst="rect">
            <a:avLst/>
          </a:prstGeom>
        </p:spPr>
      </p:pic>
      <p:pic>
        <p:nvPicPr>
          <p:cNvPr id="6" name="Picture 5"/>
          <p:cNvPicPr>
            <a:picLocks noChangeAspect="1"/>
          </p:cNvPicPr>
          <p:nvPr/>
        </p:nvPicPr>
        <p:blipFill>
          <a:blip r:embed="rId3"/>
          <a:stretch>
            <a:fillRect/>
          </a:stretch>
        </p:blipFill>
        <p:spPr>
          <a:xfrm>
            <a:off x="4876800" y="3886200"/>
            <a:ext cx="2581797" cy="2781300"/>
          </a:xfrm>
          <a:prstGeom prst="rect">
            <a:avLst/>
          </a:prstGeom>
        </p:spPr>
      </p:pic>
    </p:spTree>
    <p:extLst>
      <p:ext uri="{BB962C8B-B14F-4D97-AF65-F5344CB8AC3E}">
        <p14:creationId xmlns:p14="http://schemas.microsoft.com/office/powerpoint/2010/main" val="14915572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458200" cy="1019175"/>
          </a:xfrm>
        </p:spPr>
        <p:txBody>
          <a:bodyPr>
            <a:normAutofit/>
          </a:bodyPr>
          <a:lstStyle/>
          <a:p>
            <a:r>
              <a:rPr lang="en-US" b="1" dirty="0" smtClean="0"/>
              <a:t>Advantages of FPGA</a:t>
            </a:r>
            <a:endParaRPr lang="en-US" dirty="0"/>
          </a:p>
        </p:txBody>
      </p:sp>
      <p:sp>
        <p:nvSpPr>
          <p:cNvPr id="3" name="Content Placeholder 2"/>
          <p:cNvSpPr>
            <a:spLocks noGrp="1"/>
          </p:cNvSpPr>
          <p:nvPr>
            <p:ph idx="1"/>
          </p:nvPr>
        </p:nvSpPr>
        <p:spPr>
          <a:xfrm>
            <a:off x="457200" y="1524000"/>
            <a:ext cx="8229600" cy="4602163"/>
          </a:xfrm>
        </p:spPr>
        <p:txBody>
          <a:bodyPr>
            <a:normAutofit lnSpcReduction="10000"/>
          </a:bodyPr>
          <a:lstStyle/>
          <a:p>
            <a:r>
              <a:rPr lang="en-US" dirty="0" smtClean="0"/>
              <a:t>Fine-grained </a:t>
            </a:r>
            <a:r>
              <a:rPr lang="en-US" dirty="0"/>
              <a:t>h</a:t>
            </a:r>
            <a:r>
              <a:rPr lang="en-US" dirty="0" smtClean="0"/>
              <a:t>ardware parallelism </a:t>
            </a:r>
          </a:p>
          <a:p>
            <a:pPr lvl="1"/>
            <a:r>
              <a:rPr lang="en-US" dirty="0" smtClean="0"/>
              <a:t>Simultaneously </a:t>
            </a:r>
            <a:r>
              <a:rPr lang="en-US" dirty="0"/>
              <a:t>process </a:t>
            </a:r>
            <a:r>
              <a:rPr lang="en-US" dirty="0" smtClean="0"/>
              <a:t>data </a:t>
            </a:r>
          </a:p>
          <a:p>
            <a:pPr lvl="1"/>
            <a:r>
              <a:rPr lang="en-US" dirty="0" smtClean="0"/>
              <a:t>Bit-level</a:t>
            </a:r>
            <a:r>
              <a:rPr lang="en-US" dirty="0"/>
              <a:t> </a:t>
            </a:r>
            <a:r>
              <a:rPr lang="en-US" dirty="0" smtClean="0"/>
              <a:t>computing</a:t>
            </a:r>
          </a:p>
          <a:p>
            <a:r>
              <a:rPr lang="en-US" altLang="en-US" dirty="0" smtClean="0"/>
              <a:t>The power of </a:t>
            </a:r>
            <a:r>
              <a:rPr lang="en-GB" altLang="en-US" dirty="0"/>
              <a:t>d</a:t>
            </a:r>
            <a:r>
              <a:rPr lang="en-GB" altLang="en-US" dirty="0" smtClean="0"/>
              <a:t>edicated circuits</a:t>
            </a:r>
            <a:endParaRPr lang="en-US" dirty="0" smtClean="0"/>
          </a:p>
          <a:p>
            <a:pPr lvl="1"/>
            <a:r>
              <a:rPr lang="en-GB" altLang="en-US" dirty="0" smtClean="0"/>
              <a:t>Custom </a:t>
            </a:r>
            <a:r>
              <a:rPr lang="en-GB" altLang="en-US" dirty="0"/>
              <a:t>for each </a:t>
            </a:r>
            <a:r>
              <a:rPr lang="en-GB" altLang="en-US" dirty="0" smtClean="0"/>
              <a:t>application (</a:t>
            </a:r>
            <a:r>
              <a:rPr lang="en-GB" altLang="en-US" dirty="0"/>
              <a:t>without </a:t>
            </a:r>
            <a:r>
              <a:rPr lang="en-GB" altLang="en-US" dirty="0" smtClean="0"/>
              <a:t>the limitation of Von Neumann </a:t>
            </a:r>
            <a:r>
              <a:rPr lang="en-GB" altLang="en-US" dirty="0"/>
              <a:t>architecture</a:t>
            </a:r>
            <a:r>
              <a:rPr lang="en-GB" altLang="en-US" dirty="0" smtClean="0"/>
              <a:t>)</a:t>
            </a:r>
          </a:p>
          <a:p>
            <a:pPr lvl="1"/>
            <a:r>
              <a:rPr lang="en-US" altLang="en-US" dirty="0"/>
              <a:t>Higher performance/watt </a:t>
            </a:r>
            <a:r>
              <a:rPr lang="en-US" altLang="en-US" dirty="0" smtClean="0"/>
              <a:t>ratio</a:t>
            </a:r>
            <a:r>
              <a:rPr lang="en-US" altLang="en-US" dirty="0" smtClean="0">
                <a:sym typeface="Wingdings" panose="05000000000000000000" pitchFamily="2" charset="2"/>
              </a:rPr>
              <a:t> energy efficient.</a:t>
            </a:r>
          </a:p>
          <a:p>
            <a:r>
              <a:rPr lang="en-US" dirty="0" smtClean="0"/>
              <a:t>Real time processing</a:t>
            </a:r>
          </a:p>
          <a:p>
            <a:pPr lvl="1"/>
            <a:r>
              <a:rPr lang="en-US" dirty="0" smtClean="0"/>
              <a:t>Latency is usually predictable </a:t>
            </a:r>
          </a:p>
          <a:p>
            <a:endParaRPr lang="en-US" dirty="0" smtClean="0"/>
          </a:p>
          <a:p>
            <a:endParaRPr lang="en-US" dirty="0" smtClean="0"/>
          </a:p>
          <a:p>
            <a:endParaRPr lang="en-US" b="1" dirty="0" smtClean="0"/>
          </a:p>
          <a:p>
            <a:endParaRPr lang="en-US" dirty="0" smtClean="0"/>
          </a:p>
          <a:p>
            <a:pPr marL="0" indent="0">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1489668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Many Applications</a:t>
            </a:r>
            <a:endParaRPr lang="en-US" dirty="0"/>
          </a:p>
        </p:txBody>
      </p:sp>
      <p:sp>
        <p:nvSpPr>
          <p:cNvPr id="3" name="Content Placeholder 2"/>
          <p:cNvSpPr>
            <a:spLocks noGrp="1"/>
          </p:cNvSpPr>
          <p:nvPr>
            <p:ph idx="1"/>
          </p:nvPr>
        </p:nvSpPr>
        <p:spPr>
          <a:xfrm>
            <a:off x="457200" y="1600200"/>
            <a:ext cx="8229600" cy="4953000"/>
          </a:xfrm>
        </p:spPr>
        <p:txBody>
          <a:bodyPr>
            <a:noAutofit/>
          </a:bodyPr>
          <a:lstStyle/>
          <a:p>
            <a:r>
              <a:rPr lang="en-US" sz="2800" dirty="0"/>
              <a:t>An FPGA can be used to solve any problem which is computable.</a:t>
            </a:r>
          </a:p>
          <a:p>
            <a:pPr lvl="1"/>
            <a:r>
              <a:rPr lang="en-US" sz="2400" dirty="0"/>
              <a:t>This is trivially proven by the fact FPGA can be used to implement a soft microprocessor.</a:t>
            </a:r>
          </a:p>
          <a:p>
            <a:r>
              <a:rPr lang="en-US" sz="2800" dirty="0"/>
              <a:t>Specific applications of FPGAs include </a:t>
            </a:r>
            <a:r>
              <a:rPr lang="en-US" sz="2800" dirty="0" smtClean="0"/>
              <a:t>software</a:t>
            </a:r>
            <a:r>
              <a:rPr lang="en-US" sz="2800" dirty="0"/>
              <a:t>-defined radio, ASIC prototyping, medical imaging, computer vision, speech recognition</a:t>
            </a:r>
            <a:r>
              <a:rPr lang="en-US" sz="2800" dirty="0" smtClean="0"/>
              <a:t>, cryptography</a:t>
            </a:r>
            <a:r>
              <a:rPr lang="en-US" sz="2800" dirty="0"/>
              <a:t>, </a:t>
            </a:r>
            <a:r>
              <a:rPr lang="en-US" sz="2800" dirty="0" smtClean="0"/>
              <a:t>and </a:t>
            </a:r>
            <a:r>
              <a:rPr lang="en-US" sz="2800" dirty="0"/>
              <a:t>a growing range of other areas.</a:t>
            </a:r>
          </a:p>
          <a:p>
            <a:r>
              <a:rPr lang="en-US" sz="2800" dirty="0"/>
              <a:t>Another trend on the usage of FPGAs is</a:t>
            </a:r>
            <a:r>
              <a:rPr lang="en-US" sz="2800" b="1" dirty="0"/>
              <a:t> hardware acceleration</a:t>
            </a:r>
            <a:r>
              <a:rPr lang="en-US" sz="2800" dirty="0"/>
              <a:t>, where one can use the FPGA to accelerate certain parts of an algorithm.</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19361334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458200" cy="1019175"/>
          </a:xfrm>
        </p:spPr>
        <p:txBody>
          <a:bodyPr>
            <a:normAutofit/>
          </a:bodyPr>
          <a:lstStyle/>
          <a:p>
            <a:r>
              <a:rPr lang="en-US" b="1" dirty="0" smtClean="0"/>
              <a:t>Basic Hardware Resources in FPGA</a:t>
            </a:r>
            <a:endParaRPr lang="en-US" dirty="0"/>
          </a:p>
        </p:txBody>
      </p:sp>
      <p:sp>
        <p:nvSpPr>
          <p:cNvPr id="3" name="Content Placeholder 2"/>
          <p:cNvSpPr>
            <a:spLocks noGrp="1"/>
          </p:cNvSpPr>
          <p:nvPr>
            <p:ph idx="1"/>
          </p:nvPr>
        </p:nvSpPr>
        <p:spPr>
          <a:xfrm>
            <a:off x="381000" y="3900487"/>
            <a:ext cx="8458200" cy="2286000"/>
          </a:xfrm>
        </p:spPr>
        <p:txBody>
          <a:bodyPr>
            <a:normAutofit/>
          </a:bodyPr>
          <a:lstStyle/>
          <a:p>
            <a:pPr marL="381000" indent="-381000"/>
            <a:r>
              <a:rPr lang="en-US" altLang="en-US" dirty="0" smtClean="0"/>
              <a:t>LUT (</a:t>
            </a:r>
            <a:r>
              <a:rPr lang="en-US" altLang="en-US" dirty="0"/>
              <a:t>Look Up Table</a:t>
            </a:r>
            <a:r>
              <a:rPr lang="en-US" altLang="en-US" dirty="0" smtClean="0"/>
              <a:t>): </a:t>
            </a:r>
            <a:r>
              <a:rPr lang="en-US" altLang="en-US" dirty="0"/>
              <a:t>implement </a:t>
            </a:r>
            <a:r>
              <a:rPr lang="en-US" altLang="en-US" dirty="0" smtClean="0"/>
              <a:t>logic functions</a:t>
            </a:r>
            <a:endParaRPr lang="en-US" altLang="en-US" dirty="0"/>
          </a:p>
          <a:p>
            <a:pPr marL="381000" indent="-381000"/>
            <a:r>
              <a:rPr lang="en-GB" altLang="en-US" dirty="0" smtClean="0"/>
              <a:t>REG (Flip-Flops): clocked storage </a:t>
            </a:r>
            <a:r>
              <a:rPr lang="en-GB" altLang="en-US" dirty="0"/>
              <a:t>elements. </a:t>
            </a:r>
            <a:endParaRPr lang="en-US" altLang="en-US" dirty="0"/>
          </a:p>
          <a:p>
            <a:r>
              <a:rPr lang="en-US" dirty="0" smtClean="0"/>
              <a:t>Interconnection &amp; switch: switch matrix/switch box</a:t>
            </a:r>
          </a:p>
          <a:p>
            <a:endParaRPr lang="en-US" dirty="0" smtClean="0"/>
          </a:p>
          <a:p>
            <a:endParaRPr lang="en-US" b="1" dirty="0" smtClean="0"/>
          </a:p>
          <a:p>
            <a:endParaRPr lang="en-US" dirty="0" smtClean="0"/>
          </a:p>
          <a:p>
            <a:pPr marL="0" indent="0">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pic>
        <p:nvPicPr>
          <p:cNvPr id="5"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44717"/>
            <a:ext cx="4175125" cy="21637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aphicFrame>
        <p:nvGraphicFramePr>
          <p:cNvPr id="6" name="Object 10"/>
          <p:cNvGraphicFramePr>
            <a:graphicFrameLocks noChangeAspect="1"/>
          </p:cNvGraphicFramePr>
          <p:nvPr>
            <p:extLst>
              <p:ext uri="{D42A27DB-BD31-4B8C-83A1-F6EECF244321}">
                <p14:modId xmlns:p14="http://schemas.microsoft.com/office/powerpoint/2010/main" val="630601116"/>
              </p:ext>
            </p:extLst>
          </p:nvPr>
        </p:nvGraphicFramePr>
        <p:xfrm>
          <a:off x="5076825" y="1362192"/>
          <a:ext cx="3097212" cy="2079625"/>
        </p:xfrm>
        <a:graphic>
          <a:graphicData uri="http://schemas.openxmlformats.org/presentationml/2006/ole">
            <mc:AlternateContent xmlns:mc="http://schemas.openxmlformats.org/markup-compatibility/2006">
              <mc:Choice xmlns:v="urn:schemas-microsoft-com:vml" Requires="v">
                <p:oleObj spid="_x0000_s1082" name="Visio" r:id="rId4" imgW="3531184" imgH="2369782" progId="Visio.Drawing.6">
                  <p:embed/>
                </p:oleObj>
              </mc:Choice>
              <mc:Fallback>
                <p:oleObj name="Visio" r:id="rId4" imgW="3531184" imgH="2369782"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6825" y="1362192"/>
                        <a:ext cx="3097212" cy="20796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7" name="Line 11"/>
          <p:cNvSpPr>
            <a:spLocks noChangeShapeType="1"/>
          </p:cNvSpPr>
          <p:nvPr/>
        </p:nvSpPr>
        <p:spPr bwMode="auto">
          <a:xfrm flipV="1">
            <a:off x="3636962" y="2225792"/>
            <a:ext cx="1800225" cy="287337"/>
          </a:xfrm>
          <a:prstGeom prst="line">
            <a:avLst/>
          </a:prstGeom>
          <a:noFill/>
          <a:ln w="57150">
            <a:solidFill>
              <a:srgbClr val="FF33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SG"/>
          </a:p>
        </p:txBody>
      </p:sp>
      <p:sp>
        <p:nvSpPr>
          <p:cNvPr id="8" name="Rectangle 12"/>
          <p:cNvSpPr>
            <a:spLocks noChangeArrowheads="1"/>
          </p:cNvSpPr>
          <p:nvPr/>
        </p:nvSpPr>
        <p:spPr bwMode="auto">
          <a:xfrm>
            <a:off x="1752600" y="3515635"/>
            <a:ext cx="1252538" cy="3048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50000"/>
              <a:buFont typeface="Monotype Sorts"/>
              <a:buChar char="n"/>
              <a:defRPr kumimoji="1" sz="2000" b="1">
                <a:solidFill>
                  <a:schemeClr val="tx1"/>
                </a:solidFill>
                <a:latin typeface="Arial" panose="020B0604020202020204" pitchFamily="34" charset="0"/>
              </a:defRPr>
            </a:lvl1pPr>
            <a:lvl2pPr marL="742950" indent="-285750" eaLnBrk="0" hangingPunct="0">
              <a:spcBef>
                <a:spcPct val="20000"/>
              </a:spcBef>
              <a:buClr>
                <a:schemeClr val="tx2"/>
              </a:buClr>
              <a:buSzPct val="75000"/>
              <a:buFont typeface="Monotype Sorts"/>
              <a:buChar char="u"/>
              <a:defRPr kumimoji="1" b="1">
                <a:solidFill>
                  <a:schemeClr val="tx1"/>
                </a:solidFill>
                <a:latin typeface="Arial" panose="020B0604020202020204" pitchFamily="34" charset="0"/>
              </a:defRPr>
            </a:lvl2pPr>
            <a:lvl3pPr marL="1143000" indent="-228600" eaLnBrk="0" hangingPunct="0">
              <a:spcBef>
                <a:spcPct val="20000"/>
              </a:spcBef>
              <a:buClr>
                <a:schemeClr val="hlink"/>
              </a:buClr>
              <a:buSzPct val="65000"/>
              <a:buFont typeface="Monotype Sorts"/>
              <a:buChar char="F"/>
              <a:defRPr kumimoji="1" sz="1600" b="1">
                <a:solidFill>
                  <a:schemeClr val="tx1"/>
                </a:solidFill>
                <a:latin typeface="Arial" panose="020B0604020202020204" pitchFamily="34" charset="0"/>
              </a:defRPr>
            </a:lvl3pPr>
            <a:lvl4pPr marL="1600200" indent="-228600" eaLnBrk="0" hangingPunct="0">
              <a:spcBef>
                <a:spcPct val="20000"/>
              </a:spcBef>
              <a:buClr>
                <a:schemeClr val="tx2"/>
              </a:buClr>
              <a:buSzPct val="100000"/>
              <a:buChar char="•"/>
              <a:defRPr kumimoji="1" sz="1600" b="1">
                <a:solidFill>
                  <a:schemeClr val="tx1"/>
                </a:solidFill>
                <a:latin typeface="Arial" panose="020B0604020202020204" pitchFamily="34" charset="0"/>
              </a:defRPr>
            </a:lvl4pPr>
            <a:lvl5pPr marL="2057400" indent="-228600" eaLnBrk="0" hangingPunct="0">
              <a:spcBef>
                <a:spcPct val="20000"/>
              </a:spcBef>
              <a:buClr>
                <a:schemeClr val="hlink"/>
              </a:buClr>
              <a:buSzPct val="100000"/>
              <a:buChar char="–"/>
              <a:defRPr kumimoji="1"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9pPr>
          </a:lstStyle>
          <a:p>
            <a:pPr eaLnBrk="1" hangingPunct="1">
              <a:spcBef>
                <a:spcPct val="0"/>
              </a:spcBef>
              <a:buClrTx/>
              <a:buSzTx/>
              <a:buFontTx/>
              <a:buNone/>
            </a:pPr>
            <a:r>
              <a:rPr kumimoji="0" lang="en-US" altLang="en-US" sz="1400" dirty="0">
                <a:solidFill>
                  <a:srgbClr val="0000CC"/>
                </a:solidFill>
                <a:latin typeface="Helvetica" panose="020B0604020202020204" pitchFamily="34" charset="0"/>
              </a:rPr>
              <a:t>FPGA Fabric</a:t>
            </a:r>
            <a:endParaRPr kumimoji="0" lang="en-GB" altLang="en-US" sz="1400" dirty="0">
              <a:solidFill>
                <a:srgbClr val="0000CC"/>
              </a:solidFill>
              <a:latin typeface="Helvetica" panose="020B0604020202020204" pitchFamily="34" charset="0"/>
            </a:endParaRPr>
          </a:p>
        </p:txBody>
      </p:sp>
      <p:sp>
        <p:nvSpPr>
          <p:cNvPr id="9" name="Rectangle 13"/>
          <p:cNvSpPr>
            <a:spLocks noChangeArrowheads="1"/>
          </p:cNvSpPr>
          <p:nvPr/>
        </p:nvSpPr>
        <p:spPr bwMode="auto">
          <a:xfrm>
            <a:off x="6248400" y="3518752"/>
            <a:ext cx="1187450" cy="3048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50000"/>
              <a:buFont typeface="Monotype Sorts"/>
              <a:buChar char="n"/>
              <a:defRPr kumimoji="1" sz="2000" b="1">
                <a:solidFill>
                  <a:schemeClr val="tx1"/>
                </a:solidFill>
                <a:latin typeface="Arial" panose="020B0604020202020204" pitchFamily="34" charset="0"/>
              </a:defRPr>
            </a:lvl1pPr>
            <a:lvl2pPr marL="742950" indent="-285750" eaLnBrk="0" hangingPunct="0">
              <a:spcBef>
                <a:spcPct val="20000"/>
              </a:spcBef>
              <a:buClr>
                <a:schemeClr val="tx2"/>
              </a:buClr>
              <a:buSzPct val="75000"/>
              <a:buFont typeface="Monotype Sorts"/>
              <a:buChar char="u"/>
              <a:defRPr kumimoji="1" b="1">
                <a:solidFill>
                  <a:schemeClr val="tx1"/>
                </a:solidFill>
                <a:latin typeface="Arial" panose="020B0604020202020204" pitchFamily="34" charset="0"/>
              </a:defRPr>
            </a:lvl2pPr>
            <a:lvl3pPr marL="1143000" indent="-228600" eaLnBrk="0" hangingPunct="0">
              <a:spcBef>
                <a:spcPct val="20000"/>
              </a:spcBef>
              <a:buClr>
                <a:schemeClr val="hlink"/>
              </a:buClr>
              <a:buSzPct val="65000"/>
              <a:buFont typeface="Monotype Sorts"/>
              <a:buChar char="F"/>
              <a:defRPr kumimoji="1" sz="1600" b="1">
                <a:solidFill>
                  <a:schemeClr val="tx1"/>
                </a:solidFill>
                <a:latin typeface="Arial" panose="020B0604020202020204" pitchFamily="34" charset="0"/>
              </a:defRPr>
            </a:lvl3pPr>
            <a:lvl4pPr marL="1600200" indent="-228600" eaLnBrk="0" hangingPunct="0">
              <a:spcBef>
                <a:spcPct val="20000"/>
              </a:spcBef>
              <a:buClr>
                <a:schemeClr val="tx2"/>
              </a:buClr>
              <a:buSzPct val="100000"/>
              <a:buChar char="•"/>
              <a:defRPr kumimoji="1" sz="1600" b="1">
                <a:solidFill>
                  <a:schemeClr val="tx1"/>
                </a:solidFill>
                <a:latin typeface="Arial" panose="020B0604020202020204" pitchFamily="34" charset="0"/>
              </a:defRPr>
            </a:lvl4pPr>
            <a:lvl5pPr marL="2057400" indent="-228600" eaLnBrk="0" hangingPunct="0">
              <a:spcBef>
                <a:spcPct val="20000"/>
              </a:spcBef>
              <a:buClr>
                <a:schemeClr val="hlink"/>
              </a:buClr>
              <a:buSzPct val="100000"/>
              <a:buChar char="–"/>
              <a:defRPr kumimoji="1"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9pPr>
          </a:lstStyle>
          <a:p>
            <a:pPr eaLnBrk="1" hangingPunct="1">
              <a:spcBef>
                <a:spcPct val="0"/>
              </a:spcBef>
              <a:buClrTx/>
              <a:buSzTx/>
              <a:buFontTx/>
              <a:buNone/>
            </a:pPr>
            <a:r>
              <a:rPr kumimoji="0" lang="en-US" altLang="en-US" sz="1400">
                <a:solidFill>
                  <a:srgbClr val="0000CC"/>
                </a:solidFill>
                <a:latin typeface="Helvetica" panose="020B0604020202020204" pitchFamily="34" charset="0"/>
              </a:rPr>
              <a:t>Logic Block</a:t>
            </a:r>
            <a:endParaRPr kumimoji="0" lang="en-GB" altLang="en-US" sz="1400">
              <a:solidFill>
                <a:srgbClr val="0000CC"/>
              </a:solidFill>
              <a:latin typeface="Helvetica" panose="020B0604020202020204" pitchFamily="34" charset="0"/>
            </a:endParaRPr>
          </a:p>
        </p:txBody>
      </p:sp>
      <p:sp>
        <p:nvSpPr>
          <p:cNvPr id="10" name="Oval 16"/>
          <p:cNvSpPr>
            <a:spLocks noChangeArrowheads="1"/>
          </p:cNvSpPr>
          <p:nvPr/>
        </p:nvSpPr>
        <p:spPr bwMode="auto">
          <a:xfrm>
            <a:off x="2628900" y="2297229"/>
            <a:ext cx="1008062" cy="576263"/>
          </a:xfrm>
          <a:prstGeom prst="ellipse">
            <a:avLst/>
          </a:prstGeom>
          <a:noFill/>
          <a:ln w="28575">
            <a:solidFill>
              <a:schemeClr val="accent2"/>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lvl1pPr eaLnBrk="0" hangingPunct="0">
              <a:spcBef>
                <a:spcPct val="20000"/>
              </a:spcBef>
              <a:buClr>
                <a:schemeClr val="hlink"/>
              </a:buClr>
              <a:buSzPct val="50000"/>
              <a:buFont typeface="Monotype Sorts"/>
              <a:buChar char="n"/>
              <a:defRPr kumimoji="1" sz="2000" b="1">
                <a:solidFill>
                  <a:schemeClr val="tx1"/>
                </a:solidFill>
                <a:latin typeface="Arial" panose="020B0604020202020204" pitchFamily="34" charset="0"/>
              </a:defRPr>
            </a:lvl1pPr>
            <a:lvl2pPr marL="742950" indent="-285750" eaLnBrk="0" hangingPunct="0">
              <a:spcBef>
                <a:spcPct val="20000"/>
              </a:spcBef>
              <a:buClr>
                <a:schemeClr val="tx2"/>
              </a:buClr>
              <a:buSzPct val="75000"/>
              <a:buFont typeface="Monotype Sorts"/>
              <a:buChar char="u"/>
              <a:defRPr kumimoji="1" b="1">
                <a:solidFill>
                  <a:schemeClr val="tx1"/>
                </a:solidFill>
                <a:latin typeface="Arial" panose="020B0604020202020204" pitchFamily="34" charset="0"/>
              </a:defRPr>
            </a:lvl2pPr>
            <a:lvl3pPr marL="1143000" indent="-228600" eaLnBrk="0" hangingPunct="0">
              <a:spcBef>
                <a:spcPct val="20000"/>
              </a:spcBef>
              <a:buClr>
                <a:schemeClr val="hlink"/>
              </a:buClr>
              <a:buSzPct val="65000"/>
              <a:buFont typeface="Monotype Sorts"/>
              <a:buChar char="F"/>
              <a:defRPr kumimoji="1" sz="1600" b="1">
                <a:solidFill>
                  <a:schemeClr val="tx1"/>
                </a:solidFill>
                <a:latin typeface="Arial" panose="020B0604020202020204" pitchFamily="34" charset="0"/>
              </a:defRPr>
            </a:lvl3pPr>
            <a:lvl4pPr marL="1600200" indent="-228600" eaLnBrk="0" hangingPunct="0">
              <a:spcBef>
                <a:spcPct val="20000"/>
              </a:spcBef>
              <a:buClr>
                <a:schemeClr val="tx2"/>
              </a:buClr>
              <a:buSzPct val="100000"/>
              <a:buChar char="•"/>
              <a:defRPr kumimoji="1" sz="1600" b="1">
                <a:solidFill>
                  <a:schemeClr val="tx1"/>
                </a:solidFill>
                <a:latin typeface="Arial" panose="020B0604020202020204" pitchFamily="34" charset="0"/>
              </a:defRPr>
            </a:lvl4pPr>
            <a:lvl5pPr marL="2057400" indent="-228600" eaLnBrk="0" hangingPunct="0">
              <a:spcBef>
                <a:spcPct val="20000"/>
              </a:spcBef>
              <a:buClr>
                <a:schemeClr val="hlink"/>
              </a:buClr>
              <a:buSzPct val="100000"/>
              <a:buChar char="–"/>
              <a:defRPr kumimoji="1"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9pPr>
          </a:lstStyle>
          <a:p>
            <a:pPr>
              <a:spcBef>
                <a:spcPct val="0"/>
              </a:spcBef>
              <a:buClrTx/>
              <a:buSzTx/>
              <a:buFontTx/>
              <a:buNone/>
            </a:pPr>
            <a:endParaRPr lang="en-GB" altLang="en-US" sz="2400" b="0">
              <a:latin typeface="Times New Roman" panose="02020603050405020304" pitchFamily="18" charset="0"/>
            </a:endParaRPr>
          </a:p>
        </p:txBody>
      </p:sp>
    </p:spTree>
    <p:extLst>
      <p:ext uri="{BB962C8B-B14F-4D97-AF65-F5344CB8AC3E}">
        <p14:creationId xmlns:p14="http://schemas.microsoft.com/office/powerpoint/2010/main" val="9120500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t>LUT in FPGA</a:t>
            </a:r>
            <a:endParaRPr lang="en-US" dirty="0"/>
          </a:p>
        </p:txBody>
      </p:sp>
      <p:pic>
        <p:nvPicPr>
          <p:cNvPr id="7" name="图片 6"/>
          <p:cNvPicPr>
            <a:picLocks noChangeAspect="1"/>
          </p:cNvPicPr>
          <p:nvPr/>
        </p:nvPicPr>
        <p:blipFill>
          <a:blip r:embed="rId2"/>
          <a:stretch>
            <a:fillRect/>
          </a:stretch>
        </p:blipFill>
        <p:spPr>
          <a:xfrm>
            <a:off x="5078395" y="1522661"/>
            <a:ext cx="4065605" cy="4491323"/>
          </a:xfrm>
          <a:prstGeom prst="rect">
            <a:avLst/>
          </a:prstGeom>
        </p:spPr>
      </p:pic>
      <p:sp>
        <p:nvSpPr>
          <p:cNvPr id="8" name="Content Placeholder 2"/>
          <p:cNvSpPr>
            <a:spLocks noGrp="1"/>
          </p:cNvSpPr>
          <p:nvPr>
            <p:ph idx="1"/>
          </p:nvPr>
        </p:nvSpPr>
        <p:spPr>
          <a:xfrm>
            <a:off x="304800" y="1524000"/>
            <a:ext cx="8229600" cy="3733799"/>
          </a:xfrm>
        </p:spPr>
        <p:txBody>
          <a:bodyPr>
            <a:normAutofit/>
          </a:bodyPr>
          <a:lstStyle/>
          <a:p>
            <a:r>
              <a:rPr lang="en-US" dirty="0" smtClean="0"/>
              <a:t>Example: 3-input LUT</a:t>
            </a:r>
          </a:p>
          <a:p>
            <a:pPr lvl="1"/>
            <a:r>
              <a:rPr lang="en-US" dirty="0" smtClean="0"/>
              <a:t>Multiplexer </a:t>
            </a:r>
          </a:p>
          <a:p>
            <a:pPr lvl="1"/>
            <a:r>
              <a:rPr lang="en-US" dirty="0" smtClean="0"/>
              <a:t>Configuration memory (SRAM)</a:t>
            </a:r>
          </a:p>
          <a:p>
            <a:pPr lvl="1"/>
            <a:r>
              <a:rPr lang="en-US" dirty="0" smtClean="0"/>
              <a:t>Filling content in SRAM</a:t>
            </a:r>
          </a:p>
          <a:p>
            <a:pPr marL="457200" lvl="1" indent="0">
              <a:buNone/>
            </a:pPr>
            <a:r>
              <a:rPr lang="en-US" dirty="0" smtClean="0"/>
              <a:t> (programming)</a:t>
            </a:r>
          </a:p>
          <a:p>
            <a:endParaRPr lang="en-US" b="1" dirty="0" smtClean="0"/>
          </a:p>
          <a:p>
            <a:endParaRPr lang="en-US" dirty="0" smtClean="0"/>
          </a:p>
          <a:p>
            <a:pPr marL="0" indent="0">
              <a:buNone/>
            </a:pPr>
            <a:endParaRPr lang="en-US" dirty="0"/>
          </a:p>
        </p:txBody>
      </p:sp>
      <p:sp>
        <p:nvSpPr>
          <p:cNvPr id="9" name="文本框 8"/>
          <p:cNvSpPr txBox="1"/>
          <p:nvPr/>
        </p:nvSpPr>
        <p:spPr>
          <a:xfrm>
            <a:off x="1322837" y="4972997"/>
            <a:ext cx="4011163" cy="461665"/>
          </a:xfrm>
          <a:prstGeom prst="rect">
            <a:avLst/>
          </a:prstGeom>
          <a:noFill/>
        </p:spPr>
        <p:txBody>
          <a:bodyPr wrap="none" rtlCol="0">
            <a:spAutoFit/>
          </a:bodyPr>
          <a:lstStyle/>
          <a:p>
            <a:r>
              <a:rPr lang="en-US" sz="2400" dirty="0" smtClean="0">
                <a:solidFill>
                  <a:srgbClr val="FF0000"/>
                </a:solidFill>
              </a:rPr>
              <a:t>Configuration memory (SRAM)</a:t>
            </a:r>
            <a:endParaRPr lang="en-US" sz="2400" dirty="0">
              <a:solidFill>
                <a:srgbClr val="FF0000"/>
              </a:solidFill>
            </a:endParaRPr>
          </a:p>
        </p:txBody>
      </p:sp>
      <p:sp>
        <p:nvSpPr>
          <p:cNvPr id="3" name="文本框 2"/>
          <p:cNvSpPr txBox="1"/>
          <p:nvPr/>
        </p:nvSpPr>
        <p:spPr>
          <a:xfrm>
            <a:off x="6480114" y="2438400"/>
            <a:ext cx="301686" cy="369332"/>
          </a:xfrm>
          <a:prstGeom prst="rect">
            <a:avLst/>
          </a:prstGeom>
          <a:noFill/>
        </p:spPr>
        <p:txBody>
          <a:bodyPr wrap="none" rtlCol="0">
            <a:spAutoFit/>
          </a:bodyPr>
          <a:lstStyle/>
          <a:p>
            <a:r>
              <a:rPr lang="en-US" dirty="0" smtClean="0"/>
              <a:t>1</a:t>
            </a:r>
            <a:endParaRPr lang="en-US" dirty="0"/>
          </a:p>
        </p:txBody>
      </p:sp>
      <p:sp>
        <p:nvSpPr>
          <p:cNvPr id="5" name="文本框 4"/>
          <p:cNvSpPr txBox="1"/>
          <p:nvPr/>
        </p:nvSpPr>
        <p:spPr>
          <a:xfrm>
            <a:off x="6477000" y="2743200"/>
            <a:ext cx="301686" cy="369332"/>
          </a:xfrm>
          <a:prstGeom prst="rect">
            <a:avLst/>
          </a:prstGeom>
          <a:noFill/>
        </p:spPr>
        <p:txBody>
          <a:bodyPr wrap="none" rtlCol="0">
            <a:spAutoFit/>
          </a:bodyPr>
          <a:lstStyle/>
          <a:p>
            <a:r>
              <a:rPr lang="en-US" dirty="0" smtClean="0"/>
              <a:t>0</a:t>
            </a:r>
            <a:endParaRPr lang="en-US" dirty="0"/>
          </a:p>
        </p:txBody>
      </p:sp>
      <mc:AlternateContent xmlns:mc="http://schemas.openxmlformats.org/markup-compatibility/2006">
        <mc:Choice xmlns:a14="http://schemas.microsoft.com/office/drawing/2010/main" Requires="a14">
          <p:sp>
            <p:nvSpPr>
              <p:cNvPr id="10" name="文本框 9"/>
              <p:cNvSpPr txBox="1"/>
              <p:nvPr/>
            </p:nvSpPr>
            <p:spPr>
              <a:xfrm>
                <a:off x="891450" y="6288145"/>
                <a:ext cx="5696367" cy="37010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𝐹</m:t>
                      </m:r>
                      <m:r>
                        <a:rPr lang="en-US" sz="240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1.</m:t>
                      </m:r>
                      <m:r>
                        <a:rPr lang="en-US" sz="2400" b="0" i="1" smtClean="0">
                          <a:latin typeface="Cambria Math" panose="02040503050406030204" pitchFamily="18" charset="0"/>
                        </a:rPr>
                        <m:t>𝑥</m:t>
                      </m:r>
                      <m:r>
                        <a:rPr lang="en-US" sz="2400" b="0" i="1" smtClean="0">
                          <a:latin typeface="Cambria Math" panose="02040503050406030204" pitchFamily="18" charset="0"/>
                        </a:rPr>
                        <m:t>2.</m:t>
                      </m:r>
                      <m:r>
                        <a:rPr lang="en-US" sz="2400" b="0" i="1" smtClean="0">
                          <a:latin typeface="Cambria Math" panose="02040503050406030204" pitchFamily="18" charset="0"/>
                        </a:rPr>
                        <m:t>𝑥</m:t>
                      </m:r>
                      <m:r>
                        <a:rPr lang="en-US" sz="2400" b="0" i="1" smtClean="0">
                          <a:latin typeface="Cambria Math" panose="02040503050406030204" pitchFamily="18" charset="0"/>
                        </a:rPr>
                        <m:t>3+</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r>
                            <a:rPr lang="en-US" sz="2400" b="0" i="1" smtClean="0">
                              <a:latin typeface="Cambria Math" panose="02040503050406030204" pitchFamily="18" charset="0"/>
                            </a:rPr>
                            <m:t>1</m:t>
                          </m:r>
                        </m:e>
                      </m:acc>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2.</m:t>
                      </m:r>
                      <m:r>
                        <a:rPr lang="en-US" sz="2400" b="0" i="1" smtClean="0">
                          <a:latin typeface="Cambria Math" panose="02040503050406030204" pitchFamily="18" charset="0"/>
                        </a:rPr>
                        <m:t>𝑥</m:t>
                      </m:r>
                      <m:r>
                        <a:rPr lang="en-US" sz="2400" b="0" i="1" smtClean="0">
                          <a:latin typeface="Cambria Math" panose="02040503050406030204" pitchFamily="18" charset="0"/>
                        </a:rPr>
                        <m:t>3+…+</m:t>
                      </m:r>
                      <m:acc>
                        <m:accPr>
                          <m:chr m:val="̅"/>
                          <m:ctrlPr>
                            <a:rPr lang="en-US" sz="2400" i="1">
                              <a:latin typeface="Cambria Math" panose="02040503050406030204" pitchFamily="18" charset="0"/>
                            </a:rPr>
                          </m:ctrlPr>
                        </m:accPr>
                        <m:e>
                          <m:r>
                            <a:rPr lang="en-US" sz="2400" i="1">
                              <a:latin typeface="Cambria Math" panose="02040503050406030204" pitchFamily="18" charset="0"/>
                            </a:rPr>
                            <m:t>𝑥</m:t>
                          </m:r>
                          <m:r>
                            <a:rPr lang="en-US" sz="2400" i="1">
                              <a:latin typeface="Cambria Math" panose="02040503050406030204" pitchFamily="18" charset="0"/>
                            </a:rPr>
                            <m:t>1</m:t>
                          </m:r>
                        </m:e>
                      </m:acc>
                      <m:r>
                        <a:rPr lang="en-US" sz="2400" b="0" i="1" smtClean="0">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𝑥</m:t>
                          </m:r>
                          <m:r>
                            <a:rPr lang="en-US" sz="2400" b="0" i="1" smtClean="0">
                              <a:latin typeface="Cambria Math" panose="02040503050406030204" pitchFamily="18" charset="0"/>
                            </a:rPr>
                            <m:t>2</m:t>
                          </m:r>
                        </m:e>
                      </m:acc>
                      <m:r>
                        <a:rPr lang="en-US" sz="2400" b="0" i="1" smtClean="0">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𝑥</m:t>
                          </m:r>
                          <m:r>
                            <a:rPr lang="en-US" sz="2400" b="0" i="1" smtClean="0">
                              <a:latin typeface="Cambria Math" panose="02040503050406030204" pitchFamily="18" charset="0"/>
                            </a:rPr>
                            <m:t>3</m:t>
                          </m:r>
                        </m:e>
                      </m:acc>
                    </m:oMath>
                  </m:oMathPara>
                </a14:m>
                <a:endParaRPr lang="en-US" sz="2400" dirty="0"/>
              </a:p>
            </p:txBody>
          </p:sp>
        </mc:Choice>
        <mc:Fallback>
          <p:sp>
            <p:nvSpPr>
              <p:cNvPr id="10" name="文本框 9"/>
              <p:cNvSpPr txBox="1">
                <a:spLocks noRot="1" noChangeAspect="1" noMove="1" noResize="1" noEditPoints="1" noAdjustHandles="1" noChangeArrowheads="1" noChangeShapeType="1" noTextEdit="1"/>
              </p:cNvSpPr>
              <p:nvPr/>
            </p:nvSpPr>
            <p:spPr>
              <a:xfrm>
                <a:off x="891450" y="6288145"/>
                <a:ext cx="5696367" cy="370101"/>
              </a:xfrm>
              <a:prstGeom prst="rect">
                <a:avLst/>
              </a:prstGeom>
              <a:blipFill>
                <a:blip r:embed="rId3"/>
                <a:stretch>
                  <a:fillRect l="-749" r="-856" b="-6667"/>
                </a:stretch>
              </a:blipFill>
            </p:spPr>
            <p:txBody>
              <a:bodyPr/>
              <a:lstStyle/>
              <a:p>
                <a:r>
                  <a:rPr lang="en-US">
                    <a:noFill/>
                  </a:rPr>
                  <a:t> </a:t>
                </a:r>
              </a:p>
            </p:txBody>
          </p:sp>
        </mc:Fallback>
      </mc:AlternateContent>
    </p:spTree>
    <p:extLst>
      <p:ext uri="{BB962C8B-B14F-4D97-AF65-F5344CB8AC3E}">
        <p14:creationId xmlns:p14="http://schemas.microsoft.com/office/powerpoint/2010/main" val="29254685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“Architectural Evolution” of FPGA (Field Programmable Gate Arrays)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524000"/>
            <a:ext cx="5867400" cy="360387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TextBox 4"/>
          <p:cNvSpPr txBox="1"/>
          <p:nvPr/>
        </p:nvSpPr>
        <p:spPr>
          <a:xfrm>
            <a:off x="818701" y="5365253"/>
            <a:ext cx="7277997" cy="1200329"/>
          </a:xfrm>
          <a:prstGeom prst="rect">
            <a:avLst/>
          </a:prstGeom>
          <a:noFill/>
        </p:spPr>
        <p:txBody>
          <a:bodyPr wrap="square" rtlCol="0">
            <a:spAutoFit/>
          </a:bodyPr>
          <a:lstStyle/>
          <a:p>
            <a:pPr marL="285750" indent="-285750">
              <a:buFont typeface="Arial" charset="0"/>
              <a:buChar char="•"/>
            </a:pPr>
            <a:r>
              <a:rPr lang="en-US" sz="2400" dirty="0" smtClean="0">
                <a:solidFill>
                  <a:srgbClr val="FF0000"/>
                </a:solidFill>
                <a:latin typeface="Comic Sans MS" panose="030F0702030302020204" pitchFamily="66" charset="0"/>
              </a:rPr>
              <a:t>Hardware-centric</a:t>
            </a:r>
            <a:r>
              <a:rPr lang="en-US" sz="2400" dirty="0" smtClean="0">
                <a:solidFill>
                  <a:srgbClr val="FF0000"/>
                </a:solidFill>
                <a:latin typeface="Comic Sans MS" panose="030F0702030302020204" pitchFamily="66" charset="0"/>
                <a:sym typeface="Wingdings" panose="05000000000000000000" pitchFamily="2" charset="2"/>
              </a:rPr>
              <a:t> </a:t>
            </a:r>
            <a:r>
              <a:rPr lang="en-US" sz="2400" dirty="0">
                <a:solidFill>
                  <a:srgbClr val="FF0000"/>
                </a:solidFill>
                <a:latin typeface="Comic Sans MS" panose="030F0702030302020204" pitchFamily="66" charset="0"/>
                <a:sym typeface="Wingdings" panose="05000000000000000000" pitchFamily="2" charset="2"/>
              </a:rPr>
              <a:t> </a:t>
            </a:r>
            <a:r>
              <a:rPr lang="en-US" sz="2400" dirty="0" smtClean="0">
                <a:solidFill>
                  <a:srgbClr val="FF0000"/>
                </a:solidFill>
                <a:latin typeface="Comic Sans MS" panose="030F0702030302020204" pitchFamily="66" charset="0"/>
                <a:sym typeface="Wingdings" panose="05000000000000000000" pitchFamily="2" charset="2"/>
              </a:rPr>
              <a:t>fine-grained parallelism</a:t>
            </a:r>
            <a:endParaRPr lang="en-US" sz="2400" dirty="0" smtClean="0">
              <a:solidFill>
                <a:srgbClr val="FF0000"/>
              </a:solidFill>
              <a:latin typeface="Comic Sans MS" panose="030F0702030302020204" pitchFamily="66" charset="0"/>
            </a:endParaRPr>
          </a:p>
          <a:p>
            <a:pPr marL="285750" indent="-285750">
              <a:buFont typeface="Arial" charset="0"/>
              <a:buChar char="•"/>
            </a:pPr>
            <a:r>
              <a:rPr lang="en-US" sz="2400" dirty="0" smtClean="0">
                <a:solidFill>
                  <a:srgbClr val="FF0000"/>
                </a:solidFill>
                <a:latin typeface="Comic Sans MS" panose="030F0702030302020204" pitchFamily="66" charset="0"/>
              </a:rPr>
              <a:t>Users need to program with hardware description languages </a:t>
            </a:r>
            <a:r>
              <a:rPr lang="en-US" sz="2400" dirty="0" smtClean="0">
                <a:solidFill>
                  <a:srgbClr val="FF0000"/>
                </a:solidFill>
                <a:latin typeface="Comic Sans MS" panose="030F0702030302020204" pitchFamily="66" charset="0"/>
                <a:sym typeface="Wingdings" panose="05000000000000000000" pitchFamily="2" charset="2"/>
              </a:rPr>
              <a:t></a:t>
            </a:r>
            <a:endParaRPr lang="en-US"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465708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3046609" y="2514600"/>
            <a:ext cx="6096000" cy="3810000"/>
          </a:xfrm>
          <a:prstGeom prst="rect">
            <a:avLst/>
          </a:prstGeom>
        </p:spPr>
      </p:pic>
      <p:sp>
        <p:nvSpPr>
          <p:cNvPr id="2" name="Title 1"/>
          <p:cNvSpPr>
            <a:spLocks noGrp="1"/>
          </p:cNvSpPr>
          <p:nvPr>
            <p:ph type="title"/>
          </p:nvPr>
        </p:nvSpPr>
        <p:spPr/>
        <p:txBody>
          <a:bodyPr/>
          <a:lstStyle/>
          <a:p>
            <a:r>
              <a:rPr lang="en-US" dirty="0" smtClean="0"/>
              <a:t>Towards More Powerful FPGAs</a:t>
            </a:r>
            <a:endParaRPr lang="en-US" dirty="0"/>
          </a:p>
        </p:txBody>
      </p:sp>
      <p:sp>
        <p:nvSpPr>
          <p:cNvPr id="3" name="Content Placeholder 2"/>
          <p:cNvSpPr>
            <a:spLocks noGrp="1"/>
          </p:cNvSpPr>
          <p:nvPr>
            <p:ph idx="1"/>
          </p:nvPr>
        </p:nvSpPr>
        <p:spPr/>
        <p:txBody>
          <a:bodyPr/>
          <a:lstStyle/>
          <a:p>
            <a:r>
              <a:rPr lang="en-US" dirty="0" smtClean="0"/>
              <a:t>General-purpose processors</a:t>
            </a:r>
          </a:p>
          <a:p>
            <a:r>
              <a:rPr lang="en-US" dirty="0" smtClean="0"/>
              <a:t>More interfaces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
        <p:nvSpPr>
          <p:cNvPr id="7" name="Rectangle 6"/>
          <p:cNvSpPr/>
          <p:nvPr/>
        </p:nvSpPr>
        <p:spPr>
          <a:xfrm>
            <a:off x="3200400" y="6227055"/>
            <a:ext cx="6096000" cy="369332"/>
          </a:xfrm>
          <a:prstGeom prst="rect">
            <a:avLst/>
          </a:prstGeom>
        </p:spPr>
        <p:txBody>
          <a:bodyPr wrap="square">
            <a:spAutoFit/>
          </a:bodyPr>
          <a:lstStyle/>
          <a:p>
            <a:r>
              <a:rPr lang="en-US" dirty="0"/>
              <a:t>A Xilinx Zynq-7000 All Programmable System on a Chip.</a:t>
            </a:r>
          </a:p>
        </p:txBody>
      </p:sp>
    </p:spTree>
    <p:extLst>
      <p:ext uri="{BB962C8B-B14F-4D97-AF65-F5344CB8AC3E}">
        <p14:creationId xmlns:p14="http://schemas.microsoft.com/office/powerpoint/2010/main" val="34717719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153400" cy="833137"/>
          </a:xfrm>
        </p:spPr>
        <p:txBody>
          <a:bodyPr>
            <a:normAutofit/>
          </a:bodyPr>
          <a:lstStyle/>
          <a:p>
            <a:r>
              <a:rPr lang="en-US" b="1" dirty="0" smtClean="0"/>
              <a:t>Programming FPGA with Verilog</a:t>
            </a:r>
            <a:endParaRPr lang="en-US" dirty="0"/>
          </a:p>
        </p:txBody>
      </p:sp>
      <p:sp>
        <p:nvSpPr>
          <p:cNvPr id="3" name="Content Placeholder 2"/>
          <p:cNvSpPr>
            <a:spLocks noGrp="1"/>
          </p:cNvSpPr>
          <p:nvPr>
            <p:ph idx="1"/>
          </p:nvPr>
        </p:nvSpPr>
        <p:spPr>
          <a:xfrm>
            <a:off x="457200" y="1524001"/>
            <a:ext cx="8229600" cy="1524000"/>
          </a:xfrm>
        </p:spPr>
        <p:txBody>
          <a:bodyPr>
            <a:normAutofit/>
          </a:bodyPr>
          <a:lstStyle/>
          <a:p>
            <a:pPr marL="0" indent="0">
              <a:buNone/>
            </a:pPr>
            <a:endParaRPr lang="en-US" dirty="0" smtClean="0"/>
          </a:p>
          <a:p>
            <a:endParaRPr lang="en-US" dirty="0" smtClean="0"/>
          </a:p>
          <a:p>
            <a:endParaRPr lang="en-US" dirty="0" smtClean="0"/>
          </a:p>
          <a:p>
            <a:endParaRPr lang="en-US" dirty="0" smtClean="0"/>
          </a:p>
          <a:p>
            <a:endParaRPr lang="en-US" dirty="0" smtClean="0"/>
          </a:p>
          <a:p>
            <a:endParaRPr lang="en-US" b="1" dirty="0" smtClean="0"/>
          </a:p>
          <a:p>
            <a:endParaRPr lang="en-US" dirty="0" smtClean="0"/>
          </a:p>
          <a:p>
            <a:pPr marL="0" indent="0">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pic>
        <p:nvPicPr>
          <p:cNvPr id="5" name="Picture 3" descr="Sequential pipeline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3175001"/>
            <a:ext cx="5184775" cy="1746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6" name="Group 5"/>
          <p:cNvGrpSpPr>
            <a:grpSpLocks/>
          </p:cNvGrpSpPr>
          <p:nvPr/>
        </p:nvGrpSpPr>
        <p:grpSpPr bwMode="auto">
          <a:xfrm>
            <a:off x="2133600" y="5207000"/>
            <a:ext cx="3889375" cy="1041400"/>
            <a:chOff x="2608" y="3158"/>
            <a:chExt cx="2450" cy="656"/>
          </a:xfrm>
        </p:grpSpPr>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8" y="3521"/>
              <a:ext cx="1602" cy="2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5" y="3158"/>
              <a:ext cx="953" cy="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9" name="Rectangle 8"/>
          <p:cNvSpPr>
            <a:spLocks noChangeArrowheads="1"/>
          </p:cNvSpPr>
          <p:nvPr/>
        </p:nvSpPr>
        <p:spPr bwMode="auto">
          <a:xfrm>
            <a:off x="1905000" y="4960938"/>
            <a:ext cx="742511" cy="338554"/>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50000"/>
              <a:buFont typeface="Monotype Sorts"/>
              <a:buChar char="n"/>
              <a:defRPr kumimoji="1" sz="2000" b="1">
                <a:solidFill>
                  <a:schemeClr val="tx1"/>
                </a:solidFill>
                <a:latin typeface="Arial" panose="020B0604020202020204" pitchFamily="34" charset="0"/>
              </a:defRPr>
            </a:lvl1pPr>
            <a:lvl2pPr marL="742950" indent="-285750" eaLnBrk="0" hangingPunct="0">
              <a:spcBef>
                <a:spcPct val="20000"/>
              </a:spcBef>
              <a:buClr>
                <a:schemeClr val="tx2"/>
              </a:buClr>
              <a:buSzPct val="75000"/>
              <a:buFont typeface="Monotype Sorts"/>
              <a:buChar char="u"/>
              <a:defRPr kumimoji="1" b="1">
                <a:solidFill>
                  <a:schemeClr val="tx1"/>
                </a:solidFill>
                <a:latin typeface="Arial" panose="020B0604020202020204" pitchFamily="34" charset="0"/>
              </a:defRPr>
            </a:lvl2pPr>
            <a:lvl3pPr marL="1143000" indent="-228600" eaLnBrk="0" hangingPunct="0">
              <a:spcBef>
                <a:spcPct val="20000"/>
              </a:spcBef>
              <a:buClr>
                <a:schemeClr val="hlink"/>
              </a:buClr>
              <a:buSzPct val="65000"/>
              <a:buFont typeface="Monotype Sorts"/>
              <a:buChar char="F"/>
              <a:defRPr kumimoji="1" sz="1600" b="1">
                <a:solidFill>
                  <a:schemeClr val="tx1"/>
                </a:solidFill>
                <a:latin typeface="Arial" panose="020B0604020202020204" pitchFamily="34" charset="0"/>
              </a:defRPr>
            </a:lvl3pPr>
            <a:lvl4pPr marL="1600200" indent="-228600" eaLnBrk="0" hangingPunct="0">
              <a:spcBef>
                <a:spcPct val="20000"/>
              </a:spcBef>
              <a:buClr>
                <a:schemeClr val="tx2"/>
              </a:buClr>
              <a:buSzPct val="100000"/>
              <a:buChar char="•"/>
              <a:defRPr kumimoji="1" sz="1600" b="1">
                <a:solidFill>
                  <a:schemeClr val="tx1"/>
                </a:solidFill>
                <a:latin typeface="Arial" panose="020B0604020202020204" pitchFamily="34" charset="0"/>
              </a:defRPr>
            </a:lvl4pPr>
            <a:lvl5pPr marL="2057400" indent="-228600" eaLnBrk="0" hangingPunct="0">
              <a:spcBef>
                <a:spcPct val="20000"/>
              </a:spcBef>
              <a:buClr>
                <a:schemeClr val="hlink"/>
              </a:buClr>
              <a:buSzPct val="100000"/>
              <a:buChar char="–"/>
              <a:defRPr kumimoji="1"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9pPr>
          </a:lstStyle>
          <a:p>
            <a:pPr eaLnBrk="1" hangingPunct="1">
              <a:spcBef>
                <a:spcPct val="0"/>
              </a:spcBef>
              <a:buClrTx/>
              <a:buSzTx/>
              <a:buFontTx/>
              <a:buNone/>
            </a:pPr>
            <a:r>
              <a:rPr kumimoji="0" lang="en-US" altLang="en-US" sz="1600" dirty="0" smtClean="0">
                <a:solidFill>
                  <a:schemeClr val="accent2"/>
                </a:solidFill>
                <a:latin typeface="Helvetica" panose="020B0604020202020204" pitchFamily="34" charset="0"/>
              </a:rPr>
              <a:t>Clock</a:t>
            </a:r>
            <a:endParaRPr kumimoji="0" lang="en-GB" altLang="en-US" sz="1600" dirty="0">
              <a:solidFill>
                <a:schemeClr val="accent2"/>
              </a:solidFill>
              <a:latin typeface="Helvetica" panose="020B0604020202020204" pitchFamily="34" charset="0"/>
            </a:endParaRPr>
          </a:p>
        </p:txBody>
      </p:sp>
      <p:sp>
        <p:nvSpPr>
          <p:cNvPr id="10" name="Line 11"/>
          <p:cNvSpPr>
            <a:spLocks noChangeShapeType="1"/>
          </p:cNvSpPr>
          <p:nvPr/>
        </p:nvSpPr>
        <p:spPr bwMode="auto">
          <a:xfrm flipH="1" flipV="1">
            <a:off x="2408237" y="5248275"/>
            <a:ext cx="576263" cy="720725"/>
          </a:xfrm>
          <a:prstGeom prst="line">
            <a:avLst/>
          </a:prstGeom>
          <a:noFill/>
          <a:ln w="28575">
            <a:solidFill>
              <a:schemeClr val="accent2"/>
            </a:solidFill>
            <a:round/>
            <a:headEnd type="triangle" w="med" len="med"/>
            <a:tailEnd/>
          </a:ln>
          <a:extLst>
            <a:ext uri="{909E8E84-426E-40dd-AFC4-6F175D3DCCD1}">
              <a14:hiddenFill xmlns:a14="http://schemas.microsoft.com/office/drawing/2010/main" xmlns="">
                <a:noFill/>
              </a14:hiddenFill>
            </a:ext>
          </a:extLst>
        </p:spPr>
        <p:txBody>
          <a:bodyPr/>
          <a:lstStyle/>
          <a:p>
            <a:endParaRPr lang="en-SG"/>
          </a:p>
        </p:txBody>
      </p:sp>
      <p:sp>
        <p:nvSpPr>
          <p:cNvPr id="11" name="Line 12"/>
          <p:cNvSpPr>
            <a:spLocks noChangeShapeType="1"/>
          </p:cNvSpPr>
          <p:nvPr/>
        </p:nvSpPr>
        <p:spPr bwMode="auto">
          <a:xfrm flipH="1">
            <a:off x="2265362" y="4600575"/>
            <a:ext cx="0" cy="287338"/>
          </a:xfrm>
          <a:prstGeom prst="line">
            <a:avLst/>
          </a:prstGeom>
          <a:noFill/>
          <a:ln w="28575">
            <a:solidFill>
              <a:schemeClr val="accent2"/>
            </a:solidFill>
            <a:round/>
            <a:headEnd type="triangle" w="med" len="med"/>
            <a:tailEnd/>
          </a:ln>
          <a:extLst>
            <a:ext uri="{909E8E84-426E-40dd-AFC4-6F175D3DCCD1}">
              <a14:hiddenFill xmlns:a14="http://schemas.microsoft.com/office/drawing/2010/main" xmlns="">
                <a:noFill/>
              </a14:hiddenFill>
            </a:ext>
          </a:extLst>
        </p:spPr>
        <p:txBody>
          <a:bodyPr/>
          <a:lstStyle/>
          <a:p>
            <a:endParaRPr lang="en-SG"/>
          </a:p>
        </p:txBody>
      </p:sp>
      <p:sp>
        <p:nvSpPr>
          <p:cNvPr id="12" name="Rectangle 4"/>
          <p:cNvSpPr>
            <a:spLocks noChangeArrowheads="1"/>
          </p:cNvSpPr>
          <p:nvPr/>
        </p:nvSpPr>
        <p:spPr bwMode="auto">
          <a:xfrm>
            <a:off x="4953000" y="4943475"/>
            <a:ext cx="893763" cy="3048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50000"/>
              <a:buFont typeface="Monotype Sorts"/>
              <a:buChar char="n"/>
              <a:defRPr kumimoji="1" sz="2000" b="1">
                <a:solidFill>
                  <a:schemeClr val="tx1"/>
                </a:solidFill>
                <a:latin typeface="Arial" panose="020B0604020202020204" pitchFamily="34" charset="0"/>
              </a:defRPr>
            </a:lvl1pPr>
            <a:lvl2pPr marL="742950" indent="-285750" eaLnBrk="0" hangingPunct="0">
              <a:spcBef>
                <a:spcPct val="20000"/>
              </a:spcBef>
              <a:buClr>
                <a:schemeClr val="tx2"/>
              </a:buClr>
              <a:buSzPct val="75000"/>
              <a:buFont typeface="Monotype Sorts"/>
              <a:buChar char="u"/>
              <a:defRPr kumimoji="1" b="1">
                <a:solidFill>
                  <a:schemeClr val="tx1"/>
                </a:solidFill>
                <a:latin typeface="Arial" panose="020B0604020202020204" pitchFamily="34" charset="0"/>
              </a:defRPr>
            </a:lvl2pPr>
            <a:lvl3pPr marL="1143000" indent="-228600" eaLnBrk="0" hangingPunct="0">
              <a:spcBef>
                <a:spcPct val="20000"/>
              </a:spcBef>
              <a:buClr>
                <a:schemeClr val="hlink"/>
              </a:buClr>
              <a:buSzPct val="65000"/>
              <a:buFont typeface="Monotype Sorts"/>
              <a:buChar char="F"/>
              <a:defRPr kumimoji="1" sz="1600" b="1">
                <a:solidFill>
                  <a:schemeClr val="tx1"/>
                </a:solidFill>
                <a:latin typeface="Arial" panose="020B0604020202020204" pitchFamily="34" charset="0"/>
              </a:defRPr>
            </a:lvl3pPr>
            <a:lvl4pPr marL="1600200" indent="-228600" eaLnBrk="0" hangingPunct="0">
              <a:spcBef>
                <a:spcPct val="20000"/>
              </a:spcBef>
              <a:buClr>
                <a:schemeClr val="tx2"/>
              </a:buClr>
              <a:buSzPct val="100000"/>
              <a:buChar char="•"/>
              <a:defRPr kumimoji="1" sz="1600" b="1">
                <a:solidFill>
                  <a:schemeClr val="tx1"/>
                </a:solidFill>
                <a:latin typeface="Arial" panose="020B0604020202020204" pitchFamily="34" charset="0"/>
              </a:defRPr>
            </a:lvl4pPr>
            <a:lvl5pPr marL="2057400" indent="-228600" eaLnBrk="0" hangingPunct="0">
              <a:spcBef>
                <a:spcPct val="20000"/>
              </a:spcBef>
              <a:buClr>
                <a:schemeClr val="hlink"/>
              </a:buClr>
              <a:buSzPct val="100000"/>
              <a:buChar char="–"/>
              <a:defRPr kumimoji="1"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9pPr>
          </a:lstStyle>
          <a:p>
            <a:pPr eaLnBrk="1" hangingPunct="1">
              <a:spcBef>
                <a:spcPct val="0"/>
              </a:spcBef>
              <a:buClrTx/>
              <a:buSzTx/>
              <a:buFontTx/>
              <a:buNone/>
            </a:pPr>
            <a:r>
              <a:rPr kumimoji="0" lang="en-US" altLang="en-US" sz="1400" dirty="0">
                <a:solidFill>
                  <a:srgbClr val="0000CC"/>
                </a:solidFill>
                <a:latin typeface="Helvetica" panose="020B0604020202020204" pitchFamily="34" charset="0"/>
              </a:rPr>
              <a:t>Register</a:t>
            </a:r>
            <a:endParaRPr kumimoji="0" lang="en-GB" altLang="en-US" sz="1400" dirty="0">
              <a:solidFill>
                <a:srgbClr val="0000CC"/>
              </a:solidFill>
              <a:latin typeface="Helvetica" panose="020B0604020202020204" pitchFamily="34" charset="0"/>
            </a:endParaRPr>
          </a:p>
        </p:txBody>
      </p:sp>
      <p:sp>
        <p:nvSpPr>
          <p:cNvPr id="13" name="Rectangle 9"/>
          <p:cNvSpPr>
            <a:spLocks noChangeArrowheads="1"/>
          </p:cNvSpPr>
          <p:nvPr/>
        </p:nvSpPr>
        <p:spPr bwMode="auto">
          <a:xfrm>
            <a:off x="6832434" y="3606800"/>
            <a:ext cx="1625766" cy="52322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50000"/>
              <a:buFont typeface="Monotype Sorts"/>
              <a:buChar char="n"/>
              <a:defRPr kumimoji="1" sz="2000" b="1">
                <a:solidFill>
                  <a:schemeClr val="tx1"/>
                </a:solidFill>
                <a:latin typeface="Arial" panose="020B0604020202020204" pitchFamily="34" charset="0"/>
              </a:defRPr>
            </a:lvl1pPr>
            <a:lvl2pPr marL="742950" indent="-285750" eaLnBrk="0" hangingPunct="0">
              <a:spcBef>
                <a:spcPct val="20000"/>
              </a:spcBef>
              <a:buClr>
                <a:schemeClr val="tx2"/>
              </a:buClr>
              <a:buSzPct val="75000"/>
              <a:buFont typeface="Monotype Sorts"/>
              <a:buChar char="u"/>
              <a:defRPr kumimoji="1" b="1">
                <a:solidFill>
                  <a:schemeClr val="tx1"/>
                </a:solidFill>
                <a:latin typeface="Arial" panose="020B0604020202020204" pitchFamily="34" charset="0"/>
              </a:defRPr>
            </a:lvl2pPr>
            <a:lvl3pPr marL="1143000" indent="-228600" eaLnBrk="0" hangingPunct="0">
              <a:spcBef>
                <a:spcPct val="20000"/>
              </a:spcBef>
              <a:buClr>
                <a:schemeClr val="hlink"/>
              </a:buClr>
              <a:buSzPct val="65000"/>
              <a:buFont typeface="Monotype Sorts"/>
              <a:buChar char="F"/>
              <a:defRPr kumimoji="1" sz="1600" b="1">
                <a:solidFill>
                  <a:schemeClr val="tx1"/>
                </a:solidFill>
                <a:latin typeface="Arial" panose="020B0604020202020204" pitchFamily="34" charset="0"/>
              </a:defRPr>
            </a:lvl3pPr>
            <a:lvl4pPr marL="1600200" indent="-228600" eaLnBrk="0" hangingPunct="0">
              <a:spcBef>
                <a:spcPct val="20000"/>
              </a:spcBef>
              <a:buClr>
                <a:schemeClr val="tx2"/>
              </a:buClr>
              <a:buSzPct val="100000"/>
              <a:buChar char="•"/>
              <a:defRPr kumimoji="1" sz="1600" b="1">
                <a:solidFill>
                  <a:schemeClr val="tx1"/>
                </a:solidFill>
                <a:latin typeface="Arial" panose="020B0604020202020204" pitchFamily="34" charset="0"/>
              </a:defRPr>
            </a:lvl4pPr>
            <a:lvl5pPr marL="2057400" indent="-228600" eaLnBrk="0" hangingPunct="0">
              <a:spcBef>
                <a:spcPct val="20000"/>
              </a:spcBef>
              <a:buClr>
                <a:schemeClr val="hlink"/>
              </a:buClr>
              <a:buSzPct val="100000"/>
              <a:buChar char="–"/>
              <a:defRPr kumimoji="1"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9pPr>
          </a:lstStyle>
          <a:p>
            <a:pPr eaLnBrk="1" hangingPunct="1">
              <a:spcBef>
                <a:spcPct val="0"/>
              </a:spcBef>
              <a:buClrTx/>
              <a:buSzTx/>
              <a:buFontTx/>
              <a:buNone/>
            </a:pPr>
            <a:r>
              <a:rPr kumimoji="0" lang="en-US" altLang="en-US" sz="1400" dirty="0">
                <a:solidFill>
                  <a:srgbClr val="0000CC"/>
                </a:solidFill>
                <a:latin typeface="Helvetica" panose="020B0604020202020204" pitchFamily="34" charset="0"/>
              </a:rPr>
              <a:t>New Output </a:t>
            </a:r>
            <a:endParaRPr kumimoji="0" lang="en-US" altLang="en-US" sz="1400" dirty="0" smtClean="0">
              <a:solidFill>
                <a:srgbClr val="0000CC"/>
              </a:solidFill>
              <a:latin typeface="Helvetica" panose="020B0604020202020204" pitchFamily="34" charset="0"/>
            </a:endParaRPr>
          </a:p>
          <a:p>
            <a:pPr eaLnBrk="1" hangingPunct="1">
              <a:spcBef>
                <a:spcPct val="0"/>
              </a:spcBef>
              <a:buClrTx/>
              <a:buSzTx/>
              <a:buFontTx/>
              <a:buNone/>
            </a:pPr>
            <a:r>
              <a:rPr kumimoji="0" lang="en-US" altLang="en-US" sz="1400" dirty="0" smtClean="0">
                <a:solidFill>
                  <a:srgbClr val="0000CC"/>
                </a:solidFill>
                <a:latin typeface="Helvetica" panose="020B0604020202020204" pitchFamily="34" charset="0"/>
              </a:rPr>
              <a:t>every </a:t>
            </a:r>
            <a:r>
              <a:rPr kumimoji="0" lang="en-US" altLang="en-US" sz="1400" dirty="0">
                <a:solidFill>
                  <a:srgbClr val="0000CC"/>
                </a:solidFill>
                <a:latin typeface="Helvetica" panose="020B0604020202020204" pitchFamily="34" charset="0"/>
              </a:rPr>
              <a:t>clock edge</a:t>
            </a:r>
            <a:endParaRPr kumimoji="0" lang="en-GB" altLang="en-US" sz="1400" dirty="0">
              <a:solidFill>
                <a:srgbClr val="0000CC"/>
              </a:solidFill>
              <a:latin typeface="Helvetica" panose="020B0604020202020204" pitchFamily="34" charset="0"/>
            </a:endParaRPr>
          </a:p>
        </p:txBody>
      </p:sp>
      <p:sp>
        <p:nvSpPr>
          <p:cNvPr id="14" name="Rectangle 20"/>
          <p:cNvSpPr>
            <a:spLocks noChangeArrowheads="1"/>
          </p:cNvSpPr>
          <p:nvPr/>
        </p:nvSpPr>
        <p:spPr bwMode="auto">
          <a:xfrm>
            <a:off x="962025" y="3743326"/>
            <a:ext cx="714375" cy="3048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50000"/>
              <a:buFont typeface="Monotype Sorts"/>
              <a:buChar char="n"/>
              <a:defRPr kumimoji="1" sz="2000" b="1">
                <a:solidFill>
                  <a:schemeClr val="tx1"/>
                </a:solidFill>
                <a:latin typeface="Arial" panose="020B0604020202020204" pitchFamily="34" charset="0"/>
              </a:defRPr>
            </a:lvl1pPr>
            <a:lvl2pPr marL="742950" indent="-285750" eaLnBrk="0" hangingPunct="0">
              <a:spcBef>
                <a:spcPct val="20000"/>
              </a:spcBef>
              <a:buClr>
                <a:schemeClr val="tx2"/>
              </a:buClr>
              <a:buSzPct val="75000"/>
              <a:buFont typeface="Monotype Sorts"/>
              <a:buChar char="u"/>
              <a:defRPr kumimoji="1" b="1">
                <a:solidFill>
                  <a:schemeClr val="tx1"/>
                </a:solidFill>
                <a:latin typeface="Arial" panose="020B0604020202020204" pitchFamily="34" charset="0"/>
              </a:defRPr>
            </a:lvl2pPr>
            <a:lvl3pPr marL="1143000" indent="-228600" eaLnBrk="0" hangingPunct="0">
              <a:spcBef>
                <a:spcPct val="20000"/>
              </a:spcBef>
              <a:buClr>
                <a:schemeClr val="hlink"/>
              </a:buClr>
              <a:buSzPct val="65000"/>
              <a:buFont typeface="Monotype Sorts"/>
              <a:buChar char="F"/>
              <a:defRPr kumimoji="1" sz="1600" b="1">
                <a:solidFill>
                  <a:schemeClr val="tx1"/>
                </a:solidFill>
                <a:latin typeface="Arial" panose="020B0604020202020204" pitchFamily="34" charset="0"/>
              </a:defRPr>
            </a:lvl3pPr>
            <a:lvl4pPr marL="1600200" indent="-228600" eaLnBrk="0" hangingPunct="0">
              <a:spcBef>
                <a:spcPct val="20000"/>
              </a:spcBef>
              <a:buClr>
                <a:schemeClr val="tx2"/>
              </a:buClr>
              <a:buSzPct val="100000"/>
              <a:buChar char="•"/>
              <a:defRPr kumimoji="1" sz="1600" b="1">
                <a:solidFill>
                  <a:schemeClr val="tx1"/>
                </a:solidFill>
                <a:latin typeface="Arial" panose="020B0604020202020204" pitchFamily="34" charset="0"/>
              </a:defRPr>
            </a:lvl4pPr>
            <a:lvl5pPr marL="2057400" indent="-228600" eaLnBrk="0" hangingPunct="0">
              <a:spcBef>
                <a:spcPct val="20000"/>
              </a:spcBef>
              <a:buClr>
                <a:schemeClr val="hlink"/>
              </a:buClr>
              <a:buSzPct val="100000"/>
              <a:buChar char="–"/>
              <a:defRPr kumimoji="1"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9pPr>
          </a:lstStyle>
          <a:p>
            <a:pPr eaLnBrk="1" hangingPunct="1">
              <a:spcBef>
                <a:spcPct val="0"/>
              </a:spcBef>
              <a:buClrTx/>
              <a:buSzTx/>
              <a:buFontTx/>
              <a:buNone/>
            </a:pPr>
            <a:r>
              <a:rPr kumimoji="0" lang="en-US" altLang="en-US" sz="1400" dirty="0">
                <a:solidFill>
                  <a:srgbClr val="0000CC"/>
                </a:solidFill>
                <a:latin typeface="Helvetica" panose="020B0604020202020204" pitchFamily="34" charset="0"/>
              </a:rPr>
              <a:t>Inputs</a:t>
            </a:r>
            <a:endParaRPr kumimoji="0" lang="en-GB" altLang="en-US" sz="1400" dirty="0">
              <a:solidFill>
                <a:srgbClr val="0000CC"/>
              </a:solidFill>
              <a:latin typeface="Helvetica" panose="020B0604020202020204" pitchFamily="34" charset="0"/>
            </a:endParaRPr>
          </a:p>
        </p:txBody>
      </p:sp>
      <p:sp>
        <p:nvSpPr>
          <p:cNvPr id="15" name="Line 12"/>
          <p:cNvSpPr>
            <a:spLocks noChangeShapeType="1"/>
          </p:cNvSpPr>
          <p:nvPr/>
        </p:nvSpPr>
        <p:spPr bwMode="auto">
          <a:xfrm flipH="1">
            <a:off x="3886200" y="4600575"/>
            <a:ext cx="0" cy="220663"/>
          </a:xfrm>
          <a:prstGeom prst="line">
            <a:avLst/>
          </a:prstGeom>
          <a:noFill/>
          <a:ln w="28575">
            <a:solidFill>
              <a:schemeClr val="accent2"/>
            </a:solidFill>
            <a:round/>
            <a:headEnd type="triangle" w="med" len="med"/>
            <a:tailEnd/>
          </a:ln>
          <a:extLst>
            <a:ext uri="{909E8E84-426E-40dd-AFC4-6F175D3DCCD1}">
              <a14:hiddenFill xmlns:a14="http://schemas.microsoft.com/office/drawing/2010/main" xmlns="">
                <a:noFill/>
              </a14:hiddenFill>
            </a:ext>
          </a:extLst>
        </p:spPr>
        <p:txBody>
          <a:bodyPr/>
          <a:lstStyle/>
          <a:p>
            <a:endParaRPr lang="en-SG"/>
          </a:p>
        </p:txBody>
      </p:sp>
      <p:sp>
        <p:nvSpPr>
          <p:cNvPr id="16" name="Line 12"/>
          <p:cNvSpPr>
            <a:spLocks noChangeShapeType="1"/>
          </p:cNvSpPr>
          <p:nvPr/>
        </p:nvSpPr>
        <p:spPr bwMode="auto">
          <a:xfrm flipH="1">
            <a:off x="5562600" y="3785394"/>
            <a:ext cx="0" cy="220663"/>
          </a:xfrm>
          <a:prstGeom prst="line">
            <a:avLst/>
          </a:prstGeom>
          <a:noFill/>
          <a:ln w="28575">
            <a:solidFill>
              <a:schemeClr val="accent2"/>
            </a:solidFill>
            <a:round/>
            <a:headEnd type="triangle" w="med" len="med"/>
            <a:tailEnd/>
          </a:ln>
          <a:extLst>
            <a:ext uri="{909E8E84-426E-40dd-AFC4-6F175D3DCCD1}">
              <a14:hiddenFill xmlns:a14="http://schemas.microsoft.com/office/drawing/2010/main" xmlns="">
                <a:noFill/>
              </a14:hiddenFill>
            </a:ext>
          </a:extLst>
        </p:spPr>
        <p:txBody>
          <a:bodyPr/>
          <a:lstStyle/>
          <a:p>
            <a:endParaRPr lang="en-SG"/>
          </a:p>
        </p:txBody>
      </p:sp>
      <p:sp>
        <p:nvSpPr>
          <p:cNvPr id="17" name="Line 12"/>
          <p:cNvSpPr>
            <a:spLocks noChangeShapeType="1"/>
          </p:cNvSpPr>
          <p:nvPr/>
        </p:nvSpPr>
        <p:spPr bwMode="auto">
          <a:xfrm flipH="1">
            <a:off x="6324600" y="4600575"/>
            <a:ext cx="0" cy="220663"/>
          </a:xfrm>
          <a:prstGeom prst="line">
            <a:avLst/>
          </a:prstGeom>
          <a:noFill/>
          <a:ln w="28575">
            <a:solidFill>
              <a:schemeClr val="accent2"/>
            </a:solidFill>
            <a:round/>
            <a:headEnd type="triangle" w="med" len="med"/>
            <a:tailEnd/>
          </a:ln>
          <a:extLst>
            <a:ext uri="{909E8E84-426E-40dd-AFC4-6F175D3DCCD1}">
              <a14:hiddenFill xmlns:a14="http://schemas.microsoft.com/office/drawing/2010/main" xmlns="">
                <a:noFill/>
              </a14:hiddenFill>
            </a:ext>
          </a:extLst>
        </p:spPr>
        <p:txBody>
          <a:bodyPr/>
          <a:lstStyle/>
          <a:p>
            <a:endParaRPr lang="en-SG"/>
          </a:p>
        </p:txBody>
      </p:sp>
      <p:sp>
        <p:nvSpPr>
          <p:cNvPr id="18" name="Content Placeholder 2"/>
          <p:cNvSpPr txBox="1">
            <a:spLocks/>
          </p:cNvSpPr>
          <p:nvPr/>
        </p:nvSpPr>
        <p:spPr>
          <a:xfrm>
            <a:off x="542132" y="1380470"/>
            <a:ext cx="8229600" cy="166753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dirty="0" smtClean="0"/>
              <a:t>Design for each register at each cycle.</a:t>
            </a:r>
            <a:endParaRPr lang="en-SG" sz="2800" dirty="0"/>
          </a:p>
          <a:p>
            <a:r>
              <a:rPr lang="en-SG" sz="2800" dirty="0"/>
              <a:t>Combinational logic must meet timing </a:t>
            </a:r>
            <a:r>
              <a:rPr lang="en-SG" sz="2800" dirty="0" smtClean="0"/>
              <a:t>(in </a:t>
            </a:r>
            <a:r>
              <a:rPr lang="en-SG" sz="2800" dirty="0"/>
              <a:t>one cycle</a:t>
            </a:r>
            <a:r>
              <a:rPr lang="en-SG" sz="2800" dirty="0" smtClean="0"/>
              <a:t>)</a:t>
            </a:r>
          </a:p>
          <a:p>
            <a:endParaRPr lang="en-SG" sz="2800" dirty="0"/>
          </a:p>
        </p:txBody>
      </p:sp>
      <p:sp>
        <p:nvSpPr>
          <p:cNvPr id="19" name="Rectangle 26"/>
          <p:cNvSpPr>
            <a:spLocks noChangeArrowheads="1"/>
          </p:cNvSpPr>
          <p:nvPr/>
        </p:nvSpPr>
        <p:spPr bwMode="auto">
          <a:xfrm>
            <a:off x="1066800" y="5799723"/>
            <a:ext cx="900113" cy="338554"/>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spcBef>
                <a:spcPct val="20000"/>
              </a:spcBef>
              <a:buClr>
                <a:schemeClr val="hlink"/>
              </a:buClr>
              <a:buSzPct val="50000"/>
              <a:buFont typeface="Monotype Sorts"/>
              <a:buChar char="n"/>
              <a:defRPr kumimoji="1" sz="2000" b="1">
                <a:solidFill>
                  <a:schemeClr val="tx1"/>
                </a:solidFill>
                <a:latin typeface="Arial" panose="020B0604020202020204" pitchFamily="34" charset="0"/>
              </a:defRPr>
            </a:lvl1pPr>
            <a:lvl2pPr marL="742950" indent="-285750" eaLnBrk="0" hangingPunct="0">
              <a:spcBef>
                <a:spcPct val="20000"/>
              </a:spcBef>
              <a:buClr>
                <a:schemeClr val="tx2"/>
              </a:buClr>
              <a:buSzPct val="75000"/>
              <a:buFont typeface="Monotype Sorts"/>
              <a:buChar char="u"/>
              <a:defRPr kumimoji="1" b="1">
                <a:solidFill>
                  <a:schemeClr val="tx1"/>
                </a:solidFill>
                <a:latin typeface="Arial" panose="020B0604020202020204" pitchFamily="34" charset="0"/>
              </a:defRPr>
            </a:lvl2pPr>
            <a:lvl3pPr marL="1143000" indent="-228600" eaLnBrk="0" hangingPunct="0">
              <a:spcBef>
                <a:spcPct val="20000"/>
              </a:spcBef>
              <a:buClr>
                <a:schemeClr val="hlink"/>
              </a:buClr>
              <a:buSzPct val="65000"/>
              <a:buFont typeface="Monotype Sorts"/>
              <a:buChar char="F"/>
              <a:defRPr kumimoji="1" sz="1600" b="1">
                <a:solidFill>
                  <a:schemeClr val="tx1"/>
                </a:solidFill>
                <a:latin typeface="Arial" panose="020B0604020202020204" pitchFamily="34" charset="0"/>
              </a:defRPr>
            </a:lvl3pPr>
            <a:lvl4pPr marL="1600200" indent="-228600" eaLnBrk="0" hangingPunct="0">
              <a:spcBef>
                <a:spcPct val="20000"/>
              </a:spcBef>
              <a:buClr>
                <a:schemeClr val="tx2"/>
              </a:buClr>
              <a:buSzPct val="100000"/>
              <a:buChar char="•"/>
              <a:defRPr kumimoji="1" sz="1600" b="1">
                <a:solidFill>
                  <a:schemeClr val="tx1"/>
                </a:solidFill>
                <a:latin typeface="Arial" panose="020B0604020202020204" pitchFamily="34" charset="0"/>
              </a:defRPr>
            </a:lvl4pPr>
            <a:lvl5pPr marL="2057400" indent="-228600" eaLnBrk="0" hangingPunct="0">
              <a:spcBef>
                <a:spcPct val="20000"/>
              </a:spcBef>
              <a:buClr>
                <a:schemeClr val="hlink"/>
              </a:buClr>
              <a:buSzPct val="100000"/>
              <a:buChar char="–"/>
              <a:defRPr kumimoji="1"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1600">
                <a:solidFill>
                  <a:schemeClr val="tx1"/>
                </a:solidFill>
                <a:latin typeface="Arial" panose="020B0604020202020204" pitchFamily="34" charset="0"/>
              </a:defRPr>
            </a:lvl9pPr>
          </a:lstStyle>
          <a:p>
            <a:pPr eaLnBrk="1" hangingPunct="1">
              <a:spcBef>
                <a:spcPct val="0"/>
              </a:spcBef>
              <a:buClrTx/>
              <a:buSzTx/>
              <a:buFontTx/>
              <a:buNone/>
            </a:pPr>
            <a:r>
              <a:rPr kumimoji="0" lang="en-US" altLang="en-US" sz="1600" dirty="0" smtClean="0">
                <a:solidFill>
                  <a:schemeClr val="accent2"/>
                </a:solidFill>
                <a:latin typeface="Helvetica" panose="020B0604020202020204" pitchFamily="34" charset="0"/>
              </a:rPr>
              <a:t>Cycles</a:t>
            </a:r>
            <a:endParaRPr kumimoji="0" lang="en-GB" altLang="en-US" sz="1600" dirty="0">
              <a:solidFill>
                <a:schemeClr val="accent2"/>
              </a:solidFill>
              <a:latin typeface="Helvetica" panose="020B0604020202020204" pitchFamily="34" charset="0"/>
            </a:endParaRPr>
          </a:p>
        </p:txBody>
      </p:sp>
      <p:sp>
        <p:nvSpPr>
          <p:cNvPr id="20" name="Line 12"/>
          <p:cNvSpPr>
            <a:spLocks noChangeShapeType="1"/>
          </p:cNvSpPr>
          <p:nvPr/>
        </p:nvSpPr>
        <p:spPr bwMode="auto">
          <a:xfrm flipH="1">
            <a:off x="2265362" y="6154738"/>
            <a:ext cx="0" cy="220663"/>
          </a:xfrm>
          <a:prstGeom prst="line">
            <a:avLst/>
          </a:prstGeom>
          <a:noFill/>
          <a:ln w="28575">
            <a:solidFill>
              <a:schemeClr val="accent2"/>
            </a:solidFill>
            <a:round/>
            <a:headEnd type="triangle" w="med" len="med"/>
            <a:tailEnd/>
          </a:ln>
          <a:extLst>
            <a:ext uri="{909E8E84-426E-40dd-AFC4-6F175D3DCCD1}">
              <a14:hiddenFill xmlns:a14="http://schemas.microsoft.com/office/drawing/2010/main" xmlns="">
                <a:noFill/>
              </a14:hiddenFill>
            </a:ext>
          </a:extLst>
        </p:spPr>
        <p:txBody>
          <a:bodyPr/>
          <a:lstStyle/>
          <a:p>
            <a:endParaRPr lang="en-SG"/>
          </a:p>
        </p:txBody>
      </p:sp>
      <p:sp>
        <p:nvSpPr>
          <p:cNvPr id="21" name="Line 12"/>
          <p:cNvSpPr>
            <a:spLocks noChangeShapeType="1"/>
          </p:cNvSpPr>
          <p:nvPr/>
        </p:nvSpPr>
        <p:spPr bwMode="auto">
          <a:xfrm flipH="1">
            <a:off x="2997200" y="6154738"/>
            <a:ext cx="0" cy="220663"/>
          </a:xfrm>
          <a:prstGeom prst="line">
            <a:avLst/>
          </a:prstGeom>
          <a:noFill/>
          <a:ln w="28575">
            <a:solidFill>
              <a:schemeClr val="accent2"/>
            </a:solidFill>
            <a:round/>
            <a:headEnd type="triangle" w="med" len="med"/>
            <a:tailEnd/>
          </a:ln>
          <a:extLst>
            <a:ext uri="{909E8E84-426E-40dd-AFC4-6F175D3DCCD1}">
              <a14:hiddenFill xmlns:a14="http://schemas.microsoft.com/office/drawing/2010/main" xmlns="">
                <a:noFill/>
              </a14:hiddenFill>
            </a:ext>
          </a:extLst>
        </p:spPr>
        <p:txBody>
          <a:bodyPr/>
          <a:lstStyle/>
          <a:p>
            <a:endParaRPr lang="en-SG"/>
          </a:p>
        </p:txBody>
      </p:sp>
      <p:sp>
        <p:nvSpPr>
          <p:cNvPr id="22" name="Line 12"/>
          <p:cNvSpPr>
            <a:spLocks noChangeShapeType="1"/>
          </p:cNvSpPr>
          <p:nvPr/>
        </p:nvSpPr>
        <p:spPr bwMode="auto">
          <a:xfrm flipH="1">
            <a:off x="3733800" y="6154738"/>
            <a:ext cx="0" cy="220663"/>
          </a:xfrm>
          <a:prstGeom prst="line">
            <a:avLst/>
          </a:prstGeom>
          <a:noFill/>
          <a:ln w="28575">
            <a:solidFill>
              <a:schemeClr val="accent2"/>
            </a:solidFill>
            <a:round/>
            <a:headEnd type="triangle" w="med" len="med"/>
            <a:tailEnd/>
          </a:ln>
          <a:extLst>
            <a:ext uri="{909E8E84-426E-40dd-AFC4-6F175D3DCCD1}">
              <a14:hiddenFill xmlns:a14="http://schemas.microsoft.com/office/drawing/2010/main" xmlns="">
                <a:noFill/>
              </a14:hiddenFill>
            </a:ext>
          </a:extLst>
        </p:spPr>
        <p:txBody>
          <a:bodyPr/>
          <a:lstStyle/>
          <a:p>
            <a:endParaRPr lang="en-SG"/>
          </a:p>
        </p:txBody>
      </p:sp>
    </p:spTree>
    <p:extLst>
      <p:ext uri="{BB962C8B-B14F-4D97-AF65-F5344CB8AC3E}">
        <p14:creationId xmlns:p14="http://schemas.microsoft.com/office/powerpoint/2010/main" val="17321588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3886200" y="4114800"/>
            <a:ext cx="3810000" cy="2311400"/>
          </a:xfrm>
          <a:prstGeom prst="rect">
            <a:avLst/>
          </a:prstGeom>
        </p:spPr>
      </p:pic>
      <p:sp>
        <p:nvSpPr>
          <p:cNvPr id="2" name="Title 1"/>
          <p:cNvSpPr>
            <a:spLocks noGrp="1"/>
          </p:cNvSpPr>
          <p:nvPr>
            <p:ph type="title"/>
          </p:nvPr>
        </p:nvSpPr>
        <p:spPr>
          <a:xfrm>
            <a:off x="381000" y="274638"/>
            <a:ext cx="8153400" cy="1019175"/>
          </a:xfrm>
        </p:spPr>
        <p:txBody>
          <a:bodyPr>
            <a:normAutofit/>
          </a:bodyPr>
          <a:lstStyle/>
          <a:p>
            <a:r>
              <a:rPr lang="en-US" dirty="0">
                <a:latin typeface="Arial"/>
              </a:rPr>
              <a:t>High Level Synthesis (HLS)</a:t>
            </a:r>
            <a:endParaRPr lang="en-US" dirty="0"/>
          </a:p>
        </p:txBody>
      </p:sp>
      <p:sp>
        <p:nvSpPr>
          <p:cNvPr id="3" name="Content Placeholder 2"/>
          <p:cNvSpPr>
            <a:spLocks noGrp="1"/>
          </p:cNvSpPr>
          <p:nvPr>
            <p:ph idx="1"/>
          </p:nvPr>
        </p:nvSpPr>
        <p:spPr>
          <a:xfrm>
            <a:off x="457200" y="1524000"/>
            <a:ext cx="8229600" cy="4832349"/>
          </a:xfrm>
        </p:spPr>
        <p:txBody>
          <a:bodyPr>
            <a:normAutofit/>
          </a:bodyPr>
          <a:lstStyle/>
          <a:p>
            <a:r>
              <a:rPr lang="en-US" altLang="en-US" dirty="0" smtClean="0"/>
              <a:t>Generates </a:t>
            </a:r>
            <a:r>
              <a:rPr lang="en-US" altLang="en-US" dirty="0"/>
              <a:t>register-transfer level </a:t>
            </a:r>
            <a:r>
              <a:rPr lang="en-US" altLang="en-US" dirty="0" smtClean="0"/>
              <a:t>(RTL) description </a:t>
            </a:r>
            <a:r>
              <a:rPr lang="en-US" altLang="en-US" dirty="0"/>
              <a:t>from behavioral </a:t>
            </a:r>
            <a:r>
              <a:rPr lang="en-US" altLang="en-US" dirty="0" smtClean="0"/>
              <a:t>specification (e.g., C, </a:t>
            </a:r>
            <a:r>
              <a:rPr lang="en-US" altLang="en-US" dirty="0" err="1" smtClean="0"/>
              <a:t>OpenCL</a:t>
            </a:r>
            <a:r>
              <a:rPr lang="en-US" altLang="en-US" dirty="0" smtClean="0"/>
              <a:t>), </a:t>
            </a:r>
            <a:r>
              <a:rPr lang="en-US" altLang="en-US" dirty="0"/>
              <a:t>in an automatic or semi-automatic way. </a:t>
            </a:r>
          </a:p>
          <a:p>
            <a:r>
              <a:rPr lang="en-US" altLang="en-US" dirty="0" smtClean="0"/>
              <a:t>The user can just focus on the high-level program.</a:t>
            </a:r>
            <a:endParaRPr lang="en-US" altLang="en-US" dirty="0"/>
          </a:p>
          <a:p>
            <a:endParaRPr lang="en-US" dirty="0" smtClean="0"/>
          </a:p>
          <a:p>
            <a:endParaRPr lang="en-US" dirty="0" smtClean="0"/>
          </a:p>
          <a:p>
            <a:endParaRPr lang="en-US" dirty="0" smtClean="0"/>
          </a:p>
          <a:p>
            <a:endParaRPr lang="en-US" dirty="0" smtClean="0"/>
          </a:p>
          <a:p>
            <a:endParaRPr lang="en-US" dirty="0" smtClean="0"/>
          </a:p>
          <a:p>
            <a:endParaRPr lang="en-US" b="1" dirty="0" smtClean="0"/>
          </a:p>
          <a:p>
            <a:endParaRPr lang="en-US" dirty="0" smtClean="0"/>
          </a:p>
          <a:p>
            <a:pPr marL="0" indent="0">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16172142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153400" cy="1019175"/>
          </a:xfrm>
        </p:spPr>
        <p:txBody>
          <a:bodyPr>
            <a:normAutofit/>
          </a:bodyPr>
          <a:lstStyle/>
          <a:p>
            <a:r>
              <a:rPr lang="en-US" dirty="0" smtClean="0">
                <a:latin typeface="Arial"/>
              </a:rPr>
              <a:t>HLS Taxonomy</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pic>
        <p:nvPicPr>
          <p:cNvPr id="5" name="Picture 4"/>
          <p:cNvPicPr>
            <a:picLocks noChangeAspect="1"/>
          </p:cNvPicPr>
          <p:nvPr/>
        </p:nvPicPr>
        <p:blipFill>
          <a:blip r:embed="rId2"/>
          <a:stretch>
            <a:fillRect/>
          </a:stretch>
        </p:blipFill>
        <p:spPr>
          <a:xfrm>
            <a:off x="228600" y="1295400"/>
            <a:ext cx="8695202" cy="5139009"/>
          </a:xfrm>
          <a:prstGeom prst="rect">
            <a:avLst/>
          </a:prstGeom>
        </p:spPr>
      </p:pic>
    </p:spTree>
    <p:extLst>
      <p:ext uri="{BB962C8B-B14F-4D97-AF65-F5344CB8AC3E}">
        <p14:creationId xmlns:p14="http://schemas.microsoft.com/office/powerpoint/2010/main" val="14821401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What is </a:t>
            </a:r>
            <a:r>
              <a:rPr lang="en-US" dirty="0" err="1" smtClean="0"/>
              <a:t>OpenCL</a:t>
            </a:r>
            <a:r>
              <a:rPr lang="en-US" dirty="0" smtClean="0"/>
              <a:t>?</a:t>
            </a:r>
            <a:endParaRPr lang="en-US" dirty="0"/>
          </a:p>
        </p:txBody>
      </p:sp>
      <p:sp>
        <p:nvSpPr>
          <p:cNvPr id="3" name="Content Placeholder 2"/>
          <p:cNvSpPr>
            <a:spLocks noGrp="1"/>
          </p:cNvSpPr>
          <p:nvPr>
            <p:ph idx="1"/>
          </p:nvPr>
        </p:nvSpPr>
        <p:spPr>
          <a:xfrm>
            <a:off x="228600" y="1562894"/>
            <a:ext cx="8686800" cy="4648200"/>
          </a:xfrm>
        </p:spPr>
        <p:txBody>
          <a:bodyPr>
            <a:normAutofit/>
          </a:bodyPr>
          <a:lstStyle/>
          <a:p>
            <a:r>
              <a:rPr lang="en-US" dirty="0"/>
              <a:t>OpenCL stands for </a:t>
            </a:r>
            <a:r>
              <a:rPr lang="en-US" i="1" dirty="0"/>
              <a:t>Open Computing Language</a:t>
            </a:r>
          </a:p>
          <a:p>
            <a:endParaRPr lang="en-US" dirty="0" smtClean="0"/>
          </a:p>
          <a:p>
            <a:r>
              <a:rPr lang="en-US" dirty="0" smtClean="0"/>
              <a:t>OpenCL has </a:t>
            </a:r>
            <a:r>
              <a:rPr lang="en-US" dirty="0"/>
              <a:t>been developed for </a:t>
            </a:r>
            <a:r>
              <a:rPr lang="en-US" dirty="0" smtClean="0"/>
              <a:t>heterogeneous system with a host-accelerator model </a:t>
            </a:r>
            <a:r>
              <a:rPr lang="en-US" dirty="0"/>
              <a:t>of program </a:t>
            </a:r>
            <a:r>
              <a:rPr lang="en-US" dirty="0" smtClean="0"/>
              <a:t>execution.</a:t>
            </a:r>
          </a:p>
          <a:p>
            <a:endParaRPr lang="en-US" dirty="0"/>
          </a:p>
          <a:p>
            <a:r>
              <a:rPr lang="en-US" dirty="0" smtClean="0"/>
              <a:t>Intel plans to use OpenCL to program its CPU-FPGA heterogeneous system.</a:t>
            </a:r>
          </a:p>
          <a:p>
            <a:pPr marL="457200" lvl="1" indent="0">
              <a:buNone/>
            </a:pP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27931850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153400" cy="1019175"/>
          </a:xfrm>
        </p:spPr>
        <p:txBody>
          <a:bodyPr>
            <a:normAutofit/>
          </a:bodyPr>
          <a:lstStyle/>
          <a:p>
            <a:r>
              <a:rPr lang="en-US" dirty="0" err="1" smtClean="0">
                <a:latin typeface="Arial"/>
              </a:rPr>
              <a:t>OpenCL</a:t>
            </a:r>
            <a:endParaRPr lang="en-US" dirty="0"/>
          </a:p>
        </p:txBody>
      </p:sp>
      <p:sp>
        <p:nvSpPr>
          <p:cNvPr id="3" name="Content Placeholder 2"/>
          <p:cNvSpPr>
            <a:spLocks noGrp="1"/>
          </p:cNvSpPr>
          <p:nvPr>
            <p:ph idx="1"/>
          </p:nvPr>
        </p:nvSpPr>
        <p:spPr>
          <a:xfrm>
            <a:off x="457200" y="4823618"/>
            <a:ext cx="8229600" cy="1532731"/>
          </a:xfrm>
        </p:spPr>
        <p:txBody>
          <a:bodyPr>
            <a:normAutofit/>
          </a:bodyPr>
          <a:lstStyle/>
          <a:p>
            <a:r>
              <a:rPr lang="en-US" altLang="en-US" dirty="0" smtClean="0"/>
              <a:t>The user only needs to program with </a:t>
            </a:r>
            <a:r>
              <a:rPr lang="en-US" altLang="en-US" dirty="0" err="1" smtClean="0"/>
              <a:t>OpenCL</a:t>
            </a:r>
            <a:r>
              <a:rPr lang="en-US" altLang="en-US" dirty="0" smtClean="0"/>
              <a:t>, leaving the tedious details to the </a:t>
            </a:r>
            <a:r>
              <a:rPr lang="en-US" altLang="en-US" dirty="0" err="1" smtClean="0"/>
              <a:t>OpenCL</a:t>
            </a:r>
            <a:r>
              <a:rPr lang="en-US" altLang="en-US" dirty="0" smtClean="0"/>
              <a:t> SDK.</a:t>
            </a:r>
            <a:endParaRPr lang="en-US" altLang="en-US" dirty="0"/>
          </a:p>
          <a:p>
            <a:endParaRPr lang="en-US" dirty="0" smtClean="0"/>
          </a:p>
          <a:p>
            <a:endParaRPr lang="en-US" dirty="0" smtClean="0"/>
          </a:p>
          <a:p>
            <a:endParaRPr lang="en-US" dirty="0" smtClean="0"/>
          </a:p>
          <a:p>
            <a:endParaRPr lang="en-US" dirty="0" smtClean="0"/>
          </a:p>
          <a:p>
            <a:endParaRPr lang="en-US" dirty="0" smtClean="0"/>
          </a:p>
          <a:p>
            <a:endParaRPr lang="en-US" b="1" dirty="0" smtClean="0"/>
          </a:p>
          <a:p>
            <a:endParaRPr lang="en-US" dirty="0" smtClean="0"/>
          </a:p>
          <a:p>
            <a:pPr marL="0" indent="0">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pic>
        <p:nvPicPr>
          <p:cNvPr id="5" name="Picture 4"/>
          <p:cNvPicPr>
            <a:picLocks noChangeAspect="1"/>
          </p:cNvPicPr>
          <p:nvPr/>
        </p:nvPicPr>
        <p:blipFill>
          <a:blip r:embed="rId2"/>
          <a:stretch>
            <a:fillRect/>
          </a:stretch>
        </p:blipFill>
        <p:spPr>
          <a:xfrm>
            <a:off x="1447800" y="1066800"/>
            <a:ext cx="6399001" cy="3756818"/>
          </a:xfrm>
          <a:prstGeom prst="rect">
            <a:avLst/>
          </a:prstGeom>
        </p:spPr>
      </p:pic>
    </p:spTree>
    <p:extLst>
      <p:ext uri="{BB962C8B-B14F-4D97-AF65-F5344CB8AC3E}">
        <p14:creationId xmlns:p14="http://schemas.microsoft.com/office/powerpoint/2010/main" val="31362343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err="1" smtClean="0"/>
              <a:t>OpenCL</a:t>
            </a:r>
            <a:endParaRPr lang="en-US" dirty="0"/>
          </a:p>
        </p:txBody>
      </p:sp>
      <p:sp>
        <p:nvSpPr>
          <p:cNvPr id="4" name="灯片编号占位符 3"/>
          <p:cNvSpPr>
            <a:spLocks noGrp="1"/>
          </p:cNvSpPr>
          <p:nvPr>
            <p:ph type="sldNum" sz="quarter" idx="12"/>
          </p:nvPr>
        </p:nvSpPr>
        <p:spPr/>
        <p:txBody>
          <a:bodyPr/>
          <a:lstStyle/>
          <a:p>
            <a:fld id="{B6F15528-21DE-4FAA-801E-634DDDAF4B2B}" type="slidenum">
              <a:rPr lang="en-US" smtClean="0"/>
              <a:pPr/>
              <a:t>16</a:t>
            </a:fld>
            <a:endParaRPr lang="en-US"/>
          </a:p>
        </p:txBody>
      </p:sp>
      <p:pic>
        <p:nvPicPr>
          <p:cNvPr id="5" name="图片 4"/>
          <p:cNvPicPr>
            <a:picLocks noChangeAspect="1"/>
          </p:cNvPicPr>
          <p:nvPr/>
        </p:nvPicPr>
        <p:blipFill>
          <a:blip r:embed="rId2"/>
          <a:stretch>
            <a:fillRect/>
          </a:stretch>
        </p:blipFill>
        <p:spPr>
          <a:xfrm>
            <a:off x="865461" y="1417638"/>
            <a:ext cx="7413077" cy="4910138"/>
          </a:xfrm>
          <a:prstGeom prst="rect">
            <a:avLst/>
          </a:prstGeom>
        </p:spPr>
      </p:pic>
      <p:sp>
        <p:nvSpPr>
          <p:cNvPr id="6" name="文本框 5"/>
          <p:cNvSpPr txBox="1"/>
          <p:nvPr/>
        </p:nvSpPr>
        <p:spPr>
          <a:xfrm>
            <a:off x="1101421" y="6488668"/>
            <a:ext cx="6518579" cy="369332"/>
          </a:xfrm>
          <a:prstGeom prst="rect">
            <a:avLst/>
          </a:prstGeom>
          <a:noFill/>
        </p:spPr>
        <p:txBody>
          <a:bodyPr wrap="none" rtlCol="0">
            <a:spAutoFit/>
          </a:bodyPr>
          <a:lstStyle/>
          <a:p>
            <a:r>
              <a:rPr lang="en-US" dirty="0"/>
              <a:t>From: http://dna.cs.byu.edu/CS484/lectures/opencl-20training.pdf </a:t>
            </a:r>
          </a:p>
        </p:txBody>
      </p:sp>
    </p:spTree>
    <p:extLst>
      <p:ext uri="{BB962C8B-B14F-4D97-AF65-F5344CB8AC3E}">
        <p14:creationId xmlns:p14="http://schemas.microsoft.com/office/powerpoint/2010/main" val="14405057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825764" y="1635178"/>
            <a:ext cx="4602106" cy="3430709"/>
          </a:xfrm>
          <a:prstGeom prst="rect">
            <a:avLst/>
          </a:prstGeom>
        </p:spPr>
      </p:pic>
      <p:sp>
        <p:nvSpPr>
          <p:cNvPr id="2" name="Title 1"/>
          <p:cNvSpPr>
            <a:spLocks noGrp="1"/>
          </p:cNvSpPr>
          <p:nvPr>
            <p:ph type="title"/>
          </p:nvPr>
        </p:nvSpPr>
        <p:spPr/>
        <p:txBody>
          <a:bodyPr>
            <a:normAutofit fontScale="90000"/>
          </a:bodyPr>
          <a:lstStyle/>
          <a:p>
            <a:r>
              <a:rPr lang="en-US" dirty="0" smtClean="0"/>
              <a:t>“Architectural Evolution” of FPGAs: From OpenCL’s Perspective</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
        <p:nvSpPr>
          <p:cNvPr id="5" name="TextBox 4"/>
          <p:cNvSpPr txBox="1"/>
          <p:nvPr/>
        </p:nvSpPr>
        <p:spPr>
          <a:xfrm>
            <a:off x="571500" y="5320515"/>
            <a:ext cx="8115300" cy="830997"/>
          </a:xfrm>
          <a:prstGeom prst="rect">
            <a:avLst/>
          </a:prstGeom>
          <a:noFill/>
        </p:spPr>
        <p:txBody>
          <a:bodyPr wrap="square" rtlCol="0">
            <a:spAutoFit/>
          </a:bodyPr>
          <a:lstStyle/>
          <a:p>
            <a:pPr marL="285750" indent="-285750">
              <a:buFont typeface="Arial" charset="0"/>
              <a:buChar char="•"/>
            </a:pPr>
            <a:r>
              <a:rPr lang="en-US" sz="2400" dirty="0" smtClean="0">
                <a:solidFill>
                  <a:srgbClr val="FF0000"/>
                </a:solidFill>
                <a:latin typeface="Comic Sans MS" panose="030F0702030302020204" pitchFamily="66" charset="0"/>
              </a:rPr>
              <a:t>Software-centric </a:t>
            </a:r>
            <a:r>
              <a:rPr lang="en-US" sz="2400" dirty="0" smtClean="0">
                <a:solidFill>
                  <a:srgbClr val="FF0000"/>
                </a:solidFill>
                <a:latin typeface="Comic Sans MS" panose="030F0702030302020204" pitchFamily="66" charset="0"/>
                <a:sym typeface="Wingdings" panose="05000000000000000000" pitchFamily="2" charset="2"/>
              </a:rPr>
              <a:t> FPGA as a parallel architecture.</a:t>
            </a:r>
            <a:endParaRPr lang="en-US" sz="2400" dirty="0" smtClean="0">
              <a:solidFill>
                <a:srgbClr val="FF0000"/>
              </a:solidFill>
              <a:latin typeface="Comic Sans MS" panose="030F0702030302020204" pitchFamily="66" charset="0"/>
            </a:endParaRPr>
          </a:p>
          <a:p>
            <a:pPr marL="285750" indent="-285750">
              <a:buFont typeface="Arial" charset="0"/>
              <a:buChar char="•"/>
            </a:pPr>
            <a:r>
              <a:rPr lang="en-US" sz="2400" dirty="0" smtClean="0">
                <a:solidFill>
                  <a:srgbClr val="FF0000"/>
                </a:solidFill>
                <a:latin typeface="Comic Sans MS" panose="030F0702030302020204" pitchFamily="66" charset="0"/>
              </a:rPr>
              <a:t>Users can program with OpenCL. </a:t>
            </a:r>
            <a:r>
              <a:rPr lang="en-US" sz="2400" dirty="0">
                <a:solidFill>
                  <a:srgbClr val="FF0000"/>
                </a:solidFill>
                <a:latin typeface="Comic Sans MS" panose="030F0702030302020204" pitchFamily="66" charset="0"/>
                <a:sym typeface="Wingdings" panose="05000000000000000000" pitchFamily="2" charset="2"/>
              </a:rPr>
              <a:t> </a:t>
            </a:r>
            <a:r>
              <a:rPr lang="en-US" sz="2400" dirty="0" smtClean="0">
                <a:solidFill>
                  <a:srgbClr val="FF0000"/>
                </a:solidFill>
                <a:latin typeface="Comic Sans MS" panose="030F0702030302020204" pitchFamily="66" charset="0"/>
                <a:sym typeface="Wingdings" panose="05000000000000000000" pitchFamily="2" charset="2"/>
              </a:rPr>
              <a:t></a:t>
            </a:r>
            <a:endParaRPr lang="en-US" sz="2400" dirty="0">
              <a:solidFill>
                <a:srgbClr val="FF0000"/>
              </a:solidFill>
              <a:latin typeface="Comic Sans MS" panose="030F0702030302020204" pitchFamily="66" charset="0"/>
            </a:endParaRPr>
          </a:p>
        </p:txBody>
      </p:sp>
      <p:sp>
        <p:nvSpPr>
          <p:cNvPr id="6" name="Content Placeholder 2"/>
          <p:cNvSpPr txBox="1">
            <a:spLocks/>
          </p:cNvSpPr>
          <p:nvPr/>
        </p:nvSpPr>
        <p:spPr>
          <a:xfrm>
            <a:off x="6079874" y="4695391"/>
            <a:ext cx="2209800" cy="461665"/>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400" dirty="0">
                <a:solidFill>
                  <a:srgbClr val="FF0000"/>
                </a:solidFill>
                <a:latin typeface="Comic Sans MS" panose="030F0702030302020204" pitchFamily="66" charset="0"/>
              </a:rPr>
              <a:t>E</a:t>
            </a:r>
            <a:r>
              <a:rPr lang="en-US" sz="2400" dirty="0" smtClean="0">
                <a:solidFill>
                  <a:srgbClr val="FF0000"/>
                </a:solidFill>
                <a:latin typeface="Comic Sans MS" panose="030F0702030302020204" pitchFamily="66" charset="0"/>
              </a:rPr>
              <a:t>xternal DDR</a:t>
            </a:r>
          </a:p>
        </p:txBody>
      </p:sp>
      <p:sp>
        <p:nvSpPr>
          <p:cNvPr id="7" name="Oval 68"/>
          <p:cNvSpPr>
            <a:spLocks noChangeArrowheads="1"/>
          </p:cNvSpPr>
          <p:nvPr/>
        </p:nvSpPr>
        <p:spPr bwMode="auto">
          <a:xfrm>
            <a:off x="3429000" y="4495800"/>
            <a:ext cx="2362200" cy="596933"/>
          </a:xfrm>
          <a:prstGeom prst="ellipse">
            <a:avLst/>
          </a:prstGeom>
          <a:noFill/>
          <a:ln w="15875" algn="ctr">
            <a:solidFill>
              <a:schemeClr val="accent2"/>
            </a:solidFill>
            <a:round/>
            <a:headEnd/>
            <a:tailEnd/>
          </a:ln>
          <a:extLst>
            <a:ext uri="{909E8E84-426E-40dd-AFC4-6F175D3DCCD1}">
              <a14:hiddenFill xmlns:a14="http://schemas.microsoft.com/office/drawing/2010/main" xmlns="">
                <a:solidFill>
                  <a:srgbClr val="FFFFFF"/>
                </a:solidFill>
              </a14:hiddenFill>
            </a:ext>
          </a:extLst>
        </p:spPr>
        <p:txBody>
          <a:bodyPr/>
          <a:lstStyle/>
          <a:p>
            <a:pPr defTabSz="1279525"/>
            <a:endParaRPr lang="en-SG" altLang="en-US" sz="2000" dirty="0">
              <a:solidFill>
                <a:srgbClr val="FF0000"/>
              </a:solidFill>
            </a:endParaRPr>
          </a:p>
        </p:txBody>
      </p:sp>
      <p:cxnSp>
        <p:nvCxnSpPr>
          <p:cNvPr id="8" name="Straight Arrow Connector 76"/>
          <p:cNvCxnSpPr>
            <a:cxnSpLocks noChangeShapeType="1"/>
          </p:cNvCxnSpPr>
          <p:nvPr/>
        </p:nvCxnSpPr>
        <p:spPr bwMode="auto">
          <a:xfrm>
            <a:off x="5791200" y="4833870"/>
            <a:ext cx="351739" cy="104839"/>
          </a:xfrm>
          <a:prstGeom prst="straightConnector1">
            <a:avLst/>
          </a:prstGeom>
          <a:noFill/>
          <a:ln w="25400" algn="ctr">
            <a:solidFill>
              <a:srgbClr val="FF0000"/>
            </a:solidFill>
            <a:prstDash val="sysDash"/>
            <a:round/>
            <a:headEnd/>
            <a:tailEnd type="arrow" w="med" len="med"/>
          </a:ln>
          <a:extLst>
            <a:ext uri="{909E8E84-426E-40dd-AFC4-6F175D3DCCD1}">
              <a14:hiddenFill xmlns:a14="http://schemas.microsoft.com/office/drawing/2010/main" xmlns="">
                <a:noFill/>
              </a14:hiddenFill>
            </a:ext>
          </a:extLst>
        </p:spPr>
      </p:cxnSp>
      <p:sp>
        <p:nvSpPr>
          <p:cNvPr id="9" name="Oval 68"/>
          <p:cNvSpPr>
            <a:spLocks noChangeArrowheads="1"/>
          </p:cNvSpPr>
          <p:nvPr/>
        </p:nvSpPr>
        <p:spPr bwMode="auto">
          <a:xfrm>
            <a:off x="4242417" y="2917420"/>
            <a:ext cx="1091583" cy="587780"/>
          </a:xfrm>
          <a:prstGeom prst="ellipse">
            <a:avLst/>
          </a:prstGeom>
          <a:noFill/>
          <a:ln w="15875" algn="ctr">
            <a:solidFill>
              <a:schemeClr val="accent2"/>
            </a:solidFill>
            <a:round/>
            <a:headEnd/>
            <a:tailEnd/>
          </a:ln>
          <a:extLst>
            <a:ext uri="{909E8E84-426E-40dd-AFC4-6F175D3DCCD1}">
              <a14:hiddenFill xmlns:a14="http://schemas.microsoft.com/office/drawing/2010/main" xmlns="">
                <a:solidFill>
                  <a:srgbClr val="FFFFFF"/>
                </a:solidFill>
              </a14:hiddenFill>
            </a:ext>
          </a:extLst>
        </p:spPr>
        <p:txBody>
          <a:bodyPr/>
          <a:lstStyle/>
          <a:p>
            <a:pPr defTabSz="1279525"/>
            <a:endParaRPr lang="en-SG" altLang="en-US" sz="2000" dirty="0">
              <a:solidFill>
                <a:srgbClr val="FF0000"/>
              </a:solidFill>
            </a:endParaRPr>
          </a:p>
        </p:txBody>
      </p:sp>
      <p:cxnSp>
        <p:nvCxnSpPr>
          <p:cNvPr id="10" name="Straight Arrow Connector 76"/>
          <p:cNvCxnSpPr>
            <a:cxnSpLocks noChangeShapeType="1"/>
          </p:cNvCxnSpPr>
          <p:nvPr/>
        </p:nvCxnSpPr>
        <p:spPr bwMode="auto">
          <a:xfrm>
            <a:off x="5282583" y="3276600"/>
            <a:ext cx="1346817" cy="304800"/>
          </a:xfrm>
          <a:prstGeom prst="straightConnector1">
            <a:avLst/>
          </a:prstGeom>
          <a:noFill/>
          <a:ln w="25400" algn="ctr">
            <a:solidFill>
              <a:srgbClr val="FF0000"/>
            </a:solidFill>
            <a:prstDash val="sysDash"/>
            <a:round/>
            <a:headEnd/>
            <a:tailEnd type="arrow" w="med" len="med"/>
          </a:ln>
          <a:extLst>
            <a:ext uri="{909E8E84-426E-40dd-AFC4-6F175D3DCCD1}">
              <a14:hiddenFill xmlns:a14="http://schemas.microsoft.com/office/drawing/2010/main" xmlns="">
                <a:noFill/>
              </a14:hiddenFill>
            </a:ext>
          </a:extLst>
        </p:spPr>
      </p:cxnSp>
      <p:sp>
        <p:nvSpPr>
          <p:cNvPr id="11" name="Content Placeholder 2"/>
          <p:cNvSpPr txBox="1">
            <a:spLocks/>
          </p:cNvSpPr>
          <p:nvPr/>
        </p:nvSpPr>
        <p:spPr>
          <a:xfrm>
            <a:off x="6477000" y="3531228"/>
            <a:ext cx="2341104" cy="461665"/>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smtClean="0">
                <a:solidFill>
                  <a:srgbClr val="FF0000"/>
                </a:solidFill>
                <a:latin typeface="Comic Sans MS" panose="030F0702030302020204" pitchFamily="66" charset="0"/>
              </a:rPr>
              <a:t>Memory </a:t>
            </a:r>
            <a:r>
              <a:rPr lang="en-US" sz="2400" dirty="0">
                <a:solidFill>
                  <a:srgbClr val="FF0000"/>
                </a:solidFill>
                <a:latin typeface="Comic Sans MS" panose="030F0702030302020204" pitchFamily="66" charset="0"/>
              </a:rPr>
              <a:t>blocks</a:t>
            </a:r>
          </a:p>
        </p:txBody>
      </p:sp>
      <p:sp>
        <p:nvSpPr>
          <p:cNvPr id="12" name="Oval 68"/>
          <p:cNvSpPr>
            <a:spLocks noChangeArrowheads="1"/>
          </p:cNvSpPr>
          <p:nvPr/>
        </p:nvSpPr>
        <p:spPr bwMode="auto">
          <a:xfrm>
            <a:off x="4114800" y="1905000"/>
            <a:ext cx="2313070" cy="823809"/>
          </a:xfrm>
          <a:prstGeom prst="ellipse">
            <a:avLst/>
          </a:prstGeom>
          <a:noFill/>
          <a:ln w="15875" algn="ctr">
            <a:solidFill>
              <a:schemeClr val="accent2"/>
            </a:solidFill>
            <a:round/>
            <a:headEnd/>
            <a:tailEnd/>
          </a:ln>
          <a:extLst>
            <a:ext uri="{909E8E84-426E-40dd-AFC4-6F175D3DCCD1}">
              <a14:hiddenFill xmlns:a14="http://schemas.microsoft.com/office/drawing/2010/main" xmlns="">
                <a:solidFill>
                  <a:srgbClr val="FFFFFF"/>
                </a:solidFill>
              </a14:hiddenFill>
            </a:ext>
          </a:extLst>
        </p:spPr>
        <p:txBody>
          <a:bodyPr/>
          <a:lstStyle/>
          <a:p>
            <a:pPr defTabSz="1279525"/>
            <a:endParaRPr lang="en-SG" altLang="en-US" sz="2000" dirty="0">
              <a:solidFill>
                <a:srgbClr val="FF0000"/>
              </a:solidFill>
            </a:endParaRPr>
          </a:p>
        </p:txBody>
      </p:sp>
      <p:cxnSp>
        <p:nvCxnSpPr>
          <p:cNvPr id="13" name="Straight Arrow Connector 76"/>
          <p:cNvCxnSpPr>
            <a:cxnSpLocks noChangeShapeType="1"/>
          </p:cNvCxnSpPr>
          <p:nvPr/>
        </p:nvCxnSpPr>
        <p:spPr bwMode="auto">
          <a:xfrm>
            <a:off x="6324600" y="2142125"/>
            <a:ext cx="304800" cy="0"/>
          </a:xfrm>
          <a:prstGeom prst="straightConnector1">
            <a:avLst/>
          </a:prstGeom>
          <a:noFill/>
          <a:ln w="25400" algn="ctr">
            <a:solidFill>
              <a:srgbClr val="FF0000"/>
            </a:solidFill>
            <a:prstDash val="sysDash"/>
            <a:round/>
            <a:headEnd/>
            <a:tailEnd type="arrow" w="med" len="med"/>
          </a:ln>
          <a:extLst>
            <a:ext uri="{909E8E84-426E-40dd-AFC4-6F175D3DCCD1}">
              <a14:hiddenFill xmlns:a14="http://schemas.microsoft.com/office/drawing/2010/main" xmlns="">
                <a:noFill/>
              </a14:hiddenFill>
            </a:ext>
          </a:extLst>
        </p:spPr>
      </p:cxnSp>
      <p:sp>
        <p:nvSpPr>
          <p:cNvPr id="21" name="Content Placeholder 2"/>
          <p:cNvSpPr txBox="1">
            <a:spLocks/>
          </p:cNvSpPr>
          <p:nvPr/>
        </p:nvSpPr>
        <p:spPr>
          <a:xfrm>
            <a:off x="6553200" y="1949899"/>
            <a:ext cx="2819400" cy="1200329"/>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400" dirty="0" smtClean="0">
                <a:solidFill>
                  <a:srgbClr val="FF0000"/>
                </a:solidFill>
                <a:latin typeface="Comic Sans MS" panose="030F0702030302020204" pitchFamily="66" charset="0"/>
              </a:rPr>
              <a:t>DSP blocks, memory blocks, and logic blocks</a:t>
            </a:r>
            <a:endParaRPr lang="en-US" sz="2400" dirty="0">
              <a:solidFill>
                <a:srgbClr val="FF0000"/>
              </a:solidFill>
              <a:latin typeface="Comic Sans MS" panose="030F0702030302020204" pitchFamily="66" charset="0"/>
            </a:endParaRPr>
          </a:p>
        </p:txBody>
      </p:sp>
      <p:sp>
        <p:nvSpPr>
          <p:cNvPr id="14" name="TextBox 13"/>
          <p:cNvSpPr txBox="1"/>
          <p:nvPr/>
        </p:nvSpPr>
        <p:spPr>
          <a:xfrm>
            <a:off x="4648200" y="594360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799846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ppt_x"/>
                                          </p:val>
                                        </p:tav>
                                        <p:tav tm="100000">
                                          <p:val>
                                            <p:strVal val="#ppt_x"/>
                                          </p:val>
                                        </p:tav>
                                      </p:tavLst>
                                    </p:anim>
                                    <p:anim calcmode="lin" valueType="num">
                                      <p:cBhvr additive="base">
                                        <p:cTn id="48" dur="500" fill="hold"/>
                                        <p:tgtEl>
                                          <p:spTgt spid="12"/>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additive="base">
                                        <p:cTn id="55" dur="500" fill="hold"/>
                                        <p:tgtEl>
                                          <p:spTgt spid="21"/>
                                        </p:tgtEl>
                                        <p:attrNameLst>
                                          <p:attrName>ppt_x</p:attrName>
                                        </p:attrNameLst>
                                      </p:cBhvr>
                                      <p:tavLst>
                                        <p:tav tm="0">
                                          <p:val>
                                            <p:strVal val="#ppt_x"/>
                                          </p:val>
                                        </p:tav>
                                        <p:tav tm="100000">
                                          <p:val>
                                            <p:strVal val="#ppt_x"/>
                                          </p:val>
                                        </p:tav>
                                      </p:tavLst>
                                    </p:anim>
                                    <p:anim calcmode="lin" valueType="num">
                                      <p:cBhvr additive="base">
                                        <p:cTn id="5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9" grpId="0" animBg="1"/>
      <p:bldP spid="11" grpId="0"/>
      <p:bldP spid="12" grpId="0" animBg="1"/>
      <p:bldP spid="2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dirty="0" smtClean="0"/>
              <a:t>OpenCL on GPU</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
        <p:nvSpPr>
          <p:cNvPr id="13" name="Rectangle 12"/>
          <p:cNvSpPr/>
          <p:nvPr/>
        </p:nvSpPr>
        <p:spPr>
          <a:xfrm>
            <a:off x="762000" y="1219200"/>
            <a:ext cx="7162800" cy="1754326"/>
          </a:xfrm>
          <a:prstGeom prst="rect">
            <a:avLst/>
          </a:prstGeom>
        </p:spPr>
        <p:txBody>
          <a:bodyPr wrap="square">
            <a:spAutoFit/>
          </a:bodyPr>
          <a:lstStyle/>
          <a:p>
            <a:r>
              <a:rPr lang="en-US" dirty="0"/>
              <a:t>__kernel void </a:t>
            </a:r>
            <a:r>
              <a:rPr lang="en-US" dirty="0" err="1" smtClean="0"/>
              <a:t>vectorAdd</a:t>
            </a:r>
            <a:r>
              <a:rPr lang="en-US" dirty="0" smtClean="0"/>
              <a:t> (global </a:t>
            </a:r>
            <a:r>
              <a:rPr lang="en-US" dirty="0" err="1"/>
              <a:t>int</a:t>
            </a:r>
            <a:r>
              <a:rPr lang="en-US" dirty="0"/>
              <a:t> </a:t>
            </a:r>
            <a:r>
              <a:rPr lang="en-US" dirty="0" smtClean="0"/>
              <a:t>*A, *B, *C, *D, *E, *F)</a:t>
            </a:r>
          </a:p>
          <a:p>
            <a:r>
              <a:rPr lang="en-US" dirty="0" smtClean="0"/>
              <a:t>{    </a:t>
            </a:r>
          </a:p>
          <a:p>
            <a:r>
              <a:rPr lang="en-US" dirty="0"/>
              <a:t> </a:t>
            </a:r>
            <a:r>
              <a:rPr lang="en-US" dirty="0" smtClean="0"/>
              <a:t>   </a:t>
            </a:r>
            <a:r>
              <a:rPr lang="en-US" dirty="0" err="1" smtClean="0"/>
              <a:t>int</a:t>
            </a:r>
            <a:r>
              <a:rPr lang="en-US" dirty="0" smtClean="0"/>
              <a:t> </a:t>
            </a:r>
            <a:r>
              <a:rPr lang="en-US" dirty="0" err="1" smtClean="0"/>
              <a:t>gid</a:t>
            </a:r>
            <a:r>
              <a:rPr lang="en-US" dirty="0" smtClean="0"/>
              <a:t>  </a:t>
            </a:r>
            <a:r>
              <a:rPr lang="en-US" dirty="0"/>
              <a:t>= </a:t>
            </a:r>
            <a:r>
              <a:rPr lang="en-US" dirty="0" err="1"/>
              <a:t>get_global_id</a:t>
            </a:r>
            <a:r>
              <a:rPr lang="en-US" dirty="0"/>
              <a:t>(0);   </a:t>
            </a:r>
            <a:endParaRPr lang="en-US" dirty="0" smtClean="0"/>
          </a:p>
          <a:p>
            <a:r>
              <a:rPr lang="en-US" dirty="0" smtClean="0"/>
              <a:t>    A[</a:t>
            </a:r>
            <a:r>
              <a:rPr lang="en-US" dirty="0" err="1" smtClean="0"/>
              <a:t>gid</a:t>
            </a:r>
            <a:r>
              <a:rPr lang="en-US" dirty="0" smtClean="0"/>
              <a:t>]  = B[</a:t>
            </a:r>
            <a:r>
              <a:rPr lang="en-US" dirty="0" err="1" smtClean="0"/>
              <a:t>gid</a:t>
            </a:r>
            <a:r>
              <a:rPr lang="en-US" dirty="0" smtClean="0"/>
              <a:t>] </a:t>
            </a:r>
            <a:r>
              <a:rPr lang="en-US" dirty="0"/>
              <a:t>+ </a:t>
            </a:r>
            <a:r>
              <a:rPr lang="en-US" dirty="0" smtClean="0"/>
              <a:t>C[</a:t>
            </a:r>
            <a:r>
              <a:rPr lang="en-US" dirty="0" err="1" smtClean="0"/>
              <a:t>gid</a:t>
            </a:r>
            <a:r>
              <a:rPr lang="en-US" dirty="0" smtClean="0"/>
              <a:t>];   </a:t>
            </a:r>
          </a:p>
          <a:p>
            <a:r>
              <a:rPr lang="en-US" dirty="0" smtClean="0"/>
              <a:t>    D[</a:t>
            </a:r>
            <a:r>
              <a:rPr lang="en-US" dirty="0" err="1" smtClean="0"/>
              <a:t>gid</a:t>
            </a:r>
            <a:r>
              <a:rPr lang="en-US" dirty="0" smtClean="0"/>
              <a:t>]  = E[</a:t>
            </a:r>
            <a:r>
              <a:rPr lang="en-US" dirty="0" err="1" smtClean="0"/>
              <a:t>gid</a:t>
            </a:r>
            <a:r>
              <a:rPr lang="en-US" dirty="0" smtClean="0"/>
              <a:t>] </a:t>
            </a:r>
            <a:r>
              <a:rPr lang="en-US" dirty="0"/>
              <a:t>+ </a:t>
            </a:r>
            <a:r>
              <a:rPr lang="en-US" dirty="0" smtClean="0"/>
              <a:t>F[</a:t>
            </a:r>
            <a:r>
              <a:rPr lang="en-US" dirty="0" err="1" smtClean="0"/>
              <a:t>gid</a:t>
            </a:r>
            <a:r>
              <a:rPr lang="en-US" dirty="0" smtClean="0"/>
              <a:t>]; </a:t>
            </a:r>
            <a:r>
              <a:rPr lang="en-US" dirty="0"/>
              <a:t>	 </a:t>
            </a:r>
            <a:endParaRPr lang="en-US" dirty="0" smtClean="0"/>
          </a:p>
          <a:p>
            <a:r>
              <a:rPr lang="en-US" dirty="0" smtClean="0"/>
              <a:t>}</a:t>
            </a:r>
            <a:endParaRPr lang="en-US" dirty="0"/>
          </a:p>
        </p:txBody>
      </p:sp>
      <p:sp>
        <p:nvSpPr>
          <p:cNvPr id="12" name="Content Placeholder 2"/>
          <p:cNvSpPr txBox="1">
            <a:spLocks/>
          </p:cNvSpPr>
          <p:nvPr/>
        </p:nvSpPr>
        <p:spPr>
          <a:xfrm>
            <a:off x="325510" y="3587054"/>
            <a:ext cx="7959691" cy="523220"/>
          </a:xfrm>
          <a:prstGeom prst="rect">
            <a:avLst/>
          </a:prstGeom>
          <a:solidFill>
            <a:schemeClr val="tx2"/>
          </a:solidFill>
        </p:spPr>
        <p:txBody>
          <a:bodyPr wrap="square" rtlCol="0">
            <a:spAutoFit/>
          </a:bodyPr>
          <a:lstStyle>
            <a:defPPr>
              <a:defRPr lang="en-US"/>
            </a:defPPr>
            <a:lvl1pPr>
              <a:defRPr sz="2800">
                <a:solidFill>
                  <a:schemeClr val="bg1"/>
                </a:solidFill>
                <a:latin typeface="Comic Sans MS" pitchFamily="66" charset="0"/>
              </a:defRPr>
            </a:lvl1pPr>
          </a:lstStyle>
          <a:p>
            <a:r>
              <a:rPr lang="en-US" dirty="0" smtClean="0"/>
              <a:t>Both </a:t>
            </a:r>
            <a:r>
              <a:rPr lang="en-US" dirty="0"/>
              <a:t>add </a:t>
            </a:r>
            <a:r>
              <a:rPr lang="en-US" dirty="0" err="1" smtClean="0"/>
              <a:t>insns</a:t>
            </a:r>
            <a:r>
              <a:rPr lang="en-US" dirty="0" smtClean="0"/>
              <a:t> </a:t>
            </a:r>
            <a:r>
              <a:rPr lang="en-US" dirty="0"/>
              <a:t>can share the computing cores.  </a:t>
            </a:r>
          </a:p>
        </p:txBody>
      </p:sp>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2947" y="1131706"/>
            <a:ext cx="1828800" cy="2362200"/>
          </a:xfrm>
          <a:prstGeom prst="rect">
            <a:avLst/>
          </a:prstGeom>
        </p:spPr>
      </p:pic>
      <p:grpSp>
        <p:nvGrpSpPr>
          <p:cNvPr id="5" name="Group 4"/>
          <p:cNvGrpSpPr/>
          <p:nvPr/>
        </p:nvGrpSpPr>
        <p:grpSpPr>
          <a:xfrm>
            <a:off x="1543983" y="4409525"/>
            <a:ext cx="4686300" cy="717853"/>
            <a:chOff x="4000500" y="4675977"/>
            <a:chExt cx="3726180" cy="528795"/>
          </a:xfrm>
        </p:grpSpPr>
        <p:sp>
          <p:nvSpPr>
            <p:cNvPr id="3" name="Rectangle 2"/>
            <p:cNvSpPr/>
            <p:nvPr/>
          </p:nvSpPr>
          <p:spPr>
            <a:xfrm>
              <a:off x="4000500" y="4675977"/>
              <a:ext cx="685800" cy="52879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core_0</a:t>
              </a:r>
              <a:endParaRPr lang="en-US" dirty="0"/>
            </a:p>
          </p:txBody>
        </p:sp>
        <p:sp>
          <p:nvSpPr>
            <p:cNvPr id="18" name="Rectangle 17"/>
            <p:cNvSpPr/>
            <p:nvPr/>
          </p:nvSpPr>
          <p:spPr>
            <a:xfrm>
              <a:off x="5013960" y="4675977"/>
              <a:ext cx="685800" cy="52879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core_1</a:t>
              </a:r>
            </a:p>
          </p:txBody>
        </p:sp>
        <p:sp>
          <p:nvSpPr>
            <p:cNvPr id="19" name="Rectangle 18"/>
            <p:cNvSpPr/>
            <p:nvPr/>
          </p:nvSpPr>
          <p:spPr>
            <a:xfrm>
              <a:off x="6027420" y="4675977"/>
              <a:ext cx="685800" cy="52879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core_2</a:t>
              </a:r>
            </a:p>
          </p:txBody>
        </p:sp>
        <p:sp>
          <p:nvSpPr>
            <p:cNvPr id="21" name="Rectangle 20"/>
            <p:cNvSpPr/>
            <p:nvPr/>
          </p:nvSpPr>
          <p:spPr>
            <a:xfrm>
              <a:off x="7040880" y="4675977"/>
              <a:ext cx="685800" cy="52879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core_3</a:t>
              </a:r>
            </a:p>
          </p:txBody>
        </p:sp>
      </p:grpSp>
      <p:grpSp>
        <p:nvGrpSpPr>
          <p:cNvPr id="8" name="Group 7"/>
          <p:cNvGrpSpPr/>
          <p:nvPr/>
        </p:nvGrpSpPr>
        <p:grpSpPr>
          <a:xfrm>
            <a:off x="1626534" y="3852403"/>
            <a:ext cx="4698066" cy="556637"/>
            <a:chOff x="1938775" y="4287625"/>
            <a:chExt cx="4698066" cy="556637"/>
          </a:xfrm>
        </p:grpSpPr>
        <p:sp>
          <p:nvSpPr>
            <p:cNvPr id="6" name="Oval 5"/>
            <p:cNvSpPr/>
            <p:nvPr/>
          </p:nvSpPr>
          <p:spPr>
            <a:xfrm>
              <a:off x="2096798" y="4287625"/>
              <a:ext cx="438150" cy="351019"/>
            </a:xfrm>
            <a:prstGeom prst="ellipse">
              <a:avLst/>
            </a:prstGeom>
            <a:solidFill>
              <a:srgbClr val="FFC000"/>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0</a:t>
              </a:r>
              <a:endParaRPr lang="en-US" dirty="0"/>
            </a:p>
          </p:txBody>
        </p:sp>
        <p:sp>
          <p:nvSpPr>
            <p:cNvPr id="22" name="Oval 21"/>
            <p:cNvSpPr/>
            <p:nvPr/>
          </p:nvSpPr>
          <p:spPr>
            <a:xfrm>
              <a:off x="3315998" y="4302199"/>
              <a:ext cx="438150" cy="351019"/>
            </a:xfrm>
            <a:prstGeom prst="ellipse">
              <a:avLst/>
            </a:prstGeom>
            <a:solidFill>
              <a:srgbClr val="FFC000"/>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1</a:t>
              </a:r>
              <a:endParaRPr lang="en-US" dirty="0"/>
            </a:p>
          </p:txBody>
        </p:sp>
        <p:sp>
          <p:nvSpPr>
            <p:cNvPr id="23" name="Oval 22"/>
            <p:cNvSpPr/>
            <p:nvPr/>
          </p:nvSpPr>
          <p:spPr>
            <a:xfrm>
              <a:off x="4617597" y="4299421"/>
              <a:ext cx="438150" cy="351019"/>
            </a:xfrm>
            <a:prstGeom prst="ellipse">
              <a:avLst/>
            </a:prstGeom>
            <a:solidFill>
              <a:srgbClr val="FFC000"/>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2</a:t>
              </a:r>
              <a:endParaRPr lang="en-US" dirty="0"/>
            </a:p>
          </p:txBody>
        </p:sp>
        <p:sp>
          <p:nvSpPr>
            <p:cNvPr id="24" name="Oval 23"/>
            <p:cNvSpPr/>
            <p:nvPr/>
          </p:nvSpPr>
          <p:spPr>
            <a:xfrm>
              <a:off x="5836797" y="4313995"/>
              <a:ext cx="438150" cy="351019"/>
            </a:xfrm>
            <a:prstGeom prst="ellipse">
              <a:avLst/>
            </a:prstGeom>
            <a:solidFill>
              <a:srgbClr val="FFC000"/>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3</a:t>
              </a:r>
              <a:endParaRPr lang="en-US" dirty="0"/>
            </a:p>
          </p:txBody>
        </p:sp>
        <p:sp>
          <p:nvSpPr>
            <p:cNvPr id="7" name="TextBox 6"/>
            <p:cNvSpPr txBox="1"/>
            <p:nvPr/>
          </p:nvSpPr>
          <p:spPr>
            <a:xfrm>
              <a:off x="1938775" y="4447953"/>
              <a:ext cx="956826" cy="369332"/>
            </a:xfrm>
            <a:prstGeom prst="rect">
              <a:avLst/>
            </a:prstGeom>
            <a:noFill/>
          </p:spPr>
          <p:txBody>
            <a:bodyPr wrap="square" rtlCol="0">
              <a:spAutoFit/>
            </a:bodyPr>
            <a:lstStyle/>
            <a:p>
              <a:r>
                <a:rPr lang="en-US" dirty="0" smtClean="0"/>
                <a:t>A=B+C</a:t>
              </a:r>
              <a:endParaRPr lang="en-US" dirty="0"/>
            </a:p>
          </p:txBody>
        </p:sp>
        <p:sp>
          <p:nvSpPr>
            <p:cNvPr id="27" name="TextBox 26"/>
            <p:cNvSpPr txBox="1"/>
            <p:nvPr/>
          </p:nvSpPr>
          <p:spPr>
            <a:xfrm>
              <a:off x="3187847" y="4474930"/>
              <a:ext cx="956826" cy="369332"/>
            </a:xfrm>
            <a:prstGeom prst="rect">
              <a:avLst/>
            </a:prstGeom>
            <a:noFill/>
          </p:spPr>
          <p:txBody>
            <a:bodyPr wrap="square" rtlCol="0">
              <a:spAutoFit/>
            </a:bodyPr>
            <a:lstStyle/>
            <a:p>
              <a:r>
                <a:rPr lang="en-US" dirty="0" smtClean="0"/>
                <a:t>A=B+C</a:t>
              </a:r>
              <a:endParaRPr lang="en-US" dirty="0"/>
            </a:p>
          </p:txBody>
        </p:sp>
        <p:sp>
          <p:nvSpPr>
            <p:cNvPr id="28" name="TextBox 27"/>
            <p:cNvSpPr txBox="1"/>
            <p:nvPr/>
          </p:nvSpPr>
          <p:spPr>
            <a:xfrm>
              <a:off x="4484007" y="4474930"/>
              <a:ext cx="956826" cy="369332"/>
            </a:xfrm>
            <a:prstGeom prst="rect">
              <a:avLst/>
            </a:prstGeom>
            <a:noFill/>
          </p:spPr>
          <p:txBody>
            <a:bodyPr wrap="square" rtlCol="0">
              <a:spAutoFit/>
            </a:bodyPr>
            <a:lstStyle/>
            <a:p>
              <a:r>
                <a:rPr lang="en-US" dirty="0" smtClean="0"/>
                <a:t>A=B+C</a:t>
              </a:r>
              <a:endParaRPr lang="en-US" dirty="0"/>
            </a:p>
          </p:txBody>
        </p:sp>
        <p:sp>
          <p:nvSpPr>
            <p:cNvPr id="29" name="TextBox 28"/>
            <p:cNvSpPr txBox="1"/>
            <p:nvPr/>
          </p:nvSpPr>
          <p:spPr>
            <a:xfrm>
              <a:off x="5680015" y="4474930"/>
              <a:ext cx="956826" cy="369332"/>
            </a:xfrm>
            <a:prstGeom prst="rect">
              <a:avLst/>
            </a:prstGeom>
            <a:noFill/>
          </p:spPr>
          <p:txBody>
            <a:bodyPr wrap="square" rtlCol="0">
              <a:spAutoFit/>
            </a:bodyPr>
            <a:lstStyle/>
            <a:p>
              <a:r>
                <a:rPr lang="en-US" dirty="0" smtClean="0"/>
                <a:t>A=B+C</a:t>
              </a:r>
              <a:endParaRPr lang="en-US" dirty="0"/>
            </a:p>
          </p:txBody>
        </p:sp>
      </p:grpSp>
      <p:grpSp>
        <p:nvGrpSpPr>
          <p:cNvPr id="30" name="Group 29"/>
          <p:cNvGrpSpPr/>
          <p:nvPr/>
        </p:nvGrpSpPr>
        <p:grpSpPr>
          <a:xfrm>
            <a:off x="1601600" y="3352800"/>
            <a:ext cx="4698066" cy="556637"/>
            <a:chOff x="1938775" y="4287625"/>
            <a:chExt cx="4698066" cy="556637"/>
          </a:xfrm>
        </p:grpSpPr>
        <p:sp>
          <p:nvSpPr>
            <p:cNvPr id="31" name="Oval 30"/>
            <p:cNvSpPr/>
            <p:nvPr/>
          </p:nvSpPr>
          <p:spPr>
            <a:xfrm>
              <a:off x="2096798" y="4287625"/>
              <a:ext cx="438150" cy="351019"/>
            </a:xfrm>
            <a:prstGeom prst="ellipse">
              <a:avLst/>
            </a:prstGeom>
            <a:solidFill>
              <a:srgbClr val="FFC000"/>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0</a:t>
              </a:r>
              <a:endParaRPr lang="en-US" dirty="0"/>
            </a:p>
          </p:txBody>
        </p:sp>
        <p:sp>
          <p:nvSpPr>
            <p:cNvPr id="32" name="Oval 31"/>
            <p:cNvSpPr/>
            <p:nvPr/>
          </p:nvSpPr>
          <p:spPr>
            <a:xfrm>
              <a:off x="3315998" y="4302199"/>
              <a:ext cx="438150" cy="351019"/>
            </a:xfrm>
            <a:prstGeom prst="ellipse">
              <a:avLst/>
            </a:prstGeom>
            <a:solidFill>
              <a:srgbClr val="FFC000"/>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1</a:t>
              </a:r>
              <a:endParaRPr lang="en-US" dirty="0"/>
            </a:p>
          </p:txBody>
        </p:sp>
        <p:sp>
          <p:nvSpPr>
            <p:cNvPr id="33" name="Oval 32"/>
            <p:cNvSpPr/>
            <p:nvPr/>
          </p:nvSpPr>
          <p:spPr>
            <a:xfrm>
              <a:off x="4617597" y="4299421"/>
              <a:ext cx="438150" cy="351019"/>
            </a:xfrm>
            <a:prstGeom prst="ellipse">
              <a:avLst/>
            </a:prstGeom>
            <a:solidFill>
              <a:srgbClr val="FFC000"/>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2</a:t>
              </a:r>
              <a:endParaRPr lang="en-US" dirty="0"/>
            </a:p>
          </p:txBody>
        </p:sp>
        <p:sp>
          <p:nvSpPr>
            <p:cNvPr id="34" name="Oval 33"/>
            <p:cNvSpPr/>
            <p:nvPr/>
          </p:nvSpPr>
          <p:spPr>
            <a:xfrm>
              <a:off x="5836797" y="4313995"/>
              <a:ext cx="438150" cy="351019"/>
            </a:xfrm>
            <a:prstGeom prst="ellipse">
              <a:avLst/>
            </a:prstGeom>
            <a:solidFill>
              <a:srgbClr val="FFC000"/>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3</a:t>
              </a:r>
              <a:endParaRPr lang="en-US" dirty="0"/>
            </a:p>
          </p:txBody>
        </p:sp>
        <p:sp>
          <p:nvSpPr>
            <p:cNvPr id="35" name="TextBox 34"/>
            <p:cNvSpPr txBox="1"/>
            <p:nvPr/>
          </p:nvSpPr>
          <p:spPr>
            <a:xfrm>
              <a:off x="1938775" y="4447953"/>
              <a:ext cx="956826" cy="369332"/>
            </a:xfrm>
            <a:prstGeom prst="rect">
              <a:avLst/>
            </a:prstGeom>
            <a:noFill/>
          </p:spPr>
          <p:txBody>
            <a:bodyPr wrap="square" rtlCol="0">
              <a:spAutoFit/>
            </a:bodyPr>
            <a:lstStyle/>
            <a:p>
              <a:r>
                <a:rPr lang="en-US" dirty="0" smtClean="0"/>
                <a:t>D=E+F</a:t>
              </a:r>
              <a:endParaRPr lang="en-US" dirty="0"/>
            </a:p>
          </p:txBody>
        </p:sp>
        <p:sp>
          <p:nvSpPr>
            <p:cNvPr id="36" name="TextBox 35"/>
            <p:cNvSpPr txBox="1"/>
            <p:nvPr/>
          </p:nvSpPr>
          <p:spPr>
            <a:xfrm>
              <a:off x="3187847" y="4474930"/>
              <a:ext cx="956826" cy="369332"/>
            </a:xfrm>
            <a:prstGeom prst="rect">
              <a:avLst/>
            </a:prstGeom>
            <a:noFill/>
          </p:spPr>
          <p:txBody>
            <a:bodyPr wrap="square" rtlCol="0">
              <a:spAutoFit/>
            </a:bodyPr>
            <a:lstStyle/>
            <a:p>
              <a:r>
                <a:rPr lang="en-US" dirty="0" smtClean="0"/>
                <a:t>D=E+F</a:t>
              </a:r>
              <a:endParaRPr lang="en-US" dirty="0"/>
            </a:p>
          </p:txBody>
        </p:sp>
        <p:sp>
          <p:nvSpPr>
            <p:cNvPr id="37" name="TextBox 36"/>
            <p:cNvSpPr txBox="1"/>
            <p:nvPr/>
          </p:nvSpPr>
          <p:spPr>
            <a:xfrm>
              <a:off x="4484007" y="4474930"/>
              <a:ext cx="956826" cy="369332"/>
            </a:xfrm>
            <a:prstGeom prst="rect">
              <a:avLst/>
            </a:prstGeom>
            <a:noFill/>
          </p:spPr>
          <p:txBody>
            <a:bodyPr wrap="square" rtlCol="0">
              <a:spAutoFit/>
            </a:bodyPr>
            <a:lstStyle/>
            <a:p>
              <a:r>
                <a:rPr lang="en-US" dirty="0" smtClean="0"/>
                <a:t>D=E+F</a:t>
              </a:r>
              <a:endParaRPr lang="en-US" dirty="0"/>
            </a:p>
          </p:txBody>
        </p:sp>
        <p:sp>
          <p:nvSpPr>
            <p:cNvPr id="38" name="TextBox 37"/>
            <p:cNvSpPr txBox="1"/>
            <p:nvPr/>
          </p:nvSpPr>
          <p:spPr>
            <a:xfrm>
              <a:off x="5680015" y="4474930"/>
              <a:ext cx="956826" cy="369332"/>
            </a:xfrm>
            <a:prstGeom prst="rect">
              <a:avLst/>
            </a:prstGeom>
            <a:noFill/>
          </p:spPr>
          <p:txBody>
            <a:bodyPr wrap="square" rtlCol="0">
              <a:spAutoFit/>
            </a:bodyPr>
            <a:lstStyle/>
            <a:p>
              <a:r>
                <a:rPr lang="en-US" dirty="0" smtClean="0"/>
                <a:t>D=E+F</a:t>
              </a:r>
              <a:endParaRPr lang="en-US" dirty="0"/>
            </a:p>
          </p:txBody>
        </p:sp>
      </p:grpSp>
      <p:sp>
        <p:nvSpPr>
          <p:cNvPr id="39" name="TextBox 13"/>
          <p:cNvSpPr txBox="1">
            <a:spLocks noChangeArrowheads="1"/>
          </p:cNvSpPr>
          <p:nvPr/>
        </p:nvSpPr>
        <p:spPr bwMode="auto">
          <a:xfrm>
            <a:off x="325510" y="2753946"/>
            <a:ext cx="8235950" cy="523220"/>
          </a:xfrm>
          <a:prstGeom prst="rect">
            <a:avLst/>
          </a:prstGeom>
          <a:solidFill>
            <a:schemeClr val="tx2"/>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altLang="zh-CN" sz="2800" dirty="0" smtClean="0">
                <a:solidFill>
                  <a:schemeClr val="bg1"/>
                </a:solidFill>
              </a:rPr>
              <a:t>Sufficient threads are required to utilize cores.</a:t>
            </a:r>
            <a:endParaRPr lang="en-SG" altLang="en-US" sz="2800" dirty="0">
              <a:solidFill>
                <a:schemeClr val="bg1"/>
              </a:solidFill>
            </a:endParaRPr>
          </a:p>
        </p:txBody>
      </p:sp>
      <p:sp>
        <p:nvSpPr>
          <p:cNvPr id="40" name="Rectangle 39"/>
          <p:cNvSpPr/>
          <p:nvPr/>
        </p:nvSpPr>
        <p:spPr>
          <a:xfrm>
            <a:off x="968410" y="1779222"/>
            <a:ext cx="2581663" cy="334962"/>
          </a:xfrm>
          <a:prstGeom prst="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291562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2.22222E-6 -4.81481E-6 L -2.22222E-6 0.25 " pathEditMode="relative" rAng="0" ptsTypes="AA">
                                      <p:cBhvr>
                                        <p:cTn id="11" dur="2000" fill="hold"/>
                                        <p:tgtEl>
                                          <p:spTgt spid="8"/>
                                        </p:tgtEl>
                                        <p:attrNameLst>
                                          <p:attrName>ppt_x</p:attrName>
                                          <p:attrName>ppt_y</p:attrName>
                                        </p:attrNameLst>
                                      </p:cBhvr>
                                      <p:rCtr x="0" y="12500"/>
                                    </p:animMotion>
                                  </p:childTnLst>
                                </p:cTn>
                              </p:par>
                              <p:par>
                                <p:cTn id="12" presetID="1" presetClass="exit" presetSubtype="0" fill="hold" grpId="1" nodeType="withEffect">
                                  <p:stCondLst>
                                    <p:cond delay="0"/>
                                  </p:stCondLst>
                                  <p:childTnLst>
                                    <p:set>
                                      <p:cBhvr>
                                        <p:cTn id="13" dur="1" fill="hold">
                                          <p:stCondLst>
                                            <p:cond delay="0"/>
                                          </p:stCondLst>
                                        </p:cTn>
                                        <p:tgtEl>
                                          <p:spTgt spid="40"/>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42" presetClass="path" presetSubtype="0" accel="50000" decel="50000" fill="hold" nodeType="clickEffect">
                                  <p:stCondLst>
                                    <p:cond delay="0"/>
                                  </p:stCondLst>
                                  <p:childTnLst>
                                    <p:animMotion origin="layout" path="M -4.44444E-6 1.85185E-6 L -4.44444E-6 0.25 " pathEditMode="relative" rAng="0" ptsTypes="AA">
                                      <p:cBhvr>
                                        <p:cTn id="17" dur="2000" fill="hold"/>
                                        <p:tgtEl>
                                          <p:spTgt spid="30"/>
                                        </p:tgtEl>
                                        <p:attrNameLst>
                                          <p:attrName>ppt_x</p:attrName>
                                          <p:attrName>ppt_y</p:attrName>
                                        </p:attrNameLst>
                                      </p:cBhvr>
                                      <p:rCtr x="0" y="12500"/>
                                    </p:animMotion>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ppt_x"/>
                                          </p:val>
                                        </p:tav>
                                        <p:tav tm="100000">
                                          <p:val>
                                            <p:strVal val="#ppt_x"/>
                                          </p:val>
                                        </p:tav>
                                      </p:tavLst>
                                    </p:anim>
                                    <p:anim calcmode="lin" valueType="num">
                                      <p:cBhvr additive="base">
                                        <p:cTn id="2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39"/>
                                        </p:tgtEl>
                                        <p:attrNameLst>
                                          <p:attrName>style.visibility</p:attrName>
                                        </p:attrNameLst>
                                      </p:cBhvr>
                                      <p:to>
                                        <p:strVal val="visible"/>
                                      </p:to>
                                    </p:set>
                                    <p:anim calcmode="lin" valueType="num">
                                      <p:cBhvr additive="base">
                                        <p:cTn id="28" dur="500" fill="hold"/>
                                        <p:tgtEl>
                                          <p:spTgt spid="39"/>
                                        </p:tgtEl>
                                        <p:attrNameLst>
                                          <p:attrName>ppt_x</p:attrName>
                                        </p:attrNameLst>
                                      </p:cBhvr>
                                      <p:tavLst>
                                        <p:tav tm="0">
                                          <p:val>
                                            <p:strVal val="#ppt_x"/>
                                          </p:val>
                                        </p:tav>
                                        <p:tav tm="100000">
                                          <p:val>
                                            <p:strVal val="#ppt_x"/>
                                          </p:val>
                                        </p:tav>
                                      </p:tavLst>
                                    </p:anim>
                                    <p:anim calcmode="lin" valueType="num">
                                      <p:cBhvr additive="base">
                                        <p:cTn id="29"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9" grpId="0" animBg="1"/>
      <p:bldP spid="40" grpId="0" animBg="1"/>
      <p:bldP spid="40"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885269" y="3593423"/>
            <a:ext cx="2743200" cy="1447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41" name="Rectangle 40"/>
          <p:cNvSpPr/>
          <p:nvPr/>
        </p:nvSpPr>
        <p:spPr>
          <a:xfrm>
            <a:off x="4336342" y="3969776"/>
            <a:ext cx="862509" cy="71785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D=E+F</a:t>
            </a:r>
            <a:endParaRPr lang="en-US" dirty="0"/>
          </a:p>
        </p:txBody>
      </p:sp>
      <p:sp>
        <p:nvSpPr>
          <p:cNvPr id="40" name="Rectangle 39"/>
          <p:cNvSpPr/>
          <p:nvPr/>
        </p:nvSpPr>
        <p:spPr>
          <a:xfrm>
            <a:off x="3257933" y="3958396"/>
            <a:ext cx="862509" cy="71785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A=B+C</a:t>
            </a:r>
            <a:endParaRPr lang="en-US" dirty="0"/>
          </a:p>
        </p:txBody>
      </p:sp>
      <p:sp>
        <p:nvSpPr>
          <p:cNvPr id="2" name="Title 1"/>
          <p:cNvSpPr>
            <a:spLocks noGrp="1"/>
          </p:cNvSpPr>
          <p:nvPr>
            <p:ph type="title"/>
          </p:nvPr>
        </p:nvSpPr>
        <p:spPr>
          <a:xfrm>
            <a:off x="457200" y="274638"/>
            <a:ext cx="8229600" cy="944562"/>
          </a:xfrm>
        </p:spPr>
        <p:txBody>
          <a:bodyPr>
            <a:normAutofit/>
          </a:bodyPr>
          <a:lstStyle/>
          <a:p>
            <a:r>
              <a:rPr lang="en-US" dirty="0" smtClean="0"/>
              <a:t>OpenCL on FPGA</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
        <p:nvSpPr>
          <p:cNvPr id="13" name="Rectangle 12"/>
          <p:cNvSpPr/>
          <p:nvPr/>
        </p:nvSpPr>
        <p:spPr>
          <a:xfrm>
            <a:off x="762000" y="1219200"/>
            <a:ext cx="7162800" cy="1754326"/>
          </a:xfrm>
          <a:prstGeom prst="rect">
            <a:avLst/>
          </a:prstGeom>
        </p:spPr>
        <p:txBody>
          <a:bodyPr wrap="square">
            <a:spAutoFit/>
          </a:bodyPr>
          <a:lstStyle/>
          <a:p>
            <a:r>
              <a:rPr lang="en-US" dirty="0"/>
              <a:t>__kernel void </a:t>
            </a:r>
            <a:r>
              <a:rPr lang="en-US" dirty="0" err="1" smtClean="0"/>
              <a:t>vectorAdd</a:t>
            </a:r>
            <a:r>
              <a:rPr lang="en-US" dirty="0" smtClean="0"/>
              <a:t> (global </a:t>
            </a:r>
            <a:r>
              <a:rPr lang="en-US" dirty="0" err="1"/>
              <a:t>int</a:t>
            </a:r>
            <a:r>
              <a:rPr lang="en-US" dirty="0"/>
              <a:t> </a:t>
            </a:r>
            <a:r>
              <a:rPr lang="en-US" dirty="0" smtClean="0"/>
              <a:t>*A, *B, *C, *D, *E, *F)</a:t>
            </a:r>
          </a:p>
          <a:p>
            <a:r>
              <a:rPr lang="en-US" dirty="0" smtClean="0"/>
              <a:t>{    </a:t>
            </a:r>
          </a:p>
          <a:p>
            <a:r>
              <a:rPr lang="en-US" dirty="0" smtClean="0"/>
              <a:t>    </a:t>
            </a:r>
            <a:r>
              <a:rPr lang="en-US" dirty="0" err="1"/>
              <a:t>int</a:t>
            </a:r>
            <a:r>
              <a:rPr lang="en-US" dirty="0"/>
              <a:t> </a:t>
            </a:r>
            <a:r>
              <a:rPr lang="en-US" dirty="0" err="1"/>
              <a:t>gid</a:t>
            </a:r>
            <a:r>
              <a:rPr lang="en-US" dirty="0"/>
              <a:t> </a:t>
            </a:r>
            <a:r>
              <a:rPr lang="en-US" dirty="0" smtClean="0"/>
              <a:t> = </a:t>
            </a:r>
            <a:r>
              <a:rPr lang="en-US" dirty="0" err="1"/>
              <a:t>get_global_id</a:t>
            </a:r>
            <a:r>
              <a:rPr lang="en-US" dirty="0"/>
              <a:t>(0);   </a:t>
            </a:r>
          </a:p>
          <a:p>
            <a:r>
              <a:rPr lang="en-US" dirty="0"/>
              <a:t>    A[</a:t>
            </a:r>
            <a:r>
              <a:rPr lang="en-US" dirty="0" err="1"/>
              <a:t>gid</a:t>
            </a:r>
            <a:r>
              <a:rPr lang="en-US" dirty="0"/>
              <a:t>]  = B[</a:t>
            </a:r>
            <a:r>
              <a:rPr lang="en-US" dirty="0" err="1"/>
              <a:t>gid</a:t>
            </a:r>
            <a:r>
              <a:rPr lang="en-US" dirty="0"/>
              <a:t>] + C[</a:t>
            </a:r>
            <a:r>
              <a:rPr lang="en-US" dirty="0" err="1"/>
              <a:t>gid</a:t>
            </a:r>
            <a:r>
              <a:rPr lang="en-US" dirty="0"/>
              <a:t>];   </a:t>
            </a:r>
          </a:p>
          <a:p>
            <a:r>
              <a:rPr lang="en-US" dirty="0"/>
              <a:t>    D[</a:t>
            </a:r>
            <a:r>
              <a:rPr lang="en-US" dirty="0" err="1"/>
              <a:t>gid</a:t>
            </a:r>
            <a:r>
              <a:rPr lang="en-US" dirty="0"/>
              <a:t>] </a:t>
            </a:r>
            <a:r>
              <a:rPr lang="en-US" dirty="0" smtClean="0"/>
              <a:t> = </a:t>
            </a:r>
            <a:r>
              <a:rPr lang="en-US" dirty="0"/>
              <a:t>E[</a:t>
            </a:r>
            <a:r>
              <a:rPr lang="en-US" dirty="0" err="1"/>
              <a:t>gid</a:t>
            </a:r>
            <a:r>
              <a:rPr lang="en-US" dirty="0"/>
              <a:t>] + F[</a:t>
            </a:r>
            <a:r>
              <a:rPr lang="en-US" dirty="0" err="1"/>
              <a:t>gid</a:t>
            </a:r>
            <a:r>
              <a:rPr lang="en-US" dirty="0"/>
              <a:t>]; 	 </a:t>
            </a:r>
            <a:endParaRPr lang="en-US" dirty="0" smtClean="0"/>
          </a:p>
          <a:p>
            <a:r>
              <a:rPr lang="en-US" dirty="0" smtClean="0"/>
              <a:t>}</a:t>
            </a:r>
            <a:endParaRPr lang="en-US" dirty="0"/>
          </a:p>
        </p:txBody>
      </p:sp>
      <p:sp>
        <p:nvSpPr>
          <p:cNvPr id="12" name="Content Placeholder 2"/>
          <p:cNvSpPr txBox="1">
            <a:spLocks/>
          </p:cNvSpPr>
          <p:nvPr/>
        </p:nvSpPr>
        <p:spPr>
          <a:xfrm>
            <a:off x="901701" y="5361588"/>
            <a:ext cx="7251699" cy="954107"/>
          </a:xfrm>
          <a:prstGeom prst="rect">
            <a:avLst/>
          </a:prstGeom>
          <a:solidFill>
            <a:schemeClr val="tx2"/>
          </a:solidFill>
        </p:spPr>
        <p:txBody>
          <a:bodyPr wrap="square" rtlCol="0">
            <a:spAutoFit/>
          </a:bodyPr>
          <a:lstStyle>
            <a:defPPr>
              <a:defRPr lang="en-US"/>
            </a:defPPr>
            <a:lvl1pPr>
              <a:defRPr sz="2800">
                <a:solidFill>
                  <a:schemeClr val="bg1"/>
                </a:solidFill>
                <a:latin typeface="Comic Sans MS" pitchFamily="66" charset="0"/>
              </a:defRPr>
            </a:lvl1pPr>
          </a:lstStyle>
          <a:p>
            <a:r>
              <a:rPr lang="en-US" dirty="0" smtClean="0"/>
              <a:t>Instructions mean real circuits on FPGA</a:t>
            </a:r>
          </a:p>
          <a:p>
            <a:r>
              <a:rPr lang="en-US" dirty="0" smtClean="0">
                <a:sym typeface="Wingdings" panose="05000000000000000000" pitchFamily="2" charset="2"/>
              </a:rPr>
              <a:t> </a:t>
            </a:r>
            <a:r>
              <a:rPr lang="en-US" dirty="0" smtClean="0"/>
              <a:t>  Pipeline parallelism.</a:t>
            </a:r>
            <a:endParaRPr lang="en-US" dirty="0"/>
          </a:p>
        </p:txBody>
      </p:sp>
      <p:grpSp>
        <p:nvGrpSpPr>
          <p:cNvPr id="9" name="Group 8"/>
          <p:cNvGrpSpPr/>
          <p:nvPr/>
        </p:nvGrpSpPr>
        <p:grpSpPr>
          <a:xfrm>
            <a:off x="819533" y="4131448"/>
            <a:ext cx="1959527" cy="351020"/>
            <a:chOff x="481864" y="4365143"/>
            <a:chExt cx="1959527" cy="351020"/>
          </a:xfrm>
        </p:grpSpPr>
        <p:sp>
          <p:nvSpPr>
            <p:cNvPr id="31" name="Oval 30"/>
            <p:cNvSpPr/>
            <p:nvPr/>
          </p:nvSpPr>
          <p:spPr>
            <a:xfrm>
              <a:off x="2003241" y="4365144"/>
              <a:ext cx="438150" cy="351019"/>
            </a:xfrm>
            <a:prstGeom prst="ellipse">
              <a:avLst/>
            </a:prstGeom>
            <a:solidFill>
              <a:srgbClr val="FFC000"/>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0</a:t>
              </a:r>
              <a:endParaRPr lang="en-US" dirty="0"/>
            </a:p>
          </p:txBody>
        </p:sp>
        <p:sp>
          <p:nvSpPr>
            <p:cNvPr id="32" name="Oval 31"/>
            <p:cNvSpPr/>
            <p:nvPr/>
          </p:nvSpPr>
          <p:spPr>
            <a:xfrm>
              <a:off x="1491882" y="4365144"/>
              <a:ext cx="438150" cy="351019"/>
            </a:xfrm>
            <a:prstGeom prst="ellipse">
              <a:avLst/>
            </a:prstGeom>
            <a:solidFill>
              <a:srgbClr val="FFC000"/>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1</a:t>
              </a:r>
              <a:endParaRPr lang="en-US" dirty="0"/>
            </a:p>
          </p:txBody>
        </p:sp>
        <p:sp>
          <p:nvSpPr>
            <p:cNvPr id="33" name="Oval 32"/>
            <p:cNvSpPr/>
            <p:nvPr/>
          </p:nvSpPr>
          <p:spPr>
            <a:xfrm>
              <a:off x="980523" y="4365144"/>
              <a:ext cx="438150" cy="351019"/>
            </a:xfrm>
            <a:prstGeom prst="ellipse">
              <a:avLst/>
            </a:prstGeom>
            <a:solidFill>
              <a:srgbClr val="FFC000"/>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2</a:t>
              </a:r>
              <a:endParaRPr lang="en-US" dirty="0"/>
            </a:p>
          </p:txBody>
        </p:sp>
        <p:sp>
          <p:nvSpPr>
            <p:cNvPr id="34" name="Oval 33"/>
            <p:cNvSpPr/>
            <p:nvPr/>
          </p:nvSpPr>
          <p:spPr>
            <a:xfrm>
              <a:off x="481864" y="4365143"/>
              <a:ext cx="438150" cy="351019"/>
            </a:xfrm>
            <a:prstGeom prst="ellipse">
              <a:avLst/>
            </a:prstGeom>
            <a:solidFill>
              <a:srgbClr val="FFC000"/>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3</a:t>
              </a:r>
              <a:endParaRPr lang="en-US" dirty="0"/>
            </a:p>
          </p:txBody>
        </p:sp>
      </p:grpSp>
      <p:sp>
        <p:nvSpPr>
          <p:cNvPr id="14" name="Rectangle 13"/>
          <p:cNvSpPr/>
          <p:nvPr/>
        </p:nvSpPr>
        <p:spPr>
          <a:xfrm>
            <a:off x="4858675" y="4643735"/>
            <a:ext cx="856325" cy="461665"/>
          </a:xfrm>
          <a:prstGeom prst="rect">
            <a:avLst/>
          </a:prstGeom>
        </p:spPr>
        <p:txBody>
          <a:bodyPr wrap="none">
            <a:spAutoFit/>
          </a:bodyPr>
          <a:lstStyle/>
          <a:p>
            <a:r>
              <a:rPr lang="en-US" sz="2400" dirty="0" smtClean="0"/>
              <a:t>FPGA</a:t>
            </a:r>
            <a:endParaRPr lang="en-US" sz="2400" dirty="0"/>
          </a:p>
        </p:txBody>
      </p:sp>
      <p:pic>
        <p:nvPicPr>
          <p:cNvPr id="42" name="Picture 41"/>
          <p:cNvPicPr>
            <a:picLocks noChangeAspect="1"/>
          </p:cNvPicPr>
          <p:nvPr/>
        </p:nvPicPr>
        <p:blipFill>
          <a:blip r:embed="rId3"/>
          <a:stretch>
            <a:fillRect/>
          </a:stretch>
        </p:blipFill>
        <p:spPr>
          <a:xfrm>
            <a:off x="5191216" y="1552322"/>
            <a:ext cx="3424293" cy="2127422"/>
          </a:xfrm>
          <a:prstGeom prst="rect">
            <a:avLst/>
          </a:prstGeom>
        </p:spPr>
      </p:pic>
      <p:cxnSp>
        <p:nvCxnSpPr>
          <p:cNvPr id="17" name="Straight Arrow Connector 76"/>
          <p:cNvCxnSpPr>
            <a:cxnSpLocks noChangeShapeType="1"/>
          </p:cNvCxnSpPr>
          <p:nvPr/>
        </p:nvCxnSpPr>
        <p:spPr bwMode="auto">
          <a:xfrm>
            <a:off x="1829551" y="2286000"/>
            <a:ext cx="1828049" cy="1672396"/>
          </a:xfrm>
          <a:prstGeom prst="straightConnector1">
            <a:avLst/>
          </a:prstGeom>
          <a:noFill/>
          <a:ln w="38100" algn="ctr">
            <a:solidFill>
              <a:schemeClr val="accent1"/>
            </a:solidFill>
            <a:prstDash val="sysDash"/>
            <a:round/>
            <a:headEnd/>
            <a:tailEnd type="arrow" w="med" len="med"/>
          </a:ln>
          <a:extLst>
            <a:ext uri="{909E8E84-426E-40dd-AFC4-6F175D3DCCD1}">
              <a14:hiddenFill xmlns:a14="http://schemas.microsoft.com/office/drawing/2010/main" xmlns="">
                <a:noFill/>
              </a14:hiddenFill>
            </a:ext>
          </a:extLst>
        </p:spPr>
      </p:cxnSp>
      <p:cxnSp>
        <p:nvCxnSpPr>
          <p:cNvPr id="21" name="Straight Arrow Connector 76"/>
          <p:cNvCxnSpPr>
            <a:cxnSpLocks noChangeShapeType="1"/>
          </p:cNvCxnSpPr>
          <p:nvPr/>
        </p:nvCxnSpPr>
        <p:spPr bwMode="auto">
          <a:xfrm>
            <a:off x="3048000" y="2667000"/>
            <a:ext cx="1675649" cy="1291396"/>
          </a:xfrm>
          <a:prstGeom prst="straightConnector1">
            <a:avLst/>
          </a:prstGeom>
          <a:noFill/>
          <a:ln w="38100" algn="ctr">
            <a:solidFill>
              <a:schemeClr val="accent1"/>
            </a:solidFill>
            <a:prstDash val="sysDash"/>
            <a:round/>
            <a:headEnd/>
            <a:tailEnd type="arrow" w="med" len="med"/>
          </a:ln>
          <a:extLst>
            <a:ext uri="{909E8E84-426E-40dd-AFC4-6F175D3DCCD1}">
              <a14:hiddenFill xmlns:a14="http://schemas.microsoft.com/office/drawing/2010/main" xmlns="">
                <a:noFill/>
              </a14:hiddenFill>
            </a:ext>
          </a:extLst>
        </p:spPr>
      </p:cxnSp>
      <p:sp>
        <p:nvSpPr>
          <p:cNvPr id="39" name="TextBox 13"/>
          <p:cNvSpPr txBox="1">
            <a:spLocks noChangeArrowheads="1"/>
          </p:cNvSpPr>
          <p:nvPr/>
        </p:nvSpPr>
        <p:spPr bwMode="auto">
          <a:xfrm>
            <a:off x="1694729" y="2515929"/>
            <a:ext cx="5754542" cy="954107"/>
          </a:xfrm>
          <a:prstGeom prst="rect">
            <a:avLst/>
          </a:prstGeom>
          <a:solidFill>
            <a:schemeClr val="tx2"/>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altLang="zh-CN" sz="2800" dirty="0" smtClean="0">
                <a:solidFill>
                  <a:schemeClr val="bg1"/>
                </a:solidFill>
              </a:rPr>
              <a:t>Enough threads are required </a:t>
            </a:r>
          </a:p>
          <a:p>
            <a:r>
              <a:rPr lang="en-US" altLang="zh-CN" sz="2800" dirty="0" smtClean="0">
                <a:solidFill>
                  <a:schemeClr val="bg1"/>
                </a:solidFill>
              </a:rPr>
              <a:t>to fully utilize custom pipelines.</a:t>
            </a:r>
            <a:endParaRPr lang="en-SG" altLang="en-US" sz="2800" dirty="0">
              <a:solidFill>
                <a:schemeClr val="bg1"/>
              </a:solidFill>
            </a:endParaRPr>
          </a:p>
        </p:txBody>
      </p:sp>
    </p:spTree>
    <p:extLst>
      <p:ext uri="{BB962C8B-B14F-4D97-AF65-F5344CB8AC3E}">
        <p14:creationId xmlns:p14="http://schemas.microsoft.com/office/powerpoint/2010/main" val="3015668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ppt_x"/>
                                          </p:val>
                                        </p:tav>
                                        <p:tav tm="100000">
                                          <p:val>
                                            <p:strVal val="#ppt_x"/>
                                          </p:val>
                                        </p:tav>
                                      </p:tavLst>
                                    </p:anim>
                                    <p:anim calcmode="lin" valueType="num">
                                      <p:cBhvr additive="base">
                                        <p:cTn id="1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path" presetSubtype="0" accel="50000" decel="50000" fill="hold" nodeType="clickEffect">
                                  <p:stCondLst>
                                    <p:cond delay="0"/>
                                  </p:stCondLst>
                                  <p:childTnLst>
                                    <p:animMotion origin="layout" path="M -1.38889E-6 0.00046 L 0.14514 -0.00509 C 0.175 -0.00625 0.2217 -0.00671 0.2691 -0.00671 C 0.32344 -0.00671 0.36719 -0.00625 0.39722 -0.00509 L 0.54497 0.00046 " pathEditMode="relative" rAng="0" ptsTypes="AAAAA">
                                      <p:cBhvr>
                                        <p:cTn id="22" dur="2000" fill="hold"/>
                                        <p:tgtEl>
                                          <p:spTgt spid="9"/>
                                        </p:tgtEl>
                                        <p:attrNameLst>
                                          <p:attrName>ppt_x</p:attrName>
                                          <p:attrName>ppt_y</p:attrName>
                                        </p:attrNameLst>
                                      </p:cBhvr>
                                      <p:rCtr x="27240" y="-370"/>
                                    </p:animMotion>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 calcmode="lin" valueType="num">
                                      <p:cBhvr additive="base">
                                        <p:cTn id="27" dur="500" fill="hold"/>
                                        <p:tgtEl>
                                          <p:spTgt spid="39"/>
                                        </p:tgtEl>
                                        <p:attrNameLst>
                                          <p:attrName>ppt_x</p:attrName>
                                        </p:attrNameLst>
                                      </p:cBhvr>
                                      <p:tavLst>
                                        <p:tav tm="0">
                                          <p:val>
                                            <p:strVal val="#ppt_x"/>
                                          </p:val>
                                        </p:tav>
                                        <p:tav tm="100000">
                                          <p:val>
                                            <p:strVal val="#ppt_x"/>
                                          </p:val>
                                        </p:tav>
                                      </p:tavLst>
                                    </p:anim>
                                    <p:anim calcmode="lin" valueType="num">
                                      <p:cBhvr additive="base">
                                        <p:cTn id="2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dirty="0" smtClean="0"/>
              <a:t>Impact of attributes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
        <p:nvSpPr>
          <p:cNvPr id="13" name="Rectangle 12"/>
          <p:cNvSpPr/>
          <p:nvPr/>
        </p:nvSpPr>
        <p:spPr>
          <a:xfrm>
            <a:off x="762000" y="1219200"/>
            <a:ext cx="7162800" cy="2893100"/>
          </a:xfrm>
          <a:prstGeom prst="rect">
            <a:avLst/>
          </a:prstGeom>
        </p:spPr>
        <p:txBody>
          <a:bodyPr wrap="square">
            <a:spAutoFit/>
          </a:bodyPr>
          <a:lstStyle/>
          <a:p>
            <a:r>
              <a:rPr lang="en-US" dirty="0"/>
              <a:t>__kernel void </a:t>
            </a:r>
            <a:r>
              <a:rPr lang="en-US" dirty="0" err="1"/>
              <a:t>vectorAdd_int</a:t>
            </a:r>
            <a:r>
              <a:rPr lang="en-US" dirty="0"/>
              <a:t>(__global </a:t>
            </a:r>
            <a:r>
              <a:rPr lang="en-US" dirty="0" err="1"/>
              <a:t>int</a:t>
            </a:r>
            <a:r>
              <a:rPr lang="en-US" dirty="0"/>
              <a:t> </a:t>
            </a:r>
            <a:r>
              <a:rPr lang="en-US" dirty="0" smtClean="0"/>
              <a:t>*A, *B, *C, *D, *E, *F)</a:t>
            </a:r>
          </a:p>
          <a:p>
            <a:r>
              <a:rPr lang="en-US" dirty="0" smtClean="0"/>
              <a:t>{    </a:t>
            </a:r>
          </a:p>
          <a:p>
            <a:r>
              <a:rPr lang="en-US" dirty="0"/>
              <a:t> </a:t>
            </a:r>
            <a:r>
              <a:rPr lang="en-US" dirty="0" smtClean="0"/>
              <a:t>   </a:t>
            </a:r>
            <a:r>
              <a:rPr lang="en-US" dirty="0" err="1" smtClean="0"/>
              <a:t>int</a:t>
            </a:r>
            <a:r>
              <a:rPr lang="en-US" dirty="0" smtClean="0"/>
              <a:t> </a:t>
            </a:r>
            <a:r>
              <a:rPr lang="en-US" dirty="0" err="1"/>
              <a:t>gid</a:t>
            </a:r>
            <a:r>
              <a:rPr lang="en-US" dirty="0"/>
              <a:t> = </a:t>
            </a:r>
            <a:r>
              <a:rPr lang="en-US" dirty="0" err="1"/>
              <a:t>get_global_id</a:t>
            </a:r>
            <a:r>
              <a:rPr lang="en-US" dirty="0"/>
              <a:t>(0);   </a:t>
            </a:r>
            <a:endParaRPr lang="en-US" dirty="0" smtClean="0"/>
          </a:p>
          <a:p>
            <a:endParaRPr lang="en-US" dirty="0" smtClean="0"/>
          </a:p>
          <a:p>
            <a:r>
              <a:rPr lang="en-US" dirty="0"/>
              <a:t>    </a:t>
            </a:r>
            <a:r>
              <a:rPr lang="en-US" sz="2000" dirty="0">
                <a:solidFill>
                  <a:schemeClr val="tx2"/>
                </a:solidFill>
                <a:latin typeface="Comic Sans MS" panose="030F0702030302020204" pitchFamily="66" charset="0"/>
              </a:rPr>
              <a:t>#pragma unroll 8</a:t>
            </a:r>
          </a:p>
          <a:p>
            <a:r>
              <a:rPr lang="en-US" dirty="0" smtClean="0"/>
              <a:t>    for </a:t>
            </a:r>
            <a:r>
              <a:rPr lang="en-US" dirty="0"/>
              <a:t>(</a:t>
            </a:r>
            <a:r>
              <a:rPr lang="en-US" dirty="0" err="1"/>
              <a:t>int</a:t>
            </a:r>
            <a:r>
              <a:rPr lang="en-US" dirty="0"/>
              <a:t> j = 0; j &lt; </a:t>
            </a:r>
            <a:r>
              <a:rPr lang="en-US" dirty="0" smtClean="0"/>
              <a:t>8</a:t>
            </a:r>
            <a:r>
              <a:rPr lang="en-US" dirty="0"/>
              <a:t>; </a:t>
            </a:r>
            <a:r>
              <a:rPr lang="en-US" dirty="0" err="1"/>
              <a:t>j++</a:t>
            </a:r>
            <a:r>
              <a:rPr lang="en-US" dirty="0"/>
              <a:t>)     </a:t>
            </a:r>
            <a:endParaRPr lang="en-US" dirty="0" smtClean="0"/>
          </a:p>
          <a:p>
            <a:r>
              <a:rPr lang="en-US" dirty="0"/>
              <a:t> </a:t>
            </a:r>
            <a:r>
              <a:rPr lang="en-US" dirty="0" smtClean="0"/>
              <a:t>      A</a:t>
            </a:r>
            <a:r>
              <a:rPr lang="en-US" dirty="0"/>
              <a:t>[(</a:t>
            </a:r>
            <a:r>
              <a:rPr lang="en-US" dirty="0" err="1"/>
              <a:t>gid</a:t>
            </a:r>
            <a:r>
              <a:rPr lang="en-US" dirty="0" smtClean="0"/>
              <a:t>&lt;&lt;3)+</a:t>
            </a:r>
            <a:r>
              <a:rPr lang="en-US" dirty="0"/>
              <a:t>j] </a:t>
            </a:r>
            <a:r>
              <a:rPr lang="en-US" dirty="0" smtClean="0"/>
              <a:t> = </a:t>
            </a:r>
            <a:r>
              <a:rPr lang="en-US" dirty="0"/>
              <a:t>B[(</a:t>
            </a:r>
            <a:r>
              <a:rPr lang="en-US" dirty="0" err="1"/>
              <a:t>gid</a:t>
            </a:r>
            <a:r>
              <a:rPr lang="en-US" dirty="0" smtClean="0"/>
              <a:t>&lt;&lt;3)+</a:t>
            </a:r>
            <a:r>
              <a:rPr lang="en-US" dirty="0"/>
              <a:t>j] + C[(</a:t>
            </a:r>
            <a:r>
              <a:rPr lang="en-US" dirty="0" err="1"/>
              <a:t>gid</a:t>
            </a:r>
            <a:r>
              <a:rPr lang="en-US" dirty="0" smtClean="0"/>
              <a:t>&lt;&lt;3)+</a:t>
            </a:r>
            <a:r>
              <a:rPr lang="en-US" dirty="0"/>
              <a:t>j];   </a:t>
            </a:r>
            <a:endParaRPr lang="en-US" dirty="0" smtClean="0"/>
          </a:p>
          <a:p>
            <a:r>
              <a:rPr lang="en-US" dirty="0" smtClean="0"/>
              <a:t> </a:t>
            </a:r>
            <a:endParaRPr lang="en-US" dirty="0"/>
          </a:p>
          <a:p>
            <a:r>
              <a:rPr lang="en-US" dirty="0" smtClean="0"/>
              <a:t>    D[</a:t>
            </a:r>
            <a:r>
              <a:rPr lang="en-US" dirty="0" err="1" smtClean="0"/>
              <a:t>gid</a:t>
            </a:r>
            <a:r>
              <a:rPr lang="en-US" dirty="0" smtClean="0"/>
              <a:t>] </a:t>
            </a:r>
            <a:r>
              <a:rPr lang="en-US" dirty="0"/>
              <a:t>= </a:t>
            </a:r>
            <a:r>
              <a:rPr lang="en-US" dirty="0" smtClean="0"/>
              <a:t>E[</a:t>
            </a:r>
            <a:r>
              <a:rPr lang="en-US" dirty="0" err="1" smtClean="0"/>
              <a:t>gid</a:t>
            </a:r>
            <a:r>
              <a:rPr lang="en-US" dirty="0" smtClean="0"/>
              <a:t>] </a:t>
            </a:r>
            <a:r>
              <a:rPr lang="en-US" dirty="0"/>
              <a:t>+ </a:t>
            </a:r>
            <a:r>
              <a:rPr lang="en-US" dirty="0" smtClean="0"/>
              <a:t>F[</a:t>
            </a:r>
            <a:r>
              <a:rPr lang="en-US" dirty="0" err="1" smtClean="0"/>
              <a:t>gid</a:t>
            </a:r>
            <a:r>
              <a:rPr lang="en-US" dirty="0" smtClean="0"/>
              <a:t>]; </a:t>
            </a:r>
            <a:r>
              <a:rPr lang="en-US" dirty="0"/>
              <a:t>	 </a:t>
            </a:r>
            <a:endParaRPr lang="en-US" dirty="0" smtClean="0"/>
          </a:p>
          <a:p>
            <a:r>
              <a:rPr lang="en-US" dirty="0" smtClean="0"/>
              <a:t>}</a:t>
            </a:r>
            <a:endParaRPr lang="en-US" dirty="0"/>
          </a:p>
        </p:txBody>
      </p:sp>
      <p:sp>
        <p:nvSpPr>
          <p:cNvPr id="12" name="Content Placeholder 2"/>
          <p:cNvSpPr txBox="1">
            <a:spLocks/>
          </p:cNvSpPr>
          <p:nvPr/>
        </p:nvSpPr>
        <p:spPr>
          <a:xfrm>
            <a:off x="4000500" y="1655930"/>
            <a:ext cx="4229100" cy="707886"/>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solidFill>
                  <a:srgbClr val="FF0000"/>
                </a:solidFill>
                <a:latin typeface="Comic Sans MS" panose="030F0702030302020204" pitchFamily="66" charset="0"/>
              </a:rPr>
              <a:t>For GPU: larger code size, less dependency between instructions.  </a:t>
            </a:r>
            <a:endParaRPr lang="en-US" sz="2000" dirty="0">
              <a:solidFill>
                <a:srgbClr val="FF0000"/>
              </a:solidFill>
              <a:latin typeface="Comic Sans MS" panose="030F0702030302020204" pitchFamily="66" charset="0"/>
            </a:endParaRPr>
          </a:p>
        </p:txBody>
      </p:sp>
      <p:cxnSp>
        <p:nvCxnSpPr>
          <p:cNvPr id="14" name="Straight Arrow Connector 76"/>
          <p:cNvCxnSpPr>
            <a:cxnSpLocks noChangeShapeType="1"/>
            <a:stCxn id="12" idx="1"/>
          </p:cNvCxnSpPr>
          <p:nvPr/>
        </p:nvCxnSpPr>
        <p:spPr bwMode="auto">
          <a:xfrm flipH="1">
            <a:off x="2819400" y="2009873"/>
            <a:ext cx="1181100" cy="311924"/>
          </a:xfrm>
          <a:prstGeom prst="straightConnector1">
            <a:avLst/>
          </a:prstGeom>
          <a:noFill/>
          <a:ln w="25400" algn="ctr">
            <a:solidFill>
              <a:srgbClr val="FF0000"/>
            </a:solidFill>
            <a:prstDash val="sysDash"/>
            <a:round/>
            <a:headEnd/>
            <a:tailEnd type="arrow" w="med" len="med"/>
          </a:ln>
          <a:extLst>
            <a:ext uri="{909E8E84-426E-40dd-AFC4-6F175D3DCCD1}">
              <a14:hiddenFill xmlns:a14="http://schemas.microsoft.com/office/drawing/2010/main" xmlns="">
                <a:noFill/>
              </a14:hiddenFill>
            </a:ext>
          </a:extLst>
        </p:spPr>
      </p:cxnSp>
      <p:cxnSp>
        <p:nvCxnSpPr>
          <p:cNvPr id="20" name="Straight Arrow Connector 76"/>
          <p:cNvCxnSpPr>
            <a:cxnSpLocks noChangeShapeType="1"/>
          </p:cNvCxnSpPr>
          <p:nvPr/>
        </p:nvCxnSpPr>
        <p:spPr bwMode="auto">
          <a:xfrm flipH="1" flipV="1">
            <a:off x="2819402" y="2666216"/>
            <a:ext cx="1523998" cy="1440263"/>
          </a:xfrm>
          <a:prstGeom prst="straightConnector1">
            <a:avLst/>
          </a:prstGeom>
          <a:noFill/>
          <a:ln w="25400" algn="ctr">
            <a:solidFill>
              <a:schemeClr val="accent1"/>
            </a:solidFill>
            <a:prstDash val="sysDash"/>
            <a:round/>
            <a:headEnd/>
            <a:tailEnd type="arrow" w="med" len="med"/>
          </a:ln>
          <a:extLst>
            <a:ext uri="{909E8E84-426E-40dd-AFC4-6F175D3DCCD1}">
              <a14:hiddenFill xmlns:a14="http://schemas.microsoft.com/office/drawing/2010/main" xmlns="">
                <a:noFill/>
              </a14:hiddenFill>
            </a:ext>
          </a:extLst>
        </p:spPr>
      </p:cxnSp>
      <p:sp>
        <p:nvSpPr>
          <p:cNvPr id="25" name="Content Placeholder 2"/>
          <p:cNvSpPr txBox="1">
            <a:spLocks/>
          </p:cNvSpPr>
          <p:nvPr/>
        </p:nvSpPr>
        <p:spPr>
          <a:xfrm>
            <a:off x="2155421" y="3963498"/>
            <a:ext cx="5181601" cy="707886"/>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solidFill>
                  <a:schemeClr val="accent1"/>
                </a:solidFill>
                <a:latin typeface="Comic Sans MS" pitchFamily="66" charset="0"/>
              </a:rPr>
              <a:t>For FPGA: 8x real </a:t>
            </a:r>
            <a:r>
              <a:rPr lang="en-US" sz="2000" dirty="0" smtClean="0">
                <a:solidFill>
                  <a:schemeClr val="accent1"/>
                </a:solidFill>
                <a:latin typeface="Comic Sans MS" pitchFamily="66" charset="0"/>
              </a:rPr>
              <a:t>circuits for addition instruction, 8 additions per cycle.  </a:t>
            </a:r>
            <a:endParaRPr lang="en-US" sz="2000" dirty="0">
              <a:solidFill>
                <a:schemeClr val="accent1"/>
              </a:solidFill>
              <a:latin typeface="Comic Sans MS" pitchFamily="66" charset="0"/>
            </a:endParaRPr>
          </a:p>
        </p:txBody>
      </p:sp>
      <p:sp>
        <p:nvSpPr>
          <p:cNvPr id="60" name="TextBox 13"/>
          <p:cNvSpPr txBox="1">
            <a:spLocks noChangeArrowheads="1"/>
          </p:cNvSpPr>
          <p:nvPr/>
        </p:nvSpPr>
        <p:spPr bwMode="auto">
          <a:xfrm>
            <a:off x="1496760" y="2568957"/>
            <a:ext cx="5693280" cy="954107"/>
          </a:xfrm>
          <a:prstGeom prst="rect">
            <a:avLst/>
          </a:prstGeom>
          <a:solidFill>
            <a:schemeClr val="tx2"/>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altLang="zh-CN" sz="2800" dirty="0" smtClean="0">
                <a:solidFill>
                  <a:schemeClr val="bg1"/>
                </a:solidFill>
              </a:rPr>
              <a:t>Instructions (with attributes) mean real circuits on FPGA.</a:t>
            </a:r>
            <a:endParaRPr lang="en-SG" altLang="en-US" sz="2800" dirty="0">
              <a:solidFill>
                <a:schemeClr val="bg1"/>
              </a:solidFill>
            </a:endParaRPr>
          </a:p>
        </p:txBody>
      </p:sp>
      <p:grpSp>
        <p:nvGrpSpPr>
          <p:cNvPr id="3" name="Group 2"/>
          <p:cNvGrpSpPr/>
          <p:nvPr/>
        </p:nvGrpSpPr>
        <p:grpSpPr>
          <a:xfrm>
            <a:off x="457200" y="4757007"/>
            <a:ext cx="7796709" cy="534768"/>
            <a:chOff x="718782" y="4880011"/>
            <a:chExt cx="7796709" cy="534768"/>
          </a:xfrm>
        </p:grpSpPr>
        <p:sp>
          <p:nvSpPr>
            <p:cNvPr id="10" name="Rectangle 9"/>
            <p:cNvSpPr/>
            <p:nvPr/>
          </p:nvSpPr>
          <p:spPr>
            <a:xfrm>
              <a:off x="718782" y="4880011"/>
              <a:ext cx="862509" cy="53476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A=B+C</a:t>
              </a:r>
              <a:endParaRPr lang="en-US" dirty="0"/>
            </a:p>
          </p:txBody>
        </p:sp>
        <p:sp>
          <p:nvSpPr>
            <p:cNvPr id="11" name="Rectangle 10"/>
            <p:cNvSpPr/>
            <p:nvPr/>
          </p:nvSpPr>
          <p:spPr>
            <a:xfrm>
              <a:off x="1709382" y="4880011"/>
              <a:ext cx="862509" cy="53476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A=B+C</a:t>
              </a:r>
              <a:endParaRPr lang="en-US" dirty="0"/>
            </a:p>
          </p:txBody>
        </p:sp>
        <p:sp>
          <p:nvSpPr>
            <p:cNvPr id="15" name="Rectangle 14"/>
            <p:cNvSpPr/>
            <p:nvPr/>
          </p:nvSpPr>
          <p:spPr>
            <a:xfrm>
              <a:off x="2699982" y="4880011"/>
              <a:ext cx="862509" cy="53476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A=B+C</a:t>
              </a:r>
              <a:endParaRPr lang="en-US" dirty="0"/>
            </a:p>
          </p:txBody>
        </p:sp>
        <p:sp>
          <p:nvSpPr>
            <p:cNvPr id="16" name="Rectangle 15"/>
            <p:cNvSpPr/>
            <p:nvPr/>
          </p:nvSpPr>
          <p:spPr>
            <a:xfrm>
              <a:off x="3690582" y="4880011"/>
              <a:ext cx="862509" cy="53476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A=B+C</a:t>
              </a:r>
              <a:endParaRPr lang="en-US" dirty="0"/>
            </a:p>
          </p:txBody>
        </p:sp>
        <p:sp>
          <p:nvSpPr>
            <p:cNvPr id="17" name="Rectangle 16"/>
            <p:cNvSpPr/>
            <p:nvPr/>
          </p:nvSpPr>
          <p:spPr>
            <a:xfrm>
              <a:off x="4681182" y="4880011"/>
              <a:ext cx="862509" cy="53476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A=B+C</a:t>
              </a:r>
              <a:endParaRPr lang="en-US" dirty="0"/>
            </a:p>
          </p:txBody>
        </p:sp>
        <p:sp>
          <p:nvSpPr>
            <p:cNvPr id="18" name="Rectangle 17"/>
            <p:cNvSpPr/>
            <p:nvPr/>
          </p:nvSpPr>
          <p:spPr>
            <a:xfrm>
              <a:off x="5671782" y="4880011"/>
              <a:ext cx="862509" cy="53476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A=B+C</a:t>
              </a:r>
              <a:endParaRPr lang="en-US" dirty="0"/>
            </a:p>
          </p:txBody>
        </p:sp>
        <p:sp>
          <p:nvSpPr>
            <p:cNvPr id="19" name="Rectangle 18"/>
            <p:cNvSpPr/>
            <p:nvPr/>
          </p:nvSpPr>
          <p:spPr>
            <a:xfrm>
              <a:off x="6662382" y="4880011"/>
              <a:ext cx="862509" cy="53476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A=B+C</a:t>
              </a:r>
              <a:endParaRPr lang="en-US" dirty="0"/>
            </a:p>
          </p:txBody>
        </p:sp>
        <p:sp>
          <p:nvSpPr>
            <p:cNvPr id="21" name="Rectangle 20"/>
            <p:cNvSpPr/>
            <p:nvPr/>
          </p:nvSpPr>
          <p:spPr>
            <a:xfrm>
              <a:off x="7652982" y="4880011"/>
              <a:ext cx="862509" cy="53476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A=B+C</a:t>
              </a:r>
              <a:endParaRPr lang="en-US" dirty="0"/>
            </a:p>
          </p:txBody>
        </p:sp>
      </p:grpSp>
      <p:sp>
        <p:nvSpPr>
          <p:cNvPr id="22" name="Rectangle 21"/>
          <p:cNvSpPr/>
          <p:nvPr/>
        </p:nvSpPr>
        <p:spPr>
          <a:xfrm>
            <a:off x="3883712" y="5488508"/>
            <a:ext cx="862509" cy="53476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D=E+F</a:t>
            </a:r>
            <a:endParaRPr lang="en-US" dirty="0"/>
          </a:p>
        </p:txBody>
      </p:sp>
    </p:spTree>
    <p:extLst>
      <p:ext uri="{BB962C8B-B14F-4D97-AF65-F5344CB8AC3E}">
        <p14:creationId xmlns:p14="http://schemas.microsoft.com/office/powerpoint/2010/main" val="4138682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4" end="4"/>
                                            </p:txEl>
                                          </p:spTgt>
                                        </p:tgtEl>
                                        <p:attrNameLst>
                                          <p:attrName>style.visibility</p:attrName>
                                        </p:attrNameLst>
                                      </p:cBhvr>
                                      <p:to>
                                        <p:strVal val="visible"/>
                                      </p:to>
                                    </p:set>
                                    <p:anim calcmode="lin" valueType="num">
                                      <p:cBhvr additive="base">
                                        <p:cTn id="7"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additive="base">
                                        <p:cTn id="23" dur="500" fill="hold"/>
                                        <p:tgtEl>
                                          <p:spTgt spid="25"/>
                                        </p:tgtEl>
                                        <p:attrNameLst>
                                          <p:attrName>ppt_x</p:attrName>
                                        </p:attrNameLst>
                                      </p:cBhvr>
                                      <p:tavLst>
                                        <p:tav tm="0">
                                          <p:val>
                                            <p:strVal val="#ppt_x"/>
                                          </p:val>
                                        </p:tav>
                                        <p:tav tm="100000">
                                          <p:val>
                                            <p:strVal val="#ppt_x"/>
                                          </p:val>
                                        </p:tav>
                                      </p:tavLst>
                                    </p:anim>
                                    <p:anim calcmode="lin" valueType="num">
                                      <p:cBhvr additive="base">
                                        <p:cTn id="24" dur="500" fill="hold"/>
                                        <p:tgtEl>
                                          <p:spTgt spid="25"/>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500" fill="hold"/>
                                        <p:tgtEl>
                                          <p:spTgt spid="20"/>
                                        </p:tgtEl>
                                        <p:attrNameLst>
                                          <p:attrName>ppt_x</p:attrName>
                                        </p:attrNameLst>
                                      </p:cBhvr>
                                      <p:tavLst>
                                        <p:tav tm="0">
                                          <p:val>
                                            <p:strVal val="#ppt_x"/>
                                          </p:val>
                                        </p:tav>
                                        <p:tav tm="100000">
                                          <p:val>
                                            <p:strVal val="#ppt_x"/>
                                          </p:val>
                                        </p:tav>
                                      </p:tavLst>
                                    </p:anim>
                                    <p:anim calcmode="lin" valueType="num">
                                      <p:cBhvr additive="base">
                                        <p:cTn id="28" dur="500" fill="hold"/>
                                        <p:tgtEl>
                                          <p:spTgt spid="20"/>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ppt_x"/>
                                          </p:val>
                                        </p:tav>
                                        <p:tav tm="100000">
                                          <p:val>
                                            <p:strVal val="#ppt_x"/>
                                          </p:val>
                                        </p:tav>
                                      </p:tavLst>
                                    </p:anim>
                                    <p:anim calcmode="lin" valueType="num">
                                      <p:cBhvr additive="base">
                                        <p:cTn id="3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60"/>
                                        </p:tgtEl>
                                        <p:attrNameLst>
                                          <p:attrName>style.visibility</p:attrName>
                                        </p:attrNameLst>
                                      </p:cBhvr>
                                      <p:to>
                                        <p:strVal val="visible"/>
                                      </p:to>
                                    </p:set>
                                    <p:anim calcmode="lin" valueType="num">
                                      <p:cBhvr additive="base">
                                        <p:cTn id="41" dur="500" fill="hold"/>
                                        <p:tgtEl>
                                          <p:spTgt spid="60"/>
                                        </p:tgtEl>
                                        <p:attrNameLst>
                                          <p:attrName>ppt_x</p:attrName>
                                        </p:attrNameLst>
                                      </p:cBhvr>
                                      <p:tavLst>
                                        <p:tav tm="0">
                                          <p:val>
                                            <p:strVal val="#ppt_x"/>
                                          </p:val>
                                        </p:tav>
                                        <p:tav tm="100000">
                                          <p:val>
                                            <p:strVal val="#ppt_x"/>
                                          </p:val>
                                        </p:tav>
                                      </p:tavLst>
                                    </p:anim>
                                    <p:anim calcmode="lin" valueType="num">
                                      <p:cBhvr additive="base">
                                        <p:cTn id="42"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5" grpId="0"/>
      <p:bldP spid="60" grpId="0" animBg="1"/>
      <p:bldP spid="2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a:xfrm>
            <a:off x="457200" y="1493837"/>
            <a:ext cx="8229600" cy="4525963"/>
          </a:xfrm>
        </p:spPr>
        <p:txBody>
          <a:bodyPr/>
          <a:lstStyle/>
          <a:p>
            <a:r>
              <a:rPr lang="en-US" dirty="0" smtClean="0">
                <a:solidFill>
                  <a:srgbClr val="000000"/>
                </a:solidFill>
              </a:rPr>
              <a:t>Background</a:t>
            </a:r>
          </a:p>
          <a:p>
            <a:pPr lvl="1"/>
            <a:r>
              <a:rPr lang="en-US" dirty="0" smtClean="0">
                <a:solidFill>
                  <a:srgbClr val="000000"/>
                </a:solidFill>
              </a:rPr>
              <a:t>FPGA</a:t>
            </a:r>
          </a:p>
          <a:p>
            <a:pPr lvl="1"/>
            <a:r>
              <a:rPr lang="en-US" dirty="0" err="1" smtClean="0">
                <a:solidFill>
                  <a:srgbClr val="000000"/>
                </a:solidFill>
              </a:rPr>
              <a:t>OpenCL</a:t>
            </a:r>
            <a:r>
              <a:rPr lang="en-US" dirty="0" smtClean="0">
                <a:solidFill>
                  <a:srgbClr val="000000"/>
                </a:solidFill>
              </a:rPr>
              <a:t> SDK for FPGAs</a:t>
            </a:r>
          </a:p>
          <a:p>
            <a:r>
              <a:rPr lang="en-US" dirty="0" smtClean="0">
                <a:solidFill>
                  <a:srgbClr val="FF0000"/>
                </a:solidFill>
              </a:rPr>
              <a:t>A Performance Analysis Framework</a:t>
            </a:r>
          </a:p>
          <a:p>
            <a:r>
              <a:rPr lang="en-US" dirty="0" smtClean="0"/>
              <a:t>Case Study: Database Systems</a:t>
            </a:r>
          </a:p>
          <a:p>
            <a:r>
              <a:rPr lang="en-US" dirty="0" smtClean="0"/>
              <a:t>Conclusion</a:t>
            </a:r>
          </a:p>
          <a:p>
            <a:endParaRPr lang="en-US"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23055744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5638800" y="4191000"/>
            <a:ext cx="2423160" cy="2743200"/>
          </a:xfrm>
          <a:prstGeom prst="rect">
            <a:avLst/>
          </a:prstGeom>
        </p:spPr>
      </p:pic>
      <p:sp>
        <p:nvSpPr>
          <p:cNvPr id="2" name="Title 1"/>
          <p:cNvSpPr>
            <a:spLocks noGrp="1"/>
          </p:cNvSpPr>
          <p:nvPr>
            <p:ph type="title"/>
          </p:nvPr>
        </p:nvSpPr>
        <p:spPr/>
        <p:txBody>
          <a:bodyPr/>
          <a:lstStyle/>
          <a:p>
            <a:r>
              <a:rPr lang="en-US" dirty="0" smtClean="0"/>
              <a:t>Motivating Questions</a:t>
            </a:r>
            <a:endParaRPr lang="en-US" dirty="0"/>
          </a:p>
        </p:txBody>
      </p:sp>
      <p:sp>
        <p:nvSpPr>
          <p:cNvPr id="3" name="Content Placeholder 2"/>
          <p:cNvSpPr>
            <a:spLocks noGrp="1"/>
          </p:cNvSpPr>
          <p:nvPr>
            <p:ph idx="1"/>
          </p:nvPr>
        </p:nvSpPr>
        <p:spPr/>
        <p:txBody>
          <a:bodyPr/>
          <a:lstStyle/>
          <a:p>
            <a:r>
              <a:rPr lang="en-US" dirty="0" err="1" smtClean="0"/>
              <a:t>OpenCL</a:t>
            </a:r>
            <a:r>
              <a:rPr lang="en-US" dirty="0" smtClean="0"/>
              <a:t> has improved the programmability of new generation FPGAs.</a:t>
            </a:r>
          </a:p>
          <a:p>
            <a:r>
              <a:rPr lang="en-US" dirty="0" smtClean="0"/>
              <a:t>Good programmability does NOT necessarily mean good performance.</a:t>
            </a:r>
          </a:p>
          <a:p>
            <a:r>
              <a:rPr lang="en-US" dirty="0" smtClean="0"/>
              <a:t>How can we tune the performance of an </a:t>
            </a:r>
            <a:r>
              <a:rPr lang="en-US" dirty="0" err="1" smtClean="0"/>
              <a:t>OpenCL</a:t>
            </a:r>
            <a:r>
              <a:rPr lang="en-US" dirty="0" smtClean="0"/>
              <a:t> program on FPGAs?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26249787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58200" cy="944562"/>
          </a:xfrm>
        </p:spPr>
        <p:txBody>
          <a:bodyPr>
            <a:normAutofit fontScale="90000"/>
          </a:bodyPr>
          <a:lstStyle/>
          <a:p>
            <a:r>
              <a:rPr lang="en-US" dirty="0" smtClean="0"/>
              <a:t>Impact of Optimization Combinations</a:t>
            </a:r>
            <a:endParaRPr lang="en-US" dirty="0"/>
          </a:p>
        </p:txBody>
      </p:sp>
      <p:sp>
        <p:nvSpPr>
          <p:cNvPr id="3" name="Content Placeholder 2"/>
          <p:cNvSpPr>
            <a:spLocks noGrp="1"/>
          </p:cNvSpPr>
          <p:nvPr>
            <p:ph idx="1"/>
          </p:nvPr>
        </p:nvSpPr>
        <p:spPr>
          <a:xfrm>
            <a:off x="609600" y="5851933"/>
            <a:ext cx="7475265" cy="729044"/>
          </a:xfrm>
        </p:spPr>
        <p:txBody>
          <a:bodyPr>
            <a:normAutofit/>
          </a:bodyPr>
          <a:lstStyle/>
          <a:p>
            <a:r>
              <a:rPr lang="en-US" sz="1600" dirty="0"/>
              <a:t>Local Memory (SM), Memory Coalescing (MC</a:t>
            </a:r>
            <a:r>
              <a:rPr lang="en-US" sz="1600" dirty="0" smtClean="0"/>
              <a:t>), Private </a:t>
            </a:r>
            <a:r>
              <a:rPr lang="en-US" sz="1600" dirty="0"/>
              <a:t>Memory (PM), </a:t>
            </a:r>
            <a:endParaRPr lang="en-US" sz="1600" dirty="0" smtClean="0"/>
          </a:p>
          <a:p>
            <a:r>
              <a:rPr lang="en-US" sz="1600" dirty="0" smtClean="0"/>
              <a:t>Loop </a:t>
            </a:r>
            <a:r>
              <a:rPr lang="en-US" sz="1600" dirty="0"/>
              <a:t>Unrolling (UL</a:t>
            </a:r>
            <a:r>
              <a:rPr lang="en-US" sz="1600" dirty="0" smtClean="0"/>
              <a:t>), Kernel </a:t>
            </a:r>
            <a:r>
              <a:rPr lang="en-US" sz="1600" dirty="0"/>
              <a:t>Vectorization (SIMD</a:t>
            </a:r>
            <a:r>
              <a:rPr lang="en-US" sz="1600" dirty="0" smtClean="0"/>
              <a:t>), Kernel </a:t>
            </a:r>
            <a:r>
              <a:rPr lang="en-US" sz="1600" dirty="0"/>
              <a:t>Pipeline Replication (CU</a:t>
            </a:r>
            <a:r>
              <a:rPr lang="en-US" sz="1600" dirty="0" smtClean="0"/>
              <a:t>)</a:t>
            </a:r>
            <a:endParaRPr lang="en-US" sz="1600" dirty="0"/>
          </a:p>
          <a:p>
            <a:pPr marL="0" indent="0">
              <a:buNone/>
            </a:pPr>
            <a:endParaRPr lang="en-US" sz="16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grpSp>
        <p:nvGrpSpPr>
          <p:cNvPr id="13" name="Group 12"/>
          <p:cNvGrpSpPr/>
          <p:nvPr/>
        </p:nvGrpSpPr>
        <p:grpSpPr>
          <a:xfrm>
            <a:off x="1028700" y="1363905"/>
            <a:ext cx="7315200" cy="1490238"/>
            <a:chOff x="609600" y="1676400"/>
            <a:chExt cx="7772400" cy="1680104"/>
          </a:xfrm>
        </p:grpSpPr>
        <p:sp>
          <p:nvSpPr>
            <p:cNvPr id="5" name="Rounded Rectangle 4"/>
            <p:cNvSpPr/>
            <p:nvPr/>
          </p:nvSpPr>
          <p:spPr>
            <a:xfrm>
              <a:off x="609600" y="1680807"/>
              <a:ext cx="1371600" cy="682834"/>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3200" dirty="0" smtClean="0"/>
                <a:t>SM</a:t>
              </a:r>
              <a:endParaRPr lang="en-US" sz="3200" dirty="0"/>
            </a:p>
          </p:txBody>
        </p:sp>
        <p:sp>
          <p:nvSpPr>
            <p:cNvPr id="6" name="Rounded Rectangle 5"/>
            <p:cNvSpPr/>
            <p:nvPr/>
          </p:nvSpPr>
          <p:spPr>
            <a:xfrm>
              <a:off x="609600" y="2667000"/>
              <a:ext cx="1371600" cy="682834"/>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3200" dirty="0" smtClean="0"/>
                <a:t>UL</a:t>
              </a:r>
              <a:endParaRPr lang="en-US" sz="3200" dirty="0"/>
            </a:p>
          </p:txBody>
        </p:sp>
        <p:sp>
          <p:nvSpPr>
            <p:cNvPr id="7" name="Rounded Rectangle 6"/>
            <p:cNvSpPr/>
            <p:nvPr/>
          </p:nvSpPr>
          <p:spPr>
            <a:xfrm>
              <a:off x="2134265" y="1683070"/>
              <a:ext cx="1218535" cy="68283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MC</a:t>
              </a:r>
            </a:p>
          </p:txBody>
        </p:sp>
        <p:sp>
          <p:nvSpPr>
            <p:cNvPr id="8" name="Rounded Rectangle 7"/>
            <p:cNvSpPr/>
            <p:nvPr/>
          </p:nvSpPr>
          <p:spPr>
            <a:xfrm>
              <a:off x="2146124" y="2660620"/>
              <a:ext cx="1206676" cy="682834"/>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3200" dirty="0" smtClean="0"/>
                <a:t>SIMD</a:t>
              </a:r>
              <a:endParaRPr lang="en-US" sz="3200" dirty="0"/>
            </a:p>
          </p:txBody>
        </p:sp>
        <p:sp>
          <p:nvSpPr>
            <p:cNvPr id="9" name="Rounded Rectangle 8"/>
            <p:cNvSpPr/>
            <p:nvPr/>
          </p:nvSpPr>
          <p:spPr>
            <a:xfrm>
              <a:off x="3547719" y="1676400"/>
              <a:ext cx="1349849" cy="682834"/>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3200" dirty="0"/>
                <a:t>PM</a:t>
              </a:r>
            </a:p>
          </p:txBody>
        </p:sp>
        <p:sp>
          <p:nvSpPr>
            <p:cNvPr id="10" name="Rounded Rectangle 9"/>
            <p:cNvSpPr/>
            <p:nvPr/>
          </p:nvSpPr>
          <p:spPr>
            <a:xfrm>
              <a:off x="3582519" y="2660620"/>
              <a:ext cx="1349849" cy="682834"/>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sz="3200" dirty="0" smtClean="0"/>
                <a:t>CU</a:t>
              </a:r>
              <a:endParaRPr lang="en-US" sz="3200" dirty="0"/>
            </a:p>
          </p:txBody>
        </p:sp>
        <p:sp>
          <p:nvSpPr>
            <p:cNvPr id="11" name="Right Arrow 10"/>
            <p:cNvSpPr/>
            <p:nvPr/>
          </p:nvSpPr>
          <p:spPr>
            <a:xfrm>
              <a:off x="4994821" y="2216470"/>
              <a:ext cx="720179" cy="6096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ounded Rectangle 11"/>
            <p:cNvSpPr/>
            <p:nvPr/>
          </p:nvSpPr>
          <p:spPr>
            <a:xfrm>
              <a:off x="5711638" y="1683070"/>
              <a:ext cx="2670362" cy="1673434"/>
            </a:xfrm>
            <a:prstGeom prst="roundRect">
              <a:avLst/>
            </a:prstGeom>
            <a:solidFill>
              <a:srgbClr val="FF0000"/>
            </a:solidFill>
          </p:spPr>
          <p:style>
            <a:lnRef idx="1">
              <a:schemeClr val="dk1"/>
            </a:lnRef>
            <a:fillRef idx="3">
              <a:schemeClr val="dk1"/>
            </a:fillRef>
            <a:effectRef idx="2">
              <a:schemeClr val="dk1"/>
            </a:effectRef>
            <a:fontRef idx="minor">
              <a:schemeClr val="lt1"/>
            </a:fontRef>
          </p:style>
          <p:txBody>
            <a:bodyPr rtlCol="0" anchor="ctr"/>
            <a:lstStyle/>
            <a:p>
              <a:pPr algn="ctr"/>
              <a:r>
                <a:rPr lang="en-US" sz="2800" dirty="0" smtClean="0">
                  <a:solidFill>
                    <a:schemeClr val="bg1"/>
                  </a:solidFill>
                </a:rPr>
                <a:t>100+</a:t>
              </a:r>
            </a:p>
            <a:p>
              <a:pPr algn="ctr"/>
              <a:r>
                <a:rPr lang="en-US" sz="2800" dirty="0" smtClean="0">
                  <a:solidFill>
                    <a:schemeClr val="bg1"/>
                  </a:solidFill>
                </a:rPr>
                <a:t>Optimization combinations</a:t>
              </a:r>
              <a:endParaRPr lang="en-US" sz="2800" dirty="0">
                <a:solidFill>
                  <a:schemeClr val="bg1"/>
                </a:solidFill>
              </a:endParaRPr>
            </a:p>
          </p:txBody>
        </p:sp>
      </p:grpSp>
      <p:sp>
        <p:nvSpPr>
          <p:cNvPr id="14" name="Rectangle 13"/>
          <p:cNvSpPr/>
          <p:nvPr/>
        </p:nvSpPr>
        <p:spPr>
          <a:xfrm>
            <a:off x="-381000" y="5509667"/>
            <a:ext cx="4572000" cy="369332"/>
          </a:xfrm>
          <a:prstGeom prst="rect">
            <a:avLst/>
          </a:prstGeom>
        </p:spPr>
        <p:txBody>
          <a:bodyPr>
            <a:spAutoFit/>
          </a:bodyPr>
          <a:lstStyle/>
          <a:p>
            <a:endParaRPr lang="en-US" dirty="0"/>
          </a:p>
        </p:txBody>
      </p:sp>
      <p:graphicFrame>
        <p:nvGraphicFramePr>
          <p:cNvPr id="16" name="Chart 15"/>
          <p:cNvGraphicFramePr>
            <a:graphicFrameLocks/>
          </p:cNvGraphicFramePr>
          <p:nvPr>
            <p:extLst>
              <p:ext uri="{D42A27DB-BD31-4B8C-83A1-F6EECF244321}">
                <p14:modId xmlns:p14="http://schemas.microsoft.com/office/powerpoint/2010/main" val="4014239986"/>
              </p:ext>
            </p:extLst>
          </p:nvPr>
        </p:nvGraphicFramePr>
        <p:xfrm>
          <a:off x="607740" y="3108733"/>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7" name="Content Placeholder 2"/>
          <p:cNvSpPr txBox="1">
            <a:spLocks/>
          </p:cNvSpPr>
          <p:nvPr/>
        </p:nvSpPr>
        <p:spPr>
          <a:xfrm>
            <a:off x="5410201" y="3556121"/>
            <a:ext cx="3505200" cy="1569660"/>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a:solidFill>
                  <a:srgbClr val="FF0000"/>
                </a:solidFill>
                <a:latin typeface="Comic Sans MS" panose="030F0702030302020204" pitchFamily="66" charset="0"/>
              </a:rPr>
              <a:t>Different </a:t>
            </a:r>
            <a:r>
              <a:rPr lang="en-US" sz="2400" dirty="0" smtClean="0">
                <a:solidFill>
                  <a:srgbClr val="FF0000"/>
                </a:solidFill>
                <a:latin typeface="Comic Sans MS" panose="030F0702030302020204" pitchFamily="66" charset="0"/>
              </a:rPr>
              <a:t>optimization combinations can significantly </a:t>
            </a:r>
            <a:r>
              <a:rPr lang="en-US" sz="2400" dirty="0">
                <a:solidFill>
                  <a:srgbClr val="FF0000"/>
                </a:solidFill>
                <a:latin typeface="Comic Sans MS" panose="030F0702030302020204" pitchFamily="66" charset="0"/>
              </a:rPr>
              <a:t>affect </a:t>
            </a:r>
            <a:r>
              <a:rPr lang="en-US" sz="2400" dirty="0" smtClean="0">
                <a:solidFill>
                  <a:srgbClr val="FF0000"/>
                </a:solidFill>
                <a:latin typeface="Comic Sans MS" panose="030F0702030302020204" pitchFamily="66" charset="0"/>
              </a:rPr>
              <a:t>performance.</a:t>
            </a:r>
            <a:endParaRPr lang="en-US" sz="2400" dirty="0">
              <a:solidFill>
                <a:srgbClr val="FF0000"/>
              </a:solidFill>
              <a:latin typeface="Comic Sans MS" panose="030F0702030302020204" pitchFamily="66" charset="0"/>
            </a:endParaRPr>
          </a:p>
        </p:txBody>
      </p:sp>
      <p:sp>
        <p:nvSpPr>
          <p:cNvPr id="18" name="Oval 68"/>
          <p:cNvSpPr>
            <a:spLocks noChangeArrowheads="1"/>
          </p:cNvSpPr>
          <p:nvPr/>
        </p:nvSpPr>
        <p:spPr bwMode="auto">
          <a:xfrm>
            <a:off x="3653427" y="3291366"/>
            <a:ext cx="533400" cy="1911558"/>
          </a:xfrm>
          <a:prstGeom prst="ellipse">
            <a:avLst/>
          </a:prstGeom>
          <a:noFill/>
          <a:ln w="28575" algn="ctr">
            <a:solidFill>
              <a:schemeClr val="accent2"/>
            </a:solidFill>
            <a:round/>
            <a:headEnd/>
            <a:tailEnd/>
          </a:ln>
          <a:extLst>
            <a:ext uri="{909E8E84-426E-40dd-AFC4-6F175D3DCCD1}">
              <a14:hiddenFill xmlns:a14="http://schemas.microsoft.com/office/drawing/2010/main" xmlns="">
                <a:solidFill>
                  <a:srgbClr val="FFFFFF"/>
                </a:solidFill>
              </a14:hiddenFill>
            </a:ext>
          </a:extLst>
        </p:spPr>
        <p:txBody>
          <a:bodyPr/>
          <a:lstStyle/>
          <a:p>
            <a:pPr defTabSz="1279525"/>
            <a:endParaRPr lang="en-SG" altLang="en-US" sz="2000" dirty="0">
              <a:solidFill>
                <a:srgbClr val="FF0000"/>
              </a:solidFill>
            </a:endParaRPr>
          </a:p>
        </p:txBody>
      </p:sp>
      <p:cxnSp>
        <p:nvCxnSpPr>
          <p:cNvPr id="19" name="Straight Arrow Connector 76"/>
          <p:cNvCxnSpPr>
            <a:cxnSpLocks noChangeShapeType="1"/>
          </p:cNvCxnSpPr>
          <p:nvPr/>
        </p:nvCxnSpPr>
        <p:spPr bwMode="auto">
          <a:xfrm flipV="1">
            <a:off x="4186827" y="4267201"/>
            <a:ext cx="1299573" cy="76199"/>
          </a:xfrm>
          <a:prstGeom prst="straightConnector1">
            <a:avLst/>
          </a:prstGeom>
          <a:noFill/>
          <a:ln w="38100" algn="ctr">
            <a:solidFill>
              <a:srgbClr val="FF0000"/>
            </a:solidFill>
            <a:prstDash val="sysDash"/>
            <a:round/>
            <a:headEnd/>
            <a:tailEnd type="arrow" w="med" len="med"/>
          </a:ln>
          <a:extLst>
            <a:ext uri="{909E8E84-426E-40dd-AFC4-6F175D3DCCD1}">
              <a14:hiddenFill xmlns:a14="http://schemas.microsoft.com/office/drawing/2010/main" xmlns="">
                <a:noFill/>
              </a14:hiddenFill>
            </a:ext>
          </a:extLst>
        </p:spPr>
      </p:cxnSp>
    </p:spTree>
    <p:extLst>
      <p:ext uri="{BB962C8B-B14F-4D97-AF65-F5344CB8AC3E}">
        <p14:creationId xmlns:p14="http://schemas.microsoft.com/office/powerpoint/2010/main" val="1663065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ppt_x"/>
                                          </p:val>
                                        </p:tav>
                                        <p:tav tm="100000">
                                          <p:val>
                                            <p:strVal val="#ppt_x"/>
                                          </p:val>
                                        </p:tav>
                                      </p:tavLst>
                                    </p:anim>
                                    <p:anim calcmode="lin" valueType="num">
                                      <p:cBhvr additive="base">
                                        <p:cTn id="18" dur="500" fill="hold"/>
                                        <p:tgtEl>
                                          <p:spTgt spid="1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6" grpId="0">
        <p:bldAsOne/>
      </p:bldGraphic>
      <p:bldP spid="17" grpId="0"/>
      <p:bldP spid="1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52134"/>
            <a:ext cx="8382000" cy="868362"/>
          </a:xfrm>
        </p:spPr>
        <p:txBody>
          <a:bodyPr>
            <a:normAutofit/>
          </a:bodyPr>
          <a:lstStyle/>
          <a:p>
            <a:r>
              <a:rPr lang="en-US" dirty="0" smtClean="0"/>
              <a:t>Challenge from Long Synthesis Time</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
        <p:nvSpPr>
          <p:cNvPr id="3" name="Rounded Rectangle 2"/>
          <p:cNvSpPr/>
          <p:nvPr/>
        </p:nvSpPr>
        <p:spPr>
          <a:xfrm>
            <a:off x="1752600" y="1600200"/>
            <a:ext cx="1745672" cy="115787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smtClean="0"/>
              <a:t>OpenCL Code</a:t>
            </a:r>
            <a:endParaRPr lang="en-US" sz="2800" dirty="0"/>
          </a:p>
        </p:txBody>
      </p:sp>
      <p:sp>
        <p:nvSpPr>
          <p:cNvPr id="5" name="Right Arrow 4"/>
          <p:cNvSpPr/>
          <p:nvPr/>
        </p:nvSpPr>
        <p:spPr>
          <a:xfrm>
            <a:off x="3505200" y="2019300"/>
            <a:ext cx="2209800" cy="251581"/>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0" name="Oval 9"/>
          <p:cNvSpPr/>
          <p:nvPr/>
        </p:nvSpPr>
        <p:spPr>
          <a:xfrm>
            <a:off x="5715000" y="1524000"/>
            <a:ext cx="1752600" cy="1257737"/>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000" dirty="0" smtClean="0"/>
              <a:t>FPGA </a:t>
            </a:r>
            <a:r>
              <a:rPr lang="en-US" sz="2000" dirty="0" err="1" smtClean="0"/>
              <a:t>Bitstream</a:t>
            </a:r>
            <a:endParaRPr lang="en-US" sz="2000" dirty="0"/>
          </a:p>
        </p:txBody>
      </p:sp>
      <p:sp>
        <p:nvSpPr>
          <p:cNvPr id="24" name="Content Placeholder 2"/>
          <p:cNvSpPr txBox="1">
            <a:spLocks/>
          </p:cNvSpPr>
          <p:nvPr/>
        </p:nvSpPr>
        <p:spPr>
          <a:xfrm>
            <a:off x="3429000" y="1463168"/>
            <a:ext cx="2133600" cy="80771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a:endParaRPr lang="en-US" dirty="0" smtClean="0"/>
          </a:p>
          <a:p>
            <a:pPr marL="0"/>
            <a:endParaRPr lang="en-US" dirty="0" smtClean="0"/>
          </a:p>
          <a:p>
            <a:pPr marL="0"/>
            <a:endParaRPr lang="en-US" dirty="0" smtClean="0"/>
          </a:p>
          <a:p>
            <a:pPr marL="0"/>
            <a:endParaRPr lang="en-US" dirty="0" smtClean="0"/>
          </a:p>
          <a:p>
            <a:pPr marL="0"/>
            <a:endParaRPr lang="en-US" dirty="0" smtClean="0"/>
          </a:p>
        </p:txBody>
      </p:sp>
      <p:sp>
        <p:nvSpPr>
          <p:cNvPr id="27" name="Content Placeholder 2"/>
          <p:cNvSpPr txBox="1">
            <a:spLocks/>
          </p:cNvSpPr>
          <p:nvPr/>
        </p:nvSpPr>
        <p:spPr>
          <a:xfrm>
            <a:off x="3828762" y="2240190"/>
            <a:ext cx="1675438" cy="461665"/>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smtClean="0">
                <a:solidFill>
                  <a:srgbClr val="FF0000"/>
                </a:solidFill>
                <a:latin typeface="Comic Sans MS" panose="030F0702030302020204" pitchFamily="66" charset="0"/>
              </a:rPr>
              <a:t>2-4 hours</a:t>
            </a:r>
            <a:endParaRPr lang="en-US" sz="2400" dirty="0">
              <a:solidFill>
                <a:srgbClr val="FF0000"/>
              </a:solidFill>
              <a:latin typeface="Comic Sans MS" panose="030F0702030302020204" pitchFamily="66" charset="0"/>
            </a:endParaRPr>
          </a:p>
        </p:txBody>
      </p:sp>
      <p:sp>
        <p:nvSpPr>
          <p:cNvPr id="11" name="Rectangle 10"/>
          <p:cNvSpPr/>
          <p:nvPr/>
        </p:nvSpPr>
        <p:spPr>
          <a:xfrm>
            <a:off x="4151760" y="1450473"/>
            <a:ext cx="688080" cy="707886"/>
          </a:xfrm>
          <a:prstGeom prst="rect">
            <a:avLst/>
          </a:prstGeom>
        </p:spPr>
        <p:txBody>
          <a:bodyPr wrap="square">
            <a:spAutoFit/>
          </a:bodyPr>
          <a:lstStyle/>
          <a:p>
            <a:r>
              <a:rPr lang="en-US" sz="4000" dirty="0">
                <a:solidFill>
                  <a:srgbClr val="FF0000"/>
                </a:solidFill>
                <a:latin typeface="Comic Sans MS" panose="030F0702030302020204" pitchFamily="66" charset="0"/>
                <a:sym typeface="Wingdings" panose="05000000000000000000" pitchFamily="2" charset="2"/>
              </a:rPr>
              <a:t></a:t>
            </a:r>
            <a:endParaRPr lang="en-US" sz="4000" dirty="0"/>
          </a:p>
        </p:txBody>
      </p:sp>
      <p:sp>
        <p:nvSpPr>
          <p:cNvPr id="29" name="TextBox 13"/>
          <p:cNvSpPr txBox="1">
            <a:spLocks noChangeArrowheads="1"/>
          </p:cNvSpPr>
          <p:nvPr/>
        </p:nvSpPr>
        <p:spPr bwMode="auto">
          <a:xfrm>
            <a:off x="762000" y="5029200"/>
            <a:ext cx="7543800" cy="954107"/>
          </a:xfrm>
          <a:prstGeom prst="rect">
            <a:avLst/>
          </a:prstGeom>
          <a:solidFill>
            <a:schemeClr val="tx2"/>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altLang="zh-CN" sz="2800" dirty="0" smtClean="0">
                <a:solidFill>
                  <a:schemeClr val="bg1"/>
                </a:solidFill>
              </a:rPr>
              <a:t>A tool for estimating optimization optimizations for OpenCL kernel is needed.</a:t>
            </a:r>
            <a:endParaRPr lang="en-SG" altLang="en-US" sz="2800" dirty="0">
              <a:solidFill>
                <a:schemeClr val="bg1"/>
              </a:solidFill>
            </a:endParaRPr>
          </a:p>
        </p:txBody>
      </p:sp>
      <p:cxnSp>
        <p:nvCxnSpPr>
          <p:cNvPr id="12" name="Straight Arrow Connector 76"/>
          <p:cNvCxnSpPr>
            <a:cxnSpLocks noChangeShapeType="1"/>
          </p:cNvCxnSpPr>
          <p:nvPr/>
        </p:nvCxnSpPr>
        <p:spPr bwMode="auto">
          <a:xfrm>
            <a:off x="4495800" y="2787090"/>
            <a:ext cx="0" cy="706988"/>
          </a:xfrm>
          <a:prstGeom prst="straightConnector1">
            <a:avLst/>
          </a:prstGeom>
          <a:noFill/>
          <a:ln w="44450" algn="ctr">
            <a:solidFill>
              <a:srgbClr val="FF0000"/>
            </a:solidFill>
            <a:prstDash val="sysDash"/>
            <a:round/>
            <a:headEnd/>
            <a:tailEnd type="arrow" w="med" len="med"/>
          </a:ln>
          <a:extLst>
            <a:ext uri="{909E8E84-426E-40dd-AFC4-6F175D3DCCD1}">
              <a14:hiddenFill xmlns:a14="http://schemas.microsoft.com/office/drawing/2010/main" xmlns="">
                <a:noFill/>
              </a14:hiddenFill>
            </a:ext>
          </a:extLst>
        </p:spPr>
      </p:cxnSp>
      <p:sp>
        <p:nvSpPr>
          <p:cNvPr id="13" name="Content Placeholder 2"/>
          <p:cNvSpPr txBox="1">
            <a:spLocks/>
          </p:cNvSpPr>
          <p:nvPr/>
        </p:nvSpPr>
        <p:spPr>
          <a:xfrm>
            <a:off x="1752600" y="3529911"/>
            <a:ext cx="6502400" cy="830997"/>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400" dirty="0" smtClean="0">
                <a:solidFill>
                  <a:srgbClr val="FF0000"/>
                </a:solidFill>
                <a:latin typeface="Comic Sans MS" panose="030F0702030302020204" pitchFamily="66" charset="0"/>
              </a:rPr>
              <a:t>It takes too much time to evaluate all the optimization combinations on real FPGAs.</a:t>
            </a:r>
            <a:endParaRPr lang="en-US"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997198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additive="base">
                                        <p:cTn id="17" dur="500" fill="hold"/>
                                        <p:tgtEl>
                                          <p:spTgt spid="29"/>
                                        </p:tgtEl>
                                        <p:attrNameLst>
                                          <p:attrName>ppt_x</p:attrName>
                                        </p:attrNameLst>
                                      </p:cBhvr>
                                      <p:tavLst>
                                        <p:tav tm="0">
                                          <p:val>
                                            <p:strVal val="#ppt_x"/>
                                          </p:val>
                                        </p:tav>
                                        <p:tav tm="100000">
                                          <p:val>
                                            <p:strVal val="#ppt_x"/>
                                          </p:val>
                                        </p:tav>
                                      </p:tavLst>
                                    </p:anim>
                                    <p:anim calcmode="lin" valueType="num">
                                      <p:cBhvr additive="base">
                                        <p:cTn id="1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1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2930032" y="4800600"/>
            <a:ext cx="1057574" cy="1015663"/>
          </a:xfrm>
          <a:prstGeom prst="rect">
            <a:avLst/>
          </a:prstGeom>
          <a:noFill/>
        </p:spPr>
        <p:txBody>
          <a:bodyPr wrap="square" rtlCol="0">
            <a:spAutoFit/>
          </a:bodyPr>
          <a:lstStyle/>
          <a:p>
            <a:r>
              <a:rPr lang="en-US" sz="1200" dirty="0" smtClean="0"/>
              <a:t>#Cycle, #</a:t>
            </a:r>
            <a:r>
              <a:rPr lang="en-US" sz="1200" dirty="0" err="1" smtClean="0"/>
              <a:t>Mem_insts</a:t>
            </a:r>
            <a:r>
              <a:rPr lang="en-US" sz="1200" dirty="0" smtClean="0"/>
              <a:t>,</a:t>
            </a:r>
          </a:p>
          <a:p>
            <a:r>
              <a:rPr lang="en-US" sz="1200" dirty="0" smtClean="0"/>
              <a:t>#</a:t>
            </a:r>
            <a:r>
              <a:rPr lang="en-US" sz="1200" dirty="0" err="1" smtClean="0"/>
              <a:t>Mem_burst</a:t>
            </a:r>
            <a:r>
              <a:rPr lang="en-US" sz="1200" dirty="0" smtClean="0"/>
              <a:t>,</a:t>
            </a:r>
          </a:p>
          <a:p>
            <a:r>
              <a:rPr lang="en-US" sz="1200" dirty="0" smtClean="0"/>
              <a:t>#</a:t>
            </a:r>
            <a:r>
              <a:rPr lang="en-US" sz="1200" dirty="0" err="1" smtClean="0"/>
              <a:t>Mem_bytes</a:t>
            </a:r>
            <a:r>
              <a:rPr lang="en-US" sz="1200" dirty="0" smtClean="0"/>
              <a:t>, Trip</a:t>
            </a:r>
            <a:endParaRPr lang="en-US" sz="1200" dirty="0"/>
          </a:p>
        </p:txBody>
      </p:sp>
      <p:sp>
        <p:nvSpPr>
          <p:cNvPr id="2" name="Title 1"/>
          <p:cNvSpPr>
            <a:spLocks noGrp="1"/>
          </p:cNvSpPr>
          <p:nvPr>
            <p:ph type="title"/>
          </p:nvPr>
        </p:nvSpPr>
        <p:spPr>
          <a:xfrm>
            <a:off x="457200" y="220733"/>
            <a:ext cx="8229600" cy="868362"/>
          </a:xfrm>
        </p:spPr>
        <p:txBody>
          <a:bodyPr>
            <a:normAutofit fontScale="90000"/>
          </a:bodyPr>
          <a:lstStyle/>
          <a:p>
            <a:r>
              <a:rPr lang="en-US" dirty="0" smtClean="0"/>
              <a:t>Our Solution: A Performance Analysis Framework</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
        <p:nvSpPr>
          <p:cNvPr id="6" name="Rounded Rectangle 5"/>
          <p:cNvSpPr/>
          <p:nvPr/>
        </p:nvSpPr>
        <p:spPr>
          <a:xfrm>
            <a:off x="304800" y="5003315"/>
            <a:ext cx="711006" cy="46867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dirty="0" smtClean="0"/>
              <a:t>OpenCL</a:t>
            </a:r>
            <a:br>
              <a:rPr lang="en-US" sz="1200" dirty="0" smtClean="0"/>
            </a:br>
            <a:r>
              <a:rPr lang="en-US" sz="1200" dirty="0" smtClean="0"/>
              <a:t>Kernel</a:t>
            </a:r>
            <a:endParaRPr lang="en-US" sz="1200" dirty="0"/>
          </a:p>
        </p:txBody>
      </p:sp>
      <p:sp>
        <p:nvSpPr>
          <p:cNvPr id="7" name="Rounded Rectangle 6"/>
          <p:cNvSpPr/>
          <p:nvPr/>
        </p:nvSpPr>
        <p:spPr>
          <a:xfrm>
            <a:off x="1703625" y="4917612"/>
            <a:ext cx="1185240" cy="64008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dirty="0" smtClean="0"/>
              <a:t>Frontend</a:t>
            </a:r>
          </a:p>
          <a:p>
            <a:pPr algn="ctr"/>
            <a:r>
              <a:rPr lang="en-US" sz="1400" dirty="0"/>
              <a:t>Statistical Collector</a:t>
            </a:r>
          </a:p>
        </p:txBody>
      </p:sp>
      <p:sp>
        <p:nvSpPr>
          <p:cNvPr id="8" name="Rounded Rectangle 7"/>
          <p:cNvSpPr/>
          <p:nvPr/>
        </p:nvSpPr>
        <p:spPr>
          <a:xfrm>
            <a:off x="4063806" y="4917390"/>
            <a:ext cx="1274299" cy="64008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dirty="0" smtClean="0"/>
              <a:t>FPGA</a:t>
            </a:r>
          </a:p>
          <a:p>
            <a:pPr algn="ctr"/>
            <a:r>
              <a:rPr lang="en-US" sz="1400" dirty="0" smtClean="0"/>
              <a:t>Analytical</a:t>
            </a:r>
          </a:p>
          <a:p>
            <a:pPr algn="ctr"/>
            <a:r>
              <a:rPr lang="en-US" sz="1400" dirty="0" smtClean="0"/>
              <a:t>Model</a:t>
            </a:r>
            <a:endParaRPr lang="en-US" sz="1400" dirty="0"/>
          </a:p>
        </p:txBody>
      </p:sp>
      <p:sp>
        <p:nvSpPr>
          <p:cNvPr id="9" name="Rounded Rectangle 8"/>
          <p:cNvSpPr/>
          <p:nvPr/>
        </p:nvSpPr>
        <p:spPr>
          <a:xfrm>
            <a:off x="6045006" y="4916425"/>
            <a:ext cx="1371600" cy="64008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dirty="0" smtClean="0"/>
              <a:t>Performance </a:t>
            </a:r>
            <a:br>
              <a:rPr lang="en-US" sz="1400" dirty="0" smtClean="0"/>
            </a:br>
            <a:r>
              <a:rPr lang="en-US" sz="1400" dirty="0" smtClean="0"/>
              <a:t>Potential</a:t>
            </a:r>
          </a:p>
          <a:p>
            <a:pPr algn="ctr"/>
            <a:r>
              <a:rPr lang="en-US" sz="1400" dirty="0" smtClean="0"/>
              <a:t>Advisor</a:t>
            </a:r>
            <a:endParaRPr lang="en-US" sz="1400" dirty="0"/>
          </a:p>
        </p:txBody>
      </p:sp>
      <p:cxnSp>
        <p:nvCxnSpPr>
          <p:cNvPr id="12" name="Straight Arrow Connector 11"/>
          <p:cNvCxnSpPr>
            <a:stCxn id="6" idx="3"/>
            <a:endCxn id="7" idx="1"/>
          </p:cNvCxnSpPr>
          <p:nvPr/>
        </p:nvCxnSpPr>
        <p:spPr>
          <a:xfrm flipV="1">
            <a:off x="1015806" y="5237652"/>
            <a:ext cx="687819" cy="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3" name="Straight Arrow Connector 12"/>
          <p:cNvCxnSpPr>
            <a:stCxn id="7" idx="3"/>
            <a:endCxn id="8" idx="1"/>
          </p:cNvCxnSpPr>
          <p:nvPr/>
        </p:nvCxnSpPr>
        <p:spPr>
          <a:xfrm flipV="1">
            <a:off x="2888865" y="5237430"/>
            <a:ext cx="1174941" cy="22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4" name="Straight Arrow Connector 13"/>
          <p:cNvCxnSpPr>
            <a:stCxn id="8" idx="3"/>
            <a:endCxn id="9" idx="1"/>
          </p:cNvCxnSpPr>
          <p:nvPr/>
        </p:nvCxnSpPr>
        <p:spPr>
          <a:xfrm flipV="1">
            <a:off x="5338105" y="5236465"/>
            <a:ext cx="706901" cy="96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5" name="Straight Arrow Connector 14"/>
          <p:cNvCxnSpPr>
            <a:stCxn id="9" idx="3"/>
            <a:endCxn id="18" idx="1"/>
          </p:cNvCxnSpPr>
          <p:nvPr/>
        </p:nvCxnSpPr>
        <p:spPr>
          <a:xfrm flipV="1">
            <a:off x="7416606" y="5232958"/>
            <a:ext cx="304800" cy="350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7" name="TextBox 16"/>
          <p:cNvSpPr txBox="1"/>
          <p:nvPr/>
        </p:nvSpPr>
        <p:spPr>
          <a:xfrm>
            <a:off x="5338105" y="5005632"/>
            <a:ext cx="617806" cy="461665"/>
          </a:xfrm>
          <a:prstGeom prst="rect">
            <a:avLst/>
          </a:prstGeom>
          <a:noFill/>
        </p:spPr>
        <p:txBody>
          <a:bodyPr wrap="square" rtlCol="0">
            <a:spAutoFit/>
          </a:bodyPr>
          <a:lstStyle/>
          <a:p>
            <a:r>
              <a:rPr lang="en-US" sz="1200" dirty="0" smtClean="0"/>
              <a:t>Model</a:t>
            </a:r>
            <a:endParaRPr lang="en-US" sz="1200" dirty="0"/>
          </a:p>
          <a:p>
            <a:r>
              <a:rPr lang="en-US" sz="1200" dirty="0" smtClean="0"/>
              <a:t>output</a:t>
            </a:r>
            <a:endParaRPr lang="en-US" sz="1200" dirty="0"/>
          </a:p>
        </p:txBody>
      </p:sp>
      <p:sp>
        <p:nvSpPr>
          <p:cNvPr id="18" name="Rounded Rectangle 17"/>
          <p:cNvSpPr/>
          <p:nvPr/>
        </p:nvSpPr>
        <p:spPr>
          <a:xfrm>
            <a:off x="7721406" y="4998618"/>
            <a:ext cx="1038933" cy="46867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dirty="0" smtClean="0"/>
              <a:t>Programmer</a:t>
            </a:r>
            <a:endParaRPr lang="en-US" sz="1200" dirty="0"/>
          </a:p>
        </p:txBody>
      </p:sp>
      <p:sp>
        <p:nvSpPr>
          <p:cNvPr id="26" name="TextBox 25"/>
          <p:cNvSpPr txBox="1"/>
          <p:nvPr/>
        </p:nvSpPr>
        <p:spPr>
          <a:xfrm>
            <a:off x="1020042" y="4825663"/>
            <a:ext cx="681564" cy="646331"/>
          </a:xfrm>
          <a:prstGeom prst="rect">
            <a:avLst/>
          </a:prstGeom>
          <a:noFill/>
        </p:spPr>
        <p:txBody>
          <a:bodyPr wrap="square" rtlCol="0">
            <a:spAutoFit/>
          </a:bodyPr>
          <a:lstStyle/>
          <a:p>
            <a:r>
              <a:rPr lang="en-US" sz="1200" dirty="0" smtClean="0"/>
              <a:t>#WI, #CU,</a:t>
            </a:r>
          </a:p>
          <a:p>
            <a:r>
              <a:rPr lang="en-US" sz="1200" dirty="0" smtClean="0"/>
              <a:t>#SIMD</a:t>
            </a:r>
            <a:endParaRPr lang="en-US" sz="1200" dirty="0"/>
          </a:p>
        </p:txBody>
      </p:sp>
      <p:sp>
        <p:nvSpPr>
          <p:cNvPr id="37" name="Content Placeholder 2"/>
          <p:cNvSpPr txBox="1">
            <a:spLocks/>
          </p:cNvSpPr>
          <p:nvPr/>
        </p:nvSpPr>
        <p:spPr>
          <a:xfrm>
            <a:off x="431994" y="1152598"/>
            <a:ext cx="8229600" cy="3324285"/>
          </a:xfrm>
          <a:prstGeom prst="rect">
            <a:avLst/>
          </a:prstGeom>
        </p:spPr>
        <p:txBody>
          <a:bodyPr vert="horz" lIns="91440" tIns="45720" rIns="91440" bIns="45720" rtlCol="0">
            <a:normAutofit fontScale="2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1200" dirty="0" smtClean="0"/>
              <a:t>We propose a performance analysis framework to provide performance guidance on FPGA </a:t>
            </a:r>
          </a:p>
          <a:p>
            <a:pPr lvl="1"/>
            <a:r>
              <a:rPr lang="en-US" sz="11200" dirty="0" smtClean="0">
                <a:solidFill>
                  <a:srgbClr val="AA2B1E"/>
                </a:solidFill>
              </a:rPr>
              <a:t>Frontend Collector: </a:t>
            </a:r>
            <a:r>
              <a:rPr lang="en-US" sz="11200" dirty="0" smtClean="0"/>
              <a:t>Obtain necessary OpenCL information </a:t>
            </a:r>
            <a:r>
              <a:rPr lang="en-US" sz="11200" dirty="0"/>
              <a:t>(LLVM IR) </a:t>
            </a:r>
            <a:r>
              <a:rPr lang="en-US" sz="11200" dirty="0" smtClean="0"/>
              <a:t>about each basic block</a:t>
            </a:r>
          </a:p>
          <a:p>
            <a:pPr lvl="1"/>
            <a:r>
              <a:rPr lang="en-US" sz="11200" dirty="0" smtClean="0">
                <a:solidFill>
                  <a:srgbClr val="AA2B1E"/>
                </a:solidFill>
              </a:rPr>
              <a:t>Analytical model: </a:t>
            </a:r>
            <a:r>
              <a:rPr lang="en-US" sz="11200" dirty="0" smtClean="0"/>
              <a:t>Estimate the performance of the OpenCL kernel </a:t>
            </a:r>
            <a:r>
              <a:rPr lang="en-US" altLang="zh-CN" sz="11200" dirty="0" smtClean="0"/>
              <a:t>and generate model output</a:t>
            </a:r>
            <a:endParaRPr lang="en-US" sz="11200" dirty="0" smtClean="0"/>
          </a:p>
          <a:p>
            <a:pPr lvl="1"/>
            <a:r>
              <a:rPr lang="en-US" sz="11200" dirty="0" smtClean="0">
                <a:solidFill>
                  <a:srgbClr val="AA2B1E"/>
                </a:solidFill>
              </a:rPr>
              <a:t>Performance Potential Advisor:</a:t>
            </a:r>
            <a:r>
              <a:rPr lang="en-US" sz="11200" dirty="0" smtClean="0"/>
              <a:t> Convert program analysis information into user-friendly metrics</a:t>
            </a:r>
          </a:p>
          <a:p>
            <a:pPr marL="0"/>
            <a:endParaRPr lang="en-US" dirty="0" smtClean="0"/>
          </a:p>
          <a:p>
            <a:pPr marL="0"/>
            <a:endParaRPr lang="en-US" dirty="0" smtClean="0"/>
          </a:p>
          <a:p>
            <a:pPr marL="0"/>
            <a:endParaRPr lang="en-US" dirty="0" smtClean="0"/>
          </a:p>
          <a:p>
            <a:pPr marL="0"/>
            <a:endParaRPr lang="en-US" dirty="0" smtClean="0"/>
          </a:p>
          <a:p>
            <a:pPr marL="0"/>
            <a:endParaRPr lang="en-US" dirty="0" smtClean="0"/>
          </a:p>
        </p:txBody>
      </p:sp>
      <p:grpSp>
        <p:nvGrpSpPr>
          <p:cNvPr id="33" name="Group 32"/>
          <p:cNvGrpSpPr/>
          <p:nvPr/>
        </p:nvGrpSpPr>
        <p:grpSpPr>
          <a:xfrm>
            <a:off x="660302" y="5466610"/>
            <a:ext cx="7580572" cy="577566"/>
            <a:chOff x="660302" y="5517747"/>
            <a:chExt cx="7580572" cy="577566"/>
          </a:xfrm>
        </p:grpSpPr>
        <p:cxnSp>
          <p:nvCxnSpPr>
            <p:cNvPr id="25" name="Straight Connector 24"/>
            <p:cNvCxnSpPr/>
            <p:nvPr/>
          </p:nvCxnSpPr>
          <p:spPr>
            <a:xfrm flipH="1">
              <a:off x="8240872" y="5517747"/>
              <a:ext cx="1" cy="577566"/>
            </a:xfrm>
            <a:prstGeom prst="line">
              <a:avLst/>
            </a:prstGeom>
            <a:ln>
              <a:solidFill>
                <a:schemeClr val="accent4"/>
              </a:solidFill>
              <a:tailEnd type="none"/>
            </a:ln>
          </p:spPr>
          <p:style>
            <a:lnRef idx="2">
              <a:schemeClr val="dk1"/>
            </a:lnRef>
            <a:fillRef idx="0">
              <a:schemeClr val="dk1"/>
            </a:fillRef>
            <a:effectRef idx="1">
              <a:schemeClr val="dk1"/>
            </a:effectRef>
            <a:fontRef idx="minor">
              <a:schemeClr val="tx1"/>
            </a:fontRef>
          </p:style>
        </p:cxnSp>
        <p:cxnSp>
          <p:nvCxnSpPr>
            <p:cNvPr id="28" name="Straight Connector 27"/>
            <p:cNvCxnSpPr/>
            <p:nvPr/>
          </p:nvCxnSpPr>
          <p:spPr>
            <a:xfrm flipH="1" flipV="1">
              <a:off x="660302" y="6076321"/>
              <a:ext cx="7580572" cy="14986"/>
            </a:xfrm>
            <a:prstGeom prst="line">
              <a:avLst/>
            </a:prstGeom>
            <a:ln>
              <a:solidFill>
                <a:schemeClr val="accent4"/>
              </a:solidFill>
              <a:tailEnd type="none"/>
            </a:ln>
          </p:spPr>
          <p:style>
            <a:lnRef idx="2">
              <a:schemeClr val="dk1"/>
            </a:lnRef>
            <a:fillRef idx="0">
              <a:schemeClr val="dk1"/>
            </a:fillRef>
            <a:effectRef idx="1">
              <a:schemeClr val="dk1"/>
            </a:effectRef>
            <a:fontRef idx="minor">
              <a:schemeClr val="tx1"/>
            </a:fontRef>
          </p:style>
        </p:cxnSp>
        <p:cxnSp>
          <p:nvCxnSpPr>
            <p:cNvPr id="30" name="Straight Arrow Connector 29"/>
            <p:cNvCxnSpPr/>
            <p:nvPr/>
          </p:nvCxnSpPr>
          <p:spPr>
            <a:xfrm flipV="1">
              <a:off x="660302" y="5517747"/>
              <a:ext cx="1" cy="563271"/>
            </a:xfrm>
            <a:prstGeom prst="straightConnector1">
              <a:avLst/>
            </a:prstGeom>
            <a:ln>
              <a:solidFill>
                <a:schemeClr val="accent4"/>
              </a:solidFill>
              <a:tailEnd type="arrow"/>
            </a:ln>
          </p:spPr>
          <p:style>
            <a:lnRef idx="2">
              <a:schemeClr val="dk1"/>
            </a:lnRef>
            <a:fillRef idx="0">
              <a:schemeClr val="dk1"/>
            </a:fillRef>
            <a:effectRef idx="1">
              <a:schemeClr val="dk1"/>
            </a:effectRef>
            <a:fontRef idx="minor">
              <a:schemeClr val="tx1"/>
            </a:fontRef>
          </p:style>
        </p:cxnSp>
      </p:grpSp>
      <p:sp>
        <p:nvSpPr>
          <p:cNvPr id="22" name="TextBox 21"/>
          <p:cNvSpPr txBox="1"/>
          <p:nvPr/>
        </p:nvSpPr>
        <p:spPr>
          <a:xfrm>
            <a:off x="3581400" y="6028983"/>
            <a:ext cx="1383252" cy="338554"/>
          </a:xfrm>
          <a:prstGeom prst="rect">
            <a:avLst/>
          </a:prstGeom>
          <a:noFill/>
        </p:spPr>
        <p:txBody>
          <a:bodyPr wrap="square" rtlCol="0">
            <a:spAutoFit/>
          </a:bodyPr>
          <a:lstStyle/>
          <a:p>
            <a:r>
              <a:rPr lang="en-US" sz="1600" dirty="0" smtClean="0"/>
              <a:t>Manual tuning</a:t>
            </a:r>
            <a:endParaRPr lang="en-US" sz="1600" dirty="0"/>
          </a:p>
        </p:txBody>
      </p:sp>
    </p:spTree>
    <p:extLst>
      <p:ext uri="{BB962C8B-B14F-4D97-AF65-F5344CB8AC3E}">
        <p14:creationId xmlns:p14="http://schemas.microsoft.com/office/powerpoint/2010/main" val="33141839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OpenCL Compiler on FPGA</a:t>
            </a:r>
            <a:endParaRPr lang="en-US" dirty="0"/>
          </a:p>
        </p:txBody>
      </p:sp>
      <p:sp>
        <p:nvSpPr>
          <p:cNvPr id="11" name="Rounded Rectangle 10"/>
          <p:cNvSpPr/>
          <p:nvPr/>
        </p:nvSpPr>
        <p:spPr>
          <a:xfrm>
            <a:off x="1600200" y="1615599"/>
            <a:ext cx="1185240" cy="64008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t>OpenCL code</a:t>
            </a:r>
          </a:p>
        </p:txBody>
      </p:sp>
      <p:sp>
        <p:nvSpPr>
          <p:cNvPr id="12" name="Rounded Rectangle 11"/>
          <p:cNvSpPr/>
          <p:nvPr/>
        </p:nvSpPr>
        <p:spPr>
          <a:xfrm>
            <a:off x="3726361" y="1615599"/>
            <a:ext cx="1274299" cy="64008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t>LLVM IR</a:t>
            </a:r>
            <a:endParaRPr lang="en-US" dirty="0"/>
          </a:p>
        </p:txBody>
      </p:sp>
      <p:sp>
        <p:nvSpPr>
          <p:cNvPr id="13" name="Rounded Rectangle 12"/>
          <p:cNvSpPr/>
          <p:nvPr/>
        </p:nvSpPr>
        <p:spPr>
          <a:xfrm>
            <a:off x="5941581" y="1615599"/>
            <a:ext cx="1371600" cy="64008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t>Verilog</a:t>
            </a:r>
            <a:endParaRPr lang="en-US" dirty="0"/>
          </a:p>
        </p:txBody>
      </p:sp>
      <p:cxnSp>
        <p:nvCxnSpPr>
          <p:cNvPr id="14" name="Straight Arrow Connector 13"/>
          <p:cNvCxnSpPr>
            <a:endCxn id="12" idx="1"/>
          </p:cNvCxnSpPr>
          <p:nvPr/>
        </p:nvCxnSpPr>
        <p:spPr>
          <a:xfrm flipV="1">
            <a:off x="2785440" y="1935639"/>
            <a:ext cx="940921" cy="969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6" name="Straight Arrow Connector 15"/>
          <p:cNvCxnSpPr>
            <a:stCxn id="12" idx="3"/>
          </p:cNvCxnSpPr>
          <p:nvPr/>
        </p:nvCxnSpPr>
        <p:spPr>
          <a:xfrm>
            <a:off x="5000660" y="1935639"/>
            <a:ext cx="940921" cy="970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8" name="Rectangle 17"/>
          <p:cNvSpPr/>
          <p:nvPr/>
        </p:nvSpPr>
        <p:spPr>
          <a:xfrm>
            <a:off x="6010673" y="2921928"/>
            <a:ext cx="2910739" cy="1200329"/>
          </a:xfrm>
          <a:prstGeom prst="rect">
            <a:avLst/>
          </a:prstGeom>
        </p:spPr>
        <p:txBody>
          <a:bodyPr wrap="square">
            <a:spAutoFit/>
          </a:bodyPr>
          <a:lstStyle/>
          <a:p>
            <a:r>
              <a:rPr lang="en-US" sz="2400" dirty="0" smtClean="0">
                <a:solidFill>
                  <a:srgbClr val="FF0000"/>
                </a:solidFill>
                <a:latin typeface="Comic Sans MS" panose="030F0702030302020204" pitchFamily="66" charset="0"/>
              </a:rPr>
              <a:t>Too </a:t>
            </a:r>
            <a:r>
              <a:rPr lang="en-US" sz="2400" dirty="0">
                <a:solidFill>
                  <a:srgbClr val="FF0000"/>
                </a:solidFill>
                <a:latin typeface="Comic Sans MS" panose="030F0702030302020204" pitchFamily="66" charset="0"/>
              </a:rPr>
              <a:t>low-level, </a:t>
            </a:r>
          </a:p>
          <a:p>
            <a:r>
              <a:rPr lang="en-US" sz="2400" dirty="0">
                <a:solidFill>
                  <a:srgbClr val="FF0000"/>
                </a:solidFill>
                <a:latin typeface="Comic Sans MS" panose="030F0702030302020204" pitchFamily="66" charset="0"/>
              </a:rPr>
              <a:t>large </a:t>
            </a:r>
            <a:r>
              <a:rPr lang="en-US" sz="2400" dirty="0" smtClean="0">
                <a:solidFill>
                  <a:srgbClr val="FF0000"/>
                </a:solidFill>
                <a:latin typeface="Comic Sans MS" panose="030F0702030302020204" pitchFamily="66" charset="0"/>
              </a:rPr>
              <a:t>HDL code size</a:t>
            </a:r>
            <a:endParaRPr lang="en-US" sz="2400" dirty="0">
              <a:solidFill>
                <a:srgbClr val="FF0000"/>
              </a:solidFill>
              <a:latin typeface="Comic Sans MS" panose="030F0702030302020204" pitchFamily="66" charset="0"/>
            </a:endParaRPr>
          </a:p>
        </p:txBody>
      </p:sp>
      <p:sp>
        <p:nvSpPr>
          <p:cNvPr id="21" name="Rectangle 20"/>
          <p:cNvSpPr/>
          <p:nvPr/>
        </p:nvSpPr>
        <p:spPr>
          <a:xfrm>
            <a:off x="3071952" y="2882173"/>
            <a:ext cx="3312540" cy="1569660"/>
          </a:xfrm>
          <a:prstGeom prst="rect">
            <a:avLst/>
          </a:prstGeom>
        </p:spPr>
        <p:txBody>
          <a:bodyPr wrap="square">
            <a:spAutoFit/>
          </a:bodyPr>
          <a:lstStyle/>
          <a:p>
            <a:r>
              <a:rPr lang="en-US" sz="2400" dirty="0" smtClean="0">
                <a:solidFill>
                  <a:srgbClr val="FF0000"/>
                </a:solidFill>
                <a:latin typeface="Comic Sans MS" panose="030F0702030302020204" pitchFamily="66" charset="0"/>
              </a:rPr>
              <a:t>Fixed intermediate instructions, </a:t>
            </a:r>
          </a:p>
          <a:p>
            <a:r>
              <a:rPr lang="en-US" sz="2400" dirty="0" smtClean="0">
                <a:solidFill>
                  <a:srgbClr val="FF0000"/>
                </a:solidFill>
                <a:latin typeface="Comic Sans MS" panose="030F0702030302020204" pitchFamily="66" charset="0"/>
              </a:rPr>
              <a:t>Plenty </a:t>
            </a:r>
            <a:r>
              <a:rPr lang="en-US" sz="2400" dirty="0">
                <a:solidFill>
                  <a:srgbClr val="FF0000"/>
                </a:solidFill>
                <a:latin typeface="Comic Sans MS" panose="030F0702030302020204" pitchFamily="66" charset="0"/>
              </a:rPr>
              <a:t>of static analysis </a:t>
            </a:r>
            <a:r>
              <a:rPr lang="en-US" sz="2400" dirty="0" smtClean="0">
                <a:solidFill>
                  <a:srgbClr val="FF0000"/>
                </a:solidFill>
                <a:latin typeface="Comic Sans MS" panose="030F0702030302020204" pitchFamily="66" charset="0"/>
              </a:rPr>
              <a:t>tools</a:t>
            </a:r>
            <a:endParaRPr lang="en-US" sz="2400" dirty="0">
              <a:solidFill>
                <a:srgbClr val="FF0000"/>
              </a:solidFill>
              <a:latin typeface="Comic Sans MS" panose="030F0702030302020204" pitchFamily="66" charset="0"/>
            </a:endParaRPr>
          </a:p>
        </p:txBody>
      </p:sp>
      <p:cxnSp>
        <p:nvCxnSpPr>
          <p:cNvPr id="22" name="Straight Arrow Connector 21"/>
          <p:cNvCxnSpPr>
            <a:endCxn id="11" idx="2"/>
          </p:cNvCxnSpPr>
          <p:nvPr/>
        </p:nvCxnSpPr>
        <p:spPr>
          <a:xfrm flipV="1">
            <a:off x="2192820" y="2255679"/>
            <a:ext cx="0" cy="639921"/>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29" name="Content Placeholder 2"/>
          <p:cNvSpPr txBox="1">
            <a:spLocks/>
          </p:cNvSpPr>
          <p:nvPr/>
        </p:nvSpPr>
        <p:spPr>
          <a:xfrm>
            <a:off x="445423" y="2914102"/>
            <a:ext cx="2438400" cy="1200329"/>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smtClean="0">
                <a:solidFill>
                  <a:srgbClr val="FF0000"/>
                </a:solidFill>
                <a:latin typeface="Comic Sans MS" panose="030F0702030302020204" pitchFamily="66" charset="0"/>
              </a:rPr>
              <a:t>Too </a:t>
            </a:r>
            <a:r>
              <a:rPr lang="en-US" sz="2400" dirty="0">
                <a:solidFill>
                  <a:srgbClr val="FF0000"/>
                </a:solidFill>
                <a:latin typeface="Comic Sans MS" panose="030F0702030302020204" pitchFamily="66" charset="0"/>
              </a:rPr>
              <a:t>high-level, hard to capture all the cases</a:t>
            </a:r>
          </a:p>
        </p:txBody>
      </p:sp>
      <p:cxnSp>
        <p:nvCxnSpPr>
          <p:cNvPr id="30" name="Straight Arrow Connector 29"/>
          <p:cNvCxnSpPr/>
          <p:nvPr/>
        </p:nvCxnSpPr>
        <p:spPr>
          <a:xfrm flipV="1">
            <a:off x="4377010" y="2263299"/>
            <a:ext cx="0" cy="639921"/>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cxnSp>
        <p:nvCxnSpPr>
          <p:cNvPr id="31" name="Straight Arrow Connector 30"/>
          <p:cNvCxnSpPr/>
          <p:nvPr/>
        </p:nvCxnSpPr>
        <p:spPr>
          <a:xfrm flipV="1">
            <a:off x="6648222" y="2263298"/>
            <a:ext cx="0" cy="639921"/>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32" name="TextBox 13"/>
          <p:cNvSpPr txBox="1">
            <a:spLocks noChangeArrowheads="1"/>
          </p:cNvSpPr>
          <p:nvPr/>
        </p:nvSpPr>
        <p:spPr bwMode="auto">
          <a:xfrm>
            <a:off x="1750580" y="4800796"/>
            <a:ext cx="5717019" cy="954107"/>
          </a:xfrm>
          <a:prstGeom prst="rect">
            <a:avLst/>
          </a:prstGeom>
          <a:solidFill>
            <a:schemeClr val="tx2"/>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altLang="zh-CN" sz="2800" dirty="0" smtClean="0">
                <a:solidFill>
                  <a:schemeClr val="bg1"/>
                </a:solidFill>
              </a:rPr>
              <a:t>Our performance analysis framework is based on LLVM IR.</a:t>
            </a:r>
            <a:endParaRPr lang="en-SG" altLang="en-US" sz="2800" dirty="0">
              <a:solidFill>
                <a:schemeClr val="bg1"/>
              </a:solidFill>
            </a:endParaRPr>
          </a:p>
        </p:txBody>
      </p:sp>
    </p:spTree>
    <p:extLst>
      <p:ext uri="{BB962C8B-B14F-4D97-AF65-F5344CB8AC3E}">
        <p14:creationId xmlns:p14="http://schemas.microsoft.com/office/powerpoint/2010/main" val="229028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2" presetClass="entr" presetSubtype="4"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 calcmode="lin" valueType="num">
                                      <p:cBhvr additive="base">
                                        <p:cTn id="10" dur="500" fill="hold"/>
                                        <p:tgtEl>
                                          <p:spTgt spid="29"/>
                                        </p:tgtEl>
                                        <p:attrNameLst>
                                          <p:attrName>ppt_x</p:attrName>
                                        </p:attrNameLst>
                                      </p:cBhvr>
                                      <p:tavLst>
                                        <p:tav tm="0">
                                          <p:val>
                                            <p:strVal val="#ppt_x"/>
                                          </p:val>
                                        </p:tav>
                                        <p:tav tm="100000">
                                          <p:val>
                                            <p:strVal val="#ppt_x"/>
                                          </p:val>
                                        </p:tav>
                                      </p:tavLst>
                                    </p:anim>
                                    <p:anim calcmode="lin" valueType="num">
                                      <p:cBhvr additive="base">
                                        <p:cTn id="11"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par>
                                <p:cTn id="17" presetID="42"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500"/>
                                        <p:tgtEl>
                                          <p:spTgt spid="30"/>
                                        </p:tgtEl>
                                      </p:cBhvr>
                                    </p:animEffect>
                                  </p:childTnLst>
                                </p:cTn>
                              </p:par>
                              <p:par>
                                <p:cTn id="27" presetID="2" presetClass="entr" presetSubtype="4"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500" fill="hold"/>
                                        <p:tgtEl>
                                          <p:spTgt spid="21"/>
                                        </p:tgtEl>
                                        <p:attrNameLst>
                                          <p:attrName>ppt_x</p:attrName>
                                        </p:attrNameLst>
                                      </p:cBhvr>
                                      <p:tavLst>
                                        <p:tav tm="0">
                                          <p:val>
                                            <p:strVal val="#ppt_x"/>
                                          </p:val>
                                        </p:tav>
                                        <p:tav tm="100000">
                                          <p:val>
                                            <p:strVal val="#ppt_x"/>
                                          </p:val>
                                        </p:tav>
                                      </p:tavLst>
                                    </p:anim>
                                    <p:anim calcmode="lin" valueType="num">
                                      <p:cBhvr additive="base">
                                        <p:cTn id="3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anim calcmode="lin" valueType="num">
                                      <p:cBhvr additive="base">
                                        <p:cTn id="35" dur="500" fill="hold"/>
                                        <p:tgtEl>
                                          <p:spTgt spid="32"/>
                                        </p:tgtEl>
                                        <p:attrNameLst>
                                          <p:attrName>ppt_x</p:attrName>
                                        </p:attrNameLst>
                                      </p:cBhvr>
                                      <p:tavLst>
                                        <p:tav tm="0">
                                          <p:val>
                                            <p:strVal val="#ppt_x"/>
                                          </p:val>
                                        </p:tav>
                                        <p:tav tm="100000">
                                          <p:val>
                                            <p:strVal val="#ppt_x"/>
                                          </p:val>
                                        </p:tav>
                                      </p:tavLst>
                                    </p:anim>
                                    <p:anim calcmode="lin" valueType="num">
                                      <p:cBhvr additive="base">
                                        <p:cTn id="36"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1" grpId="0"/>
      <p:bldP spid="29" grpId="0"/>
      <p:bldP spid="3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LLVM IR View of OpenCL Kernel</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
        <p:nvSpPr>
          <p:cNvPr id="6" name="Content Placeholder 5"/>
          <p:cNvSpPr>
            <a:spLocks noGrp="1"/>
          </p:cNvSpPr>
          <p:nvPr>
            <p:ph idx="1"/>
          </p:nvPr>
        </p:nvSpPr>
        <p:spPr>
          <a:xfrm>
            <a:off x="338138" y="4227632"/>
            <a:ext cx="5453062" cy="1274195"/>
          </a:xfrm>
          <a:noFill/>
        </p:spPr>
        <p:txBody>
          <a:bodyPr vert="horz" wrap="square" lIns="91440" tIns="45720" rIns="91440" bIns="45720" rtlCol="0">
            <a:spAutoFit/>
          </a:bodyPr>
          <a:lstStyle/>
          <a:p>
            <a:pPr marL="0" indent="0">
              <a:buNone/>
            </a:pPr>
            <a:r>
              <a:rPr lang="en-US" sz="2400" dirty="0">
                <a:solidFill>
                  <a:srgbClr val="FF0000"/>
                </a:solidFill>
                <a:latin typeface="Comic Sans MS" panose="030F0702030302020204" pitchFamily="66" charset="0"/>
              </a:rPr>
              <a:t>Basic block: a group of instructions in a contiguous sequence.</a:t>
            </a:r>
          </a:p>
          <a:p>
            <a:pPr marL="0" indent="0">
              <a:buNone/>
            </a:pPr>
            <a:endParaRPr lang="en-US" sz="2400" dirty="0">
              <a:solidFill>
                <a:srgbClr val="FF0000"/>
              </a:solidFill>
              <a:latin typeface="Comic Sans MS" panose="030F0702030302020204" pitchFamily="66" charset="0"/>
            </a:endParaRPr>
          </a:p>
        </p:txBody>
      </p:sp>
      <p:sp>
        <p:nvSpPr>
          <p:cNvPr id="8" name="Rectangle 7"/>
          <p:cNvSpPr/>
          <p:nvPr/>
        </p:nvSpPr>
        <p:spPr>
          <a:xfrm>
            <a:off x="457200" y="1358901"/>
            <a:ext cx="5334000" cy="2554545"/>
          </a:xfrm>
          <a:prstGeom prst="rect">
            <a:avLst/>
          </a:prstGeom>
        </p:spPr>
        <p:txBody>
          <a:bodyPr wrap="square">
            <a:spAutoFit/>
          </a:bodyPr>
          <a:lstStyle/>
          <a:p>
            <a:r>
              <a:rPr lang="en-US" sz="1600" dirty="0"/>
              <a:t>__kernel void </a:t>
            </a:r>
            <a:r>
              <a:rPr lang="en-US" sz="1600" dirty="0" err="1" smtClean="0"/>
              <a:t>vectorAdd</a:t>
            </a:r>
            <a:r>
              <a:rPr lang="en-US" sz="1600" dirty="0" smtClean="0"/>
              <a:t> (__</a:t>
            </a:r>
            <a:r>
              <a:rPr lang="en-US" sz="1600" dirty="0"/>
              <a:t>global </a:t>
            </a:r>
            <a:r>
              <a:rPr lang="en-US" sz="1600" dirty="0" err="1"/>
              <a:t>int</a:t>
            </a:r>
            <a:r>
              <a:rPr lang="en-US" sz="1600" dirty="0"/>
              <a:t> </a:t>
            </a:r>
            <a:r>
              <a:rPr lang="en-US" sz="1600" dirty="0" smtClean="0"/>
              <a:t>*A, *B, *C, *D, *E, *F)</a:t>
            </a:r>
          </a:p>
          <a:p>
            <a:r>
              <a:rPr lang="en-US" sz="1600" dirty="0" smtClean="0"/>
              <a:t>{    </a:t>
            </a:r>
          </a:p>
          <a:p>
            <a:r>
              <a:rPr lang="en-US" sz="1600" dirty="0"/>
              <a:t> </a:t>
            </a:r>
            <a:r>
              <a:rPr lang="en-US" sz="1600" dirty="0" smtClean="0"/>
              <a:t>   </a:t>
            </a:r>
            <a:r>
              <a:rPr lang="en-US" sz="1600" dirty="0" err="1" smtClean="0"/>
              <a:t>int</a:t>
            </a:r>
            <a:r>
              <a:rPr lang="en-US" sz="1600" dirty="0" smtClean="0"/>
              <a:t> </a:t>
            </a:r>
            <a:r>
              <a:rPr lang="en-US" sz="1600" dirty="0" err="1"/>
              <a:t>gid</a:t>
            </a:r>
            <a:r>
              <a:rPr lang="en-US" sz="1600" dirty="0"/>
              <a:t> = </a:t>
            </a:r>
            <a:r>
              <a:rPr lang="en-US" sz="1600" dirty="0" err="1"/>
              <a:t>get_global_id</a:t>
            </a:r>
            <a:r>
              <a:rPr lang="en-US" sz="1600" dirty="0"/>
              <a:t>(0); </a:t>
            </a:r>
            <a:endParaRPr lang="en-US" sz="1600" dirty="0" smtClean="0"/>
          </a:p>
          <a:p>
            <a:r>
              <a:rPr lang="en-US" sz="1600" dirty="0" smtClean="0"/>
              <a:t>  </a:t>
            </a:r>
          </a:p>
          <a:p>
            <a:r>
              <a:rPr lang="en-US" sz="1600" dirty="0" smtClean="0"/>
              <a:t>    for </a:t>
            </a:r>
            <a:r>
              <a:rPr lang="en-US" sz="1600" dirty="0"/>
              <a:t>(</a:t>
            </a:r>
            <a:r>
              <a:rPr lang="en-US" sz="1600" dirty="0" err="1"/>
              <a:t>int</a:t>
            </a:r>
            <a:r>
              <a:rPr lang="en-US" sz="1600" dirty="0"/>
              <a:t> j = 0; j &lt; 128; </a:t>
            </a:r>
            <a:r>
              <a:rPr lang="en-US" sz="1600" dirty="0" err="1"/>
              <a:t>j++</a:t>
            </a:r>
            <a:r>
              <a:rPr lang="en-US" sz="1600" dirty="0"/>
              <a:t>)      </a:t>
            </a:r>
            <a:r>
              <a:rPr lang="en-US" sz="1600" dirty="0" smtClean="0"/>
              <a:t> </a:t>
            </a:r>
          </a:p>
          <a:p>
            <a:r>
              <a:rPr lang="en-US" sz="1600" dirty="0" smtClean="0"/>
              <a:t>       A</a:t>
            </a:r>
            <a:r>
              <a:rPr lang="en-US" sz="1600" dirty="0"/>
              <a:t>[(</a:t>
            </a:r>
            <a:r>
              <a:rPr lang="en-US" sz="1600" dirty="0" err="1"/>
              <a:t>gid</a:t>
            </a:r>
            <a:r>
              <a:rPr lang="en-US" sz="1600" dirty="0"/>
              <a:t>&lt;&lt;7)+j] </a:t>
            </a:r>
            <a:r>
              <a:rPr lang="en-US" sz="1600" dirty="0" smtClean="0"/>
              <a:t> = </a:t>
            </a:r>
            <a:r>
              <a:rPr lang="en-US" sz="1600" dirty="0"/>
              <a:t>B[(</a:t>
            </a:r>
            <a:r>
              <a:rPr lang="en-US" sz="1600" dirty="0" err="1"/>
              <a:t>gid</a:t>
            </a:r>
            <a:r>
              <a:rPr lang="en-US" sz="1600" dirty="0"/>
              <a:t>&lt;&lt;7)+j] + C[(</a:t>
            </a:r>
            <a:r>
              <a:rPr lang="en-US" sz="1600" dirty="0" err="1"/>
              <a:t>gid</a:t>
            </a:r>
            <a:r>
              <a:rPr lang="en-US" sz="1600" dirty="0"/>
              <a:t>&lt;&lt;7)+j];   </a:t>
            </a:r>
            <a:endParaRPr lang="en-US" sz="1600" dirty="0" smtClean="0"/>
          </a:p>
          <a:p>
            <a:r>
              <a:rPr lang="en-US" sz="1600" dirty="0" smtClean="0"/>
              <a:t> </a:t>
            </a:r>
            <a:endParaRPr lang="en-US" sz="1600" dirty="0"/>
          </a:p>
          <a:p>
            <a:r>
              <a:rPr lang="en-US" sz="1600" dirty="0" smtClean="0"/>
              <a:t>    for </a:t>
            </a:r>
            <a:r>
              <a:rPr lang="en-US" sz="1600" dirty="0"/>
              <a:t>(</a:t>
            </a:r>
            <a:r>
              <a:rPr lang="en-US" sz="1600" dirty="0" err="1"/>
              <a:t>int</a:t>
            </a:r>
            <a:r>
              <a:rPr lang="en-US" sz="1600" dirty="0"/>
              <a:t> k = 0; k &lt; 16; k++)     </a:t>
            </a:r>
            <a:endParaRPr lang="en-US" sz="1600" dirty="0" smtClean="0"/>
          </a:p>
          <a:p>
            <a:r>
              <a:rPr lang="en-US" sz="1600" dirty="0"/>
              <a:t> </a:t>
            </a:r>
            <a:r>
              <a:rPr lang="en-US" sz="1600" dirty="0" smtClean="0"/>
              <a:t>      D</a:t>
            </a:r>
            <a:r>
              <a:rPr lang="en-US" sz="1600" dirty="0"/>
              <a:t>[(</a:t>
            </a:r>
            <a:r>
              <a:rPr lang="en-US" sz="1600" dirty="0" err="1"/>
              <a:t>gid</a:t>
            </a:r>
            <a:r>
              <a:rPr lang="en-US" sz="1600" dirty="0"/>
              <a:t>&lt;&lt;4)+k] = E[(</a:t>
            </a:r>
            <a:r>
              <a:rPr lang="en-US" sz="1600" dirty="0" err="1"/>
              <a:t>gid</a:t>
            </a:r>
            <a:r>
              <a:rPr lang="en-US" sz="1600" dirty="0"/>
              <a:t>&lt;&lt;4)+k] + F[(</a:t>
            </a:r>
            <a:r>
              <a:rPr lang="en-US" sz="1600" dirty="0" err="1"/>
              <a:t>gid</a:t>
            </a:r>
            <a:r>
              <a:rPr lang="en-US" sz="1600" dirty="0"/>
              <a:t>&lt;&lt;4)+k]; </a:t>
            </a:r>
            <a:r>
              <a:rPr lang="en-US" sz="1600" dirty="0" smtClean="0"/>
              <a:t> </a:t>
            </a:r>
          </a:p>
          <a:p>
            <a:r>
              <a:rPr lang="en-US" sz="1600" dirty="0" smtClean="0"/>
              <a:t>}</a:t>
            </a:r>
            <a:endParaRPr lang="en-US" sz="1600" dirty="0"/>
          </a:p>
        </p:txBody>
      </p:sp>
      <p:pic>
        <p:nvPicPr>
          <p:cNvPr id="9" name="Picture 8"/>
          <p:cNvPicPr>
            <a:picLocks noChangeAspect="1"/>
          </p:cNvPicPr>
          <p:nvPr/>
        </p:nvPicPr>
        <p:blipFill>
          <a:blip r:embed="rId3"/>
          <a:stretch>
            <a:fillRect/>
          </a:stretch>
        </p:blipFill>
        <p:spPr>
          <a:xfrm>
            <a:off x="5791200" y="1358901"/>
            <a:ext cx="2514600" cy="4446470"/>
          </a:xfrm>
          <a:prstGeom prst="rect">
            <a:avLst/>
          </a:prstGeom>
        </p:spPr>
      </p:pic>
      <p:cxnSp>
        <p:nvCxnSpPr>
          <p:cNvPr id="10" name="Straight Arrow Connector 76"/>
          <p:cNvCxnSpPr>
            <a:cxnSpLocks noChangeShapeType="1"/>
          </p:cNvCxnSpPr>
          <p:nvPr/>
        </p:nvCxnSpPr>
        <p:spPr bwMode="auto">
          <a:xfrm flipV="1">
            <a:off x="2895600" y="1676400"/>
            <a:ext cx="2971800" cy="304800"/>
          </a:xfrm>
          <a:prstGeom prst="straightConnector1">
            <a:avLst/>
          </a:prstGeom>
          <a:noFill/>
          <a:ln w="25400" algn="ctr">
            <a:solidFill>
              <a:srgbClr val="FF0000"/>
            </a:solidFill>
            <a:prstDash val="sysDash"/>
            <a:round/>
            <a:headEnd/>
            <a:tailEnd type="arrow" w="med" len="med"/>
          </a:ln>
          <a:extLst>
            <a:ext uri="{909E8E84-426E-40dd-AFC4-6F175D3DCCD1}">
              <a14:hiddenFill xmlns:a14="http://schemas.microsoft.com/office/drawing/2010/main" xmlns="">
                <a:noFill/>
              </a14:hiddenFill>
            </a:ext>
          </a:extLst>
        </p:spPr>
      </p:cxnSp>
      <p:cxnSp>
        <p:nvCxnSpPr>
          <p:cNvPr id="16" name="Straight Arrow Connector 76"/>
          <p:cNvCxnSpPr>
            <a:cxnSpLocks noChangeShapeType="1"/>
          </p:cNvCxnSpPr>
          <p:nvPr/>
        </p:nvCxnSpPr>
        <p:spPr bwMode="auto">
          <a:xfrm>
            <a:off x="2819400" y="2590800"/>
            <a:ext cx="3099486" cy="212668"/>
          </a:xfrm>
          <a:prstGeom prst="straightConnector1">
            <a:avLst/>
          </a:prstGeom>
          <a:noFill/>
          <a:ln w="25400" algn="ctr">
            <a:solidFill>
              <a:srgbClr val="FF0000"/>
            </a:solidFill>
            <a:prstDash val="sysDash"/>
            <a:round/>
            <a:headEnd/>
            <a:tailEnd type="arrow" w="med" len="med"/>
          </a:ln>
          <a:extLst>
            <a:ext uri="{909E8E84-426E-40dd-AFC4-6F175D3DCCD1}">
              <a14:hiddenFill xmlns:a14="http://schemas.microsoft.com/office/drawing/2010/main" xmlns="">
                <a:noFill/>
              </a14:hiddenFill>
            </a:ext>
          </a:extLst>
        </p:spPr>
      </p:cxnSp>
      <p:cxnSp>
        <p:nvCxnSpPr>
          <p:cNvPr id="20" name="Straight Arrow Connector 76"/>
          <p:cNvCxnSpPr>
            <a:cxnSpLocks noChangeShapeType="1"/>
          </p:cNvCxnSpPr>
          <p:nvPr/>
        </p:nvCxnSpPr>
        <p:spPr bwMode="auto">
          <a:xfrm>
            <a:off x="2819400" y="3276600"/>
            <a:ext cx="3099486" cy="747648"/>
          </a:xfrm>
          <a:prstGeom prst="straightConnector1">
            <a:avLst/>
          </a:prstGeom>
          <a:noFill/>
          <a:ln w="25400" algn="ctr">
            <a:solidFill>
              <a:srgbClr val="FF0000"/>
            </a:solidFill>
            <a:prstDash val="sysDash"/>
            <a:round/>
            <a:headEnd/>
            <a:tailEnd type="arrow" w="med" len="med"/>
          </a:ln>
          <a:extLst>
            <a:ext uri="{909E8E84-426E-40dd-AFC4-6F175D3DCCD1}">
              <a14:hiddenFill xmlns:a14="http://schemas.microsoft.com/office/drawing/2010/main" xmlns="">
                <a:noFill/>
              </a14:hiddenFill>
            </a:ext>
          </a:extLst>
        </p:spPr>
      </p:cxnSp>
    </p:spTree>
    <p:extLst>
      <p:ext uri="{BB962C8B-B14F-4D97-AF65-F5344CB8AC3E}">
        <p14:creationId xmlns:p14="http://schemas.microsoft.com/office/powerpoint/2010/main" val="2983652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1085"/>
            <a:ext cx="8229600" cy="845208"/>
          </a:xfrm>
        </p:spPr>
        <p:txBody>
          <a:bodyPr>
            <a:normAutofit/>
          </a:bodyPr>
          <a:lstStyle/>
          <a:p>
            <a:r>
              <a:rPr lang="en-US" dirty="0" smtClean="0"/>
              <a:t>Basic Block </a:t>
            </a:r>
            <a:r>
              <a:rPr lang="en-US" dirty="0" smtClean="0">
                <a:sym typeface="Wingdings" panose="05000000000000000000" pitchFamily="2" charset="2"/>
              </a:rPr>
              <a:t> Heterogeneous core</a:t>
            </a:r>
            <a:endParaRPr lang="en-US" dirty="0"/>
          </a:p>
        </p:txBody>
      </p:sp>
      <p:sp>
        <p:nvSpPr>
          <p:cNvPr id="3" name="Content Placeholder 2"/>
          <p:cNvSpPr>
            <a:spLocks noGrp="1"/>
          </p:cNvSpPr>
          <p:nvPr>
            <p:ph idx="1"/>
          </p:nvPr>
        </p:nvSpPr>
        <p:spPr>
          <a:xfrm>
            <a:off x="4826001" y="1918974"/>
            <a:ext cx="4089400" cy="1348061"/>
          </a:xfrm>
          <a:noFill/>
        </p:spPr>
        <p:txBody>
          <a:bodyPr vert="horz" wrap="square" lIns="91440" tIns="45720" rIns="91440" bIns="45720" rtlCol="0">
            <a:spAutoFit/>
          </a:bodyPr>
          <a:lstStyle/>
          <a:p>
            <a:pPr marL="0" indent="0">
              <a:buNone/>
            </a:pPr>
            <a:r>
              <a:rPr lang="en-US" sz="2400" dirty="0" smtClean="0">
                <a:solidFill>
                  <a:srgbClr val="FF0000"/>
                </a:solidFill>
                <a:latin typeface="Comic Sans MS" panose="030F0702030302020204" pitchFamily="66" charset="0"/>
              </a:rPr>
              <a:t>    A basic </a:t>
            </a:r>
            <a:r>
              <a:rPr lang="en-US" sz="2400" dirty="0">
                <a:solidFill>
                  <a:srgbClr val="FF0000"/>
                </a:solidFill>
                <a:latin typeface="Comic Sans MS" panose="030F0702030302020204" pitchFamily="66" charset="0"/>
              </a:rPr>
              <a:t>block == </a:t>
            </a:r>
            <a:r>
              <a:rPr lang="en-US" sz="2400" dirty="0" smtClean="0">
                <a:solidFill>
                  <a:srgbClr val="FF0000"/>
                </a:solidFill>
                <a:latin typeface="Comic Sans MS" panose="030F0702030302020204" pitchFamily="66" charset="0"/>
              </a:rPr>
              <a:t>a core</a:t>
            </a:r>
            <a:endParaRPr lang="en-US" sz="2400" dirty="0">
              <a:solidFill>
                <a:srgbClr val="FF0000"/>
              </a:solidFill>
              <a:latin typeface="Comic Sans MS" panose="030F0702030302020204" pitchFamily="66" charset="0"/>
            </a:endParaRPr>
          </a:p>
          <a:p>
            <a:pPr marL="0" indent="0">
              <a:buNone/>
            </a:pPr>
            <a:endParaRPr lang="en-US" sz="2400" dirty="0">
              <a:solidFill>
                <a:srgbClr val="FF0000"/>
              </a:solidFill>
              <a:latin typeface="Comic Sans MS" panose="030F0702030302020204" pitchFamily="66" charset="0"/>
            </a:endParaRPr>
          </a:p>
          <a:p>
            <a:pPr marL="0" indent="0">
              <a:buNone/>
            </a:pPr>
            <a:r>
              <a:rPr lang="en-US" sz="2400" dirty="0">
                <a:solidFill>
                  <a:srgbClr val="FF0000"/>
                </a:solidFill>
                <a:latin typeface="Comic Sans MS" panose="030F0702030302020204" pitchFamily="66" charset="0"/>
              </a:rPr>
              <a:t>   </a:t>
            </a:r>
            <a:r>
              <a:rPr lang="en-US" sz="2400" dirty="0" smtClean="0">
                <a:solidFill>
                  <a:srgbClr val="FF0000"/>
                </a:solidFill>
                <a:latin typeface="Comic Sans MS" panose="030F0702030302020204" pitchFamily="66" charset="0"/>
              </a:rPr>
              <a:t> Cores run concurrently</a:t>
            </a:r>
            <a:endParaRPr lang="en-US" sz="2400" dirty="0">
              <a:solidFill>
                <a:srgbClr val="FF0000"/>
              </a:solidFill>
              <a:latin typeface="Comic Sans MS" panose="030F0702030302020204" pitchFamily="66"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
        <p:nvSpPr>
          <p:cNvPr id="6" name="Content Placeholder 2"/>
          <p:cNvSpPr txBox="1">
            <a:spLocks/>
          </p:cNvSpPr>
          <p:nvPr/>
        </p:nvSpPr>
        <p:spPr>
          <a:xfrm>
            <a:off x="4981575" y="4351471"/>
            <a:ext cx="3867150" cy="830997"/>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a:solidFill>
                  <a:srgbClr val="FF0000"/>
                </a:solidFill>
                <a:latin typeface="Comic Sans MS" panose="030F0702030302020204" pitchFamily="66" charset="0"/>
              </a:rPr>
              <a:t>Keeping the load balance among </a:t>
            </a:r>
            <a:r>
              <a:rPr lang="en-US" sz="2400" dirty="0" smtClean="0">
                <a:solidFill>
                  <a:srgbClr val="FF0000"/>
                </a:solidFill>
                <a:latin typeface="Comic Sans MS" panose="030F0702030302020204" pitchFamily="66" charset="0"/>
              </a:rPr>
              <a:t>cores is </a:t>
            </a:r>
            <a:r>
              <a:rPr lang="en-US" sz="2400" dirty="0">
                <a:solidFill>
                  <a:srgbClr val="FF0000"/>
                </a:solidFill>
                <a:latin typeface="Comic Sans MS" panose="030F0702030302020204" pitchFamily="66" charset="0"/>
              </a:rPr>
              <a:t>critical.</a:t>
            </a:r>
          </a:p>
        </p:txBody>
      </p:sp>
      <p:pic>
        <p:nvPicPr>
          <p:cNvPr id="8" name="Picture 7"/>
          <p:cNvPicPr>
            <a:picLocks noChangeAspect="1"/>
          </p:cNvPicPr>
          <p:nvPr/>
        </p:nvPicPr>
        <p:blipFill>
          <a:blip r:embed="rId3"/>
          <a:stretch>
            <a:fillRect/>
          </a:stretch>
        </p:blipFill>
        <p:spPr>
          <a:xfrm>
            <a:off x="381000" y="1417638"/>
            <a:ext cx="2514600" cy="4446470"/>
          </a:xfrm>
          <a:prstGeom prst="rect">
            <a:avLst/>
          </a:prstGeom>
          <a:effectLst>
            <a:softEdge rad="31750"/>
          </a:effectLst>
          <a:scene3d>
            <a:camera prst="orthographicFront"/>
            <a:lightRig rig="threePt" dir="t"/>
          </a:scene3d>
          <a:sp3d>
            <a:bevelT w="0"/>
            <a:bevelB w="0"/>
          </a:sp3d>
        </p:spPr>
      </p:pic>
      <p:cxnSp>
        <p:nvCxnSpPr>
          <p:cNvPr id="9" name="Straight Arrow Connector 76"/>
          <p:cNvCxnSpPr>
            <a:cxnSpLocks noChangeShapeType="1"/>
            <a:endCxn id="17" idx="1"/>
          </p:cNvCxnSpPr>
          <p:nvPr/>
        </p:nvCxnSpPr>
        <p:spPr bwMode="auto">
          <a:xfrm flipV="1">
            <a:off x="2819400" y="4056468"/>
            <a:ext cx="533400" cy="530772"/>
          </a:xfrm>
          <a:prstGeom prst="straightConnector1">
            <a:avLst/>
          </a:prstGeom>
          <a:noFill/>
          <a:ln w="50800" algn="ctr">
            <a:solidFill>
              <a:srgbClr val="FF0000"/>
            </a:solidFill>
            <a:prstDash val="solid"/>
            <a:round/>
            <a:headEnd/>
            <a:tailEnd type="arrow" w="med" len="med"/>
          </a:ln>
          <a:extLst>
            <a:ext uri="{909E8E84-426E-40dd-AFC4-6F175D3DCCD1}">
              <a14:hiddenFill xmlns:a14="http://schemas.microsoft.com/office/drawing/2010/main" xmlns="">
                <a:noFill/>
              </a14:hiddenFill>
            </a:ext>
          </a:extLst>
        </p:spPr>
      </p:cxnSp>
      <p:grpSp>
        <p:nvGrpSpPr>
          <p:cNvPr id="19" name="Group 18"/>
          <p:cNvGrpSpPr/>
          <p:nvPr/>
        </p:nvGrpSpPr>
        <p:grpSpPr>
          <a:xfrm>
            <a:off x="3352800" y="1814919"/>
            <a:ext cx="914400" cy="3519081"/>
            <a:chOff x="4248151" y="1444085"/>
            <a:chExt cx="914400" cy="3519081"/>
          </a:xfrm>
        </p:grpSpPr>
        <p:sp>
          <p:nvSpPr>
            <p:cNvPr id="12" name="Rectangle 11"/>
            <p:cNvSpPr/>
            <p:nvPr/>
          </p:nvSpPr>
          <p:spPr>
            <a:xfrm>
              <a:off x="4248151" y="1444085"/>
              <a:ext cx="914400" cy="685800"/>
            </a:xfrm>
            <a:prstGeom prst="rect">
              <a:avLst/>
            </a:prstGeom>
            <a:ln cap="rnd"/>
            <a:scene3d>
              <a:camera prst="orthographicFront"/>
              <a:lightRig rig="threePt" dir="t"/>
            </a:scene3d>
            <a:sp3d>
              <a:bevelT w="12700"/>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core_0</a:t>
              </a:r>
              <a:endParaRPr lang="en-US" dirty="0"/>
            </a:p>
          </p:txBody>
        </p:sp>
        <p:sp>
          <p:nvSpPr>
            <p:cNvPr id="16" name="Rectangle 15"/>
            <p:cNvSpPr/>
            <p:nvPr/>
          </p:nvSpPr>
          <p:spPr>
            <a:xfrm>
              <a:off x="4248151" y="2388647"/>
              <a:ext cx="914400" cy="685800"/>
            </a:xfrm>
            <a:prstGeom prst="rect">
              <a:avLst/>
            </a:prstGeom>
            <a:ln cap="rnd"/>
            <a:scene3d>
              <a:camera prst="orthographicFront"/>
              <a:lightRig rig="threePt" dir="t"/>
            </a:scene3d>
            <a:sp3d>
              <a:bevelT w="12700"/>
            </a:sp3d>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t>core_1</a:t>
              </a:r>
              <a:endParaRPr lang="en-US" dirty="0"/>
            </a:p>
          </p:txBody>
        </p:sp>
        <p:sp>
          <p:nvSpPr>
            <p:cNvPr id="17" name="Rectangle 16"/>
            <p:cNvSpPr/>
            <p:nvPr/>
          </p:nvSpPr>
          <p:spPr>
            <a:xfrm>
              <a:off x="4248151" y="3342734"/>
              <a:ext cx="914400" cy="685800"/>
            </a:xfrm>
            <a:prstGeom prst="rect">
              <a:avLst/>
            </a:prstGeom>
            <a:ln cap="rnd"/>
            <a:scene3d>
              <a:camera prst="orthographicFront"/>
              <a:lightRig rig="threePt" dir="t"/>
            </a:scene3d>
            <a:sp3d>
              <a:bevelT w="12700"/>
            </a:sp3d>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core_2</a:t>
              </a:r>
              <a:endParaRPr lang="en-US" dirty="0"/>
            </a:p>
          </p:txBody>
        </p:sp>
        <p:sp>
          <p:nvSpPr>
            <p:cNvPr id="18" name="Rectangle 17"/>
            <p:cNvSpPr/>
            <p:nvPr/>
          </p:nvSpPr>
          <p:spPr>
            <a:xfrm>
              <a:off x="4248151" y="4277366"/>
              <a:ext cx="914400" cy="685800"/>
            </a:xfrm>
            <a:prstGeom prst="rect">
              <a:avLst/>
            </a:prstGeom>
            <a:ln cap="rnd"/>
            <a:scene3d>
              <a:camera prst="orthographicFront"/>
              <a:lightRig rig="threePt" dir="t"/>
            </a:scene3d>
            <a:sp3d>
              <a:bevelT w="12700"/>
            </a:sp3d>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core_3</a:t>
              </a:r>
              <a:endParaRPr lang="en-US" dirty="0"/>
            </a:p>
          </p:txBody>
        </p:sp>
      </p:grpSp>
      <p:cxnSp>
        <p:nvCxnSpPr>
          <p:cNvPr id="26" name="Straight Arrow Connector 76"/>
          <p:cNvCxnSpPr>
            <a:cxnSpLocks noChangeShapeType="1"/>
          </p:cNvCxnSpPr>
          <p:nvPr/>
        </p:nvCxnSpPr>
        <p:spPr bwMode="auto">
          <a:xfrm>
            <a:off x="6581775" y="3092856"/>
            <a:ext cx="0" cy="1112838"/>
          </a:xfrm>
          <a:prstGeom prst="straightConnector1">
            <a:avLst/>
          </a:prstGeom>
          <a:noFill/>
          <a:ln w="50800" algn="ctr">
            <a:solidFill>
              <a:srgbClr val="FF0000"/>
            </a:solidFill>
            <a:prstDash val="sysDash"/>
            <a:round/>
            <a:headEnd/>
            <a:tailEnd type="arrow" w="med" len="med"/>
          </a:ln>
          <a:extLst>
            <a:ext uri="{909E8E84-426E-40dd-AFC4-6F175D3DCCD1}">
              <a14:hiddenFill xmlns:a14="http://schemas.microsoft.com/office/drawing/2010/main" xmlns="">
                <a:noFill/>
              </a14:hiddenFill>
            </a:ext>
          </a:extLst>
        </p:spPr>
      </p:cxnSp>
      <p:cxnSp>
        <p:nvCxnSpPr>
          <p:cNvPr id="20" name="Straight Arrow Connector 76"/>
          <p:cNvCxnSpPr>
            <a:cxnSpLocks noChangeShapeType="1"/>
            <a:endCxn id="16" idx="0"/>
          </p:cNvCxnSpPr>
          <p:nvPr/>
        </p:nvCxnSpPr>
        <p:spPr bwMode="auto">
          <a:xfrm>
            <a:off x="3810000" y="2500719"/>
            <a:ext cx="0" cy="258762"/>
          </a:xfrm>
          <a:prstGeom prst="straightConnector1">
            <a:avLst/>
          </a:prstGeom>
          <a:noFill/>
          <a:ln w="38100" algn="ctr">
            <a:solidFill>
              <a:schemeClr val="tx2">
                <a:lumMod val="60000"/>
                <a:lumOff val="40000"/>
              </a:schemeClr>
            </a:solidFill>
            <a:prstDash val="solid"/>
            <a:round/>
            <a:headEnd/>
            <a:tailEnd type="triangle" w="med" len="med"/>
          </a:ln>
          <a:extLst>
            <a:ext uri="{909E8E84-426E-40dd-AFC4-6F175D3DCCD1}">
              <a14:hiddenFill xmlns:a14="http://schemas.microsoft.com/office/drawing/2010/main" xmlns="">
                <a:noFill/>
              </a14:hiddenFill>
            </a:ext>
          </a:extLst>
        </p:spPr>
      </p:cxnSp>
      <p:cxnSp>
        <p:nvCxnSpPr>
          <p:cNvPr id="21" name="Straight Arrow Connector 76"/>
          <p:cNvCxnSpPr>
            <a:cxnSpLocks noChangeShapeType="1"/>
          </p:cNvCxnSpPr>
          <p:nvPr/>
        </p:nvCxnSpPr>
        <p:spPr bwMode="auto">
          <a:xfrm>
            <a:off x="3810000" y="3445281"/>
            <a:ext cx="0" cy="258762"/>
          </a:xfrm>
          <a:prstGeom prst="straightConnector1">
            <a:avLst/>
          </a:prstGeom>
          <a:noFill/>
          <a:ln w="38100" algn="ctr">
            <a:solidFill>
              <a:schemeClr val="tx2">
                <a:lumMod val="60000"/>
                <a:lumOff val="40000"/>
              </a:schemeClr>
            </a:solidFill>
            <a:prstDash val="solid"/>
            <a:round/>
            <a:headEnd/>
            <a:tailEnd type="triangle" w="med" len="med"/>
          </a:ln>
          <a:extLst>
            <a:ext uri="{909E8E84-426E-40dd-AFC4-6F175D3DCCD1}">
              <a14:hiddenFill xmlns:a14="http://schemas.microsoft.com/office/drawing/2010/main" xmlns="">
                <a:noFill/>
              </a14:hiddenFill>
            </a:ext>
          </a:extLst>
        </p:spPr>
      </p:cxnSp>
      <p:cxnSp>
        <p:nvCxnSpPr>
          <p:cNvPr id="22" name="Straight Arrow Connector 76"/>
          <p:cNvCxnSpPr>
            <a:cxnSpLocks noChangeShapeType="1"/>
          </p:cNvCxnSpPr>
          <p:nvPr/>
        </p:nvCxnSpPr>
        <p:spPr bwMode="auto">
          <a:xfrm>
            <a:off x="3810000" y="4389438"/>
            <a:ext cx="0" cy="258762"/>
          </a:xfrm>
          <a:prstGeom prst="straightConnector1">
            <a:avLst/>
          </a:prstGeom>
          <a:noFill/>
          <a:ln w="38100" algn="ctr">
            <a:solidFill>
              <a:schemeClr val="tx2">
                <a:lumMod val="60000"/>
                <a:lumOff val="40000"/>
              </a:schemeClr>
            </a:solidFill>
            <a:prstDash val="solid"/>
            <a:round/>
            <a:headEnd/>
            <a:tailEnd type="triangle" w="med" len="med"/>
          </a:ln>
          <a:extLst>
            <a:ext uri="{909E8E84-426E-40dd-AFC4-6F175D3DCCD1}">
              <a14:hiddenFill xmlns:a14="http://schemas.microsoft.com/office/drawing/2010/main" xmlns="">
                <a:noFill/>
              </a14:hiddenFill>
            </a:ext>
          </a:extLst>
        </p:spPr>
      </p:cxnSp>
      <p:cxnSp>
        <p:nvCxnSpPr>
          <p:cNvPr id="23" name="Straight Arrow Connector 76"/>
          <p:cNvCxnSpPr>
            <a:cxnSpLocks noChangeShapeType="1"/>
          </p:cNvCxnSpPr>
          <p:nvPr/>
        </p:nvCxnSpPr>
        <p:spPr bwMode="auto">
          <a:xfrm flipV="1">
            <a:off x="2538415" y="5136748"/>
            <a:ext cx="814381" cy="468597"/>
          </a:xfrm>
          <a:prstGeom prst="straightConnector1">
            <a:avLst/>
          </a:prstGeom>
          <a:noFill/>
          <a:ln w="50800" algn="ctr">
            <a:solidFill>
              <a:srgbClr val="FF0000"/>
            </a:solidFill>
            <a:prstDash val="solid"/>
            <a:round/>
            <a:headEnd/>
            <a:tailEnd type="arrow" w="med" len="med"/>
          </a:ln>
          <a:extLst>
            <a:ext uri="{909E8E84-426E-40dd-AFC4-6F175D3DCCD1}">
              <a14:hiddenFill xmlns:a14="http://schemas.microsoft.com/office/drawing/2010/main" xmlns="">
                <a:noFill/>
              </a14:hiddenFill>
            </a:ext>
          </a:extLst>
        </p:spPr>
      </p:cxnSp>
      <p:cxnSp>
        <p:nvCxnSpPr>
          <p:cNvPr id="24" name="Straight Arrow Connector 76"/>
          <p:cNvCxnSpPr>
            <a:cxnSpLocks noChangeShapeType="1"/>
            <a:endCxn id="16" idx="1"/>
          </p:cNvCxnSpPr>
          <p:nvPr/>
        </p:nvCxnSpPr>
        <p:spPr bwMode="auto">
          <a:xfrm>
            <a:off x="2820353" y="2974155"/>
            <a:ext cx="532447" cy="128226"/>
          </a:xfrm>
          <a:prstGeom prst="straightConnector1">
            <a:avLst/>
          </a:prstGeom>
          <a:noFill/>
          <a:ln w="50800" algn="ctr">
            <a:solidFill>
              <a:srgbClr val="FF0000"/>
            </a:solidFill>
            <a:prstDash val="solid"/>
            <a:round/>
            <a:headEnd/>
            <a:tailEnd type="arrow" w="med" len="med"/>
          </a:ln>
          <a:extLst>
            <a:ext uri="{909E8E84-426E-40dd-AFC4-6F175D3DCCD1}">
              <a14:hiddenFill xmlns:a14="http://schemas.microsoft.com/office/drawing/2010/main" xmlns="">
                <a:noFill/>
              </a14:hiddenFill>
            </a:ext>
          </a:extLst>
        </p:spPr>
      </p:cxnSp>
      <p:cxnSp>
        <p:nvCxnSpPr>
          <p:cNvPr id="25" name="Straight Arrow Connector 76"/>
          <p:cNvCxnSpPr>
            <a:cxnSpLocks noChangeShapeType="1"/>
          </p:cNvCxnSpPr>
          <p:nvPr/>
        </p:nvCxnSpPr>
        <p:spPr bwMode="auto">
          <a:xfrm>
            <a:off x="2736692" y="1750633"/>
            <a:ext cx="616104" cy="407186"/>
          </a:xfrm>
          <a:prstGeom prst="straightConnector1">
            <a:avLst/>
          </a:prstGeom>
          <a:noFill/>
          <a:ln w="50800" algn="ctr">
            <a:solidFill>
              <a:srgbClr val="FF0000"/>
            </a:solidFill>
            <a:prstDash val="solid"/>
            <a:round/>
            <a:headEnd/>
            <a:tailEnd type="arrow" w="med" len="med"/>
          </a:ln>
          <a:extLst>
            <a:ext uri="{909E8E84-426E-40dd-AFC4-6F175D3DCCD1}">
              <a14:hiddenFill xmlns:a14="http://schemas.microsoft.com/office/drawing/2010/main" xmlns="">
                <a:noFill/>
              </a14:hiddenFill>
            </a:ext>
          </a:extLst>
        </p:spPr>
      </p:cxnSp>
    </p:spTree>
    <p:extLst>
      <p:ext uri="{BB962C8B-B14F-4D97-AF65-F5344CB8AC3E}">
        <p14:creationId xmlns:p14="http://schemas.microsoft.com/office/powerpoint/2010/main" val="657949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additive="base">
                                        <p:cTn id="15" dur="500" fill="hold"/>
                                        <p:tgtEl>
                                          <p:spTgt spid="20"/>
                                        </p:tgtEl>
                                        <p:attrNameLst>
                                          <p:attrName>ppt_x</p:attrName>
                                        </p:attrNameLst>
                                      </p:cBhvr>
                                      <p:tavLst>
                                        <p:tav tm="0">
                                          <p:val>
                                            <p:strVal val="#ppt_x"/>
                                          </p:val>
                                        </p:tav>
                                        <p:tav tm="100000">
                                          <p:val>
                                            <p:strVal val="#ppt_x"/>
                                          </p:val>
                                        </p:tav>
                                      </p:tavLst>
                                    </p:anim>
                                    <p:anim calcmode="lin" valueType="num">
                                      <p:cBhvr additive="base">
                                        <p:cTn id="16" dur="500" fill="hold"/>
                                        <p:tgtEl>
                                          <p:spTgt spid="2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additive="base">
                                        <p:cTn id="23" dur="500" fill="hold"/>
                                        <p:tgtEl>
                                          <p:spTgt spid="22"/>
                                        </p:tgtEl>
                                        <p:attrNameLst>
                                          <p:attrName>ppt_x</p:attrName>
                                        </p:attrNameLst>
                                      </p:cBhvr>
                                      <p:tavLst>
                                        <p:tav tm="0">
                                          <p:val>
                                            <p:strVal val="#ppt_x"/>
                                          </p:val>
                                        </p:tav>
                                        <p:tav tm="100000">
                                          <p:val>
                                            <p:strVal val="#ppt_x"/>
                                          </p:val>
                                        </p:tav>
                                      </p:tavLst>
                                    </p:anim>
                                    <p:anim calcmode="lin" valueType="num">
                                      <p:cBhvr additive="base">
                                        <p:cTn id="24" dur="500" fill="hold"/>
                                        <p:tgtEl>
                                          <p:spTgt spid="22"/>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ppt_x"/>
                                          </p:val>
                                        </p:tav>
                                        <p:tav tm="100000">
                                          <p:val>
                                            <p:strVal val="#ppt_x"/>
                                          </p:val>
                                        </p:tav>
                                      </p:tavLst>
                                    </p:anim>
                                    <p:anim calcmode="lin" valueType="num">
                                      <p:cBhvr additive="base">
                                        <p:cTn id="32" dur="500" fill="hold"/>
                                        <p:tgtEl>
                                          <p:spTgt spid="23"/>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anim calcmode="lin" valueType="num">
                                      <p:cBhvr additive="base">
                                        <p:cTn id="35" dur="500" fill="hold"/>
                                        <p:tgtEl>
                                          <p:spTgt spid="24"/>
                                        </p:tgtEl>
                                        <p:attrNameLst>
                                          <p:attrName>ppt_x</p:attrName>
                                        </p:attrNameLst>
                                      </p:cBhvr>
                                      <p:tavLst>
                                        <p:tav tm="0">
                                          <p:val>
                                            <p:strVal val="#ppt_x"/>
                                          </p:val>
                                        </p:tav>
                                        <p:tav tm="100000">
                                          <p:val>
                                            <p:strVal val="#ppt_x"/>
                                          </p:val>
                                        </p:tav>
                                      </p:tavLst>
                                    </p:anim>
                                    <p:anim calcmode="lin" valueType="num">
                                      <p:cBhvr additive="base">
                                        <p:cTn id="36" dur="500" fill="hold"/>
                                        <p:tgtEl>
                                          <p:spTgt spid="24"/>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additive="base">
                                        <p:cTn id="39" dur="500" fill="hold"/>
                                        <p:tgtEl>
                                          <p:spTgt spid="25"/>
                                        </p:tgtEl>
                                        <p:attrNameLst>
                                          <p:attrName>ppt_x</p:attrName>
                                        </p:attrNameLst>
                                      </p:cBhvr>
                                      <p:tavLst>
                                        <p:tav tm="0">
                                          <p:val>
                                            <p:strVal val="#ppt_x"/>
                                          </p:val>
                                        </p:tav>
                                        <p:tav tm="100000">
                                          <p:val>
                                            <p:strVal val="#ppt_x"/>
                                          </p:val>
                                        </p:tav>
                                      </p:tavLst>
                                    </p:anim>
                                    <p:anim calcmode="lin" valueType="num">
                                      <p:cBhvr additive="base">
                                        <p:cTn id="4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3">
                                            <p:txEl>
                                              <p:pRg st="0" end="0"/>
                                            </p:txEl>
                                          </p:spTgt>
                                        </p:tgtEl>
                                        <p:attrNameLst>
                                          <p:attrName>style.visibility</p:attrName>
                                        </p:attrNameLst>
                                      </p:cBhvr>
                                      <p:to>
                                        <p:strVal val="visible"/>
                                      </p:to>
                                    </p:set>
                                    <p:anim calcmode="lin" valueType="num">
                                      <p:cBhvr additive="base">
                                        <p:cTn id="4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3">
                                            <p:txEl>
                                              <p:pRg st="2" end="2"/>
                                            </p:txEl>
                                          </p:spTgt>
                                        </p:tgtEl>
                                        <p:attrNameLst>
                                          <p:attrName>style.visibility</p:attrName>
                                        </p:attrNameLst>
                                      </p:cBhvr>
                                      <p:to>
                                        <p:strVal val="visible"/>
                                      </p:to>
                                    </p:set>
                                    <p:anim calcmode="lin" valueType="num">
                                      <p:cBhvr additive="base">
                                        <p:cTn id="5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6"/>
                                        </p:tgtEl>
                                        <p:attrNameLst>
                                          <p:attrName>style.visibility</p:attrName>
                                        </p:attrNameLst>
                                      </p:cBhvr>
                                      <p:to>
                                        <p:strVal val="visible"/>
                                      </p:to>
                                    </p:set>
                                    <p:anim calcmode="lin" valueType="num">
                                      <p:cBhvr additive="base">
                                        <p:cTn id="57" dur="500" fill="hold"/>
                                        <p:tgtEl>
                                          <p:spTgt spid="6"/>
                                        </p:tgtEl>
                                        <p:attrNameLst>
                                          <p:attrName>ppt_x</p:attrName>
                                        </p:attrNameLst>
                                      </p:cBhvr>
                                      <p:tavLst>
                                        <p:tav tm="0">
                                          <p:val>
                                            <p:strVal val="#ppt_x"/>
                                          </p:val>
                                        </p:tav>
                                        <p:tav tm="100000">
                                          <p:val>
                                            <p:strVal val="#ppt_x"/>
                                          </p:val>
                                        </p:tav>
                                      </p:tavLst>
                                    </p:anim>
                                    <p:anim calcmode="lin" valueType="num">
                                      <p:cBhvr additive="base">
                                        <p:cTn id="58" dur="500" fill="hold"/>
                                        <p:tgtEl>
                                          <p:spTgt spid="6"/>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26"/>
                                        </p:tgtEl>
                                        <p:attrNameLst>
                                          <p:attrName>style.visibility</p:attrName>
                                        </p:attrNameLst>
                                      </p:cBhvr>
                                      <p:to>
                                        <p:strVal val="visible"/>
                                      </p:to>
                                    </p:set>
                                    <p:anim calcmode="lin" valueType="num">
                                      <p:cBhvr additive="base">
                                        <p:cTn id="61" dur="500" fill="hold"/>
                                        <p:tgtEl>
                                          <p:spTgt spid="26"/>
                                        </p:tgtEl>
                                        <p:attrNameLst>
                                          <p:attrName>ppt_x</p:attrName>
                                        </p:attrNameLst>
                                      </p:cBhvr>
                                      <p:tavLst>
                                        <p:tav tm="0">
                                          <p:val>
                                            <p:strVal val="#ppt_x"/>
                                          </p:val>
                                        </p:tav>
                                        <p:tav tm="100000">
                                          <p:val>
                                            <p:strVal val="#ppt_x"/>
                                          </p:val>
                                        </p:tav>
                                      </p:tavLst>
                                    </p:anim>
                                    <p:anim calcmode="lin" valueType="num">
                                      <p:cBhvr additive="base">
                                        <p:cTn id="6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Frontend </a:t>
            </a:r>
            <a:r>
              <a:rPr lang="en-US" dirty="0" smtClean="0"/>
              <a:t>Collector</a:t>
            </a:r>
            <a:endParaRPr lang="en-US" dirty="0"/>
          </a:p>
        </p:txBody>
      </p:sp>
      <p:sp>
        <p:nvSpPr>
          <p:cNvPr id="3" name="Content Placeholder 2"/>
          <p:cNvSpPr>
            <a:spLocks noGrp="1"/>
          </p:cNvSpPr>
          <p:nvPr>
            <p:ph idx="1"/>
          </p:nvPr>
        </p:nvSpPr>
        <p:spPr>
          <a:xfrm>
            <a:off x="576942" y="1219200"/>
            <a:ext cx="8567058" cy="4938712"/>
          </a:xfrm>
        </p:spPr>
        <p:txBody>
          <a:bodyPr>
            <a:normAutofit/>
          </a:bodyPr>
          <a:lstStyle/>
          <a:p>
            <a:pPr marL="342900" lvl="1" indent="-342900">
              <a:buFont typeface="Arial" pitchFamily="34" charset="0"/>
              <a:buChar char="•"/>
            </a:pPr>
            <a:r>
              <a:rPr lang="en-US" sz="2400" dirty="0" smtClean="0"/>
              <a:t>Standard inputs:</a:t>
            </a:r>
          </a:p>
          <a:p>
            <a:pPr marL="914400" lvl="1" indent="-514350">
              <a:buFont typeface="Wingdings" panose="05000000000000000000" pitchFamily="2" charset="2"/>
              <a:buChar char="§"/>
            </a:pPr>
            <a:r>
              <a:rPr lang="en-US" sz="2000" dirty="0" smtClean="0">
                <a:solidFill>
                  <a:prstClr val="black"/>
                </a:solidFill>
              </a:rPr>
              <a:t>Frequency </a:t>
            </a:r>
            <a:r>
              <a:rPr lang="en-US" sz="2000" dirty="0">
                <a:solidFill>
                  <a:prstClr val="black"/>
                </a:solidFill>
              </a:rPr>
              <a:t>and resource </a:t>
            </a:r>
            <a:r>
              <a:rPr lang="en-US" sz="2000" dirty="0" smtClean="0">
                <a:solidFill>
                  <a:prstClr val="black"/>
                </a:solidFill>
              </a:rPr>
              <a:t>utilizations of logic </a:t>
            </a:r>
            <a:r>
              <a:rPr lang="en-US" sz="2000" dirty="0">
                <a:solidFill>
                  <a:prstClr val="black"/>
                </a:solidFill>
              </a:rPr>
              <a:t>block, </a:t>
            </a:r>
            <a:r>
              <a:rPr lang="en-US" sz="2000" dirty="0" smtClean="0">
                <a:solidFill>
                  <a:prstClr val="black"/>
                </a:solidFill>
              </a:rPr>
              <a:t>memory block, DSP block (</a:t>
            </a:r>
            <a:r>
              <a:rPr lang="en-US" sz="2000" dirty="0" smtClean="0">
                <a:solidFill>
                  <a:srgbClr val="FF0000"/>
                </a:solidFill>
              </a:rPr>
              <a:t>from </a:t>
            </a:r>
            <a:r>
              <a:rPr lang="en-US" sz="2000" dirty="0">
                <a:solidFill>
                  <a:srgbClr val="FF0000"/>
                </a:solidFill>
              </a:rPr>
              <a:t>compilation </a:t>
            </a:r>
            <a:r>
              <a:rPr lang="en-US" sz="2000" dirty="0" smtClean="0">
                <a:solidFill>
                  <a:srgbClr val="FF0000"/>
                </a:solidFill>
              </a:rPr>
              <a:t>report</a:t>
            </a:r>
            <a:r>
              <a:rPr lang="en-US" sz="2000" dirty="0" smtClean="0">
                <a:solidFill>
                  <a:prstClr val="black"/>
                </a:solidFill>
              </a:rPr>
              <a:t>).</a:t>
            </a:r>
            <a:endParaRPr lang="en-US" sz="2000" dirty="0">
              <a:solidFill>
                <a:prstClr val="black"/>
              </a:solidFill>
            </a:endParaRPr>
          </a:p>
          <a:p>
            <a:pPr marL="914400" lvl="1" indent="-514350">
              <a:buFont typeface="Wingdings" panose="05000000000000000000" pitchFamily="2" charset="2"/>
              <a:buChar char="§"/>
            </a:pPr>
            <a:r>
              <a:rPr lang="en-US" sz="2000" dirty="0" smtClean="0">
                <a:solidFill>
                  <a:prstClr val="black"/>
                </a:solidFill>
              </a:rPr>
              <a:t>Memory width and memory channels (</a:t>
            </a:r>
            <a:r>
              <a:rPr lang="en-US" sz="2000" dirty="0" smtClean="0">
                <a:solidFill>
                  <a:srgbClr val="FF0000"/>
                </a:solidFill>
              </a:rPr>
              <a:t>from vendor</a:t>
            </a:r>
            <a:r>
              <a:rPr lang="en-US" sz="2000" dirty="0" smtClean="0">
                <a:solidFill>
                  <a:prstClr val="black"/>
                </a:solidFill>
              </a:rPr>
              <a:t>). </a:t>
            </a:r>
            <a:endParaRPr lang="en-US" sz="2000" dirty="0">
              <a:solidFill>
                <a:prstClr val="black"/>
              </a:solidFill>
            </a:endParaRPr>
          </a:p>
          <a:p>
            <a:pPr marL="914400" lvl="1" indent="-514350">
              <a:buFont typeface="Wingdings" panose="05000000000000000000" pitchFamily="2" charset="2"/>
              <a:buChar char="§"/>
            </a:pPr>
            <a:r>
              <a:rPr lang="en-US" sz="2000" dirty="0">
                <a:solidFill>
                  <a:prstClr val="black"/>
                </a:solidFill>
              </a:rPr>
              <a:t>Number of input work </a:t>
            </a:r>
            <a:r>
              <a:rPr lang="en-US" sz="2000" dirty="0" smtClean="0">
                <a:solidFill>
                  <a:prstClr val="black"/>
                </a:solidFill>
              </a:rPr>
              <a:t>items (</a:t>
            </a:r>
            <a:r>
              <a:rPr lang="en-US" sz="2000" dirty="0" smtClean="0">
                <a:solidFill>
                  <a:srgbClr val="FF0000"/>
                </a:solidFill>
              </a:rPr>
              <a:t>from </a:t>
            </a:r>
            <a:r>
              <a:rPr lang="en-US" sz="2000" dirty="0">
                <a:solidFill>
                  <a:srgbClr val="FF0000"/>
                </a:solidFill>
              </a:rPr>
              <a:t>host </a:t>
            </a:r>
            <a:r>
              <a:rPr lang="en-US" sz="2000" dirty="0" smtClean="0">
                <a:solidFill>
                  <a:srgbClr val="FF0000"/>
                </a:solidFill>
              </a:rPr>
              <a:t>code</a:t>
            </a:r>
            <a:r>
              <a:rPr lang="en-US" sz="2000" dirty="0" smtClean="0">
                <a:solidFill>
                  <a:prstClr val="black"/>
                </a:solidFill>
              </a:rPr>
              <a:t>).</a:t>
            </a:r>
          </a:p>
          <a:p>
            <a:pPr marL="914400" lvl="1" indent="-514350">
              <a:buFont typeface="Wingdings" panose="05000000000000000000" pitchFamily="2" charset="2"/>
              <a:buChar char="§"/>
            </a:pPr>
            <a:endParaRPr lang="en-US" sz="2000" dirty="0">
              <a:solidFill>
                <a:prstClr val="black"/>
              </a:solidFill>
            </a:endParaRPr>
          </a:p>
          <a:p>
            <a:r>
              <a:rPr lang="en-US" sz="2400" dirty="0" smtClean="0"/>
              <a:t>Static inputs </a:t>
            </a:r>
            <a:r>
              <a:rPr lang="en-US" sz="2400" dirty="0" smtClean="0">
                <a:solidFill>
                  <a:prstClr val="black"/>
                </a:solidFill>
              </a:rPr>
              <a:t>of basic block with </a:t>
            </a:r>
            <a:r>
              <a:rPr lang="en-US" sz="2400" b="1" dirty="0" smtClean="0">
                <a:solidFill>
                  <a:prstClr val="black"/>
                </a:solidFill>
              </a:rPr>
              <a:t>UL</a:t>
            </a:r>
            <a:r>
              <a:rPr lang="en-US" sz="2400" dirty="0" smtClean="0">
                <a:solidFill>
                  <a:prstClr val="black"/>
                </a:solidFill>
              </a:rPr>
              <a:t> and </a:t>
            </a:r>
            <a:r>
              <a:rPr lang="en-US" sz="2400" b="1" dirty="0" smtClean="0">
                <a:solidFill>
                  <a:prstClr val="black"/>
                </a:solidFill>
              </a:rPr>
              <a:t>SIMD</a:t>
            </a:r>
            <a:r>
              <a:rPr lang="en-US" sz="2400" dirty="0" smtClean="0">
                <a:solidFill>
                  <a:prstClr val="black"/>
                </a:solidFill>
              </a:rPr>
              <a:t> (LLVM::</a:t>
            </a:r>
            <a:r>
              <a:rPr lang="en-US" sz="2400" dirty="0" err="1" smtClean="0">
                <a:solidFill>
                  <a:prstClr val="black"/>
                </a:solidFill>
              </a:rPr>
              <a:t>BasicBlock</a:t>
            </a:r>
            <a:r>
              <a:rPr lang="en-US" sz="2400" dirty="0" smtClean="0">
                <a:solidFill>
                  <a:prstClr val="black"/>
                </a:solidFill>
              </a:rPr>
              <a:t>)</a:t>
            </a:r>
            <a:r>
              <a:rPr lang="en-US" sz="2400" dirty="0" smtClean="0"/>
              <a:t>:</a:t>
            </a:r>
          </a:p>
          <a:p>
            <a:pPr marL="914400" lvl="1" indent="-514350">
              <a:buFont typeface="Wingdings" panose="05000000000000000000" pitchFamily="2" charset="2"/>
              <a:buChar char="§"/>
            </a:pPr>
            <a:r>
              <a:rPr lang="en-US" sz="2000" dirty="0" smtClean="0">
                <a:solidFill>
                  <a:prstClr val="black"/>
                </a:solidFill>
              </a:rPr>
              <a:t>Memory instructions, average </a:t>
            </a:r>
            <a:r>
              <a:rPr lang="en-US" sz="2000" dirty="0">
                <a:solidFill>
                  <a:prstClr val="black"/>
                </a:solidFill>
              </a:rPr>
              <a:t>memory </a:t>
            </a:r>
            <a:r>
              <a:rPr lang="en-US" sz="2000" dirty="0" smtClean="0">
                <a:solidFill>
                  <a:prstClr val="black"/>
                </a:solidFill>
              </a:rPr>
              <a:t>bytes and burst length.</a:t>
            </a:r>
          </a:p>
          <a:p>
            <a:pPr marL="914400" lvl="1" indent="-514350">
              <a:buFont typeface="Wingdings" panose="05000000000000000000" pitchFamily="2" charset="2"/>
              <a:buChar char="§"/>
            </a:pPr>
            <a:r>
              <a:rPr lang="en-US" sz="2000" dirty="0" smtClean="0">
                <a:solidFill>
                  <a:prstClr val="black"/>
                </a:solidFill>
              </a:rPr>
              <a:t>Critical path for computing instructions.</a:t>
            </a:r>
          </a:p>
          <a:p>
            <a:pPr marL="914400" lvl="1" indent="-514350">
              <a:buFont typeface="Wingdings" panose="05000000000000000000" pitchFamily="2" charset="2"/>
              <a:buChar char="§"/>
            </a:pPr>
            <a:endParaRPr lang="en-US" sz="2000" dirty="0" smtClean="0">
              <a:solidFill>
                <a:prstClr val="black"/>
              </a:solidFill>
            </a:endParaRPr>
          </a:p>
          <a:p>
            <a:r>
              <a:rPr lang="en-US" sz="2400" dirty="0" smtClean="0"/>
              <a:t>Run-time Input</a:t>
            </a:r>
            <a:r>
              <a:rPr lang="en-US" altLang="zh-CN" sz="2400" dirty="0" smtClean="0"/>
              <a:t>s</a:t>
            </a:r>
            <a:r>
              <a:rPr lang="en-US" sz="2400" dirty="0" smtClean="0"/>
              <a:t> </a:t>
            </a:r>
            <a:r>
              <a:rPr lang="en-US" sz="2400" dirty="0" smtClean="0">
                <a:solidFill>
                  <a:prstClr val="black"/>
                </a:solidFill>
              </a:rPr>
              <a:t>(LLVM:: </a:t>
            </a:r>
            <a:r>
              <a:rPr lang="en-US" sz="2400" dirty="0" err="1" smtClean="0">
                <a:solidFill>
                  <a:prstClr val="black"/>
                </a:solidFill>
              </a:rPr>
              <a:t>LoopInfo</a:t>
            </a:r>
            <a:r>
              <a:rPr lang="en-US" sz="2400" dirty="0" smtClean="0">
                <a:solidFill>
                  <a:prstClr val="black"/>
                </a:solidFill>
              </a:rPr>
              <a:t>)</a:t>
            </a:r>
            <a:r>
              <a:rPr lang="en-US" sz="2400" dirty="0" smtClean="0"/>
              <a:t>:</a:t>
            </a:r>
          </a:p>
          <a:p>
            <a:pPr marL="914400" lvl="1" indent="-514350">
              <a:buFont typeface="Wingdings" panose="05000000000000000000" pitchFamily="2" charset="2"/>
              <a:buChar char="§"/>
            </a:pPr>
            <a:r>
              <a:rPr lang="en-US" sz="2000" dirty="0" smtClean="0">
                <a:solidFill>
                  <a:prstClr val="black"/>
                </a:solidFill>
              </a:rPr>
              <a:t>Loop hierarchy. </a:t>
            </a:r>
          </a:p>
          <a:p>
            <a:pPr marL="914400" lvl="1" indent="-514350">
              <a:buFont typeface="Wingdings" panose="05000000000000000000" pitchFamily="2" charset="2"/>
              <a:buChar char="§"/>
            </a:pPr>
            <a:r>
              <a:rPr lang="en-US" sz="2000" dirty="0" smtClean="0">
                <a:solidFill>
                  <a:prstClr val="black"/>
                </a:solidFill>
              </a:rPr>
              <a:t>Trip counter for each loop (Run same OpenCL code on GPU). </a:t>
            </a:r>
            <a:endParaRPr lang="en-US" sz="2000" dirty="0">
              <a:solidFill>
                <a:prstClr val="black"/>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1283850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 calcmode="lin" valueType="num">
                                      <p:cBhvr additive="base">
                                        <p:cTn id="3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 calcmode="lin" valueType="num">
                                      <p:cBhvr additive="base">
                                        <p:cTn id="4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 calcmode="lin" valueType="num">
                                      <p:cBhvr additive="base">
                                        <p:cTn id="4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666750" y="2740790"/>
            <a:ext cx="7816124" cy="1493281"/>
            <a:chOff x="666750" y="2740790"/>
            <a:chExt cx="7816124" cy="1493281"/>
          </a:xfrm>
        </p:grpSpPr>
        <p:sp>
          <p:nvSpPr>
            <p:cNvPr id="12" name="Rounded Rectangle 11"/>
            <p:cNvSpPr/>
            <p:nvPr/>
          </p:nvSpPr>
          <p:spPr>
            <a:xfrm>
              <a:off x="1524000" y="2788445"/>
              <a:ext cx="990600" cy="3048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000" dirty="0" smtClean="0"/>
                <a:t>C_0</a:t>
              </a:r>
              <a:endParaRPr lang="en-US" sz="2000" dirty="0"/>
            </a:p>
          </p:txBody>
        </p:sp>
        <p:cxnSp>
          <p:nvCxnSpPr>
            <p:cNvPr id="37" name="Straight Connector 36"/>
            <p:cNvCxnSpPr>
              <a:stCxn id="26" idx="0"/>
              <a:endCxn id="12" idx="2"/>
            </p:cNvCxnSpPr>
            <p:nvPr/>
          </p:nvCxnSpPr>
          <p:spPr>
            <a:xfrm flipV="1">
              <a:off x="666750" y="3093245"/>
              <a:ext cx="1352550" cy="1125778"/>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cxnSp>
          <p:nvCxnSpPr>
            <p:cNvPr id="39" name="Straight Connector 38"/>
            <p:cNvCxnSpPr>
              <a:stCxn id="27" idx="0"/>
              <a:endCxn id="12" idx="2"/>
            </p:cNvCxnSpPr>
            <p:nvPr/>
          </p:nvCxnSpPr>
          <p:spPr>
            <a:xfrm flipV="1">
              <a:off x="1786822" y="3093245"/>
              <a:ext cx="232478" cy="1114444"/>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cxnSp>
          <p:nvCxnSpPr>
            <p:cNvPr id="40" name="Straight Connector 39"/>
            <p:cNvCxnSpPr>
              <a:stCxn id="28" idx="0"/>
              <a:endCxn id="12" idx="2"/>
            </p:cNvCxnSpPr>
            <p:nvPr/>
          </p:nvCxnSpPr>
          <p:spPr>
            <a:xfrm flipH="1" flipV="1">
              <a:off x="2019300" y="3093245"/>
              <a:ext cx="887594" cy="1114444"/>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cxnSp>
          <p:nvCxnSpPr>
            <p:cNvPr id="41" name="Straight Connector 40"/>
            <p:cNvCxnSpPr>
              <a:stCxn id="29" idx="0"/>
              <a:endCxn id="12" idx="2"/>
            </p:cNvCxnSpPr>
            <p:nvPr/>
          </p:nvCxnSpPr>
          <p:spPr>
            <a:xfrm flipH="1" flipV="1">
              <a:off x="2019300" y="3093245"/>
              <a:ext cx="2007666" cy="1103110"/>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sp>
          <p:nvSpPr>
            <p:cNvPr id="44" name="Rounded Rectangle 43"/>
            <p:cNvSpPr/>
            <p:nvPr/>
          </p:nvSpPr>
          <p:spPr>
            <a:xfrm>
              <a:off x="6870337" y="2788445"/>
              <a:ext cx="990600" cy="3048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000" dirty="0" smtClean="0"/>
                <a:t>C_2</a:t>
              </a:r>
              <a:endParaRPr lang="en-US" sz="2000" dirty="0"/>
            </a:p>
          </p:txBody>
        </p:sp>
        <p:cxnSp>
          <p:nvCxnSpPr>
            <p:cNvPr id="45" name="Straight Connector 44"/>
            <p:cNvCxnSpPr>
              <a:endCxn id="44" idx="2"/>
            </p:cNvCxnSpPr>
            <p:nvPr/>
          </p:nvCxnSpPr>
          <p:spPr>
            <a:xfrm flipV="1">
              <a:off x="6248400" y="3093245"/>
              <a:ext cx="1117237" cy="1140826"/>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cxnSp>
          <p:nvCxnSpPr>
            <p:cNvPr id="50" name="Straight Connector 49"/>
            <p:cNvCxnSpPr>
              <a:endCxn id="44" idx="2"/>
            </p:cNvCxnSpPr>
            <p:nvPr/>
          </p:nvCxnSpPr>
          <p:spPr>
            <a:xfrm flipH="1" flipV="1">
              <a:off x="7365637" y="3093245"/>
              <a:ext cx="7088" cy="1127159"/>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cxnSp>
          <p:nvCxnSpPr>
            <p:cNvPr id="51" name="Straight Connector 50"/>
            <p:cNvCxnSpPr>
              <a:endCxn id="44" idx="2"/>
            </p:cNvCxnSpPr>
            <p:nvPr/>
          </p:nvCxnSpPr>
          <p:spPr>
            <a:xfrm flipH="1" flipV="1">
              <a:off x="7365637" y="3093245"/>
              <a:ext cx="1117237" cy="1114445"/>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sp>
          <p:nvSpPr>
            <p:cNvPr id="61" name="Rounded Rectangle 60"/>
            <p:cNvSpPr/>
            <p:nvPr/>
          </p:nvSpPr>
          <p:spPr>
            <a:xfrm>
              <a:off x="4699182" y="2807684"/>
              <a:ext cx="990600" cy="3048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000" dirty="0" smtClean="0"/>
                <a:t>C_1</a:t>
              </a:r>
              <a:endParaRPr lang="en-US" sz="2000" dirty="0"/>
            </a:p>
          </p:txBody>
        </p:sp>
        <p:cxnSp>
          <p:nvCxnSpPr>
            <p:cNvPr id="62" name="Straight Connector 61"/>
            <p:cNvCxnSpPr>
              <a:endCxn id="61" idx="2"/>
            </p:cNvCxnSpPr>
            <p:nvPr/>
          </p:nvCxnSpPr>
          <p:spPr>
            <a:xfrm flipV="1">
              <a:off x="5179435" y="3112484"/>
              <a:ext cx="15047" cy="1094426"/>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sp>
          <p:nvSpPr>
            <p:cNvPr id="6" name="TextBox 5"/>
            <p:cNvSpPr txBox="1"/>
            <p:nvPr/>
          </p:nvSpPr>
          <p:spPr>
            <a:xfrm>
              <a:off x="2556323" y="2756208"/>
              <a:ext cx="758122" cy="523220"/>
            </a:xfrm>
            <a:prstGeom prst="rect">
              <a:avLst/>
            </a:prstGeom>
            <a:noFill/>
          </p:spPr>
          <p:txBody>
            <a:bodyPr wrap="square" rtlCol="0">
              <a:spAutoFit/>
            </a:bodyPr>
            <a:lstStyle/>
            <a:p>
              <a:r>
                <a:rPr lang="en-US" sz="2800" dirty="0" smtClean="0">
                  <a:solidFill>
                    <a:srgbClr val="FF0000"/>
                  </a:solidFill>
                </a:rPr>
                <a:t>L</a:t>
              </a:r>
              <a:r>
                <a:rPr lang="en-US" dirty="0" smtClean="0">
                  <a:solidFill>
                    <a:srgbClr val="FF0000"/>
                  </a:solidFill>
                </a:rPr>
                <a:t>0</a:t>
              </a:r>
              <a:endParaRPr lang="en-US" dirty="0">
                <a:solidFill>
                  <a:srgbClr val="FF0000"/>
                </a:solidFill>
              </a:endParaRPr>
            </a:p>
          </p:txBody>
        </p:sp>
        <p:sp>
          <p:nvSpPr>
            <p:cNvPr id="35" name="TextBox 34"/>
            <p:cNvSpPr txBox="1"/>
            <p:nvPr/>
          </p:nvSpPr>
          <p:spPr>
            <a:xfrm>
              <a:off x="7937288" y="2740790"/>
              <a:ext cx="501638" cy="523220"/>
            </a:xfrm>
            <a:prstGeom prst="rect">
              <a:avLst/>
            </a:prstGeom>
            <a:noFill/>
          </p:spPr>
          <p:txBody>
            <a:bodyPr wrap="square" rtlCol="0">
              <a:spAutoFit/>
            </a:bodyPr>
            <a:lstStyle/>
            <a:p>
              <a:r>
                <a:rPr lang="en-US" sz="2800" dirty="0" smtClean="0">
                  <a:solidFill>
                    <a:srgbClr val="FF0000"/>
                  </a:solidFill>
                </a:rPr>
                <a:t>L</a:t>
              </a:r>
              <a:r>
                <a:rPr lang="en-US" dirty="0">
                  <a:solidFill>
                    <a:srgbClr val="FF0000"/>
                  </a:solidFill>
                </a:rPr>
                <a:t>2</a:t>
              </a:r>
            </a:p>
          </p:txBody>
        </p:sp>
      </p:grpSp>
      <p:sp>
        <p:nvSpPr>
          <p:cNvPr id="2" name="Title 1"/>
          <p:cNvSpPr>
            <a:spLocks noGrp="1"/>
          </p:cNvSpPr>
          <p:nvPr>
            <p:ph type="title"/>
          </p:nvPr>
        </p:nvSpPr>
        <p:spPr>
          <a:xfrm>
            <a:off x="457200" y="274638"/>
            <a:ext cx="8229600" cy="920952"/>
          </a:xfrm>
        </p:spPr>
        <p:txBody>
          <a:bodyPr/>
          <a:lstStyle/>
          <a:p>
            <a:r>
              <a:rPr lang="en-US" dirty="0" smtClean="0"/>
              <a:t>Performance Analytical </a:t>
            </a:r>
            <a:r>
              <a:rPr lang="en-US" dirty="0"/>
              <a:t>M</a:t>
            </a:r>
            <a:r>
              <a:rPr lang="en-US" dirty="0" smtClean="0"/>
              <a:t>odel</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cxnSp>
        <p:nvCxnSpPr>
          <p:cNvPr id="53" name="Straight Connector 52"/>
          <p:cNvCxnSpPr/>
          <p:nvPr/>
        </p:nvCxnSpPr>
        <p:spPr>
          <a:xfrm flipV="1">
            <a:off x="2019300" y="1878260"/>
            <a:ext cx="2459582" cy="904518"/>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cxnSp>
        <p:nvCxnSpPr>
          <p:cNvPr id="55" name="Straight Connector 54"/>
          <p:cNvCxnSpPr/>
          <p:nvPr/>
        </p:nvCxnSpPr>
        <p:spPr>
          <a:xfrm flipH="1" flipV="1">
            <a:off x="4478882" y="1878260"/>
            <a:ext cx="702355" cy="910185"/>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cxnSp>
        <p:nvCxnSpPr>
          <p:cNvPr id="56" name="Straight Connector 55"/>
          <p:cNvCxnSpPr/>
          <p:nvPr/>
        </p:nvCxnSpPr>
        <p:spPr>
          <a:xfrm>
            <a:off x="4478882" y="1878260"/>
            <a:ext cx="2886755" cy="904518"/>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grpSp>
        <p:nvGrpSpPr>
          <p:cNvPr id="8" name="Group 7"/>
          <p:cNvGrpSpPr/>
          <p:nvPr/>
        </p:nvGrpSpPr>
        <p:grpSpPr>
          <a:xfrm>
            <a:off x="304800" y="4196355"/>
            <a:ext cx="8564404" cy="331182"/>
            <a:chOff x="304800" y="4196355"/>
            <a:chExt cx="8564404" cy="331182"/>
          </a:xfrm>
        </p:grpSpPr>
        <p:sp>
          <p:nvSpPr>
            <p:cNvPr id="26" name="Rounded Rectangle 25"/>
            <p:cNvSpPr/>
            <p:nvPr/>
          </p:nvSpPr>
          <p:spPr>
            <a:xfrm>
              <a:off x="304800" y="4219023"/>
              <a:ext cx="723900" cy="304800"/>
            </a:xfrm>
            <a:prstGeom prst="roundRect">
              <a:avLst>
                <a:gd name="adj" fmla="val 50000"/>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dirty="0" smtClean="0"/>
                <a:t>B_0</a:t>
              </a:r>
              <a:endParaRPr lang="en-US" sz="1200" dirty="0"/>
            </a:p>
          </p:txBody>
        </p:sp>
        <p:sp>
          <p:nvSpPr>
            <p:cNvPr id="27" name="Rounded Rectangle 26"/>
            <p:cNvSpPr/>
            <p:nvPr/>
          </p:nvSpPr>
          <p:spPr>
            <a:xfrm>
              <a:off x="1424872" y="4207689"/>
              <a:ext cx="723900" cy="304800"/>
            </a:xfrm>
            <a:prstGeom prst="roundRect">
              <a:avLst>
                <a:gd name="adj" fmla="val 50000"/>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dirty="0" smtClean="0"/>
                <a:t>B_1</a:t>
              </a:r>
              <a:endParaRPr lang="en-US" sz="1200" dirty="0"/>
            </a:p>
          </p:txBody>
        </p:sp>
        <p:sp>
          <p:nvSpPr>
            <p:cNvPr id="28" name="Rounded Rectangle 27"/>
            <p:cNvSpPr/>
            <p:nvPr/>
          </p:nvSpPr>
          <p:spPr>
            <a:xfrm>
              <a:off x="2544944" y="4207689"/>
              <a:ext cx="723900" cy="304800"/>
            </a:xfrm>
            <a:prstGeom prst="roundRect">
              <a:avLst>
                <a:gd name="adj" fmla="val 50000"/>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dirty="0" smtClean="0"/>
                <a:t>B_2</a:t>
              </a:r>
              <a:endParaRPr lang="en-US" sz="1200" dirty="0"/>
            </a:p>
          </p:txBody>
        </p:sp>
        <p:sp>
          <p:nvSpPr>
            <p:cNvPr id="29" name="Rounded Rectangle 28"/>
            <p:cNvSpPr/>
            <p:nvPr/>
          </p:nvSpPr>
          <p:spPr>
            <a:xfrm>
              <a:off x="3665016" y="4196355"/>
              <a:ext cx="723900" cy="304800"/>
            </a:xfrm>
            <a:prstGeom prst="roundRect">
              <a:avLst>
                <a:gd name="adj" fmla="val 50000"/>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dirty="0" smtClean="0"/>
                <a:t>B_3</a:t>
              </a:r>
              <a:endParaRPr lang="en-US" sz="1200" dirty="0"/>
            </a:p>
          </p:txBody>
        </p:sp>
        <p:sp>
          <p:nvSpPr>
            <p:cNvPr id="31" name="Rounded Rectangle 30"/>
            <p:cNvSpPr/>
            <p:nvPr/>
          </p:nvSpPr>
          <p:spPr>
            <a:xfrm>
              <a:off x="5905160" y="4222737"/>
              <a:ext cx="723900" cy="304800"/>
            </a:xfrm>
            <a:prstGeom prst="roundRect">
              <a:avLst>
                <a:gd name="adj" fmla="val 50000"/>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dirty="0" smtClean="0"/>
                <a:t>B_5</a:t>
              </a:r>
              <a:endParaRPr lang="en-US" sz="1200" dirty="0"/>
            </a:p>
          </p:txBody>
        </p:sp>
        <p:sp>
          <p:nvSpPr>
            <p:cNvPr id="32" name="Rounded Rectangle 31"/>
            <p:cNvSpPr/>
            <p:nvPr/>
          </p:nvSpPr>
          <p:spPr>
            <a:xfrm>
              <a:off x="7025232" y="4222737"/>
              <a:ext cx="723900" cy="304800"/>
            </a:xfrm>
            <a:prstGeom prst="roundRect">
              <a:avLst>
                <a:gd name="adj" fmla="val 50000"/>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dirty="0" smtClean="0"/>
                <a:t>B_6</a:t>
              </a:r>
              <a:endParaRPr lang="en-US" sz="1200" dirty="0"/>
            </a:p>
          </p:txBody>
        </p:sp>
        <p:sp>
          <p:nvSpPr>
            <p:cNvPr id="38" name="Rounded Rectangle 37"/>
            <p:cNvSpPr/>
            <p:nvPr/>
          </p:nvSpPr>
          <p:spPr>
            <a:xfrm>
              <a:off x="8145304" y="4211403"/>
              <a:ext cx="723900" cy="304800"/>
            </a:xfrm>
            <a:prstGeom prst="roundRect">
              <a:avLst>
                <a:gd name="adj" fmla="val 50000"/>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dirty="0" smtClean="0"/>
                <a:t>B_7</a:t>
              </a:r>
              <a:endParaRPr lang="en-US" sz="1200" dirty="0"/>
            </a:p>
          </p:txBody>
        </p:sp>
        <p:sp>
          <p:nvSpPr>
            <p:cNvPr id="60" name="Rounded Rectangle 59"/>
            <p:cNvSpPr/>
            <p:nvPr/>
          </p:nvSpPr>
          <p:spPr>
            <a:xfrm>
              <a:off x="4819287" y="4207114"/>
              <a:ext cx="723900" cy="304800"/>
            </a:xfrm>
            <a:prstGeom prst="roundRect">
              <a:avLst>
                <a:gd name="adj" fmla="val 50000"/>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dirty="0" smtClean="0"/>
                <a:t>B_4</a:t>
              </a:r>
              <a:endParaRPr lang="en-US" sz="1200" dirty="0"/>
            </a:p>
          </p:txBody>
        </p:sp>
      </p:grpSp>
      <p:sp>
        <p:nvSpPr>
          <p:cNvPr id="65" name="Oval 64"/>
          <p:cNvSpPr/>
          <p:nvPr/>
        </p:nvSpPr>
        <p:spPr>
          <a:xfrm>
            <a:off x="4114800" y="1295400"/>
            <a:ext cx="792321" cy="571525"/>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smtClean="0"/>
              <a:t>C</a:t>
            </a:r>
            <a:r>
              <a:rPr lang="en-US" sz="1600" dirty="0" smtClean="0"/>
              <a:t>S</a:t>
            </a:r>
            <a:endParaRPr lang="en-US" sz="1600" dirty="0"/>
          </a:p>
        </p:txBody>
      </p:sp>
      <p:sp>
        <p:nvSpPr>
          <p:cNvPr id="34" name="Content Placeholder 2"/>
          <p:cNvSpPr txBox="1">
            <a:spLocks/>
          </p:cNvSpPr>
          <p:nvPr/>
        </p:nvSpPr>
        <p:spPr>
          <a:xfrm>
            <a:off x="584382" y="5310686"/>
            <a:ext cx="8229600" cy="126085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smtClean="0"/>
              <a:t>B_0--B_7: Basic blocks of the kernel (leaf nodes)</a:t>
            </a:r>
          </a:p>
          <a:p>
            <a:pPr marL="0" indent="0">
              <a:buNone/>
            </a:pPr>
            <a:r>
              <a:rPr lang="en-US" sz="2400" dirty="0" smtClean="0"/>
              <a:t>C_0--C_2: LLVM non-leaf nodes</a:t>
            </a:r>
          </a:p>
          <a:p>
            <a:pPr marL="0" indent="0">
              <a:buNone/>
            </a:pPr>
            <a:r>
              <a:rPr lang="en-US" sz="2400" dirty="0" smtClean="0"/>
              <a:t>C</a:t>
            </a:r>
            <a:r>
              <a:rPr lang="en-US" sz="1800" dirty="0" smtClean="0"/>
              <a:t>s </a:t>
            </a:r>
            <a:r>
              <a:rPr lang="en-US" sz="2400" dirty="0"/>
              <a:t>: </a:t>
            </a:r>
            <a:r>
              <a:rPr lang="en-US" sz="2400" dirty="0" smtClean="0"/>
              <a:t>Cycles </a:t>
            </a:r>
            <a:r>
              <a:rPr lang="en-US" sz="2400" dirty="0"/>
              <a:t>to execute the input kernel on </a:t>
            </a:r>
            <a:r>
              <a:rPr lang="en-US" sz="2400" dirty="0" smtClean="0"/>
              <a:t>FPGA</a:t>
            </a:r>
            <a:endParaRPr lang="en-US" sz="2400" dirty="0"/>
          </a:p>
        </p:txBody>
      </p:sp>
      <p:sp>
        <p:nvSpPr>
          <p:cNvPr id="3" name="Rectangle 2"/>
          <p:cNvSpPr/>
          <p:nvPr/>
        </p:nvSpPr>
        <p:spPr>
          <a:xfrm>
            <a:off x="1650818" y="4749750"/>
            <a:ext cx="6358481" cy="523220"/>
          </a:xfrm>
          <a:prstGeom prst="rect">
            <a:avLst/>
          </a:prstGeom>
        </p:spPr>
        <p:txBody>
          <a:bodyPr wrap="square">
            <a:spAutoFit/>
          </a:bodyPr>
          <a:lstStyle/>
          <a:p>
            <a:r>
              <a:rPr lang="en-US" sz="2800" dirty="0">
                <a:solidFill>
                  <a:srgbClr val="FF0000"/>
                </a:solidFill>
              </a:rPr>
              <a:t>Our </a:t>
            </a:r>
            <a:r>
              <a:rPr lang="en-US" sz="2800" dirty="0" smtClean="0">
                <a:solidFill>
                  <a:srgbClr val="FF0000"/>
                </a:solidFill>
              </a:rPr>
              <a:t>model </a:t>
            </a:r>
            <a:r>
              <a:rPr lang="en-US" sz="2800" dirty="0">
                <a:solidFill>
                  <a:srgbClr val="FF0000"/>
                </a:solidFill>
              </a:rPr>
              <a:t>follows a </a:t>
            </a:r>
            <a:r>
              <a:rPr lang="en-US" sz="2800" dirty="0" smtClean="0">
                <a:solidFill>
                  <a:srgbClr val="FF0000"/>
                </a:solidFill>
              </a:rPr>
              <a:t>down-up approach.</a:t>
            </a:r>
            <a:endParaRPr lang="en-US" sz="2800" dirty="0">
              <a:solidFill>
                <a:srgbClr val="FF0000"/>
              </a:solidFill>
            </a:endParaRPr>
          </a:p>
        </p:txBody>
      </p:sp>
    </p:spTree>
    <p:extLst>
      <p:ext uri="{BB962C8B-B14F-4D97-AF65-F5344CB8AC3E}">
        <p14:creationId xmlns:p14="http://schemas.microsoft.com/office/powerpoint/2010/main" val="3540328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additive="base">
                                        <p:cTn id="7" dur="500" fill="hold"/>
                                        <p:tgtEl>
                                          <p:spTgt spid="65"/>
                                        </p:tgtEl>
                                        <p:attrNameLst>
                                          <p:attrName>ppt_x</p:attrName>
                                        </p:attrNameLst>
                                      </p:cBhvr>
                                      <p:tavLst>
                                        <p:tav tm="0">
                                          <p:val>
                                            <p:strVal val="#ppt_x"/>
                                          </p:val>
                                        </p:tav>
                                        <p:tav tm="100000">
                                          <p:val>
                                            <p:strVal val="#ppt_x"/>
                                          </p:val>
                                        </p:tav>
                                      </p:tavLst>
                                    </p:anim>
                                    <p:anim calcmode="lin" valueType="num">
                                      <p:cBhvr additive="base">
                                        <p:cTn id="8" dur="500" fill="hold"/>
                                        <p:tgtEl>
                                          <p:spTgt spid="6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4">
                                            <p:txEl>
                                              <p:pRg st="2" end="2"/>
                                            </p:txEl>
                                          </p:spTgt>
                                        </p:tgtEl>
                                        <p:attrNameLst>
                                          <p:attrName>style.visibility</p:attrName>
                                        </p:attrNameLst>
                                      </p:cBhvr>
                                      <p:to>
                                        <p:strVal val="visible"/>
                                      </p:to>
                                    </p:set>
                                    <p:anim calcmode="lin" valueType="num">
                                      <p:cBhvr additive="base">
                                        <p:cTn id="11" dur="500" fill="hold"/>
                                        <p:tgtEl>
                                          <p:spTgt spid="3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4">
                                            <p:txEl>
                                              <p:pRg st="0" end="0"/>
                                            </p:txEl>
                                          </p:spTgt>
                                        </p:tgtEl>
                                        <p:attrNameLst>
                                          <p:attrName>style.visibility</p:attrName>
                                        </p:attrNameLst>
                                      </p:cBhvr>
                                      <p:to>
                                        <p:strVal val="visible"/>
                                      </p:to>
                                    </p:set>
                                    <p:anim calcmode="lin" valueType="num">
                                      <p:cBhvr additive="base">
                                        <p:cTn id="23" dur="5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4">
                                            <p:txEl>
                                              <p:pRg st="0" end="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ppt_x"/>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4">
                                            <p:txEl>
                                              <p:pRg st="1" end="1"/>
                                            </p:txEl>
                                          </p:spTgt>
                                        </p:tgtEl>
                                        <p:attrNameLst>
                                          <p:attrName>style.visibility</p:attrName>
                                        </p:attrNameLst>
                                      </p:cBhvr>
                                      <p:to>
                                        <p:strVal val="visible"/>
                                      </p:to>
                                    </p:set>
                                    <p:anim calcmode="lin" valueType="num">
                                      <p:cBhvr additive="base">
                                        <p:cTn id="37" dur="500" fill="hold"/>
                                        <p:tgtEl>
                                          <p:spTgt spid="34">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3"/>
                                        </p:tgtEl>
                                        <p:attrNameLst>
                                          <p:attrName>style.visibility</p:attrName>
                                        </p:attrNameLst>
                                      </p:cBhvr>
                                      <p:to>
                                        <p:strVal val="visible"/>
                                      </p:to>
                                    </p:set>
                                    <p:anim calcmode="lin" valueType="num">
                                      <p:cBhvr additive="base">
                                        <p:cTn id="43" dur="500" fill="hold"/>
                                        <p:tgtEl>
                                          <p:spTgt spid="53"/>
                                        </p:tgtEl>
                                        <p:attrNameLst>
                                          <p:attrName>ppt_x</p:attrName>
                                        </p:attrNameLst>
                                      </p:cBhvr>
                                      <p:tavLst>
                                        <p:tav tm="0">
                                          <p:val>
                                            <p:strVal val="#ppt_x"/>
                                          </p:val>
                                        </p:tav>
                                        <p:tav tm="100000">
                                          <p:val>
                                            <p:strVal val="#ppt_x"/>
                                          </p:val>
                                        </p:tav>
                                      </p:tavLst>
                                    </p:anim>
                                    <p:anim calcmode="lin" valueType="num">
                                      <p:cBhvr additive="base">
                                        <p:cTn id="44" dur="500" fill="hold"/>
                                        <p:tgtEl>
                                          <p:spTgt spid="53"/>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55"/>
                                        </p:tgtEl>
                                        <p:attrNameLst>
                                          <p:attrName>style.visibility</p:attrName>
                                        </p:attrNameLst>
                                      </p:cBhvr>
                                      <p:to>
                                        <p:strVal val="visible"/>
                                      </p:to>
                                    </p:set>
                                    <p:anim calcmode="lin" valueType="num">
                                      <p:cBhvr additive="base">
                                        <p:cTn id="47" dur="500" fill="hold"/>
                                        <p:tgtEl>
                                          <p:spTgt spid="55"/>
                                        </p:tgtEl>
                                        <p:attrNameLst>
                                          <p:attrName>ppt_x</p:attrName>
                                        </p:attrNameLst>
                                      </p:cBhvr>
                                      <p:tavLst>
                                        <p:tav tm="0">
                                          <p:val>
                                            <p:strVal val="#ppt_x"/>
                                          </p:val>
                                        </p:tav>
                                        <p:tav tm="100000">
                                          <p:val>
                                            <p:strVal val="#ppt_x"/>
                                          </p:val>
                                        </p:tav>
                                      </p:tavLst>
                                    </p:anim>
                                    <p:anim calcmode="lin" valueType="num">
                                      <p:cBhvr additive="base">
                                        <p:cTn id="48" dur="500" fill="hold"/>
                                        <p:tgtEl>
                                          <p:spTgt spid="55"/>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56"/>
                                        </p:tgtEl>
                                        <p:attrNameLst>
                                          <p:attrName>style.visibility</p:attrName>
                                        </p:attrNameLst>
                                      </p:cBhvr>
                                      <p:to>
                                        <p:strVal val="visible"/>
                                      </p:to>
                                    </p:set>
                                    <p:anim calcmode="lin" valueType="num">
                                      <p:cBhvr additive="base">
                                        <p:cTn id="51" dur="500" fill="hold"/>
                                        <p:tgtEl>
                                          <p:spTgt spid="56"/>
                                        </p:tgtEl>
                                        <p:attrNameLst>
                                          <p:attrName>ppt_x</p:attrName>
                                        </p:attrNameLst>
                                      </p:cBhvr>
                                      <p:tavLst>
                                        <p:tav tm="0">
                                          <p:val>
                                            <p:strVal val="#ppt_x"/>
                                          </p:val>
                                        </p:tav>
                                        <p:tav tm="100000">
                                          <p:val>
                                            <p:strVal val="#ppt_x"/>
                                          </p:val>
                                        </p:tav>
                                      </p:tavLst>
                                    </p:anim>
                                    <p:anim calcmode="lin" valueType="num">
                                      <p:cBhvr additive="base">
                                        <p:cTn id="52"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15521"/>
          </a:xfrm>
        </p:spPr>
        <p:txBody>
          <a:bodyPr>
            <a:normAutofit/>
          </a:bodyPr>
          <a:lstStyle/>
          <a:p>
            <a:r>
              <a:rPr lang="en-US" dirty="0" smtClean="0"/>
              <a:t>Evaluation of Basic Block</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mc:AlternateContent xmlns:mc="http://schemas.openxmlformats.org/markup-compatibility/2006" xmlns:a14="http://schemas.microsoft.com/office/drawing/2010/main">
        <mc:Choice Requires="a14">
          <p:sp>
            <p:nvSpPr>
              <p:cNvPr id="3" name="TextBox 2"/>
              <p:cNvSpPr txBox="1"/>
              <p:nvPr/>
            </p:nvSpPr>
            <p:spPr>
              <a:xfrm>
                <a:off x="4953000" y="1751562"/>
                <a:ext cx="3048000" cy="464167"/>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𝐶</m:t>
                          </m:r>
                        </m:e>
                        <m:sub>
                          <m:r>
                            <a:rPr lang="en-US">
                              <a:latin typeface="Cambria Math" panose="02040503050406030204" pitchFamily="18" charset="0"/>
                            </a:rPr>
                            <m:t>𝑘</m:t>
                          </m:r>
                        </m:sub>
                      </m:sSub>
                      <m:r>
                        <a:rPr lang="en-US">
                          <a:latin typeface="Cambria Math" panose="02040503050406030204" pitchFamily="18" charset="0"/>
                        </a:rPr>
                        <m:t>=</m:t>
                      </m:r>
                      <m:r>
                        <a:rPr lang="en-US">
                          <a:latin typeface="Cambria Math" panose="02040503050406030204" pitchFamily="18" charset="0"/>
                        </a:rPr>
                        <m:t>𝑀𝑎𝑥</m:t>
                      </m:r>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𝐶𝑜𝑚𝑝</m:t>
                          </m:r>
                        </m:e>
                        <m:sub>
                          <m:r>
                            <a:rPr lang="en-US">
                              <a:latin typeface="Cambria Math" panose="02040503050406030204" pitchFamily="18" charset="0"/>
                            </a:rPr>
                            <m:t>𝑘</m:t>
                          </m:r>
                        </m:sub>
                      </m:sSub>
                      <m:r>
                        <a:rPr lang="en-US">
                          <a:latin typeface="Cambria Math" panose="02040503050406030204" pitchFamily="18" charset="0"/>
                        </a:rPr>
                        <m:t>, </m:t>
                      </m:r>
                      <m:sSub>
                        <m:sSubPr>
                          <m:ctrlPr>
                            <a:rPr lang="en-US" i="1">
                              <a:latin typeface="Cambria Math" panose="02040503050406030204" pitchFamily="18" charset="0"/>
                            </a:rPr>
                          </m:ctrlPr>
                        </m:sSubPr>
                        <m:e>
                          <m:r>
                            <a:rPr lang="en-US">
                              <a:latin typeface="Cambria Math" panose="02040503050406030204" pitchFamily="18" charset="0"/>
                            </a:rPr>
                            <m:t>𝑀𝑒𝑚</m:t>
                          </m:r>
                        </m:e>
                        <m:sub>
                          <m:r>
                            <a:rPr lang="en-US">
                              <a:latin typeface="Cambria Math" panose="02040503050406030204" pitchFamily="18" charset="0"/>
                            </a:rPr>
                            <m:t>𝑘</m:t>
                          </m:r>
                        </m:sub>
                      </m:sSub>
                      <m:r>
                        <a:rPr lang="en-US">
                          <a:latin typeface="Cambria Math" panose="02040503050406030204" pitchFamily="18" charset="0"/>
                        </a:rPr>
                        <m:t>)</m:t>
                      </m:r>
                    </m:oMath>
                  </m:oMathPara>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4953000" y="1751562"/>
                <a:ext cx="3048000" cy="464167"/>
              </a:xfrm>
              <a:prstGeom prst="rect">
                <a:avLst/>
              </a:prstGeom>
              <a:blipFill rotWithShape="0">
                <a:blip r:embed="rId3"/>
                <a:stretch>
                  <a:fillRect/>
                </a:stretch>
              </a:blipFill>
            </p:spPr>
            <p:txBody>
              <a:bodyPr/>
              <a:lstStyle/>
              <a:p>
                <a:r>
                  <a:rPr lang="en-US">
                    <a:noFill/>
                  </a:rPr>
                  <a:t> </a:t>
                </a:r>
              </a:p>
            </p:txBody>
          </p:sp>
        </mc:Fallback>
      </mc:AlternateContent>
      <p:sp>
        <p:nvSpPr>
          <p:cNvPr id="5" name="Content Placeholder 4"/>
          <p:cNvSpPr>
            <a:spLocks noGrp="1"/>
          </p:cNvSpPr>
          <p:nvPr>
            <p:ph idx="1"/>
          </p:nvPr>
        </p:nvSpPr>
        <p:spPr>
          <a:xfrm>
            <a:off x="1005840" y="4271899"/>
            <a:ext cx="7620000" cy="1348061"/>
          </a:xfrm>
          <a:noFill/>
        </p:spPr>
        <p:txBody>
          <a:bodyPr vert="horz" wrap="square" lIns="91440" tIns="45720" rIns="91440" bIns="45720" rtlCol="0">
            <a:spAutoFit/>
          </a:bodyPr>
          <a:lstStyle/>
          <a:p>
            <a:pPr marL="0" indent="0">
              <a:buNone/>
            </a:pPr>
            <a:r>
              <a:rPr lang="en-US" sz="2400" dirty="0">
                <a:solidFill>
                  <a:srgbClr val="FF0000"/>
                </a:solidFill>
                <a:latin typeface="Comic Sans MS" panose="030F0702030302020204" pitchFamily="66" charset="0"/>
              </a:rPr>
              <a:t>Each basic block has its own computing pipeline.</a:t>
            </a:r>
          </a:p>
          <a:p>
            <a:pPr marL="0" indent="0">
              <a:buNone/>
            </a:pPr>
            <a:endParaRPr lang="en-US" sz="2400" dirty="0">
              <a:solidFill>
                <a:srgbClr val="FF0000"/>
              </a:solidFill>
              <a:latin typeface="Comic Sans MS" panose="030F0702030302020204" pitchFamily="66" charset="0"/>
            </a:endParaRPr>
          </a:p>
          <a:p>
            <a:pPr marL="0" indent="0">
              <a:buNone/>
            </a:pPr>
            <a:r>
              <a:rPr lang="en-US" sz="2400" dirty="0">
                <a:solidFill>
                  <a:srgbClr val="FF0000"/>
                </a:solidFill>
                <a:latin typeface="Comic Sans MS" panose="030F0702030302020204" pitchFamily="66" charset="0"/>
              </a:rPr>
              <a:t>All the basic blocks share the memory bandwidth.</a:t>
            </a:r>
          </a:p>
        </p:txBody>
      </p:sp>
      <p:sp>
        <p:nvSpPr>
          <p:cNvPr id="41" name="Rounded Rectangle 40"/>
          <p:cNvSpPr/>
          <p:nvPr/>
        </p:nvSpPr>
        <p:spPr>
          <a:xfrm>
            <a:off x="2666010" y="1634837"/>
            <a:ext cx="990600" cy="3048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dirty="0" err="1" smtClean="0"/>
              <a:t>C</a:t>
            </a:r>
            <a:r>
              <a:rPr lang="en-US" sz="1100" dirty="0" err="1"/>
              <a:t>k</a:t>
            </a:r>
            <a:endParaRPr lang="en-US" sz="2400" dirty="0"/>
          </a:p>
        </p:txBody>
      </p:sp>
      <p:sp>
        <p:nvSpPr>
          <p:cNvPr id="46" name="Rounded Rectangle 45"/>
          <p:cNvSpPr/>
          <p:nvPr/>
        </p:nvSpPr>
        <p:spPr>
          <a:xfrm>
            <a:off x="1427760" y="2406026"/>
            <a:ext cx="990600" cy="3048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err="1" smtClean="0"/>
              <a:t>Comp</a:t>
            </a:r>
            <a:r>
              <a:rPr lang="en-US" sz="1000" dirty="0" err="1" smtClean="0"/>
              <a:t>k</a:t>
            </a:r>
            <a:endParaRPr lang="en-US" dirty="0"/>
          </a:p>
        </p:txBody>
      </p:sp>
      <p:sp>
        <p:nvSpPr>
          <p:cNvPr id="48" name="Rounded Rectangle 47"/>
          <p:cNvSpPr/>
          <p:nvPr/>
        </p:nvSpPr>
        <p:spPr>
          <a:xfrm>
            <a:off x="3962400" y="2406026"/>
            <a:ext cx="990600" cy="304800"/>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dirty="0" err="1" smtClean="0"/>
              <a:t>Mem</a:t>
            </a:r>
            <a:r>
              <a:rPr lang="en-US" sz="1000" dirty="0" err="1" smtClean="0"/>
              <a:t>k</a:t>
            </a:r>
            <a:endParaRPr lang="en-US" dirty="0"/>
          </a:p>
        </p:txBody>
      </p:sp>
      <p:cxnSp>
        <p:nvCxnSpPr>
          <p:cNvPr id="49" name="Straight Connector 48"/>
          <p:cNvCxnSpPr>
            <a:stCxn id="46" idx="0"/>
            <a:endCxn id="41" idx="2"/>
          </p:cNvCxnSpPr>
          <p:nvPr/>
        </p:nvCxnSpPr>
        <p:spPr>
          <a:xfrm flipV="1">
            <a:off x="1923060" y="1939637"/>
            <a:ext cx="1238250" cy="466389"/>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48" idx="0"/>
            <a:endCxn id="41" idx="2"/>
          </p:cNvCxnSpPr>
          <p:nvPr/>
        </p:nvCxnSpPr>
        <p:spPr>
          <a:xfrm flipH="1" flipV="1">
            <a:off x="3161310" y="1939637"/>
            <a:ext cx="1296390" cy="466389"/>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2" name="Content Placeholder 2"/>
          <p:cNvSpPr txBox="1">
            <a:spLocks/>
          </p:cNvSpPr>
          <p:nvPr/>
        </p:nvSpPr>
        <p:spPr>
          <a:xfrm>
            <a:off x="1340625" y="2960742"/>
            <a:ext cx="4937760" cy="888635"/>
          </a:xfrm>
          <a:prstGeom prst="rect">
            <a:avLst/>
          </a:prstGeom>
        </p:spPr>
        <p:txBody>
          <a:bodyPr vert="horz">
            <a:normAutofit/>
          </a:bodyPr>
          <a:lstStyle>
            <a:lvl1pPr marL="274320" indent="-274320" algn="l" rtl="0" eaLnBrk="1" latinLnBrk="0" hangingPunct="1">
              <a:spcBef>
                <a:spcPts val="600"/>
              </a:spcBef>
              <a:buClr>
                <a:schemeClr val="accent2"/>
              </a:buClr>
              <a:buSzPct val="100000"/>
              <a:buFont typeface="Tahoma" pitchFamily="34" charset="0"/>
              <a:buChar char="|"/>
              <a:defRPr kumimoji="0" sz="2400" kern="1200">
                <a:solidFill>
                  <a:schemeClr val="tx1"/>
                </a:solidFill>
                <a:latin typeface="Tahoma" pitchFamily="34" charset="0"/>
                <a:ea typeface="Tahoma" pitchFamily="34" charset="0"/>
                <a:cs typeface="Tahoma" pitchFamily="34" charset="0"/>
              </a:defRPr>
            </a:lvl1pPr>
            <a:lvl2pPr marL="548640" indent="-274320" algn="l" rtl="0" eaLnBrk="1" latinLnBrk="0" hangingPunct="1">
              <a:spcBef>
                <a:spcPts val="500"/>
              </a:spcBef>
              <a:buClr>
                <a:schemeClr val="accent4"/>
              </a:buClr>
              <a:buSzPct val="76000"/>
              <a:buFont typeface="Wingdings 3" pitchFamily="18" charset="2"/>
              <a:buChar char=""/>
              <a:defRPr kumimoji="0" sz="2000" kern="1200">
                <a:solidFill>
                  <a:schemeClr val="tx2">
                    <a:lumMod val="50000"/>
                  </a:schemeClr>
                </a:solidFill>
                <a:latin typeface="Tahoma" pitchFamily="34" charset="0"/>
                <a:ea typeface="Tahoma" pitchFamily="34" charset="0"/>
                <a:cs typeface="Tahoma" pitchFamily="34" charset="0"/>
              </a:defRPr>
            </a:lvl2pPr>
            <a:lvl3pPr marL="822960" indent="-228600" algn="l" rtl="0" eaLnBrk="1" latinLnBrk="0" hangingPunct="1">
              <a:spcBef>
                <a:spcPts val="500"/>
              </a:spcBef>
              <a:buClr>
                <a:schemeClr val="bg1">
                  <a:shade val="50000"/>
                </a:schemeClr>
              </a:buClr>
              <a:buSzPct val="76000"/>
              <a:buFont typeface="Wingdings 3"/>
              <a:buChar char=""/>
              <a:defRPr kumimoji="0" sz="1800" kern="1200">
                <a:solidFill>
                  <a:schemeClr val="tx1"/>
                </a:solidFill>
                <a:latin typeface="Tahoma" pitchFamily="34" charset="0"/>
                <a:ea typeface="Tahoma" pitchFamily="34" charset="0"/>
                <a:cs typeface="Tahoma" pitchFamily="34" charset="0"/>
              </a:defRPr>
            </a:lvl3pPr>
            <a:lvl4pPr marL="1097280" indent="-228600" algn="l" rtl="0" eaLnBrk="1" latinLnBrk="0" hangingPunct="1">
              <a:spcBef>
                <a:spcPts val="400"/>
              </a:spcBef>
              <a:buClr>
                <a:schemeClr val="accent2">
                  <a:shade val="75000"/>
                </a:schemeClr>
              </a:buClr>
              <a:buSzPct val="70000"/>
              <a:buFont typeface="Wingdings"/>
              <a:buChar char=""/>
              <a:defRPr kumimoji="0" sz="1600" kern="1200">
                <a:solidFill>
                  <a:schemeClr val="tx1"/>
                </a:solidFill>
                <a:latin typeface="Tahoma" pitchFamily="34" charset="0"/>
                <a:ea typeface="Tahoma" pitchFamily="34" charset="0"/>
                <a:cs typeface="Tahoma" pitchFamily="34" charset="0"/>
              </a:defRPr>
            </a:lvl4pPr>
            <a:lvl5pPr marL="1371600" indent="-228600" algn="l" rtl="0" eaLnBrk="1" latinLnBrk="0" hangingPunct="1">
              <a:spcBef>
                <a:spcPts val="300"/>
              </a:spcBef>
              <a:buClr>
                <a:schemeClr val="accent2"/>
              </a:buClr>
              <a:buSzPct val="70000"/>
              <a:buFont typeface="Wingdings"/>
              <a:buChar char=""/>
              <a:defRPr kumimoji="0" sz="1400" kern="1200">
                <a:solidFill>
                  <a:schemeClr val="tx1"/>
                </a:solidFill>
                <a:latin typeface="Tahoma" pitchFamily="34" charset="0"/>
                <a:ea typeface="Tahoma" pitchFamily="34" charset="0"/>
                <a:cs typeface="Tahoma" pitchFamily="34" charset="0"/>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buFont typeface="Wingdings" pitchFamily="2" charset="2"/>
              <a:buChar char="§"/>
            </a:pPr>
            <a:r>
              <a:rPr lang="en-US" sz="2000" dirty="0" err="1" smtClean="0"/>
              <a:t>Comp</a:t>
            </a:r>
            <a:r>
              <a:rPr lang="en-US" sz="1200" dirty="0" err="1" smtClean="0"/>
              <a:t>k</a:t>
            </a:r>
            <a:r>
              <a:rPr lang="en-US" sz="2000" dirty="0" smtClean="0"/>
              <a:t> </a:t>
            </a:r>
            <a:r>
              <a:rPr lang="en-US" sz="1600" dirty="0" smtClean="0"/>
              <a:t>: Computation cycles of the basic block k</a:t>
            </a:r>
          </a:p>
          <a:p>
            <a:pPr>
              <a:buFont typeface="Wingdings" pitchFamily="2" charset="2"/>
              <a:buChar char="§"/>
            </a:pPr>
            <a:r>
              <a:rPr lang="en-US" sz="2000" dirty="0" err="1" smtClean="0"/>
              <a:t>Mem</a:t>
            </a:r>
            <a:r>
              <a:rPr lang="en-US" sz="1200" dirty="0" err="1" smtClean="0"/>
              <a:t>k</a:t>
            </a:r>
            <a:r>
              <a:rPr lang="en-US" sz="2000" dirty="0" smtClean="0"/>
              <a:t> </a:t>
            </a:r>
            <a:r>
              <a:rPr lang="en-US" sz="1600" dirty="0" smtClean="0"/>
              <a:t>: Memory cycles of the </a:t>
            </a:r>
            <a:r>
              <a:rPr lang="en-US" sz="1600" dirty="0"/>
              <a:t>basic block </a:t>
            </a:r>
            <a:r>
              <a:rPr lang="en-US" sz="1600" dirty="0" smtClean="0"/>
              <a:t>k</a:t>
            </a:r>
            <a:endParaRPr lang="en-US" sz="1200" dirty="0"/>
          </a:p>
        </p:txBody>
      </p:sp>
    </p:spTree>
    <p:extLst>
      <p:ext uri="{BB962C8B-B14F-4D97-AF65-F5344CB8AC3E}">
        <p14:creationId xmlns:p14="http://schemas.microsoft.com/office/powerpoint/2010/main" val="3035623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0952"/>
          </a:xfrm>
        </p:spPr>
        <p:txBody>
          <a:bodyPr/>
          <a:lstStyle/>
          <a:p>
            <a:r>
              <a:rPr lang="en-US" dirty="0" smtClean="0"/>
              <a:t>Evaluation of C_0</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
        <p:nvSpPr>
          <p:cNvPr id="12" name="Rounded Rectangle 11"/>
          <p:cNvSpPr/>
          <p:nvPr/>
        </p:nvSpPr>
        <p:spPr>
          <a:xfrm>
            <a:off x="1524000" y="2788444"/>
            <a:ext cx="990600" cy="3048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000" dirty="0" smtClean="0"/>
              <a:t>C_0</a:t>
            </a:r>
            <a:endParaRPr lang="en-US" sz="2000" dirty="0"/>
          </a:p>
        </p:txBody>
      </p:sp>
      <p:cxnSp>
        <p:nvCxnSpPr>
          <p:cNvPr id="37" name="Straight Connector 36"/>
          <p:cNvCxnSpPr>
            <a:stCxn id="26" idx="0"/>
            <a:endCxn id="12" idx="2"/>
          </p:cNvCxnSpPr>
          <p:nvPr/>
        </p:nvCxnSpPr>
        <p:spPr>
          <a:xfrm flipV="1">
            <a:off x="666750" y="3093244"/>
            <a:ext cx="1352550" cy="1125778"/>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sp>
        <p:nvSpPr>
          <p:cNvPr id="26" name="Rounded Rectangle 25"/>
          <p:cNvSpPr/>
          <p:nvPr/>
        </p:nvSpPr>
        <p:spPr>
          <a:xfrm>
            <a:off x="304800" y="4219022"/>
            <a:ext cx="723900" cy="304800"/>
          </a:xfrm>
          <a:prstGeom prst="roundRect">
            <a:avLst>
              <a:gd name="adj" fmla="val 50000"/>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dirty="0" smtClean="0"/>
              <a:t>B_0</a:t>
            </a:r>
            <a:endParaRPr lang="en-US" sz="1200" dirty="0"/>
          </a:p>
        </p:txBody>
      </p:sp>
      <p:sp>
        <p:nvSpPr>
          <p:cNvPr id="27" name="Rounded Rectangle 26"/>
          <p:cNvSpPr/>
          <p:nvPr/>
        </p:nvSpPr>
        <p:spPr>
          <a:xfrm>
            <a:off x="1424872" y="4207688"/>
            <a:ext cx="723900" cy="304800"/>
          </a:xfrm>
          <a:prstGeom prst="roundRect">
            <a:avLst>
              <a:gd name="adj" fmla="val 50000"/>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dirty="0" smtClean="0"/>
              <a:t>B_1</a:t>
            </a:r>
            <a:endParaRPr lang="en-US" sz="1200" dirty="0"/>
          </a:p>
        </p:txBody>
      </p:sp>
      <p:sp>
        <p:nvSpPr>
          <p:cNvPr id="28" name="Rounded Rectangle 27"/>
          <p:cNvSpPr/>
          <p:nvPr/>
        </p:nvSpPr>
        <p:spPr>
          <a:xfrm>
            <a:off x="2544944" y="4207688"/>
            <a:ext cx="723900" cy="304800"/>
          </a:xfrm>
          <a:prstGeom prst="roundRect">
            <a:avLst>
              <a:gd name="adj" fmla="val 50000"/>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dirty="0" smtClean="0"/>
              <a:t>B_2</a:t>
            </a:r>
            <a:endParaRPr lang="en-US" sz="1200" dirty="0"/>
          </a:p>
        </p:txBody>
      </p:sp>
      <p:sp>
        <p:nvSpPr>
          <p:cNvPr id="29" name="Rounded Rectangle 28"/>
          <p:cNvSpPr/>
          <p:nvPr/>
        </p:nvSpPr>
        <p:spPr>
          <a:xfrm>
            <a:off x="3665016" y="4196354"/>
            <a:ext cx="723900" cy="304800"/>
          </a:xfrm>
          <a:prstGeom prst="roundRect">
            <a:avLst>
              <a:gd name="adj" fmla="val 50000"/>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dirty="0" smtClean="0"/>
              <a:t>B_3</a:t>
            </a:r>
            <a:endParaRPr lang="en-US" sz="1200" dirty="0"/>
          </a:p>
        </p:txBody>
      </p:sp>
      <p:sp>
        <p:nvSpPr>
          <p:cNvPr id="31" name="Rounded Rectangle 30"/>
          <p:cNvSpPr/>
          <p:nvPr/>
        </p:nvSpPr>
        <p:spPr>
          <a:xfrm>
            <a:off x="5905160" y="4222736"/>
            <a:ext cx="723900" cy="304800"/>
          </a:xfrm>
          <a:prstGeom prst="roundRect">
            <a:avLst>
              <a:gd name="adj" fmla="val 50000"/>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dirty="0" smtClean="0"/>
              <a:t>B_5</a:t>
            </a:r>
            <a:endParaRPr lang="en-US" sz="1200" dirty="0"/>
          </a:p>
        </p:txBody>
      </p:sp>
      <p:sp>
        <p:nvSpPr>
          <p:cNvPr id="32" name="Rounded Rectangle 31"/>
          <p:cNvSpPr/>
          <p:nvPr/>
        </p:nvSpPr>
        <p:spPr>
          <a:xfrm>
            <a:off x="7025232" y="4222736"/>
            <a:ext cx="723900" cy="304800"/>
          </a:xfrm>
          <a:prstGeom prst="roundRect">
            <a:avLst>
              <a:gd name="adj" fmla="val 50000"/>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dirty="0" smtClean="0"/>
              <a:t>B_6</a:t>
            </a:r>
            <a:endParaRPr lang="en-US" sz="1200" dirty="0"/>
          </a:p>
        </p:txBody>
      </p:sp>
      <p:sp>
        <p:nvSpPr>
          <p:cNvPr id="38" name="Rounded Rectangle 37"/>
          <p:cNvSpPr/>
          <p:nvPr/>
        </p:nvSpPr>
        <p:spPr>
          <a:xfrm>
            <a:off x="8145304" y="4211402"/>
            <a:ext cx="723900" cy="304800"/>
          </a:xfrm>
          <a:prstGeom prst="roundRect">
            <a:avLst>
              <a:gd name="adj" fmla="val 50000"/>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dirty="0" smtClean="0"/>
              <a:t>B_7</a:t>
            </a:r>
            <a:endParaRPr lang="en-US" sz="1200" dirty="0"/>
          </a:p>
        </p:txBody>
      </p:sp>
      <p:cxnSp>
        <p:nvCxnSpPr>
          <p:cNvPr id="39" name="Straight Connector 38"/>
          <p:cNvCxnSpPr>
            <a:stCxn id="27" idx="0"/>
            <a:endCxn id="12" idx="2"/>
          </p:cNvCxnSpPr>
          <p:nvPr/>
        </p:nvCxnSpPr>
        <p:spPr>
          <a:xfrm flipV="1">
            <a:off x="1786822" y="3093244"/>
            <a:ext cx="232478" cy="1114444"/>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cxnSp>
        <p:nvCxnSpPr>
          <p:cNvPr id="40" name="Straight Connector 39"/>
          <p:cNvCxnSpPr>
            <a:stCxn id="28" idx="0"/>
            <a:endCxn id="12" idx="2"/>
          </p:cNvCxnSpPr>
          <p:nvPr/>
        </p:nvCxnSpPr>
        <p:spPr>
          <a:xfrm flipH="1" flipV="1">
            <a:off x="2019300" y="3093244"/>
            <a:ext cx="887594" cy="1114444"/>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cxnSp>
        <p:nvCxnSpPr>
          <p:cNvPr id="41" name="Straight Connector 40"/>
          <p:cNvCxnSpPr>
            <a:stCxn id="29" idx="0"/>
            <a:endCxn id="12" idx="2"/>
          </p:cNvCxnSpPr>
          <p:nvPr/>
        </p:nvCxnSpPr>
        <p:spPr>
          <a:xfrm flipH="1" flipV="1">
            <a:off x="2019300" y="3093244"/>
            <a:ext cx="2007666" cy="1103110"/>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sp>
        <p:nvSpPr>
          <p:cNvPr id="44" name="Rounded Rectangle 43"/>
          <p:cNvSpPr/>
          <p:nvPr/>
        </p:nvSpPr>
        <p:spPr>
          <a:xfrm>
            <a:off x="6870337" y="2788444"/>
            <a:ext cx="990600" cy="3048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000" dirty="0" smtClean="0"/>
              <a:t>C_2</a:t>
            </a:r>
            <a:endParaRPr lang="en-US" sz="2000" dirty="0"/>
          </a:p>
        </p:txBody>
      </p:sp>
      <p:cxnSp>
        <p:nvCxnSpPr>
          <p:cNvPr id="45" name="Straight Connector 44"/>
          <p:cNvCxnSpPr>
            <a:endCxn id="44" idx="2"/>
          </p:cNvCxnSpPr>
          <p:nvPr/>
        </p:nvCxnSpPr>
        <p:spPr>
          <a:xfrm flipV="1">
            <a:off x="6248400" y="3093244"/>
            <a:ext cx="1117237" cy="1140826"/>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cxnSp>
        <p:nvCxnSpPr>
          <p:cNvPr id="50" name="Straight Connector 49"/>
          <p:cNvCxnSpPr>
            <a:endCxn id="44" idx="2"/>
          </p:cNvCxnSpPr>
          <p:nvPr/>
        </p:nvCxnSpPr>
        <p:spPr>
          <a:xfrm flipH="1" flipV="1">
            <a:off x="7365637" y="3093244"/>
            <a:ext cx="7088" cy="1127159"/>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cxnSp>
        <p:nvCxnSpPr>
          <p:cNvPr id="51" name="Straight Connector 50"/>
          <p:cNvCxnSpPr>
            <a:endCxn id="44" idx="2"/>
          </p:cNvCxnSpPr>
          <p:nvPr/>
        </p:nvCxnSpPr>
        <p:spPr>
          <a:xfrm flipH="1" flipV="1">
            <a:off x="7365637" y="3093244"/>
            <a:ext cx="1117237" cy="1114445"/>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cxnSp>
        <p:nvCxnSpPr>
          <p:cNvPr id="53" name="Straight Connector 52"/>
          <p:cNvCxnSpPr/>
          <p:nvPr/>
        </p:nvCxnSpPr>
        <p:spPr>
          <a:xfrm flipV="1">
            <a:off x="2019300" y="1878259"/>
            <a:ext cx="2459582" cy="904518"/>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cxnSp>
        <p:nvCxnSpPr>
          <p:cNvPr id="55" name="Straight Connector 54"/>
          <p:cNvCxnSpPr/>
          <p:nvPr/>
        </p:nvCxnSpPr>
        <p:spPr>
          <a:xfrm flipH="1" flipV="1">
            <a:off x="4478882" y="1878259"/>
            <a:ext cx="702355" cy="910185"/>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cxnSp>
        <p:nvCxnSpPr>
          <p:cNvPr id="56" name="Straight Connector 55"/>
          <p:cNvCxnSpPr/>
          <p:nvPr/>
        </p:nvCxnSpPr>
        <p:spPr>
          <a:xfrm>
            <a:off x="4478882" y="1878259"/>
            <a:ext cx="2886755" cy="904518"/>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sp>
        <p:nvSpPr>
          <p:cNvPr id="60" name="Rounded Rectangle 59"/>
          <p:cNvSpPr/>
          <p:nvPr/>
        </p:nvSpPr>
        <p:spPr>
          <a:xfrm>
            <a:off x="4819287" y="4207113"/>
            <a:ext cx="723900" cy="304800"/>
          </a:xfrm>
          <a:prstGeom prst="roundRect">
            <a:avLst>
              <a:gd name="adj" fmla="val 50000"/>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dirty="0" smtClean="0"/>
              <a:t>B_4</a:t>
            </a:r>
            <a:endParaRPr lang="en-US" sz="1200" dirty="0"/>
          </a:p>
        </p:txBody>
      </p:sp>
      <p:sp>
        <p:nvSpPr>
          <p:cNvPr id="61" name="Rounded Rectangle 60"/>
          <p:cNvSpPr/>
          <p:nvPr/>
        </p:nvSpPr>
        <p:spPr>
          <a:xfrm>
            <a:off x="4699182" y="2807683"/>
            <a:ext cx="990600" cy="3048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000" dirty="0" smtClean="0"/>
              <a:t>C_1</a:t>
            </a:r>
            <a:endParaRPr lang="en-US" sz="2000" dirty="0"/>
          </a:p>
        </p:txBody>
      </p:sp>
      <p:cxnSp>
        <p:nvCxnSpPr>
          <p:cNvPr id="62" name="Straight Connector 61"/>
          <p:cNvCxnSpPr>
            <a:endCxn id="61" idx="2"/>
          </p:cNvCxnSpPr>
          <p:nvPr/>
        </p:nvCxnSpPr>
        <p:spPr>
          <a:xfrm flipV="1">
            <a:off x="5179435" y="3112483"/>
            <a:ext cx="15047" cy="1094426"/>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sp>
        <p:nvSpPr>
          <p:cNvPr id="65" name="Oval 64"/>
          <p:cNvSpPr/>
          <p:nvPr/>
        </p:nvSpPr>
        <p:spPr>
          <a:xfrm>
            <a:off x="4114800" y="1295399"/>
            <a:ext cx="792321" cy="5715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C</a:t>
            </a:r>
            <a:r>
              <a:rPr lang="en-US" sz="1600" dirty="0" smtClean="0"/>
              <a:t>S</a:t>
            </a:r>
            <a:endParaRPr lang="en-US" sz="1600" dirty="0"/>
          </a:p>
        </p:txBody>
      </p:sp>
      <p:sp>
        <p:nvSpPr>
          <p:cNvPr id="33" name="Rectangle 32"/>
          <p:cNvSpPr/>
          <p:nvPr/>
        </p:nvSpPr>
        <p:spPr>
          <a:xfrm>
            <a:off x="4478882" y="2782776"/>
            <a:ext cx="4470739" cy="1842629"/>
          </a:xfrm>
          <a:prstGeom prst="rect">
            <a:avLst/>
          </a:prstGeom>
          <a:solidFill>
            <a:schemeClr val="bg1">
              <a:alpha val="81000"/>
            </a:schemeClr>
          </a:solidFill>
          <a:ln w="41275">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 name="Rectangle 33"/>
          <p:cNvSpPr/>
          <p:nvPr/>
        </p:nvSpPr>
        <p:spPr>
          <a:xfrm>
            <a:off x="1555048" y="1195590"/>
            <a:ext cx="6305889" cy="1600759"/>
          </a:xfrm>
          <a:prstGeom prst="rect">
            <a:avLst/>
          </a:prstGeom>
          <a:solidFill>
            <a:schemeClr val="bg1">
              <a:alpha val="81000"/>
            </a:schemeClr>
          </a:solidFill>
          <a:ln w="41275">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 name="TextBox 34"/>
          <p:cNvSpPr txBox="1"/>
          <p:nvPr/>
        </p:nvSpPr>
        <p:spPr>
          <a:xfrm>
            <a:off x="2556323" y="2756208"/>
            <a:ext cx="758122" cy="400110"/>
          </a:xfrm>
          <a:prstGeom prst="rect">
            <a:avLst/>
          </a:prstGeom>
          <a:noFill/>
        </p:spPr>
        <p:txBody>
          <a:bodyPr wrap="square" rtlCol="0">
            <a:spAutoFit/>
          </a:bodyPr>
          <a:lstStyle/>
          <a:p>
            <a:r>
              <a:rPr lang="en-US" sz="2000" dirty="0" smtClean="0">
                <a:solidFill>
                  <a:srgbClr val="FF0000"/>
                </a:solidFill>
              </a:rPr>
              <a:t>L</a:t>
            </a:r>
            <a:r>
              <a:rPr lang="en-US" sz="1400" dirty="0" smtClean="0">
                <a:solidFill>
                  <a:srgbClr val="FF0000"/>
                </a:solidFill>
              </a:rPr>
              <a:t>0</a:t>
            </a:r>
            <a:endParaRPr lang="en-US" sz="1400" dirty="0">
              <a:solidFill>
                <a:srgbClr val="FF0000"/>
              </a:solidFill>
            </a:endParaRPr>
          </a:p>
        </p:txBody>
      </p:sp>
      <p:sp>
        <p:nvSpPr>
          <p:cNvPr id="5" name="Content Placeholder 4"/>
          <p:cNvSpPr>
            <a:spLocks noGrp="1"/>
          </p:cNvSpPr>
          <p:nvPr>
            <p:ph idx="1"/>
          </p:nvPr>
        </p:nvSpPr>
        <p:spPr/>
        <p:txBody>
          <a:bodyPr/>
          <a:lstStyle/>
          <a:p>
            <a:endParaRPr lang="en-US"/>
          </a:p>
        </p:txBody>
      </p:sp>
    </p:spTree>
    <p:extLst>
      <p:ext uri="{BB962C8B-B14F-4D97-AF65-F5344CB8AC3E}">
        <p14:creationId xmlns:p14="http://schemas.microsoft.com/office/powerpoint/2010/main" val="285707982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15521"/>
          </a:xfrm>
        </p:spPr>
        <p:txBody>
          <a:bodyPr>
            <a:normAutofit/>
          </a:bodyPr>
          <a:lstStyle/>
          <a:p>
            <a:r>
              <a:rPr lang="en-US" dirty="0"/>
              <a:t>Evaluation of </a:t>
            </a:r>
            <a:r>
              <a:rPr lang="en-US" dirty="0" smtClean="0"/>
              <a:t>C_0</a:t>
            </a:r>
            <a:endParaRPr lang="en-US" dirty="0"/>
          </a:p>
        </p:txBody>
      </p:sp>
      <p:sp>
        <p:nvSpPr>
          <p:cNvPr id="4" name="Slide Number Placeholder 3"/>
          <p:cNvSpPr>
            <a:spLocks noGrp="1"/>
          </p:cNvSpPr>
          <p:nvPr>
            <p:ph type="sldNum" sz="quarter" idx="12"/>
          </p:nvPr>
        </p:nvSpPr>
        <p:spPr>
          <a:xfrm>
            <a:off x="6624495" y="6061243"/>
            <a:ext cx="2133600" cy="365125"/>
          </a:xfrm>
        </p:spPr>
        <p:txBody>
          <a:bodyPr/>
          <a:lstStyle/>
          <a:p>
            <a:fld id="{B6F15528-21DE-4FAA-801E-634DDDAF4B2B}" type="slidenum">
              <a:rPr lang="en-US" smtClean="0"/>
              <a:pPr/>
              <a:t>33</a:t>
            </a:fld>
            <a:endParaRPr lang="en-US"/>
          </a:p>
        </p:txBody>
      </p:sp>
      <p:grpSp>
        <p:nvGrpSpPr>
          <p:cNvPr id="43" name="Group 42"/>
          <p:cNvGrpSpPr/>
          <p:nvPr/>
        </p:nvGrpSpPr>
        <p:grpSpPr>
          <a:xfrm>
            <a:off x="977011" y="4110568"/>
            <a:ext cx="3662198" cy="366758"/>
            <a:chOff x="1676400" y="1843042"/>
            <a:chExt cx="3662198" cy="366758"/>
          </a:xfrm>
        </p:grpSpPr>
        <p:sp>
          <p:nvSpPr>
            <p:cNvPr id="8" name="Rounded Rectangle 7"/>
            <p:cNvSpPr/>
            <p:nvPr/>
          </p:nvSpPr>
          <p:spPr>
            <a:xfrm>
              <a:off x="1676400" y="1843044"/>
              <a:ext cx="614505" cy="366754"/>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B_0</a:t>
              </a:r>
              <a:endParaRPr lang="en-US" dirty="0"/>
            </a:p>
          </p:txBody>
        </p:sp>
        <p:sp>
          <p:nvSpPr>
            <p:cNvPr id="9" name="Rounded Rectangle 8"/>
            <p:cNvSpPr/>
            <p:nvPr/>
          </p:nvSpPr>
          <p:spPr>
            <a:xfrm>
              <a:off x="2890695" y="1843042"/>
              <a:ext cx="1204635" cy="366757"/>
            </a:xfrm>
            <a:prstGeom prst="roundRect">
              <a:avLst/>
            </a:prstGeom>
            <a:solidFill>
              <a:schemeClr val="tx2">
                <a:lumMod val="75000"/>
              </a:schemeClr>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smtClean="0"/>
                <a:t>B_1</a:t>
              </a:r>
              <a:endParaRPr lang="en-US" dirty="0"/>
            </a:p>
          </p:txBody>
        </p:sp>
        <p:sp>
          <p:nvSpPr>
            <p:cNvPr id="10" name="Rounded Rectangle 9"/>
            <p:cNvSpPr/>
            <p:nvPr/>
          </p:nvSpPr>
          <p:spPr>
            <a:xfrm>
              <a:off x="4098117" y="1843043"/>
              <a:ext cx="614505" cy="366757"/>
            </a:xfrm>
            <a:prstGeom prst="roundRect">
              <a:avLst/>
            </a:prstGeom>
            <a:solidFill>
              <a:schemeClr val="accent1"/>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B_2</a:t>
              </a:r>
              <a:endParaRPr lang="en-US" dirty="0"/>
            </a:p>
          </p:txBody>
        </p:sp>
        <p:sp>
          <p:nvSpPr>
            <p:cNvPr id="11" name="Rounded Rectangle 10"/>
            <p:cNvSpPr/>
            <p:nvPr/>
          </p:nvSpPr>
          <p:spPr>
            <a:xfrm>
              <a:off x="4724093" y="1843042"/>
              <a:ext cx="614505" cy="366757"/>
            </a:xfrm>
            <a:prstGeom prst="roundRect">
              <a:avLst/>
            </a:prstGeom>
            <a:solidFill>
              <a:srgbClr val="FF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B_3</a:t>
              </a:r>
              <a:endParaRPr lang="en-US" dirty="0"/>
            </a:p>
          </p:txBody>
        </p:sp>
      </p:grpSp>
      <p:grpSp>
        <p:nvGrpSpPr>
          <p:cNvPr id="44" name="Group 43"/>
          <p:cNvGrpSpPr/>
          <p:nvPr/>
        </p:nvGrpSpPr>
        <p:grpSpPr>
          <a:xfrm>
            <a:off x="1586611" y="4505810"/>
            <a:ext cx="4267200" cy="366758"/>
            <a:chOff x="2286000" y="2238284"/>
            <a:chExt cx="4267200" cy="366758"/>
          </a:xfrm>
        </p:grpSpPr>
        <p:sp>
          <p:nvSpPr>
            <p:cNvPr id="12" name="Rounded Rectangle 11"/>
            <p:cNvSpPr/>
            <p:nvPr/>
          </p:nvSpPr>
          <p:spPr>
            <a:xfrm>
              <a:off x="2286000" y="2238286"/>
              <a:ext cx="614505" cy="366754"/>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B_0</a:t>
              </a:r>
              <a:endParaRPr lang="en-US" dirty="0"/>
            </a:p>
          </p:txBody>
        </p:sp>
        <p:sp>
          <p:nvSpPr>
            <p:cNvPr id="13" name="Rounded Rectangle 12"/>
            <p:cNvSpPr/>
            <p:nvPr/>
          </p:nvSpPr>
          <p:spPr>
            <a:xfrm>
              <a:off x="4101518" y="2238284"/>
              <a:ext cx="1199730" cy="366757"/>
            </a:xfrm>
            <a:prstGeom prst="roundRect">
              <a:avLst/>
            </a:prstGeom>
            <a:solidFill>
              <a:schemeClr val="tx2">
                <a:lumMod val="75000"/>
              </a:schemeClr>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smtClean="0"/>
                <a:t>B_1</a:t>
              </a:r>
              <a:endParaRPr lang="en-US" dirty="0"/>
            </a:p>
          </p:txBody>
        </p:sp>
        <p:sp>
          <p:nvSpPr>
            <p:cNvPr id="14" name="Rounded Rectangle 13"/>
            <p:cNvSpPr/>
            <p:nvPr/>
          </p:nvSpPr>
          <p:spPr>
            <a:xfrm>
              <a:off x="5312719" y="2238285"/>
              <a:ext cx="614505" cy="366757"/>
            </a:xfrm>
            <a:prstGeom prst="roundRect">
              <a:avLst/>
            </a:prstGeom>
            <a:solidFill>
              <a:schemeClr val="accent1"/>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B_2</a:t>
              </a:r>
              <a:endParaRPr lang="en-US" dirty="0"/>
            </a:p>
          </p:txBody>
        </p:sp>
        <p:sp>
          <p:nvSpPr>
            <p:cNvPr id="15" name="Rounded Rectangle 14"/>
            <p:cNvSpPr/>
            <p:nvPr/>
          </p:nvSpPr>
          <p:spPr>
            <a:xfrm>
              <a:off x="5938695" y="2238284"/>
              <a:ext cx="614505" cy="366757"/>
            </a:xfrm>
            <a:prstGeom prst="roundRect">
              <a:avLst/>
            </a:prstGeom>
            <a:solidFill>
              <a:srgbClr val="FF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B_3</a:t>
              </a:r>
              <a:endParaRPr lang="en-US" dirty="0"/>
            </a:p>
          </p:txBody>
        </p:sp>
      </p:grpSp>
      <p:grpSp>
        <p:nvGrpSpPr>
          <p:cNvPr id="45" name="Group 44"/>
          <p:cNvGrpSpPr/>
          <p:nvPr/>
        </p:nvGrpSpPr>
        <p:grpSpPr>
          <a:xfrm>
            <a:off x="2191306" y="4883851"/>
            <a:ext cx="4870233" cy="366760"/>
            <a:chOff x="2902167" y="2605040"/>
            <a:chExt cx="4870233" cy="366760"/>
          </a:xfrm>
        </p:grpSpPr>
        <p:sp>
          <p:nvSpPr>
            <p:cNvPr id="16" name="Rounded Rectangle 15"/>
            <p:cNvSpPr/>
            <p:nvPr/>
          </p:nvSpPr>
          <p:spPr>
            <a:xfrm>
              <a:off x="5320718" y="2605042"/>
              <a:ext cx="1199730" cy="366757"/>
            </a:xfrm>
            <a:prstGeom prst="roundRect">
              <a:avLst/>
            </a:prstGeom>
            <a:solidFill>
              <a:schemeClr val="tx2">
                <a:lumMod val="75000"/>
              </a:schemeClr>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smtClean="0"/>
                <a:t>B_1</a:t>
              </a:r>
              <a:endParaRPr lang="en-US" dirty="0"/>
            </a:p>
          </p:txBody>
        </p:sp>
        <p:sp>
          <p:nvSpPr>
            <p:cNvPr id="17" name="Rounded Rectangle 16"/>
            <p:cNvSpPr/>
            <p:nvPr/>
          </p:nvSpPr>
          <p:spPr>
            <a:xfrm>
              <a:off x="6531919" y="2605043"/>
              <a:ext cx="614505" cy="366757"/>
            </a:xfrm>
            <a:prstGeom prst="roundRect">
              <a:avLst/>
            </a:prstGeom>
            <a:solidFill>
              <a:schemeClr val="accent1"/>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B_2</a:t>
              </a:r>
              <a:endParaRPr lang="en-US" dirty="0"/>
            </a:p>
          </p:txBody>
        </p:sp>
        <p:sp>
          <p:nvSpPr>
            <p:cNvPr id="18" name="Rounded Rectangle 17"/>
            <p:cNvSpPr/>
            <p:nvPr/>
          </p:nvSpPr>
          <p:spPr>
            <a:xfrm>
              <a:off x="7157895" y="2605042"/>
              <a:ext cx="614505" cy="366757"/>
            </a:xfrm>
            <a:prstGeom prst="roundRect">
              <a:avLst/>
            </a:prstGeom>
            <a:solidFill>
              <a:srgbClr val="FF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B_3</a:t>
              </a:r>
              <a:endParaRPr lang="en-US" dirty="0"/>
            </a:p>
          </p:txBody>
        </p:sp>
        <p:sp>
          <p:nvSpPr>
            <p:cNvPr id="19" name="Rounded Rectangle 18"/>
            <p:cNvSpPr/>
            <p:nvPr/>
          </p:nvSpPr>
          <p:spPr>
            <a:xfrm>
              <a:off x="2902167" y="2605040"/>
              <a:ext cx="614505" cy="366754"/>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B_0</a:t>
              </a:r>
              <a:endParaRPr lang="en-US" dirty="0"/>
            </a:p>
          </p:txBody>
        </p:sp>
      </p:grpSp>
      <p:grpSp>
        <p:nvGrpSpPr>
          <p:cNvPr id="42" name="Group 41"/>
          <p:cNvGrpSpPr/>
          <p:nvPr/>
        </p:nvGrpSpPr>
        <p:grpSpPr>
          <a:xfrm>
            <a:off x="359719" y="3733800"/>
            <a:ext cx="3035096" cy="366758"/>
            <a:chOff x="1059108" y="1466274"/>
            <a:chExt cx="3035096" cy="366758"/>
          </a:xfrm>
        </p:grpSpPr>
        <p:sp>
          <p:nvSpPr>
            <p:cNvPr id="37" name="Rounded Rectangle 36"/>
            <p:cNvSpPr/>
            <p:nvPr/>
          </p:nvSpPr>
          <p:spPr>
            <a:xfrm>
              <a:off x="1059108" y="1466276"/>
              <a:ext cx="607940" cy="366754"/>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B_0</a:t>
              </a:r>
              <a:endParaRPr lang="en-US" dirty="0"/>
            </a:p>
          </p:txBody>
        </p:sp>
        <p:sp>
          <p:nvSpPr>
            <p:cNvPr id="38" name="Rounded Rectangle 37"/>
            <p:cNvSpPr/>
            <p:nvPr/>
          </p:nvSpPr>
          <p:spPr>
            <a:xfrm>
              <a:off x="1687187" y="1466274"/>
              <a:ext cx="1203508" cy="366757"/>
            </a:xfrm>
            <a:prstGeom prst="roundRect">
              <a:avLst/>
            </a:prstGeom>
            <a:solidFill>
              <a:schemeClr val="tx2">
                <a:lumMod val="75000"/>
              </a:schemeClr>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smtClean="0"/>
                <a:t>B_1</a:t>
              </a:r>
              <a:endParaRPr lang="en-US" dirty="0"/>
            </a:p>
          </p:txBody>
        </p:sp>
        <p:sp>
          <p:nvSpPr>
            <p:cNvPr id="39" name="Rounded Rectangle 38"/>
            <p:cNvSpPr/>
            <p:nvPr/>
          </p:nvSpPr>
          <p:spPr>
            <a:xfrm>
              <a:off x="2890695" y="1466275"/>
              <a:ext cx="614505" cy="366757"/>
            </a:xfrm>
            <a:prstGeom prst="roundRect">
              <a:avLst/>
            </a:prstGeom>
            <a:solidFill>
              <a:schemeClr val="accent1"/>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B_2</a:t>
              </a:r>
              <a:endParaRPr lang="en-US" dirty="0"/>
            </a:p>
          </p:txBody>
        </p:sp>
        <p:sp>
          <p:nvSpPr>
            <p:cNvPr id="40" name="Rounded Rectangle 39"/>
            <p:cNvSpPr/>
            <p:nvPr/>
          </p:nvSpPr>
          <p:spPr>
            <a:xfrm>
              <a:off x="3516672" y="1466274"/>
              <a:ext cx="577532" cy="366757"/>
            </a:xfrm>
            <a:prstGeom prst="roundRect">
              <a:avLst/>
            </a:prstGeom>
            <a:solidFill>
              <a:srgbClr val="FF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B_3</a:t>
              </a:r>
              <a:endParaRPr lang="en-US" dirty="0"/>
            </a:p>
          </p:txBody>
        </p:sp>
      </p:grpSp>
      <p:grpSp>
        <p:nvGrpSpPr>
          <p:cNvPr id="61" name="Group 60"/>
          <p:cNvGrpSpPr/>
          <p:nvPr/>
        </p:nvGrpSpPr>
        <p:grpSpPr>
          <a:xfrm>
            <a:off x="2798119" y="5245843"/>
            <a:ext cx="5507681" cy="374477"/>
            <a:chOff x="2819400" y="2978317"/>
            <a:chExt cx="5507681" cy="374477"/>
          </a:xfrm>
        </p:grpSpPr>
        <p:sp>
          <p:nvSpPr>
            <p:cNvPr id="52" name="Rounded Rectangle 51"/>
            <p:cNvSpPr/>
            <p:nvPr/>
          </p:nvSpPr>
          <p:spPr>
            <a:xfrm>
              <a:off x="5828370" y="2978317"/>
              <a:ext cx="1254449" cy="366757"/>
            </a:xfrm>
            <a:prstGeom prst="roundRect">
              <a:avLst/>
            </a:prstGeom>
            <a:solidFill>
              <a:schemeClr val="tx2">
                <a:lumMod val="75000"/>
              </a:schemeClr>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smtClean="0"/>
                <a:t>B_1</a:t>
              </a:r>
              <a:endParaRPr lang="en-US" dirty="0"/>
            </a:p>
          </p:txBody>
        </p:sp>
        <p:sp>
          <p:nvSpPr>
            <p:cNvPr id="53" name="Rounded Rectangle 52"/>
            <p:cNvSpPr/>
            <p:nvPr/>
          </p:nvSpPr>
          <p:spPr>
            <a:xfrm>
              <a:off x="7086600" y="2978318"/>
              <a:ext cx="614505" cy="366757"/>
            </a:xfrm>
            <a:prstGeom prst="roundRect">
              <a:avLst/>
            </a:prstGeom>
            <a:solidFill>
              <a:schemeClr val="accent1"/>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B_2</a:t>
              </a:r>
              <a:endParaRPr lang="en-US" dirty="0"/>
            </a:p>
          </p:txBody>
        </p:sp>
        <p:sp>
          <p:nvSpPr>
            <p:cNvPr id="54" name="Rounded Rectangle 53"/>
            <p:cNvSpPr/>
            <p:nvPr/>
          </p:nvSpPr>
          <p:spPr>
            <a:xfrm>
              <a:off x="7712576" y="2978317"/>
              <a:ext cx="614505" cy="366757"/>
            </a:xfrm>
            <a:prstGeom prst="roundRect">
              <a:avLst/>
            </a:prstGeom>
            <a:solidFill>
              <a:srgbClr val="FF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B_3</a:t>
              </a:r>
              <a:endParaRPr lang="en-US" dirty="0"/>
            </a:p>
          </p:txBody>
        </p:sp>
        <p:sp>
          <p:nvSpPr>
            <p:cNvPr id="55" name="Rounded Rectangle 54"/>
            <p:cNvSpPr/>
            <p:nvPr/>
          </p:nvSpPr>
          <p:spPr>
            <a:xfrm>
              <a:off x="2819400" y="2986040"/>
              <a:ext cx="614505" cy="366754"/>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B_0</a:t>
              </a:r>
              <a:endParaRPr lang="en-US" dirty="0"/>
            </a:p>
          </p:txBody>
        </p:sp>
      </p:grpSp>
      <p:sp>
        <p:nvSpPr>
          <p:cNvPr id="51" name="Content Placeholder 50"/>
          <p:cNvSpPr>
            <a:spLocks noGrp="1"/>
          </p:cNvSpPr>
          <p:nvPr>
            <p:ph idx="1"/>
          </p:nvPr>
        </p:nvSpPr>
        <p:spPr>
          <a:xfrm>
            <a:off x="1496735" y="5748477"/>
            <a:ext cx="5055938" cy="843580"/>
          </a:xfrm>
        </p:spPr>
        <p:txBody>
          <a:bodyPr>
            <a:normAutofit fontScale="92500"/>
          </a:bodyPr>
          <a:lstStyle/>
          <a:p>
            <a:pPr marL="0" indent="0">
              <a:buNone/>
            </a:pPr>
            <a:r>
              <a:rPr lang="en-US" dirty="0" smtClean="0"/>
              <a:t>C_0 = B_0 + 5*B_1 + B_2 + B_3</a:t>
            </a:r>
            <a:endParaRPr lang="en-US" dirty="0"/>
          </a:p>
        </p:txBody>
      </p:sp>
      <p:sp>
        <p:nvSpPr>
          <p:cNvPr id="64" name="Content Placeholder 2"/>
          <p:cNvSpPr txBox="1">
            <a:spLocks/>
          </p:cNvSpPr>
          <p:nvPr/>
        </p:nvSpPr>
        <p:spPr>
          <a:xfrm>
            <a:off x="3705980" y="3442726"/>
            <a:ext cx="5417174" cy="461665"/>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400" dirty="0" smtClean="0">
                <a:solidFill>
                  <a:srgbClr val="FF0000"/>
                </a:solidFill>
                <a:latin typeface="Comic Sans MS" panose="030F0702030302020204" pitchFamily="66" charset="0"/>
              </a:rPr>
              <a:t>Unbalanced, B_1 is the bottleneck!</a:t>
            </a:r>
          </a:p>
        </p:txBody>
      </p:sp>
      <p:cxnSp>
        <p:nvCxnSpPr>
          <p:cNvPr id="65" name="Straight Arrow Connector 76"/>
          <p:cNvCxnSpPr>
            <a:cxnSpLocks noChangeShapeType="1"/>
          </p:cNvCxnSpPr>
          <p:nvPr/>
        </p:nvCxnSpPr>
        <p:spPr bwMode="auto">
          <a:xfrm flipH="1">
            <a:off x="4188973" y="3842986"/>
            <a:ext cx="1788059" cy="773934"/>
          </a:xfrm>
          <a:prstGeom prst="straightConnector1">
            <a:avLst/>
          </a:prstGeom>
          <a:noFill/>
          <a:ln w="25400" algn="ctr">
            <a:solidFill>
              <a:srgbClr val="FF0000"/>
            </a:solidFill>
            <a:prstDash val="sysDash"/>
            <a:round/>
            <a:headEnd/>
            <a:tailEnd type="arrow" w="med" len="med"/>
          </a:ln>
          <a:extLst>
            <a:ext uri="{909E8E84-426E-40dd-AFC4-6F175D3DCCD1}">
              <a14:hiddenFill xmlns:a14="http://schemas.microsoft.com/office/drawing/2010/main" xmlns="">
                <a:noFill/>
              </a14:hiddenFill>
            </a:ext>
          </a:extLst>
        </p:spPr>
      </p:cxnSp>
      <p:sp>
        <p:nvSpPr>
          <p:cNvPr id="32" name="Rounded Rectangle 31"/>
          <p:cNvSpPr/>
          <p:nvPr/>
        </p:nvSpPr>
        <p:spPr>
          <a:xfrm>
            <a:off x="3979247" y="1139000"/>
            <a:ext cx="990600" cy="3048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000" dirty="0" smtClean="0"/>
              <a:t>C_0</a:t>
            </a:r>
            <a:endParaRPr lang="en-US" sz="2000" dirty="0"/>
          </a:p>
        </p:txBody>
      </p:sp>
      <p:cxnSp>
        <p:nvCxnSpPr>
          <p:cNvPr id="33" name="Straight Connector 32"/>
          <p:cNvCxnSpPr>
            <a:stCxn id="34" idx="0"/>
            <a:endCxn id="32" idx="2"/>
          </p:cNvCxnSpPr>
          <p:nvPr/>
        </p:nvCxnSpPr>
        <p:spPr>
          <a:xfrm flipV="1">
            <a:off x="3121997" y="1443800"/>
            <a:ext cx="1352550" cy="1125778"/>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sp>
        <p:nvSpPr>
          <p:cNvPr id="34" name="Rounded Rectangle 33"/>
          <p:cNvSpPr/>
          <p:nvPr/>
        </p:nvSpPr>
        <p:spPr>
          <a:xfrm>
            <a:off x="2760047" y="2569578"/>
            <a:ext cx="723900" cy="304800"/>
          </a:xfrm>
          <a:prstGeom prst="roundRect">
            <a:avLst>
              <a:gd name="adj" fmla="val 50000"/>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B_0</a:t>
            </a:r>
          </a:p>
        </p:txBody>
      </p:sp>
      <p:sp>
        <p:nvSpPr>
          <p:cNvPr id="35" name="Rounded Rectangle 34"/>
          <p:cNvSpPr/>
          <p:nvPr/>
        </p:nvSpPr>
        <p:spPr>
          <a:xfrm>
            <a:off x="3880119" y="2558244"/>
            <a:ext cx="723900" cy="304800"/>
          </a:xfrm>
          <a:prstGeom prst="roundRect">
            <a:avLst>
              <a:gd name="adj" fmla="val 50000"/>
            </a:avLst>
          </a:prstGeom>
          <a:solidFill>
            <a:schemeClr val="tx2">
              <a:lumMod val="75000"/>
            </a:schemeClr>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a:t>B_1</a:t>
            </a:r>
          </a:p>
        </p:txBody>
      </p:sp>
      <p:sp>
        <p:nvSpPr>
          <p:cNvPr id="36" name="Rounded Rectangle 35"/>
          <p:cNvSpPr/>
          <p:nvPr/>
        </p:nvSpPr>
        <p:spPr>
          <a:xfrm>
            <a:off x="5000191" y="2558244"/>
            <a:ext cx="723900" cy="304800"/>
          </a:xfrm>
          <a:prstGeom prst="roundRect">
            <a:avLst>
              <a:gd name="adj" fmla="val 50000"/>
            </a:avLst>
          </a:prstGeom>
          <a:solidFill>
            <a:schemeClr val="accent1"/>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B_2</a:t>
            </a:r>
          </a:p>
        </p:txBody>
      </p:sp>
      <p:sp>
        <p:nvSpPr>
          <p:cNvPr id="41" name="Rounded Rectangle 40"/>
          <p:cNvSpPr/>
          <p:nvPr/>
        </p:nvSpPr>
        <p:spPr>
          <a:xfrm>
            <a:off x="6120263" y="2546910"/>
            <a:ext cx="723900" cy="304800"/>
          </a:xfrm>
          <a:prstGeom prst="roundRect">
            <a:avLst>
              <a:gd name="adj" fmla="val 50000"/>
            </a:avLst>
          </a:prstGeom>
          <a:solidFill>
            <a:srgbClr val="FF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B_3</a:t>
            </a:r>
          </a:p>
        </p:txBody>
      </p:sp>
      <p:cxnSp>
        <p:nvCxnSpPr>
          <p:cNvPr id="46" name="Straight Connector 45"/>
          <p:cNvCxnSpPr>
            <a:stCxn id="35" idx="0"/>
            <a:endCxn id="32" idx="2"/>
          </p:cNvCxnSpPr>
          <p:nvPr/>
        </p:nvCxnSpPr>
        <p:spPr>
          <a:xfrm flipV="1">
            <a:off x="4242069" y="1443800"/>
            <a:ext cx="232478" cy="1114444"/>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cxnSp>
        <p:nvCxnSpPr>
          <p:cNvPr id="47" name="Straight Connector 46"/>
          <p:cNvCxnSpPr>
            <a:stCxn id="36" idx="0"/>
            <a:endCxn id="32" idx="2"/>
          </p:cNvCxnSpPr>
          <p:nvPr/>
        </p:nvCxnSpPr>
        <p:spPr>
          <a:xfrm flipH="1" flipV="1">
            <a:off x="4474547" y="1443800"/>
            <a:ext cx="887594" cy="1114444"/>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cxnSp>
        <p:nvCxnSpPr>
          <p:cNvPr id="48" name="Straight Connector 47"/>
          <p:cNvCxnSpPr>
            <a:stCxn id="41" idx="0"/>
            <a:endCxn id="32" idx="2"/>
          </p:cNvCxnSpPr>
          <p:nvPr/>
        </p:nvCxnSpPr>
        <p:spPr>
          <a:xfrm flipH="1" flipV="1">
            <a:off x="4474547" y="1443800"/>
            <a:ext cx="2007666" cy="1103110"/>
          </a:xfrm>
          <a:prstGeom prst="line">
            <a:avLst/>
          </a:prstGeom>
          <a:ln w="25400">
            <a:solidFill>
              <a:schemeClr val="tx1"/>
            </a:solidFill>
          </a:ln>
        </p:spPr>
        <p:style>
          <a:lnRef idx="1">
            <a:schemeClr val="accent3"/>
          </a:lnRef>
          <a:fillRef idx="2">
            <a:schemeClr val="accent3"/>
          </a:fillRef>
          <a:effectRef idx="1">
            <a:schemeClr val="accent3"/>
          </a:effectRef>
          <a:fontRef idx="minor">
            <a:schemeClr val="dk1"/>
          </a:fontRef>
        </p:style>
      </p:cxnSp>
      <p:sp>
        <p:nvSpPr>
          <p:cNvPr id="49" name="TextBox 48"/>
          <p:cNvSpPr txBox="1"/>
          <p:nvPr/>
        </p:nvSpPr>
        <p:spPr>
          <a:xfrm>
            <a:off x="5011570" y="1106764"/>
            <a:ext cx="758122" cy="400110"/>
          </a:xfrm>
          <a:prstGeom prst="rect">
            <a:avLst/>
          </a:prstGeom>
          <a:noFill/>
        </p:spPr>
        <p:txBody>
          <a:bodyPr wrap="square" rtlCol="0">
            <a:spAutoFit/>
          </a:bodyPr>
          <a:lstStyle/>
          <a:p>
            <a:r>
              <a:rPr lang="en-US" sz="2000" dirty="0" smtClean="0">
                <a:solidFill>
                  <a:srgbClr val="FF0000"/>
                </a:solidFill>
              </a:rPr>
              <a:t>L</a:t>
            </a:r>
            <a:r>
              <a:rPr lang="en-US" sz="1400" dirty="0" smtClean="0">
                <a:solidFill>
                  <a:srgbClr val="FF0000"/>
                </a:solidFill>
              </a:rPr>
              <a:t>0 </a:t>
            </a:r>
            <a:r>
              <a:rPr lang="en-US" sz="2000" dirty="0" smtClean="0">
                <a:solidFill>
                  <a:srgbClr val="FF0000"/>
                </a:solidFill>
              </a:rPr>
              <a:t>= 5</a:t>
            </a:r>
            <a:endParaRPr lang="en-US" sz="2000" dirty="0">
              <a:solidFill>
                <a:srgbClr val="FF0000"/>
              </a:solidFill>
            </a:endParaRPr>
          </a:p>
        </p:txBody>
      </p:sp>
    </p:spTree>
    <p:extLst>
      <p:ext uri="{BB962C8B-B14F-4D97-AF65-F5344CB8AC3E}">
        <p14:creationId xmlns:p14="http://schemas.microsoft.com/office/powerpoint/2010/main" val="1305783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ppt_x"/>
                                          </p:val>
                                        </p:tav>
                                        <p:tav tm="100000">
                                          <p:val>
                                            <p:strVal val="#ppt_x"/>
                                          </p:val>
                                        </p:tav>
                                      </p:tavLst>
                                    </p:anim>
                                    <p:anim calcmode="lin" valueType="num">
                                      <p:cBhvr additive="base">
                                        <p:cTn id="8" dur="500" fill="hold"/>
                                        <p:tgtEl>
                                          <p:spTgt spid="4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500" fill="hold"/>
                                        <p:tgtEl>
                                          <p:spTgt spid="44"/>
                                        </p:tgtEl>
                                        <p:attrNameLst>
                                          <p:attrName>ppt_x</p:attrName>
                                        </p:attrNameLst>
                                      </p:cBhvr>
                                      <p:tavLst>
                                        <p:tav tm="0">
                                          <p:val>
                                            <p:strVal val="#ppt_x"/>
                                          </p:val>
                                        </p:tav>
                                        <p:tav tm="100000">
                                          <p:val>
                                            <p:strVal val="#ppt_x"/>
                                          </p:val>
                                        </p:tav>
                                      </p:tavLst>
                                    </p:anim>
                                    <p:anim calcmode="lin" valueType="num">
                                      <p:cBhvr additive="base">
                                        <p:cTn id="12" dur="500" fill="hold"/>
                                        <p:tgtEl>
                                          <p:spTgt spid="4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5"/>
                                        </p:tgtEl>
                                        <p:attrNameLst>
                                          <p:attrName>style.visibility</p:attrName>
                                        </p:attrNameLst>
                                      </p:cBhvr>
                                      <p:to>
                                        <p:strVal val="visible"/>
                                      </p:to>
                                    </p:set>
                                    <p:anim calcmode="lin" valueType="num">
                                      <p:cBhvr additive="base">
                                        <p:cTn id="15" dur="500" fill="hold"/>
                                        <p:tgtEl>
                                          <p:spTgt spid="45"/>
                                        </p:tgtEl>
                                        <p:attrNameLst>
                                          <p:attrName>ppt_x</p:attrName>
                                        </p:attrNameLst>
                                      </p:cBhvr>
                                      <p:tavLst>
                                        <p:tav tm="0">
                                          <p:val>
                                            <p:strVal val="#ppt_x"/>
                                          </p:val>
                                        </p:tav>
                                        <p:tav tm="100000">
                                          <p:val>
                                            <p:strVal val="#ppt_x"/>
                                          </p:val>
                                        </p:tav>
                                      </p:tavLst>
                                    </p:anim>
                                    <p:anim calcmode="lin" valueType="num">
                                      <p:cBhvr additive="base">
                                        <p:cTn id="16" dur="500" fill="hold"/>
                                        <p:tgtEl>
                                          <p:spTgt spid="4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fill="hold"/>
                                        <p:tgtEl>
                                          <p:spTgt spid="42"/>
                                        </p:tgtEl>
                                        <p:attrNameLst>
                                          <p:attrName>ppt_x</p:attrName>
                                        </p:attrNameLst>
                                      </p:cBhvr>
                                      <p:tavLst>
                                        <p:tav tm="0">
                                          <p:val>
                                            <p:strVal val="#ppt_x"/>
                                          </p:val>
                                        </p:tav>
                                        <p:tav tm="100000">
                                          <p:val>
                                            <p:strVal val="#ppt_x"/>
                                          </p:val>
                                        </p:tav>
                                      </p:tavLst>
                                    </p:anim>
                                    <p:anim calcmode="lin" valueType="num">
                                      <p:cBhvr additive="base">
                                        <p:cTn id="20" dur="500" fill="hold"/>
                                        <p:tgtEl>
                                          <p:spTgt spid="42"/>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1"/>
                                        </p:tgtEl>
                                        <p:attrNameLst>
                                          <p:attrName>style.visibility</p:attrName>
                                        </p:attrNameLst>
                                      </p:cBhvr>
                                      <p:to>
                                        <p:strVal val="visible"/>
                                      </p:to>
                                    </p:set>
                                    <p:anim calcmode="lin" valueType="num">
                                      <p:cBhvr additive="base">
                                        <p:cTn id="23" dur="500" fill="hold"/>
                                        <p:tgtEl>
                                          <p:spTgt spid="61"/>
                                        </p:tgtEl>
                                        <p:attrNameLst>
                                          <p:attrName>ppt_x</p:attrName>
                                        </p:attrNameLst>
                                      </p:cBhvr>
                                      <p:tavLst>
                                        <p:tav tm="0">
                                          <p:val>
                                            <p:strVal val="#ppt_x"/>
                                          </p:val>
                                        </p:tav>
                                        <p:tav tm="100000">
                                          <p:val>
                                            <p:strVal val="#ppt_x"/>
                                          </p:val>
                                        </p:tav>
                                      </p:tavLst>
                                    </p:anim>
                                    <p:anim calcmode="lin" valueType="num">
                                      <p:cBhvr additive="base">
                                        <p:cTn id="24"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1">
                                            <p:txEl>
                                              <p:pRg st="0" end="0"/>
                                            </p:txEl>
                                          </p:spTgt>
                                        </p:tgtEl>
                                        <p:attrNameLst>
                                          <p:attrName>style.visibility</p:attrName>
                                        </p:attrNameLst>
                                      </p:cBhvr>
                                      <p:to>
                                        <p:strVal val="visible"/>
                                      </p:to>
                                    </p:set>
                                    <p:anim calcmode="lin" valueType="num">
                                      <p:cBhvr additive="base">
                                        <p:cTn id="29" dur="500" fill="hold"/>
                                        <p:tgtEl>
                                          <p:spTgt spid="51">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64"/>
                                        </p:tgtEl>
                                        <p:attrNameLst>
                                          <p:attrName>style.visibility</p:attrName>
                                        </p:attrNameLst>
                                      </p:cBhvr>
                                      <p:to>
                                        <p:strVal val="visible"/>
                                      </p:to>
                                    </p:set>
                                    <p:anim calcmode="lin" valueType="num">
                                      <p:cBhvr additive="base">
                                        <p:cTn id="35" dur="300" fill="hold"/>
                                        <p:tgtEl>
                                          <p:spTgt spid="64"/>
                                        </p:tgtEl>
                                        <p:attrNameLst>
                                          <p:attrName>ppt_x</p:attrName>
                                        </p:attrNameLst>
                                      </p:cBhvr>
                                      <p:tavLst>
                                        <p:tav tm="0">
                                          <p:val>
                                            <p:strVal val="#ppt_x"/>
                                          </p:val>
                                        </p:tav>
                                        <p:tav tm="100000">
                                          <p:val>
                                            <p:strVal val="#ppt_x"/>
                                          </p:val>
                                        </p:tav>
                                      </p:tavLst>
                                    </p:anim>
                                    <p:anim calcmode="lin" valueType="num">
                                      <p:cBhvr additive="base">
                                        <p:cTn id="36" dur="300" fill="hold"/>
                                        <p:tgtEl>
                                          <p:spTgt spid="64"/>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5"/>
                                        </p:tgtEl>
                                        <p:attrNameLst>
                                          <p:attrName>style.visibility</p:attrName>
                                        </p:attrNameLst>
                                      </p:cBhvr>
                                      <p:to>
                                        <p:strVal val="visible"/>
                                      </p:to>
                                    </p:set>
                                    <p:anim calcmode="lin" valueType="num">
                                      <p:cBhvr additive="base">
                                        <p:cTn id="39" dur="500" fill="hold"/>
                                        <p:tgtEl>
                                          <p:spTgt spid="65"/>
                                        </p:tgtEl>
                                        <p:attrNameLst>
                                          <p:attrName>ppt_x</p:attrName>
                                        </p:attrNameLst>
                                      </p:cBhvr>
                                      <p:tavLst>
                                        <p:tav tm="0">
                                          <p:val>
                                            <p:strVal val="#ppt_x"/>
                                          </p:val>
                                        </p:tav>
                                        <p:tav tm="100000">
                                          <p:val>
                                            <p:strVal val="#ppt_x"/>
                                          </p:val>
                                        </p:tav>
                                      </p:tavLst>
                                    </p:anim>
                                    <p:anim calcmode="lin" valueType="num">
                                      <p:cBhvr additive="base">
                                        <p:cTn id="40"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uild="p"/>
      <p:bldP spid="6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67808"/>
          </a:xfrm>
        </p:spPr>
        <p:txBody>
          <a:bodyPr/>
          <a:lstStyle/>
          <a:p>
            <a:r>
              <a:rPr lang="en-US" dirty="0" smtClean="0"/>
              <a:t>Performance Potential Advisor</a:t>
            </a:r>
            <a:endParaRPr lang="en-US" dirty="0"/>
          </a:p>
        </p:txBody>
      </p:sp>
      <p:sp>
        <p:nvSpPr>
          <p:cNvPr id="3" name="Content Placeholder 2"/>
          <p:cNvSpPr>
            <a:spLocks noGrp="1"/>
          </p:cNvSpPr>
          <p:nvPr>
            <p:ph idx="1"/>
          </p:nvPr>
        </p:nvSpPr>
        <p:spPr>
          <a:xfrm>
            <a:off x="457200" y="1369471"/>
            <a:ext cx="8229600" cy="5135562"/>
          </a:xfrm>
        </p:spPr>
        <p:txBody>
          <a:bodyPr>
            <a:normAutofit/>
          </a:bodyPr>
          <a:lstStyle/>
          <a:p>
            <a:r>
              <a:rPr lang="en-US" i="1" dirty="0" err="1" smtClean="0"/>
              <a:t>B</a:t>
            </a:r>
            <a:r>
              <a:rPr lang="en-US" sz="2000" i="1" baseline="-25000" dirty="0" err="1" smtClean="0"/>
              <a:t>comp</a:t>
            </a:r>
            <a:r>
              <a:rPr lang="en-US" dirty="0" smtClean="0"/>
              <a:t>:  high </a:t>
            </a:r>
            <a:r>
              <a:rPr lang="en-US" dirty="0" smtClean="0">
                <a:sym typeface="Wingdings" panose="05000000000000000000" pitchFamily="2" charset="2"/>
              </a:rPr>
              <a:t> </a:t>
            </a:r>
            <a:r>
              <a:rPr lang="en-US" dirty="0" smtClean="0"/>
              <a:t> FPGA resource </a:t>
            </a:r>
            <a:r>
              <a:rPr lang="en-US" altLang="zh-CN" dirty="0" smtClean="0"/>
              <a:t>still</a:t>
            </a:r>
            <a:r>
              <a:rPr lang="en-US" dirty="0" smtClean="0"/>
              <a:t> available. </a:t>
            </a:r>
            <a:endParaRPr lang="en-US" dirty="0"/>
          </a:p>
          <a:p>
            <a:endParaRPr lang="en-US" dirty="0" smtClean="0"/>
          </a:p>
          <a:p>
            <a:r>
              <a:rPr lang="en-US" i="1" dirty="0" err="1" smtClean="0"/>
              <a:t>B</a:t>
            </a:r>
            <a:r>
              <a:rPr lang="en-US" sz="2000" i="1" baseline="-25000" dirty="0" err="1" smtClean="0"/>
              <a:t>mem</a:t>
            </a:r>
            <a:r>
              <a:rPr lang="en-US" dirty="0" smtClean="0"/>
              <a:t>:  high </a:t>
            </a:r>
            <a:r>
              <a:rPr lang="en-US" dirty="0" smtClean="0">
                <a:sym typeface="Wingdings" panose="05000000000000000000" pitchFamily="2" charset="2"/>
              </a:rPr>
              <a:t></a:t>
            </a:r>
            <a:r>
              <a:rPr lang="en-US" dirty="0" smtClean="0"/>
              <a:t> low global memory bandwidth utilization. </a:t>
            </a:r>
          </a:p>
          <a:p>
            <a:endParaRPr lang="en-US" dirty="0"/>
          </a:p>
          <a:p>
            <a:r>
              <a:rPr lang="en-US" i="1" dirty="0" err="1" smtClean="0"/>
              <a:t>B</a:t>
            </a:r>
            <a:r>
              <a:rPr lang="en-US" sz="2000" i="1" baseline="-25000" dirty="0" err="1" smtClean="0"/>
              <a:t>balance</a:t>
            </a:r>
            <a:r>
              <a:rPr lang="en-US" dirty="0" smtClean="0"/>
              <a:t>: high </a:t>
            </a:r>
            <a:r>
              <a:rPr lang="en-US" dirty="0" smtClean="0">
                <a:sym typeface="Wingdings" panose="05000000000000000000" pitchFamily="2" charset="2"/>
              </a:rPr>
              <a:t></a:t>
            </a:r>
            <a:r>
              <a:rPr lang="en-US" dirty="0" smtClean="0"/>
              <a:t> unbalancing </a:t>
            </a:r>
            <a:r>
              <a:rPr lang="en-US" dirty="0"/>
              <a:t>among </a:t>
            </a:r>
            <a:r>
              <a:rPr lang="en-US" dirty="0" smtClean="0"/>
              <a:t>basic </a:t>
            </a:r>
            <a:r>
              <a:rPr lang="en-US" dirty="0"/>
              <a:t>blocks.</a:t>
            </a:r>
          </a:p>
          <a:p>
            <a:endParaRPr lang="en-US" dirty="0" smtClean="0"/>
          </a:p>
          <a:p>
            <a:r>
              <a:rPr lang="en-US" i="1" dirty="0" err="1" smtClean="0"/>
              <a:t>B</a:t>
            </a:r>
            <a:r>
              <a:rPr lang="en-US" sz="2200" i="1" baseline="-25000" dirty="0" err="1" smtClean="0"/>
              <a:t>itpp</a:t>
            </a:r>
            <a:r>
              <a:rPr lang="en-US" dirty="0" smtClean="0"/>
              <a:t>:  high </a:t>
            </a:r>
            <a:r>
              <a:rPr lang="en-US" dirty="0" smtClean="0">
                <a:sym typeface="Wingdings" panose="05000000000000000000" pitchFamily="2" charset="2"/>
              </a:rPr>
              <a:t> more threads required to fully utilize pipeline</a:t>
            </a:r>
            <a:r>
              <a:rPr lang="en-US" dirty="0" smtClean="0"/>
              <a:t>.</a:t>
            </a:r>
          </a:p>
          <a:p>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278846317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SG" altLang="en-US" dirty="0"/>
              <a:t>Experimental Setup</a:t>
            </a:r>
            <a:endParaRPr lang="en-US" dirty="0"/>
          </a:p>
        </p:txBody>
      </p:sp>
      <p:sp>
        <p:nvSpPr>
          <p:cNvPr id="3" name="Content Placeholder 2"/>
          <p:cNvSpPr>
            <a:spLocks noGrp="1"/>
          </p:cNvSpPr>
          <p:nvPr>
            <p:ph idx="1"/>
          </p:nvPr>
        </p:nvSpPr>
        <p:spPr>
          <a:xfrm>
            <a:off x="609599" y="1066800"/>
            <a:ext cx="8229600" cy="4917930"/>
          </a:xfrm>
        </p:spPr>
        <p:txBody>
          <a:bodyPr>
            <a:normAutofit/>
          </a:bodyPr>
          <a:lstStyle/>
          <a:p>
            <a:pPr>
              <a:buFontTx/>
              <a:buChar char="•"/>
            </a:pPr>
            <a:r>
              <a:rPr lang="en-SG" altLang="en-US" b="1" dirty="0"/>
              <a:t>Platform: </a:t>
            </a:r>
            <a:endParaRPr lang="en-SG" altLang="en-US" b="1" dirty="0" smtClean="0"/>
          </a:p>
          <a:p>
            <a:pPr lvl="1">
              <a:buFontTx/>
              <a:buChar char="•"/>
            </a:pPr>
            <a:r>
              <a:rPr lang="en-SG" altLang="en-US" dirty="0" smtClean="0"/>
              <a:t>Terasic’s </a:t>
            </a:r>
            <a:r>
              <a:rPr lang="en-SG" altLang="en-US" dirty="0"/>
              <a:t>DE5-Net board: 4GB 2-bank DDR3 and Altera Stratix V A7, with Altera OpenCL SDK version </a:t>
            </a:r>
            <a:r>
              <a:rPr lang="en-SG" altLang="en-US" dirty="0" smtClean="0"/>
              <a:t>14.0 (now Intel).</a:t>
            </a:r>
          </a:p>
          <a:p>
            <a:pPr lvl="1">
              <a:buFontTx/>
              <a:buChar char="•"/>
            </a:pPr>
            <a:r>
              <a:rPr lang="en-SG" altLang="en-US" dirty="0" smtClean="0"/>
              <a:t>Connected to the host with PCI-e bus</a:t>
            </a:r>
          </a:p>
          <a:p>
            <a:pPr marL="0" indent="0">
              <a:buNone/>
            </a:pPr>
            <a:endParaRPr lang="en-SG" alt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098477256"/>
              </p:ext>
            </p:extLst>
          </p:nvPr>
        </p:nvGraphicFramePr>
        <p:xfrm>
          <a:off x="838200" y="3657600"/>
          <a:ext cx="7467601" cy="2998468"/>
        </p:xfrm>
        <a:graphic>
          <a:graphicData uri="http://schemas.openxmlformats.org/drawingml/2006/table">
            <a:tbl>
              <a:tblPr firstRow="1" bandRow="1">
                <a:tableStyleId>{5C22544A-7EE6-4342-B048-85BDC9FD1C3A}</a:tableStyleId>
              </a:tblPr>
              <a:tblGrid>
                <a:gridCol w="4496619">
                  <a:extLst>
                    <a:ext uri="{9D8B030D-6E8A-4147-A177-3AD203B41FA5}">
                      <a16:colId xmlns:a16="http://schemas.microsoft.com/office/drawing/2014/main" val="20000"/>
                    </a:ext>
                  </a:extLst>
                </a:gridCol>
                <a:gridCol w="2970982">
                  <a:extLst>
                    <a:ext uri="{9D8B030D-6E8A-4147-A177-3AD203B41FA5}">
                      <a16:colId xmlns:a16="http://schemas.microsoft.com/office/drawing/2014/main" val="20001"/>
                    </a:ext>
                  </a:extLst>
                </a:gridCol>
              </a:tblGrid>
              <a:tr h="543877">
                <a:tc>
                  <a:txBody>
                    <a:bodyPr/>
                    <a:lstStyle/>
                    <a:p>
                      <a:r>
                        <a:rPr lang="en-US" sz="2400" dirty="0" smtClean="0"/>
                        <a:t>Application</a:t>
                      </a:r>
                      <a:endParaRPr lang="en-US" sz="2400" dirty="0"/>
                    </a:p>
                  </a:txBody>
                  <a:tcPr/>
                </a:tc>
                <a:tc>
                  <a:txBody>
                    <a:bodyPr/>
                    <a:lstStyle/>
                    <a:p>
                      <a:r>
                        <a:rPr lang="en-US" sz="2400" dirty="0" smtClean="0"/>
                        <a:t>Data</a:t>
                      </a:r>
                      <a:r>
                        <a:rPr lang="en-US" sz="2400" baseline="0" dirty="0" smtClean="0"/>
                        <a:t> Size</a:t>
                      </a:r>
                      <a:endParaRPr lang="en-US" sz="2400" dirty="0"/>
                    </a:p>
                  </a:txBody>
                  <a:tcPr/>
                </a:tc>
                <a:extLst>
                  <a:ext uri="{0D108BD9-81ED-4DB2-BD59-A6C34878D82A}">
                    <a16:rowId xmlns:a16="http://schemas.microsoft.com/office/drawing/2014/main" val="10000"/>
                  </a:ext>
                </a:extLst>
              </a:tr>
              <a:tr h="543877">
                <a:tc>
                  <a:txBody>
                    <a:bodyPr/>
                    <a:lstStyle/>
                    <a:p>
                      <a:r>
                        <a:rPr lang="fr-FR" sz="2400" b="0" i="0" u="none" strike="noStrike" kern="1200" baseline="0" dirty="0" smtClean="0">
                          <a:solidFill>
                            <a:srgbClr val="FF0000"/>
                          </a:solidFill>
                          <a:latin typeface="+mn-lt"/>
                          <a:ea typeface="+mn-ea"/>
                          <a:cs typeface="+mn-cs"/>
                        </a:rPr>
                        <a:t>Matrix Multiplication (MM)</a:t>
                      </a:r>
                      <a:endParaRPr lang="en-US" sz="2400" b="0" i="0" u="none" strike="noStrike" kern="1200" baseline="0" dirty="0">
                        <a:solidFill>
                          <a:srgbClr val="FF0000"/>
                        </a:solidFill>
                        <a:latin typeface="+mn-lt"/>
                        <a:ea typeface="+mn-ea"/>
                        <a:cs typeface="+mn-cs"/>
                      </a:endParaRPr>
                    </a:p>
                  </a:txBody>
                  <a:tcPr/>
                </a:tc>
                <a:tc>
                  <a:txBody>
                    <a:bodyPr/>
                    <a:lstStyle/>
                    <a:p>
                      <a:r>
                        <a:rPr lang="fr-FR" sz="2400" b="0" i="0" u="none" strike="noStrike" kern="1200" baseline="0" dirty="0" smtClean="0">
                          <a:solidFill>
                            <a:srgbClr val="FF0000"/>
                          </a:solidFill>
                          <a:latin typeface="+mn-lt"/>
                          <a:ea typeface="+mn-ea"/>
                          <a:cs typeface="+mn-cs"/>
                        </a:rPr>
                        <a:t>2048*2048 matrices</a:t>
                      </a:r>
                      <a:endParaRPr lang="en-US" sz="2400" b="0" i="0" u="none" strike="noStrike" kern="1200" baseline="0" dirty="0">
                        <a:solidFill>
                          <a:srgbClr val="FF0000"/>
                        </a:solidFill>
                        <a:latin typeface="+mn-lt"/>
                        <a:ea typeface="+mn-ea"/>
                        <a:cs typeface="+mn-cs"/>
                      </a:endParaRPr>
                    </a:p>
                  </a:txBody>
                  <a:tcPr/>
                </a:tc>
                <a:extLst>
                  <a:ext uri="{0D108BD9-81ED-4DB2-BD59-A6C34878D82A}">
                    <a16:rowId xmlns:a16="http://schemas.microsoft.com/office/drawing/2014/main" val="10001"/>
                  </a:ext>
                </a:extLst>
              </a:tr>
              <a:tr h="543877">
                <a:tc>
                  <a:txBody>
                    <a:bodyPr/>
                    <a:lstStyle/>
                    <a:p>
                      <a:r>
                        <a:rPr lang="en-US" sz="2400" b="0" i="0" u="none" strike="noStrike" kern="1200" baseline="0" dirty="0" smtClean="0">
                          <a:solidFill>
                            <a:schemeClr val="dk1"/>
                          </a:solidFill>
                          <a:latin typeface="+mn-lt"/>
                          <a:ea typeface="+mn-ea"/>
                          <a:cs typeface="+mn-cs"/>
                        </a:rPr>
                        <a:t>K-Means, K=128, 8 features (KM)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0" i="0" u="none" strike="noStrike" kern="1200" baseline="0" dirty="0" smtClean="0">
                          <a:solidFill>
                            <a:schemeClr val="dk1"/>
                          </a:solidFill>
                          <a:latin typeface="+mn-lt"/>
                          <a:ea typeface="+mn-ea"/>
                          <a:cs typeface="+mn-cs"/>
                        </a:rPr>
                        <a:t>32M points</a:t>
                      </a:r>
                      <a:endParaRPr lang="en-US" sz="2400" dirty="0" smtClean="0"/>
                    </a:p>
                  </a:txBody>
                  <a:tcPr/>
                </a:tc>
                <a:extLst>
                  <a:ext uri="{0D108BD9-81ED-4DB2-BD59-A6C34878D82A}">
                    <a16:rowId xmlns:a16="http://schemas.microsoft.com/office/drawing/2014/main" val="10002"/>
                  </a:ext>
                </a:extLst>
              </a:tr>
              <a:tr h="543877">
                <a:tc>
                  <a:txBody>
                    <a:bodyPr/>
                    <a:lstStyle/>
                    <a:p>
                      <a:r>
                        <a:rPr lang="en-US" sz="2400" b="0" i="0" u="none" strike="noStrike" kern="1200" baseline="0" dirty="0" smtClean="0">
                          <a:solidFill>
                            <a:schemeClr val="dk1"/>
                          </a:solidFill>
                          <a:latin typeface="+mn-lt"/>
                          <a:ea typeface="+mn-ea"/>
                          <a:cs typeface="+mn-cs"/>
                        </a:rPr>
                        <a:t>Word Count (WC)</a:t>
                      </a:r>
                      <a:endParaRPr lang="en-US" sz="2400" dirty="0"/>
                    </a:p>
                  </a:txBody>
                  <a:tcPr/>
                </a:tc>
                <a:tc>
                  <a:txBody>
                    <a:bodyPr/>
                    <a:lstStyle/>
                    <a:p>
                      <a:r>
                        <a:rPr lang="en-US" sz="2400" b="0" i="0" u="none" strike="noStrike" kern="1200" baseline="0" dirty="0" smtClean="0">
                          <a:solidFill>
                            <a:schemeClr val="dk1"/>
                          </a:solidFill>
                          <a:latin typeface="+mn-lt"/>
                          <a:ea typeface="+mn-ea"/>
                          <a:cs typeface="+mn-cs"/>
                        </a:rPr>
                        <a:t>1500MB text file</a:t>
                      </a:r>
                      <a:endParaRPr lang="en-US" sz="2400" dirty="0"/>
                    </a:p>
                  </a:txBody>
                  <a:tcPr/>
                </a:tc>
                <a:extLst>
                  <a:ext uri="{0D108BD9-81ED-4DB2-BD59-A6C34878D82A}">
                    <a16:rowId xmlns:a16="http://schemas.microsoft.com/office/drawing/2014/main" val="10003"/>
                  </a:ext>
                </a:extLst>
              </a:tr>
              <a:tr h="543877">
                <a:tc>
                  <a:txBody>
                    <a:bodyPr/>
                    <a:lstStyle/>
                    <a:p>
                      <a:r>
                        <a:rPr lang="en-US" sz="2400" b="0" i="0" u="none" strike="noStrike" kern="1200" baseline="0" dirty="0" smtClean="0">
                          <a:solidFill>
                            <a:schemeClr val="dk1"/>
                          </a:solidFill>
                          <a:latin typeface="+mn-lt"/>
                          <a:ea typeface="+mn-ea"/>
                          <a:cs typeface="+mn-cs"/>
                        </a:rPr>
                        <a:t>Similarity Scope (SS)</a:t>
                      </a:r>
                      <a:endParaRPr lang="en-US" sz="2400" dirty="0"/>
                    </a:p>
                  </a:txBody>
                  <a:tcPr/>
                </a:tc>
                <a:tc>
                  <a:txBody>
                    <a:bodyPr/>
                    <a:lstStyle/>
                    <a:p>
                      <a:r>
                        <a:rPr lang="en-US" sz="2400" b="0" i="0" u="none" strike="noStrike" kern="1200" baseline="0" dirty="0" smtClean="0">
                          <a:solidFill>
                            <a:schemeClr val="dk1"/>
                          </a:solidFill>
                          <a:latin typeface="+mn-lt"/>
                          <a:ea typeface="+mn-ea"/>
                          <a:cs typeface="+mn-cs"/>
                        </a:rPr>
                        <a:t>8000 files each with 8000 features</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7282825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Analytical Model Evaluation (MM)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graphicFrame>
        <p:nvGraphicFramePr>
          <p:cNvPr id="5" name="Chart 4"/>
          <p:cNvGraphicFramePr>
            <a:graphicFrameLocks/>
          </p:cNvGraphicFramePr>
          <p:nvPr>
            <p:extLst/>
          </p:nvPr>
        </p:nvGraphicFramePr>
        <p:xfrm>
          <a:off x="1379018" y="1456741"/>
          <a:ext cx="6172200" cy="3570358"/>
        </p:xfrm>
        <a:graphic>
          <a:graphicData uri="http://schemas.openxmlformats.org/drawingml/2006/chart">
            <c:chart xmlns:c="http://schemas.openxmlformats.org/drawingml/2006/chart" xmlns:r="http://schemas.openxmlformats.org/officeDocument/2006/relationships" r:id="rId3"/>
          </a:graphicData>
        </a:graphic>
      </p:graphicFrame>
      <p:cxnSp>
        <p:nvCxnSpPr>
          <p:cNvPr id="6" name="Straight Arrow Connector 5"/>
          <p:cNvCxnSpPr/>
          <p:nvPr/>
        </p:nvCxnSpPr>
        <p:spPr>
          <a:xfrm flipV="1">
            <a:off x="4800600" y="3124200"/>
            <a:ext cx="0" cy="1524000"/>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7" name="Content Placeholder 2"/>
          <p:cNvSpPr txBox="1">
            <a:spLocks/>
          </p:cNvSpPr>
          <p:nvPr/>
        </p:nvSpPr>
        <p:spPr>
          <a:xfrm>
            <a:off x="1379018" y="4592502"/>
            <a:ext cx="7082891" cy="830997"/>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smtClean="0">
                <a:solidFill>
                  <a:srgbClr val="FF0000"/>
                </a:solidFill>
                <a:latin typeface="Comic Sans MS" panose="030F0702030302020204" pitchFamily="66" charset="0"/>
              </a:rPr>
              <a:t>Our </a:t>
            </a:r>
            <a:r>
              <a:rPr lang="en-US" sz="2400" dirty="0">
                <a:solidFill>
                  <a:srgbClr val="FF0000"/>
                </a:solidFill>
                <a:latin typeface="Comic Sans MS" panose="030F0702030302020204" pitchFamily="66" charset="0"/>
              </a:rPr>
              <a:t>e</a:t>
            </a:r>
            <a:r>
              <a:rPr lang="en-US" sz="2400" dirty="0" smtClean="0">
                <a:solidFill>
                  <a:srgbClr val="FF0000"/>
                </a:solidFill>
                <a:latin typeface="Comic Sans MS" panose="030F0702030302020204" pitchFamily="66" charset="0"/>
              </a:rPr>
              <a:t>stimation </a:t>
            </a:r>
            <a:r>
              <a:rPr lang="en-US" sz="2400" dirty="0">
                <a:solidFill>
                  <a:srgbClr val="FF0000"/>
                </a:solidFill>
                <a:latin typeface="Comic Sans MS" panose="030F0702030302020204" pitchFamily="66" charset="0"/>
              </a:rPr>
              <a:t>can capture the performance </a:t>
            </a:r>
            <a:r>
              <a:rPr lang="en-US" sz="2400" dirty="0" smtClean="0">
                <a:solidFill>
                  <a:srgbClr val="FF0000"/>
                </a:solidFill>
                <a:latin typeface="Comic Sans MS" panose="030F0702030302020204" pitchFamily="66" charset="0"/>
              </a:rPr>
              <a:t>trend of 18 optimization </a:t>
            </a:r>
            <a:r>
              <a:rPr lang="en-US" sz="2400" dirty="0">
                <a:solidFill>
                  <a:srgbClr val="FF0000"/>
                </a:solidFill>
                <a:latin typeface="Comic Sans MS" panose="030F0702030302020204" pitchFamily="66" charset="0"/>
              </a:rPr>
              <a:t>combinations</a:t>
            </a:r>
            <a:r>
              <a:rPr lang="en-US" sz="2400" dirty="0" smtClean="0">
                <a:solidFill>
                  <a:srgbClr val="FF0000"/>
                </a:solidFill>
                <a:latin typeface="Comic Sans MS" panose="030F0702030302020204" pitchFamily="66" charset="0"/>
              </a:rPr>
              <a:t>.</a:t>
            </a:r>
            <a:endParaRPr lang="en-US" sz="2400" dirty="0">
              <a:solidFill>
                <a:srgbClr val="FF0000"/>
              </a:solidFill>
              <a:latin typeface="Comic Sans MS" panose="030F0702030302020204" pitchFamily="66" charset="0"/>
            </a:endParaRPr>
          </a:p>
        </p:txBody>
      </p:sp>
      <p:cxnSp>
        <p:nvCxnSpPr>
          <p:cNvPr id="11" name="Straight Arrow Connector 10"/>
          <p:cNvCxnSpPr/>
          <p:nvPr/>
        </p:nvCxnSpPr>
        <p:spPr>
          <a:xfrm>
            <a:off x="5867400" y="1600200"/>
            <a:ext cx="533400" cy="228600"/>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13" name="Content Placeholder 2"/>
          <p:cNvSpPr txBox="1">
            <a:spLocks/>
          </p:cNvSpPr>
          <p:nvPr/>
        </p:nvSpPr>
        <p:spPr>
          <a:xfrm>
            <a:off x="4038601" y="1198764"/>
            <a:ext cx="3200400" cy="461665"/>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smtClean="0">
                <a:solidFill>
                  <a:srgbClr val="FF0000"/>
                </a:solidFill>
                <a:latin typeface="Comic Sans MS" panose="030F0702030302020204" pitchFamily="66" charset="0"/>
              </a:rPr>
              <a:t>350X over baseline</a:t>
            </a:r>
            <a:endParaRPr lang="en-US"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1585231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 presetClass="entr" presetSubtype="4"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 calcmode="lin" valueType="num">
                                      <p:cBhvr additive="base">
                                        <p:cTn id="10" dur="500" fill="hold"/>
                                        <p:tgtEl>
                                          <p:spTgt spid="7"/>
                                        </p:tgtEl>
                                        <p:attrNameLst>
                                          <p:attrName>ppt_x</p:attrName>
                                        </p:attrNameLst>
                                      </p:cBhvr>
                                      <p:tavLst>
                                        <p:tav tm="0">
                                          <p:val>
                                            <p:strVal val="#ppt_x"/>
                                          </p:val>
                                        </p:tav>
                                        <p:tav tm="100000">
                                          <p:val>
                                            <p:strVal val="#ppt_x"/>
                                          </p:val>
                                        </p:tav>
                                      </p:tavLst>
                                    </p:anim>
                                    <p:anim calcmode="lin" valueType="num">
                                      <p:cBhvr additive="base">
                                        <p:cTn id="1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2" presetClass="entr" presetSubtype="4"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p:cNvGraphicFramePr>
            <a:graphicFrameLocks/>
          </p:cNvGraphicFramePr>
          <p:nvPr>
            <p:extLst>
              <p:ext uri="{D42A27DB-BD31-4B8C-83A1-F6EECF244321}">
                <p14:modId xmlns:p14="http://schemas.microsoft.com/office/powerpoint/2010/main" val="1540828333"/>
              </p:ext>
            </p:extLst>
          </p:nvPr>
        </p:nvGraphicFramePr>
        <p:xfrm>
          <a:off x="1447800" y="1066800"/>
          <a:ext cx="6436390" cy="3574359"/>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p:cNvSpPr>
            <a:spLocks noGrp="1"/>
          </p:cNvSpPr>
          <p:nvPr>
            <p:ph type="title"/>
          </p:nvPr>
        </p:nvSpPr>
        <p:spPr>
          <a:xfrm>
            <a:off x="457200" y="274638"/>
            <a:ext cx="8229600" cy="792162"/>
          </a:xfrm>
        </p:spPr>
        <p:txBody>
          <a:bodyPr>
            <a:normAutofit/>
          </a:bodyPr>
          <a:lstStyle/>
          <a:p>
            <a:r>
              <a:rPr lang="en-US" dirty="0" smtClean="0"/>
              <a:t>Code Tuning Steps (MM) </a:t>
            </a:r>
            <a:endParaRPr lang="en-US" dirty="0"/>
          </a:p>
        </p:txBody>
      </p:sp>
      <p:sp>
        <p:nvSpPr>
          <p:cNvPr id="3" name="Content Placeholder 2"/>
          <p:cNvSpPr>
            <a:spLocks noGrp="1"/>
          </p:cNvSpPr>
          <p:nvPr>
            <p:ph idx="1"/>
          </p:nvPr>
        </p:nvSpPr>
        <p:spPr>
          <a:xfrm>
            <a:off x="723900" y="5199821"/>
            <a:ext cx="7848600" cy="1156529"/>
          </a:xfrm>
        </p:spPr>
        <p:txBody>
          <a:bodyPr>
            <a:normAutofit/>
          </a:bodyPr>
          <a:lstStyle/>
          <a:p>
            <a:r>
              <a:rPr lang="en-US" dirty="0" smtClean="0"/>
              <a:t>The tuning rule: Each step aims to decrease the metric with largest value.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
        <p:nvSpPr>
          <p:cNvPr id="7" name="Rectangle 6"/>
          <p:cNvSpPr/>
          <p:nvPr/>
        </p:nvSpPr>
        <p:spPr>
          <a:xfrm>
            <a:off x="2362200" y="1558579"/>
            <a:ext cx="1066800" cy="2691614"/>
          </a:xfrm>
          <a:prstGeom prst="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Rectangle 8"/>
          <p:cNvSpPr/>
          <p:nvPr/>
        </p:nvSpPr>
        <p:spPr>
          <a:xfrm>
            <a:off x="3581400" y="1558579"/>
            <a:ext cx="1066800" cy="2691614"/>
          </a:xfrm>
          <a:prstGeom prst="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 name="Rectangle 9"/>
          <p:cNvSpPr/>
          <p:nvPr/>
        </p:nvSpPr>
        <p:spPr>
          <a:xfrm>
            <a:off x="4724400" y="1558579"/>
            <a:ext cx="1066800" cy="2691614"/>
          </a:xfrm>
          <a:prstGeom prst="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p:cNvSpPr/>
          <p:nvPr/>
        </p:nvSpPr>
        <p:spPr>
          <a:xfrm>
            <a:off x="5791200" y="1558579"/>
            <a:ext cx="1219200" cy="2691614"/>
          </a:xfrm>
          <a:prstGeom prst="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14201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 presetClass="exit" presetSubtype="0" fill="hold" grpId="1" nodeType="with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 presetClass="exit" presetSubtype="0" fill="hold" grpId="1" nodeType="withEffect">
                                  <p:stCondLst>
                                    <p:cond delay="0"/>
                                  </p:stCondLst>
                                  <p:childTnLst>
                                    <p:set>
                                      <p:cBhvr>
                                        <p:cTn id="21" dur="1" fill="hold">
                                          <p:stCondLst>
                                            <p:cond delay="0"/>
                                          </p:stCondLst>
                                        </p:cTn>
                                        <p:tgtEl>
                                          <p:spTgt spid="9"/>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 presetClass="exit" presetSubtype="0" fill="hold" grpId="1" nodeType="withEffect">
                                  <p:stCondLst>
                                    <p:cond delay="0"/>
                                  </p:stCondLst>
                                  <p:childTnLst>
                                    <p:set>
                                      <p:cBhvr>
                                        <p:cTn id="28" dur="1" fill="hold">
                                          <p:stCondLst>
                                            <p:cond delay="0"/>
                                          </p:stCondLst>
                                        </p:cTn>
                                        <p:tgtEl>
                                          <p:spTgt spid="10"/>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9" grpId="0" animBg="1"/>
      <p:bldP spid="9" grpId="1" animBg="1"/>
      <p:bldP spid="10" grpId="0" animBg="1"/>
      <p:bldP spid="10" grpId="1" animBg="1"/>
      <p:bldP spid="11" grpId="0" animBg="1"/>
      <p:bldP spid="11"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dirty="0" smtClean="0"/>
              <a:t>Comparison with Altera OpenCL SDK</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067237639"/>
              </p:ext>
            </p:extLst>
          </p:nvPr>
        </p:nvGraphicFramePr>
        <p:xfrm>
          <a:off x="685800" y="1402748"/>
          <a:ext cx="7620001" cy="1372803"/>
        </p:xfrm>
        <a:graphic>
          <a:graphicData uri="http://schemas.openxmlformats.org/drawingml/2006/table">
            <a:tbl>
              <a:tblPr firstRow="1" bandRow="1">
                <a:tableStyleId>{5C22544A-7EE6-4342-B048-85BDC9FD1C3A}</a:tableStyleId>
              </a:tblPr>
              <a:tblGrid>
                <a:gridCol w="3352800">
                  <a:extLst>
                    <a:ext uri="{9D8B030D-6E8A-4147-A177-3AD203B41FA5}">
                      <a16:colId xmlns:a16="http://schemas.microsoft.com/office/drawing/2014/main" val="20000"/>
                    </a:ext>
                  </a:extLst>
                </a:gridCol>
                <a:gridCol w="1129916">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151467">
                  <a:extLst>
                    <a:ext uri="{9D8B030D-6E8A-4147-A177-3AD203B41FA5}">
                      <a16:colId xmlns:a16="http://schemas.microsoft.com/office/drawing/2014/main" val="20003"/>
                    </a:ext>
                  </a:extLst>
                </a:gridCol>
                <a:gridCol w="969818">
                  <a:extLst>
                    <a:ext uri="{9D8B030D-6E8A-4147-A177-3AD203B41FA5}">
                      <a16:colId xmlns:a16="http://schemas.microsoft.com/office/drawing/2014/main" val="20004"/>
                    </a:ext>
                  </a:extLst>
                </a:gridCol>
              </a:tblGrid>
              <a:tr h="457601">
                <a:tc>
                  <a:txBody>
                    <a:bodyPr/>
                    <a:lstStyle/>
                    <a:p>
                      <a:pPr algn="ctr"/>
                      <a:r>
                        <a:rPr lang="en-US" sz="2400" dirty="0" smtClean="0"/>
                        <a:t>Speedup</a:t>
                      </a:r>
                      <a:r>
                        <a:rPr lang="en-US" sz="2400" baseline="0" dirty="0" smtClean="0"/>
                        <a:t> over baseline</a:t>
                      </a:r>
                      <a:endParaRPr lang="en-US" sz="2400" dirty="0"/>
                    </a:p>
                  </a:txBody>
                  <a:tcPr/>
                </a:tc>
                <a:tc>
                  <a:txBody>
                    <a:bodyPr/>
                    <a:lstStyle/>
                    <a:p>
                      <a:pPr algn="ctr"/>
                      <a:r>
                        <a:rPr lang="en-US" sz="2400" dirty="0" smtClean="0"/>
                        <a:t>MM</a:t>
                      </a:r>
                      <a:endParaRPr lang="en-US" sz="2400" dirty="0"/>
                    </a:p>
                  </a:txBody>
                  <a:tcPr/>
                </a:tc>
                <a:tc>
                  <a:txBody>
                    <a:bodyPr/>
                    <a:lstStyle/>
                    <a:p>
                      <a:pPr algn="ctr"/>
                      <a:r>
                        <a:rPr lang="en-US" sz="2400" dirty="0" smtClean="0"/>
                        <a:t>KM</a:t>
                      </a:r>
                      <a:endParaRPr lang="en-US" sz="2400" dirty="0"/>
                    </a:p>
                  </a:txBody>
                  <a:tcPr/>
                </a:tc>
                <a:tc>
                  <a:txBody>
                    <a:bodyPr/>
                    <a:lstStyle/>
                    <a:p>
                      <a:pPr algn="ctr"/>
                      <a:r>
                        <a:rPr lang="en-US" sz="2400" dirty="0" smtClean="0"/>
                        <a:t>WC</a:t>
                      </a:r>
                      <a:endParaRPr lang="en-US" sz="2400" dirty="0"/>
                    </a:p>
                  </a:txBody>
                  <a:tcPr/>
                </a:tc>
                <a:tc>
                  <a:txBody>
                    <a:bodyPr/>
                    <a:lstStyle/>
                    <a:p>
                      <a:pPr algn="ctr"/>
                      <a:r>
                        <a:rPr lang="en-US" sz="2400" dirty="0" smtClean="0"/>
                        <a:t>SS</a:t>
                      </a:r>
                      <a:endParaRPr lang="en-US" sz="2400" dirty="0"/>
                    </a:p>
                  </a:txBody>
                  <a:tcPr/>
                </a:tc>
                <a:extLst>
                  <a:ext uri="{0D108BD9-81ED-4DB2-BD59-A6C34878D82A}">
                    <a16:rowId xmlns:a16="http://schemas.microsoft.com/office/drawing/2014/main" val="10000"/>
                  </a:ext>
                </a:extLst>
              </a:tr>
              <a:tr h="457601">
                <a:tc>
                  <a:txBody>
                    <a:bodyPr/>
                    <a:lstStyle/>
                    <a:p>
                      <a:pPr algn="ctr"/>
                      <a:r>
                        <a:rPr lang="en-US" altLang="zh-CN" sz="2400" dirty="0" smtClean="0"/>
                        <a:t>Altera </a:t>
                      </a:r>
                      <a:r>
                        <a:rPr lang="en-US" sz="2400" dirty="0" smtClean="0"/>
                        <a:t>-O3 approach</a:t>
                      </a:r>
                      <a:endParaRPr lang="en-US" sz="2400" dirty="0"/>
                    </a:p>
                  </a:txBody>
                  <a:tcPr/>
                </a:tc>
                <a:tc>
                  <a:txBody>
                    <a:bodyPr/>
                    <a:lstStyle/>
                    <a:p>
                      <a:pPr algn="ctr"/>
                      <a:r>
                        <a:rPr lang="en-US" sz="2400" dirty="0" smtClean="0"/>
                        <a:t>0.7</a:t>
                      </a:r>
                      <a:endParaRPr lang="en-US" sz="2400" dirty="0"/>
                    </a:p>
                  </a:txBody>
                  <a:tcPr/>
                </a:tc>
                <a:tc>
                  <a:txBody>
                    <a:bodyPr/>
                    <a:lstStyle/>
                    <a:p>
                      <a:pPr algn="ctr"/>
                      <a:r>
                        <a:rPr lang="en-US" sz="2400" dirty="0" smtClean="0"/>
                        <a:t>4.4</a:t>
                      </a:r>
                      <a:endParaRPr lang="en-US" sz="2400" dirty="0"/>
                    </a:p>
                  </a:txBody>
                  <a:tcPr/>
                </a:tc>
                <a:tc>
                  <a:txBody>
                    <a:bodyPr/>
                    <a:lstStyle/>
                    <a:p>
                      <a:pPr algn="ctr"/>
                      <a:r>
                        <a:rPr lang="en-US" sz="2400" dirty="0" smtClean="0"/>
                        <a:t>0.93</a:t>
                      </a:r>
                      <a:endParaRPr lang="en-US" sz="2400" dirty="0"/>
                    </a:p>
                  </a:txBody>
                  <a:tcPr/>
                </a:tc>
                <a:tc>
                  <a:txBody>
                    <a:bodyPr/>
                    <a:lstStyle/>
                    <a:p>
                      <a:pPr algn="ctr"/>
                      <a:r>
                        <a:rPr lang="en-US" sz="2400" dirty="0" smtClean="0"/>
                        <a:t>1</a:t>
                      </a:r>
                      <a:endParaRPr lang="en-US" sz="2400" dirty="0"/>
                    </a:p>
                  </a:txBody>
                  <a:tcPr/>
                </a:tc>
                <a:extLst>
                  <a:ext uri="{0D108BD9-81ED-4DB2-BD59-A6C34878D82A}">
                    <a16:rowId xmlns:a16="http://schemas.microsoft.com/office/drawing/2014/main" val="10001"/>
                  </a:ext>
                </a:extLst>
              </a:tr>
              <a:tr h="457601">
                <a:tc>
                  <a:txBody>
                    <a:bodyPr/>
                    <a:lstStyle/>
                    <a:p>
                      <a:pPr algn="ctr"/>
                      <a:r>
                        <a:rPr lang="en-US" sz="2400" dirty="0" smtClean="0"/>
                        <a:t>Our framework</a:t>
                      </a:r>
                      <a:endParaRPr lang="en-US" sz="2400" dirty="0"/>
                    </a:p>
                  </a:txBody>
                  <a:tcPr/>
                </a:tc>
                <a:tc>
                  <a:txBody>
                    <a:bodyPr/>
                    <a:lstStyle/>
                    <a:p>
                      <a:pPr algn="ctr"/>
                      <a:r>
                        <a:rPr lang="en-US" sz="2400" dirty="0" smtClean="0"/>
                        <a:t>362.4</a:t>
                      </a:r>
                      <a:endParaRPr lang="en-US" sz="2400" dirty="0"/>
                    </a:p>
                  </a:txBody>
                  <a:tcPr/>
                </a:tc>
                <a:tc>
                  <a:txBody>
                    <a:bodyPr/>
                    <a:lstStyle/>
                    <a:p>
                      <a:pPr algn="ctr"/>
                      <a:r>
                        <a:rPr lang="en-US" sz="2400" dirty="0" smtClean="0"/>
                        <a:t>293.4</a:t>
                      </a:r>
                      <a:endParaRPr lang="en-US" sz="2400" dirty="0"/>
                    </a:p>
                  </a:txBody>
                  <a:tcPr/>
                </a:tc>
                <a:tc>
                  <a:txBody>
                    <a:bodyPr/>
                    <a:lstStyle/>
                    <a:p>
                      <a:pPr algn="ctr"/>
                      <a:r>
                        <a:rPr lang="en-US" sz="2400" dirty="0" smtClean="0"/>
                        <a:t>11.4</a:t>
                      </a:r>
                      <a:endParaRPr lang="en-US" sz="2400" dirty="0"/>
                    </a:p>
                  </a:txBody>
                  <a:tcPr/>
                </a:tc>
                <a:tc>
                  <a:txBody>
                    <a:bodyPr/>
                    <a:lstStyle/>
                    <a:p>
                      <a:pPr algn="ctr"/>
                      <a:r>
                        <a:rPr lang="en-US" sz="2400" dirty="0" smtClean="0"/>
                        <a:t>9.4</a:t>
                      </a:r>
                      <a:endParaRPr lang="en-US" sz="2400" dirty="0"/>
                    </a:p>
                  </a:txBody>
                  <a:tcPr/>
                </a:tc>
                <a:extLst>
                  <a:ext uri="{0D108BD9-81ED-4DB2-BD59-A6C34878D82A}">
                    <a16:rowId xmlns:a16="http://schemas.microsoft.com/office/drawing/2014/main" val="10002"/>
                  </a:ext>
                </a:extLst>
              </a:tr>
            </a:tbl>
          </a:graphicData>
        </a:graphic>
      </p:graphicFrame>
      <p:sp>
        <p:nvSpPr>
          <p:cNvPr id="6" name="Content Placeholder 5"/>
          <p:cNvSpPr>
            <a:spLocks noGrp="1"/>
          </p:cNvSpPr>
          <p:nvPr>
            <p:ph idx="1"/>
          </p:nvPr>
        </p:nvSpPr>
        <p:spPr/>
        <p:txBody>
          <a:bodyPr/>
          <a:lstStyle/>
          <a:p>
            <a:endParaRPr lang="en-SG"/>
          </a:p>
        </p:txBody>
      </p:sp>
    </p:spTree>
    <p:extLst>
      <p:ext uri="{BB962C8B-B14F-4D97-AF65-F5344CB8AC3E}">
        <p14:creationId xmlns:p14="http://schemas.microsoft.com/office/powerpoint/2010/main" val="363973097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US" dirty="0" smtClean="0"/>
              <a:t>Summary</a:t>
            </a:r>
            <a:endParaRPr lang="en-US" dirty="0"/>
          </a:p>
        </p:txBody>
      </p:sp>
      <p:sp>
        <p:nvSpPr>
          <p:cNvPr id="3" name="Content Placeholder 2"/>
          <p:cNvSpPr>
            <a:spLocks noGrp="1"/>
          </p:cNvSpPr>
          <p:nvPr>
            <p:ph idx="1"/>
          </p:nvPr>
        </p:nvSpPr>
        <p:spPr>
          <a:xfrm>
            <a:off x="457200" y="1417638"/>
            <a:ext cx="8229600" cy="4938712"/>
          </a:xfrm>
        </p:spPr>
        <p:txBody>
          <a:bodyPr>
            <a:normAutofit/>
          </a:bodyPr>
          <a:lstStyle/>
          <a:p>
            <a:r>
              <a:rPr lang="en-US" dirty="0" smtClean="0"/>
              <a:t>Tuning OpenCL </a:t>
            </a:r>
            <a:r>
              <a:rPr lang="en-US" dirty="0"/>
              <a:t>code </a:t>
            </a:r>
            <a:r>
              <a:rPr lang="en-US" dirty="0" smtClean="0"/>
              <a:t>on FPGAs is </a:t>
            </a:r>
            <a:r>
              <a:rPr lang="en-US" dirty="0"/>
              <a:t>still an open </a:t>
            </a:r>
            <a:r>
              <a:rPr lang="en-US" dirty="0" smtClean="0"/>
              <a:t>problem, since FPGA </a:t>
            </a:r>
            <a:r>
              <a:rPr lang="en-US" dirty="0"/>
              <a:t>is significantly different from </a:t>
            </a:r>
            <a:r>
              <a:rPr lang="en-US" dirty="0" smtClean="0"/>
              <a:t>GPU.</a:t>
            </a:r>
          </a:p>
          <a:p>
            <a:r>
              <a:rPr lang="en-US" dirty="0" smtClean="0"/>
              <a:t>We use static </a:t>
            </a:r>
            <a:r>
              <a:rPr lang="en-US" dirty="0"/>
              <a:t>and dynamic analysis to develop an </a:t>
            </a:r>
            <a:r>
              <a:rPr lang="en-US" dirty="0">
                <a:solidFill>
                  <a:srgbClr val="000000"/>
                </a:solidFill>
                <a:latin typeface="Calibri" panose="020F0502020204030204" pitchFamily="34" charset="0"/>
              </a:rPr>
              <a:t>performance </a:t>
            </a:r>
            <a:r>
              <a:rPr lang="en-US" dirty="0" smtClean="0"/>
              <a:t>analytical framework. </a:t>
            </a:r>
          </a:p>
          <a:p>
            <a:r>
              <a:rPr lang="en-US" dirty="0" smtClean="0"/>
              <a:t>Our framework can guide the programmer to </a:t>
            </a:r>
            <a:r>
              <a:rPr lang="en-US" dirty="0"/>
              <a:t>effectively </a:t>
            </a:r>
            <a:r>
              <a:rPr lang="en-US" dirty="0" smtClean="0"/>
              <a:t>tune the </a:t>
            </a:r>
            <a:r>
              <a:rPr lang="en-US" dirty="0"/>
              <a:t>code </a:t>
            </a:r>
            <a:r>
              <a:rPr lang="en-US" dirty="0" smtClean="0"/>
              <a:t>on FPGA.</a:t>
            </a:r>
            <a:endParaRPr lang="en-US" b="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201818734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a:xfrm>
            <a:off x="457200" y="1493837"/>
            <a:ext cx="8229600" cy="4525963"/>
          </a:xfrm>
        </p:spPr>
        <p:txBody>
          <a:bodyPr/>
          <a:lstStyle/>
          <a:p>
            <a:r>
              <a:rPr lang="en-US" dirty="0" smtClean="0">
                <a:solidFill>
                  <a:schemeClr val="tx1">
                    <a:lumMod val="95000"/>
                    <a:lumOff val="5000"/>
                  </a:schemeClr>
                </a:solidFill>
              </a:rPr>
              <a:t>Background</a:t>
            </a:r>
          </a:p>
          <a:p>
            <a:pPr lvl="1"/>
            <a:r>
              <a:rPr lang="en-US" dirty="0" smtClean="0">
                <a:solidFill>
                  <a:schemeClr val="tx1">
                    <a:lumMod val="95000"/>
                    <a:lumOff val="5000"/>
                  </a:schemeClr>
                </a:solidFill>
              </a:rPr>
              <a:t>FPGA</a:t>
            </a:r>
          </a:p>
          <a:p>
            <a:pPr lvl="1"/>
            <a:r>
              <a:rPr lang="en-US" dirty="0" err="1" smtClean="0">
                <a:solidFill>
                  <a:schemeClr val="tx1">
                    <a:lumMod val="95000"/>
                    <a:lumOff val="5000"/>
                  </a:schemeClr>
                </a:solidFill>
              </a:rPr>
              <a:t>OpenCL</a:t>
            </a:r>
            <a:r>
              <a:rPr lang="en-US" dirty="0" smtClean="0">
                <a:solidFill>
                  <a:schemeClr val="tx1">
                    <a:lumMod val="95000"/>
                    <a:lumOff val="5000"/>
                  </a:schemeClr>
                </a:solidFill>
              </a:rPr>
              <a:t> SDK for FPGAs</a:t>
            </a:r>
          </a:p>
          <a:p>
            <a:r>
              <a:rPr lang="en-US" dirty="0" smtClean="0"/>
              <a:t>A Performance Analysis Framework</a:t>
            </a:r>
          </a:p>
          <a:p>
            <a:r>
              <a:rPr lang="en-US" dirty="0" smtClean="0">
                <a:solidFill>
                  <a:srgbClr val="FF0000"/>
                </a:solidFill>
              </a:rPr>
              <a:t>Case Study: Database Systems</a:t>
            </a:r>
          </a:p>
          <a:p>
            <a:r>
              <a:rPr lang="en-US" dirty="0" smtClean="0"/>
              <a:t>Conclusion</a:t>
            </a:r>
          </a:p>
          <a:p>
            <a:endParaRPr lang="en-US"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163555142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smtClean="0"/>
              <a:t>Problem</a:t>
            </a:r>
            <a:endParaRPr lang="en-US" dirty="0"/>
          </a:p>
        </p:txBody>
      </p:sp>
      <p:sp>
        <p:nvSpPr>
          <p:cNvPr id="3" name="Content Placeholder 2"/>
          <p:cNvSpPr>
            <a:spLocks noGrp="1"/>
          </p:cNvSpPr>
          <p:nvPr>
            <p:ph idx="1"/>
          </p:nvPr>
        </p:nvSpPr>
        <p:spPr>
          <a:xfrm>
            <a:off x="457200" y="1508919"/>
            <a:ext cx="8229600" cy="4756149"/>
          </a:xfrm>
        </p:spPr>
        <p:txBody>
          <a:bodyPr>
            <a:normAutofit/>
          </a:bodyPr>
          <a:lstStyle/>
          <a:p>
            <a:r>
              <a:rPr lang="en-US" i="1" dirty="0" err="1"/>
              <a:t>OmniDB</a:t>
            </a:r>
            <a:r>
              <a:rPr lang="en-US" dirty="0"/>
              <a:t> [1]: State-of-the-art OpenCL-based query processor on </a:t>
            </a:r>
            <a:r>
              <a:rPr lang="en-US" dirty="0" smtClean="0"/>
              <a:t>CPU/GPU. </a:t>
            </a:r>
            <a:endParaRPr lang="en-US" dirty="0"/>
          </a:p>
          <a:p>
            <a:pPr lvl="1"/>
            <a:r>
              <a:rPr lang="en-US" dirty="0" smtClean="0">
                <a:latin typeface="Comic Sans MS" pitchFamily="66" charset="0"/>
              </a:rPr>
              <a:t>Kernel-based execution</a:t>
            </a:r>
          </a:p>
          <a:p>
            <a:pPr lvl="1"/>
            <a:r>
              <a:rPr lang="en-US" dirty="0" smtClean="0">
                <a:latin typeface="Comic Sans MS" pitchFamily="66" charset="0"/>
              </a:rPr>
              <a:t>Common optimization methods</a:t>
            </a:r>
          </a:p>
          <a:p>
            <a:pPr lvl="1"/>
            <a:r>
              <a:rPr lang="en-US" dirty="0" smtClean="0">
                <a:latin typeface="Comic Sans MS" pitchFamily="66" charset="0"/>
              </a:rPr>
              <a:t>Cost-based approach to schedule</a:t>
            </a:r>
          </a:p>
          <a:p>
            <a:r>
              <a:rPr lang="en-US" dirty="0" smtClean="0"/>
              <a:t>How </a:t>
            </a:r>
            <a:r>
              <a:rPr lang="en-US" i="1" dirty="0" err="1" smtClean="0"/>
              <a:t>OmniDB</a:t>
            </a:r>
            <a:r>
              <a:rPr lang="en-US" dirty="0" smtClean="0"/>
              <a:t> performs on </a:t>
            </a:r>
            <a:r>
              <a:rPr lang="en-US" dirty="0"/>
              <a:t>OpenCL-based </a:t>
            </a:r>
            <a:r>
              <a:rPr lang="en-US" dirty="0" smtClean="0"/>
              <a:t>FPGAs? </a:t>
            </a:r>
            <a:r>
              <a:rPr lang="en-US" sz="3200" dirty="0" smtClean="0">
                <a:solidFill>
                  <a:srgbClr val="FF0000"/>
                </a:solidFill>
                <a:latin typeface="Comic Sans MS" pitchFamily="66" charset="0"/>
              </a:rPr>
              <a:t> </a:t>
            </a:r>
            <a:endParaRPr lang="en-US" sz="3200" dirty="0">
              <a:solidFill>
                <a:srgbClr val="FF0000"/>
              </a:solidFill>
              <a:latin typeface="Comic Sans MS" pitchFamily="66"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41</a:t>
            </a:fld>
            <a:endParaRPr lang="en-US"/>
          </a:p>
        </p:txBody>
      </p:sp>
      <p:sp>
        <p:nvSpPr>
          <p:cNvPr id="5" name="TextBox 4"/>
          <p:cNvSpPr txBox="1"/>
          <p:nvPr/>
        </p:nvSpPr>
        <p:spPr>
          <a:xfrm>
            <a:off x="457200" y="5618737"/>
            <a:ext cx="7848600" cy="646331"/>
          </a:xfrm>
          <a:prstGeom prst="rect">
            <a:avLst/>
          </a:prstGeom>
          <a:noFill/>
        </p:spPr>
        <p:txBody>
          <a:bodyPr wrap="square" rtlCol="0">
            <a:spAutoFit/>
          </a:bodyPr>
          <a:lstStyle/>
          <a:p>
            <a:r>
              <a:rPr lang="en-US" dirty="0" smtClean="0"/>
              <a:t>[1] </a:t>
            </a:r>
            <a:r>
              <a:rPr lang="en-US" i="1" dirty="0" err="1" smtClean="0"/>
              <a:t>Shuhao</a:t>
            </a:r>
            <a:r>
              <a:rPr lang="en-US" i="1" dirty="0" smtClean="0"/>
              <a:t> Zhang and </a:t>
            </a:r>
            <a:r>
              <a:rPr lang="en-US" i="1" dirty="0"/>
              <a:t>et al</a:t>
            </a:r>
            <a:r>
              <a:rPr lang="en-US" i="1" dirty="0" smtClean="0"/>
              <a:t>. </a:t>
            </a:r>
            <a:r>
              <a:rPr lang="en-US" i="1" dirty="0" err="1" smtClean="0"/>
              <a:t>OmniDB</a:t>
            </a:r>
            <a:r>
              <a:rPr lang="en-US" i="1" dirty="0" smtClean="0"/>
              <a:t>: Towards Portable and Efficient Query Processing on Parallel CPU/GPU Architectures, VLDB’13. </a:t>
            </a:r>
            <a:endParaRPr lang="en-US" i="1" dirty="0">
              <a:latin typeface="Comic Sans MS" pitchFamily="66" charset="0"/>
            </a:endParaRPr>
          </a:p>
        </p:txBody>
      </p:sp>
    </p:spTree>
    <p:extLst>
      <p:ext uri="{BB962C8B-B14F-4D97-AF65-F5344CB8AC3E}">
        <p14:creationId xmlns:p14="http://schemas.microsoft.com/office/powerpoint/2010/main" val="21021384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05800" cy="1143000"/>
          </a:xfrm>
        </p:spPr>
        <p:txBody>
          <a:bodyPr>
            <a:normAutofit/>
          </a:bodyPr>
          <a:lstStyle/>
          <a:p>
            <a:r>
              <a:rPr lang="en-US" dirty="0" smtClean="0"/>
              <a:t>Challenge (Large Exploration Space) </a:t>
            </a:r>
            <a:endParaRPr lang="en-US" dirty="0"/>
          </a:p>
        </p:txBody>
      </p:sp>
      <p:sp>
        <p:nvSpPr>
          <p:cNvPr id="3" name="Content Placeholder 2"/>
          <p:cNvSpPr>
            <a:spLocks noGrp="1"/>
          </p:cNvSpPr>
          <p:nvPr>
            <p:ph idx="1"/>
          </p:nvPr>
        </p:nvSpPr>
        <p:spPr>
          <a:xfrm>
            <a:off x="457200" y="1442502"/>
            <a:ext cx="8229600" cy="4913847"/>
          </a:xfrm>
        </p:spPr>
        <p:txBody>
          <a:bodyPr>
            <a:normAutofit/>
          </a:bodyPr>
          <a:lstStyle/>
          <a:p>
            <a:r>
              <a:rPr lang="en-US" dirty="0" smtClean="0"/>
              <a:t>A single </a:t>
            </a:r>
            <a:r>
              <a:rPr lang="en-US" dirty="0"/>
              <a:t>SQL query </a:t>
            </a:r>
            <a:r>
              <a:rPr lang="en-US" dirty="0" smtClean="0"/>
              <a:t>can have many possible query execution plans on FPGAs. </a:t>
            </a:r>
          </a:p>
          <a:p>
            <a:pPr lvl="1"/>
            <a:r>
              <a:rPr lang="en-US" dirty="0" smtClean="0"/>
              <a:t>Each query has multiple </a:t>
            </a:r>
            <a:r>
              <a:rPr lang="en-US" dirty="0"/>
              <a:t>operators, and each </a:t>
            </a:r>
            <a:r>
              <a:rPr lang="en-US" dirty="0" smtClean="0"/>
              <a:t>operator consists of </a:t>
            </a:r>
            <a:r>
              <a:rPr lang="en-US" dirty="0"/>
              <a:t>multiple OpenCL kernels</a:t>
            </a:r>
            <a:r>
              <a:rPr lang="en-US" dirty="0" smtClean="0"/>
              <a:t>.</a:t>
            </a:r>
          </a:p>
          <a:p>
            <a:pPr lvl="1"/>
            <a:r>
              <a:rPr lang="en-US" dirty="0" smtClean="0"/>
              <a:t>Each </a:t>
            </a:r>
            <a:r>
              <a:rPr lang="en-US" dirty="0"/>
              <a:t>OpenCL kernel can have different </a:t>
            </a:r>
            <a:r>
              <a:rPr lang="en-US" dirty="0" smtClean="0"/>
              <a:t>FPGA-specific optimization combinations. </a:t>
            </a:r>
          </a:p>
          <a:p>
            <a:pPr marL="457200" lvl="1" indent="0">
              <a:buNone/>
            </a:pPr>
            <a:endParaRPr lang="en-US" dirty="0" smtClean="0"/>
          </a:p>
          <a:p>
            <a:r>
              <a:rPr lang="en-US" dirty="0" smtClean="0"/>
              <a:t>We also consider another dimension of using multiple FPGA images. </a:t>
            </a:r>
          </a:p>
          <a:p>
            <a:pPr marL="0" indent="0">
              <a:buNone/>
            </a:pP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2934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715963"/>
          </a:xfrm>
        </p:spPr>
        <p:txBody>
          <a:bodyPr>
            <a:normAutofit fontScale="90000"/>
          </a:bodyPr>
          <a:lstStyle/>
          <a:p>
            <a:r>
              <a:rPr lang="en-US" dirty="0" smtClean="0"/>
              <a:t>Observation</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43</a:t>
            </a:fld>
            <a:endParaRPr lang="en-US"/>
          </a:p>
        </p:txBody>
      </p:sp>
      <p:sp>
        <p:nvSpPr>
          <p:cNvPr id="7" name="Content Placeholder 2"/>
          <p:cNvSpPr>
            <a:spLocks noGrp="1"/>
          </p:cNvSpPr>
          <p:nvPr>
            <p:ph idx="1"/>
          </p:nvPr>
        </p:nvSpPr>
        <p:spPr>
          <a:xfrm>
            <a:off x="457200" y="1143001"/>
            <a:ext cx="8382000" cy="2361169"/>
          </a:xfrm>
        </p:spPr>
        <p:txBody>
          <a:bodyPr>
            <a:normAutofit/>
          </a:bodyPr>
          <a:lstStyle/>
          <a:p>
            <a:r>
              <a:rPr lang="en-US" dirty="0" smtClean="0"/>
              <a:t>There </a:t>
            </a:r>
            <a:r>
              <a:rPr lang="en-US" dirty="0"/>
              <a:t>is an FPGA-specific </a:t>
            </a:r>
            <a:r>
              <a:rPr lang="en-US" dirty="0" smtClean="0"/>
              <a:t>trade-off between the following two factors.  </a:t>
            </a:r>
            <a:endParaRPr lang="en-US" b="1" dirty="0" smtClean="0"/>
          </a:p>
          <a:p>
            <a:pPr lvl="1"/>
            <a:r>
              <a:rPr lang="en-US" dirty="0" smtClean="0"/>
              <a:t>Optimization combination for each kernel</a:t>
            </a:r>
            <a:endParaRPr lang="en-US" dirty="0"/>
          </a:p>
          <a:p>
            <a:pPr lvl="1"/>
            <a:r>
              <a:rPr lang="en-US" dirty="0" smtClean="0"/>
              <a:t>Reconfiguration overhead</a:t>
            </a:r>
          </a:p>
        </p:txBody>
      </p:sp>
      <p:sp>
        <p:nvSpPr>
          <p:cNvPr id="13" name="TextBox 12"/>
          <p:cNvSpPr txBox="1">
            <a:spLocks noChangeArrowheads="1"/>
          </p:cNvSpPr>
          <p:nvPr/>
        </p:nvSpPr>
        <p:spPr bwMode="auto">
          <a:xfrm>
            <a:off x="1054510" y="3352800"/>
            <a:ext cx="7098890" cy="954107"/>
          </a:xfrm>
          <a:prstGeom prst="rect">
            <a:avLst/>
          </a:prstGeom>
          <a:solidFill>
            <a:srgbClr val="FFFF00"/>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sz="2800" dirty="0" smtClean="0"/>
              <a:t>More </a:t>
            </a:r>
            <a:r>
              <a:rPr lang="en-US" sz="2800" dirty="0"/>
              <a:t>aggregative optimizations </a:t>
            </a:r>
            <a:r>
              <a:rPr lang="en-US" altLang="zh-CN" sz="2800" dirty="0"/>
              <a:t>for each kernel </a:t>
            </a:r>
            <a:r>
              <a:rPr lang="en-US" sz="2800" dirty="0">
                <a:sym typeface="Wingdings" panose="05000000000000000000" pitchFamily="2" charset="2"/>
              </a:rPr>
              <a:t></a:t>
            </a:r>
            <a:r>
              <a:rPr lang="en-US" sz="2800" dirty="0"/>
              <a:t>                                             </a:t>
            </a:r>
            <a:r>
              <a:rPr lang="en-US" sz="2800" dirty="0" smtClean="0">
                <a:sym typeface="Wingdings" panose="05000000000000000000" pitchFamily="2" charset="2"/>
              </a:rPr>
              <a:t></a:t>
            </a:r>
            <a:endParaRPr lang="en-US" sz="2800" dirty="0"/>
          </a:p>
        </p:txBody>
      </p:sp>
      <p:sp>
        <p:nvSpPr>
          <p:cNvPr id="14" name="TextBox 13"/>
          <p:cNvSpPr txBox="1">
            <a:spLocks noChangeArrowheads="1"/>
          </p:cNvSpPr>
          <p:nvPr/>
        </p:nvSpPr>
        <p:spPr bwMode="auto">
          <a:xfrm>
            <a:off x="1034844" y="4255368"/>
            <a:ext cx="7098890" cy="523220"/>
          </a:xfrm>
          <a:prstGeom prst="rect">
            <a:avLst/>
          </a:prstGeom>
          <a:solidFill>
            <a:srgbClr val="FFFF00"/>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sz="2800" dirty="0"/>
              <a:t>More resources </a:t>
            </a:r>
            <a:r>
              <a:rPr lang="en-US" altLang="zh-CN" sz="2800" dirty="0"/>
              <a:t>for each kernel </a:t>
            </a:r>
            <a:r>
              <a:rPr lang="en-US" sz="2800" dirty="0">
                <a:sym typeface="Wingdings" panose="05000000000000000000" pitchFamily="2" charset="2"/>
              </a:rPr>
              <a:t>     </a:t>
            </a:r>
            <a:r>
              <a:rPr lang="en-US" sz="2800" dirty="0"/>
              <a:t>        </a:t>
            </a:r>
          </a:p>
        </p:txBody>
      </p:sp>
      <p:sp>
        <p:nvSpPr>
          <p:cNvPr id="15" name="TextBox 14"/>
          <p:cNvSpPr txBox="1">
            <a:spLocks noChangeArrowheads="1"/>
          </p:cNvSpPr>
          <p:nvPr/>
        </p:nvSpPr>
        <p:spPr bwMode="auto">
          <a:xfrm>
            <a:off x="1044677" y="4778588"/>
            <a:ext cx="7098890" cy="523220"/>
          </a:xfrm>
          <a:prstGeom prst="rect">
            <a:avLst/>
          </a:prstGeom>
          <a:solidFill>
            <a:srgbClr val="FFFF00"/>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sz="2800" dirty="0"/>
              <a:t>More resources for the entire query </a:t>
            </a:r>
            <a:r>
              <a:rPr lang="en-US" sz="2800" dirty="0">
                <a:sym typeface="Wingdings" panose="05000000000000000000" pitchFamily="2" charset="2"/>
              </a:rPr>
              <a:t></a:t>
            </a:r>
            <a:endParaRPr lang="en-US" sz="2800" dirty="0"/>
          </a:p>
        </p:txBody>
      </p:sp>
      <p:sp>
        <p:nvSpPr>
          <p:cNvPr id="16" name="TextBox 15"/>
          <p:cNvSpPr txBox="1">
            <a:spLocks noChangeArrowheads="1"/>
          </p:cNvSpPr>
          <p:nvPr/>
        </p:nvSpPr>
        <p:spPr bwMode="auto">
          <a:xfrm>
            <a:off x="1034844" y="5301808"/>
            <a:ext cx="7098890" cy="523220"/>
          </a:xfrm>
          <a:prstGeom prst="rect">
            <a:avLst/>
          </a:prstGeom>
          <a:solidFill>
            <a:srgbClr val="FFFF00"/>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sz="2800" dirty="0"/>
              <a:t>More FPGA images </a:t>
            </a:r>
            <a:r>
              <a:rPr lang="en-US" sz="2800" dirty="0">
                <a:sym typeface="Wingdings" panose="05000000000000000000" pitchFamily="2" charset="2"/>
              </a:rPr>
              <a:t></a:t>
            </a:r>
            <a:r>
              <a:rPr lang="en-US" sz="2800" dirty="0"/>
              <a:t>                         </a:t>
            </a:r>
            <a:r>
              <a:rPr lang="en-US" sz="2800" dirty="0">
                <a:sym typeface="Wingdings" panose="05000000000000000000" pitchFamily="2" charset="2"/>
              </a:rPr>
              <a:t></a:t>
            </a:r>
            <a:r>
              <a:rPr lang="en-US" sz="2800" dirty="0"/>
              <a:t>                      </a:t>
            </a:r>
          </a:p>
        </p:txBody>
      </p:sp>
      <p:sp>
        <p:nvSpPr>
          <p:cNvPr id="17" name="TextBox 16"/>
          <p:cNvSpPr txBox="1">
            <a:spLocks noChangeArrowheads="1"/>
          </p:cNvSpPr>
          <p:nvPr/>
        </p:nvSpPr>
        <p:spPr bwMode="auto">
          <a:xfrm>
            <a:off x="1034844" y="5825028"/>
            <a:ext cx="7098890" cy="523220"/>
          </a:xfrm>
          <a:prstGeom prst="rect">
            <a:avLst/>
          </a:prstGeom>
          <a:solidFill>
            <a:srgbClr val="FFFF00"/>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sz="2800" dirty="0"/>
              <a:t>Higher FPGA reconfiguration overhead </a:t>
            </a:r>
            <a:r>
              <a:rPr lang="en-US" sz="2800" dirty="0">
                <a:sym typeface="Wingdings" panose="05000000000000000000" pitchFamily="2" charset="2"/>
              </a:rPr>
              <a:t></a:t>
            </a:r>
            <a:endParaRPr lang="en-US" sz="2800" dirty="0">
              <a:solidFill>
                <a:srgbClr val="002060"/>
              </a:solidFill>
            </a:endParaRPr>
          </a:p>
        </p:txBody>
      </p:sp>
    </p:spTree>
    <p:extLst>
      <p:ext uri="{BB962C8B-B14F-4D97-AF65-F5344CB8AC3E}">
        <p14:creationId xmlns:p14="http://schemas.microsoft.com/office/powerpoint/2010/main" val="32080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80514"/>
          </a:xfrm>
        </p:spPr>
        <p:txBody>
          <a:bodyPr>
            <a:normAutofit fontScale="90000"/>
          </a:bodyPr>
          <a:lstStyle/>
          <a:p>
            <a:r>
              <a:rPr lang="en-US" dirty="0" smtClean="0"/>
              <a:t>Impact of Optimization Combination</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44</a:t>
            </a:fld>
            <a:endParaRPr lang="en-US"/>
          </a:p>
        </p:txBody>
      </p:sp>
      <p:graphicFrame>
        <p:nvGraphicFramePr>
          <p:cNvPr id="11" name="Chart 10"/>
          <p:cNvGraphicFramePr>
            <a:graphicFrameLocks/>
          </p:cNvGraphicFramePr>
          <p:nvPr>
            <p:extLst>
              <p:ext uri="{D42A27DB-BD31-4B8C-83A1-F6EECF244321}">
                <p14:modId xmlns:p14="http://schemas.microsoft.com/office/powerpoint/2010/main" val="2836218602"/>
              </p:ext>
            </p:extLst>
          </p:nvPr>
        </p:nvGraphicFramePr>
        <p:xfrm>
          <a:off x="2095500" y="1071233"/>
          <a:ext cx="4953000" cy="3080298"/>
        </p:xfrm>
        <a:graphic>
          <a:graphicData uri="http://schemas.openxmlformats.org/drawingml/2006/chart">
            <c:chart xmlns:c="http://schemas.openxmlformats.org/drawingml/2006/chart" xmlns:r="http://schemas.openxmlformats.org/officeDocument/2006/relationships" r:id="rId3"/>
          </a:graphicData>
        </a:graphic>
      </p:graphicFrame>
      <p:sp>
        <p:nvSpPr>
          <p:cNvPr id="16" name="Content Placeholder 2"/>
          <p:cNvSpPr>
            <a:spLocks noGrp="1"/>
          </p:cNvSpPr>
          <p:nvPr>
            <p:ph idx="1"/>
          </p:nvPr>
        </p:nvSpPr>
        <p:spPr>
          <a:xfrm>
            <a:off x="1295400" y="4112062"/>
            <a:ext cx="7239000" cy="922485"/>
          </a:xfrm>
        </p:spPr>
        <p:txBody>
          <a:bodyPr>
            <a:normAutofit lnSpcReduction="10000"/>
          </a:bodyPr>
          <a:lstStyle/>
          <a:p>
            <a:pPr marL="0" indent="0">
              <a:buNone/>
            </a:pPr>
            <a:r>
              <a:rPr lang="en-US" sz="2800" dirty="0" smtClean="0"/>
              <a:t>Time </a:t>
            </a:r>
            <a:r>
              <a:rPr lang="en-US" sz="2800" dirty="0"/>
              <a:t>and resource utilization of </a:t>
            </a:r>
            <a:r>
              <a:rPr lang="en-US" sz="2800" i="1" dirty="0" err="1" smtClean="0"/>
              <a:t>scanLargeArrays</a:t>
            </a:r>
            <a:r>
              <a:rPr lang="en-US" sz="2800" dirty="0" smtClean="0"/>
              <a:t> kernel (@prefix </a:t>
            </a:r>
            <a:r>
              <a:rPr lang="en-US" sz="2800" dirty="0"/>
              <a:t>scan</a:t>
            </a:r>
            <a:r>
              <a:rPr lang="en-US" sz="2800" dirty="0" smtClean="0"/>
              <a:t>) with 128M tuples</a:t>
            </a:r>
            <a:endParaRPr lang="en-US" sz="2800" dirty="0"/>
          </a:p>
        </p:txBody>
      </p:sp>
      <p:sp>
        <p:nvSpPr>
          <p:cNvPr id="7" name="TextBox 6"/>
          <p:cNvSpPr txBox="1">
            <a:spLocks noChangeArrowheads="1"/>
          </p:cNvSpPr>
          <p:nvPr/>
        </p:nvSpPr>
        <p:spPr bwMode="auto">
          <a:xfrm>
            <a:off x="1930810" y="4953025"/>
            <a:ext cx="5308190" cy="461665"/>
          </a:xfrm>
          <a:prstGeom prst="rect">
            <a:avLst/>
          </a:prstGeom>
          <a:solidFill>
            <a:srgbClr val="FFFF00"/>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dirty="0" smtClean="0"/>
              <a:t>More </a:t>
            </a:r>
            <a:r>
              <a:rPr lang="en-US" dirty="0"/>
              <a:t>aggregative </a:t>
            </a:r>
            <a:r>
              <a:rPr lang="en-US" dirty="0" smtClean="0"/>
              <a:t>optimizations  </a:t>
            </a:r>
            <a:r>
              <a:rPr lang="en-US" dirty="0" smtClean="0">
                <a:sym typeface="Wingdings" panose="05000000000000000000" pitchFamily="2" charset="2"/>
              </a:rPr>
              <a:t></a:t>
            </a:r>
            <a:endParaRPr lang="en-US" dirty="0"/>
          </a:p>
        </p:txBody>
      </p:sp>
      <p:sp>
        <p:nvSpPr>
          <p:cNvPr id="8" name="TextBox 7"/>
          <p:cNvSpPr txBox="1">
            <a:spLocks noChangeArrowheads="1"/>
          </p:cNvSpPr>
          <p:nvPr/>
        </p:nvSpPr>
        <p:spPr bwMode="auto">
          <a:xfrm>
            <a:off x="1930810" y="5412859"/>
            <a:ext cx="5308190" cy="461665"/>
          </a:xfrm>
          <a:prstGeom prst="rect">
            <a:avLst/>
          </a:prstGeom>
          <a:solidFill>
            <a:srgbClr val="FFFF00"/>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dirty="0"/>
              <a:t>More resource utilization </a:t>
            </a:r>
            <a:r>
              <a:rPr lang="en-US" dirty="0" smtClean="0"/>
              <a:t>          </a:t>
            </a:r>
            <a:r>
              <a:rPr lang="en-US" dirty="0" smtClean="0">
                <a:sym typeface="Wingdings" panose="05000000000000000000" pitchFamily="2" charset="2"/>
              </a:rPr>
              <a:t> </a:t>
            </a:r>
            <a:endParaRPr lang="en-US" dirty="0">
              <a:sym typeface="Wingdings" panose="05000000000000000000" pitchFamily="2" charset="2"/>
            </a:endParaRPr>
          </a:p>
        </p:txBody>
      </p:sp>
      <p:sp>
        <p:nvSpPr>
          <p:cNvPr id="10" name="TextBox 9"/>
          <p:cNvSpPr txBox="1">
            <a:spLocks noChangeArrowheads="1"/>
          </p:cNvSpPr>
          <p:nvPr/>
        </p:nvSpPr>
        <p:spPr bwMode="auto">
          <a:xfrm>
            <a:off x="1930810" y="5874524"/>
            <a:ext cx="5308190" cy="461665"/>
          </a:xfrm>
          <a:prstGeom prst="rect">
            <a:avLst/>
          </a:prstGeom>
          <a:solidFill>
            <a:srgbClr val="FFFF00"/>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dirty="0" smtClean="0">
                <a:sym typeface="Wingdings" panose="05000000000000000000" pitchFamily="2" charset="2"/>
              </a:rPr>
              <a:t>Higher </a:t>
            </a:r>
            <a:r>
              <a:rPr lang="en-US" dirty="0">
                <a:sym typeface="Wingdings" panose="05000000000000000000" pitchFamily="2" charset="2"/>
              </a:rPr>
              <a:t>performance</a:t>
            </a:r>
            <a:endParaRPr lang="en-US" dirty="0">
              <a:solidFill>
                <a:srgbClr val="002060"/>
              </a:solidFill>
            </a:endParaRPr>
          </a:p>
        </p:txBody>
      </p:sp>
    </p:spTree>
    <p:extLst>
      <p:ext uri="{BB962C8B-B14F-4D97-AF65-F5344CB8AC3E}">
        <p14:creationId xmlns:p14="http://schemas.microsoft.com/office/powerpoint/2010/main" val="3973185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80514"/>
          </a:xfrm>
        </p:spPr>
        <p:txBody>
          <a:bodyPr>
            <a:normAutofit/>
          </a:bodyPr>
          <a:lstStyle/>
          <a:p>
            <a:r>
              <a:rPr lang="en-US" dirty="0" smtClean="0"/>
              <a:t>FPGA Reconfiguration Overhead</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45</a:t>
            </a:fld>
            <a:endParaRPr lang="en-US"/>
          </a:p>
        </p:txBody>
      </p:sp>
      <p:sp>
        <p:nvSpPr>
          <p:cNvPr id="12" name="TextBox 13"/>
          <p:cNvSpPr txBox="1">
            <a:spLocks noChangeArrowheads="1"/>
          </p:cNvSpPr>
          <p:nvPr/>
        </p:nvSpPr>
        <p:spPr bwMode="auto">
          <a:xfrm>
            <a:off x="1295400" y="5318001"/>
            <a:ext cx="6553200" cy="954107"/>
          </a:xfrm>
          <a:prstGeom prst="rect">
            <a:avLst/>
          </a:prstGeom>
          <a:solidFill>
            <a:srgbClr val="FFFF00"/>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sz="2800" dirty="0" smtClean="0"/>
              <a:t>FPGA reconfiguration overhead is significant in the current FPGA board. </a:t>
            </a:r>
            <a:endParaRPr lang="en-US" sz="2800" dirty="0">
              <a:solidFill>
                <a:srgbClr val="002060"/>
              </a:solidFill>
            </a:endParaRPr>
          </a:p>
        </p:txBody>
      </p:sp>
      <p:sp>
        <p:nvSpPr>
          <p:cNvPr id="7" name="Content Placeholder 2"/>
          <p:cNvSpPr>
            <a:spLocks noGrp="1"/>
          </p:cNvSpPr>
          <p:nvPr>
            <p:ph idx="1"/>
          </p:nvPr>
        </p:nvSpPr>
        <p:spPr>
          <a:xfrm>
            <a:off x="457200" y="1323636"/>
            <a:ext cx="8229600" cy="3994365"/>
          </a:xfrm>
        </p:spPr>
        <p:txBody>
          <a:bodyPr>
            <a:normAutofit/>
          </a:bodyPr>
          <a:lstStyle/>
          <a:p>
            <a:r>
              <a:rPr lang="en-US" dirty="0" smtClean="0"/>
              <a:t>According to Altera, FPGA reconfiguration overhead contains three sources. </a:t>
            </a:r>
          </a:p>
          <a:p>
            <a:pPr lvl="1"/>
            <a:r>
              <a:rPr lang="en-US" altLang="zh-CN" dirty="0" smtClean="0"/>
              <a:t>T</a:t>
            </a:r>
            <a:r>
              <a:rPr lang="en-US" dirty="0" smtClean="0"/>
              <a:t>ransfer </a:t>
            </a:r>
            <a:r>
              <a:rPr lang="en-US" dirty="0"/>
              <a:t>the active contents (memory footprint) </a:t>
            </a:r>
            <a:r>
              <a:rPr lang="en-US" dirty="0" smtClean="0"/>
              <a:t>from FPGA </a:t>
            </a:r>
            <a:r>
              <a:rPr lang="en-US" dirty="0"/>
              <a:t>memory </a:t>
            </a:r>
            <a:r>
              <a:rPr lang="en-US" dirty="0" smtClean="0"/>
              <a:t>to host </a:t>
            </a:r>
            <a:r>
              <a:rPr lang="en-US" dirty="0"/>
              <a:t>memory via </a:t>
            </a:r>
            <a:r>
              <a:rPr lang="en-US" dirty="0" err="1"/>
              <a:t>PCIe</a:t>
            </a:r>
            <a:r>
              <a:rPr lang="en-US" dirty="0"/>
              <a:t> (roughly </a:t>
            </a:r>
            <a:r>
              <a:rPr lang="en-US" dirty="0" smtClean="0"/>
              <a:t>2</a:t>
            </a:r>
            <a:r>
              <a:rPr lang="en-US" altLang="zh-CN" dirty="0" smtClean="0"/>
              <a:t>G</a:t>
            </a:r>
            <a:r>
              <a:rPr lang="en-US" dirty="0" smtClean="0"/>
              <a:t>B/s)</a:t>
            </a:r>
          </a:p>
          <a:p>
            <a:pPr lvl="1"/>
            <a:r>
              <a:rPr lang="en-US" dirty="0" smtClean="0"/>
              <a:t>Fully reconfigure </a:t>
            </a:r>
            <a:r>
              <a:rPr lang="en-US" dirty="0"/>
              <a:t>the </a:t>
            </a:r>
            <a:r>
              <a:rPr lang="en-US" dirty="0" smtClean="0"/>
              <a:t>FPGA (roughly 1914.6ms).</a:t>
            </a:r>
          </a:p>
          <a:p>
            <a:pPr lvl="1"/>
            <a:r>
              <a:rPr lang="en-US" altLang="zh-CN" dirty="0" smtClean="0"/>
              <a:t>T</a:t>
            </a:r>
            <a:r>
              <a:rPr lang="en-US" dirty="0" smtClean="0"/>
              <a:t>ransfer the active </a:t>
            </a:r>
            <a:r>
              <a:rPr lang="en-US" dirty="0"/>
              <a:t>contents </a:t>
            </a:r>
            <a:r>
              <a:rPr lang="en-US" altLang="zh-CN" dirty="0" smtClean="0"/>
              <a:t>from </a:t>
            </a:r>
            <a:r>
              <a:rPr lang="en-US" dirty="0" smtClean="0"/>
              <a:t>host memory </a:t>
            </a:r>
            <a:r>
              <a:rPr lang="en-US" dirty="0"/>
              <a:t>to </a:t>
            </a:r>
            <a:r>
              <a:rPr lang="en-US" dirty="0" smtClean="0"/>
              <a:t>FPGA memory </a:t>
            </a:r>
            <a:r>
              <a:rPr lang="en-US" dirty="0"/>
              <a:t>via </a:t>
            </a:r>
            <a:r>
              <a:rPr lang="en-US" dirty="0" err="1" smtClean="0"/>
              <a:t>PCIe</a:t>
            </a:r>
            <a:r>
              <a:rPr lang="en-US" dirty="0" smtClean="0"/>
              <a:t> (roughly 2</a:t>
            </a:r>
            <a:r>
              <a:rPr lang="en-US" altLang="zh-CN" dirty="0" smtClean="0"/>
              <a:t>G</a:t>
            </a:r>
            <a:r>
              <a:rPr lang="en-US" dirty="0" smtClean="0"/>
              <a:t>B/s)</a:t>
            </a:r>
            <a:endParaRPr lang="en-US" dirty="0"/>
          </a:p>
        </p:txBody>
      </p:sp>
    </p:spTree>
    <p:extLst>
      <p:ext uri="{BB962C8B-B14F-4D97-AF65-F5344CB8AC3E}">
        <p14:creationId xmlns:p14="http://schemas.microsoft.com/office/powerpoint/2010/main" val="2590788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Our Approach</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dirty="0"/>
          </a:p>
        </p:txBody>
      </p:sp>
      <p:sp>
        <p:nvSpPr>
          <p:cNvPr id="8" name="Content Placeholder 2"/>
          <p:cNvSpPr>
            <a:spLocks noGrp="1"/>
          </p:cNvSpPr>
          <p:nvPr>
            <p:ph idx="1"/>
          </p:nvPr>
        </p:nvSpPr>
        <p:spPr>
          <a:xfrm>
            <a:off x="416859" y="1561524"/>
            <a:ext cx="8153400" cy="4153476"/>
          </a:xfrm>
        </p:spPr>
        <p:txBody>
          <a:bodyPr>
            <a:normAutofit/>
          </a:bodyPr>
          <a:lstStyle/>
          <a:p>
            <a:r>
              <a:rPr lang="en-US" altLang="zh-CN" dirty="0" smtClean="0"/>
              <a:t>Q</a:t>
            </a:r>
            <a:r>
              <a:rPr lang="en-US" dirty="0" smtClean="0"/>
              <a:t>uery processor: accelerated with FPGA-specific optimizations</a:t>
            </a:r>
          </a:p>
          <a:p>
            <a:r>
              <a:rPr lang="en-US" dirty="0" smtClean="0"/>
              <a:t>FPGA-specific cost model</a:t>
            </a:r>
            <a:r>
              <a:rPr lang="en-US" dirty="0"/>
              <a:t>:</a:t>
            </a:r>
            <a:r>
              <a:rPr lang="en-US" dirty="0" smtClean="0"/>
              <a:t> to determine the optimal query plan for the input query</a:t>
            </a:r>
          </a:p>
        </p:txBody>
      </p:sp>
    </p:spTree>
    <p:extLst>
      <p:ext uri="{BB962C8B-B14F-4D97-AF65-F5344CB8AC3E}">
        <p14:creationId xmlns:p14="http://schemas.microsoft.com/office/powerpoint/2010/main" val="179892680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12802"/>
            <a:ext cx="9601200" cy="753258"/>
          </a:xfrm>
        </p:spPr>
        <p:txBody>
          <a:bodyPr>
            <a:normAutofit fontScale="90000"/>
          </a:bodyPr>
          <a:lstStyle/>
          <a:p>
            <a:r>
              <a:rPr lang="en-US" dirty="0" smtClean="0"/>
              <a:t>Query Processor (</a:t>
            </a:r>
            <a:r>
              <a:rPr lang="en-US" altLang="zh-CN" dirty="0" smtClean="0"/>
              <a:t>Operator Kernel Level</a:t>
            </a:r>
            <a:r>
              <a:rPr lang="en-US" altLang="zh-CN" dirty="0"/>
              <a:t>)</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47</a:t>
            </a:fld>
            <a:endParaRPr lang="en-US" dirty="0"/>
          </a:p>
        </p:txBody>
      </p:sp>
      <p:sp>
        <p:nvSpPr>
          <p:cNvPr id="8" name="Content Placeholder 2"/>
          <p:cNvSpPr>
            <a:spLocks noGrp="1"/>
          </p:cNvSpPr>
          <p:nvPr>
            <p:ph idx="1"/>
          </p:nvPr>
        </p:nvSpPr>
        <p:spPr>
          <a:xfrm>
            <a:off x="533400" y="3642239"/>
            <a:ext cx="8382000" cy="3079236"/>
          </a:xfrm>
        </p:spPr>
        <p:txBody>
          <a:bodyPr>
            <a:normAutofit lnSpcReduction="10000"/>
          </a:bodyPr>
          <a:lstStyle/>
          <a:p>
            <a:r>
              <a:rPr lang="en-US" altLang="zh-CN" dirty="0" smtClean="0"/>
              <a:t>The layered design of query processor contains four operators (constituting the SQL query). </a:t>
            </a:r>
          </a:p>
          <a:p>
            <a:pPr lvl="1"/>
            <a:r>
              <a:rPr lang="en-US" dirty="0" smtClean="0"/>
              <a:t>Selection (5 operator kernels)</a:t>
            </a:r>
            <a:endParaRPr lang="en-US" dirty="0"/>
          </a:p>
          <a:p>
            <a:pPr lvl="1"/>
            <a:r>
              <a:rPr lang="en-US" dirty="0" smtClean="0"/>
              <a:t>Order-by (2 </a:t>
            </a:r>
            <a:r>
              <a:rPr lang="en-US" dirty="0"/>
              <a:t>operator kernels</a:t>
            </a:r>
            <a:r>
              <a:rPr lang="en-US" dirty="0" smtClean="0"/>
              <a:t>)</a:t>
            </a:r>
          </a:p>
          <a:p>
            <a:pPr lvl="1"/>
            <a:r>
              <a:rPr lang="en-US" dirty="0" smtClean="0"/>
              <a:t>Grouping and Aggregation (7 </a:t>
            </a:r>
            <a:r>
              <a:rPr lang="en-US" dirty="0"/>
              <a:t>operator kernels</a:t>
            </a:r>
            <a:r>
              <a:rPr lang="en-US" dirty="0" smtClean="0"/>
              <a:t>)</a:t>
            </a:r>
          </a:p>
          <a:p>
            <a:pPr lvl="1"/>
            <a:r>
              <a:rPr lang="en-US" dirty="0" smtClean="0"/>
              <a:t>Join (2 </a:t>
            </a:r>
            <a:r>
              <a:rPr lang="en-US" dirty="0"/>
              <a:t>operator kernels</a:t>
            </a:r>
            <a:r>
              <a:rPr lang="en-US" dirty="0" smtClean="0"/>
              <a:t>)</a:t>
            </a:r>
          </a:p>
        </p:txBody>
      </p:sp>
      <p:graphicFrame>
        <p:nvGraphicFramePr>
          <p:cNvPr id="5" name="Object 4"/>
          <p:cNvGraphicFramePr>
            <a:graphicFrameLocks noChangeAspect="1"/>
          </p:cNvGraphicFramePr>
          <p:nvPr>
            <p:extLst>
              <p:ext uri="{D42A27DB-BD31-4B8C-83A1-F6EECF244321}">
                <p14:modId xmlns:p14="http://schemas.microsoft.com/office/powerpoint/2010/main" val="1642935787"/>
              </p:ext>
            </p:extLst>
          </p:nvPr>
        </p:nvGraphicFramePr>
        <p:xfrm>
          <a:off x="2879967" y="1124942"/>
          <a:ext cx="3231665" cy="2517297"/>
        </p:xfrm>
        <a:graphic>
          <a:graphicData uri="http://schemas.openxmlformats.org/presentationml/2006/ole">
            <mc:AlternateContent xmlns:mc="http://schemas.openxmlformats.org/markup-compatibility/2006">
              <mc:Choice xmlns:v="urn:schemas-microsoft-com:vml" Requires="v">
                <p:oleObj spid="_x0000_s2103" name="Acrobat Document" r:id="rId4" imgW="3619241" imgH="2819340" progId="AcroExch.Document.11">
                  <p:embed/>
                </p:oleObj>
              </mc:Choice>
              <mc:Fallback>
                <p:oleObj name="Acrobat Document" r:id="rId4" imgW="3619241" imgH="2819340" progId="AcroExch.Document.11">
                  <p:embed/>
                  <p:pic>
                    <p:nvPicPr>
                      <p:cNvPr id="0" name=""/>
                      <p:cNvPicPr/>
                      <p:nvPr/>
                    </p:nvPicPr>
                    <p:blipFill>
                      <a:blip r:embed="rId5"/>
                      <a:stretch>
                        <a:fillRect/>
                      </a:stretch>
                    </p:blipFill>
                    <p:spPr>
                      <a:xfrm>
                        <a:off x="2879967" y="1124942"/>
                        <a:ext cx="3231665" cy="2517297"/>
                      </a:xfrm>
                      <a:prstGeom prst="rect">
                        <a:avLst/>
                      </a:prstGeom>
                    </p:spPr>
                  </p:pic>
                </p:oleObj>
              </mc:Fallback>
            </mc:AlternateContent>
          </a:graphicData>
        </a:graphic>
      </p:graphicFrame>
    </p:spTree>
    <p:extLst>
      <p:ext uri="{BB962C8B-B14F-4D97-AF65-F5344CB8AC3E}">
        <p14:creationId xmlns:p14="http://schemas.microsoft.com/office/powerpoint/2010/main" val="238869906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363"/>
            <a:ext cx="8458200" cy="753258"/>
          </a:xfrm>
        </p:spPr>
        <p:txBody>
          <a:bodyPr>
            <a:normAutofit fontScale="90000"/>
          </a:bodyPr>
          <a:lstStyle/>
          <a:p>
            <a:r>
              <a:rPr lang="en-SG" altLang="en-US" dirty="0" smtClean="0"/>
              <a:t>Operator Kernel</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48</a:t>
            </a:fld>
            <a:endParaRPr lang="en-US" dirty="0"/>
          </a:p>
        </p:txBody>
      </p:sp>
      <p:sp>
        <p:nvSpPr>
          <p:cNvPr id="8" name="Content Placeholder 2"/>
          <p:cNvSpPr>
            <a:spLocks noGrp="1"/>
          </p:cNvSpPr>
          <p:nvPr>
            <p:ph idx="1"/>
          </p:nvPr>
        </p:nvSpPr>
        <p:spPr>
          <a:xfrm>
            <a:off x="609600" y="990600"/>
            <a:ext cx="8305800" cy="5486400"/>
          </a:xfrm>
        </p:spPr>
        <p:txBody>
          <a:bodyPr>
            <a:normAutofit/>
          </a:bodyPr>
          <a:lstStyle/>
          <a:p>
            <a:r>
              <a:rPr lang="en-US" altLang="zh-CN" dirty="0" smtClean="0"/>
              <a:t>A</a:t>
            </a:r>
            <a:r>
              <a:rPr lang="en-US" dirty="0" smtClean="0"/>
              <a:t>dopt the implementation of operator kernel from </a:t>
            </a:r>
            <a:r>
              <a:rPr lang="en-US" i="1" dirty="0" err="1" smtClean="0"/>
              <a:t>OmniDB</a:t>
            </a:r>
            <a:r>
              <a:rPr lang="en-US" dirty="0" smtClean="0"/>
              <a:t>, which has already explored the common optimizations </a:t>
            </a:r>
          </a:p>
          <a:p>
            <a:pPr lvl="1"/>
            <a:r>
              <a:rPr lang="en-US" dirty="0"/>
              <a:t>Thread Parallelism (TP)</a:t>
            </a:r>
          </a:p>
          <a:p>
            <a:pPr lvl="1"/>
            <a:r>
              <a:rPr lang="en-US" dirty="0" smtClean="0"/>
              <a:t>Shared Memory (SM)</a:t>
            </a:r>
          </a:p>
          <a:p>
            <a:pPr lvl="1"/>
            <a:r>
              <a:rPr lang="en-US" dirty="0" smtClean="0"/>
              <a:t>Memory coalescing (MC)</a:t>
            </a:r>
          </a:p>
          <a:p>
            <a:r>
              <a:rPr lang="en-US" dirty="0" smtClean="0"/>
              <a:t>Mainly focuses on FPGA-specific optimizations</a:t>
            </a:r>
          </a:p>
          <a:p>
            <a:pPr lvl="1"/>
            <a:r>
              <a:rPr lang="en-US" dirty="0" smtClean="0"/>
              <a:t>Compute units (CU) </a:t>
            </a:r>
          </a:p>
          <a:p>
            <a:pPr lvl="1"/>
            <a:r>
              <a:rPr lang="en-US" dirty="0"/>
              <a:t>Kernel Vectorization </a:t>
            </a:r>
            <a:r>
              <a:rPr lang="en-US" dirty="0" smtClean="0"/>
              <a:t>(SIMD)</a:t>
            </a:r>
          </a:p>
        </p:txBody>
      </p:sp>
    </p:spTree>
    <p:extLst>
      <p:ext uri="{BB962C8B-B14F-4D97-AF65-F5344CB8AC3E}">
        <p14:creationId xmlns:p14="http://schemas.microsoft.com/office/powerpoint/2010/main" val="30877918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FPGA-specific Cost Model</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49</a:t>
            </a:fld>
            <a:endParaRPr lang="en-US" dirty="0"/>
          </a:p>
        </p:txBody>
      </p:sp>
      <p:sp>
        <p:nvSpPr>
          <p:cNvPr id="8" name="Content Placeholder 2"/>
          <p:cNvSpPr>
            <a:spLocks noGrp="1"/>
          </p:cNvSpPr>
          <p:nvPr>
            <p:ph idx="1"/>
          </p:nvPr>
        </p:nvSpPr>
        <p:spPr>
          <a:xfrm>
            <a:off x="416859" y="1561524"/>
            <a:ext cx="8153400" cy="5067876"/>
          </a:xfrm>
        </p:spPr>
        <p:txBody>
          <a:bodyPr>
            <a:normAutofit/>
          </a:bodyPr>
          <a:lstStyle/>
          <a:p>
            <a:r>
              <a:rPr lang="en-US" dirty="0" smtClean="0"/>
              <a:t>We propose an FPGA-specific cost model to determine the optimal query plan for the input query.</a:t>
            </a:r>
          </a:p>
          <a:p>
            <a:r>
              <a:rPr lang="en-US" dirty="0" smtClean="0"/>
              <a:t>The cost model follows the </a:t>
            </a:r>
            <a:r>
              <a:rPr lang="en-SG" dirty="0" smtClean="0"/>
              <a:t>l</a:t>
            </a:r>
            <a:r>
              <a:rPr lang="en-SG" altLang="en-US" dirty="0" smtClean="0"/>
              <a:t>ayered design</a:t>
            </a:r>
            <a:r>
              <a:rPr lang="en-US" altLang="en-US" dirty="0" smtClean="0"/>
              <a:t>.</a:t>
            </a:r>
            <a:endParaRPr lang="en-US" dirty="0" smtClean="0"/>
          </a:p>
          <a:p>
            <a:pPr lvl="1"/>
            <a:r>
              <a:rPr lang="en-US" dirty="0" smtClean="0"/>
              <a:t>Unit Cost (for each operator kernel)</a:t>
            </a:r>
          </a:p>
          <a:p>
            <a:pPr lvl="1"/>
            <a:r>
              <a:rPr lang="en-US" dirty="0" smtClean="0"/>
              <a:t>Optimal query plan generation (dynamic programming based approach)</a:t>
            </a:r>
          </a:p>
          <a:p>
            <a:r>
              <a:rPr lang="en-US" dirty="0" smtClean="0"/>
              <a:t>A dynamic programming based approach</a:t>
            </a:r>
          </a:p>
        </p:txBody>
      </p:sp>
    </p:spTree>
    <p:extLst>
      <p:ext uri="{BB962C8B-B14F-4D97-AF65-F5344CB8AC3E}">
        <p14:creationId xmlns:p14="http://schemas.microsoft.com/office/powerpoint/2010/main" val="37376963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2735"/>
            <a:ext cx="8229600" cy="1143000"/>
          </a:xfrm>
        </p:spPr>
        <p:txBody>
          <a:bodyPr>
            <a:normAutofit/>
          </a:bodyPr>
          <a:lstStyle/>
          <a:p>
            <a:r>
              <a:rPr lang="en-SG" altLang="en-US" dirty="0" smtClean="0"/>
              <a:t>Unit Cost for Each Operator Kernel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dirty="0"/>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416858" y="1295400"/>
                <a:ext cx="8422342" cy="5181600"/>
              </a:xfrm>
            </p:spPr>
            <p:txBody>
              <a:bodyPr>
                <a:normAutofit/>
              </a:bodyPr>
              <a:lstStyle/>
              <a:p>
                <a:r>
                  <a:rPr lang="en-US" dirty="0" smtClean="0"/>
                  <a:t>FPGA </a:t>
                </a:r>
                <a:r>
                  <a:rPr lang="en-US" dirty="0"/>
                  <a:t>is treated as a black </a:t>
                </a:r>
                <a:r>
                  <a:rPr lang="en-US" dirty="0" smtClean="0"/>
                  <a:t>box. </a:t>
                </a:r>
              </a:p>
              <a:p>
                <a:r>
                  <a:rPr lang="en-US" dirty="0" smtClean="0"/>
                  <a:t>Unit </a:t>
                </a:r>
                <a:r>
                  <a:rPr lang="en-US" dirty="0"/>
                  <a:t>cost </a:t>
                </a:r>
                <a:r>
                  <a:rPr lang="en-US" dirty="0" smtClean="0"/>
                  <a:t>is computed as</a:t>
                </a:r>
                <a14:m>
                  <m:oMath xmlns:m="http://schemas.openxmlformats.org/officeDocument/2006/math">
                    <m:r>
                      <a:rPr lang="en-US" b="0" i="0" smtClean="0">
                        <a:latin typeface="Cambria Math" panose="02040503050406030204" pitchFamily="18" charset="0"/>
                      </a:rPr>
                      <m:t> </m:t>
                    </m:r>
                    <m:f>
                      <m:fPr>
                        <m:ctrlPr>
                          <a:rPr lang="en-US" i="1" smtClean="0">
                            <a:latin typeface="Cambria Math" panose="02040503050406030204" pitchFamily="18" charset="0"/>
                          </a:rPr>
                        </m:ctrlPr>
                      </m:fPr>
                      <m:num>
                        <m:r>
                          <m:rPr>
                            <m:nor/>
                          </m:rPr>
                          <a:rPr lang="en-US" i="1" dirty="0"/>
                          <m:t>clock</m:t>
                        </m:r>
                        <m:r>
                          <m:rPr>
                            <m:nor/>
                          </m:rPr>
                          <a:rPr lang="en-US" i="1" dirty="0"/>
                          <m:t> </m:t>
                        </m:r>
                        <m:r>
                          <m:rPr>
                            <m:nor/>
                          </m:rPr>
                          <a:rPr lang="en-US" i="1" dirty="0"/>
                          <m:t>cycles</m:t>
                        </m:r>
                      </m:num>
                      <m:den>
                        <m:r>
                          <m:rPr>
                            <m:nor/>
                          </m:rPr>
                          <a:rPr lang="en-US" i="1" dirty="0"/>
                          <m:t>tuples</m:t>
                        </m:r>
                      </m:den>
                    </m:f>
                    <m:r>
                      <a:rPr lang="en-US" b="0" i="0" dirty="0" smtClean="0">
                        <a:latin typeface="Cambria Math" panose="02040503050406030204" pitchFamily="18" charset="0"/>
                      </a:rPr>
                      <m:t>, </m:t>
                    </m:r>
                  </m:oMath>
                </a14:m>
                <a:r>
                  <a:rPr lang="en-US" dirty="0" smtClean="0"/>
                  <a:t>not </a:t>
                </a:r>
                <a14:m>
                  <m:oMath xmlns:m="http://schemas.openxmlformats.org/officeDocument/2006/math">
                    <m:f>
                      <m:fPr>
                        <m:ctrlPr>
                          <a:rPr lang="en-US" i="1">
                            <a:latin typeface="Cambria Math" panose="02040503050406030204" pitchFamily="18" charset="0"/>
                          </a:rPr>
                        </m:ctrlPr>
                      </m:fPr>
                      <m:num>
                        <m:r>
                          <m:rPr>
                            <m:nor/>
                          </m:rPr>
                          <a:rPr lang="en-US" i="1" dirty="0"/>
                          <m:t>time</m:t>
                        </m:r>
                      </m:num>
                      <m:den>
                        <m:r>
                          <m:rPr>
                            <m:nor/>
                          </m:rPr>
                          <a:rPr lang="en-US" i="1" dirty="0"/>
                          <m:t>tuples</m:t>
                        </m:r>
                      </m:den>
                    </m:f>
                  </m:oMath>
                </a14:m>
                <a:r>
                  <a:rPr lang="en-US" dirty="0" smtClean="0"/>
                  <a:t> due </a:t>
                </a:r>
                <a:r>
                  <a:rPr lang="en-US" dirty="0"/>
                  <a:t>to varying frequency of different FPGA image</a:t>
                </a:r>
                <a:r>
                  <a:rPr lang="en-US" dirty="0" smtClean="0"/>
                  <a:t>.</a:t>
                </a:r>
                <a:endParaRPr lang="en-US" dirty="0"/>
              </a:p>
              <a:p>
                <a:r>
                  <a:rPr lang="en-US" dirty="0" smtClean="0"/>
                  <a:t>Measure </a:t>
                </a:r>
                <a:r>
                  <a:rPr lang="en-US" dirty="0"/>
                  <a:t>the unit cost of each operator kernel with different FPGA-specific optimization </a:t>
                </a:r>
                <a:r>
                  <a:rPr lang="en-US" dirty="0" smtClean="0"/>
                  <a:t>combination, and log down each combination: </a:t>
                </a:r>
              </a:p>
              <a:p>
                <a:pPr marL="0" indent="0">
                  <a:buNone/>
                </a:pPr>
                <a:r>
                  <a:rPr lang="en-US" dirty="0"/>
                  <a:t> </a:t>
                </a:r>
                <a:r>
                  <a:rPr lang="en-US" dirty="0" smtClean="0"/>
                  <a:t>   </a:t>
                </a:r>
                <a:r>
                  <a:rPr lang="en-US" b="1" dirty="0"/>
                  <a:t>&lt;</a:t>
                </a:r>
                <a:r>
                  <a:rPr lang="en-US" b="1" i="1" dirty="0"/>
                  <a:t>CU, SIMD, LEs, REGs, MEMs, DSPs, Unit Cost</a:t>
                </a:r>
                <a:r>
                  <a:rPr lang="en-US" b="1" dirty="0"/>
                  <a:t>&gt;</a:t>
                </a:r>
              </a:p>
              <a:p>
                <a:pPr marL="0" indent="0">
                  <a:buNone/>
                </a:pPr>
                <a:endParaRPr lang="en-US" dirty="0"/>
              </a:p>
            </p:txBody>
          </p:sp>
        </mc:Choice>
        <mc:Fallback xmlns="">
          <p:sp>
            <p:nvSpPr>
              <p:cNvPr id="8" name="Content Placeholder 2"/>
              <p:cNvSpPr>
                <a:spLocks noGrp="1" noRot="1" noChangeAspect="1" noMove="1" noResize="1" noEditPoints="1" noAdjustHandles="1" noChangeArrowheads="1" noChangeShapeType="1" noTextEdit="1"/>
              </p:cNvSpPr>
              <p:nvPr>
                <p:ph idx="1"/>
              </p:nvPr>
            </p:nvSpPr>
            <p:spPr>
              <a:xfrm>
                <a:off x="416858" y="1295400"/>
                <a:ext cx="8422342" cy="5181600"/>
              </a:xfrm>
              <a:blipFill rotWithShape="0">
                <a:blip r:embed="rId3"/>
                <a:stretch>
                  <a:fillRect l="-1664" t="-1529" r="-362" b="-1647"/>
                </a:stretch>
              </a:blipFill>
            </p:spPr>
            <p:txBody>
              <a:bodyPr/>
              <a:lstStyle/>
              <a:p>
                <a:r>
                  <a:rPr lang="en-US">
                    <a:noFill/>
                  </a:rPr>
                  <a:t> </a:t>
                </a:r>
              </a:p>
            </p:txBody>
          </p:sp>
        </mc:Fallback>
      </mc:AlternateContent>
    </p:spTree>
    <p:extLst>
      <p:ext uri="{BB962C8B-B14F-4D97-AF65-F5344CB8AC3E}">
        <p14:creationId xmlns:p14="http://schemas.microsoft.com/office/powerpoint/2010/main" val="2419506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75988"/>
          </a:xfrm>
        </p:spPr>
        <p:txBody>
          <a:bodyPr>
            <a:normAutofit fontScale="90000"/>
          </a:bodyPr>
          <a:lstStyle/>
          <a:p>
            <a:r>
              <a:rPr lang="en-SG" altLang="en-US" dirty="0" smtClean="0"/>
              <a:t>Experimental Setup</a:t>
            </a:r>
            <a:endParaRPr lang="en-US" dirty="0"/>
          </a:p>
        </p:txBody>
      </p:sp>
      <p:sp>
        <p:nvSpPr>
          <p:cNvPr id="3" name="Content Placeholder 2"/>
          <p:cNvSpPr>
            <a:spLocks noGrp="1"/>
          </p:cNvSpPr>
          <p:nvPr>
            <p:ph idx="1"/>
          </p:nvPr>
        </p:nvSpPr>
        <p:spPr>
          <a:xfrm>
            <a:off x="488373" y="1137681"/>
            <a:ext cx="8229600" cy="4966421"/>
          </a:xfrm>
        </p:spPr>
        <p:txBody>
          <a:bodyPr>
            <a:normAutofit/>
          </a:bodyPr>
          <a:lstStyle/>
          <a:p>
            <a:pPr>
              <a:buFontTx/>
              <a:buChar char="•"/>
            </a:pPr>
            <a:r>
              <a:rPr lang="en-SG" altLang="en-US" dirty="0" smtClean="0"/>
              <a:t>Platform</a:t>
            </a:r>
            <a:r>
              <a:rPr lang="en-SG" altLang="en-US" dirty="0"/>
              <a:t>: </a:t>
            </a:r>
            <a:endParaRPr lang="en-SG" altLang="en-US" dirty="0" smtClean="0"/>
          </a:p>
          <a:p>
            <a:pPr lvl="1"/>
            <a:r>
              <a:rPr lang="en-SG" altLang="en-US" dirty="0" err="1"/>
              <a:t>Terasic’s</a:t>
            </a:r>
            <a:r>
              <a:rPr lang="en-SG" altLang="en-US" dirty="0"/>
              <a:t> DE5-Net board: Altera </a:t>
            </a:r>
            <a:r>
              <a:rPr lang="en-SG" altLang="en-US" dirty="0" err="1"/>
              <a:t>Stratix</a:t>
            </a:r>
            <a:r>
              <a:rPr lang="en-SG" altLang="en-US" dirty="0"/>
              <a:t> V A7 and 4GB </a:t>
            </a:r>
            <a:r>
              <a:rPr lang="en-SG" altLang="en-US" dirty="0" smtClean="0"/>
              <a:t>2-bank DDR3</a:t>
            </a:r>
            <a:r>
              <a:rPr lang="en-US" dirty="0" smtClean="0"/>
              <a:t> </a:t>
            </a:r>
          </a:p>
          <a:p>
            <a:pPr lvl="1"/>
            <a:r>
              <a:rPr lang="en-US" dirty="0" smtClean="0"/>
              <a:t>PCI-e 2.0 (X8) </a:t>
            </a:r>
          </a:p>
          <a:p>
            <a:pPr lvl="1"/>
            <a:r>
              <a:rPr lang="en-SG" altLang="en-US" dirty="0" smtClean="0"/>
              <a:t>Altera OpenCL SDK version 14.0</a:t>
            </a:r>
            <a:endParaRPr lang="en-US" dirty="0" smtClean="0"/>
          </a:p>
          <a:p>
            <a:r>
              <a:rPr lang="en-SG" altLang="en-US" dirty="0" smtClean="0"/>
              <a:t>Workloads: </a:t>
            </a:r>
          </a:p>
          <a:p>
            <a:pPr lvl="1"/>
            <a:r>
              <a:rPr lang="en-US" altLang="en-US" dirty="0" smtClean="0"/>
              <a:t>Four queries (Q1, Q2, Q3 and Q4)</a:t>
            </a:r>
          </a:p>
          <a:p>
            <a:pPr lvl="1"/>
            <a:r>
              <a:rPr lang="en-US" dirty="0"/>
              <a:t>Tuple format: &lt;key, payload&gt;. Both keys and payloads are 4-bytes.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51</a:t>
            </a:fld>
            <a:endParaRPr lang="en-US"/>
          </a:p>
        </p:txBody>
      </p:sp>
      <p:sp>
        <p:nvSpPr>
          <p:cNvPr id="5" name="TextBox 13"/>
          <p:cNvSpPr txBox="1">
            <a:spLocks noChangeArrowheads="1"/>
          </p:cNvSpPr>
          <p:nvPr/>
        </p:nvSpPr>
        <p:spPr bwMode="auto">
          <a:xfrm>
            <a:off x="2057400" y="5767937"/>
            <a:ext cx="4343400" cy="523220"/>
          </a:xfrm>
          <a:prstGeom prst="rect">
            <a:avLst/>
          </a:prstGeom>
          <a:solidFill>
            <a:srgbClr val="FFFF00"/>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sz="2800" dirty="0" smtClean="0"/>
              <a:t>We use Q3 for example. </a:t>
            </a:r>
            <a:endParaRPr lang="en-US" sz="2800" dirty="0">
              <a:solidFill>
                <a:srgbClr val="002060"/>
              </a:solidFill>
            </a:endParaRPr>
          </a:p>
        </p:txBody>
      </p:sp>
    </p:spTree>
    <p:extLst>
      <p:ext uri="{BB962C8B-B14F-4D97-AF65-F5344CB8AC3E}">
        <p14:creationId xmlns:p14="http://schemas.microsoft.com/office/powerpoint/2010/main" val="3756071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75988"/>
          </a:xfrm>
        </p:spPr>
        <p:txBody>
          <a:bodyPr>
            <a:normAutofit fontScale="90000"/>
          </a:bodyPr>
          <a:lstStyle/>
          <a:p>
            <a:r>
              <a:rPr lang="en-SG" altLang="en-US" dirty="0" smtClean="0"/>
              <a:t>Details of Q3</a:t>
            </a:r>
            <a:endParaRPr lang="en-US" dirty="0"/>
          </a:p>
        </p:txBody>
      </p:sp>
      <p:sp>
        <p:nvSpPr>
          <p:cNvPr id="3" name="Content Placeholder 2"/>
          <p:cNvSpPr>
            <a:spLocks noGrp="1"/>
          </p:cNvSpPr>
          <p:nvPr>
            <p:ph idx="1"/>
          </p:nvPr>
        </p:nvSpPr>
        <p:spPr>
          <a:xfrm>
            <a:off x="381000" y="1139075"/>
            <a:ext cx="8229600" cy="4966421"/>
          </a:xfrm>
        </p:spPr>
        <p:txBody>
          <a:bodyPr>
            <a:normAutofit/>
          </a:bodyPr>
          <a:lstStyle/>
          <a:p>
            <a:pPr>
              <a:buFontTx/>
              <a:buChar char="•"/>
            </a:pPr>
            <a:r>
              <a:rPr lang="en-SG" altLang="en-US" dirty="0" smtClean="0"/>
              <a:t>SQL query:</a:t>
            </a:r>
          </a:p>
          <a:p>
            <a:pPr lvl="1"/>
            <a:r>
              <a:rPr lang="en-US" b="1" dirty="0"/>
              <a:t>SELECT</a:t>
            </a:r>
            <a:r>
              <a:rPr lang="en-US" dirty="0"/>
              <a:t> </a:t>
            </a:r>
            <a:r>
              <a:rPr lang="en-US" i="1" dirty="0" err="1"/>
              <a:t>S.key</a:t>
            </a:r>
            <a:r>
              <a:rPr lang="en-US" dirty="0"/>
              <a:t>, SUM(</a:t>
            </a:r>
            <a:r>
              <a:rPr lang="en-US" i="1" dirty="0" err="1"/>
              <a:t>S.payload</a:t>
            </a:r>
            <a:r>
              <a:rPr lang="en-US" dirty="0"/>
              <a:t>) </a:t>
            </a:r>
            <a:r>
              <a:rPr lang="en-US" dirty="0" smtClean="0"/>
              <a:t>                           </a:t>
            </a:r>
            <a:r>
              <a:rPr lang="en-US" b="1" dirty="0" smtClean="0"/>
              <a:t>FROM</a:t>
            </a:r>
            <a:r>
              <a:rPr lang="en-US" dirty="0" smtClean="0"/>
              <a:t> </a:t>
            </a:r>
            <a:r>
              <a:rPr lang="en-US" i="1" dirty="0" smtClean="0"/>
              <a:t>S</a:t>
            </a:r>
            <a:r>
              <a:rPr lang="en-US" dirty="0" smtClean="0"/>
              <a:t>                                                                </a:t>
            </a:r>
            <a:r>
              <a:rPr lang="en-US" b="1" dirty="0" smtClean="0"/>
              <a:t>WHERE</a:t>
            </a:r>
            <a:r>
              <a:rPr lang="en-US" dirty="0" smtClean="0"/>
              <a:t> Lo ≤ </a:t>
            </a:r>
            <a:r>
              <a:rPr lang="en-US" i="1" dirty="0" err="1" smtClean="0"/>
              <a:t>S.paylaod</a:t>
            </a:r>
            <a:r>
              <a:rPr lang="en-US" dirty="0" smtClean="0"/>
              <a:t> </a:t>
            </a:r>
            <a:r>
              <a:rPr lang="en-US" dirty="0"/>
              <a:t>≤</a:t>
            </a:r>
            <a:r>
              <a:rPr lang="en-US" dirty="0" smtClean="0"/>
              <a:t> Hi                                    </a:t>
            </a:r>
            <a:r>
              <a:rPr lang="en-US" b="1" dirty="0" smtClean="0"/>
              <a:t>GROUP </a:t>
            </a:r>
            <a:r>
              <a:rPr lang="en-US" b="1" dirty="0"/>
              <a:t>BY </a:t>
            </a:r>
            <a:r>
              <a:rPr lang="en-US" i="1" dirty="0" err="1"/>
              <a:t>S.key</a:t>
            </a:r>
            <a:r>
              <a:rPr lang="en-SG" altLang="en-US" dirty="0" smtClean="0"/>
              <a: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52</a:t>
            </a:fld>
            <a:endParaRPr lang="en-US"/>
          </a:p>
        </p:txBody>
      </p:sp>
      <p:sp>
        <p:nvSpPr>
          <p:cNvPr id="6" name="TextBox 13"/>
          <p:cNvSpPr txBox="1">
            <a:spLocks noChangeArrowheads="1"/>
          </p:cNvSpPr>
          <p:nvPr/>
        </p:nvSpPr>
        <p:spPr bwMode="auto">
          <a:xfrm>
            <a:off x="762000" y="4953000"/>
            <a:ext cx="4419600" cy="523220"/>
          </a:xfrm>
          <a:prstGeom prst="rect">
            <a:avLst/>
          </a:prstGeom>
          <a:solidFill>
            <a:srgbClr val="FFFF00"/>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sz="2800" dirty="0" smtClean="0"/>
              <a:t>Q3: 12 operator kernels </a:t>
            </a:r>
            <a:endParaRPr lang="en-US" sz="2800" dirty="0">
              <a:solidFill>
                <a:srgbClr val="002060"/>
              </a:solidFill>
            </a:endParaRPr>
          </a:p>
        </p:txBody>
      </p:sp>
      <p:pic>
        <p:nvPicPr>
          <p:cNvPr id="10" name="Picture 9"/>
          <p:cNvPicPr>
            <a:picLocks noChangeAspect="1"/>
          </p:cNvPicPr>
          <p:nvPr/>
        </p:nvPicPr>
        <p:blipFill>
          <a:blip r:embed="rId3"/>
          <a:stretch>
            <a:fillRect/>
          </a:stretch>
        </p:blipFill>
        <p:spPr>
          <a:xfrm>
            <a:off x="6567377" y="1016763"/>
            <a:ext cx="1170994" cy="5612637"/>
          </a:xfrm>
          <a:prstGeom prst="rect">
            <a:avLst/>
          </a:prstGeom>
        </p:spPr>
      </p:pic>
    </p:spTree>
    <p:extLst>
      <p:ext uri="{BB962C8B-B14F-4D97-AF65-F5344CB8AC3E}">
        <p14:creationId xmlns:p14="http://schemas.microsoft.com/office/powerpoint/2010/main" val="2655346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639762"/>
          </a:xfrm>
        </p:spPr>
        <p:txBody>
          <a:bodyPr>
            <a:normAutofit fontScale="90000"/>
          </a:bodyPr>
          <a:lstStyle/>
          <a:p>
            <a:r>
              <a:rPr lang="en-SG" dirty="0" smtClean="0"/>
              <a:t>Generation of Execution Plans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53</a:t>
            </a:fld>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032988535"/>
              </p:ext>
            </p:extLst>
          </p:nvPr>
        </p:nvGraphicFramePr>
        <p:xfrm>
          <a:off x="1066800" y="2647950"/>
          <a:ext cx="7010400" cy="37084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gridCol w="1152728">
                  <a:extLst>
                    <a:ext uri="{9D8B030D-6E8A-4147-A177-3AD203B41FA5}">
                      <a16:colId xmlns:a16="http://schemas.microsoft.com/office/drawing/2014/main" val="20001"/>
                    </a:ext>
                  </a:extLst>
                </a:gridCol>
                <a:gridCol w="1044102">
                  <a:extLst>
                    <a:ext uri="{9D8B030D-6E8A-4147-A177-3AD203B41FA5}">
                      <a16:colId xmlns:a16="http://schemas.microsoft.com/office/drawing/2014/main" val="20002"/>
                    </a:ext>
                  </a:extLst>
                </a:gridCol>
                <a:gridCol w="1079770">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gridCol w="990600">
                  <a:extLst>
                    <a:ext uri="{9D8B030D-6E8A-4147-A177-3AD203B41FA5}">
                      <a16:colId xmlns:a16="http://schemas.microsoft.com/office/drawing/2014/main" val="20005"/>
                    </a:ext>
                  </a:extLst>
                </a:gridCol>
              </a:tblGrid>
              <a:tr h="370840">
                <a:tc>
                  <a:txBody>
                    <a:bodyPr/>
                    <a:lstStyle/>
                    <a:p>
                      <a:r>
                        <a:rPr lang="en-US" dirty="0" smtClean="0"/>
                        <a:t>Execution</a:t>
                      </a:r>
                      <a:r>
                        <a:rPr lang="en-US" baseline="0" dirty="0" smtClean="0"/>
                        <a:t> Plan 2</a:t>
                      </a:r>
                      <a:endParaRPr lang="en-US" dirty="0"/>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FF0000"/>
                          </a:solidFill>
                        </a:rPr>
                        <a:t>FPGA image 1</a:t>
                      </a:r>
                      <a:endParaRPr lang="en-US" dirty="0">
                        <a:solidFill>
                          <a:srgbClr val="FF0000"/>
                        </a:solidFill>
                      </a:endParaRPr>
                    </a:p>
                  </a:txBody>
                  <a:tcPr/>
                </a:tc>
                <a:tc>
                  <a:txBody>
                    <a:bodyPr/>
                    <a:lstStyle/>
                    <a:p>
                      <a:pPr marL="0" algn="l" defTabSz="914400" rtl="0" eaLnBrk="1" latinLnBrk="0" hangingPunct="1"/>
                      <a:r>
                        <a:rPr lang="en-US" sz="1800" kern="1200" dirty="0" smtClean="0">
                          <a:solidFill>
                            <a:schemeClr val="accent2"/>
                          </a:solidFill>
                          <a:latin typeface="+mn-lt"/>
                          <a:ea typeface="+mn-ea"/>
                          <a:cs typeface="+mn-cs"/>
                        </a:rPr>
                        <a:t>LUTs</a:t>
                      </a:r>
                      <a:endParaRPr lang="en-US" sz="1800" kern="1200" dirty="0">
                        <a:solidFill>
                          <a:schemeClr val="accent2"/>
                        </a:solidFill>
                        <a:latin typeface="+mn-lt"/>
                        <a:ea typeface="+mn-ea"/>
                        <a:cs typeface="+mn-cs"/>
                      </a:endParaRPr>
                    </a:p>
                  </a:txBody>
                  <a:tcPr/>
                </a:tc>
                <a:tc>
                  <a:txBody>
                    <a:bodyPr/>
                    <a:lstStyle/>
                    <a:p>
                      <a:pPr marL="0" algn="l" defTabSz="914400" rtl="0" eaLnBrk="1" latinLnBrk="0" hangingPunct="1"/>
                      <a:r>
                        <a:rPr lang="en-US" sz="1800" kern="1200" dirty="0" smtClean="0">
                          <a:solidFill>
                            <a:schemeClr val="accent2"/>
                          </a:solidFill>
                          <a:latin typeface="+mn-lt"/>
                          <a:ea typeface="+mn-ea"/>
                          <a:cs typeface="+mn-cs"/>
                        </a:rPr>
                        <a:t>REGs</a:t>
                      </a:r>
                      <a:endParaRPr lang="en-US" sz="1800" kern="1200" dirty="0">
                        <a:solidFill>
                          <a:schemeClr val="accent2"/>
                        </a:solidFill>
                        <a:latin typeface="+mn-lt"/>
                        <a:ea typeface="+mn-ea"/>
                        <a:cs typeface="+mn-cs"/>
                      </a:endParaRPr>
                    </a:p>
                  </a:txBody>
                  <a:tcPr/>
                </a:tc>
                <a:tc>
                  <a:txBody>
                    <a:bodyPr/>
                    <a:lstStyle/>
                    <a:p>
                      <a:pPr marL="0" algn="l" defTabSz="914400" rtl="0" eaLnBrk="1" latinLnBrk="0" hangingPunct="1"/>
                      <a:r>
                        <a:rPr lang="en-US" sz="1800" kern="1200" dirty="0" smtClean="0">
                          <a:solidFill>
                            <a:schemeClr val="accent2"/>
                          </a:solidFill>
                          <a:latin typeface="+mn-lt"/>
                          <a:ea typeface="+mn-ea"/>
                          <a:cs typeface="+mn-cs"/>
                        </a:rPr>
                        <a:t>RAMs</a:t>
                      </a:r>
                      <a:endParaRPr lang="en-US" sz="1800" kern="1200" dirty="0">
                        <a:solidFill>
                          <a:schemeClr val="accent2"/>
                        </a:solidFill>
                        <a:latin typeface="+mn-lt"/>
                        <a:ea typeface="+mn-ea"/>
                        <a:cs typeface="+mn-cs"/>
                      </a:endParaRPr>
                    </a:p>
                  </a:txBody>
                  <a:tcPr/>
                </a:tc>
                <a:tc>
                  <a:txBody>
                    <a:bodyPr/>
                    <a:lstStyle/>
                    <a:p>
                      <a:pPr marL="0" algn="l" defTabSz="914400" rtl="0" eaLnBrk="1" latinLnBrk="0" hangingPunct="1"/>
                      <a:r>
                        <a:rPr lang="en-US" sz="1800" kern="1200" dirty="0" smtClean="0">
                          <a:solidFill>
                            <a:schemeClr val="accent2"/>
                          </a:solidFill>
                          <a:latin typeface="+mn-lt"/>
                          <a:ea typeface="+mn-ea"/>
                          <a:cs typeface="+mn-cs"/>
                        </a:rPr>
                        <a:t>DSPs</a:t>
                      </a:r>
                      <a:endParaRPr lang="en-US" sz="1800" kern="1200" dirty="0">
                        <a:solidFill>
                          <a:schemeClr val="accent2"/>
                        </a:solidFill>
                        <a:latin typeface="+mn-lt"/>
                        <a:ea typeface="+mn-ea"/>
                        <a:cs typeface="+mn-cs"/>
                      </a:endParaRPr>
                    </a:p>
                  </a:txBody>
                  <a:tcPr/>
                </a:tc>
                <a:tc>
                  <a:txBody>
                    <a:bodyPr/>
                    <a:lstStyle/>
                    <a:p>
                      <a:pPr marL="0" algn="l" defTabSz="914400" rtl="0" eaLnBrk="1" latinLnBrk="0" hangingPunct="1"/>
                      <a:r>
                        <a:rPr lang="en-US" sz="1800" kern="1200" dirty="0" smtClean="0">
                          <a:solidFill>
                            <a:schemeClr val="accent2"/>
                          </a:solidFill>
                          <a:latin typeface="+mn-lt"/>
                          <a:ea typeface="+mn-ea"/>
                          <a:cs typeface="+mn-cs"/>
                        </a:rPr>
                        <a:t>Freq.</a:t>
                      </a:r>
                      <a:endParaRPr lang="en-US" sz="1800" kern="1200" dirty="0">
                        <a:solidFill>
                          <a:schemeClr val="accent2"/>
                        </a:solidFill>
                        <a:latin typeface="+mn-lt"/>
                        <a:ea typeface="+mn-ea"/>
                        <a:cs typeface="+mn-cs"/>
                      </a:endParaRPr>
                    </a:p>
                  </a:txBody>
                  <a:tcPr/>
                </a:tc>
                <a:extLst>
                  <a:ext uri="{0D108BD9-81ED-4DB2-BD59-A6C34878D82A}">
                    <a16:rowId xmlns:a16="http://schemas.microsoft.com/office/drawing/2014/main" val="10001"/>
                  </a:ext>
                </a:extLst>
              </a:tr>
              <a:tr h="370840">
                <a:tc>
                  <a:txBody>
                    <a:bodyPr/>
                    <a:lstStyle/>
                    <a:p>
                      <a:r>
                        <a:rPr lang="en-US" sz="1800" b="0" i="0" u="none" strike="noStrike" kern="1200" baseline="0" dirty="0" smtClean="0">
                          <a:solidFill>
                            <a:schemeClr val="dk1"/>
                          </a:solidFill>
                          <a:latin typeface="+mn-lt"/>
                          <a:ea typeface="+mn-ea"/>
                          <a:cs typeface="+mn-cs"/>
                        </a:rPr>
                        <a:t>Estimated 1</a:t>
                      </a:r>
                      <a:endParaRPr lang="en-US" dirty="0"/>
                    </a:p>
                  </a:txBody>
                  <a:tcPr/>
                </a:tc>
                <a:tc>
                  <a:txBody>
                    <a:bodyPr/>
                    <a:lstStyle/>
                    <a:p>
                      <a:r>
                        <a:rPr lang="en-US" sz="1800" b="0" i="0" u="none" strike="noStrike" kern="1200" baseline="0" dirty="0" smtClean="0">
                          <a:solidFill>
                            <a:schemeClr val="dk1"/>
                          </a:solidFill>
                          <a:latin typeface="+mn-lt"/>
                          <a:ea typeface="+mn-ea"/>
                          <a:cs typeface="+mn-cs"/>
                        </a:rPr>
                        <a:t>187738</a:t>
                      </a:r>
                      <a:endParaRPr lang="en-US" dirty="0"/>
                    </a:p>
                  </a:txBody>
                  <a:tcPr/>
                </a:tc>
                <a:tc>
                  <a:txBody>
                    <a:bodyPr/>
                    <a:lstStyle/>
                    <a:p>
                      <a:r>
                        <a:rPr lang="en-US" sz="1800" b="0" i="0" u="none" strike="noStrike" kern="1200" baseline="0" dirty="0" smtClean="0">
                          <a:solidFill>
                            <a:schemeClr val="dk1"/>
                          </a:solidFill>
                          <a:latin typeface="+mn-lt"/>
                          <a:ea typeface="+mn-ea"/>
                          <a:cs typeface="+mn-cs"/>
                        </a:rPr>
                        <a:t>349051</a:t>
                      </a:r>
                      <a:endParaRPr lang="en-US" dirty="0"/>
                    </a:p>
                  </a:txBody>
                  <a:tcPr/>
                </a:tc>
                <a:tc>
                  <a:txBody>
                    <a:bodyPr/>
                    <a:lstStyle/>
                    <a:p>
                      <a:r>
                        <a:rPr lang="en-US" sz="1800" b="0" i="0" u="none" strike="noStrike" kern="1200" baseline="0" dirty="0" smtClean="0">
                          <a:solidFill>
                            <a:schemeClr val="dk1"/>
                          </a:solidFill>
                          <a:latin typeface="+mn-lt"/>
                          <a:ea typeface="+mn-ea"/>
                          <a:cs typeface="+mn-cs"/>
                        </a:rPr>
                        <a:t>2416</a:t>
                      </a:r>
                      <a:endParaRPr lang="en-US" dirty="0"/>
                    </a:p>
                  </a:txBody>
                  <a:tcPr/>
                </a:tc>
                <a:tc>
                  <a:txBody>
                    <a:bodyPr/>
                    <a:lstStyle/>
                    <a:p>
                      <a:r>
                        <a:rPr lang="en-US" sz="1800" b="0" i="0" u="none" strike="noStrike" kern="1200" baseline="0" dirty="0" smtClean="0">
                          <a:solidFill>
                            <a:schemeClr val="dk1"/>
                          </a:solidFill>
                          <a:latin typeface="+mn-lt"/>
                          <a:ea typeface="+mn-ea"/>
                          <a:cs typeface="+mn-cs"/>
                        </a:rPr>
                        <a:t>72</a:t>
                      </a:r>
                      <a:endParaRPr lang="en-US" dirty="0"/>
                    </a:p>
                  </a:txBody>
                  <a:tcPr/>
                </a:tc>
                <a:tc>
                  <a:txBody>
                    <a:bodyPr/>
                    <a:lstStyle/>
                    <a:p>
                      <a:r>
                        <a:rPr lang="en-US" sz="1800" b="0" i="0" u="none" strike="noStrike" kern="1200" baseline="0" dirty="0" smtClean="0">
                          <a:solidFill>
                            <a:schemeClr val="dk1"/>
                          </a:solidFill>
                          <a:latin typeface="+mn-lt"/>
                          <a:ea typeface="+mn-ea"/>
                          <a:cs typeface="+mn-cs"/>
                        </a:rPr>
                        <a:t>182M</a:t>
                      </a:r>
                      <a:endParaRPr lang="en-US" dirty="0"/>
                    </a:p>
                  </a:txBody>
                  <a:tcPr/>
                </a:tc>
                <a:extLst>
                  <a:ext uri="{0D108BD9-81ED-4DB2-BD59-A6C34878D82A}">
                    <a16:rowId xmlns:a16="http://schemas.microsoft.com/office/drawing/2014/main" val="10002"/>
                  </a:ext>
                </a:extLst>
              </a:tr>
              <a:tr h="370840">
                <a:tc>
                  <a:txBody>
                    <a:bodyPr/>
                    <a:lstStyle/>
                    <a:p>
                      <a:r>
                        <a:rPr lang="en-US" dirty="0" smtClean="0"/>
                        <a:t>Measured 1</a:t>
                      </a:r>
                      <a:endParaRPr lang="en-US" dirty="0"/>
                    </a:p>
                  </a:txBody>
                  <a:tcPr/>
                </a:tc>
                <a:tc>
                  <a:txBody>
                    <a:bodyPr/>
                    <a:lstStyle/>
                    <a:p>
                      <a:r>
                        <a:rPr lang="en-US" sz="1800" b="0" i="0" u="none" strike="noStrike" kern="1200" baseline="0" dirty="0" smtClean="0">
                          <a:solidFill>
                            <a:schemeClr val="dk1"/>
                          </a:solidFill>
                          <a:latin typeface="+mn-lt"/>
                          <a:ea typeface="+mn-ea"/>
                          <a:cs typeface="+mn-cs"/>
                        </a:rPr>
                        <a:t>184082</a:t>
                      </a:r>
                      <a:endParaRPr lang="en-US" dirty="0"/>
                    </a:p>
                  </a:txBody>
                  <a:tcPr/>
                </a:tc>
                <a:tc>
                  <a:txBody>
                    <a:bodyPr/>
                    <a:lstStyle/>
                    <a:p>
                      <a:r>
                        <a:rPr lang="en-US" sz="1800" b="0" i="0" u="none" strike="noStrike" kern="1200" baseline="0" dirty="0" smtClean="0">
                          <a:solidFill>
                            <a:schemeClr val="dk1"/>
                          </a:solidFill>
                          <a:latin typeface="+mn-lt"/>
                          <a:ea typeface="+mn-ea"/>
                          <a:cs typeface="+mn-cs"/>
                        </a:rPr>
                        <a:t>334093</a:t>
                      </a:r>
                      <a:endParaRPr lang="en-US" dirty="0"/>
                    </a:p>
                  </a:txBody>
                  <a:tcPr/>
                </a:tc>
                <a:tc>
                  <a:txBody>
                    <a:bodyPr/>
                    <a:lstStyle/>
                    <a:p>
                      <a:r>
                        <a:rPr lang="en-US" sz="1800" b="0" i="0" u="none" strike="noStrike" kern="1200" baseline="0" dirty="0" smtClean="0">
                          <a:solidFill>
                            <a:schemeClr val="dk1"/>
                          </a:solidFill>
                          <a:latin typeface="+mn-lt"/>
                          <a:ea typeface="+mn-ea"/>
                          <a:cs typeface="+mn-cs"/>
                        </a:rPr>
                        <a:t>2342</a:t>
                      </a:r>
                      <a:endParaRPr lang="en-US" dirty="0"/>
                    </a:p>
                  </a:txBody>
                  <a:tcPr/>
                </a:tc>
                <a:tc>
                  <a:txBody>
                    <a:bodyPr/>
                    <a:lstStyle/>
                    <a:p>
                      <a:r>
                        <a:rPr lang="en-US" sz="1800" b="0" i="0" u="none" strike="noStrike" kern="1200" baseline="0" dirty="0" smtClean="0">
                          <a:solidFill>
                            <a:schemeClr val="dk1"/>
                          </a:solidFill>
                          <a:latin typeface="+mn-lt"/>
                          <a:ea typeface="+mn-ea"/>
                          <a:cs typeface="+mn-cs"/>
                        </a:rPr>
                        <a:t>72</a:t>
                      </a:r>
                      <a:endParaRPr lang="en-US" dirty="0"/>
                    </a:p>
                  </a:txBody>
                  <a:tcPr/>
                </a:tc>
                <a:tc>
                  <a:txBody>
                    <a:bodyPr/>
                    <a:lstStyle/>
                    <a:p>
                      <a:r>
                        <a:rPr lang="en-US" sz="1800" b="0" i="0" u="none" strike="noStrike" kern="1200" baseline="0" dirty="0" smtClean="0">
                          <a:solidFill>
                            <a:schemeClr val="dk1"/>
                          </a:solidFill>
                          <a:latin typeface="+mn-lt"/>
                          <a:ea typeface="+mn-ea"/>
                          <a:cs typeface="+mn-cs"/>
                        </a:rPr>
                        <a:t>192.5M</a:t>
                      </a:r>
                      <a:endParaRPr lang="en-US" dirty="0"/>
                    </a:p>
                  </a:txBody>
                  <a:tcPr/>
                </a:tc>
                <a:extLst>
                  <a:ext uri="{0D108BD9-81ED-4DB2-BD59-A6C34878D82A}">
                    <a16:rowId xmlns:a16="http://schemas.microsoft.com/office/drawing/2014/main" val="100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FF0000"/>
                          </a:solidFill>
                        </a:rPr>
                        <a:t>FPGA image 2</a:t>
                      </a:r>
                      <a:endParaRPr lang="en-US" dirty="0">
                        <a:solidFill>
                          <a:srgbClr val="FF0000"/>
                        </a:solidFill>
                      </a:endParaRPr>
                    </a:p>
                  </a:txBody>
                  <a:tcPr/>
                </a:tc>
                <a:tc>
                  <a:txBody>
                    <a:bodyPr/>
                    <a:lstStyle/>
                    <a:p>
                      <a:pPr marL="0" algn="l" defTabSz="914400" rtl="0" eaLnBrk="1" latinLnBrk="0" hangingPunct="1"/>
                      <a:r>
                        <a:rPr lang="en-US" sz="1800" kern="1200" dirty="0" smtClean="0">
                          <a:solidFill>
                            <a:schemeClr val="accent2"/>
                          </a:solidFill>
                          <a:latin typeface="+mn-lt"/>
                          <a:ea typeface="+mn-ea"/>
                          <a:cs typeface="+mn-cs"/>
                        </a:rPr>
                        <a:t>LUTs</a:t>
                      </a:r>
                      <a:endParaRPr lang="en-US" sz="1800" kern="1200" dirty="0">
                        <a:solidFill>
                          <a:schemeClr val="accent2"/>
                        </a:solidFill>
                        <a:latin typeface="+mn-lt"/>
                        <a:ea typeface="+mn-ea"/>
                        <a:cs typeface="+mn-cs"/>
                      </a:endParaRPr>
                    </a:p>
                  </a:txBody>
                  <a:tcPr/>
                </a:tc>
                <a:tc>
                  <a:txBody>
                    <a:bodyPr/>
                    <a:lstStyle/>
                    <a:p>
                      <a:pPr marL="0" algn="l" defTabSz="914400" rtl="0" eaLnBrk="1" latinLnBrk="0" hangingPunct="1"/>
                      <a:r>
                        <a:rPr lang="en-US" sz="1800" kern="1200" dirty="0" smtClean="0">
                          <a:solidFill>
                            <a:schemeClr val="accent2"/>
                          </a:solidFill>
                          <a:latin typeface="+mn-lt"/>
                          <a:ea typeface="+mn-ea"/>
                          <a:cs typeface="+mn-cs"/>
                        </a:rPr>
                        <a:t>REGs</a:t>
                      </a:r>
                      <a:endParaRPr lang="en-US" sz="1800" kern="1200" dirty="0">
                        <a:solidFill>
                          <a:schemeClr val="accent2"/>
                        </a:solidFill>
                        <a:latin typeface="+mn-lt"/>
                        <a:ea typeface="+mn-ea"/>
                        <a:cs typeface="+mn-cs"/>
                      </a:endParaRPr>
                    </a:p>
                  </a:txBody>
                  <a:tcPr/>
                </a:tc>
                <a:tc>
                  <a:txBody>
                    <a:bodyPr/>
                    <a:lstStyle/>
                    <a:p>
                      <a:pPr marL="0" algn="l" defTabSz="914400" rtl="0" eaLnBrk="1" latinLnBrk="0" hangingPunct="1"/>
                      <a:r>
                        <a:rPr lang="en-US" sz="1800" kern="1200" dirty="0" smtClean="0">
                          <a:solidFill>
                            <a:schemeClr val="accent2"/>
                          </a:solidFill>
                          <a:latin typeface="+mn-lt"/>
                          <a:ea typeface="+mn-ea"/>
                          <a:cs typeface="+mn-cs"/>
                        </a:rPr>
                        <a:t>RAMs</a:t>
                      </a:r>
                      <a:endParaRPr lang="en-US" sz="1800" kern="1200" dirty="0">
                        <a:solidFill>
                          <a:schemeClr val="accent2"/>
                        </a:solidFill>
                        <a:latin typeface="+mn-lt"/>
                        <a:ea typeface="+mn-ea"/>
                        <a:cs typeface="+mn-cs"/>
                      </a:endParaRPr>
                    </a:p>
                  </a:txBody>
                  <a:tcPr/>
                </a:tc>
                <a:tc>
                  <a:txBody>
                    <a:bodyPr/>
                    <a:lstStyle/>
                    <a:p>
                      <a:pPr marL="0" algn="l" defTabSz="914400" rtl="0" eaLnBrk="1" latinLnBrk="0" hangingPunct="1"/>
                      <a:r>
                        <a:rPr lang="en-US" sz="1800" kern="1200" dirty="0" smtClean="0">
                          <a:solidFill>
                            <a:schemeClr val="accent2"/>
                          </a:solidFill>
                          <a:latin typeface="+mn-lt"/>
                          <a:ea typeface="+mn-ea"/>
                          <a:cs typeface="+mn-cs"/>
                        </a:rPr>
                        <a:t>DSPs</a:t>
                      </a:r>
                      <a:endParaRPr lang="en-US" sz="1800" kern="1200" dirty="0">
                        <a:solidFill>
                          <a:schemeClr val="accent2"/>
                        </a:solidFill>
                        <a:latin typeface="+mn-lt"/>
                        <a:ea typeface="+mn-ea"/>
                        <a:cs typeface="+mn-cs"/>
                      </a:endParaRPr>
                    </a:p>
                  </a:txBody>
                  <a:tcPr/>
                </a:tc>
                <a:tc>
                  <a:txBody>
                    <a:bodyPr/>
                    <a:lstStyle/>
                    <a:p>
                      <a:pPr marL="0" algn="l" defTabSz="914400" rtl="0" eaLnBrk="1" latinLnBrk="0" hangingPunct="1"/>
                      <a:r>
                        <a:rPr lang="en-US" sz="1800" kern="1200" dirty="0" smtClean="0">
                          <a:solidFill>
                            <a:schemeClr val="accent2"/>
                          </a:solidFill>
                          <a:latin typeface="+mn-lt"/>
                          <a:ea typeface="+mn-ea"/>
                          <a:cs typeface="+mn-cs"/>
                        </a:rPr>
                        <a:t>Freq.</a:t>
                      </a:r>
                      <a:endParaRPr lang="en-US" sz="1800" kern="1200" dirty="0">
                        <a:solidFill>
                          <a:schemeClr val="accent2"/>
                        </a:solidFill>
                        <a:latin typeface="+mn-lt"/>
                        <a:ea typeface="+mn-ea"/>
                        <a:cs typeface="+mn-cs"/>
                      </a:endParaRPr>
                    </a:p>
                  </a:txBody>
                  <a:tcPr/>
                </a:tc>
                <a:extLst>
                  <a:ext uri="{0D108BD9-81ED-4DB2-BD59-A6C34878D82A}">
                    <a16:rowId xmlns:a16="http://schemas.microsoft.com/office/drawing/2014/main" val="100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smtClean="0">
                          <a:solidFill>
                            <a:schemeClr val="dk1"/>
                          </a:solidFill>
                          <a:latin typeface="+mn-lt"/>
                          <a:ea typeface="+mn-ea"/>
                          <a:cs typeface="+mn-cs"/>
                        </a:rPr>
                        <a:t>Estimated 2</a:t>
                      </a:r>
                      <a:endParaRPr lang="en-US" dirty="0" smtClean="0"/>
                    </a:p>
                  </a:txBody>
                  <a:tcPr/>
                </a:tc>
                <a:tc>
                  <a:txBody>
                    <a:bodyPr/>
                    <a:lstStyle/>
                    <a:p>
                      <a:r>
                        <a:rPr lang="en-US" sz="1800" b="0" i="0" u="none" strike="noStrike" kern="1200" baseline="0" dirty="0" smtClean="0">
                          <a:solidFill>
                            <a:schemeClr val="dk1"/>
                          </a:solidFill>
                          <a:latin typeface="+mn-lt"/>
                          <a:ea typeface="+mn-ea"/>
                          <a:cs typeface="+mn-cs"/>
                        </a:rPr>
                        <a:t>179428</a:t>
                      </a:r>
                      <a:endParaRPr lang="en-US" dirty="0"/>
                    </a:p>
                  </a:txBody>
                  <a:tcPr/>
                </a:tc>
                <a:tc>
                  <a:txBody>
                    <a:bodyPr/>
                    <a:lstStyle/>
                    <a:p>
                      <a:r>
                        <a:rPr lang="en-US" sz="1800" b="0" i="0" u="none" strike="noStrike" kern="1200" baseline="0" dirty="0" smtClean="0">
                          <a:solidFill>
                            <a:schemeClr val="dk1"/>
                          </a:solidFill>
                          <a:latin typeface="+mn-lt"/>
                          <a:ea typeface="+mn-ea"/>
                          <a:cs typeface="+mn-cs"/>
                        </a:rPr>
                        <a:t>331045</a:t>
                      </a:r>
                      <a:endParaRPr lang="en-US" dirty="0"/>
                    </a:p>
                  </a:txBody>
                  <a:tcPr/>
                </a:tc>
                <a:tc>
                  <a:txBody>
                    <a:bodyPr/>
                    <a:lstStyle/>
                    <a:p>
                      <a:r>
                        <a:rPr lang="en-US" sz="1800" b="0" i="0" u="none" strike="noStrike" kern="1200" baseline="0" dirty="0" smtClean="0">
                          <a:solidFill>
                            <a:schemeClr val="dk1"/>
                          </a:solidFill>
                          <a:latin typeface="+mn-lt"/>
                          <a:ea typeface="+mn-ea"/>
                          <a:cs typeface="+mn-cs"/>
                        </a:rPr>
                        <a:t>2538</a:t>
                      </a:r>
                      <a:endParaRPr lang="en-US" dirty="0"/>
                    </a:p>
                  </a:txBody>
                  <a:tcPr/>
                </a:tc>
                <a:tc>
                  <a:txBody>
                    <a:bodyPr/>
                    <a:lstStyle/>
                    <a:p>
                      <a:r>
                        <a:rPr lang="en-US" sz="1800" b="0" i="0" u="none" strike="noStrike" kern="1200" baseline="0" dirty="0" smtClean="0">
                          <a:solidFill>
                            <a:schemeClr val="dk1"/>
                          </a:solidFill>
                          <a:latin typeface="+mn-lt"/>
                          <a:ea typeface="+mn-ea"/>
                          <a:cs typeface="+mn-cs"/>
                        </a:rPr>
                        <a:t>0</a:t>
                      </a:r>
                      <a:endParaRPr lang="en-US" dirty="0"/>
                    </a:p>
                  </a:txBody>
                  <a:tcPr/>
                </a:tc>
                <a:tc>
                  <a:txBody>
                    <a:bodyPr/>
                    <a:lstStyle/>
                    <a:p>
                      <a:r>
                        <a:rPr lang="en-US" sz="1800" b="0" i="0" u="none" strike="noStrike" kern="1200" baseline="0" dirty="0" smtClean="0">
                          <a:solidFill>
                            <a:schemeClr val="dk1"/>
                          </a:solidFill>
                          <a:latin typeface="+mn-lt"/>
                          <a:ea typeface="+mn-ea"/>
                          <a:cs typeface="+mn-cs"/>
                        </a:rPr>
                        <a:t>163M</a:t>
                      </a:r>
                      <a:endParaRPr lang="en-US" dirty="0"/>
                    </a:p>
                  </a:txBody>
                  <a:tcPr/>
                </a:tc>
                <a:extLst>
                  <a:ext uri="{0D108BD9-81ED-4DB2-BD59-A6C34878D82A}">
                    <a16:rowId xmlns:a16="http://schemas.microsoft.com/office/drawing/2014/main" val="1000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Measured 2</a:t>
                      </a:r>
                    </a:p>
                  </a:txBody>
                  <a:tcPr/>
                </a:tc>
                <a:tc>
                  <a:txBody>
                    <a:bodyPr/>
                    <a:lstStyle/>
                    <a:p>
                      <a:r>
                        <a:rPr lang="en-US" sz="1800" b="0" i="0" u="none" strike="noStrike" kern="1200" baseline="0" dirty="0" smtClean="0">
                          <a:solidFill>
                            <a:schemeClr val="dk1"/>
                          </a:solidFill>
                          <a:latin typeface="+mn-lt"/>
                          <a:ea typeface="+mn-ea"/>
                          <a:cs typeface="+mn-cs"/>
                        </a:rPr>
                        <a:t>134629</a:t>
                      </a:r>
                      <a:endParaRPr lang="en-US" dirty="0"/>
                    </a:p>
                  </a:txBody>
                  <a:tcPr/>
                </a:tc>
                <a:tc>
                  <a:txBody>
                    <a:bodyPr/>
                    <a:lstStyle/>
                    <a:p>
                      <a:r>
                        <a:rPr lang="en-US" sz="1800" b="0" i="0" u="none" strike="noStrike" kern="1200" baseline="0" dirty="0" smtClean="0">
                          <a:solidFill>
                            <a:schemeClr val="dk1"/>
                          </a:solidFill>
                          <a:latin typeface="+mn-lt"/>
                          <a:ea typeface="+mn-ea"/>
                          <a:cs typeface="+mn-cs"/>
                        </a:rPr>
                        <a:t>346087</a:t>
                      </a:r>
                      <a:endParaRPr lang="en-US" dirty="0"/>
                    </a:p>
                  </a:txBody>
                  <a:tcPr/>
                </a:tc>
                <a:tc>
                  <a:txBody>
                    <a:bodyPr/>
                    <a:lstStyle/>
                    <a:p>
                      <a:r>
                        <a:rPr lang="en-US" sz="1800" b="0" i="0" u="none" strike="noStrike" kern="1200" baseline="0" dirty="0" smtClean="0">
                          <a:solidFill>
                            <a:schemeClr val="dk1"/>
                          </a:solidFill>
                          <a:latin typeface="+mn-lt"/>
                          <a:ea typeface="+mn-ea"/>
                          <a:cs typeface="+mn-cs"/>
                        </a:rPr>
                        <a:t>2421</a:t>
                      </a:r>
                      <a:endParaRPr lang="en-US" dirty="0"/>
                    </a:p>
                  </a:txBody>
                  <a:tcPr/>
                </a:tc>
                <a:tc>
                  <a:txBody>
                    <a:bodyPr/>
                    <a:lstStyle/>
                    <a:p>
                      <a:r>
                        <a:rPr lang="en-US" dirty="0" smtClean="0"/>
                        <a:t>0</a:t>
                      </a:r>
                      <a:endParaRPr lang="en-US" dirty="0"/>
                    </a:p>
                  </a:txBody>
                  <a:tcPr/>
                </a:tc>
                <a:tc>
                  <a:txBody>
                    <a:bodyPr/>
                    <a:lstStyle/>
                    <a:p>
                      <a:r>
                        <a:rPr lang="en-US" sz="1800" b="0" i="0" u="none" strike="noStrike" kern="1200" baseline="0" dirty="0" smtClean="0">
                          <a:solidFill>
                            <a:schemeClr val="dk1"/>
                          </a:solidFill>
                          <a:latin typeface="+mn-lt"/>
                          <a:ea typeface="+mn-ea"/>
                          <a:cs typeface="+mn-cs"/>
                        </a:rPr>
                        <a:t>182M</a:t>
                      </a:r>
                      <a:endParaRPr lang="en-US" dirty="0"/>
                    </a:p>
                  </a:txBody>
                  <a:tcPr/>
                </a:tc>
                <a:extLst>
                  <a:ext uri="{0D108BD9-81ED-4DB2-BD59-A6C34878D82A}">
                    <a16:rowId xmlns:a16="http://schemas.microsoft.com/office/drawing/2014/main" val="100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FF0000"/>
                          </a:solidFill>
                        </a:rPr>
                        <a:t>FPGA image 3</a:t>
                      </a:r>
                      <a:endParaRPr lang="en-US" dirty="0">
                        <a:solidFill>
                          <a:srgbClr val="FF0000"/>
                        </a:solidFill>
                      </a:endParaRPr>
                    </a:p>
                  </a:txBody>
                  <a:tcPr/>
                </a:tc>
                <a:tc>
                  <a:txBody>
                    <a:bodyPr/>
                    <a:lstStyle/>
                    <a:p>
                      <a:r>
                        <a:rPr lang="en-US" dirty="0" smtClean="0">
                          <a:solidFill>
                            <a:schemeClr val="accent2"/>
                          </a:solidFill>
                        </a:rPr>
                        <a:t>LUTs</a:t>
                      </a:r>
                      <a:endParaRPr lang="en-US" dirty="0">
                        <a:solidFill>
                          <a:schemeClr val="accent2"/>
                        </a:solidFill>
                      </a:endParaRPr>
                    </a:p>
                  </a:txBody>
                  <a:tcPr/>
                </a:tc>
                <a:tc>
                  <a:txBody>
                    <a:bodyPr/>
                    <a:lstStyle/>
                    <a:p>
                      <a:r>
                        <a:rPr lang="en-US" dirty="0" smtClean="0">
                          <a:solidFill>
                            <a:schemeClr val="accent2"/>
                          </a:solidFill>
                        </a:rPr>
                        <a:t>REGs</a:t>
                      </a:r>
                      <a:endParaRPr lang="en-US" dirty="0">
                        <a:solidFill>
                          <a:schemeClr val="accent2"/>
                        </a:solidFill>
                      </a:endParaRPr>
                    </a:p>
                  </a:txBody>
                  <a:tcPr/>
                </a:tc>
                <a:tc>
                  <a:txBody>
                    <a:bodyPr/>
                    <a:lstStyle/>
                    <a:p>
                      <a:r>
                        <a:rPr lang="en-US" dirty="0" smtClean="0">
                          <a:solidFill>
                            <a:schemeClr val="accent2"/>
                          </a:solidFill>
                        </a:rPr>
                        <a:t>RAMs</a:t>
                      </a:r>
                      <a:endParaRPr lang="en-US" dirty="0">
                        <a:solidFill>
                          <a:schemeClr val="accent2"/>
                        </a:solidFill>
                      </a:endParaRPr>
                    </a:p>
                  </a:txBody>
                  <a:tcPr/>
                </a:tc>
                <a:tc>
                  <a:txBody>
                    <a:bodyPr/>
                    <a:lstStyle/>
                    <a:p>
                      <a:r>
                        <a:rPr lang="en-US" dirty="0" smtClean="0">
                          <a:solidFill>
                            <a:schemeClr val="accent2"/>
                          </a:solidFill>
                        </a:rPr>
                        <a:t>DSPs</a:t>
                      </a:r>
                      <a:endParaRPr lang="en-US" dirty="0">
                        <a:solidFill>
                          <a:schemeClr val="accent2"/>
                        </a:solidFill>
                      </a:endParaRPr>
                    </a:p>
                  </a:txBody>
                  <a:tcPr/>
                </a:tc>
                <a:tc>
                  <a:txBody>
                    <a:bodyPr/>
                    <a:lstStyle/>
                    <a:p>
                      <a:r>
                        <a:rPr lang="en-US" dirty="0" smtClean="0">
                          <a:solidFill>
                            <a:schemeClr val="accent2"/>
                          </a:solidFill>
                        </a:rPr>
                        <a:t>Freq.</a:t>
                      </a:r>
                      <a:endParaRPr lang="en-US" dirty="0">
                        <a:solidFill>
                          <a:schemeClr val="accent2"/>
                        </a:solidFill>
                      </a:endParaRPr>
                    </a:p>
                  </a:txBody>
                  <a:tcPr/>
                </a:tc>
                <a:extLst>
                  <a:ext uri="{0D108BD9-81ED-4DB2-BD59-A6C34878D82A}">
                    <a16:rowId xmlns:a16="http://schemas.microsoft.com/office/drawing/2014/main" val="100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smtClean="0">
                          <a:solidFill>
                            <a:schemeClr val="dk1"/>
                          </a:solidFill>
                          <a:latin typeface="+mn-lt"/>
                          <a:ea typeface="+mn-ea"/>
                          <a:cs typeface="+mn-cs"/>
                        </a:rPr>
                        <a:t>Estimated 3</a:t>
                      </a:r>
                      <a:endParaRPr lang="en-US" dirty="0" smtClean="0"/>
                    </a:p>
                  </a:txBody>
                  <a:tcPr/>
                </a:tc>
                <a:tc>
                  <a:txBody>
                    <a:bodyPr/>
                    <a:lstStyle/>
                    <a:p>
                      <a:r>
                        <a:rPr lang="en-US" sz="1800" b="0" i="0" u="none" strike="noStrike" kern="1200" baseline="0" dirty="0" smtClean="0">
                          <a:solidFill>
                            <a:schemeClr val="dk1"/>
                          </a:solidFill>
                          <a:latin typeface="+mn-lt"/>
                          <a:ea typeface="+mn-ea"/>
                          <a:cs typeface="+mn-cs"/>
                        </a:rPr>
                        <a:t>155187</a:t>
                      </a:r>
                      <a:endParaRPr lang="en-US" dirty="0"/>
                    </a:p>
                  </a:txBody>
                  <a:tcPr/>
                </a:tc>
                <a:tc>
                  <a:txBody>
                    <a:bodyPr/>
                    <a:lstStyle/>
                    <a:p>
                      <a:r>
                        <a:rPr lang="en-US" sz="1800" b="0" i="0" u="none" strike="noStrike" kern="1200" baseline="0" dirty="0" smtClean="0">
                          <a:solidFill>
                            <a:schemeClr val="dk1"/>
                          </a:solidFill>
                          <a:latin typeface="+mn-lt"/>
                          <a:ea typeface="+mn-ea"/>
                          <a:cs typeface="+mn-cs"/>
                        </a:rPr>
                        <a:t>294559</a:t>
                      </a:r>
                      <a:endParaRPr lang="en-US" dirty="0"/>
                    </a:p>
                  </a:txBody>
                  <a:tcPr/>
                </a:tc>
                <a:tc>
                  <a:txBody>
                    <a:bodyPr/>
                    <a:lstStyle/>
                    <a:p>
                      <a:r>
                        <a:rPr lang="en-US" sz="1800" b="0" i="0" u="none" strike="noStrike" kern="1200" baseline="0" dirty="0" smtClean="0">
                          <a:solidFill>
                            <a:schemeClr val="dk1"/>
                          </a:solidFill>
                          <a:latin typeface="+mn-lt"/>
                          <a:ea typeface="+mn-ea"/>
                          <a:cs typeface="+mn-cs"/>
                        </a:rPr>
                        <a:t>1950</a:t>
                      </a:r>
                      <a:endParaRPr lang="en-US" dirty="0"/>
                    </a:p>
                  </a:txBody>
                  <a:tcPr/>
                </a:tc>
                <a:tc>
                  <a:txBody>
                    <a:bodyPr/>
                    <a:lstStyle/>
                    <a:p>
                      <a:r>
                        <a:rPr lang="en-US" sz="1800" b="0" i="0" u="none" strike="noStrike" kern="1200" baseline="0" dirty="0" smtClean="0">
                          <a:solidFill>
                            <a:schemeClr val="dk1"/>
                          </a:solidFill>
                          <a:latin typeface="+mn-lt"/>
                          <a:ea typeface="+mn-ea"/>
                          <a:cs typeface="+mn-cs"/>
                        </a:rPr>
                        <a:t>90</a:t>
                      </a:r>
                      <a:endParaRPr lang="en-US" dirty="0"/>
                    </a:p>
                  </a:txBody>
                  <a:tcPr/>
                </a:tc>
                <a:tc>
                  <a:txBody>
                    <a:bodyPr/>
                    <a:lstStyle/>
                    <a:p>
                      <a:r>
                        <a:rPr lang="en-US" sz="1800" b="0" i="0" u="none" strike="noStrike" kern="1200" baseline="0" dirty="0" smtClean="0">
                          <a:solidFill>
                            <a:schemeClr val="dk1"/>
                          </a:solidFill>
                          <a:latin typeface="+mn-lt"/>
                          <a:ea typeface="+mn-ea"/>
                          <a:cs typeface="+mn-cs"/>
                        </a:rPr>
                        <a:t>223M</a:t>
                      </a:r>
                      <a:endParaRPr lang="en-US" dirty="0"/>
                    </a:p>
                  </a:txBody>
                  <a:tcPr/>
                </a:tc>
                <a:extLst>
                  <a:ext uri="{0D108BD9-81ED-4DB2-BD59-A6C34878D82A}">
                    <a16:rowId xmlns:a16="http://schemas.microsoft.com/office/drawing/2014/main" val="100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Measured 3</a:t>
                      </a:r>
                    </a:p>
                  </a:txBody>
                  <a:tcPr/>
                </a:tc>
                <a:tc>
                  <a:txBody>
                    <a:bodyPr/>
                    <a:lstStyle/>
                    <a:p>
                      <a:r>
                        <a:rPr lang="en-US" sz="1800" b="0" i="0" u="none" strike="noStrike" kern="1200" baseline="0" dirty="0" smtClean="0">
                          <a:solidFill>
                            <a:schemeClr val="dk1"/>
                          </a:solidFill>
                          <a:latin typeface="+mn-lt"/>
                          <a:ea typeface="+mn-ea"/>
                          <a:cs typeface="+mn-cs"/>
                        </a:rPr>
                        <a:t>171434</a:t>
                      </a:r>
                      <a:endParaRPr lang="en-US" dirty="0"/>
                    </a:p>
                  </a:txBody>
                  <a:tcPr/>
                </a:tc>
                <a:tc>
                  <a:txBody>
                    <a:bodyPr/>
                    <a:lstStyle/>
                    <a:p>
                      <a:r>
                        <a:rPr lang="en-US" sz="1800" b="0" i="0" u="none" strike="noStrike" kern="1200" baseline="0" dirty="0" smtClean="0">
                          <a:solidFill>
                            <a:schemeClr val="dk1"/>
                          </a:solidFill>
                          <a:latin typeface="+mn-lt"/>
                          <a:ea typeface="+mn-ea"/>
                          <a:cs typeface="+mn-cs"/>
                        </a:rPr>
                        <a:t>348651</a:t>
                      </a:r>
                      <a:endParaRPr lang="en-US" dirty="0"/>
                    </a:p>
                  </a:txBody>
                  <a:tcPr/>
                </a:tc>
                <a:tc>
                  <a:txBody>
                    <a:bodyPr/>
                    <a:lstStyle/>
                    <a:p>
                      <a:r>
                        <a:rPr lang="en-US" sz="1800" b="0" i="0" u="none" strike="noStrike" kern="1200" baseline="0" dirty="0" smtClean="0">
                          <a:solidFill>
                            <a:schemeClr val="dk1"/>
                          </a:solidFill>
                          <a:latin typeface="+mn-lt"/>
                          <a:ea typeface="+mn-ea"/>
                          <a:cs typeface="+mn-cs"/>
                        </a:rPr>
                        <a:t>2112</a:t>
                      </a:r>
                      <a:endParaRPr lang="en-US" dirty="0"/>
                    </a:p>
                  </a:txBody>
                  <a:tcPr/>
                </a:tc>
                <a:tc>
                  <a:txBody>
                    <a:bodyPr/>
                    <a:lstStyle/>
                    <a:p>
                      <a:r>
                        <a:rPr lang="en-US" sz="1800" b="0" i="0" u="none" strike="noStrike" kern="1200" baseline="0" dirty="0" smtClean="0">
                          <a:solidFill>
                            <a:schemeClr val="dk1"/>
                          </a:solidFill>
                          <a:latin typeface="+mn-lt"/>
                          <a:ea typeface="+mn-ea"/>
                          <a:cs typeface="+mn-cs"/>
                        </a:rPr>
                        <a:t>90</a:t>
                      </a:r>
                      <a:endParaRPr lang="en-US" dirty="0"/>
                    </a:p>
                  </a:txBody>
                  <a:tcPr/>
                </a:tc>
                <a:tc>
                  <a:txBody>
                    <a:bodyPr/>
                    <a:lstStyle/>
                    <a:p>
                      <a:r>
                        <a:rPr lang="en-US" sz="1800" b="0" i="0" u="none" strike="noStrike" kern="1200" baseline="0" dirty="0" smtClean="0">
                          <a:solidFill>
                            <a:schemeClr val="dk1"/>
                          </a:solidFill>
                          <a:latin typeface="+mn-lt"/>
                          <a:ea typeface="+mn-ea"/>
                          <a:cs typeface="+mn-cs"/>
                        </a:rPr>
                        <a:t>203M</a:t>
                      </a:r>
                      <a:endParaRPr lang="en-US" dirty="0"/>
                    </a:p>
                  </a:txBody>
                  <a:tcPr/>
                </a:tc>
                <a:extLst>
                  <a:ext uri="{0D108BD9-81ED-4DB2-BD59-A6C34878D82A}">
                    <a16:rowId xmlns:a16="http://schemas.microsoft.com/office/drawing/2014/main" val="10009"/>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130817534"/>
              </p:ext>
            </p:extLst>
          </p:nvPr>
        </p:nvGraphicFramePr>
        <p:xfrm>
          <a:off x="1066800" y="938248"/>
          <a:ext cx="7010400" cy="148336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816187">
                  <a:extLst>
                    <a:ext uri="{9D8B030D-6E8A-4147-A177-3AD203B41FA5}">
                      <a16:colId xmlns:a16="http://schemas.microsoft.com/office/drawing/2014/main" val="20004"/>
                    </a:ext>
                  </a:extLst>
                </a:gridCol>
                <a:gridCol w="1012613">
                  <a:extLst>
                    <a:ext uri="{9D8B030D-6E8A-4147-A177-3AD203B41FA5}">
                      <a16:colId xmlns:a16="http://schemas.microsoft.com/office/drawing/2014/main" val="20005"/>
                    </a:ext>
                  </a:extLst>
                </a:gridCol>
              </a:tblGrid>
              <a:tr h="370840">
                <a:tc>
                  <a:txBody>
                    <a:bodyPr/>
                    <a:lstStyle/>
                    <a:p>
                      <a:r>
                        <a:rPr lang="en-US" dirty="0" smtClean="0"/>
                        <a:t>Execution plan 1</a:t>
                      </a:r>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smtClean="0">
                          <a:solidFill>
                            <a:srgbClr val="FF0000"/>
                          </a:solidFill>
                        </a:rPr>
                        <a:t>FPGA image</a:t>
                      </a:r>
                      <a:endParaRPr lang="en-US" dirty="0">
                        <a:solidFill>
                          <a:srgbClr val="FF0000"/>
                        </a:solidFill>
                      </a:endParaRPr>
                    </a:p>
                  </a:txBody>
                  <a:tcPr/>
                </a:tc>
                <a:tc>
                  <a:txBody>
                    <a:bodyPr/>
                    <a:lstStyle/>
                    <a:p>
                      <a:pPr marL="0" algn="l" defTabSz="914400" rtl="0" eaLnBrk="1" latinLnBrk="0" hangingPunct="1"/>
                      <a:r>
                        <a:rPr lang="en-US" sz="1800" kern="1200" dirty="0" smtClean="0">
                          <a:solidFill>
                            <a:schemeClr val="accent2"/>
                          </a:solidFill>
                          <a:latin typeface="+mn-lt"/>
                          <a:ea typeface="+mn-ea"/>
                          <a:cs typeface="+mn-cs"/>
                        </a:rPr>
                        <a:t>LUTs</a:t>
                      </a:r>
                      <a:endParaRPr lang="en-US" sz="1800" kern="1200" dirty="0">
                        <a:solidFill>
                          <a:schemeClr val="accent2"/>
                        </a:solidFill>
                        <a:latin typeface="+mn-lt"/>
                        <a:ea typeface="+mn-ea"/>
                        <a:cs typeface="+mn-cs"/>
                      </a:endParaRPr>
                    </a:p>
                  </a:txBody>
                  <a:tcPr/>
                </a:tc>
                <a:tc>
                  <a:txBody>
                    <a:bodyPr/>
                    <a:lstStyle/>
                    <a:p>
                      <a:pPr marL="0" algn="l" defTabSz="914400" rtl="0" eaLnBrk="1" latinLnBrk="0" hangingPunct="1"/>
                      <a:r>
                        <a:rPr lang="en-US" sz="1800" kern="1200" dirty="0" smtClean="0">
                          <a:solidFill>
                            <a:schemeClr val="accent2"/>
                          </a:solidFill>
                          <a:latin typeface="+mn-lt"/>
                          <a:ea typeface="+mn-ea"/>
                          <a:cs typeface="+mn-cs"/>
                        </a:rPr>
                        <a:t>REGs</a:t>
                      </a:r>
                      <a:endParaRPr lang="en-US" sz="1800" kern="1200" dirty="0">
                        <a:solidFill>
                          <a:schemeClr val="accent2"/>
                        </a:solidFill>
                        <a:latin typeface="+mn-lt"/>
                        <a:ea typeface="+mn-ea"/>
                        <a:cs typeface="+mn-cs"/>
                      </a:endParaRPr>
                    </a:p>
                  </a:txBody>
                  <a:tcPr/>
                </a:tc>
                <a:tc>
                  <a:txBody>
                    <a:bodyPr/>
                    <a:lstStyle/>
                    <a:p>
                      <a:pPr marL="0" algn="l" defTabSz="914400" rtl="0" eaLnBrk="1" latinLnBrk="0" hangingPunct="1"/>
                      <a:r>
                        <a:rPr lang="en-US" sz="1800" kern="1200" dirty="0" smtClean="0">
                          <a:solidFill>
                            <a:schemeClr val="accent2"/>
                          </a:solidFill>
                          <a:latin typeface="+mn-lt"/>
                          <a:ea typeface="+mn-ea"/>
                          <a:cs typeface="+mn-cs"/>
                        </a:rPr>
                        <a:t>RAMs</a:t>
                      </a:r>
                      <a:endParaRPr lang="en-US" sz="1800" kern="1200" dirty="0">
                        <a:solidFill>
                          <a:schemeClr val="accent2"/>
                        </a:solidFill>
                        <a:latin typeface="+mn-lt"/>
                        <a:ea typeface="+mn-ea"/>
                        <a:cs typeface="+mn-cs"/>
                      </a:endParaRPr>
                    </a:p>
                  </a:txBody>
                  <a:tcPr/>
                </a:tc>
                <a:tc>
                  <a:txBody>
                    <a:bodyPr/>
                    <a:lstStyle/>
                    <a:p>
                      <a:pPr marL="0" algn="l" defTabSz="914400" rtl="0" eaLnBrk="1" latinLnBrk="0" hangingPunct="1"/>
                      <a:r>
                        <a:rPr lang="en-US" sz="1800" kern="1200" dirty="0" smtClean="0">
                          <a:solidFill>
                            <a:schemeClr val="accent2"/>
                          </a:solidFill>
                          <a:latin typeface="+mn-lt"/>
                          <a:ea typeface="+mn-ea"/>
                          <a:cs typeface="+mn-cs"/>
                        </a:rPr>
                        <a:t>DSPs</a:t>
                      </a:r>
                      <a:endParaRPr lang="en-US" sz="1800" kern="1200" dirty="0">
                        <a:solidFill>
                          <a:schemeClr val="accent2"/>
                        </a:solidFill>
                        <a:latin typeface="+mn-lt"/>
                        <a:ea typeface="+mn-ea"/>
                        <a:cs typeface="+mn-cs"/>
                      </a:endParaRPr>
                    </a:p>
                  </a:txBody>
                  <a:tcPr/>
                </a:tc>
                <a:tc>
                  <a:txBody>
                    <a:bodyPr/>
                    <a:lstStyle/>
                    <a:p>
                      <a:pPr marL="0" algn="l" defTabSz="914400" rtl="0" eaLnBrk="1" latinLnBrk="0" hangingPunct="1"/>
                      <a:r>
                        <a:rPr lang="en-US" sz="1800" kern="1200" dirty="0" smtClean="0">
                          <a:solidFill>
                            <a:schemeClr val="accent2"/>
                          </a:solidFill>
                          <a:latin typeface="+mn-lt"/>
                          <a:ea typeface="+mn-ea"/>
                          <a:cs typeface="+mn-cs"/>
                        </a:rPr>
                        <a:t>Freq.</a:t>
                      </a:r>
                      <a:endParaRPr lang="en-US" sz="1800" kern="1200" dirty="0">
                        <a:solidFill>
                          <a:schemeClr val="accent2"/>
                        </a:solidFill>
                        <a:latin typeface="+mn-lt"/>
                        <a:ea typeface="+mn-ea"/>
                        <a:cs typeface="+mn-cs"/>
                      </a:endParaRPr>
                    </a:p>
                  </a:txBody>
                  <a:tcPr/>
                </a:tc>
                <a:extLst>
                  <a:ext uri="{0D108BD9-81ED-4DB2-BD59-A6C34878D82A}">
                    <a16:rowId xmlns:a16="http://schemas.microsoft.com/office/drawing/2014/main" val="10001"/>
                  </a:ext>
                </a:extLst>
              </a:tr>
              <a:tr h="370840">
                <a:tc>
                  <a:txBody>
                    <a:bodyPr/>
                    <a:lstStyle/>
                    <a:p>
                      <a:r>
                        <a:rPr lang="en-US" dirty="0" smtClean="0"/>
                        <a:t>Estimated</a:t>
                      </a:r>
                      <a:endParaRPr lang="en-US" dirty="0"/>
                    </a:p>
                  </a:txBody>
                  <a:tcPr/>
                </a:tc>
                <a:tc>
                  <a:txBody>
                    <a:bodyPr/>
                    <a:lstStyle/>
                    <a:p>
                      <a:r>
                        <a:rPr lang="en-US" sz="1800" b="0" i="0" u="none" strike="noStrike" kern="1200" baseline="0" dirty="0" smtClean="0">
                          <a:solidFill>
                            <a:schemeClr val="dk1"/>
                          </a:solidFill>
                          <a:latin typeface="+mn-lt"/>
                          <a:ea typeface="+mn-ea"/>
                          <a:cs typeface="+mn-cs"/>
                        </a:rPr>
                        <a:t>151460</a:t>
                      </a:r>
                      <a:endParaRPr lang="en-US" dirty="0"/>
                    </a:p>
                  </a:txBody>
                  <a:tcPr/>
                </a:tc>
                <a:tc>
                  <a:txBody>
                    <a:bodyPr/>
                    <a:lstStyle/>
                    <a:p>
                      <a:r>
                        <a:rPr lang="en-US" sz="1800" b="0" i="0" u="none" strike="noStrike" kern="1200" baseline="0" dirty="0" smtClean="0">
                          <a:solidFill>
                            <a:schemeClr val="dk1"/>
                          </a:solidFill>
                          <a:latin typeface="+mn-lt"/>
                          <a:ea typeface="+mn-ea"/>
                          <a:cs typeface="+mn-cs"/>
                        </a:rPr>
                        <a:t>339134</a:t>
                      </a:r>
                      <a:endParaRPr lang="en-US" dirty="0"/>
                    </a:p>
                  </a:txBody>
                  <a:tcPr/>
                </a:tc>
                <a:tc>
                  <a:txBody>
                    <a:bodyPr/>
                    <a:lstStyle/>
                    <a:p>
                      <a:r>
                        <a:rPr lang="en-US" sz="1800" b="0" i="0" u="none" strike="noStrike" kern="1200" baseline="0" dirty="0" smtClean="0">
                          <a:solidFill>
                            <a:schemeClr val="dk1"/>
                          </a:solidFill>
                          <a:latin typeface="+mn-lt"/>
                          <a:ea typeface="+mn-ea"/>
                          <a:cs typeface="+mn-cs"/>
                        </a:rPr>
                        <a:t>2175</a:t>
                      </a:r>
                      <a:endParaRPr lang="en-US" dirty="0"/>
                    </a:p>
                  </a:txBody>
                  <a:tcPr/>
                </a:tc>
                <a:tc>
                  <a:txBody>
                    <a:bodyPr/>
                    <a:lstStyle/>
                    <a:p>
                      <a:r>
                        <a:rPr lang="en-US" sz="1800" b="0" i="0" u="none" strike="noStrike" kern="1200" baseline="0" dirty="0" smtClean="0">
                          <a:solidFill>
                            <a:schemeClr val="dk1"/>
                          </a:solidFill>
                          <a:latin typeface="+mn-lt"/>
                          <a:ea typeface="+mn-ea"/>
                          <a:cs typeface="+mn-cs"/>
                        </a:rPr>
                        <a:t>42</a:t>
                      </a:r>
                      <a:endParaRPr lang="en-US" dirty="0"/>
                    </a:p>
                  </a:txBody>
                  <a:tcPr/>
                </a:tc>
                <a:tc>
                  <a:txBody>
                    <a:bodyPr/>
                    <a:lstStyle/>
                    <a:p>
                      <a:r>
                        <a:rPr lang="en-US" sz="1800" b="0" i="0" u="none" strike="noStrike" kern="1200" baseline="0" dirty="0" smtClean="0">
                          <a:solidFill>
                            <a:schemeClr val="dk1"/>
                          </a:solidFill>
                          <a:latin typeface="+mn-lt"/>
                          <a:ea typeface="+mn-ea"/>
                          <a:cs typeface="+mn-cs"/>
                        </a:rPr>
                        <a:t>198</a:t>
                      </a:r>
                      <a:endParaRPr lang="en-US" dirty="0"/>
                    </a:p>
                  </a:txBody>
                  <a:tcPr/>
                </a:tc>
                <a:extLst>
                  <a:ext uri="{0D108BD9-81ED-4DB2-BD59-A6C34878D82A}">
                    <a16:rowId xmlns:a16="http://schemas.microsoft.com/office/drawing/2014/main" val="10002"/>
                  </a:ext>
                </a:extLst>
              </a:tr>
              <a:tr h="370840">
                <a:tc>
                  <a:txBody>
                    <a:bodyPr/>
                    <a:lstStyle/>
                    <a:p>
                      <a:r>
                        <a:rPr lang="en-US" dirty="0" smtClean="0"/>
                        <a:t>Measured</a:t>
                      </a:r>
                      <a:endParaRPr lang="en-US" dirty="0"/>
                    </a:p>
                  </a:txBody>
                  <a:tcPr/>
                </a:tc>
                <a:tc>
                  <a:txBody>
                    <a:bodyPr/>
                    <a:lstStyle/>
                    <a:p>
                      <a:r>
                        <a:rPr lang="en-US" sz="1800" b="0" i="0" u="none" strike="noStrike" kern="1200" baseline="0" dirty="0" smtClean="0">
                          <a:solidFill>
                            <a:schemeClr val="dk1"/>
                          </a:solidFill>
                          <a:latin typeface="+mn-lt"/>
                          <a:ea typeface="+mn-ea"/>
                          <a:cs typeface="+mn-cs"/>
                        </a:rPr>
                        <a:t>154509</a:t>
                      </a:r>
                      <a:endParaRPr lang="en-US" dirty="0"/>
                    </a:p>
                  </a:txBody>
                  <a:tcPr/>
                </a:tc>
                <a:tc>
                  <a:txBody>
                    <a:bodyPr/>
                    <a:lstStyle/>
                    <a:p>
                      <a:r>
                        <a:rPr lang="en-US" sz="1800" b="0" i="0" u="none" strike="noStrike" kern="1200" baseline="0" dirty="0" smtClean="0">
                          <a:solidFill>
                            <a:schemeClr val="dk1"/>
                          </a:solidFill>
                          <a:latin typeface="+mn-lt"/>
                          <a:ea typeface="+mn-ea"/>
                          <a:cs typeface="+mn-cs"/>
                        </a:rPr>
                        <a:t>283131</a:t>
                      </a:r>
                      <a:endParaRPr lang="en-US" dirty="0"/>
                    </a:p>
                  </a:txBody>
                  <a:tcPr/>
                </a:tc>
                <a:tc>
                  <a:txBody>
                    <a:bodyPr/>
                    <a:lstStyle/>
                    <a:p>
                      <a:r>
                        <a:rPr lang="en-US" sz="1800" b="0" i="0" u="none" strike="noStrike" kern="1200" baseline="0" dirty="0" smtClean="0">
                          <a:solidFill>
                            <a:schemeClr val="dk1"/>
                          </a:solidFill>
                          <a:latin typeface="+mn-lt"/>
                          <a:ea typeface="+mn-ea"/>
                          <a:cs typeface="+mn-cs"/>
                        </a:rPr>
                        <a:t>1973</a:t>
                      </a:r>
                      <a:endParaRPr lang="en-US" dirty="0"/>
                    </a:p>
                  </a:txBody>
                  <a:tcPr/>
                </a:tc>
                <a:tc>
                  <a:txBody>
                    <a:bodyPr/>
                    <a:lstStyle/>
                    <a:p>
                      <a:r>
                        <a:rPr lang="en-US" sz="1800" b="0" i="0" u="none" strike="noStrike" kern="1200" baseline="0" dirty="0" smtClean="0">
                          <a:solidFill>
                            <a:schemeClr val="dk1"/>
                          </a:solidFill>
                          <a:latin typeface="+mn-lt"/>
                          <a:ea typeface="+mn-ea"/>
                          <a:cs typeface="+mn-cs"/>
                        </a:rPr>
                        <a:t>34</a:t>
                      </a:r>
                      <a:endParaRPr lang="en-US" dirty="0"/>
                    </a:p>
                  </a:txBody>
                  <a:tcPr/>
                </a:tc>
                <a:tc>
                  <a:txBody>
                    <a:bodyPr/>
                    <a:lstStyle/>
                    <a:p>
                      <a:r>
                        <a:rPr lang="en-US" sz="1800" b="0" i="0" u="none" strike="noStrike" kern="1200" baseline="0" dirty="0" smtClean="0">
                          <a:solidFill>
                            <a:schemeClr val="dk1"/>
                          </a:solidFill>
                          <a:latin typeface="+mn-lt"/>
                          <a:ea typeface="+mn-ea"/>
                          <a:cs typeface="+mn-cs"/>
                        </a:rPr>
                        <a:t>233</a:t>
                      </a:r>
                      <a:endParaRPr lang="en-US" dirty="0"/>
                    </a:p>
                  </a:txBody>
                  <a:tcPr/>
                </a:tc>
                <a:extLst>
                  <a:ext uri="{0D108BD9-81ED-4DB2-BD59-A6C34878D82A}">
                    <a16:rowId xmlns:a16="http://schemas.microsoft.com/office/drawing/2014/main" val="10003"/>
                  </a:ext>
                </a:extLst>
              </a:tr>
            </a:tbl>
          </a:graphicData>
        </a:graphic>
      </p:graphicFrame>
      <p:sp>
        <p:nvSpPr>
          <p:cNvPr id="6" name="TextBox 13"/>
          <p:cNvSpPr txBox="1">
            <a:spLocks noChangeArrowheads="1"/>
          </p:cNvSpPr>
          <p:nvPr/>
        </p:nvSpPr>
        <p:spPr bwMode="auto">
          <a:xfrm>
            <a:off x="1090246" y="4034406"/>
            <a:ext cx="7034645" cy="1384995"/>
          </a:xfrm>
          <a:prstGeom prst="rect">
            <a:avLst/>
          </a:prstGeom>
          <a:solidFill>
            <a:srgbClr val="FFFF00"/>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sz="2800" dirty="0" smtClean="0"/>
              <a:t>Our cost model can roughly predict the resource utilization and frequency of each FPGA image. </a:t>
            </a:r>
            <a:endParaRPr lang="en-US" sz="2800" dirty="0">
              <a:solidFill>
                <a:srgbClr val="002060"/>
              </a:solidFill>
            </a:endParaRPr>
          </a:p>
        </p:txBody>
      </p:sp>
    </p:spTree>
    <p:extLst>
      <p:ext uri="{BB962C8B-B14F-4D97-AF65-F5344CB8AC3E}">
        <p14:creationId xmlns:p14="http://schemas.microsoft.com/office/powerpoint/2010/main" val="2103860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SG" altLang="en-US" dirty="0" smtClean="0"/>
              <a:t>Break-even Point for Execution Plans</a:t>
            </a:r>
            <a:endParaRPr lang="en-US" i="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54</a:t>
            </a:fld>
            <a:endParaRPr lang="en-US" dirty="0"/>
          </a:p>
        </p:txBody>
      </p:sp>
      <p:graphicFrame>
        <p:nvGraphicFramePr>
          <p:cNvPr id="11" name="Chart 10"/>
          <p:cNvGraphicFramePr>
            <a:graphicFrameLocks/>
          </p:cNvGraphicFramePr>
          <p:nvPr>
            <p:extLst>
              <p:ext uri="{D42A27DB-BD31-4B8C-83A1-F6EECF244321}">
                <p14:modId xmlns:p14="http://schemas.microsoft.com/office/powerpoint/2010/main" val="1835562648"/>
              </p:ext>
            </p:extLst>
          </p:nvPr>
        </p:nvGraphicFramePr>
        <p:xfrm>
          <a:off x="157211" y="1021492"/>
          <a:ext cx="5714254" cy="3588954"/>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3"/>
          <p:cNvSpPr txBox="1">
            <a:spLocks noChangeArrowheads="1"/>
          </p:cNvSpPr>
          <p:nvPr/>
        </p:nvSpPr>
        <p:spPr bwMode="auto">
          <a:xfrm>
            <a:off x="832138" y="5430728"/>
            <a:ext cx="7479723" cy="954107"/>
          </a:xfrm>
          <a:prstGeom prst="rect">
            <a:avLst/>
          </a:prstGeom>
          <a:solidFill>
            <a:srgbClr val="FFFF00"/>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sz="2800" dirty="0" smtClean="0"/>
              <a:t>Our cost model can recommend the optimal execution plan for different table sizes.  </a:t>
            </a:r>
            <a:endParaRPr lang="en-US" sz="2800" dirty="0">
              <a:solidFill>
                <a:srgbClr val="002060"/>
              </a:solidFill>
            </a:endParaRPr>
          </a:p>
        </p:txBody>
      </p:sp>
      <p:sp>
        <p:nvSpPr>
          <p:cNvPr id="13" name="TextBox 12"/>
          <p:cNvSpPr txBox="1"/>
          <p:nvPr/>
        </p:nvSpPr>
        <p:spPr>
          <a:xfrm>
            <a:off x="5545583" y="1260208"/>
            <a:ext cx="3505199" cy="1569660"/>
          </a:xfrm>
          <a:prstGeom prst="rect">
            <a:avLst/>
          </a:prstGeom>
          <a:noFill/>
        </p:spPr>
        <p:txBody>
          <a:bodyPr wrap="square" rtlCol="0">
            <a:spAutoFit/>
          </a:bodyPr>
          <a:lstStyle/>
          <a:p>
            <a:r>
              <a:rPr lang="en-US" sz="2400" dirty="0" smtClean="0">
                <a:solidFill>
                  <a:schemeClr val="tx2"/>
                </a:solidFill>
                <a:latin typeface="Comic Sans MS" pitchFamily="66" charset="0"/>
              </a:rPr>
              <a:t>1: execution plan 1</a:t>
            </a:r>
          </a:p>
          <a:p>
            <a:r>
              <a:rPr lang="en-US" sz="2400" dirty="0" smtClean="0">
                <a:solidFill>
                  <a:schemeClr val="tx2"/>
                </a:solidFill>
                <a:latin typeface="Comic Sans MS" pitchFamily="66" charset="0"/>
              </a:rPr>
              <a:t>2: </a:t>
            </a:r>
            <a:r>
              <a:rPr lang="en-US" sz="2400" dirty="0">
                <a:solidFill>
                  <a:schemeClr val="tx2"/>
                </a:solidFill>
                <a:latin typeface="Comic Sans MS" pitchFamily="66" charset="0"/>
              </a:rPr>
              <a:t>execution plan </a:t>
            </a:r>
            <a:r>
              <a:rPr lang="en-US" sz="2400" dirty="0" smtClean="0">
                <a:solidFill>
                  <a:schemeClr val="tx2"/>
                </a:solidFill>
                <a:latin typeface="Comic Sans MS" pitchFamily="66" charset="0"/>
              </a:rPr>
              <a:t>2</a:t>
            </a:r>
          </a:p>
          <a:p>
            <a:r>
              <a:rPr lang="en-US" sz="2400" dirty="0" smtClean="0">
                <a:solidFill>
                  <a:schemeClr val="tx2"/>
                </a:solidFill>
                <a:latin typeface="Comic Sans MS" pitchFamily="66" charset="0"/>
              </a:rPr>
              <a:t>Measured: real FPGA</a:t>
            </a:r>
          </a:p>
          <a:p>
            <a:r>
              <a:rPr lang="en-US" sz="2400" dirty="0" smtClean="0">
                <a:solidFill>
                  <a:schemeClr val="tx2"/>
                </a:solidFill>
                <a:latin typeface="Comic Sans MS" pitchFamily="66" charset="0"/>
              </a:rPr>
              <a:t>Estimated: cost model</a:t>
            </a:r>
            <a:endParaRPr lang="en-US" sz="2400" dirty="0">
              <a:solidFill>
                <a:schemeClr val="tx2"/>
              </a:solidFill>
              <a:latin typeface="Comic Sans MS" pitchFamily="66" charset="0"/>
            </a:endParaRPr>
          </a:p>
        </p:txBody>
      </p:sp>
      <p:sp>
        <p:nvSpPr>
          <p:cNvPr id="14" name="Oval 68"/>
          <p:cNvSpPr>
            <a:spLocks noChangeArrowheads="1"/>
          </p:cNvSpPr>
          <p:nvPr/>
        </p:nvSpPr>
        <p:spPr bwMode="auto">
          <a:xfrm>
            <a:off x="3276600" y="3277716"/>
            <a:ext cx="762000" cy="533400"/>
          </a:xfrm>
          <a:prstGeom prst="ellipse">
            <a:avLst/>
          </a:prstGeom>
          <a:noFill/>
          <a:ln w="34925" algn="ctr">
            <a:solidFill>
              <a:srgbClr val="00B0F0"/>
            </a:solidFill>
            <a:round/>
            <a:headEnd/>
            <a:tailEnd/>
          </a:ln>
          <a:extLst>
            <a:ext uri="{909E8E84-426E-40dd-AFC4-6F175D3DCCD1}">
              <a14:hiddenFill xmlns:a14="http://schemas.microsoft.com/office/drawing/2010/main" xmlns="">
                <a:solidFill>
                  <a:srgbClr val="FFFFFF"/>
                </a:solidFill>
              </a14:hiddenFill>
            </a:ext>
          </a:extLst>
        </p:spPr>
        <p:txBody>
          <a:bodyPr/>
          <a:lstStyle/>
          <a:p>
            <a:pPr defTabSz="1279525"/>
            <a:endParaRPr lang="en-SG" altLang="en-US" sz="2000" dirty="0"/>
          </a:p>
        </p:txBody>
      </p:sp>
      <p:sp>
        <p:nvSpPr>
          <p:cNvPr id="15" name="TextBox 13"/>
          <p:cNvSpPr txBox="1">
            <a:spLocks noChangeArrowheads="1"/>
          </p:cNvSpPr>
          <p:nvPr/>
        </p:nvSpPr>
        <p:spPr bwMode="auto">
          <a:xfrm>
            <a:off x="5883823" y="3292679"/>
            <a:ext cx="3031578" cy="523220"/>
          </a:xfrm>
          <a:prstGeom prst="rect">
            <a:avLst/>
          </a:prstGeom>
          <a:solidFill>
            <a:srgbClr val="FFFF00"/>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sz="2800" dirty="0" smtClean="0"/>
              <a:t>Break-even point </a:t>
            </a:r>
            <a:endParaRPr lang="en-US" sz="2800" dirty="0">
              <a:solidFill>
                <a:srgbClr val="002060"/>
              </a:solidFill>
            </a:endParaRPr>
          </a:p>
        </p:txBody>
      </p:sp>
      <p:cxnSp>
        <p:nvCxnSpPr>
          <p:cNvPr id="16" name="Straight Arrow Connector 76"/>
          <p:cNvCxnSpPr>
            <a:cxnSpLocks noChangeShapeType="1"/>
          </p:cNvCxnSpPr>
          <p:nvPr/>
        </p:nvCxnSpPr>
        <p:spPr bwMode="auto">
          <a:xfrm>
            <a:off x="4050957" y="3544416"/>
            <a:ext cx="1820508" cy="40268"/>
          </a:xfrm>
          <a:prstGeom prst="straightConnector1">
            <a:avLst/>
          </a:prstGeom>
          <a:noFill/>
          <a:ln w="34925" algn="ctr">
            <a:solidFill>
              <a:schemeClr val="tx1">
                <a:lumMod val="65000"/>
                <a:lumOff val="35000"/>
              </a:schemeClr>
            </a:solidFill>
            <a:prstDash val="sysDash"/>
            <a:round/>
            <a:headEnd/>
            <a:tailEnd type="arrow" w="med" len="med"/>
          </a:ln>
          <a:extLst>
            <a:ext uri="{909E8E84-426E-40dd-AFC4-6F175D3DCCD1}">
              <a14:hiddenFill xmlns:a14="http://schemas.microsoft.com/office/drawing/2010/main" xmlns="">
                <a:noFill/>
              </a14:hiddenFill>
            </a:ext>
          </a:extLst>
        </p:spPr>
      </p:cxnSp>
      <p:sp>
        <p:nvSpPr>
          <p:cNvPr id="17" name="TextBox 13"/>
          <p:cNvSpPr txBox="1">
            <a:spLocks noChangeArrowheads="1"/>
          </p:cNvSpPr>
          <p:nvPr/>
        </p:nvSpPr>
        <p:spPr bwMode="auto">
          <a:xfrm>
            <a:off x="813088" y="4449511"/>
            <a:ext cx="7479723" cy="954107"/>
          </a:xfrm>
          <a:prstGeom prst="rect">
            <a:avLst/>
          </a:prstGeom>
          <a:solidFill>
            <a:srgbClr val="FFFF00"/>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sz="2800" dirty="0" smtClean="0"/>
              <a:t>Our cost model can roughly predict the performance for each execution plan.  </a:t>
            </a:r>
            <a:endParaRPr lang="en-US" sz="2800" dirty="0">
              <a:solidFill>
                <a:srgbClr val="002060"/>
              </a:solidFill>
            </a:endParaRPr>
          </a:p>
        </p:txBody>
      </p:sp>
    </p:spTree>
    <p:extLst>
      <p:ext uri="{BB962C8B-B14F-4D97-AF65-F5344CB8AC3E}">
        <p14:creationId xmlns:p14="http://schemas.microsoft.com/office/powerpoint/2010/main" val="271016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1000"/>
                                        <p:tgtEl>
                                          <p:spTgt spid="14"/>
                                        </p:tgtEl>
                                      </p:cBhvr>
                                    </p:animEffect>
                                    <p:anim calcmode="lin" valueType="num">
                                      <p:cBhvr>
                                        <p:cTn id="12" dur="1000" fill="hold"/>
                                        <p:tgtEl>
                                          <p:spTgt spid="14"/>
                                        </p:tgtEl>
                                        <p:attrNameLst>
                                          <p:attrName>ppt_x</p:attrName>
                                        </p:attrNameLst>
                                      </p:cBhvr>
                                      <p:tavLst>
                                        <p:tav tm="0">
                                          <p:val>
                                            <p:strVal val="#ppt_x"/>
                                          </p:val>
                                        </p:tav>
                                        <p:tav tm="100000">
                                          <p:val>
                                            <p:strVal val="#ppt_x"/>
                                          </p:val>
                                        </p:tav>
                                      </p:tavLst>
                                    </p:anim>
                                    <p:anim calcmode="lin" valueType="num">
                                      <p:cBhvr>
                                        <p:cTn id="13" dur="1000" fill="hold"/>
                                        <p:tgtEl>
                                          <p:spTgt spid="14"/>
                                        </p:tgtEl>
                                        <p:attrNameLst>
                                          <p:attrName>ppt_y</p:attrName>
                                        </p:attrNameLst>
                                      </p:cBhvr>
                                      <p:tavLst>
                                        <p:tav tm="0">
                                          <p:val>
                                            <p:strVal val="#ppt_y+.1"/>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fill="hold"/>
                                        <p:tgtEl>
                                          <p:spTgt spid="15"/>
                                        </p:tgtEl>
                                        <p:attrNameLst>
                                          <p:attrName>ppt_x</p:attrName>
                                        </p:attrNameLst>
                                      </p:cBhvr>
                                      <p:tavLst>
                                        <p:tav tm="0">
                                          <p:val>
                                            <p:strVal val="#ppt_x"/>
                                          </p:val>
                                        </p:tav>
                                        <p:tav tm="100000">
                                          <p:val>
                                            <p:strVal val="#ppt_x"/>
                                          </p:val>
                                        </p:tav>
                                      </p:tavLst>
                                    </p:anim>
                                    <p:anim calcmode="lin" valueType="num">
                                      <p:cBhvr additive="base">
                                        <p:cTn id="17" dur="500" fill="hold"/>
                                        <p:tgtEl>
                                          <p:spTgt spid="15"/>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additive="base">
                                        <p:cTn id="20" dur="500" fill="hold"/>
                                        <p:tgtEl>
                                          <p:spTgt spid="16"/>
                                        </p:tgtEl>
                                        <p:attrNameLst>
                                          <p:attrName>ppt_x</p:attrName>
                                        </p:attrNameLst>
                                      </p:cBhvr>
                                      <p:tavLst>
                                        <p:tav tm="0">
                                          <p:val>
                                            <p:strVal val="#ppt_x"/>
                                          </p:val>
                                        </p:tav>
                                        <p:tav tm="100000">
                                          <p:val>
                                            <p:strVal val="#ppt_x"/>
                                          </p:val>
                                        </p:tav>
                                      </p:tavLst>
                                    </p:anim>
                                    <p:anim calcmode="lin" valueType="num">
                                      <p:cBhvr additive="base">
                                        <p:cTn id="21"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5" grpId="0" animBg="1"/>
      <p:bldP spid="1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7"/>
          <p:cNvGraphicFramePr>
            <a:graphicFrameLocks/>
          </p:cNvGraphicFramePr>
          <p:nvPr>
            <p:extLst/>
          </p:nvPr>
        </p:nvGraphicFramePr>
        <p:xfrm>
          <a:off x="685800" y="1096711"/>
          <a:ext cx="5359112" cy="335280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p:cNvSpPr>
            <a:spLocks noGrp="1"/>
          </p:cNvSpPr>
          <p:nvPr>
            <p:ph type="title"/>
          </p:nvPr>
        </p:nvSpPr>
        <p:spPr>
          <a:xfrm>
            <a:off x="457200" y="274638"/>
            <a:ext cx="8229600" cy="792162"/>
          </a:xfrm>
        </p:spPr>
        <p:txBody>
          <a:bodyPr>
            <a:normAutofit/>
          </a:bodyPr>
          <a:lstStyle/>
          <a:p>
            <a:r>
              <a:rPr lang="en-SG" altLang="en-US" dirty="0" smtClean="0"/>
              <a:t>Comparison with </a:t>
            </a:r>
            <a:r>
              <a:rPr lang="en-SG" altLang="en-US" dirty="0" err="1" smtClean="0"/>
              <a:t>OmniDB</a:t>
            </a:r>
            <a:r>
              <a:rPr lang="en-SG" altLang="en-US" dirty="0" smtClean="0"/>
              <a:t> on FPGA</a:t>
            </a:r>
            <a:endParaRPr lang="en-US" i="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55</a:t>
            </a:fld>
            <a:endParaRPr lang="en-US" dirty="0"/>
          </a:p>
        </p:txBody>
      </p:sp>
      <p:sp>
        <p:nvSpPr>
          <p:cNvPr id="17" name="TextBox 13"/>
          <p:cNvSpPr txBox="1">
            <a:spLocks noChangeArrowheads="1"/>
          </p:cNvSpPr>
          <p:nvPr/>
        </p:nvSpPr>
        <p:spPr bwMode="auto">
          <a:xfrm>
            <a:off x="460717" y="4531001"/>
            <a:ext cx="8235462" cy="1384995"/>
          </a:xfrm>
          <a:prstGeom prst="rect">
            <a:avLst/>
          </a:prstGeom>
          <a:solidFill>
            <a:srgbClr val="FFFF00"/>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sz="2800" dirty="0" smtClean="0"/>
              <a:t>FPGA reconfiguration overhead  &gt; </a:t>
            </a:r>
            <a:r>
              <a:rPr lang="en-US" altLang="zh-CN" sz="2800" dirty="0" smtClean="0"/>
              <a:t>B</a:t>
            </a:r>
            <a:r>
              <a:rPr lang="en-US" sz="2800" dirty="0" smtClean="0"/>
              <a:t>enefit from the reduced execution </a:t>
            </a:r>
            <a:r>
              <a:rPr lang="en-US" sz="2800" dirty="0"/>
              <a:t>time </a:t>
            </a:r>
            <a:r>
              <a:rPr lang="en-US" sz="2800" dirty="0" smtClean="0"/>
              <a:t>(</a:t>
            </a:r>
            <a:r>
              <a:rPr lang="en-US" sz="2800" dirty="0"/>
              <a:t>more aggregative optimizations for each involved kernel</a:t>
            </a:r>
            <a:r>
              <a:rPr lang="en-US" sz="2800" dirty="0" smtClean="0"/>
              <a:t>.</a:t>
            </a:r>
            <a:endParaRPr lang="en-US" sz="2800" dirty="0">
              <a:solidFill>
                <a:srgbClr val="002060"/>
              </a:solidFill>
            </a:endParaRPr>
          </a:p>
        </p:txBody>
      </p:sp>
      <p:sp>
        <p:nvSpPr>
          <p:cNvPr id="19" name="TextBox 12"/>
          <p:cNvSpPr txBox="1"/>
          <p:nvPr/>
        </p:nvSpPr>
        <p:spPr>
          <a:xfrm>
            <a:off x="5778213" y="2829862"/>
            <a:ext cx="3461037" cy="120032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err="1" smtClean="0">
                <a:solidFill>
                  <a:schemeClr val="tx2"/>
                </a:solidFill>
                <a:latin typeface="Comic Sans MS" pitchFamily="66" charset="0"/>
              </a:rPr>
              <a:t>OmniDB</a:t>
            </a:r>
            <a:r>
              <a:rPr lang="en-US" sz="2400" dirty="0" smtClean="0">
                <a:solidFill>
                  <a:schemeClr val="tx2"/>
                </a:solidFill>
                <a:latin typeface="Comic Sans MS" pitchFamily="66" charset="0"/>
              </a:rPr>
              <a:t>: one FPGA image without FPGA-specific optimizations</a:t>
            </a:r>
            <a:endParaRPr lang="en-US" sz="2400" dirty="0">
              <a:solidFill>
                <a:schemeClr val="tx2"/>
              </a:solidFill>
              <a:latin typeface="Comic Sans MS" pitchFamily="66" charset="0"/>
            </a:endParaRPr>
          </a:p>
        </p:txBody>
      </p:sp>
      <p:sp>
        <p:nvSpPr>
          <p:cNvPr id="10" name="Oval 68"/>
          <p:cNvSpPr>
            <a:spLocks noChangeArrowheads="1"/>
          </p:cNvSpPr>
          <p:nvPr/>
        </p:nvSpPr>
        <p:spPr bwMode="auto">
          <a:xfrm>
            <a:off x="1676400" y="2142413"/>
            <a:ext cx="2514600" cy="754927"/>
          </a:xfrm>
          <a:prstGeom prst="ellipse">
            <a:avLst/>
          </a:prstGeom>
          <a:noFill/>
          <a:ln w="34925" algn="ctr">
            <a:solidFill>
              <a:srgbClr val="00B0F0"/>
            </a:solidFill>
            <a:round/>
            <a:headEnd/>
            <a:tailEnd/>
          </a:ln>
          <a:extLst>
            <a:ext uri="{909E8E84-426E-40dd-AFC4-6F175D3DCCD1}">
              <a14:hiddenFill xmlns:a14="http://schemas.microsoft.com/office/drawing/2010/main" xmlns="">
                <a:solidFill>
                  <a:srgbClr val="FFFFFF"/>
                </a:solidFill>
              </a14:hiddenFill>
            </a:ext>
          </a:extLst>
        </p:spPr>
        <p:txBody>
          <a:bodyPr/>
          <a:lstStyle/>
          <a:p>
            <a:pPr defTabSz="1279525"/>
            <a:endParaRPr lang="en-SG" altLang="en-US" sz="2000" dirty="0"/>
          </a:p>
        </p:txBody>
      </p:sp>
      <p:sp>
        <p:nvSpPr>
          <p:cNvPr id="11" name="TextBox 13"/>
          <p:cNvSpPr txBox="1">
            <a:spLocks noChangeArrowheads="1"/>
          </p:cNvSpPr>
          <p:nvPr/>
        </p:nvSpPr>
        <p:spPr bwMode="auto">
          <a:xfrm>
            <a:off x="1752600" y="1018284"/>
            <a:ext cx="2590800" cy="461665"/>
          </a:xfrm>
          <a:prstGeom prst="rect">
            <a:avLst/>
          </a:prstGeom>
          <a:solidFill>
            <a:srgbClr val="FFFF00"/>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dirty="0" smtClean="0"/>
              <a:t>One FPGA image</a:t>
            </a:r>
            <a:endParaRPr lang="en-US" dirty="0">
              <a:solidFill>
                <a:srgbClr val="002060"/>
              </a:solidFill>
            </a:endParaRPr>
          </a:p>
        </p:txBody>
      </p:sp>
      <p:cxnSp>
        <p:nvCxnSpPr>
          <p:cNvPr id="12" name="Straight Arrow Connector 76"/>
          <p:cNvCxnSpPr>
            <a:cxnSpLocks noChangeShapeType="1"/>
            <a:stCxn id="10" idx="0"/>
          </p:cNvCxnSpPr>
          <p:nvPr/>
        </p:nvCxnSpPr>
        <p:spPr bwMode="auto">
          <a:xfrm flipV="1">
            <a:off x="2933700" y="1450871"/>
            <a:ext cx="114300" cy="691542"/>
          </a:xfrm>
          <a:prstGeom prst="straightConnector1">
            <a:avLst/>
          </a:prstGeom>
          <a:noFill/>
          <a:ln w="34925" algn="ctr">
            <a:solidFill>
              <a:schemeClr val="tx1">
                <a:lumMod val="65000"/>
                <a:lumOff val="35000"/>
              </a:schemeClr>
            </a:solidFill>
            <a:prstDash val="sysDash"/>
            <a:round/>
            <a:headEnd/>
            <a:tailEnd type="arrow" w="med" len="med"/>
          </a:ln>
          <a:extLst>
            <a:ext uri="{909E8E84-426E-40dd-AFC4-6F175D3DCCD1}">
              <a14:hiddenFill xmlns:a14="http://schemas.microsoft.com/office/drawing/2010/main" xmlns="">
                <a:noFill/>
              </a14:hiddenFill>
            </a:ext>
          </a:extLst>
        </p:spPr>
      </p:cxnSp>
    </p:spTree>
    <p:extLst>
      <p:ext uri="{BB962C8B-B14F-4D97-AF65-F5344CB8AC3E}">
        <p14:creationId xmlns:p14="http://schemas.microsoft.com/office/powerpoint/2010/main" val="3763471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2" presetClass="entr" presetSubtype="4"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ppt_x"/>
                                          </p:val>
                                        </p:tav>
                                        <p:tav tm="100000">
                                          <p:val>
                                            <p:strVal val="#ppt_x"/>
                                          </p:val>
                                        </p:tav>
                                      </p:tavLst>
                                    </p:anim>
                                    <p:anim calcmode="lin" valueType="num">
                                      <p:cBhvr additive="base">
                                        <p:cTn id="1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0" grpId="0" animBg="1"/>
      <p:bldP spid="11"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7"/>
          <p:cNvGraphicFramePr>
            <a:graphicFrameLocks/>
          </p:cNvGraphicFramePr>
          <p:nvPr>
            <p:extLst>
              <p:ext uri="{D42A27DB-BD31-4B8C-83A1-F6EECF244321}">
                <p14:modId xmlns:p14="http://schemas.microsoft.com/office/powerpoint/2010/main" val="36727411"/>
              </p:ext>
            </p:extLst>
          </p:nvPr>
        </p:nvGraphicFramePr>
        <p:xfrm>
          <a:off x="685800" y="1096711"/>
          <a:ext cx="5359112" cy="335280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p:cNvSpPr>
            <a:spLocks noGrp="1"/>
          </p:cNvSpPr>
          <p:nvPr>
            <p:ph type="title"/>
          </p:nvPr>
        </p:nvSpPr>
        <p:spPr>
          <a:xfrm>
            <a:off x="457200" y="274638"/>
            <a:ext cx="8229600" cy="792162"/>
          </a:xfrm>
        </p:spPr>
        <p:txBody>
          <a:bodyPr>
            <a:normAutofit/>
          </a:bodyPr>
          <a:lstStyle/>
          <a:p>
            <a:r>
              <a:rPr lang="en-SG" altLang="en-US" dirty="0" smtClean="0"/>
              <a:t>Comparison with </a:t>
            </a:r>
            <a:r>
              <a:rPr lang="en-SG" altLang="en-US" dirty="0" err="1" smtClean="0"/>
              <a:t>OmniDB</a:t>
            </a:r>
            <a:r>
              <a:rPr lang="en-SG" altLang="en-US" dirty="0" smtClean="0"/>
              <a:t> on FPGA</a:t>
            </a:r>
            <a:endParaRPr lang="en-US" i="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56</a:t>
            </a:fld>
            <a:endParaRPr lang="en-US" dirty="0"/>
          </a:p>
        </p:txBody>
      </p:sp>
      <p:sp>
        <p:nvSpPr>
          <p:cNvPr id="14" name="Oval 68"/>
          <p:cNvSpPr>
            <a:spLocks noChangeArrowheads="1"/>
          </p:cNvSpPr>
          <p:nvPr/>
        </p:nvSpPr>
        <p:spPr bwMode="auto">
          <a:xfrm>
            <a:off x="3962400" y="1562106"/>
            <a:ext cx="2209800" cy="841422"/>
          </a:xfrm>
          <a:prstGeom prst="ellipse">
            <a:avLst/>
          </a:prstGeom>
          <a:noFill/>
          <a:ln w="34925" algn="ctr">
            <a:solidFill>
              <a:srgbClr val="00B0F0"/>
            </a:solidFill>
            <a:round/>
            <a:headEnd/>
            <a:tailEnd/>
          </a:ln>
          <a:extLst>
            <a:ext uri="{909E8E84-426E-40dd-AFC4-6F175D3DCCD1}">
              <a14:hiddenFill xmlns:a14="http://schemas.microsoft.com/office/drawing/2010/main" xmlns="">
                <a:solidFill>
                  <a:srgbClr val="FFFFFF"/>
                </a:solidFill>
              </a14:hiddenFill>
            </a:ext>
          </a:extLst>
        </p:spPr>
        <p:txBody>
          <a:bodyPr/>
          <a:lstStyle/>
          <a:p>
            <a:pPr defTabSz="1279525"/>
            <a:endParaRPr lang="en-SG" altLang="en-US" sz="2000" dirty="0"/>
          </a:p>
        </p:txBody>
      </p:sp>
      <p:sp>
        <p:nvSpPr>
          <p:cNvPr id="15" name="TextBox 13"/>
          <p:cNvSpPr txBox="1">
            <a:spLocks noChangeArrowheads="1"/>
          </p:cNvSpPr>
          <p:nvPr/>
        </p:nvSpPr>
        <p:spPr bwMode="auto">
          <a:xfrm>
            <a:off x="5867400" y="1178867"/>
            <a:ext cx="3048000" cy="461665"/>
          </a:xfrm>
          <a:prstGeom prst="rect">
            <a:avLst/>
          </a:prstGeom>
          <a:solidFill>
            <a:srgbClr val="FFFF00"/>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dirty="0" smtClean="0"/>
              <a:t>Three FPGA images</a:t>
            </a:r>
            <a:endParaRPr lang="en-US" dirty="0">
              <a:solidFill>
                <a:srgbClr val="002060"/>
              </a:solidFill>
            </a:endParaRPr>
          </a:p>
        </p:txBody>
      </p:sp>
      <p:cxnSp>
        <p:nvCxnSpPr>
          <p:cNvPr id="16" name="Straight Arrow Connector 76"/>
          <p:cNvCxnSpPr>
            <a:cxnSpLocks noChangeShapeType="1"/>
          </p:cNvCxnSpPr>
          <p:nvPr/>
        </p:nvCxnSpPr>
        <p:spPr bwMode="auto">
          <a:xfrm flipV="1">
            <a:off x="6172200" y="1633978"/>
            <a:ext cx="747698" cy="389813"/>
          </a:xfrm>
          <a:prstGeom prst="straightConnector1">
            <a:avLst/>
          </a:prstGeom>
          <a:noFill/>
          <a:ln w="34925" algn="ctr">
            <a:solidFill>
              <a:schemeClr val="tx1">
                <a:lumMod val="65000"/>
                <a:lumOff val="35000"/>
              </a:schemeClr>
            </a:solidFill>
            <a:prstDash val="sysDash"/>
            <a:round/>
            <a:headEnd/>
            <a:tailEnd type="arrow" w="med" len="med"/>
          </a:ln>
          <a:extLst>
            <a:ext uri="{909E8E84-426E-40dd-AFC4-6F175D3DCCD1}">
              <a14:hiddenFill xmlns:a14="http://schemas.microsoft.com/office/drawing/2010/main" xmlns="">
                <a:noFill/>
              </a14:hiddenFill>
            </a:ext>
          </a:extLst>
        </p:spPr>
      </p:cxnSp>
      <p:sp>
        <p:nvSpPr>
          <p:cNvPr id="17" name="TextBox 13"/>
          <p:cNvSpPr txBox="1">
            <a:spLocks noChangeArrowheads="1"/>
          </p:cNvSpPr>
          <p:nvPr/>
        </p:nvSpPr>
        <p:spPr bwMode="auto">
          <a:xfrm>
            <a:off x="990601" y="4561578"/>
            <a:ext cx="7238999" cy="954107"/>
          </a:xfrm>
          <a:prstGeom prst="rect">
            <a:avLst/>
          </a:prstGeom>
          <a:solidFill>
            <a:srgbClr val="FFFF00"/>
          </a:solidFill>
          <a:extLst/>
        </p:spPr>
        <p:txBody>
          <a:bodyPr wrap="square" rtlCol="0">
            <a:spAutoFit/>
          </a:bodyPr>
          <a:lstStyle>
            <a:defPPr>
              <a:defRPr lang="en-US"/>
            </a:defPPr>
            <a:lvl1pPr>
              <a:defRPr sz="2400">
                <a:solidFill>
                  <a:srgbClr val="FF0000"/>
                </a:solidFill>
                <a:latin typeface="Comic Sans MS" pitchFamily="66" charset="0"/>
              </a:defRPr>
            </a:lvl1pPr>
          </a:lstStyle>
          <a:p>
            <a:r>
              <a:rPr lang="en-US" sz="2800" dirty="0" smtClean="0"/>
              <a:t>FPGA reconfiguration overhead            &lt; </a:t>
            </a:r>
            <a:r>
              <a:rPr lang="en-US" altLang="zh-CN" sz="2800" dirty="0" smtClean="0"/>
              <a:t>B</a:t>
            </a:r>
            <a:r>
              <a:rPr lang="en-US" sz="2800" dirty="0" smtClean="0"/>
              <a:t>enefit from the reduced execution time</a:t>
            </a:r>
            <a:endParaRPr lang="en-US" sz="2800" dirty="0">
              <a:solidFill>
                <a:srgbClr val="002060"/>
              </a:solidFill>
            </a:endParaRPr>
          </a:p>
        </p:txBody>
      </p:sp>
      <p:sp>
        <p:nvSpPr>
          <p:cNvPr id="19" name="TextBox 12"/>
          <p:cNvSpPr txBox="1"/>
          <p:nvPr/>
        </p:nvSpPr>
        <p:spPr>
          <a:xfrm>
            <a:off x="5778213" y="2829862"/>
            <a:ext cx="3461037" cy="120032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err="1" smtClean="0">
                <a:solidFill>
                  <a:schemeClr val="tx2"/>
                </a:solidFill>
                <a:latin typeface="Comic Sans MS" pitchFamily="66" charset="0"/>
              </a:rPr>
              <a:t>OmniDB</a:t>
            </a:r>
            <a:r>
              <a:rPr lang="en-US" sz="2400" dirty="0" smtClean="0">
                <a:solidFill>
                  <a:schemeClr val="tx2"/>
                </a:solidFill>
                <a:latin typeface="Comic Sans MS" pitchFamily="66" charset="0"/>
              </a:rPr>
              <a:t>: one FPGA image without FPGA-specific optimizations</a:t>
            </a:r>
            <a:endParaRPr lang="en-US" sz="2400" dirty="0">
              <a:solidFill>
                <a:schemeClr val="tx2"/>
              </a:solidFill>
              <a:latin typeface="Comic Sans MS" pitchFamily="66" charset="0"/>
            </a:endParaRPr>
          </a:p>
        </p:txBody>
      </p:sp>
    </p:spTree>
    <p:extLst>
      <p:ext uri="{BB962C8B-B14F-4D97-AF65-F5344CB8AC3E}">
        <p14:creationId xmlns:p14="http://schemas.microsoft.com/office/powerpoint/2010/main" val="2367383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2" presetClass="entr" presetSubtype="4"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ppt_x"/>
                                          </p:val>
                                        </p:tav>
                                        <p:tav tm="100000">
                                          <p:val>
                                            <p:strVal val="#ppt_x"/>
                                          </p:val>
                                        </p:tav>
                                      </p:tavLst>
                                    </p:anim>
                                    <p:anim calcmode="lin" valueType="num">
                                      <p:cBhvr additive="base">
                                        <p:cTn id="13" dur="500" fill="hold"/>
                                        <p:tgtEl>
                                          <p:spTgt spid="15"/>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a:xfrm>
            <a:off x="457200" y="1493837"/>
            <a:ext cx="8229600" cy="4525963"/>
          </a:xfrm>
        </p:spPr>
        <p:txBody>
          <a:bodyPr/>
          <a:lstStyle/>
          <a:p>
            <a:r>
              <a:rPr lang="en-US" dirty="0" smtClean="0">
                <a:solidFill>
                  <a:schemeClr val="tx1">
                    <a:lumMod val="95000"/>
                    <a:lumOff val="5000"/>
                  </a:schemeClr>
                </a:solidFill>
              </a:rPr>
              <a:t>Background</a:t>
            </a:r>
          </a:p>
          <a:p>
            <a:pPr lvl="1"/>
            <a:r>
              <a:rPr lang="en-US" dirty="0" smtClean="0">
                <a:solidFill>
                  <a:schemeClr val="tx1">
                    <a:lumMod val="95000"/>
                    <a:lumOff val="5000"/>
                  </a:schemeClr>
                </a:solidFill>
              </a:rPr>
              <a:t>FPGA</a:t>
            </a:r>
          </a:p>
          <a:p>
            <a:pPr lvl="1"/>
            <a:r>
              <a:rPr lang="en-US" dirty="0" err="1" smtClean="0">
                <a:solidFill>
                  <a:schemeClr val="tx1">
                    <a:lumMod val="95000"/>
                    <a:lumOff val="5000"/>
                  </a:schemeClr>
                </a:solidFill>
              </a:rPr>
              <a:t>OpenCL</a:t>
            </a:r>
            <a:r>
              <a:rPr lang="en-US" dirty="0" smtClean="0">
                <a:solidFill>
                  <a:schemeClr val="tx1">
                    <a:lumMod val="95000"/>
                    <a:lumOff val="5000"/>
                  </a:schemeClr>
                </a:solidFill>
              </a:rPr>
              <a:t> SDK for FPGAs</a:t>
            </a:r>
          </a:p>
          <a:p>
            <a:r>
              <a:rPr lang="en-US" dirty="0" smtClean="0"/>
              <a:t>A Performance Analysis Framework</a:t>
            </a:r>
          </a:p>
          <a:p>
            <a:r>
              <a:rPr lang="en-US" dirty="0" smtClean="0">
                <a:solidFill>
                  <a:schemeClr val="tx1">
                    <a:lumMod val="95000"/>
                    <a:lumOff val="5000"/>
                  </a:schemeClr>
                </a:solidFill>
              </a:rPr>
              <a:t>Case Study: Database Systems</a:t>
            </a:r>
          </a:p>
          <a:p>
            <a:r>
              <a:rPr lang="en-US" dirty="0" smtClean="0">
                <a:solidFill>
                  <a:srgbClr val="FF0000"/>
                </a:solidFill>
              </a:rPr>
              <a:t>Conclusion</a:t>
            </a:r>
          </a:p>
          <a:p>
            <a:endParaRPr lang="en-US"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2210038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Conclusions</a:t>
            </a:r>
            <a:endParaRPr lang="en-US" dirty="0"/>
          </a:p>
        </p:txBody>
      </p:sp>
      <p:sp>
        <p:nvSpPr>
          <p:cNvPr id="3" name="Content Placeholder 2"/>
          <p:cNvSpPr>
            <a:spLocks noGrp="1"/>
          </p:cNvSpPr>
          <p:nvPr>
            <p:ph idx="1"/>
          </p:nvPr>
        </p:nvSpPr>
        <p:spPr/>
        <p:txBody>
          <a:bodyPr>
            <a:normAutofit/>
          </a:bodyPr>
          <a:lstStyle/>
          <a:p>
            <a:r>
              <a:rPr lang="en-US" dirty="0" smtClean="0"/>
              <a:t>The </a:t>
            </a:r>
            <a:r>
              <a:rPr lang="en-US" dirty="0" err="1" smtClean="0"/>
              <a:t>OpenCL</a:t>
            </a:r>
            <a:r>
              <a:rPr lang="en-US" dirty="0" smtClean="0"/>
              <a:t> support in new generation FPGAs has brought significant technical challenges and opportunities.</a:t>
            </a:r>
          </a:p>
          <a:p>
            <a:r>
              <a:rPr lang="en-US" dirty="0" smtClean="0"/>
              <a:t>Our performance analysis tool and case study demonstrate the importance of </a:t>
            </a:r>
            <a:r>
              <a:rPr lang="en-US" dirty="0"/>
              <a:t>system optimizations and performance </a:t>
            </a:r>
            <a:r>
              <a:rPr lang="en-US" dirty="0" smtClean="0"/>
              <a:t>tunings.</a:t>
            </a:r>
          </a:p>
          <a:p>
            <a:r>
              <a:rPr lang="en-US" dirty="0" smtClean="0"/>
              <a:t>Hardware and software co-design can enable many interesting systems and applications.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val="166933309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smtClean="0"/>
              <a:t>Can FPGA be used for deep learning and achieve the same performance as GPU?</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59</a:t>
            </a:fld>
            <a:endParaRPr lang="en-US"/>
          </a:p>
        </p:txBody>
      </p:sp>
      <p:pic>
        <p:nvPicPr>
          <p:cNvPr id="3074" name="Picture 2" descr="Image result for 1 million dollar ques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971800"/>
            <a:ext cx="6477000" cy="2095501"/>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a:spLocks noGrp="1"/>
          </p:cNvSpPr>
          <p:nvPr>
            <p:ph type="title"/>
          </p:nvPr>
        </p:nvSpPr>
        <p:spPr>
          <a:xfrm>
            <a:off x="457200" y="274638"/>
            <a:ext cx="8229600" cy="1143000"/>
          </a:xfrm>
        </p:spPr>
        <p:txBody>
          <a:bodyPr/>
          <a:lstStyle/>
          <a:p>
            <a:pPr algn="l"/>
            <a:r>
              <a:rPr lang="en-US" dirty="0" smtClean="0"/>
              <a:t>Future Work</a:t>
            </a:r>
            <a:endParaRPr lang="en-US" dirty="0"/>
          </a:p>
        </p:txBody>
      </p:sp>
    </p:spTree>
    <p:extLst>
      <p:ext uri="{BB962C8B-B14F-4D97-AF65-F5344CB8AC3E}">
        <p14:creationId xmlns:p14="http://schemas.microsoft.com/office/powerpoint/2010/main" val="21906798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State-of-the-art of Deep Learning</a:t>
            </a:r>
            <a:endParaRPr lang="en-SG" dirty="0"/>
          </a:p>
        </p:txBody>
      </p:sp>
      <p:sp>
        <p:nvSpPr>
          <p:cNvPr id="3" name="Content Placeholder 2"/>
          <p:cNvSpPr>
            <a:spLocks noGrp="1"/>
          </p:cNvSpPr>
          <p:nvPr>
            <p:ph idx="1"/>
          </p:nvPr>
        </p:nvSpPr>
        <p:spPr/>
        <p:txBody>
          <a:bodyPr/>
          <a:lstStyle/>
          <a:p>
            <a:r>
              <a:rPr lang="en-US" dirty="0" smtClean="0"/>
              <a:t>GPUs are de facto hardware for deep learning.</a:t>
            </a:r>
          </a:p>
          <a:p>
            <a:r>
              <a:rPr lang="en-US" dirty="0" smtClean="0"/>
              <a:t>A lot of deep learning systems have been developed and deployed.</a:t>
            </a:r>
          </a:p>
          <a:p>
            <a:pPr lvl="1"/>
            <a:r>
              <a:rPr lang="en-US" dirty="0" err="1"/>
              <a:t>Tensorflow</a:t>
            </a:r>
            <a:r>
              <a:rPr lang="en-US" dirty="0"/>
              <a:t>, </a:t>
            </a:r>
            <a:r>
              <a:rPr lang="en-US" dirty="0" err="1"/>
              <a:t>Caffee</a:t>
            </a:r>
            <a:r>
              <a:rPr lang="en-US" dirty="0"/>
              <a:t>, </a:t>
            </a:r>
            <a:r>
              <a:rPr lang="en-US" dirty="0" err="1"/>
              <a:t>Theano</a:t>
            </a:r>
            <a:r>
              <a:rPr lang="en-US" dirty="0"/>
              <a:t>, </a:t>
            </a:r>
            <a:r>
              <a:rPr lang="en-US" dirty="0" smtClean="0"/>
              <a:t>SINGA…</a:t>
            </a:r>
          </a:p>
          <a:p>
            <a:r>
              <a:rPr lang="en-US" dirty="0" smtClean="0"/>
              <a:t>Problems of current solutions:</a:t>
            </a:r>
          </a:p>
          <a:p>
            <a:pPr lvl="1"/>
            <a:r>
              <a:rPr lang="en-US" dirty="0" smtClean="0"/>
              <a:t>GPUs are expensive, especially in large-scale deployment.</a:t>
            </a:r>
          </a:p>
          <a:p>
            <a:pPr marL="0" indent="0">
              <a:buNone/>
            </a:pPr>
            <a:endParaRPr lang="en-SG" dirty="0"/>
          </a:p>
        </p:txBody>
      </p:sp>
      <p:sp>
        <p:nvSpPr>
          <p:cNvPr id="4" name="Slide Number Placeholder 3"/>
          <p:cNvSpPr>
            <a:spLocks noGrp="1"/>
          </p:cNvSpPr>
          <p:nvPr>
            <p:ph type="sldNum" sz="quarter" idx="12"/>
          </p:nvPr>
        </p:nvSpPr>
        <p:spPr/>
        <p:txBody>
          <a:bodyPr/>
          <a:lstStyle/>
          <a:p>
            <a:fld id="{A1FCAC59-1F51-4435-9F7E-1B7A4C90CAC6}" type="slidenum">
              <a:rPr lang="en-SG" smtClean="0"/>
              <a:t>60</a:t>
            </a:fld>
            <a:endParaRPr lang="en-SG"/>
          </a:p>
        </p:txBody>
      </p:sp>
    </p:spTree>
    <p:extLst>
      <p:ext uri="{BB962C8B-B14F-4D97-AF65-F5344CB8AC3E}">
        <p14:creationId xmlns:p14="http://schemas.microsoft.com/office/powerpoint/2010/main" val="37833190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GPUs are Costly</a:t>
            </a:r>
            <a:endParaRPr lang="en-SG" dirty="0"/>
          </a:p>
        </p:txBody>
      </p:sp>
      <p:sp>
        <p:nvSpPr>
          <p:cNvPr id="3" name="Content Placeholder 2"/>
          <p:cNvSpPr>
            <a:spLocks noGrp="1"/>
          </p:cNvSpPr>
          <p:nvPr>
            <p:ph idx="1"/>
          </p:nvPr>
        </p:nvSpPr>
        <p:spPr/>
        <p:txBody>
          <a:bodyPr>
            <a:normAutofit fontScale="92500" lnSpcReduction="20000"/>
          </a:bodyPr>
          <a:lstStyle/>
          <a:p>
            <a:r>
              <a:rPr lang="en-US" dirty="0" smtClean="0"/>
              <a:t>Hardware cost</a:t>
            </a:r>
          </a:p>
          <a:p>
            <a:pPr lvl="1"/>
            <a:r>
              <a:rPr lang="en-US" dirty="0" smtClean="0"/>
              <a:t>One P100 costs more than 5000 USD</a:t>
            </a:r>
          </a:p>
          <a:p>
            <a:r>
              <a:rPr lang="en-US" dirty="0" smtClean="0"/>
              <a:t>Energy consumption </a:t>
            </a:r>
          </a:p>
          <a:p>
            <a:pPr lvl="1"/>
            <a:r>
              <a:rPr lang="en-US" dirty="0" smtClean="0"/>
              <a:t>The TDP of P100 is </a:t>
            </a:r>
            <a:r>
              <a:rPr lang="en-SG" dirty="0" smtClean="0"/>
              <a:t>300W.</a:t>
            </a:r>
          </a:p>
          <a:p>
            <a:pPr lvl="1"/>
            <a:r>
              <a:rPr lang="en-US" dirty="0" smtClean="0"/>
              <a:t>Idle power</a:t>
            </a:r>
            <a:endParaRPr lang="en-SG" dirty="0" smtClean="0"/>
          </a:p>
          <a:p>
            <a:r>
              <a:rPr lang="en-US" dirty="0" smtClean="0"/>
              <a:t>Other related costs</a:t>
            </a:r>
          </a:p>
          <a:p>
            <a:pPr lvl="1"/>
            <a:r>
              <a:rPr lang="en-US" dirty="0" smtClean="0"/>
              <a:t>Cooling</a:t>
            </a:r>
          </a:p>
          <a:p>
            <a:pPr lvl="1"/>
            <a:r>
              <a:rPr lang="en-US" dirty="0" smtClean="0"/>
              <a:t>Server space and density</a:t>
            </a:r>
          </a:p>
          <a:p>
            <a:r>
              <a:rPr lang="en-US" dirty="0" smtClean="0"/>
              <a:t>Consider a medium size data center with 5000 machines…</a:t>
            </a:r>
          </a:p>
          <a:p>
            <a:pPr lvl="1"/>
            <a:endParaRPr lang="en-SG" dirty="0"/>
          </a:p>
        </p:txBody>
      </p:sp>
      <p:sp>
        <p:nvSpPr>
          <p:cNvPr id="4" name="TextBox 3"/>
          <p:cNvSpPr txBox="1"/>
          <p:nvPr/>
        </p:nvSpPr>
        <p:spPr>
          <a:xfrm>
            <a:off x="1475681" y="5850234"/>
            <a:ext cx="7697941" cy="646331"/>
          </a:xfrm>
          <a:prstGeom prst="rect">
            <a:avLst/>
          </a:prstGeom>
          <a:noFill/>
        </p:spPr>
        <p:txBody>
          <a:bodyPr wrap="none" rtlCol="0">
            <a:spAutoFit/>
          </a:bodyPr>
          <a:lstStyle/>
          <a:p>
            <a:pPr algn="just"/>
            <a:r>
              <a:rPr lang="en-US" dirty="0" smtClean="0">
                <a:solidFill>
                  <a:srgbClr val="FF0000"/>
                </a:solidFill>
                <a:latin typeface="Comic Sans MS" panose="030F0702030302020204" pitchFamily="66" charset="0"/>
              </a:rPr>
              <a:t>Question: Can we develop  a new architecture that can deliver similar </a:t>
            </a:r>
          </a:p>
          <a:p>
            <a:pPr algn="just"/>
            <a:r>
              <a:rPr lang="en-US" dirty="0" smtClean="0">
                <a:solidFill>
                  <a:srgbClr val="FF0000"/>
                </a:solidFill>
                <a:latin typeface="Comic Sans MS" panose="030F0702030302020204" pitchFamily="66" charset="0"/>
              </a:rPr>
              <a:t>(if not better) performance but with much lower cost?</a:t>
            </a:r>
            <a:endParaRPr lang="en-SG" dirty="0">
              <a:solidFill>
                <a:srgbClr val="FF0000"/>
              </a:solidFill>
              <a:latin typeface="Comic Sans MS" panose="030F0702030302020204" pitchFamily="66" charset="0"/>
            </a:endParaRPr>
          </a:p>
        </p:txBody>
      </p:sp>
      <p:sp>
        <p:nvSpPr>
          <p:cNvPr id="5" name="Slide Number Placeholder 4"/>
          <p:cNvSpPr>
            <a:spLocks noGrp="1"/>
          </p:cNvSpPr>
          <p:nvPr>
            <p:ph type="sldNum" sz="quarter" idx="12"/>
          </p:nvPr>
        </p:nvSpPr>
        <p:spPr/>
        <p:txBody>
          <a:bodyPr/>
          <a:lstStyle/>
          <a:p>
            <a:fld id="{A1FCAC59-1F51-4435-9F7E-1B7A4C90CAC6}" type="slidenum">
              <a:rPr lang="en-SG" smtClean="0"/>
              <a:t>61</a:t>
            </a:fld>
            <a:endParaRPr lang="en-SG"/>
          </a:p>
        </p:txBody>
      </p:sp>
    </p:spTree>
    <p:extLst>
      <p:ext uri="{BB962C8B-B14F-4D97-AF65-F5344CB8AC3E}">
        <p14:creationId xmlns:p14="http://schemas.microsoft.com/office/powerpoint/2010/main" val="30518814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One Possible (feasible) Answer is FPGA</a:t>
            </a:r>
            <a:endParaRPr lang="en-SG" dirty="0"/>
          </a:p>
        </p:txBody>
      </p:sp>
      <p:sp>
        <p:nvSpPr>
          <p:cNvPr id="3" name="Content Placeholder 2"/>
          <p:cNvSpPr>
            <a:spLocks noGrp="1"/>
          </p:cNvSpPr>
          <p:nvPr>
            <p:ph idx="1"/>
          </p:nvPr>
        </p:nvSpPr>
        <p:spPr/>
        <p:txBody>
          <a:bodyPr>
            <a:normAutofit fontScale="62500" lnSpcReduction="20000"/>
          </a:bodyPr>
          <a:lstStyle/>
          <a:p>
            <a:r>
              <a:rPr lang="en-US" dirty="0" smtClean="0"/>
              <a:t>FPGA</a:t>
            </a:r>
          </a:p>
          <a:p>
            <a:pPr lvl="1"/>
            <a:r>
              <a:rPr lang="en-US" dirty="0" smtClean="0"/>
              <a:t>Low power (&lt;50W), very low idle power.</a:t>
            </a:r>
          </a:p>
          <a:p>
            <a:pPr lvl="1"/>
            <a:r>
              <a:rPr lang="en-US" dirty="0" smtClean="0"/>
              <a:t>Dense deployment</a:t>
            </a:r>
          </a:p>
          <a:p>
            <a:pPr lvl="1"/>
            <a:r>
              <a:rPr lang="en-US" dirty="0" smtClean="0"/>
              <a:t>The hardware cost is elastic to hardware volume. It is more cost effective for large-scale deployment.</a:t>
            </a:r>
          </a:p>
          <a:p>
            <a:pPr lvl="1"/>
            <a:r>
              <a:rPr lang="en-US" dirty="0" smtClean="0"/>
              <a:t>Low latency</a:t>
            </a:r>
          </a:p>
          <a:p>
            <a:r>
              <a:rPr lang="en-US" dirty="0" smtClean="0"/>
              <a:t>Other benefits</a:t>
            </a:r>
          </a:p>
          <a:p>
            <a:pPr lvl="1"/>
            <a:r>
              <a:rPr lang="en-US" dirty="0" smtClean="0"/>
              <a:t>Compared with GPU, FPGA can achieve very low latency</a:t>
            </a:r>
          </a:p>
          <a:p>
            <a:pPr lvl="1"/>
            <a:r>
              <a:rPr lang="en-US" dirty="0" smtClean="0"/>
              <a:t>Very flexible in hardware integration (e.g., network)</a:t>
            </a:r>
          </a:p>
          <a:p>
            <a:pPr lvl="1"/>
            <a:r>
              <a:rPr lang="en-US" dirty="0" smtClean="0"/>
              <a:t>Next-generation Intel CPU (coupled CPU+FPGA design)</a:t>
            </a:r>
          </a:p>
          <a:p>
            <a:r>
              <a:rPr lang="en-US" dirty="0" smtClean="0"/>
              <a:t>Who are using it?</a:t>
            </a:r>
          </a:p>
          <a:p>
            <a:pPr lvl="1"/>
            <a:r>
              <a:rPr lang="en-US" dirty="0" smtClean="0"/>
              <a:t>Amazon EC2 F1</a:t>
            </a:r>
          </a:p>
          <a:p>
            <a:pPr lvl="1"/>
            <a:r>
              <a:rPr lang="en-US" dirty="0" smtClean="0"/>
              <a:t>Microsoft data center</a:t>
            </a:r>
          </a:p>
          <a:p>
            <a:pPr lvl="1"/>
            <a:r>
              <a:rPr lang="en-US" dirty="0" smtClean="0"/>
              <a:t>Baidu data center</a:t>
            </a:r>
          </a:p>
          <a:p>
            <a:pPr lvl="1"/>
            <a:r>
              <a:rPr lang="en-US" dirty="0" smtClean="0"/>
              <a:t>…</a:t>
            </a:r>
          </a:p>
          <a:p>
            <a:pPr lvl="1"/>
            <a:endParaRPr lang="en-SG" dirty="0"/>
          </a:p>
        </p:txBody>
      </p:sp>
      <p:sp>
        <p:nvSpPr>
          <p:cNvPr id="4" name="Slide Number Placeholder 3"/>
          <p:cNvSpPr>
            <a:spLocks noGrp="1"/>
          </p:cNvSpPr>
          <p:nvPr>
            <p:ph type="sldNum" sz="quarter" idx="12"/>
          </p:nvPr>
        </p:nvSpPr>
        <p:spPr/>
        <p:txBody>
          <a:bodyPr/>
          <a:lstStyle/>
          <a:p>
            <a:fld id="{A1FCAC59-1F51-4435-9F7E-1B7A4C90CAC6}" type="slidenum">
              <a:rPr lang="en-SG" smtClean="0"/>
              <a:t>62</a:t>
            </a:fld>
            <a:endParaRPr lang="en-SG"/>
          </a:p>
        </p:txBody>
      </p:sp>
      <p:sp>
        <p:nvSpPr>
          <p:cNvPr id="5" name="TextBox 4"/>
          <p:cNvSpPr txBox="1"/>
          <p:nvPr/>
        </p:nvSpPr>
        <p:spPr>
          <a:xfrm>
            <a:off x="1600200" y="6126163"/>
            <a:ext cx="5144357" cy="523220"/>
          </a:xfrm>
          <a:prstGeom prst="rect">
            <a:avLst/>
          </a:prstGeom>
          <a:noFill/>
        </p:spPr>
        <p:txBody>
          <a:bodyPr wrap="none" rtlCol="0">
            <a:spAutoFit/>
          </a:bodyPr>
          <a:lstStyle/>
          <a:p>
            <a:r>
              <a:rPr lang="en-US" sz="2800" dirty="0" smtClean="0">
                <a:solidFill>
                  <a:srgbClr val="FF0000"/>
                </a:solidFill>
                <a:latin typeface="Comic Sans MS" panose="030F0702030302020204" pitchFamily="66" charset="0"/>
              </a:rPr>
              <a:t>We are trying… Stay tuned </a:t>
            </a:r>
            <a:r>
              <a:rPr lang="en-US" sz="2800" dirty="0" smtClean="0">
                <a:solidFill>
                  <a:srgbClr val="FF0000"/>
                </a:solidFill>
                <a:latin typeface="Comic Sans MS" panose="030F0702030302020204" pitchFamily="66" charset="0"/>
                <a:sym typeface="Wingdings" panose="05000000000000000000" pitchFamily="2" charset="2"/>
              </a:rPr>
              <a:t></a:t>
            </a:r>
            <a:endParaRPr lang="en-US" sz="28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16026241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As a Data Scientist, Do I Need to Learn/Use FPGA?</a:t>
            </a:r>
            <a:endParaRPr lang="en-US" dirty="0"/>
          </a:p>
        </p:txBody>
      </p:sp>
      <p:sp>
        <p:nvSpPr>
          <p:cNvPr id="3" name="Content Placeholder 2"/>
          <p:cNvSpPr>
            <a:spLocks noGrp="1"/>
          </p:cNvSpPr>
          <p:nvPr>
            <p:ph idx="1"/>
          </p:nvPr>
        </p:nvSpPr>
        <p:spPr/>
        <p:txBody>
          <a:bodyPr>
            <a:normAutofit lnSpcReduction="10000"/>
          </a:bodyPr>
          <a:lstStyle/>
          <a:p>
            <a:r>
              <a:rPr lang="en-US" dirty="0" smtClean="0"/>
              <a:t>Maybe, yes…</a:t>
            </a:r>
          </a:p>
          <a:p>
            <a:pPr lvl="1"/>
            <a:r>
              <a:rPr lang="en-US" dirty="0" smtClean="0"/>
              <a:t>HPC is important for deep learning and big data.</a:t>
            </a:r>
          </a:p>
          <a:p>
            <a:pPr lvl="1"/>
            <a:r>
              <a:rPr lang="en-US" dirty="0" smtClean="0"/>
              <a:t>FPGA is also good for specialized systems (e.g., “deep learning chips”)</a:t>
            </a:r>
          </a:p>
          <a:p>
            <a:pPr lvl="1"/>
            <a:r>
              <a:rPr lang="en-US" dirty="0" smtClean="0"/>
              <a:t>FPGA is used many robotics systems. </a:t>
            </a:r>
          </a:p>
          <a:p>
            <a:r>
              <a:rPr lang="en-US" dirty="0" smtClean="0"/>
              <a:t>Maybe, no…</a:t>
            </a:r>
          </a:p>
          <a:p>
            <a:pPr lvl="1"/>
            <a:r>
              <a:rPr lang="en-US" dirty="0"/>
              <a:t>Many (supposedly great) HW architectures did not </a:t>
            </a:r>
            <a:r>
              <a:rPr lang="en-US" dirty="0" smtClean="0"/>
              <a:t>survive.</a:t>
            </a:r>
          </a:p>
          <a:p>
            <a:pPr lvl="1"/>
            <a:r>
              <a:rPr lang="en-US" dirty="0" smtClean="0"/>
              <a:t>Hire HW engineers to do it for me </a:t>
            </a:r>
            <a:r>
              <a:rPr lang="en-US" dirty="0" smtClean="0">
                <a:sym typeface="Wingdings" panose="05000000000000000000" pitchFamily="2" charset="2"/>
              </a:rPr>
              <a:t> 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63</a:t>
            </a:fld>
            <a:endParaRPr lang="en-US"/>
          </a:p>
        </p:txBody>
      </p:sp>
    </p:spTree>
    <p:extLst>
      <p:ext uri="{BB962C8B-B14F-4D97-AF65-F5344CB8AC3E}">
        <p14:creationId xmlns:p14="http://schemas.microsoft.com/office/powerpoint/2010/main" val="25462809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normAutofit fontScale="62500" lnSpcReduction="20000"/>
          </a:bodyPr>
          <a:lstStyle/>
          <a:p>
            <a:r>
              <a:rPr lang="en-US" dirty="0"/>
              <a:t>Zeke Wangˆ, Johns Paul*, </a:t>
            </a:r>
            <a:r>
              <a:rPr lang="en-US" dirty="0" err="1"/>
              <a:t>Hui</a:t>
            </a:r>
            <a:r>
              <a:rPr lang="en-US" dirty="0"/>
              <a:t> Yan </a:t>
            </a:r>
            <a:r>
              <a:rPr lang="en-US" dirty="0" err="1"/>
              <a:t>Cheah</a:t>
            </a:r>
            <a:r>
              <a:rPr lang="en-US" dirty="0"/>
              <a:t>ˆ, </a:t>
            </a:r>
            <a:r>
              <a:rPr lang="en-US" b="1" dirty="0"/>
              <a:t>Bingsheng He</a:t>
            </a:r>
            <a:r>
              <a:rPr lang="en-US" dirty="0"/>
              <a:t> and Wei Zhang. Accelerating Database Query Processing on </a:t>
            </a:r>
            <a:r>
              <a:rPr lang="en-US" dirty="0" err="1"/>
              <a:t>OpenCL</a:t>
            </a:r>
            <a:r>
              <a:rPr lang="en-US" dirty="0"/>
              <a:t>-based FPGAs. </a:t>
            </a:r>
            <a:r>
              <a:rPr lang="en-US" i="1" dirty="0"/>
              <a:t>FPL 2016: International Conference on Field Programmable Logic and Applications.</a:t>
            </a:r>
            <a:endParaRPr lang="en-US" dirty="0"/>
          </a:p>
          <a:p>
            <a:r>
              <a:rPr lang="en-US" dirty="0"/>
              <a:t>Zeke Wang^, </a:t>
            </a:r>
            <a:r>
              <a:rPr lang="en-US" b="1" dirty="0"/>
              <a:t>Bingsheng He</a:t>
            </a:r>
            <a:r>
              <a:rPr lang="en-US" dirty="0"/>
              <a:t>, Wei Zhang, Shunning Jiang. A Performance Analysis Framework for Optimizing </a:t>
            </a:r>
            <a:r>
              <a:rPr lang="en-US" dirty="0" err="1"/>
              <a:t>OpenCL</a:t>
            </a:r>
            <a:r>
              <a:rPr lang="en-US" dirty="0"/>
              <a:t> Applications on FPGAs. </a:t>
            </a:r>
            <a:r>
              <a:rPr lang="en-US" b="1" i="1" dirty="0"/>
              <a:t>HPCA 2016</a:t>
            </a:r>
            <a:r>
              <a:rPr lang="en-US" i="1" dirty="0"/>
              <a:t>:  IEEE International Symposium on High Performance Computer Architecture</a:t>
            </a:r>
            <a:r>
              <a:rPr lang="en-US" dirty="0"/>
              <a:t> [53/240=22%]</a:t>
            </a:r>
          </a:p>
          <a:p>
            <a:r>
              <a:rPr lang="en-US" dirty="0"/>
              <a:t>Zeke Wang^, </a:t>
            </a:r>
            <a:r>
              <a:rPr lang="en-US" b="1" dirty="0"/>
              <a:t>Bingsheng He</a:t>
            </a:r>
            <a:r>
              <a:rPr lang="en-US" dirty="0"/>
              <a:t>, Wei Zhang. A Study of Data Partitioning on </a:t>
            </a:r>
            <a:r>
              <a:rPr lang="en-US" dirty="0" err="1"/>
              <a:t>OpenCL</a:t>
            </a:r>
            <a:r>
              <a:rPr lang="en-US" dirty="0"/>
              <a:t>-based FPGA. </a:t>
            </a:r>
            <a:r>
              <a:rPr lang="en-US" i="1" dirty="0"/>
              <a:t>FPL 2015: International Conference on Field Programmable Logic and Applications. </a:t>
            </a:r>
            <a:r>
              <a:rPr lang="en-US" b="1" dirty="0"/>
              <a:t>[Top-quality papers of FPL 2015]</a:t>
            </a:r>
          </a:p>
          <a:p>
            <a:r>
              <a:rPr lang="en-US" dirty="0"/>
              <a:t>Zeke Wang^, </a:t>
            </a:r>
            <a:r>
              <a:rPr lang="en-US" dirty="0" err="1"/>
              <a:t>Shuhao</a:t>
            </a:r>
            <a:r>
              <a:rPr lang="en-US" dirty="0"/>
              <a:t> Zhang*, </a:t>
            </a:r>
            <a:r>
              <a:rPr lang="en-US" b="1" dirty="0"/>
              <a:t>Bingsheng He</a:t>
            </a:r>
            <a:r>
              <a:rPr lang="en-US" dirty="0"/>
              <a:t>, Wei Zhang.</a:t>
            </a:r>
            <a:r>
              <a:rPr lang="en-US" i="1" dirty="0"/>
              <a:t> </a:t>
            </a:r>
            <a:r>
              <a:rPr lang="en-US" i="1" dirty="0" err="1"/>
              <a:t>Melia</a:t>
            </a:r>
            <a:r>
              <a:rPr lang="en-US" i="1" dirty="0"/>
              <a:t>: A </a:t>
            </a:r>
            <a:r>
              <a:rPr lang="en-US" i="1" dirty="0" err="1"/>
              <a:t>MapReduce</a:t>
            </a:r>
            <a:r>
              <a:rPr lang="en-US" i="1" dirty="0"/>
              <a:t> Framework on </a:t>
            </a:r>
            <a:r>
              <a:rPr lang="en-US" i="1" dirty="0" err="1"/>
              <a:t>OpenCL</a:t>
            </a:r>
            <a:r>
              <a:rPr lang="en-US" i="1" dirty="0"/>
              <a:t>-based FPGAs. IEEE TPDS: IEEE Transactions on Parallel and Distributed System (TPDS) Volume ??, Number ?, April 2015, pp. ???-???.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64</a:t>
            </a:fld>
            <a:endParaRPr lang="en-US"/>
          </a:p>
        </p:txBody>
      </p:sp>
    </p:spTree>
    <p:extLst>
      <p:ext uri="{BB962C8B-B14F-4D97-AF65-F5344CB8AC3E}">
        <p14:creationId xmlns:p14="http://schemas.microsoft.com/office/powerpoint/2010/main" val="89549932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52575</TotalTime>
  <Words>6746</Words>
  <Application>Microsoft Office PowerPoint</Application>
  <PresentationFormat>全屏显示(4:3)</PresentationFormat>
  <Paragraphs>950</Paragraphs>
  <Slides>64</Slides>
  <Notes>44</Notes>
  <HiddenSlides>8</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64</vt:i4>
      </vt:variant>
    </vt:vector>
  </HeadingPairs>
  <TitlesOfParts>
    <vt:vector size="76" baseType="lpstr">
      <vt:lpstr>宋体</vt:lpstr>
      <vt:lpstr>Arial</vt:lpstr>
      <vt:lpstr>Calibri</vt:lpstr>
      <vt:lpstr>Cambria Math</vt:lpstr>
      <vt:lpstr>Comic Sans MS</vt:lpstr>
      <vt:lpstr>Helvetica</vt:lpstr>
      <vt:lpstr>Tahoma</vt:lpstr>
      <vt:lpstr>Times New Roman</vt:lpstr>
      <vt:lpstr>Wingdings</vt:lpstr>
      <vt:lpstr>Office Theme</vt:lpstr>
      <vt:lpstr>Visio</vt:lpstr>
      <vt:lpstr>Acrobat Document</vt:lpstr>
      <vt:lpstr>System Optimizations and Performance Tuning for New Generation FPGAs</vt:lpstr>
      <vt:lpstr>Learning Outcomes</vt:lpstr>
      <vt:lpstr>Outline</vt:lpstr>
      <vt:lpstr>What is FPGA?</vt:lpstr>
      <vt:lpstr>Advantages of FPGA</vt:lpstr>
      <vt:lpstr>Many Applications</vt:lpstr>
      <vt:lpstr>Basic Hardware Resources in FPGA</vt:lpstr>
      <vt:lpstr>LUT in FPGA</vt:lpstr>
      <vt:lpstr>“Architectural Evolution” of FPGA (Field Programmable Gate Arrays)</vt:lpstr>
      <vt:lpstr>Towards More Powerful FPGAs</vt:lpstr>
      <vt:lpstr>Programming FPGA with Verilog</vt:lpstr>
      <vt:lpstr>High Level Synthesis (HLS)</vt:lpstr>
      <vt:lpstr>HLS Taxonomy</vt:lpstr>
      <vt:lpstr>What is OpenCL?</vt:lpstr>
      <vt:lpstr>OpenCL</vt:lpstr>
      <vt:lpstr>OpenCL</vt:lpstr>
      <vt:lpstr>“Architectural Evolution” of FPGAs: From OpenCL’s Perspective</vt:lpstr>
      <vt:lpstr>OpenCL on GPU</vt:lpstr>
      <vt:lpstr>OpenCL on FPGA</vt:lpstr>
      <vt:lpstr>Impact of attributes</vt:lpstr>
      <vt:lpstr>Outline</vt:lpstr>
      <vt:lpstr>Motivating Questions</vt:lpstr>
      <vt:lpstr>Impact of Optimization Combinations</vt:lpstr>
      <vt:lpstr>Challenge from Long Synthesis Time</vt:lpstr>
      <vt:lpstr>Our Solution: A Performance Analysis Framework</vt:lpstr>
      <vt:lpstr> OpenCL Compiler on FPGA</vt:lpstr>
      <vt:lpstr>LLVM IR View of OpenCL Kernel</vt:lpstr>
      <vt:lpstr>Basic Block  Heterogeneous core</vt:lpstr>
      <vt:lpstr>Frontend Collector</vt:lpstr>
      <vt:lpstr>Performance Analytical Model</vt:lpstr>
      <vt:lpstr>Evaluation of Basic Block</vt:lpstr>
      <vt:lpstr>Evaluation of C_0</vt:lpstr>
      <vt:lpstr>Evaluation of C_0</vt:lpstr>
      <vt:lpstr>Performance Potential Advisor</vt:lpstr>
      <vt:lpstr>Experimental Setup</vt:lpstr>
      <vt:lpstr>Analytical Model Evaluation (MM) </vt:lpstr>
      <vt:lpstr>Code Tuning Steps (MM) </vt:lpstr>
      <vt:lpstr>Comparison with Altera OpenCL SDK</vt:lpstr>
      <vt:lpstr>Summary</vt:lpstr>
      <vt:lpstr>Outline</vt:lpstr>
      <vt:lpstr>Problem</vt:lpstr>
      <vt:lpstr>Challenge (Large Exploration Space) </vt:lpstr>
      <vt:lpstr>Observation</vt:lpstr>
      <vt:lpstr>Impact of Optimization Combination</vt:lpstr>
      <vt:lpstr>FPGA Reconfiguration Overhead</vt:lpstr>
      <vt:lpstr>Our Approach</vt:lpstr>
      <vt:lpstr>Query Processor (Operator Kernel Level)</vt:lpstr>
      <vt:lpstr>Operator Kernel</vt:lpstr>
      <vt:lpstr>FPGA-specific Cost Model</vt:lpstr>
      <vt:lpstr>Unit Cost for Each Operator Kernel </vt:lpstr>
      <vt:lpstr>Experimental Setup</vt:lpstr>
      <vt:lpstr>Details of Q3</vt:lpstr>
      <vt:lpstr>Generation of Execution Plans</vt:lpstr>
      <vt:lpstr>Break-even Point for Execution Plans</vt:lpstr>
      <vt:lpstr>Comparison with OmniDB on FPGA</vt:lpstr>
      <vt:lpstr>Comparison with OmniDB on FPGA</vt:lpstr>
      <vt:lpstr>Outline</vt:lpstr>
      <vt:lpstr>Conclusions</vt:lpstr>
      <vt:lpstr>Future Work</vt:lpstr>
      <vt:lpstr>State-of-the-art of Deep Learning</vt:lpstr>
      <vt:lpstr>GPUs are Costly</vt:lpstr>
      <vt:lpstr>One Possible (feasible) Answer is FPGA</vt:lpstr>
      <vt:lpstr>As a Data Scientist, Do I Need to Learn/Use FPGA?</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Ten Thousand Database Transactions per Second: Hardware Acceleration for Transaction Executions</dc:title>
  <dc:creator>He Bingsheng (Asst Prof)</dc:creator>
  <cp:lastModifiedBy>china</cp:lastModifiedBy>
  <cp:revision>2247</cp:revision>
  <cp:lastPrinted>2016-03-10T14:04:22Z</cp:lastPrinted>
  <dcterms:created xsi:type="dcterms:W3CDTF">2006-08-16T00:00:00Z</dcterms:created>
  <dcterms:modified xsi:type="dcterms:W3CDTF">2018-01-09T15:56:37Z</dcterms:modified>
</cp:coreProperties>
</file>