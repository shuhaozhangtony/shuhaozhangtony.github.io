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tif" ContentType="image/t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handoutMasterIdLst>
    <p:handoutMasterId r:id="rId37"/>
  </p:handoutMasterIdLst>
  <p:sldIdLst>
    <p:sldId id="256" r:id="rId2"/>
    <p:sldId id="296" r:id="rId3"/>
    <p:sldId id="261" r:id="rId4"/>
    <p:sldId id="265" r:id="rId5"/>
    <p:sldId id="266" r:id="rId6"/>
    <p:sldId id="267" r:id="rId7"/>
    <p:sldId id="300" r:id="rId8"/>
    <p:sldId id="269" r:id="rId9"/>
    <p:sldId id="293" r:id="rId10"/>
    <p:sldId id="303" r:id="rId11"/>
    <p:sldId id="317"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28" r:id="rId26"/>
    <p:sldId id="318" r:id="rId27"/>
    <p:sldId id="320" r:id="rId28"/>
    <p:sldId id="325" r:id="rId29"/>
    <p:sldId id="326" r:id="rId30"/>
    <p:sldId id="323" r:id="rId31"/>
    <p:sldId id="327" r:id="rId32"/>
    <p:sldId id="319" r:id="rId33"/>
    <p:sldId id="281" r:id="rId34"/>
    <p:sldId id="29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898" autoAdjust="0"/>
  </p:normalViewPr>
  <p:slideViewPr>
    <p:cSldViewPr snapToGrid="0">
      <p:cViewPr varScale="1">
        <p:scale>
          <a:sx n="94" d="100"/>
          <a:sy n="94" d="100"/>
        </p:scale>
        <p:origin x="209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a:lstStyle/>
          <a:p>
            <a:pPr>
              <a:defRPr/>
            </a:pPr>
            <a:r>
              <a:rPr lang="en-SG"/>
              <a:t>Firewall + NIDS + IPSec + Router</a:t>
            </a:r>
          </a:p>
        </c:rich>
      </c:tx>
      <c:layout>
        <c:manualLayout>
          <c:xMode val="edge"/>
          <c:yMode val="edge"/>
          <c:x val="0.16269800000000001"/>
          <c:y val="9.9067199999999994E-2"/>
          <c:w val="0.60099400000000003"/>
          <c:h val="0.142515"/>
        </c:manualLayout>
      </c:layout>
      <c:overlay val="1"/>
      <c:spPr>
        <a:noFill/>
        <a:effectLst/>
      </c:spPr>
    </c:title>
    <c:autoTitleDeleted val="0"/>
    <c:plotArea>
      <c:layout>
        <c:manualLayout>
          <c:layoutTarget val="inner"/>
          <c:xMode val="edge"/>
          <c:yMode val="edge"/>
          <c:x val="0.14388000000000001"/>
          <c:y val="0.24158199999999999"/>
          <c:w val="0.78250900000000001"/>
          <c:h val="0.558805"/>
        </c:manualLayout>
      </c:layout>
      <c:barChart>
        <c:barDir val="col"/>
        <c:grouping val="clustered"/>
        <c:varyColors val="0"/>
        <c:ser>
          <c:idx val="0"/>
          <c:order val="0"/>
          <c:tx>
            <c:strRef>
              <c:f>Sheet1!$B$1</c:f>
              <c:strCache>
                <c:ptCount val="1"/>
                <c:pt idx="0">
                  <c:v>Poseidon</c:v>
                </c:pt>
              </c:strCache>
            </c:strRef>
          </c:tx>
          <c:spPr>
            <a:gradFill flip="none" rotWithShape="1">
              <a:gsLst>
                <a:gs pos="0">
                  <a:schemeClr val="accent1">
                    <a:satOff val="12166"/>
                    <a:lumOff val="-13042"/>
                  </a:schemeClr>
                </a:gs>
                <a:gs pos="100000">
                  <a:schemeClr val="accent1">
                    <a:hueOff val="-611179"/>
                    <a:satOff val="24879"/>
                    <a:lumOff val="-29447"/>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Sheet1!$B$2:$B$6</c:f>
              <c:numCache>
                <c:formatCode>General</c:formatCode>
                <c:ptCount val="5"/>
                <c:pt idx="0">
                  <c:v>1</c:v>
                </c:pt>
                <c:pt idx="1">
                  <c:v>1</c:v>
                </c:pt>
                <c:pt idx="2">
                  <c:v>1</c:v>
                </c:pt>
                <c:pt idx="3">
                  <c:v>1</c:v>
                </c:pt>
                <c:pt idx="4">
                  <c:v>1</c:v>
                </c:pt>
              </c:numCache>
            </c:numRef>
          </c:val>
          <c:extLst xmlns:c16r2="http://schemas.microsoft.com/office/drawing/2015/06/chart">
            <c:ext xmlns:c16="http://schemas.microsoft.com/office/drawing/2014/chart" uri="{C3380CC4-5D6E-409C-BE32-E72D297353CC}">
              <c16:uniqueId val="{00000000-CFE0-4892-BCF1-26C1DDD83A8F}"/>
            </c:ext>
          </c:extLst>
        </c:ser>
        <c:ser>
          <c:idx val="1"/>
          <c:order val="1"/>
          <c:tx>
            <c:strRef>
              <c:f>Sheet1!$C$1</c:f>
              <c:strCache>
                <c:ptCount val="1"/>
                <c:pt idx="0">
                  <c:v>Not Share</c:v>
                </c:pt>
              </c:strCache>
            </c:strRef>
          </c:tx>
          <c:spPr>
            <a:gradFill flip="none" rotWithShape="1">
              <a:gsLst>
                <a:gs pos="0">
                  <a:schemeClr val="accent2">
                    <a:hueOff val="-864164"/>
                    <a:satOff val="-6484"/>
                    <a:lumOff val="13843"/>
                  </a:schemeClr>
                </a:gs>
                <a:gs pos="100000">
                  <a:schemeClr val="accent2">
                    <a:hueOff val="-863365"/>
                    <a:satOff val="-9769"/>
                    <a:lumOff val="-11291"/>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Sheet1!$C$2:$C$6</c:f>
              <c:numCache>
                <c:formatCode>General</c:formatCode>
                <c:ptCount val="5"/>
                <c:pt idx="0">
                  <c:v>0.80373799999999995</c:v>
                </c:pt>
                <c:pt idx="1">
                  <c:v>0.60317500000000002</c:v>
                </c:pt>
                <c:pt idx="2">
                  <c:v>0.62149500000000002</c:v>
                </c:pt>
                <c:pt idx="3">
                  <c:v>0.71895399999999998</c:v>
                </c:pt>
                <c:pt idx="4">
                  <c:v>0.87628899999999998</c:v>
                </c:pt>
              </c:numCache>
            </c:numRef>
          </c:val>
          <c:extLst xmlns:c16r2="http://schemas.microsoft.com/office/drawing/2015/06/chart">
            <c:ext xmlns:c16="http://schemas.microsoft.com/office/drawing/2014/chart" uri="{C3380CC4-5D6E-409C-BE32-E72D297353CC}">
              <c16:uniqueId val="{00000001-CFE0-4892-BCF1-26C1DDD83A8F}"/>
            </c:ext>
          </c:extLst>
        </c:ser>
        <c:ser>
          <c:idx val="2"/>
          <c:order val="2"/>
          <c:tx>
            <c:strRef>
              <c:f>Sheet1!$D$1</c:f>
              <c:strCache>
                <c:ptCount val="1"/>
                <c:pt idx="0">
                  <c:v>Uncoordinated Share</c:v>
                </c:pt>
              </c:strCache>
            </c:strRef>
          </c:tx>
          <c:spPr>
            <a:gradFill flip="none" rotWithShape="1">
              <a:gsLst>
                <a:gs pos="0">
                  <a:schemeClr val="accent5">
                    <a:hueOff val="-485922"/>
                    <a:satOff val="-14474"/>
                    <a:lumOff val="-11330"/>
                  </a:schemeClr>
                </a:gs>
                <a:gs pos="100000">
                  <a:schemeClr val="accent5">
                    <a:hueOff val="-485680"/>
                    <a:satOff val="-12669"/>
                    <a:lumOff val="-27282"/>
                  </a:schemeClr>
                </a:gs>
              </a:gsLst>
              <a:lin ang="5400000" scaled="0"/>
            </a:gradFill>
            <a:ln w="12700" cap="flat">
              <a:noFill/>
              <a:miter lim="400000"/>
            </a:ln>
            <a:effectLst>
              <a:outerShdw blurRad="50800" dist="25400" dir="5400000" algn="tl">
                <a:srgbClr val="000000">
                  <a:alpha val="50000"/>
                </a:srgbClr>
              </a:outerShdw>
            </a:effectLst>
          </c:spPr>
          <c:invertIfNegative val="0"/>
          <c:cat>
            <c:strRef>
              <c:f>Sheet1!$A$2:$A$6</c:f>
              <c:strCache>
                <c:ptCount val="5"/>
                <c:pt idx="0">
                  <c:v>64B</c:v>
                </c:pt>
                <c:pt idx="1">
                  <c:v>128B</c:v>
                </c:pt>
                <c:pt idx="2">
                  <c:v>256B</c:v>
                </c:pt>
                <c:pt idx="3">
                  <c:v>512B</c:v>
                </c:pt>
                <c:pt idx="4">
                  <c:v>1024B</c:v>
                </c:pt>
              </c:strCache>
            </c:strRef>
          </c:cat>
          <c:val>
            <c:numRef>
              <c:f>Sheet1!$D$2:$D$6</c:f>
              <c:numCache>
                <c:formatCode>General</c:formatCode>
                <c:ptCount val="5"/>
                <c:pt idx="0">
                  <c:v>0.373832</c:v>
                </c:pt>
                <c:pt idx="1">
                  <c:v>0.377778</c:v>
                </c:pt>
                <c:pt idx="2">
                  <c:v>0.52803699999999998</c:v>
                </c:pt>
                <c:pt idx="3">
                  <c:v>0.51634000000000002</c:v>
                </c:pt>
                <c:pt idx="4">
                  <c:v>0.53608199999999995</c:v>
                </c:pt>
              </c:numCache>
            </c:numRef>
          </c:val>
          <c:extLst xmlns:c16r2="http://schemas.microsoft.com/office/drawing/2015/06/chart">
            <c:ext xmlns:c16="http://schemas.microsoft.com/office/drawing/2014/chart" uri="{C3380CC4-5D6E-409C-BE32-E72D297353CC}">
              <c16:uniqueId val="{00000002-CFE0-4892-BCF1-26C1DDD83A8F}"/>
            </c:ext>
          </c:extLst>
        </c:ser>
        <c:dLbls>
          <c:showLegendKey val="0"/>
          <c:showVal val="0"/>
          <c:showCatName val="0"/>
          <c:showSerName val="0"/>
          <c:showPercent val="0"/>
          <c:showBubbleSize val="0"/>
        </c:dLbls>
        <c:gapWidth val="100"/>
        <c:overlap val="-10"/>
        <c:axId val="437966048"/>
        <c:axId val="437964416"/>
      </c:barChart>
      <c:catAx>
        <c:axId val="437966048"/>
        <c:scaling>
          <c:orientation val="minMax"/>
        </c:scaling>
        <c:delete val="0"/>
        <c:axPos val="b"/>
        <c:title>
          <c:tx>
            <c:rich>
              <a:bodyPr rot="0"/>
              <a:lstStyle/>
              <a:p>
                <a:pPr>
                  <a:defRPr/>
                </a:pPr>
                <a:r>
                  <a:rPr lang="en-SG"/>
                  <a:t>Packet Size</a:t>
                </a:r>
              </a:p>
            </c:rich>
          </c:tx>
          <c:overlay val="1"/>
        </c:title>
        <c:numFmt formatCode="General" sourceLinked="0"/>
        <c:majorTickMark val="none"/>
        <c:minorTickMark val="none"/>
        <c:tickLblPos val="low"/>
        <c:spPr>
          <a:ln w="12700" cap="flat">
            <a:solidFill>
              <a:srgbClr val="8A8B89"/>
            </a:solidFill>
            <a:prstDash val="solid"/>
            <a:miter lim="400000"/>
          </a:ln>
        </c:spPr>
        <c:txPr>
          <a:bodyPr rot="0"/>
          <a:lstStyle/>
          <a:p>
            <a:pPr>
              <a:defRPr/>
            </a:pPr>
            <a:endParaRPr lang="en-US"/>
          </a:p>
        </c:txPr>
        <c:crossAx val="437964416"/>
        <c:crosses val="autoZero"/>
        <c:auto val="1"/>
        <c:lblAlgn val="ctr"/>
        <c:lblOffset val="100"/>
        <c:noMultiLvlLbl val="1"/>
      </c:catAx>
      <c:valAx>
        <c:axId val="437964416"/>
        <c:scaling>
          <c:orientation val="minMax"/>
        </c:scaling>
        <c:delete val="0"/>
        <c:axPos val="l"/>
        <c:majorGridlines>
          <c:spPr>
            <a:ln w="12700" cap="flat">
              <a:solidFill>
                <a:srgbClr val="8A8B89"/>
              </a:solidFill>
              <a:prstDash val="solid"/>
              <a:miter lim="400000"/>
            </a:ln>
          </c:spPr>
        </c:majorGridlines>
        <c:title>
          <c:tx>
            <c:rich>
              <a:bodyPr rot="-5400000"/>
              <a:lstStyle/>
              <a:p>
                <a:pPr>
                  <a:defRPr/>
                </a:pPr>
                <a:r>
                  <a:rPr lang="en-SG"/>
                  <a:t>Relative Performance</a:t>
                </a:r>
              </a:p>
            </c:rich>
          </c:tx>
          <c:overlay val="1"/>
        </c:title>
        <c:numFmt formatCode="General" sourceLinked="0"/>
        <c:majorTickMark val="none"/>
        <c:minorTickMark val="none"/>
        <c:tickLblPos val="nextTo"/>
        <c:spPr>
          <a:ln w="12700" cap="flat">
            <a:noFill/>
            <a:prstDash val="solid"/>
            <a:miter lim="400000"/>
          </a:ln>
        </c:spPr>
        <c:txPr>
          <a:bodyPr rot="0"/>
          <a:lstStyle/>
          <a:p>
            <a:pPr>
              <a:defRPr/>
            </a:pPr>
            <a:endParaRPr lang="en-US"/>
          </a:p>
        </c:txPr>
        <c:crossAx val="437966048"/>
        <c:crosses val="autoZero"/>
        <c:crossBetween val="between"/>
        <c:majorUnit val="0.25"/>
        <c:minorUnit val="0.125"/>
      </c:valAx>
      <c:spPr>
        <a:noFill/>
        <a:ln w="12700" cap="flat">
          <a:noFill/>
          <a:miter lim="400000"/>
        </a:ln>
        <a:effectLst/>
      </c:spPr>
    </c:plotArea>
    <c:legend>
      <c:legendPos val="t"/>
      <c:layout>
        <c:manualLayout>
          <c:xMode val="edge"/>
          <c:yMode val="edge"/>
          <c:x val="7.0269499999999999E-2"/>
          <c:y val="0"/>
          <c:w val="0.92972999999999995"/>
          <c:h val="9.4364500000000004E-2"/>
        </c:manualLayout>
      </c:layout>
      <c:overlay val="1"/>
      <c:spPr>
        <a:noFill/>
        <a:ln w="25400" cap="flat">
          <a:solidFill>
            <a:srgbClr val="000000"/>
          </a:solidFill>
          <a:prstDash val="solid"/>
          <a:miter lim="400000"/>
        </a:ln>
        <a:effectLst/>
      </c:spPr>
      <c:txPr>
        <a:bodyPr rot="0"/>
        <a:lstStyle/>
        <a:p>
          <a:pPr>
            <a:defRPr/>
          </a:pPr>
          <a:endParaRPr lang="en-US"/>
        </a:p>
      </c:txPr>
    </c:legend>
    <c:plotVisOnly val="1"/>
    <c:dispBlanksAs val="gap"/>
    <c:showDLblsOverMax val="1"/>
  </c:chart>
  <c:spPr>
    <a:noFill/>
    <a:ln>
      <a:noFill/>
    </a:ln>
    <a:effectLst/>
  </c:spPr>
  <c:txPr>
    <a:bodyPr/>
    <a:lstStyle/>
    <a:p>
      <a:pPr>
        <a:defRPr sz="20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569F285-99F2-8D42-8A6E-F774E38FE9B7}" type="datetimeFigureOut">
              <a:rPr lang="en-US" smtClean="0"/>
              <a:t>1/9/2018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4D4C7B5-14E7-F847-86DE-6D674638E992}" type="slidenum">
              <a:rPr lang="en-US" smtClean="0"/>
              <a:t>‹#›</a:t>
            </a:fld>
            <a:endParaRPr lang="en-US"/>
          </a:p>
        </p:txBody>
      </p:sp>
    </p:spTree>
    <p:extLst>
      <p:ext uri="{BB962C8B-B14F-4D97-AF65-F5344CB8AC3E}">
        <p14:creationId xmlns:p14="http://schemas.microsoft.com/office/powerpoint/2010/main" val="8824751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9F2BF-58E6-4EF1-B8A3-43360DB636F3}" type="datetimeFigureOut">
              <a:rPr lang="en-US" smtClean="0"/>
              <a:t>1/9/2018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71DA6C-52CA-4437-8FA2-BC551249C827}" type="slidenum">
              <a:rPr lang="en-US" smtClean="0"/>
              <a:t>‹#›</a:t>
            </a:fld>
            <a:endParaRPr lang="en-US"/>
          </a:p>
        </p:txBody>
      </p:sp>
    </p:spTree>
    <p:extLst>
      <p:ext uri="{BB962C8B-B14F-4D97-AF65-F5344CB8AC3E}">
        <p14:creationId xmlns:p14="http://schemas.microsoft.com/office/powerpoint/2010/main" val="27171426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arnetminer.org/conference/pact-124.html"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www.thefreedictionary.com/kill+two+birds+with+one+ston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smtClean="0"/>
              <a:t>Parallel</a:t>
            </a:r>
            <a:r>
              <a:rPr lang="en-SG" baseline="0" dirty="0" smtClean="0"/>
              <a:t>ism and heterogeneity is the key trend for hardware architectures.</a:t>
            </a:r>
          </a:p>
          <a:p>
            <a:r>
              <a:rPr lang="en-SG" baseline="0" dirty="0" smtClean="0"/>
              <a:t>For CPUs, we have seen the transition from dual cores to multi-cores. In Intel’s roadmap, we will see many-cores in different forms in the very near future.</a:t>
            </a:r>
          </a:p>
          <a:p>
            <a:r>
              <a:rPr lang="en-SG" baseline="0" dirty="0" smtClean="0"/>
              <a:t>The other trend is that accelerators (or coprocessors) are becoming more and more popular. GPU, Xeon Phi and FPGA and etc. They have been used the massive scale including supercomputer and cloud.</a:t>
            </a:r>
          </a:p>
          <a:p>
            <a:endParaRPr lang="en-SG" baseline="0" dirty="0" smtClean="0"/>
          </a:p>
          <a:p>
            <a:r>
              <a:rPr lang="en-SG" dirty="0" smtClean="0"/>
              <a:t>Dual core (Symmetric multithreading)</a:t>
            </a:r>
          </a:p>
          <a:p>
            <a:r>
              <a:rPr lang="en-SG" dirty="0" smtClean="0"/>
              <a:t>Multi-core array (CMP with ~10 cores)</a:t>
            </a:r>
          </a:p>
          <a:p>
            <a:r>
              <a:rPr lang="en-SG" dirty="0" smtClean="0"/>
              <a:t>Scalar plus many core for highly threaded workloads </a:t>
            </a:r>
          </a:p>
          <a:p>
            <a:r>
              <a:rPr lang="en-SG" dirty="0" smtClean="0"/>
              <a:t>Many-core array (CMP with 10s-100s low power cores, Scalar cores, Capable of TFLOPS+, Full System-on-Chip)</a:t>
            </a:r>
          </a:p>
        </p:txBody>
      </p:sp>
      <p:sp>
        <p:nvSpPr>
          <p:cNvPr id="4" name="Slide Number Placeholder 3"/>
          <p:cNvSpPr>
            <a:spLocks noGrp="1"/>
          </p:cNvSpPr>
          <p:nvPr>
            <p:ph type="sldNum" sz="quarter" idx="10"/>
          </p:nvPr>
        </p:nvSpPr>
        <p:spPr/>
        <p:txBody>
          <a:bodyPr/>
          <a:lstStyle/>
          <a:p>
            <a:fld id="{DE1CBB54-35F6-45AB-9F89-63230646EA67}" type="slidenum">
              <a:rPr lang="en-SG" smtClean="0"/>
              <a:t>5</a:t>
            </a:fld>
            <a:endParaRPr lang="en-SG"/>
          </a:p>
        </p:txBody>
      </p:sp>
    </p:spTree>
    <p:extLst>
      <p:ext uri="{BB962C8B-B14F-4D97-AF65-F5344CB8AC3E}">
        <p14:creationId xmlns:p14="http://schemas.microsoft.com/office/powerpoint/2010/main" val="62649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other recent</a:t>
            </a:r>
            <a:r>
              <a:rPr lang="en-US" sz="1200" kern="1200" baseline="0" dirty="0" smtClean="0">
                <a:solidFill>
                  <a:schemeClr val="tx1"/>
                </a:solidFill>
                <a:effectLst/>
                <a:latin typeface="+mn-lt"/>
                <a:ea typeface="+mn-ea"/>
                <a:cs typeface="+mn-cs"/>
              </a:rPr>
              <a:t> trend is more tightly coupled heterogeneous systems. The examples include AMD APU (i.e., CPU+GPU into one chip), and CPU+FPGA into one chip. </a:t>
            </a:r>
          </a:p>
          <a:p>
            <a:r>
              <a:rPr lang="en-US" sz="1200" kern="1200" baseline="0" dirty="0" smtClean="0">
                <a:solidFill>
                  <a:schemeClr val="tx1"/>
                </a:solidFill>
                <a:effectLst/>
                <a:latin typeface="+mn-lt"/>
                <a:ea typeface="+mn-ea"/>
                <a:cs typeface="+mn-cs"/>
              </a:rPr>
              <a:t>All those architectures are significantly different from CPU. We need to have new system design and implementations on those architectures.</a:t>
            </a:r>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Heterogeneous Architecture Research Platform (HARP) program, which will provide faculty with computer systems containing Intel microprocessors and an Altera </a:t>
            </a:r>
            <a:r>
              <a:rPr lang="en-US" sz="1200" kern="1200" dirty="0" err="1" smtClean="0">
                <a:solidFill>
                  <a:schemeClr val="tx1"/>
                </a:solidFill>
                <a:effectLst/>
                <a:latin typeface="+mn-lt"/>
                <a:ea typeface="+mn-ea"/>
                <a:cs typeface="+mn-cs"/>
              </a:rPr>
              <a:t>Stratix</a:t>
            </a:r>
            <a:r>
              <a:rPr lang="en-US" sz="1200" kern="1200" dirty="0" smtClean="0">
                <a:solidFill>
                  <a:schemeClr val="tx1"/>
                </a:solidFill>
                <a:effectLst/>
                <a:latin typeface="+mn-lt"/>
                <a:ea typeface="+mn-ea"/>
                <a:cs typeface="+mn-cs"/>
              </a:rPr>
              <a:t>® V FPGA module that incorporates Intel® </a:t>
            </a:r>
            <a:r>
              <a:rPr lang="en-US" sz="1200" kern="1200" dirty="0" err="1" smtClean="0">
                <a:solidFill>
                  <a:schemeClr val="tx1"/>
                </a:solidFill>
                <a:effectLst/>
                <a:latin typeface="+mn-lt"/>
                <a:ea typeface="+mn-ea"/>
                <a:cs typeface="+mn-cs"/>
              </a:rPr>
              <a:t>QuickAssist</a:t>
            </a:r>
            <a:r>
              <a:rPr lang="en-US" sz="1200" kern="1200" dirty="0" smtClean="0">
                <a:solidFill>
                  <a:schemeClr val="tx1"/>
                </a:solidFill>
                <a:effectLst/>
                <a:latin typeface="+mn-lt"/>
                <a:ea typeface="+mn-ea"/>
                <a:cs typeface="+mn-cs"/>
              </a:rPr>
              <a:t> Technology in order to spur research in programming tools, operating systems, and innovative applications for accelerator-based computing systems.</a:t>
            </a:r>
          </a:p>
          <a:p>
            <a:endParaRPr lang="en-US" sz="1200" kern="1200" dirty="0" smtClean="0">
              <a:solidFill>
                <a:schemeClr val="tx1"/>
              </a:solidFill>
              <a:effectLst/>
              <a:latin typeface="+mn-lt"/>
              <a:ea typeface="+mn-ea"/>
              <a:cs typeface="+mn-cs"/>
            </a:endParaRPr>
          </a:p>
          <a:p>
            <a:endParaRPr lang="en-US" sz="1200" kern="1200" dirty="0" smtClean="0">
              <a:solidFill>
                <a:schemeClr val="tx1"/>
              </a:solidFill>
              <a:effectLst/>
              <a:latin typeface="+mn-lt"/>
              <a:ea typeface="+mn-ea"/>
              <a:cs typeface="+mn-cs"/>
            </a:endParaRPr>
          </a:p>
          <a:p>
            <a:r>
              <a:rPr lang="en-US" dirty="0" smtClean="0"/>
              <a:t>Memory</a:t>
            </a:r>
          </a:p>
          <a:p>
            <a:pPr lvl="1"/>
            <a:r>
              <a:rPr lang="en-US" dirty="0" smtClean="0"/>
              <a:t>Big-memory system</a:t>
            </a:r>
          </a:p>
          <a:p>
            <a:pPr lvl="1"/>
            <a:r>
              <a:rPr lang="en-US" dirty="0" smtClean="0"/>
              <a:t>NVRAM</a:t>
            </a:r>
          </a:p>
          <a:p>
            <a:endParaRPr lang="en-SG" dirty="0" smtClean="0"/>
          </a:p>
        </p:txBody>
      </p:sp>
      <p:sp>
        <p:nvSpPr>
          <p:cNvPr id="4" name="Slide Number Placeholder 3"/>
          <p:cNvSpPr>
            <a:spLocks noGrp="1"/>
          </p:cNvSpPr>
          <p:nvPr>
            <p:ph type="sldNum" sz="quarter" idx="10"/>
          </p:nvPr>
        </p:nvSpPr>
        <p:spPr/>
        <p:txBody>
          <a:bodyPr/>
          <a:lstStyle/>
          <a:p>
            <a:fld id="{DE1CBB54-35F6-45AB-9F89-63230646EA67}" type="slidenum">
              <a:rPr lang="en-SG" smtClean="0"/>
              <a:t>6</a:t>
            </a:fld>
            <a:endParaRPr lang="en-SG"/>
          </a:p>
        </p:txBody>
      </p:sp>
    </p:spTree>
    <p:extLst>
      <p:ext uri="{BB962C8B-B14F-4D97-AF65-F5344CB8AC3E}">
        <p14:creationId xmlns:p14="http://schemas.microsoft.com/office/powerpoint/2010/main" val="2897609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research has focused</a:t>
            </a:r>
            <a:r>
              <a:rPr lang="en-US" baseline="0" dirty="0" smtClean="0"/>
              <a:t> on the </a:t>
            </a:r>
            <a:r>
              <a:rPr lang="en-US" dirty="0" smtClean="0"/>
              <a:t>interplay between HPC and big data.</a:t>
            </a:r>
          </a:p>
          <a:p>
            <a:r>
              <a:rPr lang="en-US" dirty="0" smtClean="0"/>
              <a:t>We are particularly</a:t>
            </a:r>
            <a:r>
              <a:rPr lang="en-US" baseline="0" dirty="0" smtClean="0"/>
              <a:t> interested in the system issues such as performance, programmability, energy consumption </a:t>
            </a:r>
            <a:r>
              <a:rPr lang="en-US" baseline="0" dirty="0" err="1" smtClean="0"/>
              <a:t>etc</a:t>
            </a:r>
            <a:r>
              <a:rPr lang="en-US" baseline="0" dirty="0" smtClean="0"/>
              <a:t> when HPC meets big data.</a:t>
            </a:r>
          </a:p>
          <a:p>
            <a:r>
              <a:rPr lang="en-US" baseline="0" dirty="0" smtClean="0"/>
              <a:t>Our vision is: pervasive HPC for big data. </a:t>
            </a:r>
            <a:r>
              <a:rPr lang="en-US" dirty="0" smtClean="0"/>
              <a:t>Any</a:t>
            </a:r>
            <a:r>
              <a:rPr lang="en-US" baseline="0" dirty="0" smtClean="0"/>
              <a:t>one can leverage HPC for taming the big data challenges anytime and anywhere.</a:t>
            </a:r>
            <a:endParaRPr lang="en-SG" dirty="0"/>
          </a:p>
        </p:txBody>
      </p:sp>
      <p:sp>
        <p:nvSpPr>
          <p:cNvPr id="4" name="Slide Number Placeholder 3"/>
          <p:cNvSpPr>
            <a:spLocks noGrp="1"/>
          </p:cNvSpPr>
          <p:nvPr>
            <p:ph type="sldNum" sz="quarter" idx="10"/>
          </p:nvPr>
        </p:nvSpPr>
        <p:spPr/>
        <p:txBody>
          <a:bodyPr/>
          <a:lstStyle/>
          <a:p>
            <a:fld id="{DE1CBB54-35F6-45AB-9F89-63230646EA67}" type="slidenum">
              <a:rPr lang="en-SG" smtClean="0"/>
              <a:t>9</a:t>
            </a:fld>
            <a:endParaRPr lang="en-SG"/>
          </a:p>
        </p:txBody>
      </p:sp>
    </p:spTree>
    <p:extLst>
      <p:ext uri="{BB962C8B-B14F-4D97-AF65-F5344CB8AC3E}">
        <p14:creationId xmlns:p14="http://schemas.microsoft.com/office/powerpoint/2010/main" val="1033034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charset="0"/>
              <a:buChar char="•"/>
            </a:pPr>
            <a:r>
              <a:rPr lang="en-SG" dirty="0" smtClean="0">
                <a:hlinkClick r:id="rId3"/>
              </a:rPr>
              <a:t>http://arnetminer.org/conference/pact-124.html</a:t>
            </a:r>
            <a:endParaRPr lang="en-SG" dirty="0" smtClean="0"/>
          </a:p>
          <a:p>
            <a:pPr marL="285750" indent="-285750">
              <a:buFont typeface="Arial" charset="0"/>
              <a:buChar char="•"/>
            </a:pPr>
            <a:r>
              <a:rPr lang="en-US" dirty="0" smtClean="0"/>
              <a:t>Thanks to my advisor, colleagues, and students.</a:t>
            </a:r>
            <a:endParaRPr lang="en-SG" dirty="0" smtClean="0"/>
          </a:p>
          <a:p>
            <a:endParaRPr lang="en-US" dirty="0" smtClean="0"/>
          </a:p>
          <a:p>
            <a:endParaRPr lang="en-US" dirty="0" smtClean="0"/>
          </a:p>
          <a:p>
            <a:r>
              <a:rPr lang="en-US" dirty="0" smtClean="0"/>
              <a:t>In</a:t>
            </a:r>
            <a:r>
              <a:rPr lang="en-US" baseline="0" dirty="0" smtClean="0"/>
              <a:t> the past years, we have developed a number of interesting data management systems on the GPU. We are among the first batch of researchers in using CUDA. CUDA is a programming framework for GPU. </a:t>
            </a:r>
          </a:p>
          <a:p>
            <a:endParaRPr lang="en-US" baseline="0" dirty="0" smtClean="0"/>
          </a:p>
          <a:p>
            <a:r>
              <a:rPr lang="en-US" baseline="0" dirty="0" smtClean="0"/>
              <a:t>We have developed the first relational query processor, GDB, and published it in SIGMOD 2008. it was one of the best papers of the year. GPU programming is a challenging task, and writing a correct and efficient program is still a difficult problem. At 2008, we have developed a number of optimized primitives. Based on the primitives as building blocks, we further developed GDB in a layered manner.</a:t>
            </a:r>
          </a:p>
          <a:p>
            <a:endParaRPr lang="en-US" baseline="0" dirty="0" smtClean="0"/>
          </a:p>
          <a:p>
            <a:r>
              <a:rPr lang="en-US" baseline="0" dirty="0" smtClean="0"/>
              <a:t>To support more flexible data analytics on the GPU, we developed Mars (the </a:t>
            </a:r>
            <a:r>
              <a:rPr lang="en-US" baseline="0" dirty="0" err="1" smtClean="0"/>
              <a:t>mapreduce</a:t>
            </a:r>
            <a:r>
              <a:rPr lang="en-US" baseline="0" dirty="0" smtClean="0"/>
              <a:t> on the GPU). It is the 2</a:t>
            </a:r>
            <a:r>
              <a:rPr lang="en-US" baseline="30000" dirty="0" smtClean="0"/>
              <a:t>nd</a:t>
            </a:r>
            <a:r>
              <a:rPr lang="en-US" baseline="0" dirty="0" smtClean="0"/>
              <a:t> top cited papers in the PACT. Later, we extend Mars to cluster and cloud setting. </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VLDB 2010, we have developed a compressed column store on GPU. Query processing can be directly performed on the compressed data. That is a </a:t>
            </a:r>
            <a:r>
              <a:rPr lang="en-US" sz="1200" b="0" i="0" u="none" strike="noStrike" kern="1200" dirty="0" smtClean="0">
                <a:solidFill>
                  <a:schemeClr val="tx1"/>
                </a:solidFill>
                <a:effectLst/>
                <a:latin typeface="+mn-lt"/>
                <a:ea typeface="+mn-ea"/>
                <a:cs typeface="+mn-cs"/>
                <a:hlinkClick r:id="rId4"/>
              </a:rPr>
              <a:t>kill two birds with one stone</a:t>
            </a:r>
            <a:r>
              <a:rPr lang="en-US" sz="1200" b="0" i="0" u="none" strike="noStrike" kern="1200" dirty="0" smtClean="0">
                <a:solidFill>
                  <a:schemeClr val="tx1"/>
                </a:solidFill>
                <a:effectLst/>
                <a:latin typeface="+mn-lt"/>
                <a:ea typeface="+mn-ea"/>
                <a:cs typeface="+mn-cs"/>
              </a:rPr>
              <a:t> approach. Firstly, compression</a:t>
            </a:r>
            <a:r>
              <a:rPr lang="en-US" sz="1200" b="0" i="0" u="none" strike="noStrike" kern="1200" baseline="0" dirty="0" smtClean="0">
                <a:solidFill>
                  <a:schemeClr val="tx1"/>
                </a:solidFill>
                <a:effectLst/>
                <a:latin typeface="+mn-lt"/>
                <a:ea typeface="+mn-ea"/>
                <a:cs typeface="+mn-cs"/>
              </a:rPr>
              <a:t> can reduce the data transfer on PCI-e. Secondly, direct query processing on compressed data can improve the memory bandwidth utilization within the GPU.</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In VLDB 2011, we have developed OLTP, online transaction processing on the GPU. Compared with the previous work and studies in other groups, OLTP is challenging due to the concurrency control and updates. I have proposed an optimized grouping approach to execute many transactions at the same time. We have taken care of concurrency control, branch divergence etc.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Later, we have developed Medusa: a GPU-based graph processing framework on the GPU. The challenging part of Medusa is on how to support irregular data structures and irregular accesses on the GPU.</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effectLst/>
                <a:latin typeface="+mn-lt"/>
                <a:ea typeface="+mn-ea"/>
                <a:cs typeface="+mn-cs"/>
              </a:rPr>
              <a:t>More recently, we have developed </a:t>
            </a:r>
            <a:r>
              <a:rPr lang="en-US" sz="1200" b="0" i="0" u="none" strike="noStrike" kern="1200" baseline="0" dirty="0" err="1" smtClean="0">
                <a:solidFill>
                  <a:schemeClr val="tx1"/>
                </a:solidFill>
                <a:effectLst/>
                <a:latin typeface="+mn-lt"/>
                <a:ea typeface="+mn-ea"/>
                <a:cs typeface="+mn-cs"/>
              </a:rPr>
              <a:t>OmniDB</a:t>
            </a:r>
            <a:r>
              <a:rPr lang="en-US" sz="1200" b="0" i="0" u="none" strike="noStrike" kern="1200" baseline="0" dirty="0" smtClean="0">
                <a:solidFill>
                  <a:schemeClr val="tx1"/>
                </a:solidFill>
                <a:effectLst/>
                <a:latin typeface="+mn-lt"/>
                <a:ea typeface="+mn-ea"/>
                <a:cs typeface="+mn-cs"/>
              </a:rPr>
              <a:t> on coupled CPU/GPU architectures. By removing PCI-e bus, the coupled architectures have enabled various optimization opportunities in query co-processing. </a:t>
            </a:r>
            <a:endParaRPr lang="en-US" baseline="0" dirty="0" smtClean="0"/>
          </a:p>
          <a:p>
            <a:endParaRPr lang="en-US" baseline="0" dirty="0" smtClean="0"/>
          </a:p>
          <a:p>
            <a:r>
              <a:rPr lang="en-US" baseline="0" dirty="0" smtClean="0"/>
              <a:t>In the following, I will present more details on Medusa and </a:t>
            </a:r>
            <a:r>
              <a:rPr lang="en-US" baseline="0" dirty="0" err="1" smtClean="0"/>
              <a:t>OmniDB</a:t>
            </a:r>
            <a:r>
              <a:rPr lang="en-US" baseline="0" dirty="0" smtClean="0"/>
              <a:t>.</a:t>
            </a:r>
            <a:endParaRPr lang="en-SG" dirty="0"/>
          </a:p>
        </p:txBody>
      </p:sp>
      <p:sp>
        <p:nvSpPr>
          <p:cNvPr id="4" name="Slide Number Placeholder 3"/>
          <p:cNvSpPr>
            <a:spLocks noGrp="1"/>
          </p:cNvSpPr>
          <p:nvPr>
            <p:ph type="sldNum" sz="quarter" idx="10"/>
          </p:nvPr>
        </p:nvSpPr>
        <p:spPr/>
        <p:txBody>
          <a:bodyPr/>
          <a:lstStyle/>
          <a:p>
            <a:fld id="{DE1CBB54-35F6-45AB-9F89-63230646EA67}" type="slidenum">
              <a:rPr lang="en-SG" smtClean="0"/>
              <a:t>14</a:t>
            </a:fld>
            <a:endParaRPr lang="en-SG"/>
          </a:p>
        </p:txBody>
      </p:sp>
    </p:spTree>
    <p:extLst>
      <p:ext uri="{BB962C8B-B14F-4D97-AF65-F5344CB8AC3E}">
        <p14:creationId xmlns:p14="http://schemas.microsoft.com/office/powerpoint/2010/main" val="327606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33</a:t>
            </a:fld>
            <a:endParaRPr lang="en-SG"/>
          </a:p>
        </p:txBody>
      </p:sp>
    </p:spTree>
    <p:extLst>
      <p:ext uri="{BB962C8B-B14F-4D97-AF65-F5344CB8AC3E}">
        <p14:creationId xmlns:p14="http://schemas.microsoft.com/office/powerpoint/2010/main" val="4100698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smtClean="0"/>
              <a:t>I am fortunate to work with colleagues, staffs and students. </a:t>
            </a:r>
          </a:p>
          <a:p>
            <a:endParaRPr lang="en-US" dirty="0"/>
          </a:p>
        </p:txBody>
      </p:sp>
      <p:sp>
        <p:nvSpPr>
          <p:cNvPr id="4" name="Slide Number Placeholder 3"/>
          <p:cNvSpPr>
            <a:spLocks noGrp="1"/>
          </p:cNvSpPr>
          <p:nvPr>
            <p:ph type="sldNum" sz="quarter" idx="10"/>
          </p:nvPr>
        </p:nvSpPr>
        <p:spPr/>
        <p:txBody>
          <a:bodyPr/>
          <a:lstStyle/>
          <a:p>
            <a:fld id="{DE1CBB54-35F6-45AB-9F89-63230646EA67}" type="slidenum">
              <a:rPr lang="en-SG" smtClean="0"/>
              <a:t>34</a:t>
            </a:fld>
            <a:endParaRPr lang="en-SG"/>
          </a:p>
        </p:txBody>
      </p:sp>
    </p:spTree>
    <p:extLst>
      <p:ext uri="{BB962C8B-B14F-4D97-AF65-F5344CB8AC3E}">
        <p14:creationId xmlns:p14="http://schemas.microsoft.com/office/powerpoint/2010/main" val="2085754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41D5796-A90A-AC4F-BDA2-B9C71CEEA019}" type="datetime1">
              <a:rPr lang="en-SG" smtClean="0"/>
              <a:t>9/1/2018</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05382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346F38-F5F0-EC47-84D3-5EC5ABF0CAA3}" type="datetime1">
              <a:rPr lang="en-SG" smtClean="0"/>
              <a:t>9/1/2018</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681698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B0A3C7-AB8B-D344-AA16-EBAFBFEF7975}" type="datetime1">
              <a:rPr lang="en-SG" smtClean="0"/>
              <a:t>9/1/2018</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662774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F454C0-2300-0442-A514-C543B998A6D8}" type="datetime1">
              <a:rPr lang="en-SG" smtClean="0"/>
              <a:t>9/1/2018</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3438061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54DA857-1CE5-D54B-B3B8-398AC58EDB35}" type="datetime1">
              <a:rPr lang="en-SG" smtClean="0"/>
              <a:t>9/1/2018</a:t>
            </a:fld>
            <a:endParaRPr lang="en-US"/>
          </a:p>
        </p:txBody>
      </p:sp>
      <p:sp>
        <p:nvSpPr>
          <p:cNvPr id="8" name="Footer Placeholder 7"/>
          <p:cNvSpPr>
            <a:spLocks noGrp="1"/>
          </p:cNvSpPr>
          <p:nvPr>
            <p:ph type="ftr" sz="quarter" idx="11"/>
          </p:nvPr>
        </p:nvSpPr>
        <p:spPr/>
        <p:txBody>
          <a:bodyPr/>
          <a:lstStyle/>
          <a:p>
            <a:r>
              <a:rPr lang="en-US" smtClean="0"/>
              <a:t>Xtra@NTU/NUS</a:t>
            </a:r>
            <a:endParaRPr lang="en-US"/>
          </a:p>
        </p:txBody>
      </p:sp>
      <p:sp>
        <p:nvSpPr>
          <p:cNvPr id="9" name="Slide Number Placeholder 8"/>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4081126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D5D615F-0411-4F45-BE9F-4571C2638B4C}" type="datetime1">
              <a:rPr lang="en-SG" smtClean="0"/>
              <a:t>9/1/2018</a:t>
            </a:fld>
            <a:endParaRPr lang="en-US"/>
          </a:p>
        </p:txBody>
      </p:sp>
      <p:sp>
        <p:nvSpPr>
          <p:cNvPr id="4" name="Footer Placeholder 3"/>
          <p:cNvSpPr>
            <a:spLocks noGrp="1"/>
          </p:cNvSpPr>
          <p:nvPr>
            <p:ph type="ftr" sz="quarter" idx="11"/>
          </p:nvPr>
        </p:nvSpPr>
        <p:spPr/>
        <p:txBody>
          <a:bodyPr/>
          <a:lstStyle/>
          <a:p>
            <a:r>
              <a:rPr lang="en-US" smtClean="0"/>
              <a:t>Xtra@NTU/NUS</a:t>
            </a:r>
            <a:endParaRPr lang="en-US"/>
          </a:p>
        </p:txBody>
      </p:sp>
      <p:sp>
        <p:nvSpPr>
          <p:cNvPr id="5" name="Slide Number Placeholder 4"/>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5827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C5A5FC-1945-C640-BA18-63AC5D1C02D7}" type="datetime1">
              <a:rPr lang="en-SG" smtClean="0"/>
              <a:t>9/1/2018</a:t>
            </a:fld>
            <a:endParaRPr lang="en-US"/>
          </a:p>
        </p:txBody>
      </p:sp>
      <p:sp>
        <p:nvSpPr>
          <p:cNvPr id="3" name="Footer Placeholder 2"/>
          <p:cNvSpPr>
            <a:spLocks noGrp="1"/>
          </p:cNvSpPr>
          <p:nvPr>
            <p:ph type="ftr" sz="quarter" idx="11"/>
          </p:nvPr>
        </p:nvSpPr>
        <p:spPr/>
        <p:txBody>
          <a:bodyPr/>
          <a:lstStyle/>
          <a:p>
            <a:r>
              <a:rPr lang="en-US" smtClean="0"/>
              <a:t>Xtra@NTU/NUS</a:t>
            </a:r>
            <a:endParaRPr lang="en-US"/>
          </a:p>
        </p:txBody>
      </p:sp>
      <p:sp>
        <p:nvSpPr>
          <p:cNvPr id="4" name="Slide Number Placeholder 3"/>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399005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381259-D35F-434F-8CF4-C448FC9E5351}" type="datetime1">
              <a:rPr lang="en-SG" smtClean="0"/>
              <a:t>9/1/2018</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03038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09357F-F7FE-9249-A7BA-47D1EB57790B}" type="datetime1">
              <a:rPr lang="en-SG" smtClean="0"/>
              <a:t>9/1/2018</a:t>
            </a:fld>
            <a:endParaRPr lang="en-US"/>
          </a:p>
        </p:txBody>
      </p:sp>
      <p:sp>
        <p:nvSpPr>
          <p:cNvPr id="6" name="Footer Placeholder 5"/>
          <p:cNvSpPr>
            <a:spLocks noGrp="1"/>
          </p:cNvSpPr>
          <p:nvPr>
            <p:ph type="ftr" sz="quarter" idx="11"/>
          </p:nvPr>
        </p:nvSpPr>
        <p:spPr/>
        <p:txBody>
          <a:bodyPr/>
          <a:lstStyle/>
          <a:p>
            <a:r>
              <a:rPr lang="en-US" smtClean="0"/>
              <a:t>Xtra@NTU/NUS</a:t>
            </a:r>
            <a:endParaRPr lang="en-US"/>
          </a:p>
        </p:txBody>
      </p:sp>
      <p:sp>
        <p:nvSpPr>
          <p:cNvPr id="7" name="Slide Number Placeholder 6"/>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264769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80BAAB-40C6-4544-88F6-B596141C65CE}" type="datetime1">
              <a:rPr lang="en-SG" smtClean="0"/>
              <a:t>9/1/2018</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212210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C42C7CA-83AB-1D4F-B6C6-74B6EFAAA112}" type="datetime1">
              <a:rPr lang="en-SG" smtClean="0"/>
              <a:t>9/1/2018</a:t>
            </a:fld>
            <a:endParaRPr lang="en-US"/>
          </a:p>
        </p:txBody>
      </p:sp>
      <p:sp>
        <p:nvSpPr>
          <p:cNvPr id="5" name="Footer Placeholder 4"/>
          <p:cNvSpPr>
            <a:spLocks noGrp="1"/>
          </p:cNvSpPr>
          <p:nvPr>
            <p:ph type="ftr" sz="quarter" idx="11"/>
          </p:nvPr>
        </p:nvSpPr>
        <p:spPr/>
        <p:txBody>
          <a:bodyPr/>
          <a:lstStyle/>
          <a:p>
            <a:r>
              <a:rPr lang="en-US" smtClean="0"/>
              <a:t>Xtra@NTU/NUS</a:t>
            </a:r>
            <a:endParaRPr lang="en-US"/>
          </a:p>
        </p:txBody>
      </p:sp>
      <p:sp>
        <p:nvSpPr>
          <p:cNvPr id="6" name="Slide Number Placeholder 5"/>
          <p:cNvSpPr>
            <a:spLocks noGrp="1"/>
          </p:cNvSpPr>
          <p:nvPr>
            <p:ph type="sldNum" sz="quarter" idx="12"/>
          </p:nvPr>
        </p:nvSpPr>
        <p:spPr/>
        <p:txBody>
          <a:bodyPr/>
          <a:lstStyle/>
          <a:p>
            <a:fld id="{CF3AA28E-4FBA-4D61-9F52-ADB8A8EEB828}" type="slidenum">
              <a:rPr lang="en-US" smtClean="0"/>
              <a:t>‹#›</a:t>
            </a:fld>
            <a:endParaRPr lang="en-US"/>
          </a:p>
        </p:txBody>
      </p:sp>
    </p:spTree>
    <p:extLst>
      <p:ext uri="{BB962C8B-B14F-4D97-AF65-F5344CB8AC3E}">
        <p14:creationId xmlns:p14="http://schemas.microsoft.com/office/powerpoint/2010/main" val="1259976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p>
            <a:r>
              <a:t>Title Text</a:t>
            </a: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6799365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14DEA2-7CD9-EC43-A469-A39F3640F55F}" type="datetime1">
              <a:rPr lang="en-SG" smtClean="0"/>
              <a:t>9/1/2018</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Xtra@NTU/NUS</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3AA28E-4FBA-4D61-9F52-ADB8A8EEB828}" type="slidenum">
              <a:rPr lang="en-US" smtClean="0"/>
              <a:t>‹#›</a:t>
            </a:fld>
            <a:endParaRPr lang="en-US"/>
          </a:p>
        </p:txBody>
      </p:sp>
    </p:spTree>
    <p:extLst>
      <p:ext uri="{BB962C8B-B14F-4D97-AF65-F5344CB8AC3E}">
        <p14:creationId xmlns:p14="http://schemas.microsoft.com/office/powerpoint/2010/main" val="3472119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hblok.net/storage"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5.jpeg"/><Relationship Id="rId5" Type="http://schemas.openxmlformats.org/officeDocument/2006/relationships/image" Target="../media/image20.png"/><Relationship Id="rId10" Type="http://schemas.openxmlformats.org/officeDocument/2006/relationships/image" Target="../media/image10.jpeg"/><Relationship Id="rId4" Type="http://schemas.openxmlformats.org/officeDocument/2006/relationships/image" Target="../media/image19.png"/><Relationship Id="rId9" Type="http://schemas.openxmlformats.org/officeDocument/2006/relationships/image" Target="../media/image2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t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comp.nus.edu.sg/~heb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Big Data Systems on Future Hardware</a:t>
            </a:r>
            <a:endParaRPr lang="en-US" dirty="0"/>
          </a:p>
        </p:txBody>
      </p:sp>
      <p:sp>
        <p:nvSpPr>
          <p:cNvPr id="3" name="Subtitle 2"/>
          <p:cNvSpPr>
            <a:spLocks noGrp="1"/>
          </p:cNvSpPr>
          <p:nvPr>
            <p:ph type="subTitle" idx="1"/>
          </p:nvPr>
        </p:nvSpPr>
        <p:spPr/>
        <p:txBody>
          <a:bodyPr>
            <a:normAutofit/>
          </a:bodyPr>
          <a:lstStyle/>
          <a:p>
            <a:r>
              <a:rPr lang="en-US" dirty="0" smtClean="0"/>
              <a:t>Bingsheng He</a:t>
            </a:r>
          </a:p>
          <a:p>
            <a:r>
              <a:rPr lang="en-US" dirty="0" smtClean="0"/>
              <a:t>NUS Computing</a:t>
            </a:r>
          </a:p>
          <a:p>
            <a:r>
              <a:rPr lang="en-US" dirty="0" smtClean="0"/>
              <a:t>http://www.comp.nus.edu.sg/~hebs/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a:t>
            </a:fld>
            <a:endParaRPr lang="en-US"/>
          </a:p>
        </p:txBody>
      </p:sp>
    </p:spTree>
    <p:extLst>
      <p:ext uri="{BB962C8B-B14F-4D97-AF65-F5344CB8AC3E}">
        <p14:creationId xmlns:p14="http://schemas.microsoft.com/office/powerpoint/2010/main" val="27541772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smtClean="0">
                <a:solidFill>
                  <a:schemeClr val="tx1">
                    <a:lumMod val="95000"/>
                    <a:lumOff val="5000"/>
                  </a:schemeClr>
                </a:solidFill>
              </a:rPr>
              <a:t>Why Hardware Matters?</a:t>
            </a:r>
          </a:p>
          <a:p>
            <a:r>
              <a:rPr lang="en-US" dirty="0" smtClean="0">
                <a:solidFill>
                  <a:schemeClr val="bg1">
                    <a:lumMod val="65000"/>
                  </a:schemeClr>
                </a:solidFill>
              </a:rPr>
              <a:t>Challenges &amp; Experiences</a:t>
            </a:r>
            <a:endParaRPr lang="en-US" dirty="0">
              <a:solidFill>
                <a:schemeClr val="bg1">
                  <a:lumMod val="65000"/>
                </a:schemeClr>
              </a:solidFill>
            </a:endParaRPr>
          </a:p>
          <a:p>
            <a:r>
              <a:rPr lang="en-US" dirty="0">
                <a:solidFill>
                  <a:schemeClr val="bg1">
                    <a:lumMod val="65000"/>
                  </a:schemeClr>
                </a:solidFill>
              </a:rPr>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2</a:t>
            </a:fld>
            <a:endParaRPr lang="en-US"/>
          </a:p>
        </p:txBody>
      </p:sp>
    </p:spTree>
    <p:extLst>
      <p:ext uri="{BB962C8B-B14F-4D97-AF65-F5344CB8AC3E}">
        <p14:creationId xmlns:p14="http://schemas.microsoft.com/office/powerpoint/2010/main" val="3691735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HW </a:t>
            </a:r>
            <a:r>
              <a:rPr lang="en-US" dirty="0" smtClean="0"/>
              <a:t>Matters: Processors</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3</a:t>
            </a:fld>
            <a:endParaRPr lang="en-US"/>
          </a:p>
        </p:txBody>
      </p:sp>
      <p:pic>
        <p:nvPicPr>
          <p:cNvPr id="1026" name="Picture 2" descr="Image result for cpu gpu peak flo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848" y="1403933"/>
            <a:ext cx="6597569" cy="5091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12928" y="6558647"/>
            <a:ext cx="8427756" cy="369332"/>
          </a:xfrm>
          <a:prstGeom prst="rect">
            <a:avLst/>
          </a:prstGeom>
          <a:noFill/>
        </p:spPr>
        <p:txBody>
          <a:bodyPr wrap="none" rtlCol="0">
            <a:spAutoFit/>
          </a:bodyPr>
          <a:lstStyle/>
          <a:p>
            <a:r>
              <a:rPr lang="en-SG" dirty="0" smtClean="0"/>
              <a:t>Source: </a:t>
            </a:r>
            <a:r>
              <a:rPr lang="en-SG" dirty="0"/>
              <a:t>https://www.hpcwire.com/2016/08/23/2016-important-year-hpc-two-decades/</a:t>
            </a:r>
          </a:p>
        </p:txBody>
      </p:sp>
    </p:spTree>
    <p:extLst>
      <p:ext uri="{BB962C8B-B14F-4D97-AF65-F5344CB8AC3E}">
        <p14:creationId xmlns:p14="http://schemas.microsoft.com/office/powerpoint/2010/main" val="21868147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413" y="1413345"/>
            <a:ext cx="8482149" cy="5220351"/>
          </a:xfrm>
          <a:prstGeom prst="rect">
            <a:avLst/>
          </a:prstGeom>
        </p:spPr>
      </p:pic>
      <p:sp>
        <p:nvSpPr>
          <p:cNvPr id="2" name="Title 1"/>
          <p:cNvSpPr>
            <a:spLocks noGrp="1"/>
          </p:cNvSpPr>
          <p:nvPr>
            <p:ph type="title"/>
          </p:nvPr>
        </p:nvSpPr>
        <p:spPr/>
        <p:txBody>
          <a:bodyPr/>
          <a:lstStyle/>
          <a:p>
            <a:r>
              <a:rPr lang="en-US" dirty="0"/>
              <a:t>Why HW </a:t>
            </a:r>
            <a:r>
              <a:rPr lang="en-US" dirty="0" smtClean="0"/>
              <a:t>Matters: Memory and Storage</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4</a:t>
            </a:fld>
            <a:endParaRPr lang="en-US"/>
          </a:p>
        </p:txBody>
      </p:sp>
      <p:sp>
        <p:nvSpPr>
          <p:cNvPr id="4" name="TextBox 3"/>
          <p:cNvSpPr txBox="1"/>
          <p:nvPr/>
        </p:nvSpPr>
        <p:spPr>
          <a:xfrm>
            <a:off x="289366" y="6604759"/>
            <a:ext cx="2650534" cy="369332"/>
          </a:xfrm>
          <a:prstGeom prst="rect">
            <a:avLst/>
          </a:prstGeom>
          <a:noFill/>
        </p:spPr>
        <p:txBody>
          <a:bodyPr wrap="none" rtlCol="0">
            <a:spAutoFit/>
          </a:bodyPr>
          <a:lstStyle/>
          <a:p>
            <a:r>
              <a:rPr lang="en-SG" dirty="0" smtClean="0"/>
              <a:t>Source: </a:t>
            </a:r>
            <a:r>
              <a:rPr lang="en-SG" b="1" u="sng" dirty="0">
                <a:hlinkClick r:id="rId3"/>
              </a:rPr>
              <a:t>hblok.net/storage</a:t>
            </a:r>
            <a:endParaRPr lang="en-SG" dirty="0"/>
          </a:p>
        </p:txBody>
      </p:sp>
    </p:spTree>
    <p:extLst>
      <p:ext uri="{BB962C8B-B14F-4D97-AF65-F5344CB8AC3E}">
        <p14:creationId xmlns:p14="http://schemas.microsoft.com/office/powerpoint/2010/main" val="2270599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9327"/>
            <a:ext cx="7886700" cy="1325563"/>
          </a:xfrm>
        </p:spPr>
        <p:txBody>
          <a:bodyPr>
            <a:normAutofit/>
          </a:bodyPr>
          <a:lstStyle/>
          <a:p>
            <a:r>
              <a:rPr lang="en-US" dirty="0" smtClean="0"/>
              <a:t>Emerging </a:t>
            </a:r>
            <a:r>
              <a:rPr lang="en-US" dirty="0"/>
              <a:t>HPC Hardware: </a:t>
            </a:r>
            <a:r>
              <a:rPr lang="en-US" dirty="0" smtClean="0"/>
              <a:t>Parallelism and </a:t>
            </a:r>
            <a:r>
              <a:rPr lang="en-US" dirty="0"/>
              <a:t>Heterogeneity</a:t>
            </a:r>
            <a:endParaRPr lang="en-SG" dirty="0"/>
          </a:p>
        </p:txBody>
      </p:sp>
      <p:sp>
        <p:nvSpPr>
          <p:cNvPr id="3" name="Content Placeholder 2"/>
          <p:cNvSpPr>
            <a:spLocks noGrp="1"/>
          </p:cNvSpPr>
          <p:nvPr>
            <p:ph idx="1"/>
          </p:nvPr>
        </p:nvSpPr>
        <p:spPr>
          <a:xfrm>
            <a:off x="457200" y="1447800"/>
            <a:ext cx="8229600" cy="4525963"/>
          </a:xfrm>
        </p:spPr>
        <p:txBody>
          <a:bodyPr/>
          <a:lstStyle/>
          <a:p>
            <a:r>
              <a:rPr lang="en-US" dirty="0" smtClean="0"/>
              <a:t>Towards many cores</a:t>
            </a:r>
          </a:p>
          <a:p>
            <a:endParaRPr lang="en-US" dirty="0"/>
          </a:p>
          <a:p>
            <a:endParaRPr lang="en-US" dirty="0" smtClean="0"/>
          </a:p>
          <a:p>
            <a:endParaRPr lang="en-US" dirty="0"/>
          </a:p>
          <a:p>
            <a:r>
              <a:rPr lang="en-US" dirty="0" smtClean="0"/>
              <a:t>From CPU to accelerators (co-processors)</a:t>
            </a:r>
          </a:p>
          <a:p>
            <a:endParaRPr lang="en-US" dirty="0" smtClean="0"/>
          </a:p>
          <a:p>
            <a:endParaRPr lang="en-US" dirty="0"/>
          </a:p>
          <a:p>
            <a:endParaRPr lang="en-US" dirty="0" smtClean="0"/>
          </a:p>
          <a:p>
            <a:endParaRPr lang="en-US" dirty="0" smtClean="0"/>
          </a:p>
          <a:p>
            <a:pPr marL="0" indent="0">
              <a:buNone/>
            </a:pPr>
            <a:endParaRPr lang="en-SG" dirty="0"/>
          </a:p>
        </p:txBody>
      </p:sp>
      <p:sp>
        <p:nvSpPr>
          <p:cNvPr id="4" name="TextBox 3"/>
          <p:cNvSpPr txBox="1"/>
          <p:nvPr/>
        </p:nvSpPr>
        <p:spPr>
          <a:xfrm>
            <a:off x="41669" y="6553200"/>
            <a:ext cx="3845668" cy="307777"/>
          </a:xfrm>
          <a:prstGeom prst="rect">
            <a:avLst/>
          </a:prstGeom>
          <a:noFill/>
        </p:spPr>
        <p:txBody>
          <a:bodyPr wrap="none" rtlCol="0">
            <a:spAutoFit/>
          </a:bodyPr>
          <a:lstStyle/>
          <a:p>
            <a:r>
              <a:rPr lang="en-US" sz="1400" dirty="0" smtClean="0"/>
              <a:t>Figures are adopted from Intel, NVIDIA and Altera.</a:t>
            </a:r>
            <a:endParaRPr lang="en-SG" sz="1400" dirty="0"/>
          </a:p>
        </p:txBody>
      </p:sp>
      <p:grpSp>
        <p:nvGrpSpPr>
          <p:cNvPr id="14" name="Group 13"/>
          <p:cNvGrpSpPr/>
          <p:nvPr/>
        </p:nvGrpSpPr>
        <p:grpSpPr>
          <a:xfrm>
            <a:off x="216167" y="1861844"/>
            <a:ext cx="8378558" cy="1784866"/>
            <a:chOff x="216167" y="1948934"/>
            <a:chExt cx="8378558" cy="1784866"/>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270" y="2140061"/>
              <a:ext cx="964503" cy="95567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193785"/>
              <a:ext cx="1828800" cy="96912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1699" y="1948934"/>
              <a:ext cx="1244599" cy="145883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9400" y="1948934"/>
              <a:ext cx="1965325" cy="146526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TextBox 5"/>
            <p:cNvSpPr txBox="1"/>
            <p:nvPr/>
          </p:nvSpPr>
          <p:spPr>
            <a:xfrm>
              <a:off x="1524000" y="2493684"/>
              <a:ext cx="415498" cy="369332"/>
            </a:xfrm>
            <a:prstGeom prst="rect">
              <a:avLst/>
            </a:prstGeom>
            <a:noFill/>
          </p:spPr>
          <p:txBody>
            <a:bodyPr wrap="none" rtlCol="0">
              <a:spAutoFit/>
            </a:bodyPr>
            <a:lstStyle/>
            <a:p>
              <a:r>
                <a:rPr lang="en-US" dirty="0" smtClean="0"/>
                <a:t>&gt;&gt;</a:t>
              </a:r>
              <a:endParaRPr lang="en-SG" dirty="0"/>
            </a:p>
          </p:txBody>
        </p:sp>
        <p:sp>
          <p:nvSpPr>
            <p:cNvPr id="11" name="TextBox 10"/>
            <p:cNvSpPr txBox="1"/>
            <p:nvPr/>
          </p:nvSpPr>
          <p:spPr>
            <a:xfrm>
              <a:off x="4114800" y="2493684"/>
              <a:ext cx="415498" cy="369332"/>
            </a:xfrm>
            <a:prstGeom prst="rect">
              <a:avLst/>
            </a:prstGeom>
            <a:noFill/>
          </p:spPr>
          <p:txBody>
            <a:bodyPr wrap="none" rtlCol="0">
              <a:spAutoFit/>
            </a:bodyPr>
            <a:lstStyle/>
            <a:p>
              <a:r>
                <a:rPr lang="en-US" dirty="0" smtClean="0"/>
                <a:t>&gt;&gt;</a:t>
              </a:r>
              <a:endParaRPr lang="en-SG" dirty="0"/>
            </a:p>
          </p:txBody>
        </p:sp>
        <p:sp>
          <p:nvSpPr>
            <p:cNvPr id="12" name="TextBox 11"/>
            <p:cNvSpPr txBox="1"/>
            <p:nvPr/>
          </p:nvSpPr>
          <p:spPr>
            <a:xfrm>
              <a:off x="6019800" y="2493684"/>
              <a:ext cx="415498" cy="369332"/>
            </a:xfrm>
            <a:prstGeom prst="rect">
              <a:avLst/>
            </a:prstGeom>
            <a:noFill/>
          </p:spPr>
          <p:txBody>
            <a:bodyPr wrap="none" rtlCol="0">
              <a:spAutoFit/>
            </a:bodyPr>
            <a:lstStyle/>
            <a:p>
              <a:r>
                <a:rPr lang="en-US" dirty="0" smtClean="0"/>
                <a:t>&gt;&gt;</a:t>
              </a:r>
              <a:endParaRPr lang="en-SG" dirty="0"/>
            </a:p>
          </p:txBody>
        </p:sp>
        <p:sp>
          <p:nvSpPr>
            <p:cNvPr id="7" name="Rectangle 6"/>
            <p:cNvSpPr/>
            <p:nvPr/>
          </p:nvSpPr>
          <p:spPr>
            <a:xfrm>
              <a:off x="216167" y="3076099"/>
              <a:ext cx="1218475" cy="369332"/>
            </a:xfrm>
            <a:prstGeom prst="rect">
              <a:avLst/>
            </a:prstGeom>
          </p:spPr>
          <p:txBody>
            <a:bodyPr wrap="none">
              <a:spAutoFit/>
            </a:bodyPr>
            <a:lstStyle/>
            <a:p>
              <a:r>
                <a:rPr lang="en-SG" dirty="0"/>
                <a:t>Dual </a:t>
              </a:r>
              <a:r>
                <a:rPr lang="en-SG" dirty="0" smtClean="0"/>
                <a:t>cores </a:t>
              </a:r>
              <a:endParaRPr lang="en-SG" dirty="0"/>
            </a:p>
          </p:txBody>
        </p:sp>
        <p:sp>
          <p:nvSpPr>
            <p:cNvPr id="8" name="Rectangle 7"/>
            <p:cNvSpPr/>
            <p:nvPr/>
          </p:nvSpPr>
          <p:spPr>
            <a:xfrm>
              <a:off x="2133600" y="3179802"/>
              <a:ext cx="1749646" cy="369332"/>
            </a:xfrm>
            <a:prstGeom prst="rect">
              <a:avLst/>
            </a:prstGeom>
          </p:spPr>
          <p:txBody>
            <a:bodyPr wrap="none">
              <a:spAutoFit/>
            </a:bodyPr>
            <a:lstStyle/>
            <a:p>
              <a:r>
                <a:rPr lang="en-SG" dirty="0"/>
                <a:t>Multi-core array </a:t>
              </a:r>
            </a:p>
          </p:txBody>
        </p:sp>
        <p:sp>
          <p:nvSpPr>
            <p:cNvPr id="9" name="Rectangle 8"/>
            <p:cNvSpPr/>
            <p:nvPr/>
          </p:nvSpPr>
          <p:spPr>
            <a:xfrm>
              <a:off x="4114800" y="3364468"/>
              <a:ext cx="2355197" cy="369332"/>
            </a:xfrm>
            <a:prstGeom prst="rect">
              <a:avLst/>
            </a:prstGeom>
          </p:spPr>
          <p:txBody>
            <a:bodyPr wrap="none">
              <a:spAutoFit/>
            </a:bodyPr>
            <a:lstStyle/>
            <a:p>
              <a:r>
                <a:rPr lang="en-SG" dirty="0"/>
                <a:t>Scalar plus many </a:t>
              </a:r>
              <a:r>
                <a:rPr lang="en-SG" dirty="0" smtClean="0"/>
                <a:t>cores </a:t>
              </a:r>
              <a:endParaRPr lang="en-SG" dirty="0"/>
            </a:p>
          </p:txBody>
        </p:sp>
        <p:sp>
          <p:nvSpPr>
            <p:cNvPr id="13" name="Rectangle 12"/>
            <p:cNvSpPr/>
            <p:nvPr/>
          </p:nvSpPr>
          <p:spPr>
            <a:xfrm>
              <a:off x="6723357" y="3364468"/>
              <a:ext cx="1777410" cy="369332"/>
            </a:xfrm>
            <a:prstGeom prst="rect">
              <a:avLst/>
            </a:prstGeom>
          </p:spPr>
          <p:txBody>
            <a:bodyPr wrap="none">
              <a:spAutoFit/>
            </a:bodyPr>
            <a:lstStyle/>
            <a:p>
              <a:r>
                <a:rPr lang="en-SG" dirty="0"/>
                <a:t>Many-core array </a:t>
              </a:r>
            </a:p>
          </p:txBody>
        </p:sp>
      </p:grpSp>
      <p:grpSp>
        <p:nvGrpSpPr>
          <p:cNvPr id="15" name="Group 14"/>
          <p:cNvGrpSpPr/>
          <p:nvPr/>
        </p:nvGrpSpPr>
        <p:grpSpPr>
          <a:xfrm>
            <a:off x="298270" y="4419600"/>
            <a:ext cx="8505633" cy="2039011"/>
            <a:chOff x="298270" y="4419600"/>
            <a:chExt cx="8505633" cy="2039011"/>
          </a:xfrm>
        </p:grpSpPr>
        <p:pic>
          <p:nvPicPr>
            <p:cNvPr id="5127" name="Picture 7" descr="http://international.download.nvidia.com/tesla/images/tesla-k80-3qtr.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270" y="4505739"/>
              <a:ext cx="2185606" cy="1593541"/>
            </a:xfrm>
            <a:prstGeom prst="rect">
              <a:avLst/>
            </a:prstGeom>
            <a:noFill/>
            <a:extLst>
              <a:ext uri="{909E8E84-426E-40dd-AFC4-6F175D3DCCD1}">
                <a14:hiddenFill xmlns="" xmlns:a14="http://schemas.microsoft.com/office/drawing/2010/main">
                  <a:solidFill>
                    <a:srgbClr val="FFFFFF"/>
                  </a:solidFill>
                </a14:hiddenFill>
              </a:ext>
            </a:extLst>
          </p:spPr>
        </p:pic>
        <p:pic>
          <p:nvPicPr>
            <p:cNvPr id="5129" name="Picture 9" descr="http://spectrum.ieee.org/img/08NIntelPhimaster-137424524526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202762" y="4419600"/>
              <a:ext cx="2239573" cy="1679680"/>
            </a:xfrm>
            <a:prstGeom prst="rect">
              <a:avLst/>
            </a:prstGeom>
            <a:noFill/>
            <a:extLst>
              <a:ext uri="{909E8E84-426E-40dd-AFC4-6F175D3DCCD1}">
                <a14:hiddenFill xmlns="" xmlns:a14="http://schemas.microsoft.com/office/drawing/2010/main">
                  <a:solidFill>
                    <a:srgbClr val="FFFFFF"/>
                  </a:solidFill>
                </a14:hiddenFill>
              </a:ext>
            </a:extLst>
          </p:spPr>
        </p:pic>
        <p:pic>
          <p:nvPicPr>
            <p:cNvPr id="5131" name="Picture 11" descr="http://www.canadianelectronics.ca/media/k2/items/cache/c71150b3ec8534116b192155d5964cde_XL.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9800" y="4702619"/>
              <a:ext cx="2784103" cy="1113642"/>
            </a:xfrm>
            <a:prstGeom prst="rect">
              <a:avLst/>
            </a:prstGeom>
            <a:noFill/>
            <a:extLst>
              <a:ext uri="{909E8E84-426E-40dd-AFC4-6F175D3DCCD1}">
                <a14:hiddenFill xmlns="" xmlns:a14="http://schemas.microsoft.com/office/drawing/2010/main">
                  <a:solidFill>
                    <a:srgbClr val="FFFFFF"/>
                  </a:solidFill>
                </a14:hiddenFill>
              </a:ext>
            </a:extLst>
          </p:spPr>
        </p:pic>
        <p:sp>
          <p:nvSpPr>
            <p:cNvPr id="22" name="Rectangle 21"/>
            <p:cNvSpPr/>
            <p:nvPr/>
          </p:nvSpPr>
          <p:spPr>
            <a:xfrm>
              <a:off x="810791" y="6089279"/>
              <a:ext cx="596638" cy="369332"/>
            </a:xfrm>
            <a:prstGeom prst="rect">
              <a:avLst/>
            </a:prstGeom>
          </p:spPr>
          <p:txBody>
            <a:bodyPr wrap="none">
              <a:spAutoFit/>
            </a:bodyPr>
            <a:lstStyle/>
            <a:p>
              <a:r>
                <a:rPr lang="en-SG" dirty="0" smtClean="0"/>
                <a:t>GPU</a:t>
              </a:r>
              <a:endParaRPr lang="en-SG" dirty="0"/>
            </a:p>
          </p:txBody>
        </p:sp>
        <p:sp>
          <p:nvSpPr>
            <p:cNvPr id="23" name="Rectangle 22"/>
            <p:cNvSpPr/>
            <p:nvPr/>
          </p:nvSpPr>
          <p:spPr>
            <a:xfrm>
              <a:off x="3816481" y="6069858"/>
              <a:ext cx="1005788" cy="369332"/>
            </a:xfrm>
            <a:prstGeom prst="rect">
              <a:avLst/>
            </a:prstGeom>
          </p:spPr>
          <p:txBody>
            <a:bodyPr wrap="none">
              <a:spAutoFit/>
            </a:bodyPr>
            <a:lstStyle/>
            <a:p>
              <a:r>
                <a:rPr lang="en-SG" dirty="0" smtClean="0"/>
                <a:t>Xeon Phi</a:t>
              </a:r>
              <a:endParaRPr lang="en-SG" dirty="0"/>
            </a:p>
          </p:txBody>
        </p:sp>
        <p:sp>
          <p:nvSpPr>
            <p:cNvPr id="24" name="Rectangle 23"/>
            <p:cNvSpPr/>
            <p:nvPr/>
          </p:nvSpPr>
          <p:spPr>
            <a:xfrm>
              <a:off x="7109168" y="6085838"/>
              <a:ext cx="688009" cy="369332"/>
            </a:xfrm>
            <a:prstGeom prst="rect">
              <a:avLst/>
            </a:prstGeom>
          </p:spPr>
          <p:txBody>
            <a:bodyPr wrap="none">
              <a:spAutoFit/>
            </a:bodyPr>
            <a:lstStyle/>
            <a:p>
              <a:r>
                <a:rPr lang="en-SG" dirty="0" smtClean="0"/>
                <a:t>FPGA</a:t>
              </a:r>
              <a:endParaRPr lang="en-SG" dirty="0"/>
            </a:p>
          </p:txBody>
        </p:sp>
      </p:gr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651511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8036"/>
            <a:ext cx="7886700" cy="1325563"/>
          </a:xfrm>
        </p:spPr>
        <p:txBody>
          <a:bodyPr>
            <a:normAutofit fontScale="90000"/>
          </a:bodyPr>
          <a:lstStyle/>
          <a:p>
            <a:r>
              <a:rPr lang="en-US" dirty="0" smtClean="0"/>
              <a:t>Emerging </a:t>
            </a:r>
            <a:r>
              <a:rPr lang="en-US" dirty="0"/>
              <a:t>HPC Hardware: Parallelism and </a:t>
            </a:r>
            <a:r>
              <a:rPr lang="en-US" dirty="0" smtClean="0"/>
              <a:t>Heterogeneity (</a:t>
            </a:r>
            <a:r>
              <a:rPr lang="en-US" dirty="0" err="1" smtClean="0"/>
              <a:t>Cont</a:t>
            </a:r>
            <a:r>
              <a:rPr lang="en-US" dirty="0" smtClean="0"/>
              <a:t>’)</a:t>
            </a:r>
            <a:endParaRPr lang="en-SG" dirty="0"/>
          </a:p>
        </p:txBody>
      </p:sp>
      <p:sp>
        <p:nvSpPr>
          <p:cNvPr id="3" name="Content Placeholder 2"/>
          <p:cNvSpPr>
            <a:spLocks noGrp="1"/>
          </p:cNvSpPr>
          <p:nvPr>
            <p:ph idx="1"/>
          </p:nvPr>
        </p:nvSpPr>
        <p:spPr>
          <a:xfrm>
            <a:off x="457200" y="1447800"/>
            <a:ext cx="8229600" cy="4525963"/>
          </a:xfrm>
        </p:spPr>
        <p:txBody>
          <a:bodyPr/>
          <a:lstStyle/>
          <a:p>
            <a:r>
              <a:rPr lang="en-US" dirty="0" smtClean="0"/>
              <a:t>Towards tightly coupled heterogeneous systems</a:t>
            </a:r>
          </a:p>
          <a:p>
            <a:endParaRPr lang="en-US" dirty="0"/>
          </a:p>
          <a:p>
            <a:endParaRPr lang="en-US" dirty="0" smtClean="0"/>
          </a:p>
          <a:p>
            <a:endParaRPr lang="en-US" dirty="0"/>
          </a:p>
          <a:p>
            <a:pPr marL="0" indent="0">
              <a:buNone/>
            </a:pPr>
            <a:endParaRPr lang="en-US" dirty="0"/>
          </a:p>
          <a:p>
            <a:r>
              <a:rPr lang="en-US" dirty="0" smtClean="0"/>
              <a:t>High bandwidth memory (HBM)</a:t>
            </a:r>
          </a:p>
          <a:p>
            <a:endParaRPr lang="en-US" dirty="0"/>
          </a:p>
          <a:p>
            <a:endParaRPr lang="en-US" dirty="0" smtClean="0"/>
          </a:p>
          <a:p>
            <a:endParaRPr lang="en-US" dirty="0"/>
          </a:p>
          <a:p>
            <a:pPr marL="0" indent="0">
              <a:buNone/>
            </a:pPr>
            <a:endParaRPr lang="en-US" dirty="0" smtClean="0"/>
          </a:p>
          <a:p>
            <a:endParaRPr lang="en-US" dirty="0"/>
          </a:p>
          <a:p>
            <a:endParaRPr lang="en-US" dirty="0" smtClean="0"/>
          </a:p>
          <a:p>
            <a:endParaRPr lang="en-US" dirty="0" smtClean="0"/>
          </a:p>
          <a:p>
            <a:endParaRPr lang="en-SG" dirty="0"/>
          </a:p>
        </p:txBody>
      </p:sp>
      <p:sp>
        <p:nvSpPr>
          <p:cNvPr id="4" name="TextBox 3"/>
          <p:cNvSpPr txBox="1"/>
          <p:nvPr/>
        </p:nvSpPr>
        <p:spPr>
          <a:xfrm>
            <a:off x="41669" y="6553200"/>
            <a:ext cx="3686971" cy="307777"/>
          </a:xfrm>
          <a:prstGeom prst="rect">
            <a:avLst/>
          </a:prstGeom>
          <a:noFill/>
        </p:spPr>
        <p:txBody>
          <a:bodyPr wrap="none" rtlCol="0">
            <a:spAutoFit/>
          </a:bodyPr>
          <a:lstStyle/>
          <a:p>
            <a:r>
              <a:rPr lang="en-US" sz="1400" dirty="0" smtClean="0"/>
              <a:t>Figures are adopted from AMD, Intel and Altera.</a:t>
            </a:r>
            <a:endParaRPr lang="en-SG" sz="1400" dirty="0"/>
          </a:p>
        </p:txBody>
      </p:sp>
      <p:pic>
        <p:nvPicPr>
          <p:cNvPr id="7170" name="Picture 2" descr="http://g-ecx.images-amazon.com/images/G/01/electronics/detail-page/amd/amd-aseries-apu-illo-s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949176"/>
            <a:ext cx="2857500" cy="1504951"/>
          </a:xfrm>
          <a:prstGeom prst="rect">
            <a:avLst/>
          </a:prstGeom>
          <a:noFill/>
          <a:extLst>
            <a:ext uri="{909E8E84-426E-40dd-AFC4-6F175D3DCCD1}">
              <a14:hiddenFill xmlns="" xmlns:a14="http://schemas.microsoft.com/office/drawing/2010/main">
                <a:solidFill>
                  <a:srgbClr val="FFFFFF"/>
                </a:solidFill>
              </a14:hiddenFill>
            </a:ext>
          </a:extLst>
        </p:spPr>
      </p:pic>
      <p:pic>
        <p:nvPicPr>
          <p:cNvPr id="7172" name="Picture 4" descr="altera_intel_agreement_hig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2399" y="1995432"/>
            <a:ext cx="2556933" cy="1438275"/>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Rectangle 9"/>
          <p:cNvSpPr/>
          <p:nvPr/>
        </p:nvSpPr>
        <p:spPr>
          <a:xfrm>
            <a:off x="3962400" y="3396976"/>
            <a:ext cx="2895600" cy="646331"/>
          </a:xfrm>
          <a:prstGeom prst="rect">
            <a:avLst/>
          </a:prstGeom>
        </p:spPr>
        <p:txBody>
          <a:bodyPr wrap="square">
            <a:spAutoFit/>
          </a:bodyPr>
          <a:lstStyle/>
          <a:p>
            <a:r>
              <a:rPr lang="en-SG" dirty="0"/>
              <a:t>Intel-Altera Heterogeneous Accelerators</a:t>
            </a:r>
          </a:p>
        </p:txBody>
      </p:sp>
      <p:sp>
        <p:nvSpPr>
          <p:cNvPr id="20" name="Rectangle 19"/>
          <p:cNvSpPr/>
          <p:nvPr/>
        </p:nvSpPr>
        <p:spPr>
          <a:xfrm>
            <a:off x="685800" y="3373382"/>
            <a:ext cx="2895600" cy="369332"/>
          </a:xfrm>
          <a:prstGeom prst="rect">
            <a:avLst/>
          </a:prstGeom>
        </p:spPr>
        <p:txBody>
          <a:bodyPr wrap="square">
            <a:spAutoFit/>
          </a:bodyPr>
          <a:lstStyle/>
          <a:p>
            <a:r>
              <a:rPr lang="en-SG" dirty="0" smtClean="0"/>
              <a:t>AMD APU</a:t>
            </a:r>
            <a:endParaRPr lang="en-SG" dirty="0"/>
          </a:p>
        </p:txBody>
      </p:sp>
      <p:sp>
        <p:nvSpPr>
          <p:cNvPr id="14" name="TextBox 13"/>
          <p:cNvSpPr txBox="1"/>
          <p:nvPr/>
        </p:nvSpPr>
        <p:spPr>
          <a:xfrm>
            <a:off x="6858000" y="2516985"/>
            <a:ext cx="1447800" cy="369332"/>
          </a:xfrm>
          <a:prstGeom prst="rect">
            <a:avLst/>
          </a:prstGeom>
          <a:noFill/>
        </p:spPr>
        <p:txBody>
          <a:bodyPr wrap="square" rtlCol="0">
            <a:spAutoFit/>
          </a:bodyPr>
          <a:lstStyle/>
          <a:p>
            <a:r>
              <a:rPr lang="en-US" dirty="0" smtClean="0"/>
              <a:t>…</a:t>
            </a:r>
            <a:endParaRPr lang="en-SG"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pic>
        <p:nvPicPr>
          <p:cNvPr id="7" name="Picture 6"/>
          <p:cNvPicPr>
            <a:picLocks noChangeAspect="1"/>
          </p:cNvPicPr>
          <p:nvPr/>
        </p:nvPicPr>
        <p:blipFill>
          <a:blip r:embed="rId5"/>
          <a:stretch>
            <a:fillRect/>
          </a:stretch>
        </p:blipFill>
        <p:spPr>
          <a:xfrm>
            <a:off x="2179127" y="4503923"/>
            <a:ext cx="3675511" cy="2100292"/>
          </a:xfrm>
          <a:prstGeom prst="rect">
            <a:avLst/>
          </a:prstGeom>
        </p:spPr>
      </p:pic>
    </p:spTree>
    <p:extLst>
      <p:ext uri="{BB962C8B-B14F-4D97-AF65-F5344CB8AC3E}">
        <p14:creationId xmlns:p14="http://schemas.microsoft.com/office/powerpoint/2010/main" val="285230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Emerging HPC Hardware: </a:t>
            </a:r>
            <a:r>
              <a:rPr lang="en-US" dirty="0" smtClean="0"/>
              <a:t>Generalization vs. Specialization </a:t>
            </a:r>
            <a:endParaRPr lang="en-US" dirty="0"/>
          </a:p>
        </p:txBody>
      </p:sp>
      <p:sp>
        <p:nvSpPr>
          <p:cNvPr id="3" name="Content Placeholder 2"/>
          <p:cNvSpPr>
            <a:spLocks noGrp="1"/>
          </p:cNvSpPr>
          <p:nvPr>
            <p:ph idx="1"/>
          </p:nvPr>
        </p:nvSpPr>
        <p:spPr/>
        <p:txBody>
          <a:bodyPr/>
          <a:lstStyle/>
          <a:p>
            <a:r>
              <a:rPr lang="en-US" dirty="0"/>
              <a:t>AI chips</a:t>
            </a:r>
          </a:p>
          <a:p>
            <a:r>
              <a:rPr lang="en-US" dirty="0" smtClean="0"/>
              <a:t>Graph accelerators</a:t>
            </a:r>
          </a:p>
          <a:p>
            <a:r>
              <a:rPr lang="en-US" dirty="0" smtClean="0"/>
              <a:t>…</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7</a:t>
            </a:fld>
            <a:endParaRPr lang="en-US"/>
          </a:p>
        </p:txBody>
      </p:sp>
      <p:pic>
        <p:nvPicPr>
          <p:cNvPr id="2050" name="Picture 2" descr="Image result for TPU goo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1368" y="1770748"/>
            <a:ext cx="2926644" cy="164623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寒武纪 process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0227" y="3551922"/>
            <a:ext cx="3928745" cy="16302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mobileye chi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6800" y="5317122"/>
            <a:ext cx="2386149" cy="1343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40464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Hardware</a:t>
            </a:r>
            <a:endParaRPr lang="en-US" dirty="0"/>
          </a:p>
        </p:txBody>
      </p:sp>
      <p:sp>
        <p:nvSpPr>
          <p:cNvPr id="3" name="Content Placeholder 2"/>
          <p:cNvSpPr>
            <a:spLocks noGrp="1"/>
          </p:cNvSpPr>
          <p:nvPr>
            <p:ph idx="1"/>
          </p:nvPr>
        </p:nvSpPr>
        <p:spPr/>
        <p:txBody>
          <a:bodyPr>
            <a:normAutofit lnSpcReduction="10000"/>
          </a:bodyPr>
          <a:lstStyle/>
          <a:p>
            <a:r>
              <a:rPr lang="en-US" dirty="0" smtClean="0"/>
              <a:t>Processors</a:t>
            </a:r>
          </a:p>
          <a:p>
            <a:pPr lvl="1"/>
            <a:r>
              <a:rPr lang="en-US" dirty="0" smtClean="0"/>
              <a:t>1, 000 cores</a:t>
            </a:r>
          </a:p>
          <a:p>
            <a:pPr lvl="1"/>
            <a:r>
              <a:rPr lang="en-US" dirty="0" smtClean="0"/>
              <a:t>Heterogeneous/specialized hardware (FPGA/ASIC)</a:t>
            </a:r>
          </a:p>
          <a:p>
            <a:r>
              <a:rPr lang="en-US" dirty="0" smtClean="0"/>
              <a:t>Disk is dead, NVRAM is disk, DRAM is cache, Locality is still the King.</a:t>
            </a:r>
          </a:p>
          <a:p>
            <a:pPr lvl="1"/>
            <a:r>
              <a:rPr lang="en-US" dirty="0" smtClean="0"/>
              <a:t>NVRAM/3D stacking</a:t>
            </a:r>
          </a:p>
          <a:p>
            <a:pPr lvl="1"/>
            <a:r>
              <a:rPr lang="en-US" dirty="0" smtClean="0"/>
              <a:t>“</a:t>
            </a:r>
            <a:r>
              <a:rPr lang="en-US" dirty="0"/>
              <a:t>Tape is </a:t>
            </a:r>
            <a:r>
              <a:rPr lang="en-US" dirty="0" smtClean="0"/>
              <a:t>Dead, </a:t>
            </a:r>
            <a:r>
              <a:rPr lang="en-US" dirty="0"/>
              <a:t>Disk is </a:t>
            </a:r>
            <a:r>
              <a:rPr lang="en-US" dirty="0" smtClean="0"/>
              <a:t>Tape, </a:t>
            </a:r>
            <a:r>
              <a:rPr lang="en-US" dirty="0"/>
              <a:t>Flash is </a:t>
            </a:r>
            <a:r>
              <a:rPr lang="en-US" dirty="0" smtClean="0"/>
              <a:t>Disk,</a:t>
            </a:r>
            <a:r>
              <a:rPr lang="en-US" dirty="0"/>
              <a:t> RAM Locality is King</a:t>
            </a:r>
            <a:r>
              <a:rPr lang="en-US" dirty="0" smtClean="0"/>
              <a:t>” by Jim Gray</a:t>
            </a:r>
          </a:p>
          <a:p>
            <a:r>
              <a:rPr lang="en-US" dirty="0" smtClean="0"/>
              <a:t>Cluster as a personal supercomputer</a:t>
            </a:r>
          </a:p>
          <a:p>
            <a:pPr lvl="1"/>
            <a:r>
              <a:rPr lang="en-US" dirty="0" smtClean="0"/>
              <a:t>Fast and cheaper interconnects </a:t>
            </a:r>
          </a:p>
          <a:p>
            <a:pPr marL="457200" lvl="1" indent="0">
              <a:buNone/>
            </a:pPr>
            <a:r>
              <a:rPr lang="en-US" dirty="0" smtClean="0"/>
              <a:t>(e.g., </a:t>
            </a:r>
            <a:r>
              <a:rPr lang="en-US" dirty="0" err="1" smtClean="0"/>
              <a:t>Infiniband</a:t>
            </a:r>
            <a:r>
              <a:rPr lang="en-US" dirty="0" smtClean="0"/>
              <a:t>)</a:t>
            </a:r>
          </a:p>
          <a:p>
            <a:endParaRPr lang="en-US" dirty="0"/>
          </a:p>
        </p:txBody>
      </p:sp>
      <p:pic>
        <p:nvPicPr>
          <p:cNvPr id="1026" name="Picture 2" descr="https://i.ytimg.com/vi/dzkuOrLIJw8/maxresdefaul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0528" y="5164183"/>
            <a:ext cx="2532985" cy="1424804"/>
          </a:xfrm>
          <a:prstGeom prst="rect">
            <a:avLst/>
          </a:prstGeom>
          <a:noFill/>
          <a:extLst>
            <a:ext uri="{909E8E84-426E-40dd-AFC4-6F175D3DCCD1}">
              <a14:hiddenFill xmlns=""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CF3AA28E-4FBA-4D61-9F52-ADB8A8EEB828}" type="slidenum">
              <a:rPr lang="en-US" smtClean="0"/>
              <a:t>8</a:t>
            </a:fld>
            <a:endParaRPr lang="en-US"/>
          </a:p>
        </p:txBody>
      </p:sp>
    </p:spTree>
    <p:extLst>
      <p:ext uri="{BB962C8B-B14F-4D97-AF65-F5344CB8AC3E}">
        <p14:creationId xmlns:p14="http://schemas.microsoft.com/office/powerpoint/2010/main" val="1125675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Big Data Meets Emerging Hardware</a:t>
            </a:r>
            <a:endParaRPr lang="en-SG" dirty="0"/>
          </a:p>
        </p:txBody>
      </p:sp>
      <p:grpSp>
        <p:nvGrpSpPr>
          <p:cNvPr id="9" name="Group 8"/>
          <p:cNvGrpSpPr/>
          <p:nvPr/>
        </p:nvGrpSpPr>
        <p:grpSpPr>
          <a:xfrm>
            <a:off x="685800" y="4308563"/>
            <a:ext cx="3524426" cy="1600200"/>
            <a:chOff x="942585" y="1752600"/>
            <a:chExt cx="3524426" cy="1600200"/>
          </a:xfrm>
        </p:grpSpPr>
        <p:sp>
          <p:nvSpPr>
            <p:cNvPr id="4" name="Rounded Rectangle 3"/>
            <p:cNvSpPr/>
            <p:nvPr/>
          </p:nvSpPr>
          <p:spPr>
            <a:xfrm>
              <a:off x="1066798" y="1752600"/>
              <a:ext cx="3276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Rectangle 5"/>
            <p:cNvSpPr/>
            <p:nvPr/>
          </p:nvSpPr>
          <p:spPr>
            <a:xfrm>
              <a:off x="942585" y="2197100"/>
              <a:ext cx="3524426" cy="830997"/>
            </a:xfrm>
            <a:prstGeom prst="rect">
              <a:avLst/>
            </a:prstGeom>
          </p:spPr>
          <p:txBody>
            <a:bodyPr wrap="none">
              <a:spAutoFit/>
            </a:bodyPr>
            <a:lstStyle/>
            <a:p>
              <a:pPr algn="ctr"/>
              <a:r>
                <a:rPr lang="en-US" sz="2400" dirty="0" smtClean="0"/>
                <a:t> (Emerging) data-intensive </a:t>
              </a:r>
            </a:p>
            <a:p>
              <a:pPr algn="ctr"/>
              <a:r>
                <a:rPr lang="en-US" sz="2400" dirty="0" smtClean="0"/>
                <a:t>applications</a:t>
              </a:r>
              <a:endParaRPr lang="en-SG" sz="2400" dirty="0"/>
            </a:p>
          </p:txBody>
        </p:sp>
      </p:grpSp>
      <p:grpSp>
        <p:nvGrpSpPr>
          <p:cNvPr id="10" name="Group 9"/>
          <p:cNvGrpSpPr/>
          <p:nvPr/>
        </p:nvGrpSpPr>
        <p:grpSpPr>
          <a:xfrm>
            <a:off x="810013" y="1870163"/>
            <a:ext cx="3276000" cy="1600200"/>
            <a:chOff x="1143000" y="4038600"/>
            <a:chExt cx="3276000" cy="1600200"/>
          </a:xfrm>
        </p:grpSpPr>
        <p:sp>
          <p:nvSpPr>
            <p:cNvPr id="7" name="Rounded Rectangle 6"/>
            <p:cNvSpPr/>
            <p:nvPr/>
          </p:nvSpPr>
          <p:spPr>
            <a:xfrm>
              <a:off x="1143000" y="4038600"/>
              <a:ext cx="32760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7"/>
            <p:cNvSpPr/>
            <p:nvPr/>
          </p:nvSpPr>
          <p:spPr>
            <a:xfrm>
              <a:off x="1362715" y="4406900"/>
              <a:ext cx="2691826" cy="830997"/>
            </a:xfrm>
            <a:prstGeom prst="rect">
              <a:avLst/>
            </a:prstGeom>
          </p:spPr>
          <p:txBody>
            <a:bodyPr wrap="none">
              <a:spAutoFit/>
            </a:bodyPr>
            <a:lstStyle/>
            <a:p>
              <a:pPr algn="ctr"/>
              <a:r>
                <a:rPr lang="en-US" sz="2400" dirty="0"/>
                <a:t>Emerging </a:t>
              </a:r>
              <a:r>
                <a:rPr lang="en-US" sz="2400" dirty="0" smtClean="0"/>
                <a:t>hardware </a:t>
              </a:r>
            </a:p>
            <a:p>
              <a:pPr algn="ctr"/>
              <a:r>
                <a:rPr lang="en-US" sz="2400" dirty="0" smtClean="0"/>
                <a:t>architectures</a:t>
              </a:r>
              <a:endParaRPr lang="en-SG" sz="2400" dirty="0"/>
            </a:p>
          </p:txBody>
        </p:sp>
      </p:grpSp>
      <p:sp>
        <p:nvSpPr>
          <p:cNvPr id="11" name="Plus 10"/>
          <p:cNvSpPr/>
          <p:nvPr/>
        </p:nvSpPr>
        <p:spPr>
          <a:xfrm>
            <a:off x="2802261" y="3470363"/>
            <a:ext cx="1066800" cy="8382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Notched Right Arrow 12"/>
          <p:cNvSpPr/>
          <p:nvPr/>
        </p:nvSpPr>
        <p:spPr>
          <a:xfrm>
            <a:off x="3972315" y="3470363"/>
            <a:ext cx="1066800" cy="8382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4" name="Group 13"/>
          <p:cNvGrpSpPr/>
          <p:nvPr/>
        </p:nvGrpSpPr>
        <p:grpSpPr>
          <a:xfrm>
            <a:off x="5229613" y="1870163"/>
            <a:ext cx="3200400" cy="4038600"/>
            <a:chOff x="1143000" y="4038600"/>
            <a:chExt cx="3200400" cy="1600200"/>
          </a:xfrm>
        </p:grpSpPr>
        <p:sp>
          <p:nvSpPr>
            <p:cNvPr id="15" name="Rounded Rectangle 14"/>
            <p:cNvSpPr/>
            <p:nvPr/>
          </p:nvSpPr>
          <p:spPr>
            <a:xfrm>
              <a:off x="1143000" y="4038600"/>
              <a:ext cx="3200400" cy="160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 name="Rectangle 15"/>
            <p:cNvSpPr/>
            <p:nvPr/>
          </p:nvSpPr>
          <p:spPr>
            <a:xfrm>
              <a:off x="1247387" y="4249947"/>
              <a:ext cx="3089179" cy="798408"/>
            </a:xfrm>
            <a:prstGeom prst="rect">
              <a:avLst/>
            </a:prstGeom>
          </p:spPr>
          <p:txBody>
            <a:bodyPr wrap="none">
              <a:spAutoFit/>
            </a:bodyPr>
            <a:lstStyle/>
            <a:p>
              <a:pPr marL="342900" indent="-342900">
                <a:buFont typeface="Arial" panose="020B0604020202020204" pitchFamily="34" charset="0"/>
                <a:buChar char="•"/>
              </a:pPr>
              <a:r>
                <a:rPr lang="en-US" sz="2400" dirty="0" smtClean="0">
                  <a:solidFill>
                    <a:srgbClr val="FF0000"/>
                  </a:solidFill>
                </a:rPr>
                <a:t>Performance</a:t>
              </a:r>
            </a:p>
            <a:p>
              <a:pPr marL="342900" indent="-342900">
                <a:buFont typeface="Arial" panose="020B0604020202020204" pitchFamily="34" charset="0"/>
                <a:buChar char="•"/>
              </a:pPr>
              <a:r>
                <a:rPr lang="en-US" sz="2400" dirty="0" smtClean="0">
                  <a:solidFill>
                    <a:srgbClr val="FF0000"/>
                  </a:solidFill>
                </a:rPr>
                <a:t>Programmability</a:t>
              </a:r>
            </a:p>
            <a:p>
              <a:pPr marL="342900" indent="-342900">
                <a:buFont typeface="Arial" panose="020B0604020202020204" pitchFamily="34" charset="0"/>
                <a:buChar char="•"/>
              </a:pPr>
              <a:r>
                <a:rPr lang="en-US" sz="2400" dirty="0" smtClean="0"/>
                <a:t>Energy consumption</a:t>
              </a:r>
            </a:p>
            <a:p>
              <a:pPr marL="342900" indent="-342900">
                <a:buFont typeface="Arial" panose="020B0604020202020204" pitchFamily="34" charset="0"/>
                <a:buChar char="•"/>
              </a:pPr>
              <a:r>
                <a:rPr lang="en-US" sz="2400" dirty="0" smtClean="0"/>
                <a:t>User interfaces</a:t>
              </a:r>
            </a:p>
            <a:p>
              <a:pPr marL="342900" indent="-342900">
                <a:buFont typeface="Arial" panose="020B0604020202020204" pitchFamily="34" charset="0"/>
                <a:buChar char="•"/>
              </a:pPr>
              <a:r>
                <a:rPr lang="en-US" sz="2400" dirty="0" smtClean="0"/>
                <a:t>… </a:t>
              </a:r>
              <a:endParaRPr lang="en-SG" sz="2400" dirty="0"/>
            </a:p>
          </p:txBody>
        </p:sp>
      </p:grpSp>
      <p:sp>
        <p:nvSpPr>
          <p:cNvPr id="17" name="TextBox 16"/>
          <p:cNvSpPr txBox="1"/>
          <p:nvPr/>
        </p:nvSpPr>
        <p:spPr>
          <a:xfrm>
            <a:off x="5334000" y="2022563"/>
            <a:ext cx="1971374" cy="461665"/>
          </a:xfrm>
          <a:prstGeom prst="rect">
            <a:avLst/>
          </a:prstGeom>
          <a:noFill/>
        </p:spPr>
        <p:txBody>
          <a:bodyPr wrap="none" rtlCol="0">
            <a:spAutoFit/>
          </a:bodyPr>
          <a:lstStyle/>
          <a:p>
            <a:r>
              <a:rPr lang="en-US" sz="2400" u="sng" dirty="0" smtClean="0"/>
              <a:t>System issues:</a:t>
            </a:r>
            <a:endParaRPr lang="en-SG" sz="2400" u="sng" dirty="0"/>
          </a:p>
        </p:txBody>
      </p:sp>
      <p:sp>
        <p:nvSpPr>
          <p:cNvPr id="18" name="TextBox 17"/>
          <p:cNvSpPr txBox="1"/>
          <p:nvPr/>
        </p:nvSpPr>
        <p:spPr>
          <a:xfrm>
            <a:off x="5333999" y="4418593"/>
            <a:ext cx="3096013" cy="1200329"/>
          </a:xfrm>
          <a:prstGeom prst="rect">
            <a:avLst/>
          </a:prstGeom>
          <a:noFill/>
        </p:spPr>
        <p:txBody>
          <a:bodyPr wrap="square" rtlCol="0">
            <a:spAutoFit/>
          </a:bodyPr>
          <a:lstStyle/>
          <a:p>
            <a:r>
              <a:rPr lang="en-US" sz="2400" u="sng" dirty="0" smtClean="0"/>
              <a:t>Our solution: </a:t>
            </a:r>
          </a:p>
          <a:p>
            <a:r>
              <a:rPr lang="en-US" sz="2400" dirty="0" smtClean="0">
                <a:solidFill>
                  <a:srgbClr val="FF0000"/>
                </a:solidFill>
              </a:rPr>
              <a:t>Hardware-software </a:t>
            </a:r>
            <a:r>
              <a:rPr lang="en-US" sz="2400" dirty="0" err="1" smtClean="0">
                <a:solidFill>
                  <a:srgbClr val="FF0000"/>
                </a:solidFill>
              </a:rPr>
              <a:t>codesign</a:t>
            </a:r>
            <a:endParaRPr lang="en-SG" sz="24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523159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Big Data Meets Emerging </a:t>
            </a:r>
            <a:r>
              <a:rPr lang="en-US" dirty="0" smtClean="0"/>
              <a:t>Hardware (</a:t>
            </a:r>
            <a:r>
              <a:rPr lang="en-US" dirty="0" err="1" smtClean="0"/>
              <a:t>Con’t</a:t>
            </a:r>
            <a:r>
              <a:rPr lang="en-US" dirty="0" smtClean="0"/>
              <a:t>)</a:t>
            </a:r>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10</a:t>
            </a:fld>
            <a:endParaRPr lang="en-US"/>
          </a:p>
        </p:txBody>
      </p:sp>
      <p:pic>
        <p:nvPicPr>
          <p:cNvPr id="5" name="Picture 2" descr="Image result for big data landscape 20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81040" y="1534160"/>
            <a:ext cx="3246316" cy="2822633"/>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p:cNvGrpSpPr/>
          <p:nvPr/>
        </p:nvGrpSpPr>
        <p:grpSpPr>
          <a:xfrm>
            <a:off x="172763" y="1991997"/>
            <a:ext cx="3525477" cy="2346323"/>
            <a:chOff x="-3240997" y="1870077"/>
            <a:chExt cx="6526069" cy="4393959"/>
          </a:xfrm>
        </p:grpSpPr>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8335" y="2054774"/>
              <a:ext cx="964503" cy="95567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26790" y="2054774"/>
              <a:ext cx="1828800" cy="969129"/>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15" y="1870077"/>
              <a:ext cx="1244599" cy="145883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9"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19747" y="1870077"/>
              <a:ext cx="1965325" cy="146526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 name="Picture 7" descr="http://international.download.nvidia.com/tesla/images/tesla-k80-3qtr.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95477" y="3412943"/>
              <a:ext cx="1675378" cy="1221530"/>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9" descr="http://spectrum.ieee.org/img/08NIntelPhimaster-1374245245264.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42455" y="3586380"/>
              <a:ext cx="1640026" cy="1230020"/>
            </a:xfrm>
            <a:prstGeom prst="rect">
              <a:avLst/>
            </a:prstGeom>
            <a:noFill/>
            <a:extLst>
              <a:ext uri="{909E8E84-426E-40dd-AFC4-6F175D3DCCD1}">
                <a14:hiddenFill xmlns="" xmlns:a14="http://schemas.microsoft.com/office/drawing/2010/main">
                  <a:solidFill>
                    <a:srgbClr val="FFFFFF"/>
                  </a:solidFill>
                </a14:hiddenFill>
              </a:ext>
            </a:extLst>
          </p:spPr>
        </p:pic>
        <p:pic>
          <p:nvPicPr>
            <p:cNvPr id="12" name="Picture 11" descr="http://www.canadianelectronics.ca/media/k2/items/cache/c71150b3ec8534116b192155d5964cde_XL.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6155" y="3632354"/>
              <a:ext cx="2174551" cy="869821"/>
            </a:xfrm>
            <a:prstGeom prst="rect">
              <a:avLst/>
            </a:prstGeom>
            <a:noFill/>
            <a:extLst>
              <a:ext uri="{909E8E84-426E-40dd-AFC4-6F175D3DCCD1}">
                <a14:hiddenFill xmlns="" xmlns:a14="http://schemas.microsoft.com/office/drawing/2010/main">
                  <a:solidFill>
                    <a:srgbClr val="FFFFFF"/>
                  </a:solidFill>
                </a14:hiddenFill>
              </a:ext>
            </a:extLst>
          </p:spPr>
        </p:pic>
        <p:pic>
          <p:nvPicPr>
            <p:cNvPr id="13" name="Picture 2" descr="http://g-ecx.images-amazon.com/images/G/01/electronics/detail-page/amd/amd-aseries-apu-illo-sm.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240997" y="5129344"/>
              <a:ext cx="1604909" cy="845253"/>
            </a:xfrm>
            <a:prstGeom prst="rect">
              <a:avLst/>
            </a:prstGeom>
            <a:noFill/>
            <a:extLst>
              <a:ext uri="{909E8E84-426E-40dd-AFC4-6F175D3DCCD1}">
                <a14:hiddenFill xmlns="" xmlns:a14="http://schemas.microsoft.com/office/drawing/2010/main">
                  <a:solidFill>
                    <a:srgbClr val="FFFFFF"/>
                  </a:solidFill>
                </a14:hiddenFill>
              </a:ext>
            </a:extLst>
          </p:spPr>
        </p:pic>
        <p:pic>
          <p:nvPicPr>
            <p:cNvPr id="14" name="Picture 4" descr="altera_intel_agreement_high"/>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64284" y="4900352"/>
              <a:ext cx="1689030" cy="950079"/>
            </a:xfrm>
            <a:prstGeom prst="rect">
              <a:avLst/>
            </a:prstGeom>
            <a:noFill/>
            <a:extLst>
              <a:ext uri="{909E8E84-426E-40dd-AFC4-6F175D3DCCD1}">
                <a14:hiddenFill xmlns="" xmlns:a14="http://schemas.microsoft.com/office/drawing/2010/main">
                  <a:solidFill>
                    <a:srgbClr val="FFFFFF"/>
                  </a:solidFill>
                </a14:hiddenFill>
              </a:ext>
            </a:extLst>
          </p:spPr>
        </p:pic>
        <p:pic>
          <p:nvPicPr>
            <p:cNvPr id="15" name="Picture 14"/>
            <p:cNvPicPr>
              <a:picLocks noChangeAspect="1"/>
            </p:cNvPicPr>
            <p:nvPr/>
          </p:nvPicPr>
          <p:blipFill>
            <a:blip r:embed="rId12"/>
            <a:stretch>
              <a:fillRect/>
            </a:stretch>
          </p:blipFill>
          <p:spPr>
            <a:xfrm>
              <a:off x="-1450936" y="5115222"/>
              <a:ext cx="2010424" cy="1148814"/>
            </a:xfrm>
            <a:prstGeom prst="rect">
              <a:avLst/>
            </a:prstGeom>
          </p:spPr>
        </p:pic>
      </p:grpSp>
      <p:sp>
        <p:nvSpPr>
          <p:cNvPr id="18" name="Left-Right-Up Arrow 17"/>
          <p:cNvSpPr/>
          <p:nvPr/>
        </p:nvSpPr>
        <p:spPr>
          <a:xfrm rot="10800000">
            <a:off x="3626833" y="3863794"/>
            <a:ext cx="2082800" cy="708667"/>
          </a:xfrm>
          <a:prstGeom prst="leftRigh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38456" y="4639849"/>
            <a:ext cx="8080540"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smtClean="0">
                <a:solidFill>
                  <a:srgbClr val="FF0000"/>
                </a:solidFill>
                <a:latin typeface="Comic Sans MS" panose="030F0702030302020204" pitchFamily="66" charset="0"/>
              </a:rPr>
              <a:t>Architecture-aware optimizations: </a:t>
            </a:r>
            <a:r>
              <a:rPr lang="en-US" sz="2000" dirty="0" smtClean="0"/>
              <a:t>how to make our software systems fully optimize for the hardware?</a:t>
            </a:r>
          </a:p>
          <a:p>
            <a:pPr marL="285750" indent="-285750">
              <a:buFont typeface="Arial" panose="020B0604020202020204" pitchFamily="34" charset="0"/>
              <a:buChar char="•"/>
            </a:pPr>
            <a:r>
              <a:rPr lang="en-US" sz="2000" dirty="0">
                <a:solidFill>
                  <a:srgbClr val="FF0000"/>
                </a:solidFill>
                <a:latin typeface="Comic Sans MS" panose="030F0702030302020204" pitchFamily="66" charset="0"/>
              </a:rPr>
              <a:t>New hardware: </a:t>
            </a:r>
            <a:r>
              <a:rPr lang="en-US" sz="2000" dirty="0" smtClean="0"/>
              <a:t>how can new applications drive the design of new hardware?</a:t>
            </a:r>
          </a:p>
          <a:p>
            <a:pPr marL="285750" indent="-285750">
              <a:buFont typeface="Arial" panose="020B0604020202020204" pitchFamily="34" charset="0"/>
              <a:buChar char="•"/>
            </a:pPr>
            <a:r>
              <a:rPr lang="en-US" sz="2000" dirty="0">
                <a:solidFill>
                  <a:srgbClr val="FF0000"/>
                </a:solidFill>
                <a:latin typeface="Comic Sans MS" panose="030F0702030302020204" pitchFamily="66" charset="0"/>
              </a:rPr>
              <a:t>New </a:t>
            </a:r>
            <a:r>
              <a:rPr lang="en-US" sz="2000" dirty="0" smtClean="0">
                <a:solidFill>
                  <a:srgbClr val="FF0000"/>
                </a:solidFill>
                <a:latin typeface="Comic Sans MS" panose="030F0702030302020204" pitchFamily="66" charset="0"/>
              </a:rPr>
              <a:t>systems/applications</a:t>
            </a:r>
            <a:r>
              <a:rPr lang="en-US" sz="2000" dirty="0">
                <a:solidFill>
                  <a:srgbClr val="FF0000"/>
                </a:solidFill>
                <a:latin typeface="Comic Sans MS" panose="030F0702030302020204" pitchFamily="66" charset="0"/>
              </a:rPr>
              <a:t>: </a:t>
            </a:r>
            <a:r>
              <a:rPr lang="en-US" sz="2000" dirty="0" smtClean="0"/>
              <a:t>can superb hardware power enable new systems/applications?</a:t>
            </a:r>
            <a:endParaRPr lang="en-US" sz="2000" dirty="0"/>
          </a:p>
        </p:txBody>
      </p:sp>
    </p:spTree>
    <p:extLst>
      <p:ext uri="{BB962C8B-B14F-4D97-AF65-F5344CB8AC3E}">
        <p14:creationId xmlns:p14="http://schemas.microsoft.com/office/powerpoint/2010/main" val="636224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smtClean="0"/>
              <a:t>Challenges &amp; Experiences </a:t>
            </a:r>
          </a:p>
          <a:p>
            <a:r>
              <a:rPr lang="en-US" dirty="0" smtClean="0">
                <a:solidFill>
                  <a:schemeClr val="bg1">
                    <a:lumMod val="65000"/>
                  </a:schemeClr>
                </a:solidFill>
              </a:rPr>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11</a:t>
            </a:fld>
            <a:endParaRPr lang="en-US"/>
          </a:p>
        </p:txBody>
      </p:sp>
    </p:spTree>
    <p:extLst>
      <p:ext uri="{BB962C8B-B14F-4D97-AF65-F5344CB8AC3E}">
        <p14:creationId xmlns:p14="http://schemas.microsoft.com/office/powerpoint/2010/main" val="28546282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&amp; Experiences</a:t>
            </a:r>
            <a:endParaRPr lang="en-US" dirty="0"/>
          </a:p>
        </p:txBody>
      </p:sp>
      <p:sp>
        <p:nvSpPr>
          <p:cNvPr id="3" name="Content Placeholder 2"/>
          <p:cNvSpPr>
            <a:spLocks noGrp="1"/>
          </p:cNvSpPr>
          <p:nvPr>
            <p:ph idx="1"/>
          </p:nvPr>
        </p:nvSpPr>
        <p:spPr/>
        <p:txBody>
          <a:bodyPr>
            <a:normAutofit lnSpcReduction="10000"/>
          </a:bodyPr>
          <a:lstStyle/>
          <a:p>
            <a:r>
              <a:rPr lang="en-US" dirty="0" smtClean="0"/>
              <a:t>#</a:t>
            </a:r>
            <a:r>
              <a:rPr lang="en-US" dirty="0"/>
              <a:t>1: HW is simply one side of the coin; SW is the other </a:t>
            </a:r>
            <a:r>
              <a:rPr lang="en-US" dirty="0" smtClean="0"/>
              <a:t>side.</a:t>
            </a:r>
          </a:p>
          <a:p>
            <a:r>
              <a:rPr lang="en-US" dirty="0" smtClean="0"/>
              <a:t>#</a:t>
            </a:r>
            <a:r>
              <a:rPr lang="en-US" dirty="0" smtClean="0"/>
              <a:t>2: </a:t>
            </a:r>
            <a:r>
              <a:rPr lang="en-US" dirty="0"/>
              <a:t>The leap from prototype to </a:t>
            </a:r>
            <a:r>
              <a:rPr lang="en-US" dirty="0" smtClean="0"/>
              <a:t>production.</a:t>
            </a:r>
          </a:p>
          <a:p>
            <a:r>
              <a:rPr lang="en-US" dirty="0" smtClean="0"/>
              <a:t>#</a:t>
            </a:r>
            <a:r>
              <a:rPr lang="en-US" dirty="0" smtClean="0"/>
              <a:t>3: </a:t>
            </a:r>
            <a:r>
              <a:rPr lang="en-US" dirty="0"/>
              <a:t>Millions of lines of legacy </a:t>
            </a:r>
            <a:r>
              <a:rPr lang="en-US" dirty="0" smtClean="0"/>
              <a:t>code.</a:t>
            </a:r>
          </a:p>
          <a:p>
            <a:r>
              <a:rPr lang="en-US" dirty="0" smtClean="0"/>
              <a:t>#</a:t>
            </a:r>
            <a:r>
              <a:rPr lang="en-US" dirty="0" smtClean="0"/>
              <a:t>4: </a:t>
            </a:r>
            <a:r>
              <a:rPr lang="en-US" dirty="0"/>
              <a:t>Generalization vs. </a:t>
            </a:r>
            <a:r>
              <a:rPr lang="en-US" dirty="0" smtClean="0"/>
              <a:t>Specialization</a:t>
            </a:r>
          </a:p>
          <a:p>
            <a:r>
              <a:rPr lang="en-US" dirty="0" smtClean="0"/>
              <a:t>#5: Hardware acceleration as a service</a:t>
            </a:r>
            <a:endParaRPr lang="en-US" dirty="0" smtClean="0"/>
          </a:p>
          <a:p>
            <a:r>
              <a:rPr lang="en-US" dirty="0" smtClean="0"/>
              <a:t>#6: Software Defined X</a:t>
            </a:r>
          </a:p>
          <a:p>
            <a:r>
              <a:rPr lang="en-US" dirty="0" smtClean="0"/>
              <a:t>#7: Energy efficiency</a:t>
            </a:r>
          </a:p>
          <a:p>
            <a:r>
              <a:rPr lang="en-US" dirty="0" smtClean="0"/>
              <a:t>#8: Security</a:t>
            </a:r>
            <a:endParaRPr lang="en-US" dirty="0" smtClean="0"/>
          </a:p>
        </p:txBody>
      </p:sp>
      <p:sp>
        <p:nvSpPr>
          <p:cNvPr id="6" name="Slide Number Placeholder 5"/>
          <p:cNvSpPr>
            <a:spLocks noGrp="1"/>
          </p:cNvSpPr>
          <p:nvPr>
            <p:ph type="sldNum" sz="quarter" idx="12"/>
          </p:nvPr>
        </p:nvSpPr>
        <p:spPr/>
        <p:txBody>
          <a:bodyPr/>
          <a:lstStyle/>
          <a:p>
            <a:fld id="{CF3AA28E-4FBA-4D61-9F52-ADB8A8EEB828}" type="slidenum">
              <a:rPr lang="en-US" smtClean="0"/>
              <a:t>12</a:t>
            </a:fld>
            <a:endParaRPr lang="en-US"/>
          </a:p>
        </p:txBody>
      </p:sp>
    </p:spTree>
    <p:extLst>
      <p:ext uri="{BB962C8B-B14F-4D97-AF65-F5344CB8AC3E}">
        <p14:creationId xmlns:p14="http://schemas.microsoft.com/office/powerpoint/2010/main" val="5859279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Challenge #1: HW is simply one side of the coin; SW is the other side.</a:t>
            </a:r>
            <a:endParaRPr lang="en-US" dirty="0"/>
          </a:p>
        </p:txBody>
      </p:sp>
      <p:sp>
        <p:nvSpPr>
          <p:cNvPr id="3" name="Content Placeholder 2"/>
          <p:cNvSpPr>
            <a:spLocks noGrp="1"/>
          </p:cNvSpPr>
          <p:nvPr>
            <p:ph idx="1"/>
          </p:nvPr>
        </p:nvSpPr>
        <p:spPr/>
        <p:txBody>
          <a:bodyPr>
            <a:normAutofit/>
          </a:bodyPr>
          <a:lstStyle/>
          <a:p>
            <a:r>
              <a:rPr lang="en-US" dirty="0" smtClean="0"/>
              <a:t>Parallel algorithmic design</a:t>
            </a:r>
          </a:p>
          <a:p>
            <a:pPr lvl="1"/>
            <a:r>
              <a:rPr lang="en-US" dirty="0" smtClean="0"/>
              <a:t>Revisit existing parallel algorithm and develop new algorithm.</a:t>
            </a:r>
          </a:p>
          <a:p>
            <a:pPr lvl="1"/>
            <a:r>
              <a:rPr lang="en-US" dirty="0" smtClean="0"/>
              <a:t>Running a large task in parallel vs. running many small tasks in parallel</a:t>
            </a:r>
          </a:p>
          <a:p>
            <a:r>
              <a:rPr lang="en-US" dirty="0" smtClean="0"/>
              <a:t>Hardware features</a:t>
            </a:r>
          </a:p>
          <a:p>
            <a:pPr lvl="1"/>
            <a:r>
              <a:rPr lang="en-US" dirty="0" smtClean="0"/>
              <a:t>GPU: shared memory, cache, constant memory etc.</a:t>
            </a:r>
          </a:p>
          <a:p>
            <a:pPr lvl="1"/>
            <a:r>
              <a:rPr lang="en-US" dirty="0" smtClean="0"/>
              <a:t>FPGA: local memory, pipeline, pipe etc.</a:t>
            </a:r>
          </a:p>
          <a:p>
            <a:r>
              <a:rPr lang="en-US" dirty="0" smtClean="0"/>
              <a:t>Architecture-aware software system design can make a big difference. </a:t>
            </a:r>
          </a:p>
          <a:p>
            <a:pPr lvl="1"/>
            <a:endParaRPr lang="en-US" dirty="0"/>
          </a:p>
          <a:p>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13</a:t>
            </a:fld>
            <a:endParaRPr lang="en-US"/>
          </a:p>
        </p:txBody>
      </p:sp>
    </p:spTree>
    <p:extLst>
      <p:ext uri="{BB962C8B-B14F-4D97-AF65-F5344CB8AC3E}">
        <p14:creationId xmlns:p14="http://schemas.microsoft.com/office/powerpoint/2010/main" val="24982508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Experiences in GPGPU-based Data Management Systems</a:t>
            </a:r>
            <a:endParaRPr lang="en-SG" dirty="0"/>
          </a:p>
        </p:txBody>
      </p:sp>
      <p:sp>
        <p:nvSpPr>
          <p:cNvPr id="4" name="Oval 3"/>
          <p:cNvSpPr/>
          <p:nvPr/>
        </p:nvSpPr>
        <p:spPr>
          <a:xfrm>
            <a:off x="838200" y="17526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5" name="TextBox 4"/>
          <p:cNvSpPr txBox="1"/>
          <p:nvPr/>
        </p:nvSpPr>
        <p:spPr>
          <a:xfrm>
            <a:off x="152400" y="1965418"/>
            <a:ext cx="1842600" cy="923330"/>
          </a:xfrm>
          <a:prstGeom prst="rect">
            <a:avLst/>
          </a:prstGeom>
          <a:noFill/>
        </p:spPr>
        <p:txBody>
          <a:bodyPr wrap="square" rtlCol="0">
            <a:spAutoFit/>
          </a:bodyPr>
          <a:lstStyle/>
          <a:p>
            <a:r>
              <a:rPr lang="en-US" dirty="0" smtClean="0"/>
              <a:t>CUDA was released in Feb. 2007</a:t>
            </a:r>
            <a:endParaRPr lang="en-SG" dirty="0"/>
          </a:p>
        </p:txBody>
      </p:sp>
      <p:sp>
        <p:nvSpPr>
          <p:cNvPr id="6" name="Oval 5"/>
          <p:cNvSpPr/>
          <p:nvPr/>
        </p:nvSpPr>
        <p:spPr>
          <a:xfrm>
            <a:off x="2819400" y="1748035"/>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7" name="TextBox 6"/>
          <p:cNvSpPr txBox="1"/>
          <p:nvPr/>
        </p:nvSpPr>
        <p:spPr>
          <a:xfrm>
            <a:off x="2133600" y="1944469"/>
            <a:ext cx="2228974" cy="923330"/>
          </a:xfrm>
          <a:prstGeom prst="rect">
            <a:avLst/>
          </a:prstGeom>
          <a:noFill/>
        </p:spPr>
        <p:txBody>
          <a:bodyPr wrap="square" rtlCol="0">
            <a:spAutoFit/>
          </a:bodyPr>
          <a:lstStyle/>
          <a:p>
            <a:r>
              <a:rPr lang="en-US" dirty="0" smtClean="0"/>
              <a:t>GPUQP (GDB) published in SIGMOD 2008 (“best papers”)</a:t>
            </a:r>
            <a:endParaRPr lang="en-SG" dirty="0"/>
          </a:p>
        </p:txBody>
      </p:sp>
      <p:sp>
        <p:nvSpPr>
          <p:cNvPr id="8" name="Oval 7"/>
          <p:cNvSpPr/>
          <p:nvPr/>
        </p:nvSpPr>
        <p:spPr>
          <a:xfrm>
            <a:off x="5124574" y="17526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9" name="TextBox 8"/>
          <p:cNvSpPr txBox="1"/>
          <p:nvPr/>
        </p:nvSpPr>
        <p:spPr>
          <a:xfrm>
            <a:off x="4438774" y="1965418"/>
            <a:ext cx="2228974" cy="1477328"/>
          </a:xfrm>
          <a:prstGeom prst="rect">
            <a:avLst/>
          </a:prstGeom>
          <a:noFill/>
        </p:spPr>
        <p:txBody>
          <a:bodyPr wrap="square" rtlCol="0">
            <a:spAutoFit/>
          </a:bodyPr>
          <a:lstStyle/>
          <a:p>
            <a:r>
              <a:rPr lang="en-US" dirty="0" smtClean="0"/>
              <a:t>Mars (GPU-based MapReduce) published in PACT 2008 (2</a:t>
            </a:r>
            <a:r>
              <a:rPr lang="en-US" baseline="30000" dirty="0" smtClean="0"/>
              <a:t>nd</a:t>
            </a:r>
            <a:r>
              <a:rPr lang="en-US" dirty="0" smtClean="0"/>
              <a:t> top cited paper in PACT)*</a:t>
            </a:r>
            <a:endParaRPr lang="en-SG" dirty="0"/>
          </a:p>
        </p:txBody>
      </p:sp>
      <p:cxnSp>
        <p:nvCxnSpPr>
          <p:cNvPr id="11" name="Straight Arrow Connector 10"/>
          <p:cNvCxnSpPr>
            <a:stCxn id="4" idx="6"/>
            <a:endCxn id="6" idx="2"/>
          </p:cNvCxnSpPr>
          <p:nvPr/>
        </p:nvCxnSpPr>
        <p:spPr>
          <a:xfrm flipV="1">
            <a:off x="1018200" y="1838035"/>
            <a:ext cx="1801200" cy="4565"/>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6"/>
            <a:endCxn id="8" idx="2"/>
          </p:cNvCxnSpPr>
          <p:nvPr/>
        </p:nvCxnSpPr>
        <p:spPr>
          <a:xfrm>
            <a:off x="2999400" y="1838035"/>
            <a:ext cx="2125174" cy="4565"/>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7315200" y="1758448"/>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17" name="TextBox 16"/>
          <p:cNvSpPr txBox="1"/>
          <p:nvPr/>
        </p:nvSpPr>
        <p:spPr>
          <a:xfrm>
            <a:off x="6629400" y="1971266"/>
            <a:ext cx="2228974" cy="1200329"/>
          </a:xfrm>
          <a:prstGeom prst="rect">
            <a:avLst/>
          </a:prstGeom>
          <a:noFill/>
        </p:spPr>
        <p:txBody>
          <a:bodyPr wrap="square" rtlCol="0">
            <a:spAutoFit/>
          </a:bodyPr>
          <a:lstStyle/>
          <a:p>
            <a:r>
              <a:rPr lang="en-US" dirty="0" smtClean="0"/>
              <a:t>Mars has been extended to AMD GPU and Hadoop (TPDS10)</a:t>
            </a:r>
            <a:endParaRPr lang="en-SG" dirty="0"/>
          </a:p>
        </p:txBody>
      </p:sp>
      <p:cxnSp>
        <p:nvCxnSpPr>
          <p:cNvPr id="18" name="Straight Arrow Connector 17"/>
          <p:cNvCxnSpPr>
            <a:stCxn id="8" idx="6"/>
            <a:endCxn id="16" idx="2"/>
          </p:cNvCxnSpPr>
          <p:nvPr/>
        </p:nvCxnSpPr>
        <p:spPr>
          <a:xfrm>
            <a:off x="5304574" y="1842600"/>
            <a:ext cx="2010626" cy="5848"/>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7296026" y="3997053"/>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21" name="TextBox 20"/>
          <p:cNvSpPr txBox="1"/>
          <p:nvPr/>
        </p:nvSpPr>
        <p:spPr>
          <a:xfrm>
            <a:off x="6610226" y="4133671"/>
            <a:ext cx="2228974" cy="1200329"/>
          </a:xfrm>
          <a:prstGeom prst="rect">
            <a:avLst/>
          </a:prstGeom>
          <a:noFill/>
        </p:spPr>
        <p:txBody>
          <a:bodyPr wrap="square" rtlCol="0">
            <a:spAutoFit/>
          </a:bodyPr>
          <a:lstStyle/>
          <a:p>
            <a:r>
              <a:rPr lang="en-US" dirty="0" smtClean="0"/>
              <a:t>GDB supports compressed column-based processing (VLDB10)</a:t>
            </a:r>
            <a:endParaRPr lang="en-SG" dirty="0"/>
          </a:p>
        </p:txBody>
      </p:sp>
      <p:cxnSp>
        <p:nvCxnSpPr>
          <p:cNvPr id="27" name="Elbow Connector 26"/>
          <p:cNvCxnSpPr>
            <a:stCxn id="16" idx="6"/>
            <a:endCxn id="20" idx="6"/>
          </p:cNvCxnSpPr>
          <p:nvPr/>
        </p:nvCxnSpPr>
        <p:spPr>
          <a:xfrm flipH="1">
            <a:off x="7476026" y="1848448"/>
            <a:ext cx="19174" cy="2238605"/>
          </a:xfrm>
          <a:prstGeom prst="bentConnector3">
            <a:avLst>
              <a:gd name="adj1" fmla="val -5594352"/>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2971800" y="3976146"/>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32" name="TextBox 31"/>
          <p:cNvSpPr txBox="1"/>
          <p:nvPr/>
        </p:nvSpPr>
        <p:spPr>
          <a:xfrm>
            <a:off x="2286000" y="4153795"/>
            <a:ext cx="2076574" cy="1754326"/>
          </a:xfrm>
          <a:prstGeom prst="rect">
            <a:avLst/>
          </a:prstGeom>
          <a:noFill/>
        </p:spPr>
        <p:txBody>
          <a:bodyPr wrap="square" rtlCol="0">
            <a:spAutoFit/>
          </a:bodyPr>
          <a:lstStyle/>
          <a:p>
            <a:r>
              <a:rPr lang="en-US" dirty="0" smtClean="0"/>
              <a:t>Medusa: GPU-based graph processing (TPDS13/14, VLDB13 best demo, CloudCom13)</a:t>
            </a:r>
            <a:endParaRPr lang="en-SG" dirty="0"/>
          </a:p>
        </p:txBody>
      </p:sp>
      <p:cxnSp>
        <p:nvCxnSpPr>
          <p:cNvPr id="33" name="Straight Arrow Connector 32"/>
          <p:cNvCxnSpPr>
            <a:endCxn id="31" idx="6"/>
          </p:cNvCxnSpPr>
          <p:nvPr/>
        </p:nvCxnSpPr>
        <p:spPr>
          <a:xfrm flipH="1">
            <a:off x="3151800" y="4065630"/>
            <a:ext cx="1953600" cy="51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10600" y="3962400"/>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37" name="TextBox 36"/>
          <p:cNvSpPr txBox="1"/>
          <p:nvPr/>
        </p:nvSpPr>
        <p:spPr>
          <a:xfrm>
            <a:off x="133226" y="4140049"/>
            <a:ext cx="2152774" cy="2031325"/>
          </a:xfrm>
          <a:prstGeom prst="rect">
            <a:avLst/>
          </a:prstGeom>
          <a:noFill/>
        </p:spPr>
        <p:txBody>
          <a:bodyPr wrap="square" rtlCol="0">
            <a:spAutoFit/>
          </a:bodyPr>
          <a:lstStyle/>
          <a:p>
            <a:r>
              <a:rPr lang="en-US" dirty="0" err="1" smtClean="0"/>
              <a:t>OmniDB</a:t>
            </a:r>
            <a:r>
              <a:rPr lang="en-US" dirty="0" smtClean="0"/>
              <a:t>: relational database on coupled CPU/GPU architectures (VLDB’13/14/15, SIGMOD 16, VLDB’13 demo,…)</a:t>
            </a:r>
            <a:endParaRPr lang="en-SG" dirty="0"/>
          </a:p>
        </p:txBody>
      </p:sp>
      <p:cxnSp>
        <p:nvCxnSpPr>
          <p:cNvPr id="38" name="Straight Arrow Connector 37"/>
          <p:cNvCxnSpPr>
            <a:stCxn id="31" idx="2"/>
            <a:endCxn id="36" idx="6"/>
          </p:cNvCxnSpPr>
          <p:nvPr/>
        </p:nvCxnSpPr>
        <p:spPr>
          <a:xfrm flipH="1" flipV="1">
            <a:off x="990600" y="4052400"/>
            <a:ext cx="1981200" cy="1374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5105400" y="3983823"/>
            <a:ext cx="180000" cy="18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solidFill>
                <a:schemeClr val="tx1">
                  <a:lumMod val="95000"/>
                  <a:lumOff val="5000"/>
                </a:schemeClr>
              </a:solidFill>
            </a:endParaRPr>
          </a:p>
        </p:txBody>
      </p:sp>
      <p:sp>
        <p:nvSpPr>
          <p:cNvPr id="41" name="TextBox 40"/>
          <p:cNvSpPr txBox="1"/>
          <p:nvPr/>
        </p:nvSpPr>
        <p:spPr>
          <a:xfrm>
            <a:off x="4419600" y="4161472"/>
            <a:ext cx="2228974" cy="923330"/>
          </a:xfrm>
          <a:prstGeom prst="rect">
            <a:avLst/>
          </a:prstGeom>
          <a:noFill/>
        </p:spPr>
        <p:txBody>
          <a:bodyPr wrap="square" rtlCol="0">
            <a:spAutoFit/>
          </a:bodyPr>
          <a:lstStyle/>
          <a:p>
            <a:r>
              <a:rPr lang="en-US" dirty="0" smtClean="0"/>
              <a:t>Transaction executions on GDB (VLDB11)</a:t>
            </a:r>
            <a:endParaRPr lang="en-SG" dirty="0"/>
          </a:p>
        </p:txBody>
      </p:sp>
      <p:cxnSp>
        <p:nvCxnSpPr>
          <p:cNvPr id="42" name="Straight Arrow Connector 41"/>
          <p:cNvCxnSpPr>
            <a:endCxn id="40" idx="6"/>
          </p:cNvCxnSpPr>
          <p:nvPr/>
        </p:nvCxnSpPr>
        <p:spPr>
          <a:xfrm flipH="1">
            <a:off x="5285400" y="4073307"/>
            <a:ext cx="1953600" cy="516"/>
          </a:xfrm>
          <a:prstGeom prst="straightConnector1">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0" name="Slide Number Placeholder 9"/>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Box 2"/>
          <p:cNvSpPr txBox="1"/>
          <p:nvPr/>
        </p:nvSpPr>
        <p:spPr>
          <a:xfrm>
            <a:off x="4714147" y="5506988"/>
            <a:ext cx="3538601" cy="1200329"/>
          </a:xfrm>
          <a:prstGeom prst="rect">
            <a:avLst/>
          </a:prstGeom>
          <a:noFill/>
        </p:spPr>
        <p:txBody>
          <a:bodyPr wrap="square" rtlCol="0">
            <a:spAutoFit/>
          </a:bodyPr>
          <a:lstStyle/>
          <a:p>
            <a:r>
              <a:rPr lang="en-US" dirty="0" smtClean="0">
                <a:solidFill>
                  <a:srgbClr val="FF0000"/>
                </a:solidFill>
                <a:latin typeface="Comic Sans MS" panose="030F0702030302020204" pitchFamily="66" charset="0"/>
              </a:rPr>
              <a:t>Example speedup over 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OLAP: 2-7X (vs. one 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OLTP: </a:t>
            </a:r>
            <a:r>
              <a:rPr lang="en-US" dirty="0">
                <a:solidFill>
                  <a:srgbClr val="FF0000"/>
                </a:solidFill>
                <a:latin typeface="Comic Sans MS" panose="030F0702030302020204" pitchFamily="66" charset="0"/>
              </a:rPr>
              <a:t>4-10X (vs. one </a:t>
            </a:r>
            <a:r>
              <a:rPr lang="en-US" dirty="0" smtClean="0">
                <a:solidFill>
                  <a:srgbClr val="FF0000"/>
                </a:solidFill>
                <a:latin typeface="Comic Sans MS" panose="030F0702030302020204" pitchFamily="66" charset="0"/>
              </a:rPr>
              <a:t>CPU)</a:t>
            </a:r>
          </a:p>
          <a:p>
            <a:pPr marL="285750" indent="-285750">
              <a:buFont typeface="Arial" panose="020B0604020202020204" pitchFamily="34" charset="0"/>
              <a:buChar char="•"/>
            </a:pPr>
            <a:r>
              <a:rPr lang="en-US" dirty="0" smtClean="0">
                <a:solidFill>
                  <a:srgbClr val="FF0000"/>
                </a:solidFill>
                <a:latin typeface="Comic Sans MS" panose="030F0702030302020204" pitchFamily="66" charset="0"/>
              </a:rPr>
              <a:t>Graph: 5.5X </a:t>
            </a:r>
            <a:r>
              <a:rPr lang="en-US" dirty="0">
                <a:solidFill>
                  <a:srgbClr val="FF0000"/>
                </a:solidFill>
                <a:latin typeface="Comic Sans MS" panose="030F0702030302020204" pitchFamily="66" charset="0"/>
              </a:rPr>
              <a:t>(vs. two </a:t>
            </a:r>
            <a:r>
              <a:rPr lang="en-US" dirty="0" smtClean="0">
                <a:solidFill>
                  <a:srgbClr val="FF0000"/>
                </a:solidFill>
                <a:latin typeface="Comic Sans MS" panose="030F0702030302020204" pitchFamily="66" charset="0"/>
              </a:rPr>
              <a:t>CPUs)</a:t>
            </a:r>
            <a:endParaRPr lang="en-US"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16213523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#2: </a:t>
            </a:r>
            <a:r>
              <a:rPr lang="en-US" dirty="0"/>
              <a:t>The leap from prototype to production</a:t>
            </a:r>
          </a:p>
        </p:txBody>
      </p:sp>
      <p:sp>
        <p:nvSpPr>
          <p:cNvPr id="3" name="Content Placeholder 2"/>
          <p:cNvSpPr>
            <a:spLocks noGrp="1"/>
          </p:cNvSpPr>
          <p:nvPr>
            <p:ph idx="1"/>
          </p:nvPr>
        </p:nvSpPr>
        <p:spPr>
          <a:xfrm>
            <a:off x="628650" y="1825625"/>
            <a:ext cx="7886700" cy="4826000"/>
          </a:xfrm>
        </p:spPr>
        <p:txBody>
          <a:bodyPr>
            <a:normAutofit lnSpcReduction="10000"/>
          </a:bodyPr>
          <a:lstStyle/>
          <a:p>
            <a:r>
              <a:rPr lang="en-US" dirty="0" smtClean="0"/>
              <a:t>Many research papers demonstrate that the speedup of GPU/FPGA can reach 10-100X. </a:t>
            </a:r>
          </a:p>
          <a:p>
            <a:r>
              <a:rPr lang="en-US" dirty="0" smtClean="0"/>
              <a:t>Still, GPU/FPGA has rather limited adoptions in production environments (although increasingly more).</a:t>
            </a:r>
          </a:p>
          <a:p>
            <a:r>
              <a:rPr lang="en-US" dirty="0" smtClean="0"/>
              <a:t>Why?</a:t>
            </a:r>
          </a:p>
          <a:p>
            <a:pPr lvl="1"/>
            <a:r>
              <a:rPr lang="en-US" dirty="0" smtClean="0"/>
              <a:t>Hardware: power supply budget, space, costs,…</a:t>
            </a:r>
          </a:p>
          <a:p>
            <a:pPr lvl="1"/>
            <a:r>
              <a:rPr lang="en-US" dirty="0" smtClean="0"/>
              <a:t>Software: software maintenance, reliability, manpower expertise, sharing, virtualization ….</a:t>
            </a:r>
          </a:p>
          <a:p>
            <a:pPr lvl="1"/>
            <a:r>
              <a:rPr lang="en-US" dirty="0" smtClean="0"/>
              <a:t>Workload: deep learning, database </a:t>
            </a:r>
            <a:r>
              <a:rPr lang="is-IS" dirty="0" smtClean="0"/>
              <a:t>…</a:t>
            </a:r>
          </a:p>
          <a:p>
            <a:r>
              <a:rPr lang="is-IS" dirty="0" smtClean="0"/>
              <a:t>Besides algorithmic innovation, various system aspects have to be addressed.</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15</a:t>
            </a:fld>
            <a:endParaRPr lang="en-US"/>
          </a:p>
        </p:txBody>
      </p:sp>
    </p:spTree>
    <p:extLst>
      <p:ext uri="{BB962C8B-B14F-4D97-AF65-F5344CB8AC3E}">
        <p14:creationId xmlns:p14="http://schemas.microsoft.com/office/powerpoint/2010/main" val="40264650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Experiences in Addressing Practical Issues of GPU Computing</a:t>
            </a:r>
            <a:endParaRPr lang="en-US" dirty="0"/>
          </a:p>
        </p:txBody>
      </p:sp>
      <p:sp>
        <p:nvSpPr>
          <p:cNvPr id="3" name="Content Placeholder 2"/>
          <p:cNvSpPr>
            <a:spLocks noGrp="1"/>
          </p:cNvSpPr>
          <p:nvPr>
            <p:ph idx="1"/>
          </p:nvPr>
        </p:nvSpPr>
        <p:spPr/>
        <p:txBody>
          <a:bodyPr/>
          <a:lstStyle/>
          <a:p>
            <a:r>
              <a:rPr lang="en-US" dirty="0" smtClean="0"/>
              <a:t>PCI-e bus via data compressions</a:t>
            </a:r>
          </a:p>
          <a:p>
            <a:pPr lvl="1"/>
            <a:r>
              <a:rPr lang="en-US" dirty="0"/>
              <a:t> </a:t>
            </a:r>
            <a:r>
              <a:rPr lang="en-US" dirty="0" smtClean="0"/>
              <a:t>Database compressions on column-based databases [VLDB2010]</a:t>
            </a:r>
          </a:p>
          <a:p>
            <a:r>
              <a:rPr lang="en-US" dirty="0" smtClean="0"/>
              <a:t>Concurrent kernel executions</a:t>
            </a:r>
          </a:p>
          <a:p>
            <a:pPr lvl="1"/>
            <a:r>
              <a:rPr lang="en-US" dirty="0" smtClean="0"/>
              <a:t>Resource complementary kernel co-scheduling [TPDS 2014]</a:t>
            </a:r>
          </a:p>
          <a:p>
            <a:r>
              <a:rPr lang="en-US" dirty="0" smtClean="0"/>
              <a:t>GPU virtualizations</a:t>
            </a:r>
          </a:p>
          <a:p>
            <a:pPr lvl="1"/>
            <a:r>
              <a:rPr lang="en-US" dirty="0" smtClean="0"/>
              <a:t>Gaming virtualization [USENIX ATC 2016]</a:t>
            </a:r>
          </a:p>
          <a:p>
            <a:r>
              <a:rPr lang="en-US" dirty="0" smtClean="0"/>
              <a:t>Minimizing data flow overhead among processors</a:t>
            </a:r>
          </a:p>
          <a:p>
            <a:pPr lvl="1"/>
            <a:r>
              <a:rPr lang="en-US" dirty="0" smtClean="0"/>
              <a:t>Pipeline execution [SIGMOD 2016]</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16</a:t>
            </a:fld>
            <a:endParaRPr lang="en-US"/>
          </a:p>
        </p:txBody>
      </p:sp>
    </p:spTree>
    <p:extLst>
      <p:ext uri="{BB962C8B-B14F-4D97-AF65-F5344CB8AC3E}">
        <p14:creationId xmlns:p14="http://schemas.microsoft.com/office/powerpoint/2010/main" val="2110082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or Perf per $, or Perf per Joule?</a:t>
            </a:r>
            <a:endParaRPr lang="en-SG"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6610" y="1825625"/>
            <a:ext cx="6830779" cy="4351338"/>
          </a:xfrm>
        </p:spPr>
      </p:pic>
      <p:sp>
        <p:nvSpPr>
          <p:cNvPr id="4" name="Slide Number Placeholder 3"/>
          <p:cNvSpPr>
            <a:spLocks noGrp="1"/>
          </p:cNvSpPr>
          <p:nvPr>
            <p:ph type="sldNum" sz="quarter" idx="12"/>
          </p:nvPr>
        </p:nvSpPr>
        <p:spPr/>
        <p:txBody>
          <a:bodyPr/>
          <a:lstStyle/>
          <a:p>
            <a:fld id="{CF3AA28E-4FBA-4D61-9F52-ADB8A8EEB828}" type="slidenum">
              <a:rPr lang="en-US" smtClean="0"/>
              <a:t>17</a:t>
            </a:fld>
            <a:endParaRPr lang="en-US"/>
          </a:p>
        </p:txBody>
      </p:sp>
      <p:sp>
        <p:nvSpPr>
          <p:cNvPr id="5" name="Rectangle 4"/>
          <p:cNvSpPr/>
          <p:nvPr/>
        </p:nvSpPr>
        <p:spPr>
          <a:xfrm>
            <a:off x="-1" y="6121311"/>
            <a:ext cx="7944465" cy="646331"/>
          </a:xfrm>
          <a:prstGeom prst="rect">
            <a:avLst/>
          </a:prstGeom>
        </p:spPr>
        <p:txBody>
          <a:bodyPr wrap="square">
            <a:spAutoFit/>
          </a:bodyPr>
          <a:lstStyle/>
          <a:p>
            <a:r>
              <a:rPr lang="en-SG" dirty="0"/>
              <a:t>Kai Zhang^, </a:t>
            </a:r>
            <a:r>
              <a:rPr lang="en-SG" dirty="0" err="1"/>
              <a:t>Jiayu</a:t>
            </a:r>
            <a:r>
              <a:rPr lang="en-SG" dirty="0"/>
              <a:t> Hu, </a:t>
            </a:r>
            <a:r>
              <a:rPr lang="en-SG" dirty="0" err="1"/>
              <a:t>Bingsheng</a:t>
            </a:r>
            <a:r>
              <a:rPr lang="en-SG" dirty="0"/>
              <a:t> He, </a:t>
            </a:r>
            <a:r>
              <a:rPr lang="en-SG" dirty="0" err="1"/>
              <a:t>Bei</a:t>
            </a:r>
            <a:r>
              <a:rPr lang="en-SG" dirty="0"/>
              <a:t> Hua. DIDO: Dynamic Pipelines for In-Memory Key-Value Stores on Coupled CPU-GPU Architectures. ICDE 2017.</a:t>
            </a:r>
          </a:p>
        </p:txBody>
      </p:sp>
    </p:spTree>
    <p:extLst>
      <p:ext uri="{BB962C8B-B14F-4D97-AF65-F5344CB8AC3E}">
        <p14:creationId xmlns:p14="http://schemas.microsoft.com/office/powerpoint/2010/main" val="30262466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#3: Millions of lines of legacy code</a:t>
            </a:r>
            <a:endParaRPr lang="en-US" dirty="0"/>
          </a:p>
        </p:txBody>
      </p:sp>
      <p:sp>
        <p:nvSpPr>
          <p:cNvPr id="3" name="Content Placeholder 2"/>
          <p:cNvSpPr>
            <a:spLocks noGrp="1"/>
          </p:cNvSpPr>
          <p:nvPr>
            <p:ph idx="1"/>
          </p:nvPr>
        </p:nvSpPr>
        <p:spPr/>
        <p:txBody>
          <a:bodyPr>
            <a:normAutofit fontScale="92500"/>
          </a:bodyPr>
          <a:lstStyle/>
          <a:p>
            <a:r>
              <a:rPr lang="en-US" dirty="0" smtClean="0"/>
              <a:t>Our legacy software systems are monsters</a:t>
            </a:r>
          </a:p>
          <a:p>
            <a:pPr lvl="1"/>
            <a:r>
              <a:rPr lang="en-US" dirty="0" smtClean="0"/>
              <a:t>National labs have MPI programs of millions of code lines.</a:t>
            </a:r>
          </a:p>
          <a:p>
            <a:pPr lvl="1"/>
            <a:r>
              <a:rPr lang="en-US" dirty="0"/>
              <a:t>Google’s Internet </a:t>
            </a:r>
            <a:r>
              <a:rPr lang="en-US" dirty="0" smtClean="0"/>
              <a:t>services </a:t>
            </a:r>
            <a:r>
              <a:rPr lang="en-US" dirty="0"/>
              <a:t>spans some 2 billion lines of </a:t>
            </a:r>
            <a:r>
              <a:rPr lang="en-US" dirty="0" smtClean="0"/>
              <a:t>code.</a:t>
            </a:r>
          </a:p>
          <a:p>
            <a:pPr lvl="1"/>
            <a:r>
              <a:rPr lang="en-US" dirty="0"/>
              <a:t>Microsoft’s Windows operating system has around 50 million lines</a:t>
            </a:r>
            <a:r>
              <a:rPr lang="en-US" dirty="0" smtClean="0"/>
              <a:t>.</a:t>
            </a:r>
          </a:p>
          <a:p>
            <a:pPr lvl="1"/>
            <a:r>
              <a:rPr lang="en-US" dirty="0" smtClean="0"/>
              <a:t>Other younger ones: Hadoop 2millions, Spark 0.9 million, MySQL 2.7 millions…</a:t>
            </a:r>
          </a:p>
          <a:p>
            <a:r>
              <a:rPr lang="en-US" dirty="0" smtClean="0"/>
              <a:t>The reality is, “write once, reuse till many </a:t>
            </a:r>
            <a:r>
              <a:rPr lang="en-US" dirty="0" err="1" smtClean="0"/>
              <a:t>many</a:t>
            </a:r>
            <a:r>
              <a:rPr lang="en-US" dirty="0" smtClean="0"/>
              <a:t> times”.</a:t>
            </a:r>
          </a:p>
          <a:p>
            <a:r>
              <a:rPr lang="en-US" dirty="0" smtClean="0"/>
              <a:t>The research on automatic parallel optimizer is dead.</a:t>
            </a:r>
          </a:p>
          <a:p>
            <a:r>
              <a:rPr lang="en-US" dirty="0" smtClean="0"/>
              <a:t>(Semi-)Automated tools are needed to resolve the pain points.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18</a:t>
            </a:fld>
            <a:endParaRPr lang="en-US"/>
          </a:p>
        </p:txBody>
      </p:sp>
    </p:spTree>
    <p:extLst>
      <p:ext uri="{BB962C8B-B14F-4D97-AF65-F5344CB8AC3E}">
        <p14:creationId xmlns:p14="http://schemas.microsoft.com/office/powerpoint/2010/main" val="288461604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“Architectural Evolution” of FPGA (Field Programmable Gate Arrays)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09880"/>
            <a:ext cx="6881814" cy="42269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TextBox 4"/>
          <p:cNvSpPr txBox="1"/>
          <p:nvPr/>
        </p:nvSpPr>
        <p:spPr>
          <a:xfrm>
            <a:off x="609600" y="5908238"/>
            <a:ext cx="8241359" cy="646331"/>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Hardware centric</a:t>
            </a:r>
          </a:p>
          <a:p>
            <a:pPr marL="285750" indent="-285750">
              <a:buFont typeface="Arial" charset="0"/>
              <a:buChar char="•"/>
            </a:pPr>
            <a:r>
              <a:rPr lang="en-US" dirty="0" smtClean="0">
                <a:solidFill>
                  <a:srgbClr val="FF0000"/>
                </a:solidFill>
                <a:latin typeface="Comic Sans MS" panose="030F0702030302020204" pitchFamily="66" charset="0"/>
              </a:rPr>
              <a:t>Users need to program with low-level hardware description languages. </a:t>
            </a:r>
            <a:r>
              <a:rPr lang="en-US" dirty="0" smtClean="0">
                <a:solidFill>
                  <a:srgbClr val="FF0000"/>
                </a:solidFill>
                <a:latin typeface="Comic Sans MS" panose="030F0702030302020204" pitchFamily="66" charset="0"/>
                <a:sym typeface="Wingdings" panose="05000000000000000000" pitchFamily="2" charset="2"/>
              </a:rPr>
              <a:t></a:t>
            </a:r>
            <a:endParaRPr lang="en-US" dirty="0">
              <a:solidFill>
                <a:srgbClr val="FF0000"/>
              </a:solidFill>
              <a:latin typeface="Comic Sans MS" panose="030F0702030302020204" pitchFamily="66" charset="0"/>
            </a:endParaRPr>
          </a:p>
        </p:txBody>
      </p:sp>
    </p:spTree>
    <p:extLst>
      <p:ext uri="{BB962C8B-B14F-4D97-AF65-F5344CB8AC3E}">
        <p14:creationId xmlns:p14="http://schemas.microsoft.com/office/powerpoint/2010/main" val="23212670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“Architectural Evolution” of FPGAs: From OpenCL’s Perspective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TextBox 4"/>
          <p:cNvSpPr txBox="1"/>
          <p:nvPr/>
        </p:nvSpPr>
        <p:spPr>
          <a:xfrm>
            <a:off x="609600" y="5908238"/>
            <a:ext cx="7209025" cy="646331"/>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Software centric </a:t>
            </a:r>
            <a:r>
              <a:rPr lang="en-US" dirty="0" smtClean="0">
                <a:solidFill>
                  <a:srgbClr val="FF0000"/>
                </a:solidFill>
                <a:latin typeface="Comic Sans MS" panose="030F0702030302020204" pitchFamily="66" charset="0"/>
                <a:sym typeface="Wingdings" panose="05000000000000000000" pitchFamily="2" charset="2"/>
              </a:rPr>
              <a:t> FPGA is viewed as a </a:t>
            </a:r>
            <a:r>
              <a:rPr lang="en-US" smtClean="0">
                <a:solidFill>
                  <a:srgbClr val="FF0000"/>
                </a:solidFill>
                <a:latin typeface="Comic Sans MS" panose="030F0702030302020204" pitchFamily="66" charset="0"/>
                <a:sym typeface="Wingdings" panose="05000000000000000000" pitchFamily="2" charset="2"/>
              </a:rPr>
              <a:t>parallel architecture.</a:t>
            </a:r>
            <a:endParaRPr lang="en-US" dirty="0" smtClean="0">
              <a:solidFill>
                <a:srgbClr val="FF0000"/>
              </a:solidFill>
              <a:latin typeface="Comic Sans MS" panose="030F0702030302020204" pitchFamily="66" charset="0"/>
            </a:endParaRPr>
          </a:p>
          <a:p>
            <a:pPr marL="285750" indent="-285750">
              <a:buFont typeface="Arial" charset="0"/>
              <a:buChar char="•"/>
            </a:pPr>
            <a:r>
              <a:rPr lang="en-US" dirty="0" smtClean="0">
                <a:solidFill>
                  <a:srgbClr val="FF0000"/>
                </a:solidFill>
                <a:latin typeface="Comic Sans MS" panose="030F0702030302020204" pitchFamily="66" charset="0"/>
              </a:rPr>
              <a:t>Users can program with OpenCL. </a:t>
            </a:r>
            <a:r>
              <a:rPr lang="en-US" dirty="0">
                <a:solidFill>
                  <a:srgbClr val="FF0000"/>
                </a:solidFill>
                <a:latin typeface="Comic Sans MS" panose="030F0702030302020204" pitchFamily="66" charset="0"/>
                <a:sym typeface="Wingdings" panose="05000000000000000000" pitchFamily="2" charset="2"/>
              </a:rPr>
              <a:t> </a:t>
            </a:r>
            <a:r>
              <a:rPr lang="en-US" dirty="0" smtClean="0">
                <a:solidFill>
                  <a:srgbClr val="FF0000"/>
                </a:solidFill>
                <a:latin typeface="Comic Sans MS" panose="030F0702030302020204" pitchFamily="66" charset="0"/>
                <a:sym typeface="Wingdings" panose="05000000000000000000" pitchFamily="2" charset="2"/>
              </a:rPr>
              <a:t></a:t>
            </a:r>
            <a:endParaRPr lang="en-US" dirty="0">
              <a:solidFill>
                <a:srgbClr val="FF0000"/>
              </a:solidFill>
              <a:latin typeface="Comic Sans MS" panose="030F0702030302020204" pitchFamily="66"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676400"/>
            <a:ext cx="5562600" cy="391570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17012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Experiences on FPGA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123113" cy="40576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6" name="TextBox 5"/>
          <p:cNvSpPr txBox="1"/>
          <p:nvPr/>
        </p:nvSpPr>
        <p:spPr>
          <a:xfrm>
            <a:off x="609600" y="5690331"/>
            <a:ext cx="8563563" cy="923330"/>
          </a:xfrm>
          <a:prstGeom prst="rect">
            <a:avLst/>
          </a:prstGeom>
          <a:noFill/>
        </p:spPr>
        <p:txBody>
          <a:bodyPr wrap="none" rtlCol="0">
            <a:spAutoFit/>
          </a:bodyPr>
          <a:lstStyle/>
          <a:p>
            <a:pPr marL="285750" indent="-285750">
              <a:buFont typeface="Arial" charset="0"/>
              <a:buChar char="•"/>
            </a:pPr>
            <a:r>
              <a:rPr lang="en-US" dirty="0" smtClean="0">
                <a:solidFill>
                  <a:srgbClr val="FF0000"/>
                </a:solidFill>
                <a:latin typeface="Comic Sans MS" panose="030F0702030302020204" pitchFamily="66" charset="0"/>
              </a:rPr>
              <a:t>The example: K-Means</a:t>
            </a:r>
          </a:p>
          <a:p>
            <a:pPr marL="285750" indent="-285750">
              <a:buFont typeface="Arial" charset="0"/>
              <a:buChar char="•"/>
            </a:pPr>
            <a:r>
              <a:rPr lang="en-US" dirty="0" smtClean="0">
                <a:solidFill>
                  <a:srgbClr val="FF0000"/>
                </a:solidFill>
                <a:latin typeface="Comic Sans MS" panose="030F0702030302020204" pitchFamily="66" charset="0"/>
              </a:rPr>
              <a:t>Applying different combinations of optimization leads to huge performance</a:t>
            </a:r>
          </a:p>
          <a:p>
            <a:r>
              <a:rPr lang="en-US" dirty="0" smtClean="0">
                <a:solidFill>
                  <a:srgbClr val="FF0000"/>
                </a:solidFill>
                <a:latin typeface="Comic Sans MS" panose="030F0702030302020204" pitchFamily="66" charset="0"/>
              </a:rPr>
              <a:t>differences </a:t>
            </a:r>
            <a:r>
              <a:rPr lang="en-US" dirty="0" smtClean="0">
                <a:solidFill>
                  <a:srgbClr val="FF0000"/>
                </a:solidFill>
                <a:latin typeface="Comic Sans MS" panose="030F0702030302020204" pitchFamily="66" charset="0"/>
                <a:sym typeface="Wingdings" panose="05000000000000000000" pitchFamily="2" charset="2"/>
              </a:rPr>
              <a:t> Tools for optimizations are needed.</a:t>
            </a:r>
            <a:endParaRPr lang="en-US" sz="1400" dirty="0">
              <a:solidFill>
                <a:srgbClr val="FF0000"/>
              </a:solidFill>
            </a:endParaRPr>
          </a:p>
        </p:txBody>
      </p:sp>
    </p:spTree>
    <p:extLst>
      <p:ext uri="{BB962C8B-B14F-4D97-AF65-F5344CB8AC3E}">
        <p14:creationId xmlns:p14="http://schemas.microsoft.com/office/powerpoint/2010/main" val="10924392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Our Solution: Static and Dynamic Program Analysis</a:t>
            </a:r>
            <a:endParaRPr lang="en-US" dirty="0"/>
          </a:p>
        </p:txBody>
      </p:sp>
      <p:sp>
        <p:nvSpPr>
          <p:cNvPr id="3" name="Content Placeholder 2"/>
          <p:cNvSpPr>
            <a:spLocks noGrp="1"/>
          </p:cNvSpPr>
          <p:nvPr>
            <p:ph idx="1"/>
          </p:nvPr>
        </p:nvSpPr>
        <p:spPr>
          <a:xfrm>
            <a:off x="457200" y="1600200"/>
            <a:ext cx="8229600" cy="3352800"/>
          </a:xfrm>
        </p:spPr>
        <p:txBody>
          <a:bodyPr>
            <a:normAutofit fontScale="92500"/>
          </a:bodyPr>
          <a:lstStyle/>
          <a:p>
            <a:r>
              <a:rPr lang="en-US" dirty="0"/>
              <a:t>We propose a performance analysis framework to assist programmers to optimize the OpenCL program on FPGA</a:t>
            </a:r>
          </a:p>
          <a:p>
            <a:pPr lvl="1"/>
            <a:r>
              <a:rPr lang="en-US" dirty="0" smtClean="0"/>
              <a:t>Static </a:t>
            </a:r>
            <a:r>
              <a:rPr lang="en-US" dirty="0"/>
              <a:t>statistical collection on the corresponding LLVM </a:t>
            </a:r>
            <a:r>
              <a:rPr lang="en-US" dirty="0" smtClean="0"/>
              <a:t>IR code.</a:t>
            </a:r>
          </a:p>
          <a:p>
            <a:pPr lvl="1"/>
            <a:r>
              <a:rPr lang="en-US" dirty="0" smtClean="0"/>
              <a:t>Dynamic </a:t>
            </a:r>
            <a:r>
              <a:rPr lang="en-US" dirty="0"/>
              <a:t>proﬁling of the OpenCL </a:t>
            </a:r>
            <a:r>
              <a:rPr lang="en-US" dirty="0" smtClean="0"/>
              <a:t>application execution.</a:t>
            </a:r>
          </a:p>
          <a:p>
            <a:pPr lvl="1"/>
            <a:r>
              <a:rPr lang="en-US" dirty="0"/>
              <a:t>FPGA analytical </a:t>
            </a:r>
            <a:r>
              <a:rPr lang="en-US" dirty="0" smtClean="0"/>
              <a:t>model predicts </a:t>
            </a:r>
            <a:r>
              <a:rPr lang="en-US" dirty="0"/>
              <a:t>the performance of OpenCL </a:t>
            </a:r>
            <a:r>
              <a:rPr lang="en-US" dirty="0" smtClean="0"/>
              <a:t>application.</a:t>
            </a:r>
          </a:p>
          <a:p>
            <a:pPr lvl="1"/>
            <a:r>
              <a:rPr lang="en-US" dirty="0"/>
              <a:t>The performance advisor digests </a:t>
            </a:r>
            <a:r>
              <a:rPr lang="en-US" dirty="0" smtClean="0"/>
              <a:t>the model </a:t>
            </a:r>
            <a:r>
              <a:rPr lang="en-US" dirty="0"/>
              <a:t>information and provides the four potential </a:t>
            </a:r>
            <a:r>
              <a:rPr lang="en-US" dirty="0" smtClean="0"/>
              <a:t>metrics to </a:t>
            </a:r>
            <a:r>
              <a:rPr lang="en-US" dirty="0"/>
              <a:t>understand the performance </a:t>
            </a:r>
            <a:r>
              <a:rPr lang="en-US" dirty="0" smtClean="0"/>
              <a:t>bottleneck.</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4724400"/>
            <a:ext cx="9144000" cy="133636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5" name="Rectangle 4"/>
          <p:cNvSpPr/>
          <p:nvPr/>
        </p:nvSpPr>
        <p:spPr>
          <a:xfrm>
            <a:off x="533400" y="6086168"/>
            <a:ext cx="8229600" cy="646331"/>
          </a:xfrm>
          <a:prstGeom prst="rect">
            <a:avLst/>
          </a:prstGeom>
        </p:spPr>
        <p:txBody>
          <a:bodyPr wrap="square">
            <a:spAutoFit/>
          </a:bodyPr>
          <a:lstStyle/>
          <a:p>
            <a:r>
              <a:rPr lang="en-US" dirty="0" smtClean="0">
                <a:solidFill>
                  <a:srgbClr val="FF0000"/>
                </a:solidFill>
              </a:rPr>
              <a:t>Details in “Zeke </a:t>
            </a:r>
            <a:r>
              <a:rPr lang="en-US" dirty="0">
                <a:solidFill>
                  <a:srgbClr val="FF0000"/>
                </a:solidFill>
              </a:rPr>
              <a:t>Wang^, </a:t>
            </a:r>
            <a:r>
              <a:rPr lang="en-US" dirty="0" err="1">
                <a:solidFill>
                  <a:srgbClr val="FF0000"/>
                </a:solidFill>
              </a:rPr>
              <a:t>Bingsheng</a:t>
            </a:r>
            <a:r>
              <a:rPr lang="en-US" dirty="0">
                <a:solidFill>
                  <a:srgbClr val="FF0000"/>
                </a:solidFill>
              </a:rPr>
              <a:t> He, Wei Zhang, Shunning Jiang. A Performance Analysis Framework for Optimizing OpenCL Applications on FPGAs. HPCA </a:t>
            </a:r>
            <a:r>
              <a:rPr lang="en-US" dirty="0" smtClean="0">
                <a:solidFill>
                  <a:srgbClr val="FF0000"/>
                </a:solidFill>
              </a:rPr>
              <a:t>2016”</a:t>
            </a:r>
            <a:endParaRPr lang="en-US" dirty="0">
              <a:solidFill>
                <a:srgbClr val="FF0000"/>
              </a:solidFill>
            </a:endParaRPr>
          </a:p>
        </p:txBody>
      </p:sp>
    </p:spTree>
    <p:extLst>
      <p:ext uri="{BB962C8B-B14F-4D97-AF65-F5344CB8AC3E}">
        <p14:creationId xmlns:p14="http://schemas.microsoft.com/office/powerpoint/2010/main" val="1798404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 #4: Generalization vs. Specialization</a:t>
            </a:r>
            <a:endParaRPr lang="en-US" dirty="0"/>
          </a:p>
        </p:txBody>
      </p:sp>
      <p:sp>
        <p:nvSpPr>
          <p:cNvPr id="3" name="Content Placeholder 2"/>
          <p:cNvSpPr>
            <a:spLocks noGrp="1"/>
          </p:cNvSpPr>
          <p:nvPr>
            <p:ph idx="1"/>
          </p:nvPr>
        </p:nvSpPr>
        <p:spPr/>
        <p:txBody>
          <a:bodyPr/>
          <a:lstStyle/>
          <a:p>
            <a:r>
              <a:rPr lang="en-US" dirty="0" smtClean="0"/>
              <a:t>Specialized hardware</a:t>
            </a:r>
          </a:p>
          <a:p>
            <a:pPr lvl="1"/>
            <a:r>
              <a:rPr lang="en-US" dirty="0" smtClean="0"/>
              <a:t>“</a:t>
            </a:r>
            <a:r>
              <a:rPr lang="en-US" dirty="0"/>
              <a:t>SQL in Silicon” (in Oracle SPARC M7 processor) </a:t>
            </a:r>
            <a:endParaRPr lang="en-US" dirty="0" smtClean="0"/>
          </a:p>
          <a:p>
            <a:pPr lvl="1"/>
            <a:r>
              <a:rPr lang="en-US" dirty="0" smtClean="0"/>
              <a:t>Google TPU </a:t>
            </a:r>
            <a:r>
              <a:rPr lang="en-US" smtClean="0"/>
              <a:t>for deep learning</a:t>
            </a:r>
            <a:endParaRPr lang="en-US" dirty="0"/>
          </a:p>
          <a:p>
            <a:r>
              <a:rPr lang="en-US" dirty="0" smtClean="0"/>
              <a:t>Specialized software</a:t>
            </a:r>
          </a:p>
          <a:p>
            <a:pPr lvl="1"/>
            <a:r>
              <a:rPr lang="en-US" dirty="0"/>
              <a:t>System call overhead for </a:t>
            </a:r>
            <a:r>
              <a:rPr lang="en-US" dirty="0" err="1"/>
              <a:t>memcached</a:t>
            </a:r>
            <a:endParaRPr lang="en-US" dirty="0"/>
          </a:p>
          <a:p>
            <a:pPr lvl="1"/>
            <a:r>
              <a:rPr lang="en-US" dirty="0"/>
              <a:t>Layers of abstractions in OS (e.g., for NVRAM</a:t>
            </a:r>
            <a:r>
              <a:rPr lang="en-US" dirty="0" smtClean="0"/>
              <a:t>)</a:t>
            </a:r>
          </a:p>
          <a:p>
            <a:r>
              <a:rPr lang="en-US" dirty="0" smtClean="0"/>
              <a:t>A compromise is possible (but difficult to find the optimal cut between generalization and specialization).</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23</a:t>
            </a:fld>
            <a:endParaRPr lang="en-US"/>
          </a:p>
        </p:txBody>
      </p:sp>
    </p:spTree>
    <p:extLst>
      <p:ext uri="{BB962C8B-B14F-4D97-AF65-F5344CB8AC3E}">
        <p14:creationId xmlns:p14="http://schemas.microsoft.com/office/powerpoint/2010/main" val="4540531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 Portability vs. Specialization</a:t>
            </a:r>
            <a:endParaRPr lang="en-US" dirty="0"/>
          </a:p>
        </p:txBody>
      </p:sp>
      <p:sp>
        <p:nvSpPr>
          <p:cNvPr id="3" name="Content Placeholder 2"/>
          <p:cNvSpPr>
            <a:spLocks noGrp="1"/>
          </p:cNvSpPr>
          <p:nvPr>
            <p:ph idx="1"/>
          </p:nvPr>
        </p:nvSpPr>
        <p:spPr/>
        <p:txBody>
          <a:bodyPr/>
          <a:lstStyle/>
          <a:p>
            <a:r>
              <a:rPr lang="en-US" dirty="0" err="1" smtClean="0"/>
              <a:t>OmniDB</a:t>
            </a:r>
            <a:r>
              <a:rPr lang="en-US" dirty="0" smtClean="0"/>
              <a:t>: General Engine Design + Adapter to Specific Architecture</a:t>
            </a:r>
          </a:p>
          <a:p>
            <a:endParaRPr lang="en-US" dirty="0"/>
          </a:p>
          <a:p>
            <a:endParaRPr lang="en-US" dirty="0"/>
          </a:p>
        </p:txBody>
      </p:sp>
      <p:pic>
        <p:nvPicPr>
          <p:cNvPr id="4" name="Picture 3"/>
          <p:cNvPicPr>
            <a:picLocks noChangeAspect="1"/>
          </p:cNvPicPr>
          <p:nvPr/>
        </p:nvPicPr>
        <p:blipFill>
          <a:blip r:embed="rId2"/>
          <a:stretch>
            <a:fillRect/>
          </a:stretch>
        </p:blipFill>
        <p:spPr>
          <a:xfrm>
            <a:off x="1334565" y="2726418"/>
            <a:ext cx="5459327" cy="2777400"/>
          </a:xfrm>
          <a:prstGeom prst="rect">
            <a:avLst/>
          </a:prstGeom>
        </p:spPr>
      </p:pic>
      <p:sp>
        <p:nvSpPr>
          <p:cNvPr id="5" name="Rectangle 4"/>
          <p:cNvSpPr/>
          <p:nvPr/>
        </p:nvSpPr>
        <p:spPr>
          <a:xfrm>
            <a:off x="343988" y="6081445"/>
            <a:ext cx="8625840" cy="646331"/>
          </a:xfrm>
          <a:prstGeom prst="rect">
            <a:avLst/>
          </a:prstGeom>
        </p:spPr>
        <p:txBody>
          <a:bodyPr wrap="square">
            <a:spAutoFit/>
          </a:bodyPr>
          <a:lstStyle/>
          <a:p>
            <a:r>
              <a:rPr lang="en-US" sz="1200" dirty="0" err="1" smtClean="0"/>
              <a:t>Shuhao</a:t>
            </a:r>
            <a:r>
              <a:rPr lang="en-US" sz="1200" dirty="0" smtClean="0"/>
              <a:t> Zhang*, </a:t>
            </a:r>
            <a:r>
              <a:rPr lang="en-US" sz="1200" dirty="0" err="1" smtClean="0"/>
              <a:t>Jiong</a:t>
            </a:r>
            <a:r>
              <a:rPr lang="en-US" sz="1200" dirty="0" smtClean="0"/>
              <a:t> He*, Bingsheng He, </a:t>
            </a:r>
            <a:r>
              <a:rPr lang="en-US" sz="1200" dirty="0" err="1" smtClean="0"/>
              <a:t>Mian</a:t>
            </a:r>
            <a:r>
              <a:rPr lang="en-US" sz="1200" dirty="0" smtClean="0"/>
              <a:t> Lu. </a:t>
            </a:r>
            <a:r>
              <a:rPr lang="en-US" sz="1200" dirty="0" err="1" smtClean="0"/>
              <a:t>OmniDB</a:t>
            </a:r>
            <a:r>
              <a:rPr lang="en-US" sz="1200" dirty="0" smtClean="0"/>
              <a:t>: Towards Portable and Efficient Query Processing on Parallel CPU/GPU Architectures. International Conference on Very Large Data Bases (VLDB) 2013. (also published in Proceedings of the VLDB Endowment, Volume 6 Issue 10, August 2013, pages = {1—4}, system demonstration).</a:t>
            </a:r>
            <a:endParaRPr lang="en-US" sz="1200" dirty="0"/>
          </a:p>
        </p:txBody>
      </p:sp>
      <p:sp>
        <p:nvSpPr>
          <p:cNvPr id="7" name="Slide Number Placeholder 6"/>
          <p:cNvSpPr>
            <a:spLocks noGrp="1"/>
          </p:cNvSpPr>
          <p:nvPr>
            <p:ph type="sldNum" sz="quarter" idx="12"/>
          </p:nvPr>
        </p:nvSpPr>
        <p:spPr/>
        <p:txBody>
          <a:bodyPr/>
          <a:lstStyle/>
          <a:p>
            <a:fld id="{CF3AA28E-4FBA-4D61-9F52-ADB8A8EEB828}" type="slidenum">
              <a:rPr lang="en-US" smtClean="0"/>
              <a:t>24</a:t>
            </a:fld>
            <a:endParaRPr lang="en-US"/>
          </a:p>
        </p:txBody>
      </p:sp>
    </p:spTree>
    <p:extLst>
      <p:ext uri="{BB962C8B-B14F-4D97-AF65-F5344CB8AC3E}">
        <p14:creationId xmlns:p14="http://schemas.microsoft.com/office/powerpoint/2010/main" val="36809793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Challenge #5</a:t>
            </a:r>
            <a:r>
              <a:rPr lang="en-US" dirty="0"/>
              <a:t>: Hardware acceleration as a </a:t>
            </a:r>
            <a:r>
              <a:rPr lang="en-US" dirty="0" smtClean="0"/>
              <a:t>service</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CF3AA28E-4FBA-4D61-9F52-ADB8A8EEB828}" type="slidenum">
              <a:rPr lang="en-US" smtClean="0"/>
              <a:t>25</a:t>
            </a:fld>
            <a:endParaRPr lang="en-US"/>
          </a:p>
        </p:txBody>
      </p:sp>
    </p:spTree>
    <p:extLst>
      <p:ext uri="{BB962C8B-B14F-4D97-AF65-F5344CB8AC3E}">
        <p14:creationId xmlns:p14="http://schemas.microsoft.com/office/powerpoint/2010/main" val="285545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a:solidFill>
                  <a:schemeClr val="bg1">
                    <a:lumMod val="65000"/>
                  </a:schemeClr>
                </a:solidFill>
              </a:rPr>
              <a:t>Challenges &amp; Experiences</a:t>
            </a:r>
          </a:p>
          <a:p>
            <a:r>
              <a:rPr lang="en-US" dirty="0" smtClean="0"/>
              <a:t>On-going Projects</a:t>
            </a:r>
          </a:p>
          <a:p>
            <a:r>
              <a:rPr lang="en-US" dirty="0" smtClean="0">
                <a:solidFill>
                  <a:schemeClr val="bg1">
                    <a:lumMod val="65000"/>
                  </a:schemeClr>
                </a:solidFill>
              </a:rPr>
              <a:t>Summary</a:t>
            </a:r>
            <a:endParaRPr lang="en-US" dirty="0">
              <a:solidFill>
                <a:schemeClr val="bg1">
                  <a:lumMod val="65000"/>
                </a:schemeClr>
              </a:solidFill>
            </a:endParaRPr>
          </a:p>
        </p:txBody>
      </p:sp>
      <p:sp>
        <p:nvSpPr>
          <p:cNvPr id="5" name="Slide Number Placeholder 4"/>
          <p:cNvSpPr>
            <a:spLocks noGrp="1"/>
          </p:cNvSpPr>
          <p:nvPr>
            <p:ph type="sldNum" sz="quarter" idx="12"/>
          </p:nvPr>
        </p:nvSpPr>
        <p:spPr/>
        <p:txBody>
          <a:bodyPr/>
          <a:lstStyle/>
          <a:p>
            <a:fld id="{CF3AA28E-4FBA-4D61-9F52-ADB8A8EEB828}" type="slidenum">
              <a:rPr lang="en-US" smtClean="0"/>
              <a:t>26</a:t>
            </a:fld>
            <a:endParaRPr lang="en-US"/>
          </a:p>
        </p:txBody>
      </p:sp>
    </p:spTree>
    <p:extLst>
      <p:ext uri="{BB962C8B-B14F-4D97-AF65-F5344CB8AC3E}">
        <p14:creationId xmlns:p14="http://schemas.microsoft.com/office/powerpoint/2010/main" val="31441414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On-going Projects</a:t>
            </a:r>
            <a:endParaRPr lang="en-SG" dirty="0"/>
          </a:p>
        </p:txBody>
      </p:sp>
      <p:sp>
        <p:nvSpPr>
          <p:cNvPr id="3" name="Content Placeholder 2"/>
          <p:cNvSpPr>
            <a:spLocks noGrp="1"/>
          </p:cNvSpPr>
          <p:nvPr>
            <p:ph idx="1"/>
          </p:nvPr>
        </p:nvSpPr>
        <p:spPr/>
        <p:txBody>
          <a:bodyPr/>
          <a:lstStyle/>
          <a:p>
            <a:r>
              <a:rPr lang="en-SG" dirty="0" smtClean="0"/>
              <a:t>High performance graph databases</a:t>
            </a:r>
          </a:p>
          <a:p>
            <a:pPr lvl="1"/>
            <a:r>
              <a:rPr lang="en-SG" dirty="0" smtClean="0"/>
              <a:t>Goal: a graph database that can outperform Neo4j by 10+times.</a:t>
            </a:r>
          </a:p>
          <a:p>
            <a:r>
              <a:rPr lang="en-US" dirty="0"/>
              <a:t>Network Function Virtualization (NFV</a:t>
            </a:r>
            <a:r>
              <a:rPr lang="en-US" dirty="0" smtClean="0"/>
              <a:t>)</a:t>
            </a:r>
          </a:p>
          <a:p>
            <a:pPr lvl="1"/>
            <a:r>
              <a:rPr lang="en-US" dirty="0" smtClean="0"/>
              <a:t>Goal: a cost-effective solution to replace specialized network devices.</a:t>
            </a:r>
            <a:endParaRPr lang="en-SG" dirty="0" smtClean="0"/>
          </a:p>
          <a:p>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27</a:t>
            </a:fld>
            <a:endParaRPr lang="en-US"/>
          </a:p>
        </p:txBody>
      </p:sp>
    </p:spTree>
    <p:extLst>
      <p:ext uri="{BB962C8B-B14F-4D97-AF65-F5344CB8AC3E}">
        <p14:creationId xmlns:p14="http://schemas.microsoft.com/office/powerpoint/2010/main" val="22543944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Network Function Virtualization</a:t>
            </a:r>
          </a:p>
        </p:txBody>
      </p:sp>
      <p:sp>
        <p:nvSpPr>
          <p:cNvPr id="3" name="Content Placeholder 2"/>
          <p:cNvSpPr>
            <a:spLocks noGrp="1"/>
          </p:cNvSpPr>
          <p:nvPr>
            <p:ph idx="1"/>
          </p:nvPr>
        </p:nvSpPr>
        <p:spPr/>
        <p:txBody>
          <a:bodyPr>
            <a:normAutofit/>
          </a:bodyPr>
          <a:lstStyle/>
          <a:p>
            <a:r>
              <a:rPr lang="en-SG" dirty="0" smtClean="0"/>
              <a:t>Basic trend: supporting network functions shifting from specialized hardware to software.</a:t>
            </a:r>
          </a:p>
          <a:p>
            <a:r>
              <a:rPr lang="en-SG" dirty="0"/>
              <a:t>Huawei </a:t>
            </a:r>
            <a:r>
              <a:rPr lang="en-SG" dirty="0" smtClean="0"/>
              <a:t>predicts, </a:t>
            </a:r>
            <a:r>
              <a:rPr lang="en-SG" dirty="0" smtClean="0">
                <a:latin typeface="Helvetica Neue"/>
                <a:ea typeface="Helvetica Neue"/>
                <a:cs typeface="Helvetica Neue"/>
                <a:sym typeface="Helvetica Neue"/>
              </a:rPr>
              <a:t>in </a:t>
            </a:r>
            <a:r>
              <a:rPr lang="en-SG" dirty="0">
                <a:latin typeface="Helvetica Neue"/>
                <a:ea typeface="Helvetica Neue"/>
                <a:cs typeface="Helvetica Neue"/>
                <a:sym typeface="Helvetica Neue"/>
              </a:rPr>
              <a:t>3-5 years, CPU + GPU will satisfy the computational requirement for telecom </a:t>
            </a:r>
            <a:r>
              <a:rPr lang="en-SG" dirty="0" smtClean="0">
                <a:latin typeface="Helvetica Neue"/>
                <a:ea typeface="Helvetica Neue"/>
                <a:cs typeface="Helvetica Neue"/>
                <a:sym typeface="Helvetica Neue"/>
              </a:rPr>
              <a:t>equipment</a:t>
            </a:r>
            <a:r>
              <a:rPr lang="en-SG" dirty="0">
                <a:sym typeface="Helvetica Neue"/>
              </a:rPr>
              <a:t>.</a:t>
            </a:r>
            <a:endParaRPr lang="en-SG" dirty="0"/>
          </a:p>
          <a:p>
            <a:r>
              <a:rPr lang="en-SG" dirty="0" smtClean="0"/>
              <a:t>Challenges:</a:t>
            </a:r>
          </a:p>
          <a:p>
            <a:pPr lvl="1"/>
            <a:r>
              <a:rPr lang="en-SG" dirty="0" smtClean="0"/>
              <a:t>Massive network flows</a:t>
            </a:r>
          </a:p>
          <a:p>
            <a:pPr lvl="1"/>
            <a:r>
              <a:rPr lang="en-SG" dirty="0" smtClean="0"/>
              <a:t>Low latency</a:t>
            </a:r>
          </a:p>
          <a:p>
            <a:pPr lvl="1"/>
            <a:r>
              <a:rPr lang="en-SG" dirty="0" smtClean="0"/>
              <a:t>Flexible deployment</a:t>
            </a:r>
          </a:p>
          <a:p>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28</a:t>
            </a:fld>
            <a:endParaRPr lang="en-US"/>
          </a:p>
        </p:txBody>
      </p:sp>
      <p:pic>
        <p:nvPicPr>
          <p:cNvPr id="5" name="nfv.tiff" descr="nfv.tiff"/>
          <p:cNvPicPr>
            <a:picLocks noChangeAspect="1"/>
          </p:cNvPicPr>
          <p:nvPr/>
        </p:nvPicPr>
        <p:blipFill>
          <a:blip r:embed="rId2">
            <a:extLst/>
          </a:blip>
          <a:stretch>
            <a:fillRect/>
          </a:stretch>
        </p:blipFill>
        <p:spPr>
          <a:xfrm>
            <a:off x="4930815" y="3596056"/>
            <a:ext cx="4085863" cy="3125420"/>
          </a:xfrm>
          <a:prstGeom prst="rect">
            <a:avLst/>
          </a:prstGeom>
          <a:ln w="12700">
            <a:miter lim="400000"/>
          </a:ln>
        </p:spPr>
      </p:pic>
    </p:spTree>
    <p:extLst>
      <p:ext uri="{BB962C8B-B14F-4D97-AF65-F5344CB8AC3E}">
        <p14:creationId xmlns:p14="http://schemas.microsoft.com/office/powerpoint/2010/main" val="317948859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GPU-Accelerated NFVs?</a:t>
            </a:r>
            <a:endParaRPr lang="en-SG" dirty="0"/>
          </a:p>
        </p:txBody>
      </p:sp>
      <p:sp>
        <p:nvSpPr>
          <p:cNvPr id="3" name="Content Placeholder 2"/>
          <p:cNvSpPr>
            <a:spLocks noGrp="1"/>
          </p:cNvSpPr>
          <p:nvPr>
            <p:ph idx="1"/>
          </p:nvPr>
        </p:nvSpPr>
        <p:spPr/>
        <p:txBody>
          <a:bodyPr/>
          <a:lstStyle/>
          <a:p>
            <a:r>
              <a:rPr lang="en-SG" dirty="0" smtClean="0"/>
              <a:t>GPU advantage over specialized hardware</a:t>
            </a:r>
          </a:p>
          <a:p>
            <a:pPr lvl="1"/>
            <a:r>
              <a:rPr lang="en-SG" dirty="0"/>
              <a:t>Comparable speed </a:t>
            </a:r>
            <a:endParaRPr lang="en-SG" dirty="0" smtClean="0"/>
          </a:p>
          <a:p>
            <a:pPr lvl="1"/>
            <a:r>
              <a:rPr lang="en-SG" dirty="0" smtClean="0"/>
              <a:t>Low cost</a:t>
            </a:r>
          </a:p>
          <a:p>
            <a:r>
              <a:rPr lang="en-SG" dirty="0" smtClean="0"/>
              <a:t>However,</a:t>
            </a:r>
          </a:p>
          <a:p>
            <a:pPr lvl="1"/>
            <a:r>
              <a:rPr lang="en-SG" dirty="0"/>
              <a:t>Low GPU Utilization (Each VM has no enough traffic to fully utilize </a:t>
            </a:r>
            <a:r>
              <a:rPr lang="en-SG" dirty="0" smtClean="0"/>
              <a:t>GPUs)</a:t>
            </a:r>
            <a:r>
              <a:rPr lang="en-SG" dirty="0" smtClean="0">
                <a:sym typeface="Wingdings" panose="05000000000000000000" pitchFamily="2" charset="2"/>
              </a:rPr>
              <a:t> GPU virtualization is still an open research problem.</a:t>
            </a:r>
          </a:p>
          <a:p>
            <a:pPr lvl="1"/>
            <a:r>
              <a:rPr lang="en-SG" dirty="0"/>
              <a:t>Unpredictable Latency</a:t>
            </a:r>
            <a:endParaRPr lang="en-SG" dirty="0" smtClean="0"/>
          </a:p>
          <a:p>
            <a:pPr lvl="1"/>
            <a:r>
              <a:rPr lang="en-SG" dirty="0" smtClean="0"/>
              <a:t>Lots </a:t>
            </a:r>
            <a:r>
              <a:rPr lang="en-SG" dirty="0"/>
              <a:t>of development effort</a:t>
            </a:r>
            <a:endParaRPr lang="en-SG" dirty="0" smtClean="0"/>
          </a:p>
          <a:p>
            <a:pPr lvl="1"/>
            <a:endParaRPr lang="en-SG" dirty="0"/>
          </a:p>
        </p:txBody>
      </p:sp>
      <p:sp>
        <p:nvSpPr>
          <p:cNvPr id="4" name="Slide Number Placeholder 3"/>
          <p:cNvSpPr>
            <a:spLocks noGrp="1"/>
          </p:cNvSpPr>
          <p:nvPr>
            <p:ph type="sldNum" sz="quarter" idx="12"/>
          </p:nvPr>
        </p:nvSpPr>
        <p:spPr/>
        <p:txBody>
          <a:bodyPr/>
          <a:lstStyle/>
          <a:p>
            <a:fld id="{CF3AA28E-4FBA-4D61-9F52-ADB8A8EEB828}" type="slidenum">
              <a:rPr lang="en-US" smtClean="0"/>
              <a:t>29</a:t>
            </a:fld>
            <a:endParaRPr lang="en-US"/>
          </a:p>
        </p:txBody>
      </p:sp>
    </p:spTree>
    <p:extLst>
      <p:ext uri="{BB962C8B-B14F-4D97-AF65-F5344CB8AC3E}">
        <p14:creationId xmlns:p14="http://schemas.microsoft.com/office/powerpoint/2010/main" val="23566659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oseidon: Use Remote API to Virtualize GPUs in NFV"/>
          <p:cNvSpPr txBox="1">
            <a:spLocks noGrp="1"/>
          </p:cNvSpPr>
          <p:nvPr>
            <p:ph type="title"/>
          </p:nvPr>
        </p:nvSpPr>
        <p:spPr>
          <a:prstGeom prst="rect">
            <a:avLst/>
          </a:prstGeom>
        </p:spPr>
        <p:txBody>
          <a:bodyPr/>
          <a:lstStyle>
            <a:lvl1pPr>
              <a:defRPr sz="4000"/>
            </a:lvl1pPr>
          </a:lstStyle>
          <a:p>
            <a:r>
              <a:t>Poseidon: Use Remote API to Virtualize GPUs in NFV</a:t>
            </a:r>
          </a:p>
        </p:txBody>
      </p:sp>
      <p:grpSp>
        <p:nvGrpSpPr>
          <p:cNvPr id="173" name="Group"/>
          <p:cNvGrpSpPr/>
          <p:nvPr/>
        </p:nvGrpSpPr>
        <p:grpSpPr>
          <a:xfrm>
            <a:off x="659245" y="2320511"/>
            <a:ext cx="4919690" cy="2861414"/>
            <a:chOff x="0" y="0"/>
            <a:chExt cx="6996892" cy="4069565"/>
          </a:xfrm>
        </p:grpSpPr>
        <p:grpSp>
          <p:nvGrpSpPr>
            <p:cNvPr id="147" name="Group"/>
            <p:cNvGrpSpPr/>
            <p:nvPr/>
          </p:nvGrpSpPr>
          <p:grpSpPr>
            <a:xfrm>
              <a:off x="-1" y="-1"/>
              <a:ext cx="1604527" cy="1593934"/>
              <a:chOff x="87739" y="0"/>
              <a:chExt cx="1604525" cy="1593932"/>
            </a:xfrm>
          </p:grpSpPr>
          <p:sp>
            <p:nvSpPr>
              <p:cNvPr id="144" name="Rounded Rectangle"/>
              <p:cNvSpPr/>
              <p:nvPr/>
            </p:nvSpPr>
            <p:spPr>
              <a:xfrm>
                <a:off x="87739" y="0"/>
                <a:ext cx="1604526" cy="1593933"/>
              </a:xfrm>
              <a:prstGeom prst="roundRect">
                <a:avLst>
                  <a:gd name="adj" fmla="val 11987"/>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45" name="User NF"/>
              <p:cNvSpPr/>
              <p:nvPr/>
            </p:nvSpPr>
            <p:spPr>
              <a:xfrm>
                <a:off x="159873" y="56004"/>
                <a:ext cx="1472676" cy="459223"/>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User NF</a:t>
                </a:r>
              </a:p>
            </p:txBody>
          </p:sp>
          <p:sp>
            <p:nvSpPr>
              <p:cNvPr id="146" name="Abstraction"/>
              <p:cNvSpPr/>
              <p:nvPr/>
            </p:nvSpPr>
            <p:spPr>
              <a:xfrm>
                <a:off x="159873" y="567355"/>
                <a:ext cx="1472676" cy="459223"/>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Abstraction</a:t>
                </a:r>
              </a:p>
            </p:txBody>
          </p:sp>
        </p:grpSp>
        <p:sp>
          <p:nvSpPr>
            <p:cNvPr id="148" name="Rounded Rectangle"/>
            <p:cNvSpPr/>
            <p:nvPr/>
          </p:nvSpPr>
          <p:spPr>
            <a:xfrm>
              <a:off x="44564" y="1928566"/>
              <a:ext cx="6952329" cy="1377660"/>
            </a:xfrm>
            <a:prstGeom prst="roundRect">
              <a:avLst>
                <a:gd name="adj" fmla="val 11443"/>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49" name="GPU"/>
            <p:cNvSpPr/>
            <p:nvPr/>
          </p:nvSpPr>
          <p:spPr>
            <a:xfrm>
              <a:off x="4597643" y="3506286"/>
              <a:ext cx="2291199" cy="563280"/>
            </a:xfrm>
            <a:prstGeom prst="roundRect">
              <a:avLst>
                <a:gd name="adj" fmla="val 28357"/>
              </a:avLst>
            </a:prstGeom>
            <a:solidFill>
              <a:srgbClr val="FFFFFF"/>
            </a:solidFill>
            <a:ln w="254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500" b="1">
                  <a:latin typeface="Helvetica Neue"/>
                  <a:ea typeface="Helvetica Neue"/>
                  <a:cs typeface="Helvetica Neue"/>
                  <a:sym typeface="Helvetica Neue"/>
                </a:defRPr>
              </a:lvl1pPr>
            </a:lstStyle>
            <a:p>
              <a:r>
                <a:rPr sz="1758"/>
                <a:t>GPU</a:t>
              </a:r>
            </a:p>
          </p:txBody>
        </p:sp>
        <p:sp>
          <p:nvSpPr>
            <p:cNvPr id="150" name="Manager"/>
            <p:cNvSpPr/>
            <p:nvPr/>
          </p:nvSpPr>
          <p:spPr>
            <a:xfrm>
              <a:off x="4907564"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000"/>
              </a:lvl1pPr>
            </a:lstStyle>
            <a:p>
              <a:r>
                <a:rPr sz="1406"/>
                <a:t>Manager</a:t>
              </a:r>
            </a:p>
          </p:txBody>
        </p:sp>
        <p:sp>
          <p:nvSpPr>
            <p:cNvPr id="176" name="Connection Line"/>
            <p:cNvSpPr/>
            <p:nvPr/>
          </p:nvSpPr>
          <p:spPr>
            <a:xfrm>
              <a:off x="1028781" y="1031259"/>
              <a:ext cx="2301502" cy="12145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035" y="13509"/>
                    <a:pt x="9235" y="6309"/>
                    <a:pt x="21600" y="0"/>
                  </a:cubicBezTo>
                </a:path>
              </a:pathLst>
            </a:custGeom>
            <a:noFill/>
            <a:ln w="25400" cap="flat">
              <a:solidFill>
                <a:srgbClr val="000000"/>
              </a:solidFill>
              <a:prstDash val="solid"/>
              <a:miter lim="400000"/>
              <a:tailEnd type="arrow" w="med" len="med"/>
            </a:ln>
            <a:effectLst/>
          </p:spPr>
          <p:txBody>
            <a:bodyPr/>
            <a:lstStyle/>
            <a:p>
              <a:endParaRPr sz="1266"/>
            </a:p>
          </p:txBody>
        </p:sp>
        <p:sp>
          <p:nvSpPr>
            <p:cNvPr id="177" name="Connection Line"/>
            <p:cNvSpPr/>
            <p:nvPr/>
          </p:nvSpPr>
          <p:spPr>
            <a:xfrm>
              <a:off x="4357441" y="1643852"/>
              <a:ext cx="553841" cy="74583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2671" y="17247"/>
                    <a:pt x="5471" y="10047"/>
                    <a:pt x="0" y="0"/>
                  </a:cubicBezTo>
                </a:path>
              </a:pathLst>
            </a:custGeom>
            <a:noFill/>
            <a:ln w="25400" cap="flat">
              <a:solidFill>
                <a:srgbClr val="000000"/>
              </a:solidFill>
              <a:prstDash val="solid"/>
              <a:miter lim="400000"/>
              <a:headEnd type="arrow" w="med" len="med"/>
            </a:ln>
            <a:effectLst/>
          </p:spPr>
          <p:txBody>
            <a:bodyPr/>
            <a:lstStyle/>
            <a:p>
              <a:endParaRPr sz="1266"/>
            </a:p>
          </p:txBody>
        </p:sp>
        <p:sp>
          <p:nvSpPr>
            <p:cNvPr id="178" name="Connection Line"/>
            <p:cNvSpPr/>
            <p:nvPr/>
          </p:nvSpPr>
          <p:spPr>
            <a:xfrm>
              <a:off x="2281769" y="1558464"/>
              <a:ext cx="1083887" cy="7124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7103" y="16335"/>
                    <a:pt x="14303" y="9135"/>
                    <a:pt x="21600" y="0"/>
                  </a:cubicBezTo>
                </a:path>
              </a:pathLst>
            </a:custGeom>
            <a:noFill/>
            <a:ln w="25400" cap="flat">
              <a:solidFill>
                <a:srgbClr val="000000"/>
              </a:solidFill>
              <a:prstDash val="solid"/>
              <a:miter lim="400000"/>
              <a:headEnd type="arrow" w="med" len="med"/>
            </a:ln>
            <a:effectLst/>
          </p:spPr>
          <p:txBody>
            <a:bodyPr/>
            <a:lstStyle/>
            <a:p>
              <a:endParaRPr sz="1266"/>
            </a:p>
          </p:txBody>
        </p:sp>
        <p:sp>
          <p:nvSpPr>
            <p:cNvPr id="154" name="Scheduler"/>
            <p:cNvSpPr/>
            <p:nvPr/>
          </p:nvSpPr>
          <p:spPr>
            <a:xfrm>
              <a:off x="2815454"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000"/>
              </a:lvl1pPr>
            </a:lstStyle>
            <a:p>
              <a:r>
                <a:rPr sz="1406"/>
                <a:t>Scheduler</a:t>
              </a:r>
            </a:p>
          </p:txBody>
        </p:sp>
        <p:sp>
          <p:nvSpPr>
            <p:cNvPr id="155" name="Switch"/>
            <p:cNvSpPr/>
            <p:nvPr/>
          </p:nvSpPr>
          <p:spPr>
            <a:xfrm>
              <a:off x="696156" y="2237552"/>
              <a:ext cx="1671356" cy="612556"/>
            </a:xfrm>
            <a:prstGeom prst="roundRect">
              <a:avLst>
                <a:gd name="adj" fmla="val 34524"/>
              </a:avLst>
            </a:prstGeom>
            <a:solidFill>
              <a:srgbClr val="CBCBCB"/>
            </a:solidFill>
            <a:ln w="127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000"/>
              </a:lvl1pPr>
            </a:lstStyle>
            <a:p>
              <a:r>
                <a:rPr sz="1406"/>
                <a:t>Switch</a:t>
              </a:r>
            </a:p>
          </p:txBody>
        </p:sp>
        <p:sp>
          <p:nvSpPr>
            <p:cNvPr id="179" name="Connection Line"/>
            <p:cNvSpPr/>
            <p:nvPr/>
          </p:nvSpPr>
          <p:spPr>
            <a:xfrm>
              <a:off x="4947555" y="1035940"/>
              <a:ext cx="1037865" cy="1195263"/>
            </a:xfrm>
            <a:custGeom>
              <a:avLst/>
              <a:gdLst/>
              <a:ahLst/>
              <a:cxnLst>
                <a:cxn ang="0">
                  <a:pos x="wd2" y="hd2"/>
                </a:cxn>
                <a:cxn ang="5400000">
                  <a:pos x="wd2" y="hd2"/>
                </a:cxn>
                <a:cxn ang="10800000">
                  <a:pos x="wd2" y="hd2"/>
                </a:cxn>
                <a:cxn ang="16200000">
                  <a:pos x="wd2" y="hd2"/>
                </a:cxn>
              </a:cxnLst>
              <a:rect l="0" t="0" r="r" b="b"/>
              <a:pathLst>
                <a:path w="18912" h="21600" extrusionOk="0">
                  <a:moveTo>
                    <a:pt x="17798" y="21600"/>
                  </a:moveTo>
                  <a:cubicBezTo>
                    <a:pt x="21600" y="12276"/>
                    <a:pt x="15667" y="5076"/>
                    <a:pt x="0" y="0"/>
                  </a:cubicBezTo>
                </a:path>
              </a:pathLst>
            </a:custGeom>
            <a:noFill/>
            <a:ln w="25400" cap="flat">
              <a:solidFill>
                <a:srgbClr val="000000"/>
              </a:solidFill>
              <a:prstDash val="solid"/>
              <a:miter lim="400000"/>
              <a:tailEnd type="arrow" w="med" len="med"/>
            </a:ln>
            <a:effectLst/>
          </p:spPr>
          <p:txBody>
            <a:bodyPr/>
            <a:lstStyle/>
            <a:p>
              <a:endParaRPr sz="1266"/>
            </a:p>
          </p:txBody>
        </p:sp>
        <p:grpSp>
          <p:nvGrpSpPr>
            <p:cNvPr id="160" name="Group"/>
            <p:cNvGrpSpPr/>
            <p:nvPr/>
          </p:nvGrpSpPr>
          <p:grpSpPr>
            <a:xfrm>
              <a:off x="3336451" y="32535"/>
              <a:ext cx="1604560" cy="1604859"/>
              <a:chOff x="104196" y="0"/>
              <a:chExt cx="1604558" cy="1604857"/>
            </a:xfrm>
          </p:grpSpPr>
          <p:sp>
            <p:nvSpPr>
              <p:cNvPr id="157" name="Rounded Rectangle"/>
              <p:cNvSpPr/>
              <p:nvPr/>
            </p:nvSpPr>
            <p:spPr>
              <a:xfrm>
                <a:off x="104196" y="0"/>
                <a:ext cx="1604560" cy="1604858"/>
              </a:xfrm>
              <a:prstGeom prst="roundRect">
                <a:avLst>
                  <a:gd name="adj" fmla="val 11989"/>
                </a:avLst>
              </a:prstGeom>
              <a:solidFill>
                <a:srgbClr val="FFFFFF"/>
              </a:solidFill>
              <a:ln w="12700" cap="flat">
                <a:solidFill>
                  <a:srgbClr val="000000"/>
                </a:solidFill>
                <a:prstDash val="solid"/>
                <a:miter lim="400000"/>
              </a:ln>
              <a:effectLst>
                <a:outerShdw blurRad="63500" dist="25400" dir="5400000" rotWithShape="0">
                  <a:srgbClr val="000000"/>
                </a:outerShdw>
              </a:effectLst>
            </p:spPr>
            <p:txBody>
              <a:bodyPr wrap="square" lIns="35719" tIns="35719" rIns="35719" bIns="35719" numCol="1" anchor="ctr">
                <a:noAutofit/>
              </a:bodyPr>
              <a:lstStyle/>
              <a:p>
                <a:pPr>
                  <a:defRPr sz="2500">
                    <a:solidFill>
                      <a:srgbClr val="FFFFFF"/>
                    </a:solidFill>
                  </a:defRPr>
                </a:pPr>
                <a:endParaRPr sz="1758"/>
              </a:p>
            </p:txBody>
          </p:sp>
          <p:sp>
            <p:nvSpPr>
              <p:cNvPr id="158" name="User NF"/>
              <p:cNvSpPr/>
              <p:nvPr/>
            </p:nvSpPr>
            <p:spPr>
              <a:xfrm>
                <a:off x="160969" y="56388"/>
                <a:ext cx="1482770" cy="462371"/>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User NF</a:t>
                </a:r>
              </a:p>
            </p:txBody>
          </p:sp>
          <p:sp>
            <p:nvSpPr>
              <p:cNvPr id="159" name="Abstraction"/>
              <p:cNvSpPr/>
              <p:nvPr/>
            </p:nvSpPr>
            <p:spPr>
              <a:xfrm>
                <a:off x="160969" y="571244"/>
                <a:ext cx="1482770" cy="462370"/>
              </a:xfrm>
              <a:prstGeom prst="roundRect">
                <a:avLst>
                  <a:gd name="adj" fmla="val 31834"/>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Abstraction</a:t>
                </a:r>
              </a:p>
            </p:txBody>
          </p:sp>
        </p:grpSp>
        <p:sp>
          <p:nvSpPr>
            <p:cNvPr id="161" name="NIC"/>
            <p:cNvSpPr/>
            <p:nvPr/>
          </p:nvSpPr>
          <p:spPr>
            <a:xfrm>
              <a:off x="413423" y="3506286"/>
              <a:ext cx="2291198" cy="563280"/>
            </a:xfrm>
            <a:prstGeom prst="roundRect">
              <a:avLst>
                <a:gd name="adj" fmla="val 28357"/>
              </a:avLst>
            </a:prstGeom>
            <a:solidFill>
              <a:srgbClr val="FFFFFF"/>
            </a:solidFill>
            <a:ln w="25400" cap="flat">
              <a:solidFill>
                <a:srgbClr val="000000"/>
              </a:solidFill>
              <a:prstDash val="solid"/>
              <a:miter lim="400000"/>
            </a:ln>
            <a:effectLst>
              <a:outerShdw blurRad="63500" dist="25400" dir="5400000" rotWithShape="0">
                <a:srgbClr val="000000"/>
              </a:outerShdw>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2500" b="1">
                  <a:latin typeface="Helvetica Neue"/>
                  <a:ea typeface="Helvetica Neue"/>
                  <a:cs typeface="Helvetica Neue"/>
                  <a:sym typeface="Helvetica Neue"/>
                </a:defRPr>
              </a:lvl1pPr>
            </a:lstStyle>
            <a:p>
              <a:r>
                <a:rPr sz="1758"/>
                <a:t>NIC</a:t>
              </a:r>
            </a:p>
          </p:txBody>
        </p:sp>
        <p:sp>
          <p:nvSpPr>
            <p:cNvPr id="162" name="Line"/>
            <p:cNvSpPr/>
            <p:nvPr/>
          </p:nvSpPr>
          <p:spPr>
            <a:xfrm flipV="1">
              <a:off x="939825" y="2876604"/>
              <a:ext cx="1" cy="628869"/>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3" name="Line"/>
            <p:cNvSpPr/>
            <p:nvPr/>
          </p:nvSpPr>
          <p:spPr>
            <a:xfrm>
              <a:off x="1951258" y="2877818"/>
              <a:ext cx="1" cy="631880"/>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80" name="Connection Line"/>
            <p:cNvSpPr/>
            <p:nvPr/>
          </p:nvSpPr>
          <p:spPr>
            <a:xfrm>
              <a:off x="305849" y="2184932"/>
              <a:ext cx="513331" cy="669069"/>
            </a:xfrm>
            <a:custGeom>
              <a:avLst/>
              <a:gdLst/>
              <a:ahLst/>
              <a:cxnLst>
                <a:cxn ang="0">
                  <a:pos x="wd2" y="hd2"/>
                </a:cxn>
                <a:cxn ang="5400000">
                  <a:pos x="wd2" y="hd2"/>
                </a:cxn>
                <a:cxn ang="10800000">
                  <a:pos x="wd2" y="hd2"/>
                </a:cxn>
                <a:cxn ang="16200000">
                  <a:pos x="wd2" y="hd2"/>
                </a:cxn>
              </a:cxnLst>
              <a:rect l="0" t="0" r="r" b="b"/>
              <a:pathLst>
                <a:path w="20922" h="21246" extrusionOk="0">
                  <a:moveTo>
                    <a:pt x="51" y="0"/>
                  </a:moveTo>
                  <a:cubicBezTo>
                    <a:pt x="-678" y="14522"/>
                    <a:pt x="6279" y="21600"/>
                    <a:pt x="20922" y="21233"/>
                  </a:cubicBezTo>
                </a:path>
              </a:pathLst>
            </a:custGeom>
            <a:noFill/>
            <a:ln w="25400" cap="flat">
              <a:solidFill>
                <a:srgbClr val="000000"/>
              </a:solidFill>
              <a:prstDash val="solid"/>
              <a:miter lim="400000"/>
              <a:tailEnd type="arrow" w="med" len="med"/>
            </a:ln>
            <a:effectLst/>
          </p:spPr>
          <p:txBody>
            <a:bodyPr/>
            <a:lstStyle/>
            <a:p>
              <a:endParaRPr sz="1266"/>
            </a:p>
          </p:txBody>
        </p:sp>
        <p:sp>
          <p:nvSpPr>
            <p:cNvPr id="181" name="Connection Line"/>
            <p:cNvSpPr/>
            <p:nvPr/>
          </p:nvSpPr>
          <p:spPr>
            <a:xfrm>
              <a:off x="2121213" y="2860966"/>
              <a:ext cx="479351" cy="196215"/>
            </a:xfrm>
            <a:custGeom>
              <a:avLst/>
              <a:gdLst/>
              <a:ahLst/>
              <a:cxnLst>
                <a:cxn ang="0">
                  <a:pos x="wd2" y="hd2"/>
                </a:cxn>
                <a:cxn ang="5400000">
                  <a:pos x="wd2" y="hd2"/>
                </a:cxn>
                <a:cxn ang="10800000">
                  <a:pos x="wd2" y="hd2"/>
                </a:cxn>
                <a:cxn ang="16200000">
                  <a:pos x="wd2" y="hd2"/>
                </a:cxn>
              </a:cxnLst>
              <a:rect l="0" t="0" r="r" b="b"/>
              <a:pathLst>
                <a:path w="21600" h="17509" extrusionOk="0">
                  <a:moveTo>
                    <a:pt x="0" y="0"/>
                  </a:moveTo>
                  <a:cubicBezTo>
                    <a:pt x="3357" y="16962"/>
                    <a:pt x="10557" y="21600"/>
                    <a:pt x="21600" y="13915"/>
                  </a:cubicBezTo>
                </a:path>
              </a:pathLst>
            </a:custGeom>
            <a:noFill/>
            <a:ln w="25400" cap="flat">
              <a:solidFill>
                <a:srgbClr val="000000"/>
              </a:solidFill>
              <a:prstDash val="solid"/>
              <a:miter lim="400000"/>
              <a:tailEnd type="arrow" w="med" len="med"/>
            </a:ln>
            <a:effectLst/>
          </p:spPr>
          <p:txBody>
            <a:bodyPr/>
            <a:lstStyle/>
            <a:p>
              <a:endParaRPr sz="1266"/>
            </a:p>
          </p:txBody>
        </p:sp>
        <p:sp>
          <p:nvSpPr>
            <p:cNvPr id="166" name="…"/>
            <p:cNvSpPr txBox="1"/>
            <p:nvPr/>
          </p:nvSpPr>
          <p:spPr>
            <a:xfrm>
              <a:off x="2164616" y="295570"/>
              <a:ext cx="611744" cy="69270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p>
              <a:r>
                <a:rPr sz="1266"/>
                <a:t>…</a:t>
              </a:r>
            </a:p>
          </p:txBody>
        </p:sp>
        <p:sp>
          <p:nvSpPr>
            <p:cNvPr id="167" name="Line"/>
            <p:cNvSpPr/>
            <p:nvPr/>
          </p:nvSpPr>
          <p:spPr>
            <a:xfrm flipV="1">
              <a:off x="6297881" y="2876604"/>
              <a:ext cx="1" cy="628869"/>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8" name="Line"/>
            <p:cNvSpPr/>
            <p:nvPr/>
          </p:nvSpPr>
          <p:spPr>
            <a:xfrm>
              <a:off x="5186554" y="2877818"/>
              <a:ext cx="1" cy="631880"/>
            </a:xfrm>
            <a:prstGeom prst="line">
              <a:avLst/>
            </a:prstGeom>
            <a:noFill/>
            <a:ln w="25400" cap="flat">
              <a:solidFill>
                <a:srgbClr val="000000"/>
              </a:solidFill>
              <a:prstDash val="solid"/>
              <a:miter lim="400000"/>
              <a:tailEnd type="arrow" w="med" len="med"/>
            </a:ln>
            <a:effectLst/>
          </p:spPr>
          <p:txBody>
            <a:bodyPr wrap="square" lIns="35719" tIns="35719" rIns="35719" bIns="35719" numCol="1" anchor="ctr">
              <a:noAutofit/>
            </a:bodyPr>
            <a:lstStyle/>
            <a:p>
              <a:endParaRPr sz="1266"/>
            </a:p>
          </p:txBody>
        </p:sp>
        <p:sp>
          <p:nvSpPr>
            <p:cNvPr id="169" name="Line"/>
            <p:cNvSpPr/>
            <p:nvPr/>
          </p:nvSpPr>
          <p:spPr>
            <a:xfrm>
              <a:off x="4469348" y="2559989"/>
              <a:ext cx="455679" cy="1"/>
            </a:xfrm>
            <a:prstGeom prst="line">
              <a:avLst/>
            </a:prstGeom>
            <a:noFill/>
            <a:ln w="25400" cap="flat">
              <a:solidFill>
                <a:srgbClr val="000000"/>
              </a:solidFill>
              <a:prstDash val="solid"/>
              <a:miter lim="400000"/>
              <a:headEnd type="triangle" w="med" len="med"/>
              <a:tailEnd type="triangle" w="med" len="med"/>
            </a:ln>
            <a:effectLst/>
          </p:spPr>
          <p:txBody>
            <a:bodyPr wrap="square" lIns="35719" tIns="35719" rIns="35719" bIns="35719" numCol="1" anchor="ctr">
              <a:noAutofit/>
            </a:bodyPr>
            <a:lstStyle/>
            <a:p>
              <a:endParaRPr sz="1266"/>
            </a:p>
          </p:txBody>
        </p:sp>
        <p:sp>
          <p:nvSpPr>
            <p:cNvPr id="170" name="Line"/>
            <p:cNvSpPr/>
            <p:nvPr/>
          </p:nvSpPr>
          <p:spPr>
            <a:xfrm>
              <a:off x="2360699" y="2559989"/>
              <a:ext cx="455679" cy="1"/>
            </a:xfrm>
            <a:prstGeom prst="line">
              <a:avLst/>
            </a:prstGeom>
            <a:noFill/>
            <a:ln w="25400" cap="flat">
              <a:solidFill>
                <a:srgbClr val="000000"/>
              </a:solidFill>
              <a:prstDash val="solid"/>
              <a:miter lim="400000"/>
              <a:headEnd type="triangle" w="med" len="med"/>
              <a:tailEnd type="triangle" w="med" len="med"/>
            </a:ln>
            <a:effectLst/>
          </p:spPr>
          <p:txBody>
            <a:bodyPr wrap="square" lIns="35719" tIns="35719" rIns="35719" bIns="35719" numCol="1" anchor="ctr">
              <a:noAutofit/>
            </a:bodyPr>
            <a:lstStyle/>
            <a:p>
              <a:endParaRPr sz="1266"/>
            </a:p>
          </p:txBody>
        </p:sp>
        <p:sp>
          <p:nvSpPr>
            <p:cNvPr id="171" name="Framework"/>
            <p:cNvSpPr/>
            <p:nvPr/>
          </p:nvSpPr>
          <p:spPr>
            <a:xfrm>
              <a:off x="3398194" y="1097740"/>
              <a:ext cx="1481074" cy="489395"/>
            </a:xfrm>
            <a:prstGeom prst="roundRect">
              <a:avLst>
                <a:gd name="adj" fmla="val 30041"/>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Framework</a:t>
              </a:r>
            </a:p>
          </p:txBody>
        </p:sp>
        <p:sp>
          <p:nvSpPr>
            <p:cNvPr id="172" name="Framework"/>
            <p:cNvSpPr/>
            <p:nvPr/>
          </p:nvSpPr>
          <p:spPr>
            <a:xfrm>
              <a:off x="68739" y="1056957"/>
              <a:ext cx="1467047" cy="489396"/>
            </a:xfrm>
            <a:prstGeom prst="roundRect">
              <a:avLst>
                <a:gd name="adj" fmla="val 28677"/>
              </a:avLst>
            </a:prstGeom>
            <a:solidFill>
              <a:srgbClr val="CBCBCB"/>
            </a:solidFill>
            <a:ln w="12700" cap="flat">
              <a:solidFill>
                <a:srgbClr val="000000"/>
              </a:solidFill>
              <a:prstDash val="solid"/>
              <a:miter lim="400000"/>
            </a:ln>
            <a:effectLst/>
            <a:extLst>
              <a:ext uri="{C572A759-6A51-4108-AA02-DFA0A04FC94B}">
                <ma14:wrappingTextBoxFlag xmlns:ma14="http://schemas.microsoft.com/office/mac/drawingml/2011/main" xmlns="" val="1"/>
              </a:ext>
            </a:extLst>
          </p:spPr>
          <p:txBody>
            <a:bodyPr wrap="square" lIns="35719" tIns="35719" rIns="35719" bIns="35719" numCol="1" anchor="ctr">
              <a:noAutofit/>
            </a:bodyPr>
            <a:lstStyle>
              <a:lvl1pPr>
                <a:defRPr sz="1700"/>
              </a:lvl1pPr>
            </a:lstStyle>
            <a:p>
              <a:r>
                <a:rPr sz="1195"/>
                <a:t>Framework</a:t>
              </a:r>
            </a:p>
          </p:txBody>
        </p:sp>
      </p:grpSp>
      <p:sp>
        <p:nvSpPr>
          <p:cNvPr id="174" name="Core:…"/>
          <p:cNvSpPr txBox="1"/>
          <p:nvPr/>
        </p:nvSpPr>
        <p:spPr>
          <a:xfrm>
            <a:off x="2511697" y="5429256"/>
            <a:ext cx="4325223" cy="1154227"/>
          </a:xfrm>
          <a:prstGeom prst="rect">
            <a:avLst/>
          </a:prstGeom>
          <a:ln w="25400">
            <a:solidFill>
              <a:srgbClr val="000000"/>
            </a:solidFill>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lgn="l">
              <a:defRPr sz="2500"/>
            </a:pPr>
            <a:r>
              <a:rPr sz="1758" dirty="0"/>
              <a:t>Core:</a:t>
            </a:r>
          </a:p>
          <a:p>
            <a:pPr algn="l">
              <a:defRPr sz="2500"/>
            </a:pPr>
            <a:r>
              <a:rPr sz="1758" dirty="0"/>
              <a:t>    — </a:t>
            </a:r>
            <a:r>
              <a:rPr sz="1758" b="1" dirty="0">
                <a:solidFill>
                  <a:srgbClr val="FF2600"/>
                </a:solidFill>
                <a:latin typeface="Helvetica Neue"/>
                <a:ea typeface="Helvetica Neue"/>
                <a:cs typeface="Helvetica Neue"/>
                <a:sym typeface="Helvetica Neue"/>
              </a:rPr>
              <a:t>Switch</a:t>
            </a:r>
            <a:r>
              <a:rPr sz="1758" dirty="0"/>
              <a:t>: Handle network I/O</a:t>
            </a:r>
            <a:br>
              <a:rPr sz="1758" dirty="0"/>
            </a:br>
            <a:r>
              <a:rPr sz="1758" dirty="0"/>
              <a:t>    — </a:t>
            </a:r>
            <a:r>
              <a:rPr sz="1758" b="1" dirty="0">
                <a:solidFill>
                  <a:srgbClr val="FF2600"/>
                </a:solidFill>
                <a:latin typeface="Helvetica Neue"/>
                <a:ea typeface="Helvetica Neue"/>
                <a:cs typeface="Helvetica Neue"/>
                <a:sym typeface="Helvetica Neue"/>
              </a:rPr>
              <a:t>Scheduler</a:t>
            </a:r>
            <a:r>
              <a:rPr sz="1758" dirty="0"/>
              <a:t>: Schedule GPU for execution </a:t>
            </a:r>
          </a:p>
          <a:p>
            <a:pPr algn="l">
              <a:defRPr sz="2500"/>
            </a:pPr>
            <a:r>
              <a:rPr sz="1758" dirty="0"/>
              <a:t>    — </a:t>
            </a:r>
            <a:r>
              <a:rPr sz="1758" b="1" dirty="0">
                <a:solidFill>
                  <a:srgbClr val="FF2600"/>
                </a:solidFill>
                <a:latin typeface="Helvetica Neue"/>
                <a:ea typeface="Helvetica Neue"/>
                <a:cs typeface="Helvetica Neue"/>
                <a:sym typeface="Helvetica Neue"/>
              </a:rPr>
              <a:t>Manager</a:t>
            </a:r>
            <a:r>
              <a:rPr sz="1758" dirty="0"/>
              <a:t>: Launch GPU kernels</a:t>
            </a:r>
          </a:p>
        </p:txBody>
      </p:sp>
      <p:sp>
        <p:nvSpPr>
          <p:cNvPr id="175" name="NF:…"/>
          <p:cNvSpPr txBox="1"/>
          <p:nvPr/>
        </p:nvSpPr>
        <p:spPr>
          <a:xfrm>
            <a:off x="4307385" y="1563757"/>
            <a:ext cx="4490974" cy="1154227"/>
          </a:xfrm>
          <a:prstGeom prst="rect">
            <a:avLst/>
          </a:prstGeom>
          <a:ln w="25400">
            <a:solidFill>
              <a:srgbClr val="000000"/>
            </a:solidFill>
            <a:miter lim="400000"/>
          </a:ln>
          <a:extLst>
            <a:ext uri="{C572A759-6A51-4108-AA02-DFA0A04FC94B}">
              <ma14:wrappingTextBoxFlag xmlns:ma14="http://schemas.microsoft.com/office/mac/drawingml/2011/main" xmlns="" val="1"/>
            </a:ext>
          </a:extLst>
        </p:spPr>
        <p:txBody>
          <a:bodyPr wrap="none" lIns="35719" tIns="35719" rIns="35719" bIns="35719" anchor="ctr">
            <a:spAutoFit/>
          </a:bodyPr>
          <a:lstStyle/>
          <a:p>
            <a:pPr algn="l">
              <a:defRPr sz="2500"/>
            </a:pPr>
            <a:r>
              <a:rPr sz="1758"/>
              <a:t>NF:</a:t>
            </a:r>
          </a:p>
          <a:p>
            <a:pPr algn="l">
              <a:defRPr sz="2500"/>
            </a:pPr>
            <a:r>
              <a:rPr sz="1758"/>
              <a:t>    — </a:t>
            </a:r>
            <a:r>
              <a:rPr sz="1758" b="1">
                <a:solidFill>
                  <a:srgbClr val="FF2600"/>
                </a:solidFill>
                <a:latin typeface="Helvetica Neue"/>
                <a:ea typeface="Helvetica Neue"/>
                <a:cs typeface="Helvetica Neue"/>
                <a:sym typeface="Helvetica Neue"/>
              </a:rPr>
              <a:t>Abstraction</a:t>
            </a:r>
            <a:r>
              <a:rPr sz="1758"/>
              <a:t>: Reduces development effort</a:t>
            </a:r>
            <a:br>
              <a:rPr sz="1758"/>
            </a:br>
            <a:r>
              <a:rPr sz="1758"/>
              <a:t>    — </a:t>
            </a:r>
            <a:r>
              <a:rPr sz="1758" b="1">
                <a:solidFill>
                  <a:srgbClr val="FF2600"/>
                </a:solidFill>
                <a:latin typeface="Helvetica Neue"/>
                <a:ea typeface="Helvetica Neue"/>
                <a:cs typeface="Helvetica Neue"/>
                <a:sym typeface="Helvetica Neue"/>
              </a:rPr>
              <a:t>Framework</a:t>
            </a:r>
            <a:r>
              <a:rPr sz="1758"/>
              <a:t>: Handle network I/O, and </a:t>
            </a:r>
            <a:br>
              <a:rPr sz="1758"/>
            </a:br>
            <a:r>
              <a:rPr sz="1758"/>
              <a:t>                              communicate with the Core</a:t>
            </a:r>
          </a:p>
        </p:txBody>
      </p:sp>
    </p:spTree>
    <p:extLst>
      <p:ext uri="{BB962C8B-B14F-4D97-AF65-F5344CB8AC3E}">
        <p14:creationId xmlns:p14="http://schemas.microsoft.com/office/powerpoint/2010/main" val="4127592408"/>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Preliminary Results</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31</a:t>
            </a:fld>
            <a:endParaRPr lang="en-US"/>
          </a:p>
        </p:txBody>
      </p:sp>
      <p:graphicFrame>
        <p:nvGraphicFramePr>
          <p:cNvPr id="6" name="Firewall + NIDS + IPSec + Router"/>
          <p:cNvGraphicFramePr/>
          <p:nvPr>
            <p:extLst>
              <p:ext uri="{D42A27DB-BD31-4B8C-83A1-F6EECF244321}">
                <p14:modId xmlns:p14="http://schemas.microsoft.com/office/powerpoint/2010/main" val="2272263256"/>
              </p:ext>
            </p:extLst>
          </p:nvPr>
        </p:nvGraphicFramePr>
        <p:xfrm>
          <a:off x="775751" y="1690689"/>
          <a:ext cx="7858964" cy="423577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28650" y="5926462"/>
            <a:ext cx="6806350" cy="369332"/>
          </a:xfrm>
          <a:prstGeom prst="rect">
            <a:avLst/>
          </a:prstGeom>
          <a:noFill/>
        </p:spPr>
        <p:txBody>
          <a:bodyPr wrap="none" rtlCol="0">
            <a:spAutoFit/>
          </a:bodyPr>
          <a:lstStyle/>
          <a:p>
            <a:r>
              <a:rPr lang="en-US" dirty="0" smtClean="0"/>
              <a:t>Our system can significantly improve the performance of GPU sharing. </a:t>
            </a:r>
            <a:endParaRPr lang="en-SG" dirty="0"/>
          </a:p>
        </p:txBody>
      </p:sp>
    </p:spTree>
    <p:extLst>
      <p:ext uri="{BB962C8B-B14F-4D97-AF65-F5344CB8AC3E}">
        <p14:creationId xmlns:p14="http://schemas.microsoft.com/office/powerpoint/2010/main" val="318306312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a:solidFill>
                  <a:schemeClr val="bg1">
                    <a:lumMod val="65000"/>
                  </a:schemeClr>
                </a:solidFill>
              </a:rPr>
              <a:t>Why Hardware Matters?</a:t>
            </a:r>
          </a:p>
          <a:p>
            <a:r>
              <a:rPr lang="en-US" dirty="0">
                <a:solidFill>
                  <a:schemeClr val="bg1">
                    <a:lumMod val="65000"/>
                  </a:schemeClr>
                </a:solidFill>
              </a:rPr>
              <a:t>Challenges &amp; Experiences</a:t>
            </a:r>
          </a:p>
          <a:p>
            <a:r>
              <a:rPr lang="en-US" dirty="0" smtClean="0">
                <a:solidFill>
                  <a:schemeClr val="bg1">
                    <a:lumMod val="65000"/>
                  </a:schemeClr>
                </a:solidFill>
              </a:rPr>
              <a:t>On-going Projects</a:t>
            </a:r>
          </a:p>
          <a:p>
            <a:r>
              <a:rPr lang="en-US" dirty="0" smtClean="0"/>
              <a:t>Summary</a:t>
            </a:r>
            <a:endParaRPr lang="en-US" dirty="0"/>
          </a:p>
        </p:txBody>
      </p:sp>
      <p:sp>
        <p:nvSpPr>
          <p:cNvPr id="5" name="Slide Number Placeholder 4"/>
          <p:cNvSpPr>
            <a:spLocks noGrp="1"/>
          </p:cNvSpPr>
          <p:nvPr>
            <p:ph type="sldNum" sz="quarter" idx="12"/>
          </p:nvPr>
        </p:nvSpPr>
        <p:spPr/>
        <p:txBody>
          <a:bodyPr/>
          <a:lstStyle/>
          <a:p>
            <a:fld id="{CF3AA28E-4FBA-4D61-9F52-ADB8A8EEB828}" type="slidenum">
              <a:rPr lang="en-US" smtClean="0"/>
              <a:t>32</a:t>
            </a:fld>
            <a:endParaRPr lang="en-US"/>
          </a:p>
        </p:txBody>
      </p:sp>
    </p:spTree>
    <p:extLst>
      <p:ext uri="{BB962C8B-B14F-4D97-AF65-F5344CB8AC3E}">
        <p14:creationId xmlns:p14="http://schemas.microsoft.com/office/powerpoint/2010/main" val="29120173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SG" dirty="0"/>
          </a:p>
        </p:txBody>
      </p:sp>
      <p:sp>
        <p:nvSpPr>
          <p:cNvPr id="3" name="Content Placeholder 2"/>
          <p:cNvSpPr>
            <a:spLocks noGrp="1"/>
          </p:cNvSpPr>
          <p:nvPr>
            <p:ph idx="1"/>
          </p:nvPr>
        </p:nvSpPr>
        <p:spPr/>
        <p:txBody>
          <a:bodyPr>
            <a:normAutofit/>
          </a:bodyPr>
          <a:lstStyle/>
          <a:p>
            <a:r>
              <a:rPr lang="en-US" smtClean="0"/>
              <a:t>(Database) systems </a:t>
            </a:r>
            <a:r>
              <a:rPr lang="en-US" dirty="0" smtClean="0"/>
              <a:t>on emerging hardware continue to be a challenging and exciting research area.</a:t>
            </a:r>
          </a:p>
          <a:p>
            <a:r>
              <a:rPr lang="en-US" dirty="0" smtClean="0"/>
              <a:t>Our experiences demonstrate the system insights as well as open challenges of building big data systems on future architectures. </a:t>
            </a:r>
          </a:p>
          <a:p>
            <a:r>
              <a:rPr lang="en-US" dirty="0" smtClean="0"/>
              <a:t>Hardware and software co-design might be the key for the success of this battle.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41176784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smtClean="0"/>
              <a:t>Thank you!</a:t>
            </a:r>
            <a:endParaRPr lang="en-SG" dirty="0">
              <a:solidFill>
                <a:srgbClr val="FF0000"/>
              </a:solidFill>
            </a:endParaRPr>
          </a:p>
        </p:txBody>
      </p:sp>
      <p:sp>
        <p:nvSpPr>
          <p:cNvPr id="3" name="Content Placeholder 2"/>
          <p:cNvSpPr>
            <a:spLocks noGrp="1"/>
          </p:cNvSpPr>
          <p:nvPr>
            <p:ph idx="1"/>
          </p:nvPr>
        </p:nvSpPr>
        <p:spPr>
          <a:xfrm>
            <a:off x="457200" y="3065417"/>
            <a:ext cx="8229600" cy="1175658"/>
          </a:xfrm>
        </p:spPr>
        <p:txBody>
          <a:bodyPr>
            <a:normAutofit/>
          </a:bodyPr>
          <a:lstStyle/>
          <a:p>
            <a:pPr marL="0" indent="0">
              <a:buNone/>
            </a:pPr>
            <a:r>
              <a:rPr lang="en-US" altLang="zh-TW" dirty="0" smtClean="0"/>
              <a:t>More </a:t>
            </a:r>
            <a:r>
              <a:rPr lang="en-US" altLang="zh-TW" dirty="0"/>
              <a:t>about </a:t>
            </a:r>
            <a:r>
              <a:rPr lang="en-US" altLang="zh-TW" dirty="0" err="1"/>
              <a:t>Xtra</a:t>
            </a:r>
            <a:r>
              <a:rPr lang="en-US" altLang="zh-TW" dirty="0"/>
              <a:t> Computing Group:</a:t>
            </a:r>
            <a:br>
              <a:rPr lang="en-US" altLang="zh-TW" dirty="0"/>
            </a:br>
            <a:r>
              <a:rPr lang="en-US" altLang="zh-TW" dirty="0"/>
              <a:t> </a:t>
            </a:r>
            <a:r>
              <a:rPr lang="en-US" altLang="zh-TW" dirty="0">
                <a:hlinkClick r:id="rId3"/>
              </a:rPr>
              <a:t>http://www.comp.nus.edu.sg/~hebs</a:t>
            </a:r>
            <a:r>
              <a:rPr lang="en-US" altLang="zh-TW" dirty="0" smtClean="0">
                <a:hlinkClick r:id="rId3"/>
              </a:rPr>
              <a:t>/</a:t>
            </a:r>
            <a:endParaRPr lang="en-US" altLang="zh-TW" dirty="0" smtClean="0"/>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3038298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4399</TotalTime>
  <Words>2094</Words>
  <Application>Microsoft Office PowerPoint</Application>
  <PresentationFormat>On-screen Show (4:3)</PresentationFormat>
  <Paragraphs>311</Paragraphs>
  <Slides>34</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Helvetica Neue</vt:lpstr>
      <vt:lpstr>新細明體</vt:lpstr>
      <vt:lpstr>Arial</vt:lpstr>
      <vt:lpstr>Calibri</vt:lpstr>
      <vt:lpstr>Calibri Light</vt:lpstr>
      <vt:lpstr>Comic Sans MS</vt:lpstr>
      <vt:lpstr>Wingdings</vt:lpstr>
      <vt:lpstr>Office Theme</vt:lpstr>
      <vt:lpstr>Big Data Systems on Future Hardware</vt:lpstr>
      <vt:lpstr>Outline</vt:lpstr>
      <vt:lpstr>Why HW Matters: Processors</vt:lpstr>
      <vt:lpstr>Why HW Matters: Memory and Storage</vt:lpstr>
      <vt:lpstr>Emerging HPC Hardware: Parallelism and Heterogeneity</vt:lpstr>
      <vt:lpstr>Emerging HPC Hardware: Parallelism and Heterogeneity (Cont’)</vt:lpstr>
      <vt:lpstr>Emerging HPC Hardware: Generalization vs. Specialization </vt:lpstr>
      <vt:lpstr>Future Hardware</vt:lpstr>
      <vt:lpstr>When Big Data Meets Emerging Hardware</vt:lpstr>
      <vt:lpstr>When Big Data Meets Emerging Hardware (Con’t)</vt:lpstr>
      <vt:lpstr>Outline</vt:lpstr>
      <vt:lpstr>Challenges &amp; Experiences</vt:lpstr>
      <vt:lpstr>Challenge #1: HW is simply one side of the coin; SW is the other side.</vt:lpstr>
      <vt:lpstr>Our Experiences in GPGPU-based Data Management Systems</vt:lpstr>
      <vt:lpstr>Challenge #2: The leap from prototype to production</vt:lpstr>
      <vt:lpstr>Experiences in Addressing Practical Issues of GPU Computing</vt:lpstr>
      <vt:lpstr>Performance, or Perf per $, or Perf per Joule?</vt:lpstr>
      <vt:lpstr>Challenge #3: Millions of lines of legacy code</vt:lpstr>
      <vt:lpstr>“Architectural Evolution” of FPGA (Field Programmable Gate Arrays)</vt:lpstr>
      <vt:lpstr>“Architectural Evolution” of FPGAs: From OpenCL’s Perspective</vt:lpstr>
      <vt:lpstr>Our Experiences on FPGA</vt:lpstr>
      <vt:lpstr>Our Solution: Static and Dynamic Program Analysis</vt:lpstr>
      <vt:lpstr>Challenge #4: Generalization vs. Specialization</vt:lpstr>
      <vt:lpstr>SW Portability vs. Specialization</vt:lpstr>
      <vt:lpstr>Challenge #5: Hardware acceleration as a service</vt:lpstr>
      <vt:lpstr>Outline</vt:lpstr>
      <vt:lpstr>On-going Projects</vt:lpstr>
      <vt:lpstr>Network Function Virtualization</vt:lpstr>
      <vt:lpstr>GPU-Accelerated NFVs?</vt:lpstr>
      <vt:lpstr>Poseidon: Use Remote API to Virtualize GPUs in NFV</vt:lpstr>
      <vt:lpstr>Preliminary Results</vt:lpstr>
      <vt:lpstr>Outline</vt:lpstr>
      <vt:lpstr>Summary</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Systems on Future Hardware</dc:title>
  <dc:creator>HE Bingsheng</dc:creator>
  <cp:lastModifiedBy>HE Bingsheng</cp:lastModifiedBy>
  <cp:revision>104</cp:revision>
  <dcterms:created xsi:type="dcterms:W3CDTF">2016-06-13T01:18:11Z</dcterms:created>
  <dcterms:modified xsi:type="dcterms:W3CDTF">2018-01-09T04:41:38Z</dcterms:modified>
</cp:coreProperties>
</file>