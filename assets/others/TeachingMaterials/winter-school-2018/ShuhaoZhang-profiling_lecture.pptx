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png" ContentType="image/png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3.xml" ContentType="application/vnd.openxmlformats-officedocument.themeOverride+xml"/>
  <Override PartName="/ppt/notesSlides/notesSlide2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4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5.xml" ContentType="application/vnd.openxmlformats-officedocument.themeOverr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8.xml" ContentType="application/vnd.openxmlformats-officedocument.themeOverr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9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0.xml" ContentType="application/vnd.openxmlformats-officedocument.themeOverr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1.xml" ContentType="application/vnd.openxmlformats-officedocument.themeOverride+xml"/>
  <Override PartName="/ppt/notesSlides/notesSlide4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6" r:id="rId2"/>
    <p:sldId id="337" r:id="rId3"/>
    <p:sldId id="339" r:id="rId4"/>
    <p:sldId id="311" r:id="rId5"/>
    <p:sldId id="312" r:id="rId6"/>
    <p:sldId id="313" r:id="rId7"/>
    <p:sldId id="314" r:id="rId8"/>
    <p:sldId id="343" r:id="rId9"/>
    <p:sldId id="338" r:id="rId10"/>
    <p:sldId id="258" r:id="rId11"/>
    <p:sldId id="316" r:id="rId12"/>
    <p:sldId id="317" r:id="rId13"/>
    <p:sldId id="326" r:id="rId14"/>
    <p:sldId id="341" r:id="rId15"/>
    <p:sldId id="259" r:id="rId16"/>
    <p:sldId id="262" r:id="rId17"/>
    <p:sldId id="285" r:id="rId18"/>
    <p:sldId id="263" r:id="rId19"/>
    <p:sldId id="288" r:id="rId20"/>
    <p:sldId id="302" r:id="rId21"/>
    <p:sldId id="264" r:id="rId22"/>
    <p:sldId id="266" r:id="rId23"/>
    <p:sldId id="289" r:id="rId24"/>
    <p:sldId id="267" r:id="rId25"/>
    <p:sldId id="305" r:id="rId26"/>
    <p:sldId id="268" r:id="rId27"/>
    <p:sldId id="304" r:id="rId28"/>
    <p:sldId id="306" r:id="rId29"/>
    <p:sldId id="269" r:id="rId30"/>
    <p:sldId id="270" r:id="rId31"/>
    <p:sldId id="271" r:id="rId32"/>
    <p:sldId id="273" r:id="rId33"/>
    <p:sldId id="274" r:id="rId34"/>
    <p:sldId id="307" r:id="rId35"/>
    <p:sldId id="340" r:id="rId36"/>
    <p:sldId id="342" r:id="rId37"/>
    <p:sldId id="336" r:id="rId38"/>
    <p:sldId id="328" r:id="rId39"/>
    <p:sldId id="330" r:id="rId40"/>
    <p:sldId id="331" r:id="rId41"/>
    <p:sldId id="332" r:id="rId42"/>
    <p:sldId id="333" r:id="rId43"/>
    <p:sldId id="334" r:id="rId44"/>
    <p:sldId id="335" r:id="rId45"/>
    <p:sldId id="325" r:id="rId46"/>
    <p:sldId id="310" r:id="rId47"/>
    <p:sldId id="295" r:id="rId48"/>
    <p:sldId id="296" r:id="rId49"/>
    <p:sldId id="297" r:id="rId50"/>
    <p:sldId id="300" r:id="rId51"/>
    <p:sldId id="298" r:id="rId52"/>
    <p:sldId id="308" r:id="rId53"/>
  </p:sldIdLst>
  <p:sldSz cx="12192000" cy="6858000"/>
  <p:notesSz cx="9872663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CA600A-08E9-4F5A-B540-62F52A7AD4EA}">
          <p14:sldIdLst>
            <p14:sldId id="256"/>
            <p14:sldId id="337"/>
          </p14:sldIdLst>
        </p14:section>
        <p14:section name="Intro" id="{038D7042-3353-4183-928A-9A2F005B1B67}">
          <p14:sldIdLst>
            <p14:sldId id="339"/>
            <p14:sldId id="311"/>
            <p14:sldId id="312"/>
            <p14:sldId id="313"/>
            <p14:sldId id="314"/>
            <p14:sldId id="343"/>
            <p14:sldId id="338"/>
            <p14:sldId id="258"/>
            <p14:sldId id="316"/>
            <p14:sldId id="317"/>
            <p14:sldId id="326"/>
          </p14:sldIdLst>
        </p14:section>
        <p14:section name="ICDE2017" id="{B210F5C6-0993-4478-81EC-A2E9C1027269}">
          <p14:sldIdLst>
            <p14:sldId id="341"/>
            <p14:sldId id="259"/>
            <p14:sldId id="262"/>
            <p14:sldId id="285"/>
            <p14:sldId id="263"/>
            <p14:sldId id="288"/>
            <p14:sldId id="302"/>
            <p14:sldId id="264"/>
            <p14:sldId id="266"/>
            <p14:sldId id="289"/>
            <p14:sldId id="267"/>
            <p14:sldId id="305"/>
            <p14:sldId id="268"/>
            <p14:sldId id="304"/>
            <p14:sldId id="306"/>
            <p14:sldId id="269"/>
            <p14:sldId id="270"/>
            <p14:sldId id="271"/>
            <p14:sldId id="273"/>
            <p14:sldId id="274"/>
            <p14:sldId id="307"/>
            <p14:sldId id="340"/>
          </p14:sldIdLst>
        </p14:section>
        <p14:section name="BriskStream" id="{7EDA5F9E-72CE-2342-8682-0F6EDD67C0CA}">
          <p14:sldIdLst>
            <p14:sldId id="342"/>
            <p14:sldId id="336"/>
            <p14:sldId id="328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backup" id="{E6B0EFC0-9508-4809-B197-1138FBB2BE2A}">
          <p14:sldIdLst>
            <p14:sldId id="325"/>
            <p14:sldId id="310"/>
            <p14:sldId id="295"/>
            <p14:sldId id="296"/>
            <p14:sldId id="297"/>
            <p14:sldId id="300"/>
            <p14:sldId id="298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9" autoAdjust="0"/>
    <p:restoredTop sz="71016" autoAdjust="0"/>
  </p:normalViewPr>
  <p:slideViewPr>
    <p:cSldViewPr snapToGrid="0">
      <p:cViewPr varScale="1">
        <p:scale>
          <a:sx n="88" d="100"/>
          <a:sy n="88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8" d="100"/>
          <a:sy n="128" d="100"/>
        </p:scale>
        <p:origin x="58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handoutMaster" Target="handoutMasters/handout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4" Type="http://schemas.openxmlformats.org/officeDocument/2006/relationships/oleObject" Target="file:////C:\Users\szhang026\Documents\Profile-experiments\ExperimentResults\StormResults\rawResults\stormExecutionTimeBreakdown_APP.xlsm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4" Type="http://schemas.openxmlformats.org/officeDocument/2006/relationships/oleObject" Target="file:////C:\Users\szhang026\Documents\Profile-experiments\ExperimentResults\FlinkResults\rawResults\Flink_ExecutionTimeBreakdown_APP.xlsx" TargetMode="External"/><Relationship Id="rId1" Type="http://schemas.microsoft.com/office/2011/relationships/chartStyle" Target="style2.xml"/><Relationship Id="rId2" Type="http://schemas.microsoft.com/office/2011/relationships/chartColorStyle" Target="colors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4" Type="http://schemas.openxmlformats.org/officeDocument/2006/relationships/oleObject" Target="file:////C:\Users\szhang026\Documents\Profile-experiments\ExperimentResults\StormResults\rawResults\stormExecutionTimeBreakdown_APP.xlsm" TargetMode="External"/><Relationship Id="rId1" Type="http://schemas.microsoft.com/office/2011/relationships/chartStyle" Target="style3.xml"/><Relationship Id="rId2" Type="http://schemas.microsoft.com/office/2011/relationships/chartColorStyle" Target="colors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4" Type="http://schemas.openxmlformats.org/officeDocument/2006/relationships/oleObject" Target="file:////C:\Users\szhang026\Documents\Profile-experiments\ExperimentResults\FlinkResults\rawResults\Flink_ExecutionTimeBreakdown_APP.xlsx" TargetMode="External"/><Relationship Id="rId1" Type="http://schemas.microsoft.com/office/2011/relationships/chartStyle" Target="style4.xml"/><Relationship Id="rId2" Type="http://schemas.microsoft.com/office/2011/relationships/chartColorStyle" Target="colors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4" Type="http://schemas.openxmlformats.org/officeDocument/2006/relationships/oleObject" Target="file:////C:\Users\szhang026\Documents\Profile-experiments\ExperimentResults\FlinkResults\rawResults\Flink_ExecutionTimeBreakdown_APP.xlsx" TargetMode="External"/><Relationship Id="rId1" Type="http://schemas.microsoft.com/office/2011/relationships/chartStyle" Target="style5.xml"/><Relationship Id="rId2" Type="http://schemas.microsoft.com/office/2011/relationships/chartColorStyle" Target="colors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4" Type="http://schemas.openxmlformats.org/officeDocument/2006/relationships/oleObject" Target="file:////C:\Users\szhang026\Documents\Profile-experiments\ExperimentResults\StormResults\rawResults\stormExecutionTimeBreakdown_APP.xlsm" TargetMode="External"/><Relationship Id="rId1" Type="http://schemas.microsoft.com/office/2011/relationships/chartStyle" Target="style6.xml"/><Relationship Id="rId2" Type="http://schemas.microsoft.com/office/2011/relationships/chartColorStyle" Target="colors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4" Type="http://schemas.openxmlformats.org/officeDocument/2006/relationships/oleObject" Target="file:////C:\Users\I309939\Documents\myworkingonpapers\profiling\experimentResults(VLDBSubmission)\StormResults\storm-ExecutionTime.xlsx" TargetMode="External"/><Relationship Id="rId1" Type="http://schemas.microsoft.com/office/2011/relationships/chartStyle" Target="style7.xml"/><Relationship Id="rId2" Type="http://schemas.microsoft.com/office/2011/relationships/chartColorStyle" Target="colors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4" Type="http://schemas.openxmlformats.org/officeDocument/2006/relationships/oleObject" Target="file:////C:\Users\I309939\Documents\myworkingonpapers\profiling\experimentResults(VLDBSubmission)\StormResults\storm-ExecutionTime.xlsx" TargetMode="External"/><Relationship Id="rId1" Type="http://schemas.microsoft.com/office/2011/relationships/chartStyle" Target="style8.xml"/><Relationship Id="rId2" Type="http://schemas.microsoft.com/office/2011/relationships/chartColorStyle" Target="colors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4" Type="http://schemas.openxmlformats.org/officeDocument/2006/relationships/oleObject" Target="file:////C:\Users\I309939\Documents\myworkingonpapers\profiling\experimentResults(VLDBSubmission)\StormResults\storm-ExecutionTime.xlsx" TargetMode="External"/><Relationship Id="rId1" Type="http://schemas.microsoft.com/office/2011/relationships/chartStyle" Target="style9.xml"/><Relationship Id="rId2" Type="http://schemas.microsoft.com/office/2011/relationships/chartColorStyle" Target="colors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4" Type="http://schemas.openxmlformats.org/officeDocument/2006/relationships/oleObject" Target="file:////C:\Users\I309939\Documents\myworkingonpapers\profiling\experimentResults(VLDBSubmission)\StormResults\storm-ExecutionTime.xlsx" TargetMode="External"/><Relationship Id="rId1" Type="http://schemas.microsoft.com/office/2011/relationships/chartStyle" Target="style10.xml"/><Relationship Id="rId2" Type="http://schemas.microsoft.com/office/2011/relationships/chartColorStyle" Target="colors10.xml"/></Relationships>
</file>

<file path=ppt/charts/_rels/chart11.xml.rels><?xml version="1.0" encoding="UTF-8" standalone="yes"?>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oleObject" Target="file:////C:\Users\szhang026\Documents\Profile-experiments\ExperimentResults\StormResults\storm-ExecutionTim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1180631819857"/>
          <c:y val="0.0454305920093322"/>
          <c:w val="0.757361180815376"/>
          <c:h val="0.651405595577149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appBreakdown!$A$2</c:f>
              <c:strCache>
                <c:ptCount val="1"/>
                <c:pt idx="0">
                  <c:v>Computation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appBreakdown!$B$2:$H$2</c:f>
              <c:numCache>
                <c:formatCode>0%</c:formatCode>
                <c:ptCount val="7"/>
                <c:pt idx="0">
                  <c:v>0.254163509303696</c:v>
                </c:pt>
                <c:pt idx="1">
                  <c:v>0.248940282536022</c:v>
                </c:pt>
                <c:pt idx="2">
                  <c:v>0.241947458595089</c:v>
                </c:pt>
                <c:pt idx="3">
                  <c:v>0.246237339185851</c:v>
                </c:pt>
                <c:pt idx="4">
                  <c:v>0.25403725554818</c:v>
                </c:pt>
                <c:pt idx="5">
                  <c:v>0.409916128115711</c:v>
                </c:pt>
                <c:pt idx="6">
                  <c:v>0.228509214167722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88D-424C-92E2-14B4D2403245}"/>
            </c:ext>
          </c:extLst>
        </c:ser>
        <c:ser>
          <c:idx val="1"/>
          <c:order val="1"/>
          <c:tx>
            <c:strRef>
              <c:f>appBreakdown!$A$3</c:f>
              <c:strCache>
                <c:ptCount val="1"/>
                <c:pt idx="0">
                  <c:v>Front-end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appBreakdown!$B$3:$H$3</c:f>
              <c:numCache>
                <c:formatCode>0%</c:formatCode>
                <c:ptCount val="7"/>
                <c:pt idx="0">
                  <c:v>0.468474081558194</c:v>
                </c:pt>
                <c:pt idx="1">
                  <c:v>0.531287587825899</c:v>
                </c:pt>
                <c:pt idx="2">
                  <c:v>0.523986293546545</c:v>
                </c:pt>
                <c:pt idx="3">
                  <c:v>0.548276384539803</c:v>
                </c:pt>
                <c:pt idx="4">
                  <c:v>0.515473631928553</c:v>
                </c:pt>
                <c:pt idx="5">
                  <c:v>0.436685304863175</c:v>
                </c:pt>
                <c:pt idx="6">
                  <c:v>0.331200523459121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88D-424C-92E2-14B4D2403245}"/>
            </c:ext>
          </c:extLst>
        </c:ser>
        <c:ser>
          <c:idx val="0"/>
          <c:order val="2"/>
          <c:tx>
            <c:strRef>
              <c:f>appBreakdown!$A$5</c:f>
              <c:strCache>
                <c:ptCount val="1"/>
                <c:pt idx="0">
                  <c:v>Back-end stalls</c:v>
                </c:pt>
              </c:strCache>
            </c:strRef>
          </c:tx>
          <c:spPr>
            <a:pattFill prst="ltHorz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appBreakdown!$B$5:$H$5</c:f>
              <c:numCache>
                <c:formatCode>0%</c:formatCode>
                <c:ptCount val="7"/>
                <c:pt idx="0">
                  <c:v>0.209034267912773</c:v>
                </c:pt>
                <c:pt idx="1">
                  <c:v>0.164664747700144</c:v>
                </c:pt>
                <c:pt idx="2">
                  <c:v>0.180411193603655</c:v>
                </c:pt>
                <c:pt idx="3">
                  <c:v>0.146764433098559</c:v>
                </c:pt>
                <c:pt idx="4">
                  <c:v>0.172048126778412</c:v>
                </c:pt>
                <c:pt idx="5">
                  <c:v>0.128956707740391</c:v>
                </c:pt>
                <c:pt idx="6">
                  <c:v>0.398504708986763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488D-424C-92E2-14B4D2403245}"/>
            </c:ext>
          </c:extLst>
        </c:ser>
        <c:ser>
          <c:idx val="3"/>
          <c:order val="3"/>
          <c:tx>
            <c:strRef>
              <c:f>appBreakdown!$A$4</c:f>
              <c:strCache>
                <c:ptCount val="1"/>
                <c:pt idx="0">
                  <c:v>Bad speculation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appBreakdown!$B$4:$H$4</c:f>
              <c:numCache>
                <c:formatCode>0%</c:formatCode>
                <c:ptCount val="7"/>
                <c:pt idx="0">
                  <c:v>0.0683281412253375</c:v>
                </c:pt>
                <c:pt idx="1">
                  <c:v>0.055107381937935</c:v>
                </c:pt>
                <c:pt idx="2">
                  <c:v>0.0536550542547116</c:v>
                </c:pt>
                <c:pt idx="3">
                  <c:v>0.0587218431757867</c:v>
                </c:pt>
                <c:pt idx="4">
                  <c:v>0.0584409857448557</c:v>
                </c:pt>
                <c:pt idx="5">
                  <c:v>0.0244418592807229</c:v>
                </c:pt>
                <c:pt idx="6">
                  <c:v>0.0417855533863943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488D-424C-92E2-14B4D24032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544336"/>
        <c:axId val="370507392"/>
      </c:barChart>
      <c:catAx>
        <c:axId val="370544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507392"/>
        <c:crosses val="autoZero"/>
        <c:auto val="1"/>
        <c:lblAlgn val="ctr"/>
        <c:lblOffset val="100"/>
        <c:noMultiLvlLbl val="0"/>
      </c:catAx>
      <c:valAx>
        <c:axId val="370507392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 b="1" i="0" baseline="0">
                    <a:solidFill>
                      <a:sysClr val="windowText" lastClr="000000"/>
                    </a:solidFill>
                    <a:effectLst/>
                  </a:rPr>
                  <a:t>Percentage of different components</a:t>
                </a:r>
                <a:endParaRPr lang="en-SG" sz="1400">
                  <a:solidFill>
                    <a:sysClr val="windowText" lastClr="000000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544336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18264736128379"/>
          <c:y val="0.809222805539845"/>
          <c:w val="0.619830005762296"/>
          <c:h val="0.1614256994471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6572356421549"/>
          <c:y val="0.0499491105278507"/>
          <c:w val="0.75301103251924"/>
          <c:h val="0.639704842940473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appBreakdown!$A$2</c:f>
              <c:strCache>
                <c:ptCount val="1"/>
                <c:pt idx="0">
                  <c:v>Computation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appBreakdown!$B$2:$H$2</c:f>
              <c:numCache>
                <c:formatCode>0%</c:formatCode>
                <c:ptCount val="7"/>
                <c:pt idx="0">
                  <c:v>0.330076379296335</c:v>
                </c:pt>
                <c:pt idx="1">
                  <c:v>0.31240605091742</c:v>
                </c:pt>
                <c:pt idx="2">
                  <c:v>0.331738618812973</c:v>
                </c:pt>
                <c:pt idx="3">
                  <c:v>0.33939633040488</c:v>
                </c:pt>
                <c:pt idx="4">
                  <c:v>0.393996699777807</c:v>
                </c:pt>
                <c:pt idx="5">
                  <c:v>0.421437588084399</c:v>
                </c:pt>
                <c:pt idx="6">
                  <c:v>0.348359100075126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881-498B-AEBD-FF41487ADE13}"/>
            </c:ext>
          </c:extLst>
        </c:ser>
        <c:ser>
          <c:idx val="0"/>
          <c:order val="1"/>
          <c:tx>
            <c:strRef>
              <c:f>appBreakdown!$A$3</c:f>
              <c:strCache>
                <c:ptCount val="1"/>
                <c:pt idx="0">
                  <c:v>Front-end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appBreakdown!$B$3:$H$3</c:f>
              <c:numCache>
                <c:formatCode>0%</c:formatCode>
                <c:ptCount val="7"/>
                <c:pt idx="0">
                  <c:v>0.249289022507516</c:v>
                </c:pt>
                <c:pt idx="1">
                  <c:v>0.43173033332538</c:v>
                </c:pt>
                <c:pt idx="2">
                  <c:v>0.428999043906744</c:v>
                </c:pt>
                <c:pt idx="3">
                  <c:v>0.557393362696375</c:v>
                </c:pt>
                <c:pt idx="4">
                  <c:v>0.43310514965364</c:v>
                </c:pt>
                <c:pt idx="5">
                  <c:v>0.437427124418263</c:v>
                </c:pt>
                <c:pt idx="6">
                  <c:v>0.406729666679847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881-498B-AEBD-FF41487ADE13}"/>
            </c:ext>
          </c:extLst>
        </c:ser>
        <c:ser>
          <c:idx val="1"/>
          <c:order val="2"/>
          <c:tx>
            <c:strRef>
              <c:f>appBreakdown!$A$5</c:f>
              <c:strCache>
                <c:ptCount val="1"/>
                <c:pt idx="0">
                  <c:v>Back-end stalls</c:v>
                </c:pt>
              </c:strCache>
            </c:strRef>
          </c:tx>
          <c:spPr>
            <a:pattFill prst="dkHorz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appBreakdown!$B$5:$H$5</c:f>
              <c:numCache>
                <c:formatCode>0%</c:formatCode>
                <c:ptCount val="7"/>
                <c:pt idx="0">
                  <c:v>0.39676606809133</c:v>
                </c:pt>
                <c:pt idx="1">
                  <c:v>0.240778077354394</c:v>
                </c:pt>
                <c:pt idx="2">
                  <c:v>0.206111642274031</c:v>
                </c:pt>
                <c:pt idx="3">
                  <c:v>0.0745695645005535</c:v>
                </c:pt>
                <c:pt idx="4">
                  <c:v>0.13280126780813</c:v>
                </c:pt>
                <c:pt idx="5">
                  <c:v>0.118574274792907</c:v>
                </c:pt>
                <c:pt idx="6">
                  <c:v>0.208058202522637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C881-498B-AEBD-FF41487ADE13}"/>
            </c:ext>
          </c:extLst>
        </c:ser>
        <c:ser>
          <c:idx val="2"/>
          <c:order val="3"/>
          <c:tx>
            <c:strRef>
              <c:f>appBreakdown!$A$4</c:f>
              <c:strCache>
                <c:ptCount val="1"/>
                <c:pt idx="0">
                  <c:v>Bad speculation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appBreakdown!$B$4:$H$4</c:f>
              <c:numCache>
                <c:formatCode>0%</c:formatCode>
                <c:ptCount val="7"/>
                <c:pt idx="0">
                  <c:v>0.0238685301048184</c:v>
                </c:pt>
                <c:pt idx="1">
                  <c:v>0.0150855384028059</c:v>
                </c:pt>
                <c:pt idx="2">
                  <c:v>0.0331506950062514</c:v>
                </c:pt>
                <c:pt idx="3">
                  <c:v>0.0286407423981911</c:v>
                </c:pt>
                <c:pt idx="4">
                  <c:v>0.0400968827604235</c:v>
                </c:pt>
                <c:pt idx="5">
                  <c:v>0.0225610127044318</c:v>
                </c:pt>
                <c:pt idx="6">
                  <c:v>0.0368530307223914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C881-498B-AEBD-FF41487AD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4638768"/>
        <c:axId val="214641600"/>
      </c:barChart>
      <c:catAx>
        <c:axId val="214638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1600"/>
        <c:crosses val="autoZero"/>
        <c:auto val="1"/>
        <c:lblAlgn val="ctr"/>
        <c:lblOffset val="100"/>
        <c:noMultiLvlLbl val="0"/>
      </c:catAx>
      <c:valAx>
        <c:axId val="214641600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 b="1">
                    <a:solidFill>
                      <a:schemeClr val="tx1"/>
                    </a:solidFill>
                  </a:rPr>
                  <a:t>Percentage of different components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38768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31960274033542"/>
          <c:y val="0.80151597245699"/>
          <c:w val="0.626146848169403"/>
          <c:h val="0.1581911125039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1180631819857"/>
          <c:y val="0.0454305920093322"/>
          <c:w val="0.757361180815376"/>
          <c:h val="0.651405595577149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appBreakdown!$A$2</c:f>
              <c:strCache>
                <c:ptCount val="1"/>
                <c:pt idx="0">
                  <c:v>Computation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appBreakdown!$B$2:$H$2</c:f>
              <c:numCache>
                <c:formatCode>0%</c:formatCode>
                <c:ptCount val="7"/>
                <c:pt idx="0">
                  <c:v>0.254163509303696</c:v>
                </c:pt>
                <c:pt idx="1">
                  <c:v>0.248940282536022</c:v>
                </c:pt>
                <c:pt idx="2">
                  <c:v>0.241947458595089</c:v>
                </c:pt>
                <c:pt idx="3">
                  <c:v>0.246237339185851</c:v>
                </c:pt>
                <c:pt idx="4">
                  <c:v>0.25403725554818</c:v>
                </c:pt>
                <c:pt idx="5">
                  <c:v>0.409916128115711</c:v>
                </c:pt>
                <c:pt idx="6">
                  <c:v>0.228509214167722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772-4E85-B35E-E818E7C87515}"/>
            </c:ext>
          </c:extLst>
        </c:ser>
        <c:ser>
          <c:idx val="1"/>
          <c:order val="1"/>
          <c:tx>
            <c:strRef>
              <c:f>appBreakdown!$A$3</c:f>
              <c:strCache>
                <c:ptCount val="1"/>
                <c:pt idx="0">
                  <c:v>Front-end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appBreakdown!$B$3:$H$3</c:f>
              <c:numCache>
                <c:formatCode>0%</c:formatCode>
                <c:ptCount val="7"/>
                <c:pt idx="0">
                  <c:v>0.468474081558194</c:v>
                </c:pt>
                <c:pt idx="1">
                  <c:v>0.531287587825899</c:v>
                </c:pt>
                <c:pt idx="2">
                  <c:v>0.523986293546545</c:v>
                </c:pt>
                <c:pt idx="3">
                  <c:v>0.548276384539803</c:v>
                </c:pt>
                <c:pt idx="4">
                  <c:v>0.515473631928553</c:v>
                </c:pt>
                <c:pt idx="5">
                  <c:v>0.436685304863175</c:v>
                </c:pt>
                <c:pt idx="6">
                  <c:v>0.331200523459121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772-4E85-B35E-E818E7C87515}"/>
            </c:ext>
          </c:extLst>
        </c:ser>
        <c:ser>
          <c:idx val="0"/>
          <c:order val="2"/>
          <c:tx>
            <c:strRef>
              <c:f>appBreakdown!$A$5</c:f>
              <c:strCache>
                <c:ptCount val="1"/>
                <c:pt idx="0">
                  <c:v>Back-end stalls</c:v>
                </c:pt>
              </c:strCache>
            </c:strRef>
          </c:tx>
          <c:spPr>
            <a:pattFill prst="ltHorz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appBreakdown!$B$5:$H$5</c:f>
              <c:numCache>
                <c:formatCode>0%</c:formatCode>
                <c:ptCount val="7"/>
                <c:pt idx="0">
                  <c:v>0.209034267912773</c:v>
                </c:pt>
                <c:pt idx="1">
                  <c:v>0.164664747700144</c:v>
                </c:pt>
                <c:pt idx="2">
                  <c:v>0.180411193603655</c:v>
                </c:pt>
                <c:pt idx="3">
                  <c:v>0.146764433098559</c:v>
                </c:pt>
                <c:pt idx="4">
                  <c:v>0.172048126778412</c:v>
                </c:pt>
                <c:pt idx="5">
                  <c:v>0.128956707740391</c:v>
                </c:pt>
                <c:pt idx="6">
                  <c:v>0.398504708986763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772-4E85-B35E-E818E7C87515}"/>
            </c:ext>
          </c:extLst>
        </c:ser>
        <c:ser>
          <c:idx val="3"/>
          <c:order val="3"/>
          <c:tx>
            <c:strRef>
              <c:f>appBreakdown!$A$4</c:f>
              <c:strCache>
                <c:ptCount val="1"/>
                <c:pt idx="0">
                  <c:v>Bad speculation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appBreakdown!$B$4:$H$4</c:f>
              <c:numCache>
                <c:formatCode>0%</c:formatCode>
                <c:ptCount val="7"/>
                <c:pt idx="0">
                  <c:v>0.0683281412253375</c:v>
                </c:pt>
                <c:pt idx="1">
                  <c:v>0.055107381937935</c:v>
                </c:pt>
                <c:pt idx="2">
                  <c:v>0.0536550542547116</c:v>
                </c:pt>
                <c:pt idx="3">
                  <c:v>0.0587218431757867</c:v>
                </c:pt>
                <c:pt idx="4">
                  <c:v>0.0584409857448557</c:v>
                </c:pt>
                <c:pt idx="5">
                  <c:v>0.0244418592807229</c:v>
                </c:pt>
                <c:pt idx="6">
                  <c:v>0.0417855533863943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772-4E85-B35E-E818E7C87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0847408"/>
        <c:axId val="370850672"/>
      </c:barChart>
      <c:catAx>
        <c:axId val="370847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850672"/>
        <c:crosses val="autoZero"/>
        <c:auto val="1"/>
        <c:lblAlgn val="ctr"/>
        <c:lblOffset val="100"/>
        <c:noMultiLvlLbl val="0"/>
      </c:catAx>
      <c:valAx>
        <c:axId val="370850672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 b="1" i="0" baseline="0">
                    <a:solidFill>
                      <a:sysClr val="windowText" lastClr="000000"/>
                    </a:solidFill>
                    <a:effectLst/>
                  </a:rPr>
                  <a:t>Percentage of different components</a:t>
                </a:r>
                <a:endParaRPr lang="en-SG" sz="1400">
                  <a:solidFill>
                    <a:sysClr val="windowText" lastClr="000000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847408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18264736128379"/>
          <c:y val="0.809222805539845"/>
          <c:w val="0.619830005762296"/>
          <c:h val="0.1614256994471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6572356421549"/>
          <c:y val="0.0499491105278507"/>
          <c:w val="0.75301103251924"/>
          <c:h val="0.639704842940473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appBreakdown!$A$2</c:f>
              <c:strCache>
                <c:ptCount val="1"/>
                <c:pt idx="0">
                  <c:v>Computation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appBreakdown!$B$2:$H$2</c:f>
              <c:numCache>
                <c:formatCode>0%</c:formatCode>
                <c:ptCount val="7"/>
                <c:pt idx="0">
                  <c:v>0.330076379296335</c:v>
                </c:pt>
                <c:pt idx="1">
                  <c:v>0.31240605091742</c:v>
                </c:pt>
                <c:pt idx="2">
                  <c:v>0.331738618812973</c:v>
                </c:pt>
                <c:pt idx="3">
                  <c:v>0.33939633040488</c:v>
                </c:pt>
                <c:pt idx="4">
                  <c:v>0.393996699777807</c:v>
                </c:pt>
                <c:pt idx="5">
                  <c:v>0.421437588084399</c:v>
                </c:pt>
                <c:pt idx="6">
                  <c:v>0.348359100075126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72E-46A4-943B-CFEE02912991}"/>
            </c:ext>
          </c:extLst>
        </c:ser>
        <c:ser>
          <c:idx val="0"/>
          <c:order val="1"/>
          <c:tx>
            <c:strRef>
              <c:f>appBreakdown!$A$3</c:f>
              <c:strCache>
                <c:ptCount val="1"/>
                <c:pt idx="0">
                  <c:v>Front-end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appBreakdown!$B$3:$H$3</c:f>
              <c:numCache>
                <c:formatCode>0%</c:formatCode>
                <c:ptCount val="7"/>
                <c:pt idx="0">
                  <c:v>0.249289022507516</c:v>
                </c:pt>
                <c:pt idx="1">
                  <c:v>0.43173033332538</c:v>
                </c:pt>
                <c:pt idx="2">
                  <c:v>0.428999043906744</c:v>
                </c:pt>
                <c:pt idx="3">
                  <c:v>0.557393362696375</c:v>
                </c:pt>
                <c:pt idx="4">
                  <c:v>0.43310514965364</c:v>
                </c:pt>
                <c:pt idx="5">
                  <c:v>0.437427124418263</c:v>
                </c:pt>
                <c:pt idx="6">
                  <c:v>0.406729666679847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72E-46A4-943B-CFEE02912991}"/>
            </c:ext>
          </c:extLst>
        </c:ser>
        <c:ser>
          <c:idx val="1"/>
          <c:order val="2"/>
          <c:tx>
            <c:strRef>
              <c:f>appBreakdown!$A$5</c:f>
              <c:strCache>
                <c:ptCount val="1"/>
                <c:pt idx="0">
                  <c:v>Back-end stalls</c:v>
                </c:pt>
              </c:strCache>
            </c:strRef>
          </c:tx>
          <c:spPr>
            <a:pattFill prst="dkHorz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appBreakdown!$B$5:$H$5</c:f>
              <c:numCache>
                <c:formatCode>0%</c:formatCode>
                <c:ptCount val="7"/>
                <c:pt idx="0">
                  <c:v>0.39676606809133</c:v>
                </c:pt>
                <c:pt idx="1">
                  <c:v>0.240778077354394</c:v>
                </c:pt>
                <c:pt idx="2">
                  <c:v>0.206111642274031</c:v>
                </c:pt>
                <c:pt idx="3">
                  <c:v>0.0745695645005535</c:v>
                </c:pt>
                <c:pt idx="4">
                  <c:v>0.13280126780813</c:v>
                </c:pt>
                <c:pt idx="5">
                  <c:v>0.118574274792907</c:v>
                </c:pt>
                <c:pt idx="6">
                  <c:v>0.208058202522637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72E-46A4-943B-CFEE02912991}"/>
            </c:ext>
          </c:extLst>
        </c:ser>
        <c:ser>
          <c:idx val="2"/>
          <c:order val="3"/>
          <c:tx>
            <c:strRef>
              <c:f>appBreakdown!$A$4</c:f>
              <c:strCache>
                <c:ptCount val="1"/>
                <c:pt idx="0">
                  <c:v>Bad speculation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appBreakdown!$B$1:$H$1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appBreakdown!$B$4:$H$4</c:f>
              <c:numCache>
                <c:formatCode>0%</c:formatCode>
                <c:ptCount val="7"/>
                <c:pt idx="0">
                  <c:v>0.0238685301048184</c:v>
                </c:pt>
                <c:pt idx="1">
                  <c:v>0.0150855384028059</c:v>
                </c:pt>
                <c:pt idx="2">
                  <c:v>0.0331506950062514</c:v>
                </c:pt>
                <c:pt idx="3">
                  <c:v>0.0286407423981911</c:v>
                </c:pt>
                <c:pt idx="4">
                  <c:v>0.0400968827604235</c:v>
                </c:pt>
                <c:pt idx="5">
                  <c:v>0.0225610127044318</c:v>
                </c:pt>
                <c:pt idx="6">
                  <c:v>0.0368530307223914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972E-46A4-943B-CFEE02912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7873584"/>
        <c:axId val="217876848"/>
      </c:barChart>
      <c:catAx>
        <c:axId val="217873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876848"/>
        <c:crosses val="autoZero"/>
        <c:auto val="1"/>
        <c:lblAlgn val="ctr"/>
        <c:lblOffset val="100"/>
        <c:noMultiLvlLbl val="0"/>
      </c:catAx>
      <c:valAx>
        <c:axId val="217876848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 b="1">
                    <a:solidFill>
                      <a:schemeClr val="tx1"/>
                    </a:solidFill>
                  </a:rPr>
                  <a:t>Percentage of different components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7873584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231960274033542"/>
          <c:y val="0.80151597245699"/>
          <c:w val="0.626146848169403"/>
          <c:h val="0.1581911125039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2944712556092"/>
          <c:y val="0.0501231529075807"/>
          <c:w val="0.757055287443908"/>
          <c:h val="0.70365416029910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appfrontBreakdown!$J$2</c:f>
              <c:strCache>
                <c:ptCount val="1"/>
                <c:pt idx="0">
                  <c:v>I-Decoding stalls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appfrontBreakdown!$K$2:$Q$2</c:f>
              <c:numCache>
                <c:formatCode>0%</c:formatCode>
                <c:ptCount val="7"/>
                <c:pt idx="0">
                  <c:v>0.855858412940223</c:v>
                </c:pt>
                <c:pt idx="1">
                  <c:v>0.532615775146829</c:v>
                </c:pt>
                <c:pt idx="2">
                  <c:v>0.703714380603019</c:v>
                </c:pt>
                <c:pt idx="3">
                  <c:v>0.534018991636919</c:v>
                </c:pt>
                <c:pt idx="4">
                  <c:v>0.713275520406542</c:v>
                </c:pt>
                <c:pt idx="5">
                  <c:v>0.655811997259123</c:v>
                </c:pt>
                <c:pt idx="6">
                  <c:v>0.634417410437151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779-4837-AA91-6940BBD3D310}"/>
            </c:ext>
          </c:extLst>
        </c:ser>
        <c:ser>
          <c:idx val="2"/>
          <c:order val="1"/>
          <c:tx>
            <c:strRef>
              <c:f>appfrontBreakdown!$J$3</c:f>
              <c:strCache>
                <c:ptCount val="1"/>
                <c:pt idx="0">
                  <c:v>L1-I cache miss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appfrontBreakdown!$K$3:$Q$3</c:f>
              <c:numCache>
                <c:formatCode>General</c:formatCode>
                <c:ptCount val="7"/>
                <c:pt idx="0">
                  <c:v>0.14307526792795</c:v>
                </c:pt>
                <c:pt idx="1">
                  <c:v>0.454073029599659</c:v>
                </c:pt>
                <c:pt idx="2">
                  <c:v>0.274245529075038</c:v>
                </c:pt>
                <c:pt idx="3">
                  <c:v>0.438657531215169</c:v>
                </c:pt>
                <c:pt idx="4">
                  <c:v>0.262621349015473</c:v>
                </c:pt>
                <c:pt idx="5">
                  <c:v>0.341109731282407</c:v>
                </c:pt>
                <c:pt idx="6">
                  <c:v>0.34715923715977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779-4837-AA91-6940BBD3D310}"/>
            </c:ext>
          </c:extLst>
        </c:ser>
        <c:ser>
          <c:idx val="0"/>
          <c:order val="2"/>
          <c:tx>
            <c:strRef>
              <c:f>appfrontBreakdown!$J$4</c:f>
              <c:strCache>
                <c:ptCount val="1"/>
                <c:pt idx="0">
                  <c:v>ITLB stalls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appfrontBreakdown!$K$4:$Q$4</c:f>
              <c:numCache>
                <c:formatCode>General</c:formatCode>
                <c:ptCount val="7"/>
                <c:pt idx="0">
                  <c:v>0.0010663191318271</c:v>
                </c:pt>
                <c:pt idx="1">
                  <c:v>0.0133111952535119</c:v>
                </c:pt>
                <c:pt idx="2">
                  <c:v>0.0220400903219427</c:v>
                </c:pt>
                <c:pt idx="3">
                  <c:v>0.027323477147912</c:v>
                </c:pt>
                <c:pt idx="4">
                  <c:v>0.0241031305779849</c:v>
                </c:pt>
                <c:pt idx="5">
                  <c:v>0.00307827145846993</c:v>
                </c:pt>
                <c:pt idx="6">
                  <c:v>0.0184233524030792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779-4837-AA91-6940BBD3D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70462096"/>
        <c:axId val="270464144"/>
      </c:barChart>
      <c:catAx>
        <c:axId val="270462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464144"/>
        <c:crosses val="autoZero"/>
        <c:auto val="1"/>
        <c:lblAlgn val="ctr"/>
        <c:lblOffset val="100"/>
        <c:noMultiLvlLbl val="0"/>
      </c:catAx>
      <c:valAx>
        <c:axId val="270464144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/>
                  <a:t>Percentage of Front-end components stall time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462096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05"/>
          <c:y val="0.88465674852124"/>
          <c:w val="0.9"/>
          <c:h val="0.115343251478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6476554477484"/>
          <c:y val="0.0501231529075807"/>
          <c:w val="0.763523445522516"/>
          <c:h val="0.68860443320859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appfrontBreakdown!$J$2</c:f>
              <c:strCache>
                <c:ptCount val="1"/>
                <c:pt idx="0">
                  <c:v>I-Decoding stalls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appfrontBreakdown!$K$2:$Q$2</c:f>
              <c:numCache>
                <c:formatCode>0%</c:formatCode>
                <c:ptCount val="7"/>
                <c:pt idx="0">
                  <c:v>0.523048610390001</c:v>
                </c:pt>
                <c:pt idx="1">
                  <c:v>0.407370087880029</c:v>
                </c:pt>
                <c:pt idx="2">
                  <c:v>0.537170954843023</c:v>
                </c:pt>
                <c:pt idx="3">
                  <c:v>0.451854379613533</c:v>
                </c:pt>
                <c:pt idx="4">
                  <c:v>0.50419594018242</c:v>
                </c:pt>
                <c:pt idx="5">
                  <c:v>0.51549169475012</c:v>
                </c:pt>
                <c:pt idx="6">
                  <c:v>0.537778153699068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35F-4AAD-9582-8F89455FECFD}"/>
            </c:ext>
          </c:extLst>
        </c:ser>
        <c:ser>
          <c:idx val="2"/>
          <c:order val="1"/>
          <c:tx>
            <c:strRef>
              <c:f>appfrontBreakdown!$J$3</c:f>
              <c:strCache>
                <c:ptCount val="1"/>
                <c:pt idx="0">
                  <c:v>L1-I cache miss stalls</c:v>
                </c:pt>
              </c:strCache>
            </c:strRef>
          </c:tx>
          <c:spPr>
            <a:pattFill prst="wdUpDiag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appfrontBreakdown!$K$3:$Q$3</c:f>
              <c:numCache>
                <c:formatCode>General</c:formatCode>
                <c:ptCount val="7"/>
                <c:pt idx="0">
                  <c:v>0.469842553704196</c:v>
                </c:pt>
                <c:pt idx="1">
                  <c:v>0.576785087615033</c:v>
                </c:pt>
                <c:pt idx="2">
                  <c:v>0.434810592834065</c:v>
                </c:pt>
                <c:pt idx="3">
                  <c:v>0.527568913663231</c:v>
                </c:pt>
                <c:pt idx="4">
                  <c:v>0.476696905284406</c:v>
                </c:pt>
                <c:pt idx="5">
                  <c:v>0.48284482999076</c:v>
                </c:pt>
                <c:pt idx="6">
                  <c:v>0.454591339229374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35F-4AAD-9582-8F89455FECFD}"/>
            </c:ext>
          </c:extLst>
        </c:ser>
        <c:ser>
          <c:idx val="0"/>
          <c:order val="2"/>
          <c:tx>
            <c:strRef>
              <c:f>appfrontBreakdown!$J$4</c:f>
              <c:strCache>
                <c:ptCount val="1"/>
                <c:pt idx="0">
                  <c:v>ITLB stalls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1905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appfrontBreakdown!$K$1:$Q$1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appfrontBreakdown!$K$4:$Q$4</c:f>
              <c:numCache>
                <c:formatCode>General</c:formatCode>
                <c:ptCount val="7"/>
                <c:pt idx="0">
                  <c:v>0.00710883590580235</c:v>
                </c:pt>
                <c:pt idx="1">
                  <c:v>0.0158448245049373</c:v>
                </c:pt>
                <c:pt idx="2">
                  <c:v>0.0280184523229119</c:v>
                </c:pt>
                <c:pt idx="3">
                  <c:v>0.020576706723236</c:v>
                </c:pt>
                <c:pt idx="4">
                  <c:v>0.0191071545331736</c:v>
                </c:pt>
                <c:pt idx="5">
                  <c:v>0.00166347525912031</c:v>
                </c:pt>
                <c:pt idx="6">
                  <c:v>0.00763050707155839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35F-4AAD-9582-8F89455FE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2279424"/>
        <c:axId val="372282176"/>
      </c:barChart>
      <c:catAx>
        <c:axId val="372279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282176"/>
        <c:crosses val="autoZero"/>
        <c:auto val="1"/>
        <c:lblAlgn val="ctr"/>
        <c:lblOffset val="100"/>
        <c:noMultiLvlLbl val="0"/>
      </c:catAx>
      <c:valAx>
        <c:axId val="372282176"/>
        <c:scaling>
          <c:orientation val="minMax"/>
          <c:max val="1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/>
                  <a:t>Percentage of Front-end components stall time</a:t>
                </a:r>
              </a:p>
              <a:p>
                <a:pPr algn="ctr" rtl="0">
                  <a:defRPr sz="1400"/>
                </a:pPr>
                <a:endParaRPr lang="en-SG" sz="14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635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279424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b"/>
      <c:layout>
        <c:manualLayout>
          <c:xMode val="edge"/>
          <c:yMode val="edge"/>
          <c:x val="0.05"/>
          <c:y val="0.879884254173664"/>
          <c:w val="0.9"/>
          <c:h val="0.1201156694297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1530783988324"/>
          <c:y val="0.0361713380244004"/>
          <c:w val="0.847010816473053"/>
          <c:h val="0.851091112728363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'HP+Batch (four socket)'!$A$27</c:f>
              <c:strCache>
                <c:ptCount val="1"/>
                <c:pt idx="0">
                  <c:v>Single socket (w/o optimizations)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'HP+Batch (four socket)'!$B$26:$H$26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'HP+Batch (four socket)'!$B$27:$H$27</c:f>
              <c:numCache>
                <c:formatCode>0%</c:formatCode>
                <c:ptCount val="7"/>
                <c:pt idx="0">
                  <c:v>0.985294117647059</c:v>
                </c:pt>
                <c:pt idx="1">
                  <c:v>1.307262569832402</c:v>
                </c:pt>
                <c:pt idx="2">
                  <c:v>0.644067796610169</c:v>
                </c:pt>
                <c:pt idx="3">
                  <c:v>1.182648401826484</c:v>
                </c:pt>
                <c:pt idx="4">
                  <c:v>1.367816091954023</c:v>
                </c:pt>
                <c:pt idx="5">
                  <c:v>0.266846361185984</c:v>
                </c:pt>
                <c:pt idx="6">
                  <c:v>0.884615384615385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1AC-42B7-8703-3E47D79EE41B}"/>
            </c:ext>
          </c:extLst>
        </c:ser>
        <c:ser>
          <c:idx val="0"/>
          <c:order val="1"/>
          <c:tx>
            <c:strRef>
              <c:f>'HP+Batch (four socket)'!$A$29</c:f>
              <c:strCache>
                <c:ptCount val="1"/>
                <c:pt idx="0">
                  <c:v>Four sockets (w/o optimizations)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'HP+Batch (four socket)'!$K$30:$Q$30</c:f>
                <c:numCache>
                  <c:formatCode>General</c:formatCode>
                  <c:ptCount val="7"/>
                  <c:pt idx="0">
                    <c:v>0.07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0.05</c:v>
                  </c:pt>
                  <c:pt idx="6">
                    <c:v>0.04</c:v>
                  </c:pt>
                </c:numCache>
              </c:numRef>
            </c:plus>
            <c:minus>
              <c:numRef>
                <c:f>'HP+Batch (four socket)'!$K$30:$Q$30</c:f>
                <c:numCache>
                  <c:formatCode>General</c:formatCode>
                  <c:ptCount val="7"/>
                  <c:pt idx="0">
                    <c:v>0.07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0.05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'HP+Batch (four socket)'!$B$26:$H$26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'HP+Batch (four socket)'!$B$29:$H$29</c:f>
              <c:numCache>
                <c:formatCode>0%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1AC-42B7-8703-3E47D79EE41B}"/>
            </c:ext>
          </c:extLst>
        </c:ser>
        <c:ser>
          <c:idx val="1"/>
          <c:order val="2"/>
          <c:tx>
            <c:strRef>
              <c:f>'HP+Batch (four socket)'!$A$32</c:f>
              <c:strCache>
                <c:ptCount val="1"/>
                <c:pt idx="0">
                  <c:v>Four sockets (w/ both optimizations)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Lit>
                <c:ptCount val="0"/>
              </c:numLit>
            </c:plus>
            <c:minus>
              <c:numLit>
                <c:ptCount val="0"/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'HP+Batch (four socket)'!$B$26:$H$26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'HP+Batch (four socket)'!$B$32:$H$32</c:f>
              <c:numCache>
                <c:formatCode>0%</c:formatCode>
                <c:ptCount val="7"/>
                <c:pt idx="0">
                  <c:v>1.818058149589828</c:v>
                </c:pt>
                <c:pt idx="1">
                  <c:v>3.203773555301684</c:v>
                </c:pt>
                <c:pt idx="2">
                  <c:v>3.08408690253101</c:v>
                </c:pt>
                <c:pt idx="3">
                  <c:v>2.994595797500564</c:v>
                </c:pt>
                <c:pt idx="4">
                  <c:v>2.991111991910996</c:v>
                </c:pt>
                <c:pt idx="5">
                  <c:v>1.32</c:v>
                </c:pt>
                <c:pt idx="6">
                  <c:v>2.377762578140616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1AC-42B7-8703-3E47D79EE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0905056"/>
        <c:axId val="370566352"/>
      </c:barChart>
      <c:catAx>
        <c:axId val="370905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566352"/>
        <c:crosses val="autoZero"/>
        <c:auto val="1"/>
        <c:lblAlgn val="ctr"/>
        <c:lblOffset val="100"/>
        <c:noMultiLvlLbl val="0"/>
      </c:catAx>
      <c:valAx>
        <c:axId val="370566352"/>
        <c:scaling>
          <c:orientation val="minMax"/>
          <c:max val="4.5"/>
          <c:min val="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Normalized throughput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905056"/>
        <c:crosses val="autoZero"/>
        <c:crossBetween val="between"/>
        <c:majorUnit val="0.5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t"/>
      <c:layout>
        <c:manualLayout>
          <c:xMode val="edge"/>
          <c:yMode val="edge"/>
          <c:x val="0.405836624337033"/>
          <c:y val="0.0425925988032369"/>
          <c:w val="0.5780002754728"/>
          <c:h val="0.223647132023945"/>
        </c:manualLayout>
      </c:layout>
      <c:overlay val="1"/>
      <c:spPr>
        <a:noFill/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0664539777355"/>
          <c:y val="0.0454305986337997"/>
          <c:w val="0.797877183455516"/>
          <c:h val="0.832572591509564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Batch!$A$40</c:f>
              <c:strCache>
                <c:ptCount val="1"/>
                <c:pt idx="0">
                  <c:v>non-batch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Batch!$K$40:$Q$40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Batch!$K$40:$Q$40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Batch!$B$39:$H$39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Batch!$B$40:$H$40</c:f>
              <c:numCache>
                <c:formatCode>0%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46E-41B6-8A0C-00A37EDB4707}"/>
            </c:ext>
          </c:extLst>
        </c:ser>
        <c:ser>
          <c:idx val="0"/>
          <c:order val="1"/>
          <c:tx>
            <c:strRef>
              <c:f>Batch!$A$41</c:f>
              <c:strCache>
                <c:ptCount val="1"/>
                <c:pt idx="0">
                  <c:v>batch size (S)=2</c:v>
                </c:pt>
              </c:strCache>
            </c:strRef>
          </c:tx>
          <c:spPr>
            <a:pattFill prst="wdDn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Batch!$K$41:$Q$41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Batch!$K$41:$Q$41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Batch!$B$39:$H$39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Batch!$B$41:$H$41</c:f>
              <c:numCache>
                <c:formatCode>0%</c:formatCode>
                <c:ptCount val="7"/>
                <c:pt idx="0">
                  <c:v>1.64516129032258</c:v>
                </c:pt>
                <c:pt idx="1">
                  <c:v>1.23448275862069</c:v>
                </c:pt>
                <c:pt idx="2">
                  <c:v>3.025641025641025</c:v>
                </c:pt>
                <c:pt idx="3">
                  <c:v>1.825</c:v>
                </c:pt>
                <c:pt idx="4">
                  <c:v>1.487179487179487</c:v>
                </c:pt>
                <c:pt idx="5">
                  <c:v>1.24915824915825</c:v>
                </c:pt>
                <c:pt idx="6">
                  <c:v>1.114285714285715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46E-41B6-8A0C-00A37EDB4707}"/>
            </c:ext>
          </c:extLst>
        </c:ser>
        <c:ser>
          <c:idx val="1"/>
          <c:order val="2"/>
          <c:tx>
            <c:strRef>
              <c:f>Batch!$A$42</c:f>
              <c:strCache>
                <c:ptCount val="1"/>
                <c:pt idx="0">
                  <c:v>batch size (S)=4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Batch!$K$42:$Q$42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Batch!$K$42:$Q$42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Batch!$B$39:$H$39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Batch!$B$42:$H$42</c:f>
              <c:numCache>
                <c:formatCode>0%</c:formatCode>
                <c:ptCount val="7"/>
                <c:pt idx="0">
                  <c:v>1.56923076923077</c:v>
                </c:pt>
                <c:pt idx="1">
                  <c:v>1.251748251748252</c:v>
                </c:pt>
                <c:pt idx="2">
                  <c:v>3.933333333333334</c:v>
                </c:pt>
                <c:pt idx="3">
                  <c:v>2.329787234042553</c:v>
                </c:pt>
                <c:pt idx="4">
                  <c:v>1.870967741935484</c:v>
                </c:pt>
                <c:pt idx="5">
                  <c:v>1.240802675585284</c:v>
                </c:pt>
                <c:pt idx="6">
                  <c:v>2.363636363636364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46E-41B6-8A0C-00A37EDB4707}"/>
            </c:ext>
          </c:extLst>
        </c:ser>
        <c:ser>
          <c:idx val="2"/>
          <c:order val="3"/>
          <c:tx>
            <c:strRef>
              <c:f>Batch!$A$43</c:f>
              <c:strCache>
                <c:ptCount val="1"/>
                <c:pt idx="0">
                  <c:v>batch size (S)=8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Batch!$K$43:$Q$43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Batch!$K$43:$Q$43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Batch!$B$39:$H$39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Batch!$B$43:$H$43</c:f>
              <c:numCache>
                <c:formatCode>0%</c:formatCode>
                <c:ptCount val="7"/>
                <c:pt idx="0">
                  <c:v>1.59375</c:v>
                </c:pt>
                <c:pt idx="1">
                  <c:v>1.754901960784314</c:v>
                </c:pt>
                <c:pt idx="2">
                  <c:v>4.538461538461538</c:v>
                </c:pt>
                <c:pt idx="3">
                  <c:v>2.772151898734178</c:v>
                </c:pt>
                <c:pt idx="4">
                  <c:v>2.289473684210526</c:v>
                </c:pt>
                <c:pt idx="5">
                  <c:v>1.232558139534884</c:v>
                </c:pt>
                <c:pt idx="6">
                  <c:v>2.108108108108108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46E-41B6-8A0C-00A37EDB4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2668688"/>
        <c:axId val="273584288"/>
      </c:barChart>
      <c:catAx>
        <c:axId val="272668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84288"/>
        <c:crosses val="autoZero"/>
        <c:auto val="1"/>
        <c:lblAlgn val="ctr"/>
        <c:lblOffset val="100"/>
        <c:noMultiLvlLbl val="0"/>
      </c:catAx>
      <c:valAx>
        <c:axId val="273584288"/>
        <c:scaling>
          <c:orientation val="minMax"/>
          <c:max val="5.0"/>
          <c:min val="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400"/>
                  <a:t>Normalized throughput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2668688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tr"/>
      <c:layout>
        <c:manualLayout>
          <c:xMode val="edge"/>
          <c:yMode val="edge"/>
          <c:x val="0.194154222101548"/>
          <c:y val="0.0565046084355735"/>
          <c:w val="0.268273825685582"/>
          <c:h val="0.288717573094061"/>
        </c:manualLayout>
      </c:layout>
      <c:overlay val="1"/>
      <c:spPr>
        <a:noFill/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 b="1" i="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85052048578673"/>
          <c:y val="0.0706009429855622"/>
          <c:w val="0.783874505093643"/>
          <c:h val="0.82265227155023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Batch!$A$32</c:f>
              <c:strCache>
                <c:ptCount val="1"/>
                <c:pt idx="0">
                  <c:v>non-batch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Batch!$K$40:$Q$40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Batch!$K$40:$Q$40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Batch!$B$31:$H$31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Batch!$B$32:$H$32</c:f>
              <c:numCache>
                <c:formatCode>0%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F5F-4297-A2EA-5EF514AB135E}"/>
            </c:ext>
          </c:extLst>
        </c:ser>
        <c:ser>
          <c:idx val="0"/>
          <c:order val="1"/>
          <c:tx>
            <c:strRef>
              <c:f>Batch!$A$33</c:f>
              <c:strCache>
                <c:ptCount val="1"/>
                <c:pt idx="0">
                  <c:v>batch size (S)=2</c:v>
                </c:pt>
              </c:strCache>
            </c:strRef>
          </c:tx>
          <c:spPr>
            <a:pattFill prst="wdDnDiag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Batch!$K$41:$Q$41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Batch!$K$41:$Q$41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Batch!$B$31:$H$31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Batch!$B$33:$H$33</c:f>
              <c:numCache>
                <c:formatCode>0%</c:formatCode>
                <c:ptCount val="7"/>
                <c:pt idx="0">
                  <c:v>1.215686274509804</c:v>
                </c:pt>
                <c:pt idx="1">
                  <c:v>1.620111731843576</c:v>
                </c:pt>
                <c:pt idx="2">
                  <c:v>0.661016949152542</c:v>
                </c:pt>
                <c:pt idx="3">
                  <c:v>1.095890410958904</c:v>
                </c:pt>
                <c:pt idx="4">
                  <c:v>1.344827586206897</c:v>
                </c:pt>
                <c:pt idx="5">
                  <c:v>1.601078167115903</c:v>
                </c:pt>
                <c:pt idx="6">
                  <c:v>1.794871794871795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F5F-4297-A2EA-5EF514AB135E}"/>
            </c:ext>
          </c:extLst>
        </c:ser>
        <c:ser>
          <c:idx val="1"/>
          <c:order val="2"/>
          <c:tx>
            <c:strRef>
              <c:f>Batch!$A$34</c:f>
              <c:strCache>
                <c:ptCount val="1"/>
                <c:pt idx="0">
                  <c:v>batch size (S)=4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Batch!$K$42:$Q$42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Batch!$K$42:$Q$42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0.03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Batch!$B$31:$H$31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Batch!$B$34:$H$34</c:f>
              <c:numCache>
                <c:formatCode>0%</c:formatCode>
                <c:ptCount val="7"/>
                <c:pt idx="0">
                  <c:v>2.549019607843138</c:v>
                </c:pt>
                <c:pt idx="1">
                  <c:v>3.195530726256984</c:v>
                </c:pt>
                <c:pt idx="2">
                  <c:v>1.016949152542373</c:v>
                </c:pt>
                <c:pt idx="3">
                  <c:v>1.71689497716895</c:v>
                </c:pt>
                <c:pt idx="4">
                  <c:v>2.13793103448276</c:v>
                </c:pt>
                <c:pt idx="5">
                  <c:v>3.223719676549865</c:v>
                </c:pt>
                <c:pt idx="6">
                  <c:v>1.692307692307692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F5F-4297-A2EA-5EF514AB135E}"/>
            </c:ext>
          </c:extLst>
        </c:ser>
        <c:ser>
          <c:idx val="2"/>
          <c:order val="3"/>
          <c:tx>
            <c:strRef>
              <c:f>Batch!$A$35</c:f>
              <c:strCache>
                <c:ptCount val="1"/>
                <c:pt idx="0">
                  <c:v>batch size (S)=8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Batch!$K$43:$Q$43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plus>
            <c:minus>
              <c:numRef>
                <c:f>Batch!$K$43:$Q$43</c:f>
                <c:numCache>
                  <c:formatCode>General</c:formatCode>
                  <c:ptCount val="7"/>
                  <c:pt idx="0">
                    <c:v>0.04</c:v>
                  </c:pt>
                  <c:pt idx="1">
                    <c:v>0.04</c:v>
                  </c:pt>
                  <c:pt idx="2">
                    <c:v>0.05</c:v>
                  </c:pt>
                  <c:pt idx="3">
                    <c:v>0.07</c:v>
                  </c:pt>
                  <c:pt idx="4">
                    <c:v>0.05</c:v>
                  </c:pt>
                  <c:pt idx="5">
                    <c:v>0.04</c:v>
                  </c:pt>
                  <c:pt idx="6">
                    <c:v>0.04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Batch!$B$31:$H$31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Batch!$B$35:$H$35</c:f>
              <c:numCache>
                <c:formatCode>0%</c:formatCode>
                <c:ptCount val="7"/>
                <c:pt idx="0">
                  <c:v>5.019607843137256</c:v>
                </c:pt>
                <c:pt idx="1">
                  <c:v>4.558659217877095</c:v>
                </c:pt>
                <c:pt idx="2">
                  <c:v>1.76271186440678</c:v>
                </c:pt>
                <c:pt idx="3">
                  <c:v>2.885844748858448</c:v>
                </c:pt>
                <c:pt idx="4">
                  <c:v>3.494252873563214</c:v>
                </c:pt>
                <c:pt idx="5">
                  <c:v>6.490566037735848</c:v>
                </c:pt>
                <c:pt idx="6">
                  <c:v>3.794871794871795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F5F-4297-A2EA-5EF514AB13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3298176"/>
        <c:axId val="273300496"/>
      </c:barChart>
      <c:catAx>
        <c:axId val="273298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300496"/>
        <c:crosses val="autoZero"/>
        <c:auto val="1"/>
        <c:lblAlgn val="ctr"/>
        <c:lblOffset val="100"/>
        <c:noMultiLvlLbl val="0"/>
      </c:catAx>
      <c:valAx>
        <c:axId val="273300496"/>
        <c:scaling>
          <c:orientation val="minMax"/>
          <c:max val="8.0"/>
          <c:min val="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sz="1600" b="1" i="0" baseline="0">
                    <a:solidFill>
                      <a:sysClr val="windowText" lastClr="000000"/>
                    </a:solidFill>
                    <a:effectLst/>
                  </a:rPr>
                  <a:t>Normalized latency</a:t>
                </a:r>
                <a:endParaRPr lang="en-SG" sz="1600">
                  <a:solidFill>
                    <a:sysClr val="windowText" lastClr="000000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298176"/>
        <c:crosses val="autoZero"/>
        <c:crossBetween val="between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l"/>
      <c:layout>
        <c:manualLayout>
          <c:xMode val="edge"/>
          <c:yMode val="edge"/>
          <c:x val="0.194332710529828"/>
          <c:y val="0.0845820667553998"/>
          <c:w val="0.285061613061079"/>
          <c:h val="0.270592438801228"/>
        </c:manualLayout>
      </c:layout>
      <c:overlay val="1"/>
      <c:spPr>
        <a:noFill/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0927815637395"/>
          <c:y val="0.0361713274757469"/>
          <c:w val="0.849626661017149"/>
          <c:h val="0.851091156154687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Grouping!$A$17</c:f>
              <c:strCache>
                <c:ptCount val="1"/>
                <c:pt idx="0">
                  <c:v>Single socket (w/o optimizations)</c:v>
                </c:pt>
              </c:strCache>
            </c:strRef>
          </c:tx>
          <c:spPr>
            <a:pattFill prst="pct90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Grouping!$B$16:$H$16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Grouping!$B$17:$H$17</c:f>
              <c:numCache>
                <c:formatCode>0%</c:formatCode>
                <c:ptCount val="7"/>
                <c:pt idx="0">
                  <c:v>0.985294117647059</c:v>
                </c:pt>
                <c:pt idx="1">
                  <c:v>1.307262569832402</c:v>
                </c:pt>
                <c:pt idx="2">
                  <c:v>0.644067796610169</c:v>
                </c:pt>
                <c:pt idx="3">
                  <c:v>1.182648401826484</c:v>
                </c:pt>
                <c:pt idx="4">
                  <c:v>1.367816091954023</c:v>
                </c:pt>
                <c:pt idx="5">
                  <c:v>0.266846361185984</c:v>
                </c:pt>
                <c:pt idx="6">
                  <c:v>0.884615384615385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D76-4D8E-BC12-DEC755D9BACC}"/>
            </c:ext>
          </c:extLst>
        </c:ser>
        <c:ser>
          <c:idx val="0"/>
          <c:order val="1"/>
          <c:tx>
            <c:strRef>
              <c:f>Grouping!$A$18</c:f>
              <c:strCache>
                <c:ptCount val="1"/>
                <c:pt idx="0">
                  <c:v>Four sockets (w/o optimizations)</c:v>
                </c:pt>
              </c:strCache>
            </c:strRef>
          </c:tx>
          <c:spPr>
            <a:pattFill prst="solidDmnd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Grouping!$B$16:$H$16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Grouping!$B$18:$H$18</c:f>
              <c:numCache>
                <c:formatCode>0%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D76-4D8E-BC12-DEC755D9BACC}"/>
            </c:ext>
          </c:extLst>
        </c:ser>
        <c:ser>
          <c:idx val="1"/>
          <c:order val="2"/>
          <c:tx>
            <c:strRef>
              <c:f>Grouping!$A$19</c:f>
              <c:strCache>
                <c:ptCount val="1"/>
                <c:pt idx="0">
                  <c:v>Four sockets (executor grouping)</c:v>
                </c:pt>
              </c:strCache>
            </c:strRef>
          </c:tx>
          <c:spPr>
            <a:pattFill prst="pct5">
              <a:fgClr>
                <a:sysClr val="windowText" lastClr="00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Grouping!$B$16:$H$16</c:f>
              <c:strCache>
                <c:ptCount val="7"/>
                <c:pt idx="0">
                  <c:v>WC</c:v>
                </c:pt>
                <c:pt idx="1">
                  <c:v>FD</c:v>
                </c:pt>
                <c:pt idx="2">
                  <c:v>LG</c:v>
                </c:pt>
                <c:pt idx="3">
                  <c:v>SD</c:v>
                </c:pt>
                <c:pt idx="4">
                  <c:v>VS</c:v>
                </c:pt>
                <c:pt idx="5">
                  <c:v>TM</c:v>
                </c:pt>
                <c:pt idx="6">
                  <c:v>LR</c:v>
                </c:pt>
              </c:strCache>
            </c:strRef>
          </c:cat>
          <c:val>
            <c:numRef>
              <c:f>Grouping!$B$19:$H$19</c:f>
              <c:numCache>
                <c:formatCode>0%</c:formatCode>
                <c:ptCount val="7"/>
                <c:pt idx="0">
                  <c:v>1.066985415446733</c:v>
                </c:pt>
                <c:pt idx="1">
                  <c:v>1.183720593509972</c:v>
                </c:pt>
                <c:pt idx="2">
                  <c:v>1.198922454742546</c:v>
                </c:pt>
                <c:pt idx="3">
                  <c:v>1.148113192442173</c:v>
                </c:pt>
                <c:pt idx="4">
                  <c:v>1.207171568643742</c:v>
                </c:pt>
                <c:pt idx="5">
                  <c:v>1.315789473684211</c:v>
                </c:pt>
                <c:pt idx="6">
                  <c:v>1.288679299744119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D76-4D8E-BC12-DEC755D9B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3379520"/>
        <c:axId val="273384368"/>
      </c:barChart>
      <c:catAx>
        <c:axId val="273379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384368"/>
        <c:crosses val="autoZero"/>
        <c:auto val="1"/>
        <c:lblAlgn val="ctr"/>
        <c:lblOffset val="100"/>
        <c:noMultiLvlLbl val="0"/>
      </c:catAx>
      <c:valAx>
        <c:axId val="273384368"/>
        <c:scaling>
          <c:orientation val="minMax"/>
          <c:max val="2.0"/>
          <c:min val="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/>
                  <a:t>Normalized throughput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379520"/>
        <c:crosses val="autoZero"/>
        <c:crossBetween val="between"/>
        <c:majorUnit val="0.4"/>
      </c:valAx>
      <c:spPr>
        <a:noFill/>
        <a:ln w="25400">
          <a:solidFill>
            <a:sysClr val="windowText" lastClr="000000"/>
          </a:solidFill>
        </a:ln>
        <a:effectLst/>
      </c:spPr>
    </c:plotArea>
    <c:legend>
      <c:legendPos val="t"/>
      <c:layout>
        <c:manualLayout>
          <c:xMode val="edge"/>
          <c:yMode val="edge"/>
          <c:x val="0.489333121476407"/>
          <c:y val="0.0518518594126362"/>
          <c:w val="0.490337205607147"/>
          <c:h val="0.233218898100396"/>
        </c:manualLayout>
      </c:layout>
      <c:overlay val="1"/>
      <c:spPr>
        <a:noFill/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782140769522"/>
          <c:y val="0.0363842228054826"/>
          <c:w val="0.631771412895135"/>
          <c:h val="0.8508782443861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'tm analysis'!$A$2</c:f>
              <c:strCache>
                <c:ptCount val="1"/>
                <c:pt idx="0">
                  <c:v>Mean execution latency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'tm analysis'!$B$1:$E$1</c:f>
              <c:numCache>
                <c:formatCode>General</c:formatCode>
                <c:ptCount val="4"/>
                <c:pt idx="0">
                  <c:v>32.0</c:v>
                </c:pt>
                <c:pt idx="1">
                  <c:v>40.0</c:v>
                </c:pt>
                <c:pt idx="2">
                  <c:v>48.0</c:v>
                </c:pt>
                <c:pt idx="3">
                  <c:v>56.0</c:v>
                </c:pt>
              </c:numCache>
            </c:numRef>
          </c:cat>
          <c:val>
            <c:numRef>
              <c:f>'tm analysis'!$B$2:$E$2</c:f>
              <c:numCache>
                <c:formatCode>General</c:formatCode>
                <c:ptCount val="4"/>
                <c:pt idx="0">
                  <c:v>43.31028124999999</c:v>
                </c:pt>
                <c:pt idx="1">
                  <c:v>59.2402</c:v>
                </c:pt>
                <c:pt idx="2">
                  <c:v>65.73593749999998</c:v>
                </c:pt>
                <c:pt idx="3">
                  <c:v>81.25664285714288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6E3-471E-B3AF-84E172E50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3433136"/>
        <c:axId val="273435456"/>
      </c:barChart>
      <c:lineChart>
        <c:grouping val="standard"/>
        <c:varyColors val="0"/>
        <c:ser>
          <c:idx val="1"/>
          <c:order val="1"/>
          <c:tx>
            <c:strRef>
              <c:f>'tm analysis'!$A$3</c:f>
              <c:strCache>
                <c:ptCount val="1"/>
                <c:pt idx="0">
                  <c:v>Standard deviation</c:v>
                </c:pt>
              </c:strCache>
            </c:strRef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'tm analysis'!$B$1:$E$1</c:f>
              <c:numCache>
                <c:formatCode>General</c:formatCode>
                <c:ptCount val="4"/>
                <c:pt idx="0">
                  <c:v>32.0</c:v>
                </c:pt>
                <c:pt idx="1">
                  <c:v>40.0</c:v>
                </c:pt>
                <c:pt idx="2">
                  <c:v>48.0</c:v>
                </c:pt>
                <c:pt idx="3">
                  <c:v>56.0</c:v>
                </c:pt>
              </c:numCache>
            </c:numRef>
          </c:cat>
          <c:val>
            <c:numRef>
              <c:f>'tm analysis'!$B$3:$E$3</c:f>
              <c:numCache>
                <c:formatCode>General</c:formatCode>
                <c:ptCount val="4"/>
                <c:pt idx="0">
                  <c:v>4.47416824661217</c:v>
                </c:pt>
                <c:pt idx="1">
                  <c:v>6.507570062075374</c:v>
                </c:pt>
                <c:pt idx="2">
                  <c:v>8.548666444231779</c:v>
                </c:pt>
                <c:pt idx="3">
                  <c:v>16.73270341079896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A6E3-471E-B3AF-84E172E50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443952"/>
        <c:axId val="273439360"/>
      </c:lineChart>
      <c:catAx>
        <c:axId val="273433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435456"/>
        <c:crosses val="autoZero"/>
        <c:auto val="1"/>
        <c:lblAlgn val="ctr"/>
        <c:lblOffset val="100"/>
        <c:noMultiLvlLbl val="0"/>
      </c:catAx>
      <c:valAx>
        <c:axId val="2734354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Process latency (ms/event)</a:t>
                </a:r>
                <a:endParaRPr lang="en-SG"/>
              </a:p>
            </c:rich>
          </c:tx>
          <c:layout>
            <c:manualLayout>
              <c:xMode val="edge"/>
              <c:yMode val="edge"/>
              <c:x val="0.0135416666666667"/>
              <c:y val="0.08268051910177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433136"/>
        <c:crosses val="autoZero"/>
        <c:crossBetween val="between"/>
      </c:valAx>
      <c:valAx>
        <c:axId val="273439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Standard deviation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443952"/>
        <c:crosses val="max"/>
        <c:crossBetween val="between"/>
      </c:valAx>
      <c:catAx>
        <c:axId val="2734439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73439360"/>
        <c:crosses val="autoZero"/>
        <c:auto val="1"/>
        <c:lblAlgn val="ctr"/>
        <c:lblOffset val="100"/>
        <c:noMultiLvlLbl val="0"/>
      </c:catAx>
      <c:spPr>
        <a:noFill/>
        <a:ln w="25400"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185036275487398"/>
          <c:y val="0.066395286457314"/>
          <c:w val="0.39283682334468"/>
          <c:h val="0.25317140768383"/>
        </c:manualLayout>
      </c:layout>
      <c:overlay val="1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7135" cy="343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77" y="0"/>
            <a:ext cx="4277135" cy="343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B4973-50B9-46D6-BA53-A3AD5735AC36}" type="datetimeFigureOut">
              <a:rPr lang="en-US" smtClean="0"/>
              <a:t>1/10/18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514716"/>
            <a:ext cx="4277135" cy="343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77" y="6514716"/>
            <a:ext cx="4277135" cy="343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7B17F-02A3-44DA-B9D1-27D4635DB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98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1"/>
            <a:ext cx="4278154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30703-1659-41D7-BBE8-BB7B6D61F400}" type="datetimeFigureOut">
              <a:rPr lang="en-US" smtClean="0"/>
              <a:t>1/10/18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79725" y="857250"/>
            <a:ext cx="4113213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300412"/>
            <a:ext cx="789813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1"/>
            <a:ext cx="4278154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513911"/>
            <a:ext cx="4278154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97D51-C29A-4204-BCA9-7887F1115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9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Good afternoon,</a:t>
            </a:r>
            <a:r>
              <a:rPr lang="en-US" baseline="0" dirty="0" smtClean="0"/>
              <a:t> t</a:t>
            </a:r>
            <a:r>
              <a:rPr lang="en-US" dirty="0" smtClean="0"/>
              <a:t>hanks</a:t>
            </a:r>
            <a:r>
              <a:rPr lang="en-US" baseline="0" dirty="0" smtClean="0"/>
              <a:t> for </a:t>
            </a:r>
            <a:r>
              <a:rPr lang="en-US" baseline="0" dirty="0" smtClean="0"/>
              <a:t>coming. </a:t>
            </a:r>
            <a:r>
              <a:rPr lang="en-US" baseline="0" dirty="0" smtClean="0"/>
              <a:t>I’m going to present my recent work on data stream processing system.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My name is Shuhao, and </a:t>
            </a:r>
            <a:r>
              <a:rPr lang="en-US" altLang="zh-CN" dirty="0" smtClean="0"/>
              <a:t>this a joint</a:t>
            </a:r>
            <a:r>
              <a:rPr lang="en-US" altLang="zh-CN" baseline="0" dirty="0" smtClean="0"/>
              <a:t> work with </a:t>
            </a:r>
            <a:r>
              <a:rPr lang="en-US" altLang="zh-CN" baseline="0" dirty="0" err="1" smtClean="0"/>
              <a:t>BingSheng</a:t>
            </a:r>
            <a:r>
              <a:rPr lang="en-US" altLang="zh-CN" baseline="0" dirty="0" smtClean="0"/>
              <a:t> from NUS, Daniel and Thomas from SAP, Amelie from </a:t>
            </a:r>
            <a:r>
              <a:rPr lang="en-US" altLang="zh-CN" baseline="0" dirty="0" err="1" smtClean="0"/>
              <a:t>Inria</a:t>
            </a:r>
            <a:r>
              <a:rPr lang="en-US" altLang="zh-CN" baseline="0" dirty="0" smtClean="0"/>
              <a:t>.</a:t>
            </a:r>
            <a:endParaRPr lang="en-US" dirty="0" smtClean="0"/>
          </a:p>
          <a:p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72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will</a:t>
            </a:r>
            <a:r>
              <a:rPr lang="en-US" baseline="0" dirty="0" smtClean="0"/>
              <a:t> first introduce some background information, follow by a profiling study on existing data stream processing systems on multi-core processors. </a:t>
            </a:r>
          </a:p>
          <a:p>
            <a:r>
              <a:rPr lang="en-US" baseline="0" dirty="0" smtClean="0"/>
              <a:t>Finally, I will briefly talk about my on-going work.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76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CPU</a:t>
            </a:r>
            <a:r>
              <a:rPr lang="en-US" baseline="0" dirty="0" smtClean="0"/>
              <a:t> had evolved many generations, and there are </a:t>
            </a:r>
            <a:r>
              <a:rPr lang="en-US" dirty="0" smtClean="0"/>
              <a:t>three trends.</a:t>
            </a:r>
          </a:p>
          <a:p>
            <a:endParaRPr lang="en-US" dirty="0" smtClean="0"/>
          </a:p>
          <a:p>
            <a:r>
              <a:rPr lang="en-US" baseline="0" dirty="0" smtClean="0"/>
              <a:t>First, transistors per CPU </a:t>
            </a:r>
            <a:r>
              <a:rPr lang="en-US" baseline="0" dirty="0" smtClean="0"/>
              <a:t>is </a:t>
            </a:r>
            <a:r>
              <a:rPr lang="en-US" baseline="0" dirty="0" smtClean="0"/>
              <a:t>still rapidly increasing. </a:t>
            </a:r>
          </a:p>
          <a:p>
            <a:r>
              <a:rPr lang="en-US" baseline="0" dirty="0" smtClean="0"/>
              <a:t>Second, number of logical cores is also increasing fast.</a:t>
            </a:r>
          </a:p>
          <a:p>
            <a:r>
              <a:rPr lang="en-US" baseline="0" dirty="0" smtClean="0"/>
              <a:t>Third, other metrics are slowing down. In particular, single-thread performance has little improvement for years. </a:t>
            </a:r>
          </a:p>
          <a:p>
            <a:r>
              <a:rPr lang="en-US" baseline="0" dirty="0" smtClean="0"/>
              <a:t>We are now at the multi-core 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E61E3-3C06-40CF-98C2-16CA742C2B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 the other hand, the improvement on memory is less</a:t>
            </a:r>
            <a:r>
              <a:rPr lang="en-US" baseline="0" dirty="0" smtClean="0"/>
              <a:t> significant compared to CPU, and results in significant performance gap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0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Depending how the processors access memory, we have two kinds of architectures. Modern multi-core processors generally adopts non-uniform memory access architecture. You may wonder why.</a:t>
            </a:r>
          </a:p>
          <a:p>
            <a:endParaRPr lang="en-US" baseline="0" dirty="0" smtClean="0"/>
          </a:p>
          <a:p>
            <a:r>
              <a:rPr lang="en-US" baseline="0" dirty="0" smtClean="0"/>
              <a:t>(Click) As I have just mentioned, CPU cores are getting more and more (from 1 core, 2 core to dozens of cores and even hundreds of cores in a single machine), and the speed gap between CPU and memory is bigger and bigger.</a:t>
            </a:r>
          </a:p>
          <a:p>
            <a:r>
              <a:rPr lang="en-US" baseline="0" dirty="0" smtClean="0"/>
              <a:t>There is an increasing competition among CPU cores to access the same piece of memory, and limits the number of CPU cores a machine can support.</a:t>
            </a:r>
          </a:p>
          <a:p>
            <a:r>
              <a:rPr lang="en-US" baseline="0" dirty="0" smtClean="0"/>
              <a:t>(Click) Thus, the hardware architectures add multiple CPUs into the same board, and each CPU has its own local memory to reduce the potential conflict among CPU cores. The </a:t>
            </a:r>
            <a:r>
              <a:rPr lang="en-US" baseline="0" dirty="0" smtClean="0"/>
              <a:t>communication between CPU sockets are supported by additional channels such as quick path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20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one type</a:t>
            </a:r>
            <a:r>
              <a:rPr lang="en-SG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NUMA server with only four CPU sockets forming a ring, and you can see the CPU access its own memory with much higher bandwidth.</a:t>
            </a:r>
          </a:p>
          <a:p>
            <a:endParaRPr lang="en-SG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Furthermore,</a:t>
            </a:r>
            <a:r>
              <a:rPr lang="en-SG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S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show here that not only the connections among</a:t>
            </a:r>
            <a:r>
              <a:rPr lang="en-SG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sockets become complex, the CPU itself is also getting more and more complicated with deep execution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79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Modern </a:t>
            </a:r>
            <a:r>
              <a:rPr lang="en-US" dirty="0" smtClean="0"/>
              <a:t>machine scales to multiple sockets.</a:t>
            </a:r>
            <a:r>
              <a:rPr lang="en-US" baseline="0" dirty="0" smtClean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</a:t>
            </a:r>
            <a:r>
              <a:rPr lang="en-US" baseline="0" dirty="0" smtClean="0"/>
              <a:t>Subsequently,</a:t>
            </a:r>
            <a:r>
              <a:rPr lang="en-US" dirty="0" smtClean="0"/>
              <a:t> </a:t>
            </a:r>
            <a:r>
              <a:rPr lang="en-US" altLang="zh-CN" baseline="0" dirty="0" smtClean="0"/>
              <a:t>non-uniform memory access brings performance issues to data management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Even a single CPU socket is getting more and more complex.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Specifically, m</a:t>
            </a:r>
            <a:r>
              <a:rPr lang="en-US" altLang="zh-CN" dirty="0" smtClean="0"/>
              <a:t>ore CPU cores are being put on the same die, and the on-chip cache hierarchies are getting larger, deeper, and more complex.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and t</a:t>
            </a:r>
            <a:r>
              <a:rPr lang="en-US" altLang="zh-CN" dirty="0" smtClean="0"/>
              <a:t>he execution involves</a:t>
            </a:r>
            <a:r>
              <a:rPr lang="en-US" altLang="zh-CN" baseline="0" dirty="0" smtClean="0"/>
              <a:t> </a:t>
            </a:r>
            <a:r>
              <a:rPr lang="en-US" dirty="0" smtClean="0"/>
              <a:t>deep and complex</a:t>
            </a:r>
            <a:r>
              <a:rPr lang="en-US" baseline="0" dirty="0" smtClean="0"/>
              <a:t> </a:t>
            </a:r>
            <a:r>
              <a:rPr lang="en-US" dirty="0" smtClean="0"/>
              <a:t>execution pipelines,</a:t>
            </a:r>
            <a:r>
              <a:rPr lang="en-US" baseline="0" dirty="0" smtClean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</a:t>
            </a:r>
            <a:r>
              <a:rPr lang="en-US" baseline="0" dirty="0" smtClean="0"/>
              <a:t>which can be divided into front-end and back-end.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 </a:t>
            </a:r>
            <a:r>
              <a:rPr lang="en-US" altLang="en-US" dirty="0" smtClean="0"/>
              <a:t>However, there is a lack of detailed studies on profiling the aforementioned</a:t>
            </a:r>
            <a:r>
              <a:rPr lang="en-US" altLang="en-US" baseline="0" dirty="0" smtClean="0"/>
              <a:t> </a:t>
            </a:r>
            <a:r>
              <a:rPr lang="en-US" altLang="en-US" dirty="0" smtClean="0"/>
              <a:t>common design aspects of DSP systems on such scale-up architectures.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16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</a:t>
            </a:r>
            <a:r>
              <a:rPr lang="en-US" dirty="0" smtClean="0"/>
              <a:t>is no standard NUMA system,</a:t>
            </a:r>
            <a:r>
              <a:rPr lang="en-US" baseline="0" dirty="0" smtClean="0"/>
              <a:t> but different configurations exist in nowadays market. </a:t>
            </a:r>
          </a:p>
          <a:p>
            <a:r>
              <a:rPr lang="en-US" dirty="0" smtClean="0"/>
              <a:t>We show here two eight-sockets</a:t>
            </a:r>
            <a:r>
              <a:rPr lang="en-US" baseline="0" dirty="0" smtClean="0"/>
              <a:t> </a:t>
            </a:r>
            <a:r>
              <a:rPr lang="en-US" dirty="0" smtClean="0"/>
              <a:t>NUMA servers with totally different architectures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</a:t>
            </a:r>
            <a:r>
              <a:rPr lang="en-US" baseline="0" dirty="0" smtClean="0"/>
              <a:t> more and more complicated hardware challenges software optimization.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32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introduce the hardware, let’s now turn to the software side, and this talk focuses on data stream processing.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an increasing demand for handling real-time data streams, such as stock market monitoring and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(Internet of Things).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 data stream processing (DSP) systems have been proposed such as Apache Storm, </a:t>
            </a:r>
            <a:r>
              <a:rPr lang="en-US" altLang="zh-CN" dirty="0" smtClean="0"/>
              <a:t>Twitter 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Heron and Apache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Flink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so 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82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are many stream processing applications, and here are three representatives.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54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is a real-life example of using data stream processing system.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We </a:t>
            </a:r>
            <a:r>
              <a:rPr lang="en-US" dirty="0" smtClean="0"/>
              <a:t>send log messages from thousands of servers into a </a:t>
            </a:r>
            <a:r>
              <a:rPr lang="en-US" dirty="0" err="1" smtClean="0"/>
              <a:t>RabbitMQ</a:t>
            </a:r>
            <a:r>
              <a:rPr lang="en-US" dirty="0" smtClean="0"/>
              <a:t> cluster and then use Storm to check each message against a set of regular expressions.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E61E3-3C06-40CF-98C2-16CA742C2B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77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Spout</a:t>
            </a:r>
            <a:r>
              <a:rPr lang="en-SG" baseline="0" dirty="0" smtClean="0"/>
              <a:t>, bolt.</a:t>
            </a:r>
          </a:p>
          <a:p>
            <a:r>
              <a:rPr lang="en-SG" dirty="0" smtClean="0"/>
              <a:t>http://storm.apache.org/releases/1.1.0/Tutorial.html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41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Now, I will introduce a project on </a:t>
            </a:r>
            <a:r>
              <a:rPr lang="en-US" dirty="0" smtClean="0"/>
              <a:t>profiling</a:t>
            </a:r>
            <a:r>
              <a:rPr lang="en-US" baseline="0" dirty="0" smtClean="0"/>
              <a:t> state-of-the-art</a:t>
            </a:r>
            <a:r>
              <a:rPr lang="en-US" dirty="0" smtClean="0"/>
              <a:t> </a:t>
            </a:r>
            <a:r>
              <a:rPr lang="en-US" dirty="0" smtClean="0"/>
              <a:t>DSP systems on modern multi-core processors.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25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Recent DSP systems are mostly aimed at scaling out using a cluster of commodity machines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That is, they are designed for distributed environment, and they pay little attention on optimizing their performance on a single machine.</a:t>
            </a: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Further, they are mostly built around a number of key designs including a) pipelined processing with message passing, b) on-demand data parallelism, and c) </a:t>
            </a:r>
            <a:r>
              <a:rPr lang="en-GB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JVM based implementation.</a:t>
            </a:r>
          </a:p>
          <a:p>
            <a:endParaRPr lang="en-US" alt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dirty="0" smtClean="0"/>
              <a:t>In this paper, we study the three design aspects on scale-up architectures (i.e., multi-socket multi-core architectures).</a:t>
            </a:r>
          </a:p>
          <a:p>
            <a:r>
              <a:rPr lang="en-US" dirty="0" smtClean="0"/>
              <a:t>In</a:t>
            </a:r>
            <a:r>
              <a:rPr lang="en-US" baseline="0" dirty="0" smtClean="0"/>
              <a:t> the following slides, we are going to explain each design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45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dirty="0" smtClean="0"/>
              <a:t>A </a:t>
            </a:r>
            <a:r>
              <a:rPr lang="en-US" altLang="zh-CN" dirty="0" smtClean="0"/>
              <a:t>streaming application is represented by a graph,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Where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 nodes </a:t>
            </a:r>
            <a:r>
              <a:rPr lang="en-US" altLang="zh-CN" dirty="0" smtClean="0"/>
              <a:t>in the graph represent operators, </a:t>
            </a:r>
            <a:r>
              <a:rPr lang="en-US" altLang="zh-CN" dirty="0" smtClean="0"/>
              <a:t>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 edges </a:t>
            </a:r>
            <a:r>
              <a:rPr lang="en-US" altLang="zh-CN" dirty="0" smtClean="0"/>
              <a:t>represent the data dependency </a:t>
            </a:r>
            <a:r>
              <a:rPr lang="en-GB" altLang="zh-CN" dirty="0" smtClean="0"/>
              <a:t>between </a:t>
            </a:r>
            <a:r>
              <a:rPr lang="en-GB" altLang="zh-CN" dirty="0" smtClean="0"/>
              <a:t>operators.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 Each</a:t>
            </a:r>
            <a:r>
              <a:rPr lang="en-US" altLang="zh-CN" baseline="0" dirty="0" smtClean="0"/>
              <a:t> </a:t>
            </a:r>
            <a:r>
              <a:rPr lang="en-US" altLang="zh-CN" baseline="0" dirty="0" smtClean="0"/>
              <a:t>operator executes independently and continuously perform</a:t>
            </a:r>
            <a:r>
              <a:rPr lang="en-US" altLang="zh-CN" dirty="0" smtClean="0"/>
              <a:t> </a:t>
            </a:r>
            <a:r>
              <a:rPr lang="en-US" altLang="zh-CN" baseline="0" dirty="0" smtClean="0"/>
              <a:t>fetch, process and output operations in a pipelining way.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25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me explain how the message passing between operators are achieved in most modern DSP systems in a shared memory environment.</a:t>
            </a: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In this example, there are two operators, which are denoted as producer and consumer.</a:t>
            </a: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The producer first writes its output data to the local memory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[Click] emits a tuple containing a reference to the output data to its output queue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The consumer fetches from the corresponding queue to obtain the tuple and 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[Click] accesses the data by the </a:t>
            </a:r>
            <a:r>
              <a:rPr lang="en-GB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reference.</a:t>
            </a:r>
            <a:endParaRPr lang="zh-CN" altLang="en-US" dirty="0" smtClean="0"/>
          </a:p>
          <a:p>
            <a:endParaRPr lang="en-US" dirty="0" smtClean="0"/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When they are scheduled to different sockets, this data fetch comes with remote memory access overhead.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19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[Click] Modern DSP systems such as Storm and </a:t>
            </a:r>
            <a:r>
              <a:rPr lang="en-US" sz="1200" dirty="0" err="1" smtClean="0"/>
              <a:t>Flink</a:t>
            </a:r>
            <a:r>
              <a:rPr lang="en-US" sz="1200" dirty="0" smtClean="0"/>
              <a:t> are also designed to support </a:t>
            </a:r>
            <a:r>
              <a:rPr lang="en-US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data parallelism</a:t>
            </a:r>
            <a:r>
              <a:rPr lang="en-US" sz="1200" dirty="0" smtClean="0"/>
              <a:t>. </a:t>
            </a:r>
          </a:p>
          <a:p>
            <a:r>
              <a:rPr lang="en-US" altLang="zh-CN" dirty="0" smtClean="0"/>
              <a:t>The actual execution of an operator is carried out by one or more physical threads, which are referred as executors. </a:t>
            </a:r>
          </a:p>
          <a:p>
            <a:endParaRPr lang="en-US" dirty="0" smtClean="0"/>
          </a:p>
          <a:p>
            <a:r>
              <a:rPr lang="en-US" dirty="0" smtClean="0"/>
              <a:t>[Click] In</a:t>
            </a:r>
            <a:r>
              <a:rPr lang="en-US" baseline="0" dirty="0" smtClean="0"/>
              <a:t> this example, split operator is carried out by three split executors.</a:t>
            </a:r>
          </a:p>
          <a:p>
            <a:r>
              <a:rPr lang="en-US" dirty="0" smtClean="0"/>
              <a:t>[Click] The</a:t>
            </a:r>
            <a:r>
              <a:rPr lang="en-US" baseline="0" dirty="0" smtClean="0"/>
              <a:t> output stream of each operator is partitioned before passing downstream</a:t>
            </a:r>
          </a:p>
          <a:p>
            <a:r>
              <a:rPr lang="en-US" altLang="zh-CN" baseline="0" dirty="0" smtClean="0"/>
              <a:t>[C</a:t>
            </a:r>
            <a:r>
              <a:rPr lang="en-US" altLang="zh-CN" dirty="0" smtClean="0"/>
              <a:t>lick] The way</a:t>
            </a:r>
            <a:r>
              <a:rPr lang="en-US" altLang="zh-CN" baseline="0" dirty="0" smtClean="0"/>
              <a:t> of partition stream is specified by grouping strategies such as shuffle grouping, which equally distribute streams, and fields grouping, which distribute tuples according to keys in the tuple.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16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dirty="0" smtClean="0"/>
              <a:t> Many</a:t>
            </a:r>
            <a:r>
              <a:rPr lang="en-US" altLang="zh-CN" baseline="0" dirty="0" smtClean="0"/>
              <a:t> DSP systems </a:t>
            </a:r>
            <a:r>
              <a:rPr lang="en-US" altLang="zh-CN" dirty="0" smtClean="0"/>
              <a:t>are implemented with JVM-based programming languages (i.e., Closure, Java, and Scala), and their execution relies on JVM.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[Click] We consider three aspects of JVM primarily, including </a:t>
            </a:r>
          </a:p>
          <a:p>
            <a:r>
              <a:rPr lang="en-US" altLang="zh-CN" dirty="0" smtClean="0"/>
              <a:t>data reference, </a:t>
            </a:r>
          </a:p>
          <a:p>
            <a:r>
              <a:rPr lang="en-US" altLang="zh-CN" dirty="0" smtClean="0"/>
              <a:t>method table</a:t>
            </a:r>
            <a:r>
              <a:rPr lang="en-US" altLang="zh-CN" baseline="0" dirty="0" smtClean="0"/>
              <a:t> and </a:t>
            </a:r>
          </a:p>
          <a:p>
            <a:r>
              <a:rPr lang="en-US" altLang="zh-CN" baseline="0" dirty="0" smtClean="0"/>
              <a:t>garbage collection.</a:t>
            </a:r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45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two major goals,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we want to identify the common design aspects of modern DSP systems and to understand how those designs interact with modern processors.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Second, we want to develop some hardware and software approaches to resolving the bottleneck.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Our contributions can be summarized as follows: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We design a micro-benchmark covering a wide range of applications;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We conduct detailed profiling studies on two state-of-the-art DSP systems on multi-socket multi-core processors, and identify common performance issues;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We design optimization techniques to solve the identified performance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23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 smtClean="0"/>
              <a:t>There has been no standard benchmark for DSP systems, especially on scale-up architectures.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[Click]</a:t>
            </a:r>
            <a:r>
              <a:rPr lang="en-US" sz="1200" baseline="0" dirty="0" smtClean="0"/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Hence, we design our micro benchmark with seven streaming applications according to the four criteria proposed by Jim Gray including relevance, portability, scalability and Simplicity.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79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briefly describe how the micro-benchmark achieves the four criteria.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First, the applications covers a wide range of memory and computational behaviors, as well as different application complexities.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TM has high CPU and memory bandwidth consumption.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Second, we describe the high level functionality of each application, and they can be easily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applied to other DSP systems;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Third, the benchmark includes different data sizes;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Finally, we choose the applications with simplicity in mind so that the benchmark is understandable.</a:t>
            </a:r>
            <a:endParaRPr lang="en-US" altLang="zh-CN" baseline="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80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Here’s the outline of our profiling</a:t>
            </a:r>
            <a:r>
              <a:rPr lang="en-US" baseline="0" dirty="0" smtClean="0"/>
              <a:t> experiments.</a:t>
            </a:r>
          </a:p>
          <a:p>
            <a:r>
              <a:rPr lang="en-US" baseline="0" dirty="0" smtClean="0"/>
              <a:t>We first show the scalability test results on varying number of CPU cores.</a:t>
            </a:r>
          </a:p>
          <a:p>
            <a:r>
              <a:rPr lang="en-US" baseline="0" dirty="0" smtClean="0"/>
              <a:t>Then, we show the execution time breakdown of execution on a single socket.</a:t>
            </a:r>
          </a:p>
          <a:p>
            <a:r>
              <a:rPr lang="en-US" baseline="0" dirty="0" smtClean="0"/>
              <a:t>Finally, we go through the study on the impact of each design aspects.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97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These two figures show the normalized throughput of running different applications with varying number of cores/sockets on Storm and </a:t>
            </a:r>
            <a:r>
              <a:rPr lang="en-US" altLang="zh-CN" dirty="0" err="1" smtClean="0"/>
              <a:t>Flink</a:t>
            </a:r>
            <a:r>
              <a:rPr lang="en-US" altLang="zh-CN" dirty="0" smtClean="0"/>
              <a:t>, respectively.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The performance results are normalized to their throughputs on a single core.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r>
              <a:rPr lang="en-US" altLang="zh-CN" dirty="0" smtClean="0"/>
              <a:t>We have the following observations.</a:t>
            </a:r>
          </a:p>
          <a:p>
            <a:r>
              <a:rPr lang="en-US" altLang="zh-CN" dirty="0" smtClean="0"/>
              <a:t>[Click] Firstly, on a single socket, most of the applications scale well with the increasing number of CPU cores for both Storm and </a:t>
            </a:r>
            <a:r>
              <a:rPr lang="en-US" altLang="zh-CN" dirty="0" err="1" smtClean="0"/>
              <a:t>Flink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[Click] Secondly, most applications perform not better or even worse on multiple sockets than on a single socket. </a:t>
            </a:r>
          </a:p>
          <a:p>
            <a:r>
              <a:rPr lang="en-US" altLang="zh-CN" dirty="0" smtClean="0"/>
              <a:t>[Click] Multiple sockets essentially</a:t>
            </a:r>
            <a:r>
              <a:rPr lang="en-US" altLang="zh-CN" baseline="0" dirty="0" smtClean="0"/>
              <a:t> brings more resources but also additional overhead of remote memory access. Applications scale poorly or become even worse due to the greater negative impact of overhead.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80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Here’s the outline of our profiling</a:t>
            </a:r>
            <a:r>
              <a:rPr lang="en-US" baseline="0" dirty="0" smtClean="0"/>
              <a:t> experiments.</a:t>
            </a:r>
          </a:p>
          <a:p>
            <a:r>
              <a:rPr lang="en-US" baseline="0" dirty="0" smtClean="0"/>
              <a:t>We first show the scalability test results on varying number of CPU cores.</a:t>
            </a:r>
          </a:p>
          <a:p>
            <a:r>
              <a:rPr lang="en-US" baseline="0" dirty="0" smtClean="0"/>
              <a:t>Then, we show the execution time breakdown of execution on a single socket.</a:t>
            </a:r>
          </a:p>
          <a:p>
            <a:r>
              <a:rPr lang="en-US" baseline="0" dirty="0" smtClean="0"/>
              <a:t>Finally, we go through the study on the impact of each design aspects.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65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seems that both DSP systems scale well on a single socket, but [Click] we find </a:t>
            </a:r>
            <a:r>
              <a:rPr lang="en-US" altLang="zh-CN" baseline="0" dirty="0" smtClean="0"/>
              <a:t>about </a:t>
            </a:r>
            <a:r>
              <a:rPr lang="en-US" altLang="zh-CN" dirty="0" smtClean="0"/>
              <a:t>70% of their execution times are spent in processor stalls as shown</a:t>
            </a:r>
            <a:r>
              <a:rPr lang="en-US" altLang="zh-CN" baseline="0" dirty="0" smtClean="0"/>
              <a:t> in these figures</a:t>
            </a:r>
            <a:r>
              <a:rPr lang="en-US" altLang="zh-CN" dirty="0" smtClean="0"/>
              <a:t>.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00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Front-end stalls is a major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163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768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 The design of supporting both pipelined and data parallel processing results in a very complex massively parallel threading model in DSP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 The high front-end stalls are mainly caused by </a:t>
            </a:r>
            <a:r>
              <a:rPr lang="en-GB" altLang="zh-CN" dirty="0" smtClean="0"/>
              <a:t>this threading model,</a:t>
            </a:r>
            <a:r>
              <a:rPr lang="en-GB" altLang="zh-CN" baseline="0" dirty="0" smtClean="0"/>
              <a:t> which causes frequent instruction cache miss.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[Click] The figures further illustrate the breakdown on front stalls, where I-cache miss stalls are I-Decoding stalls dominate front-end stalls, and I-Decoding stalls are caused by frequent instruction cache misses.</a:t>
            </a:r>
            <a:endParaRPr lang="en-GB" altLang="zh-CN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724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figure further illustrates the cumulative density function of the instruction footprints on a log scale, which stands for the percentage that instruction footprint is no larger than a certain number of distinct instructions.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two major observations: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the common range of their instruction footprints during execution are between 1KB to 10MB and 1KB to 1MB on Storm and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Flink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respectively.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Second, the cross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 points of L1-ICache line and different CDF curves are between 0.3~0.5 for Storm and 0.6~0.8 for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Flink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means, around 50~70% and 20~40% of the instruction footprints between two consecutive calls to the same functions are larger than the L1-ICache in Storm and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Flink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respectively.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explains why the instruction cache miss issue is so serious.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33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main problem of scaling DSP systems on multi-socket processors is the high remote memory access overhead due to the heavy pipelined message passing design.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This table shows the LLC miss stalls for executing different applications on Storm on four sockets.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</a:t>
            </a:r>
            <a:r>
              <a:rPr lang="en-US" sz="12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Up to 24% of the total execution time are wasted due to remote memory access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383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Now, let’s do a recap.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177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We present our initial attempt at addressing the aforementioned performance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non-blocking tuple batching to reduce instruction cache misses,</a:t>
            </a:r>
            <a:r>
              <a:rPr lang="en-US" altLang="zh-CN" baseline="0" dirty="0" smtClean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[Click] the main idea of non-blocking tuple batching is to batch and only batch tuples that can be batched.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[Click] NUMA-aware executor placement to reduce remote memory </a:t>
            </a:r>
            <a:r>
              <a:rPr lang="en-GB" altLang="zh-CN" dirty="0" smtClean="0"/>
              <a:t>accesses.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[Click] the main idea of NUMA-aware executor placement is to convert it into a min-cut graph partition problem.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50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Finally, this</a:t>
            </a:r>
            <a:r>
              <a:rPr lang="en-US" altLang="zh-CN" baseline="0" dirty="0" smtClean="0"/>
              <a:t> figure shows the evaluation results on Storm by combining both techniques, and the batch size is set to 8.</a:t>
            </a:r>
          </a:p>
          <a:p>
            <a:r>
              <a:rPr lang="en-US" altLang="zh-CN" baseline="0" dirty="0" smtClean="0"/>
              <a:t>【</a:t>
            </a:r>
            <a:r>
              <a:rPr lang="en-US" altLang="zh-CN" baseline="0" dirty="0" err="1" smtClean="0"/>
              <a:t>click】Our</a:t>
            </a:r>
            <a:r>
              <a:rPr lang="en-US" altLang="zh-CN" baseline="0" dirty="0" smtClean="0"/>
              <a:t> techniques improves throughput by up to 3.2 times on four sockets.</a:t>
            </a:r>
          </a:p>
          <a:p>
            <a:r>
              <a:rPr lang="en-US" altLang="zh-CN" baseline="0" dirty="0" smtClean="0"/>
              <a:t>Although our techniques improves the performance significantly, it still has space to linear scale up.</a:t>
            </a:r>
            <a:endParaRPr lang="zh-CN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7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/>
              <a:t>【</a:t>
            </a:r>
            <a:r>
              <a:rPr lang="en-US" altLang="zh-CN" sz="1200" dirty="0" err="1" smtClean="0"/>
              <a:t>click】</a:t>
            </a:r>
            <a:r>
              <a:rPr lang="en-US" altLang="en-US" sz="1200" dirty="0" err="1" smtClean="0"/>
              <a:t>There</a:t>
            </a:r>
            <a:r>
              <a:rPr lang="en-US" altLang="en-US" sz="1200" dirty="0" smtClean="0"/>
              <a:t> is a lack of detailed analysis on the common design aspects of modern DSP systems when running on modern multi-socket multi-core processors</a:t>
            </a:r>
          </a:p>
          <a:p>
            <a:r>
              <a:rPr lang="en-US" altLang="zh-CN" sz="1200" dirty="0" smtClean="0"/>
              <a:t>【</a:t>
            </a:r>
            <a:r>
              <a:rPr lang="en-US" altLang="zh-CN" sz="1200" dirty="0" err="1" smtClean="0"/>
              <a:t>click】</a:t>
            </a:r>
            <a:r>
              <a:rPr lang="en-US" altLang="en-US" sz="1200" dirty="0" err="1" smtClean="0"/>
              <a:t>We</a:t>
            </a:r>
            <a:r>
              <a:rPr lang="en-US" altLang="en-US" sz="1200" dirty="0" smtClean="0"/>
              <a:t> design micro-benchmark and conducted extensive evaluations based on two state-of-the-art DSP systems and identify several common performance issues</a:t>
            </a:r>
          </a:p>
          <a:p>
            <a:r>
              <a:rPr lang="en-US" altLang="zh-CN" sz="1200" dirty="0" smtClean="0"/>
              <a:t>【</a:t>
            </a:r>
            <a:r>
              <a:rPr lang="en-US" altLang="zh-CN" sz="1200" dirty="0" err="1" smtClean="0"/>
              <a:t>click】</a:t>
            </a:r>
            <a:r>
              <a:rPr lang="en-US" altLang="en-US" sz="1200" dirty="0" err="1" smtClean="0"/>
              <a:t>We</a:t>
            </a:r>
            <a:r>
              <a:rPr lang="en-US" altLang="en-US" sz="1200" dirty="0" smtClean="0"/>
              <a:t> present two optimization techniques to address the found performance issues and demonstrate promising performance improvements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49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have witness </a:t>
            </a:r>
            <a:r>
              <a:rPr lang="en-US" baseline="0" dirty="0" smtClean="0"/>
              <a:t>two trends that drive us to rethink the design of DSP systems. </a:t>
            </a:r>
          </a:p>
          <a:p>
            <a:r>
              <a:rPr lang="en-US" baseline="0" dirty="0" smtClean="0"/>
              <a:t>First</a:t>
            </a:r>
            <a:r>
              <a:rPr lang="mr-IN" baseline="0" dirty="0" smtClean="0"/>
              <a:t>…</a:t>
            </a:r>
            <a:endParaRPr lang="en-US" baseline="0" dirty="0" smtClean="0"/>
          </a:p>
          <a:p>
            <a:r>
              <a:rPr lang="en-US" baseline="0" dirty="0" smtClean="0"/>
              <a:t>Second..</a:t>
            </a:r>
            <a:endParaRPr lang="en-US" dirty="0" smtClean="0"/>
          </a:p>
          <a:p>
            <a:r>
              <a:rPr lang="en-US" dirty="0" smtClean="0"/>
              <a:t>Recently,</a:t>
            </a:r>
            <a:r>
              <a:rPr lang="en-US" baseline="0" dirty="0" smtClean="0"/>
              <a:t> a few DSP systems designed from ground up towards scale-up are proposed. However, none of them are NUMA-aware.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4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316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Let’s see how a tuple is transmitted in a shared memory environment.</a:t>
            </a: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they are scheduled to different sockets, this data fetch comes with remote memory access overhead.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188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 a motivation study, we show here the</a:t>
            </a:r>
            <a:r>
              <a:rPr lang="en-US" baseline="0" dirty="0" smtClean="0"/>
              <a:t> time of processing one tuple of an operator when it is either local or </a:t>
            </a:r>
            <a:r>
              <a:rPr lang="en-US" baseline="0" smtClean="0"/>
              <a:t>remotely allocated </a:t>
            </a:r>
            <a:r>
              <a:rPr lang="en-US" baseline="0" dirty="0" smtClean="0"/>
              <a:t>to its producers.</a:t>
            </a:r>
            <a:endParaRPr lang="en-US" dirty="0" smtClean="0"/>
          </a:p>
          <a:p>
            <a:r>
              <a:rPr lang="en-US" dirty="0" smtClean="0"/>
              <a:t>We can see that the processing time of each operator is up to 42\% higher when it is remotely allocated to its producer.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6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C95F7-7D03-2146-89F4-28A3A606A1F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65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contribution mainly consists of a novel</a:t>
            </a:r>
            <a:r>
              <a:rPr lang="en-US" baseline="0" dirty="0" smtClean="0"/>
              <a:t> NUMA-aware streaming model and a branch and bound based algorithm that solves the resulting optimization problem. This figure gives the overview of our optimizations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84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The overhead of JVM runtime contains two major and moderate components. </a:t>
            </a:r>
          </a:p>
          <a:p>
            <a:r>
              <a:rPr lang="en-US" altLang="zh-CN" sz="3200" dirty="0" smtClean="0"/>
              <a:t>【</a:t>
            </a:r>
            <a:r>
              <a:rPr lang="en-US" altLang="zh-CN" sz="3200" dirty="0" err="1" smtClean="0"/>
              <a:t>Click】</a:t>
            </a:r>
            <a:r>
              <a:rPr lang="en-US" sz="3200" dirty="0" err="1" smtClean="0"/>
              <a:t>First</a:t>
            </a:r>
            <a:r>
              <a:rPr lang="en-US" sz="3200" dirty="0" smtClean="0"/>
              <a:t>, the frequent pointer referencing during tuple transmission and the frequent method table search stress TLB (stalls account for 5~10% and 3~8%). </a:t>
            </a:r>
          </a:p>
          <a:p>
            <a:r>
              <a:rPr lang="en-US" altLang="zh-CN" sz="3200" dirty="0" smtClean="0"/>
              <a:t>【</a:t>
            </a:r>
            <a:r>
              <a:rPr lang="en-US" altLang="zh-CN" sz="3200" dirty="0" err="1" smtClean="0"/>
              <a:t>Click】</a:t>
            </a:r>
            <a:r>
              <a:rPr lang="en-US" sz="3200" dirty="0" err="1" smtClean="0"/>
              <a:t>Second</a:t>
            </a:r>
            <a:r>
              <a:rPr lang="en-US" sz="3200" dirty="0" smtClean="0"/>
              <a:t>, the overhead of GC in running streaming applications (1~3%) is insignificant.</a:t>
            </a:r>
          </a:p>
          <a:p>
            <a:r>
              <a:rPr lang="en-US" sz="3200" dirty="0" smtClean="0"/>
              <a:t>[Click] It suggest</a:t>
            </a:r>
            <a:r>
              <a:rPr lang="en-US" sz="3200" baseline="0" dirty="0" smtClean="0"/>
              <a:t>s that we can enable huge page optimizations to reduce the TLB overhead when running DSP systems on multi-core processors.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402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latin typeface="NimbusRomNo9L-Regu"/>
              </a:rPr>
              <a:t>Recall</a:t>
            </a:r>
            <a:r>
              <a:rPr lang="en-US" altLang="zh-CN" baseline="0" dirty="0" smtClean="0">
                <a:latin typeface="NimbusRomNo9L-Regu"/>
              </a:rPr>
              <a:t> that in the original design, each tuple are executed independently and transmitted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900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>
                <a:latin typeface="NimbusRomNo9L-Regu"/>
              </a:rPr>
              <a:t>The idea of tuple batching is to combine multiple tuples into one, and hence the executor works on multiple tuples after a single fetch.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【</a:t>
            </a:r>
            <a:r>
              <a:rPr lang="en-US" altLang="zh-CN" dirty="0" err="1" smtClean="0"/>
              <a:t>click】</a:t>
            </a:r>
            <a:r>
              <a:rPr lang="en-US" altLang="zh-CN" baseline="0" dirty="0" err="1" smtClean="0"/>
              <a:t>This</a:t>
            </a:r>
            <a:r>
              <a:rPr lang="en-US" altLang="zh-CN" baseline="0" dirty="0" smtClean="0"/>
              <a:t> batching is initiated at Data source, and performs at each executor. Say, once the split receives multiple tuples in a batch from data source, it will process on them and potentially generate multiple outputs correspondingly, which are going to be batched and transmitted further downstream.</a:t>
            </a:r>
            <a:endParaRPr lang="en-US" altLang="zh-CN" dirty="0" smtClean="0"/>
          </a:p>
          <a:p>
            <a:endParaRPr lang="en-US" baseline="0" dirty="0" smtClean="0">
              <a:latin typeface="NimbusRomNo9L-Regu"/>
            </a:endParaRPr>
          </a:p>
          <a:p>
            <a:r>
              <a:rPr lang="en-US" baseline="0" dirty="0" smtClean="0">
                <a:latin typeface="NimbusRomNo9L-Regu"/>
              </a:rPr>
              <a:t>However, </a:t>
            </a:r>
            <a:r>
              <a:rPr lang="en-US" altLang="zh-CN" dirty="0" smtClean="0"/>
              <a:t>tuples aimed at different consumers may be grouped together, which results in wrong final results.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【</a:t>
            </a:r>
            <a:r>
              <a:rPr lang="en-US" altLang="zh-CN" dirty="0" err="1" smtClean="0"/>
              <a:t>click】Our</a:t>
            </a:r>
            <a:r>
              <a:rPr lang="en-US" altLang="zh-CN" dirty="0" smtClean="0"/>
              <a:t> solution to this problem is </a:t>
            </a:r>
            <a:r>
              <a:rPr lang="en-US" altLang="zh-CN" baseline="0" dirty="0" smtClean="0"/>
              <a:t>re-generating the hash value of the keys in each tuple, and combines whenever possible. The larger the targeted batch size, the higher chances that more tuples are combined.</a:t>
            </a:r>
          </a:p>
          <a:p>
            <a:endParaRPr lang="en-US" altLang="zh-CN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16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figure illustrates</a:t>
            </a:r>
            <a:r>
              <a:rPr lang="en-US" baseline="0" dirty="0" smtClean="0"/>
              <a:t> the normalized throughput and latency of Storm with tuple batching optimization for different applications on a single socket.</a:t>
            </a:r>
          </a:p>
          <a:p>
            <a:r>
              <a:rPr lang="en-US" baseline="0" dirty="0" smtClean="0"/>
              <a:t>As expected, tuple batching significantly increase performance of most applications, and larger initial batch sizes enables greater opportunities of batching more tuples together.</a:t>
            </a:r>
          </a:p>
          <a:p>
            <a:r>
              <a:rPr lang="en-US" baseline="0" dirty="0" smtClean="0"/>
              <a:t>However, with tuple batching, the processing latency of each tuple may be increased as they are not emitted until all tuples in the same batch are processed.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figure on the right shows the normalized average latency per output tuple under different batch sizes. Comparing both figures, we observe a clear trade-off between the throughput and latency. Meanwhile, our non-blocking tuple batching scheme preservers a sublinear increase in process latency for most applications, which is due to the much-improved performance and no explicit buffering delay.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684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</a:t>
            </a:r>
            <a:r>
              <a:rPr lang="en-US" baseline="0" dirty="0" smtClean="0"/>
              <a:t> let DSP systems to scale on multiple sockets, </a:t>
            </a:r>
            <a:r>
              <a:rPr lang="en-US" dirty="0" smtClean="0"/>
              <a:t>the executors in a topology should be placed in an NUMA-aware manner,</a:t>
            </a:r>
            <a:r>
              <a:rPr lang="en-US" baseline="0" dirty="0" smtClean="0"/>
              <a:t> so that remote memory access overhead can be reduced.</a:t>
            </a:r>
            <a:endParaRPr lang="en-US" dirty="0" smtClean="0"/>
          </a:p>
          <a:p>
            <a:r>
              <a:rPr lang="en-US" dirty="0" smtClean="0"/>
              <a:t>We</a:t>
            </a:r>
            <a:r>
              <a:rPr lang="en-US" baseline="0" dirty="0" smtClean="0"/>
              <a:t> strategically map executors into different sockets. The formulated optimization problem is mapped to the minimum k-cut problem, where k stands for how many sockets we are going to use.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990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</a:t>
            </a:r>
            <a:r>
              <a:rPr lang="en-US" baseline="0" dirty="0" smtClean="0"/>
              <a:t> figure shows the effectiveness of the NUMA-aware executor placement.</a:t>
            </a:r>
          </a:p>
          <a:p>
            <a:r>
              <a:rPr lang="en-US" baseline="0" dirty="0" smtClean="0"/>
              <a:t>Results are normalized to four sockets without optimization. </a:t>
            </a:r>
          </a:p>
          <a:p>
            <a:r>
              <a:rPr lang="en-US" altLang="zh-CN" baseline="0" dirty="0" smtClean="0"/>
              <a:t>【</a:t>
            </a:r>
            <a:r>
              <a:rPr lang="en-US" altLang="zh-CN" baseline="0" dirty="0" err="1" smtClean="0"/>
              <a:t>click】</a:t>
            </a:r>
            <a:r>
              <a:rPr lang="en-US" baseline="0" dirty="0" err="1" smtClean="0"/>
              <a:t>The</a:t>
            </a:r>
            <a:r>
              <a:rPr lang="en-US" baseline="0" dirty="0" smtClean="0"/>
              <a:t> placement strategy improves the throughput of all applications by up to 32%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679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dirty="0" smtClean="0"/>
              <a:t>Furthermore, the current design of data parallelism creates serious process speed unbalance due to the NUMA effect.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dirty="0" smtClean="0"/>
              <a:t>【</a:t>
            </a:r>
            <a:r>
              <a:rPr lang="en-US" altLang="zh-CN" dirty="0" err="1" smtClean="0"/>
              <a:t>Click】We</a:t>
            </a:r>
            <a:r>
              <a:rPr lang="en-US" altLang="zh-CN" baseline="0" dirty="0" smtClean="0"/>
              <a:t> take traffic-monitoring application as an example to further study the impact of the current design of stream partitioning under the NUMA effect.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dirty="0" smtClean="0"/>
              <a:t>【</a:t>
            </a:r>
            <a:r>
              <a:rPr lang="en-US" altLang="zh-CN" dirty="0" err="1" smtClean="0"/>
              <a:t>Click】When</a:t>
            </a:r>
            <a:r>
              <a:rPr lang="en-US" altLang="zh-CN" dirty="0" smtClean="0"/>
              <a:t> the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threads of </a:t>
            </a:r>
            <a:r>
              <a:rPr lang="en-US" altLang="zh-CN" dirty="0" err="1" smtClean="0"/>
              <a:t>MapMatcher</a:t>
            </a:r>
            <a:r>
              <a:rPr lang="en-US" altLang="zh-CN" dirty="0" smtClean="0"/>
              <a:t> bolt</a:t>
            </a:r>
            <a:r>
              <a:rPr lang="en-US" altLang="zh-CN" baseline="0" dirty="0" smtClean="0"/>
              <a:t> is configured to be 56, we observe up to 3 times of difference in average execution latency among them.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9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12D8FB24-4664-4497-A38E-DB90968F75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105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F97D64-F2C2-49E8-AF9B-D0DCF2D5950C}" type="datetime1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12D8FB24-4664-4497-A38E-DB90968F75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86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460182-5689-4E55-808D-C7A8500BC18F}" type="datetime1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19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B31DB7-CA1C-4B40-85FC-0EACCB335B89}" type="datetime1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7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AFC520-DEB0-464F-B9E4-FFB644DAAA4F}" type="datetime1">
              <a:rPr lang="en-US" smtClean="0"/>
              <a:t>1/10/18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3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E90BEB-45C9-4ACC-BBF7-50D68BD46B96}" type="datetime1">
              <a:rPr lang="en-US" smtClean="0"/>
              <a:t>1/10/18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2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9026D0-D18A-4C3D-849C-5C3FCC99D228}" type="datetime1">
              <a:rPr lang="en-US" smtClean="0"/>
              <a:t>1/10/18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8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0134E5-49A9-42DC-8444-400CBBCA56A1}" type="datetime1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7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9B89C7-7AE0-491C-8FAB-255516883C98}" type="datetime1">
              <a:rPr lang="en-US" smtClean="0"/>
              <a:t>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8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433FB-CE42-4DBD-8B36-5A7D1679B643}" type="datetime1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8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B9EBC07-D1D1-4587-BEFE-9BAA22FE51D5}" type="datetime1">
              <a:rPr lang="en-US" smtClean="0"/>
              <a:t>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7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8772" y="6356350"/>
            <a:ext cx="54846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 smtClean="0"/>
              <a:t>Revisiting the Design of Data Stream Processing Systems on Multi-Core Processors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8FB24-4664-4497-A38E-DB90968F75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http://www.nus.edu.sg/identity/images/identity/logo/fullcolorlogo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9" y="6194387"/>
            <a:ext cx="1080976" cy="52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29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8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9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9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0.png"/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9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9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Revisiting the Design of Data Stream Processing Systems on Multi-Core Processors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Shuhao Zhang</a:t>
            </a:r>
            <a:r>
              <a:rPr lang="en-US" b="1" baseline="30000" dirty="0" smtClean="0"/>
              <a:t>1,2</a:t>
            </a:r>
            <a:r>
              <a:rPr lang="en-US" dirty="0" smtClean="0"/>
              <a:t>, Bingsheng He</a:t>
            </a:r>
            <a:r>
              <a:rPr lang="en-US" baseline="30000" dirty="0" smtClean="0"/>
              <a:t>1</a:t>
            </a:r>
            <a:r>
              <a:rPr lang="en-US" dirty="0" smtClean="0"/>
              <a:t>, Daniel Dahlmeier</a:t>
            </a:r>
            <a:r>
              <a:rPr lang="en-US" baseline="30000" dirty="0" smtClean="0"/>
              <a:t>2</a:t>
            </a:r>
            <a:r>
              <a:rPr lang="en-US" dirty="0" smtClean="0"/>
              <a:t>, Amelie Chi Zhou</a:t>
            </a:r>
            <a:r>
              <a:rPr lang="en-US" baseline="30000" dirty="0" smtClean="0"/>
              <a:t>3</a:t>
            </a:r>
            <a:r>
              <a:rPr lang="en-US" dirty="0" smtClean="0"/>
              <a:t>, Thomas Heinze</a:t>
            </a:r>
            <a:r>
              <a:rPr lang="en-US" baseline="30000" dirty="0" smtClean="0"/>
              <a:t>2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19476" r="12821" b="21317"/>
          <a:stretch/>
        </p:blipFill>
        <p:spPr bwMode="auto">
          <a:xfrm>
            <a:off x="2262962" y="4520582"/>
            <a:ext cx="2286000" cy="106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Image result for sap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562" y="4512326"/>
            <a:ext cx="2209800" cy="108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inria franc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562" y="4538927"/>
            <a:ext cx="2209800" cy="107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06509" y="44301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45656" y="44301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31009" y="44301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5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Background.</a:t>
            </a:r>
          </a:p>
          <a:p>
            <a:r>
              <a:rPr lang="en-US" dirty="0" smtClean="0"/>
              <a:t>Profiling </a:t>
            </a:r>
            <a:r>
              <a:rPr lang="en-US" dirty="0"/>
              <a:t>study</a:t>
            </a:r>
            <a:r>
              <a:rPr lang="en-US" b="1" dirty="0"/>
              <a:t> </a:t>
            </a:r>
            <a:r>
              <a:rPr lang="en-US" dirty="0" smtClean="0"/>
              <a:t>of DSP systems on modern multi-core processors.</a:t>
            </a:r>
          </a:p>
          <a:p>
            <a:r>
              <a:rPr lang="en-US" dirty="0" smtClean="0"/>
              <a:t>A new DSP system designed for </a:t>
            </a:r>
            <a:r>
              <a:rPr lang="en-US" dirty="0"/>
              <a:t>modern multi-core </a:t>
            </a:r>
            <a:r>
              <a:rPr lang="en-US" dirty="0" smtClean="0"/>
              <a:t>processors.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2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Background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Multi-core processors</a:t>
            </a:r>
          </a:p>
          <a:p>
            <a:pPr lvl="1"/>
            <a:r>
              <a:rPr lang="en-US" dirty="0" smtClean="0"/>
              <a:t>DSP systems</a:t>
            </a:r>
          </a:p>
          <a:p>
            <a:r>
              <a:rPr lang="en-US" dirty="0" smtClean="0"/>
              <a:t>Profiling </a:t>
            </a:r>
            <a:r>
              <a:rPr lang="en-US" dirty="0"/>
              <a:t>study</a:t>
            </a:r>
            <a:r>
              <a:rPr lang="en-US" b="1" dirty="0"/>
              <a:t> </a:t>
            </a:r>
            <a:r>
              <a:rPr lang="en-US" dirty="0" smtClean="0"/>
              <a:t>of DSP systems on modern multi-core processors.</a:t>
            </a:r>
          </a:p>
          <a:p>
            <a:r>
              <a:rPr lang="en-US" dirty="0" smtClean="0"/>
              <a:t>A new DSP system designed for </a:t>
            </a:r>
            <a:r>
              <a:rPr lang="en-US" dirty="0"/>
              <a:t>modern multi-core </a:t>
            </a:r>
            <a:r>
              <a:rPr lang="en-US" dirty="0" smtClean="0"/>
              <a:t>processors.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2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trend of CPU development</a:t>
            </a:r>
            <a:endParaRPr lang="en-US" dirty="0"/>
          </a:p>
        </p:txBody>
      </p:sp>
      <p:pic>
        <p:nvPicPr>
          <p:cNvPr id="3074" name="Picture 2" descr="Image result for microprocessor frequency tre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3727"/>
            <a:ext cx="680026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/>
          <p:cNvSpPr/>
          <p:nvPr/>
        </p:nvSpPr>
        <p:spPr>
          <a:xfrm>
            <a:off x="2543978" y="2092630"/>
            <a:ext cx="3460157" cy="2309678"/>
          </a:xfrm>
          <a:custGeom>
            <a:avLst/>
            <a:gdLst>
              <a:gd name="connsiteX0" fmla="*/ 390608 w 3460157"/>
              <a:gd name="connsiteY0" fmla="*/ 1735091 h 2309678"/>
              <a:gd name="connsiteX1" fmla="*/ 3112543 w 3460157"/>
              <a:gd name="connsiteY1" fmla="*/ 76412 h 2309678"/>
              <a:gd name="connsiteX2" fmla="*/ 3346459 w 3460157"/>
              <a:gd name="connsiteY2" fmla="*/ 352858 h 2309678"/>
              <a:gd name="connsiteX3" fmla="*/ 2400162 w 3460157"/>
              <a:gd name="connsiteY3" fmla="*/ 1022710 h 2309678"/>
              <a:gd name="connsiteX4" fmla="*/ 688320 w 3460157"/>
              <a:gd name="connsiteY4" fmla="*/ 1969007 h 2309678"/>
              <a:gd name="connsiteX5" fmla="*/ 92896 w 3460157"/>
              <a:gd name="connsiteY5" fmla="*/ 2309249 h 2309678"/>
              <a:gd name="connsiteX6" fmla="*/ 29101 w 3460157"/>
              <a:gd name="connsiteY6" fmla="*/ 2032803 h 2309678"/>
              <a:gd name="connsiteX7" fmla="*/ 390608 w 3460157"/>
              <a:gd name="connsiteY7" fmla="*/ 1735091 h 230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60157" h="2309678">
                <a:moveTo>
                  <a:pt x="390608" y="1735091"/>
                </a:moveTo>
                <a:cubicBezTo>
                  <a:pt x="904515" y="1409026"/>
                  <a:pt x="2619901" y="306784"/>
                  <a:pt x="3112543" y="76412"/>
                </a:cubicBezTo>
                <a:cubicBezTo>
                  <a:pt x="3605185" y="-153960"/>
                  <a:pt x="3465189" y="195142"/>
                  <a:pt x="3346459" y="352858"/>
                </a:cubicBezTo>
                <a:cubicBezTo>
                  <a:pt x="3227729" y="510574"/>
                  <a:pt x="2843185" y="753352"/>
                  <a:pt x="2400162" y="1022710"/>
                </a:cubicBezTo>
                <a:cubicBezTo>
                  <a:pt x="1957139" y="1292068"/>
                  <a:pt x="1072864" y="1754584"/>
                  <a:pt x="688320" y="1969007"/>
                </a:cubicBezTo>
                <a:cubicBezTo>
                  <a:pt x="303776" y="2183430"/>
                  <a:pt x="202766" y="2298616"/>
                  <a:pt x="92896" y="2309249"/>
                </a:cubicBezTo>
                <a:cubicBezTo>
                  <a:pt x="-16974" y="2319882"/>
                  <a:pt x="-16974" y="2130268"/>
                  <a:pt x="29101" y="2032803"/>
                </a:cubicBezTo>
                <a:cubicBezTo>
                  <a:pt x="75175" y="1935338"/>
                  <a:pt x="-123299" y="2061156"/>
                  <a:pt x="390608" y="1735091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/>
          <p:cNvSpPr txBox="1"/>
          <p:nvPr/>
        </p:nvSpPr>
        <p:spPr>
          <a:xfrm>
            <a:off x="7638463" y="2211572"/>
            <a:ext cx="39616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 smtClean="0">
                <a:latin typeface="Comic Sans MS" panose="030F0702030302020204" pitchFamily="66" charset="0"/>
              </a:rPr>
              <a:t>Transistors is still rapidly increasing.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 smtClean="0">
                <a:latin typeface="Comic Sans MS" panose="030F0702030302020204" pitchFamily="66" charset="0"/>
              </a:rPr>
              <a:t>Number of logical cores is also increasing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 smtClean="0">
                <a:latin typeface="Comic Sans MS" panose="030F0702030302020204" pitchFamily="66" charset="0"/>
              </a:rPr>
              <a:t>Other metrics are slowing down.</a:t>
            </a:r>
            <a:endParaRPr lang="en-SG" sz="2000" dirty="0">
              <a:latin typeface="Comic Sans MS" panose="030F0702030302020204" pitchFamily="66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3455581" y="4327451"/>
            <a:ext cx="2456121" cy="862079"/>
          </a:xfrm>
          <a:custGeom>
            <a:avLst/>
            <a:gdLst>
              <a:gd name="connsiteX0" fmla="*/ 0 w 2456121"/>
              <a:gd name="connsiteY0" fmla="*/ 829340 h 862079"/>
              <a:gd name="connsiteX1" fmla="*/ 1201479 w 2456121"/>
              <a:gd name="connsiteY1" fmla="*/ 829340 h 862079"/>
              <a:gd name="connsiteX2" fmla="*/ 1850066 w 2456121"/>
              <a:gd name="connsiteY2" fmla="*/ 489098 h 862079"/>
              <a:gd name="connsiteX3" fmla="*/ 2456121 w 2456121"/>
              <a:gd name="connsiteY3" fmla="*/ 0 h 862079"/>
              <a:gd name="connsiteX4" fmla="*/ 2456121 w 2456121"/>
              <a:gd name="connsiteY4" fmla="*/ 0 h 86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6121" h="862079">
                <a:moveTo>
                  <a:pt x="0" y="829340"/>
                </a:moveTo>
                <a:cubicBezTo>
                  <a:pt x="446567" y="857693"/>
                  <a:pt x="893135" y="886047"/>
                  <a:pt x="1201479" y="829340"/>
                </a:cubicBezTo>
                <a:cubicBezTo>
                  <a:pt x="1509823" y="772633"/>
                  <a:pt x="1640959" y="627321"/>
                  <a:pt x="1850066" y="489098"/>
                </a:cubicBezTo>
                <a:cubicBezTo>
                  <a:pt x="2059173" y="350875"/>
                  <a:pt x="2456121" y="0"/>
                  <a:pt x="2456121" y="0"/>
                </a:cubicBezTo>
                <a:lnTo>
                  <a:pt x="2456121" y="0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4763387" y="2955851"/>
            <a:ext cx="1148316" cy="1446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/>
          <p:cNvSpPr/>
          <p:nvPr/>
        </p:nvSpPr>
        <p:spPr>
          <a:xfrm>
            <a:off x="7942166" y="5405343"/>
            <a:ext cx="33542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are now at the multi-core era.</a:t>
            </a:r>
          </a:p>
        </p:txBody>
      </p:sp>
    </p:spTree>
    <p:extLst>
      <p:ext uri="{BB962C8B-B14F-4D97-AF65-F5344CB8AC3E}">
        <p14:creationId xmlns:p14="http://schemas.microsoft.com/office/powerpoint/2010/main" val="69400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0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speed </a:t>
            </a:r>
            <a:r>
              <a:rPr lang="en-SG" dirty="0" smtClean="0"/>
              <a:t>g</a:t>
            </a:r>
            <a:r>
              <a:rPr lang="en-US" dirty="0" err="1" smtClean="0"/>
              <a:t>ap</a:t>
            </a:r>
            <a:r>
              <a:rPr lang="en-US" dirty="0" smtClean="0"/>
              <a:t> </a:t>
            </a:r>
            <a:r>
              <a:rPr lang="en-US" dirty="0"/>
              <a:t>between </a:t>
            </a:r>
            <a:r>
              <a:rPr lang="en-US" dirty="0" smtClean="0"/>
              <a:t>memory </a:t>
            </a:r>
            <a:r>
              <a:rPr lang="en-US" dirty="0"/>
              <a:t>and CPU </a:t>
            </a:r>
            <a:r>
              <a:rPr lang="en-US" dirty="0" smtClean="0"/>
              <a:t>is widening</a:t>
            </a:r>
            <a:endParaRPr lang="en-US" dirty="0"/>
          </a:p>
        </p:txBody>
      </p:sp>
      <p:pic>
        <p:nvPicPr>
          <p:cNvPr id="5122" name="Picture 2" descr="Image result for The gap between memory and CPU performanc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876" y="1825625"/>
            <a:ext cx="78402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9856381" y="2434856"/>
            <a:ext cx="21266" cy="2392326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16124" y="3413051"/>
            <a:ext cx="1254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smtClean="0">
                <a:solidFill>
                  <a:srgbClr val="FF0000"/>
                </a:solidFill>
              </a:rPr>
              <a:t>Over 1000x</a:t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23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numa system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74808" cy="433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UMA to NUMA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93464" y="1648047"/>
            <a:ext cx="5582094" cy="4742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/>
              <a:t>UMA </a:t>
            </a:r>
            <a:r>
              <a:rPr lang="en-US" altLang="zh-CN" dirty="0" smtClean="0"/>
              <a:t>(</a:t>
            </a:r>
            <a:r>
              <a:rPr lang="en-SG" dirty="0"/>
              <a:t>Uniform Memory </a:t>
            </a:r>
            <a:r>
              <a:rPr lang="en-SG" dirty="0" smtClean="0"/>
              <a:t>Access)</a:t>
            </a:r>
            <a:r>
              <a:rPr lang="en-US" altLang="zh-CN" b="1" dirty="0" smtClean="0"/>
              <a:t>:</a:t>
            </a:r>
          </a:p>
          <a:p>
            <a:pPr lvl="1"/>
            <a:r>
              <a:rPr lang="en-SG" dirty="0"/>
              <a:t>access time to a memory location is independent of which processor makes the request or which memory chip contains the transferred </a:t>
            </a:r>
            <a:r>
              <a:rPr lang="en-SG" dirty="0" smtClean="0"/>
              <a:t>data.</a:t>
            </a:r>
          </a:p>
          <a:p>
            <a:pPr lvl="1"/>
            <a:r>
              <a:rPr lang="en-SG" altLang="zh-CN" b="1" dirty="0" smtClean="0"/>
              <a:t>Issues: power and scalability</a:t>
            </a:r>
            <a:r>
              <a:rPr lang="en-US" altLang="zh-CN" b="1" dirty="0" smtClean="0"/>
              <a:t> </a:t>
            </a:r>
          </a:p>
          <a:p>
            <a:r>
              <a:rPr lang="en-US" b="1" dirty="0" smtClean="0"/>
              <a:t>NUMA</a:t>
            </a:r>
            <a:r>
              <a:rPr lang="en-US" dirty="0" smtClean="0"/>
              <a:t>(Non-</a:t>
            </a:r>
            <a:r>
              <a:rPr lang="en-SG" dirty="0" smtClean="0"/>
              <a:t>Uniform </a:t>
            </a:r>
            <a:r>
              <a:rPr lang="en-SG" dirty="0"/>
              <a:t>Memory </a:t>
            </a:r>
            <a:r>
              <a:rPr lang="en-SG" dirty="0" smtClean="0"/>
              <a:t>Access)</a:t>
            </a:r>
            <a:r>
              <a:rPr lang="en-US" b="1" dirty="0" smtClean="0"/>
              <a:t>:</a:t>
            </a:r>
          </a:p>
          <a:p>
            <a:pPr lvl="1"/>
            <a:r>
              <a:rPr lang="en-SG" dirty="0"/>
              <a:t>a processor can access its own local memory faster than non-local </a:t>
            </a:r>
            <a:r>
              <a:rPr lang="en-SG" dirty="0" smtClean="0"/>
              <a:t>memory.</a:t>
            </a:r>
          </a:p>
          <a:p>
            <a:pPr lvl="1"/>
            <a:r>
              <a:rPr lang="en-SG" dirty="0" smtClean="0"/>
              <a:t>Main-stream architectures</a:t>
            </a:r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1132114" y="3773714"/>
            <a:ext cx="2830286" cy="1973943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27286" y="2612571"/>
            <a:ext cx="838200" cy="892629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4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overview of  one of the state-of-the-art NUMA server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978069"/>
              </p:ext>
            </p:extLst>
          </p:nvPr>
        </p:nvGraphicFramePr>
        <p:xfrm>
          <a:off x="5300074" y="1963849"/>
          <a:ext cx="6640509" cy="373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9" name="Acrobat Document" r:id="rId4" imgW="4571862" imgH="2571750" progId="AcroExch.Document.DC">
                  <p:embed/>
                </p:oleObj>
              </mc:Choice>
              <mc:Fallback>
                <p:oleObj name="Acrobat Document" r:id="rId4" imgW="4571862" imgH="257175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0074" y="1963849"/>
                        <a:ext cx="6640509" cy="3735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999598"/>
              </p:ext>
            </p:extLst>
          </p:nvPr>
        </p:nvGraphicFramePr>
        <p:xfrm>
          <a:off x="446566" y="2973942"/>
          <a:ext cx="4077586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0" name="Acrobat Document" r:id="rId6" imgW="4571862" imgH="2090530" progId="AcroExch.Document.DC">
                  <p:embed/>
                </p:oleObj>
              </mc:Choice>
              <mc:Fallback>
                <p:oleObj name="Acrobat Document" r:id="rId6" imgW="4571862" imgH="209053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6566" y="2973942"/>
                        <a:ext cx="4077586" cy="2090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8043" y="5794744"/>
            <a:ext cx="577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overview of the execution components of the processor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39133" y="5140251"/>
            <a:ext cx="169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NUMA topology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487479" y="1963849"/>
            <a:ext cx="2110564" cy="1310979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487479" y="3646967"/>
            <a:ext cx="2110564" cy="1938187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871330" y="3646967"/>
            <a:ext cx="1020726" cy="57415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Oval 14"/>
          <p:cNvSpPr/>
          <p:nvPr/>
        </p:nvSpPr>
        <p:spPr>
          <a:xfrm>
            <a:off x="740809" y="4606571"/>
            <a:ext cx="1020726" cy="57415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961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cale-up architecture is complex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49996" cy="4351338"/>
          </a:xfrm>
        </p:spPr>
        <p:txBody>
          <a:bodyPr/>
          <a:lstStyle/>
          <a:p>
            <a:r>
              <a:rPr lang="en-US" dirty="0"/>
              <a:t>N</a:t>
            </a:r>
            <a:r>
              <a:rPr lang="en-US" dirty="0" smtClean="0"/>
              <a:t>on-uniform </a:t>
            </a:r>
            <a:r>
              <a:rPr lang="en-US" dirty="0"/>
              <a:t>memory access (NUMA) brings </a:t>
            </a:r>
            <a:r>
              <a:rPr lang="en-US" dirty="0" smtClean="0"/>
              <a:t>performance </a:t>
            </a:r>
            <a:r>
              <a:rPr lang="en-US" dirty="0"/>
              <a:t>issues</a:t>
            </a:r>
          </a:p>
          <a:p>
            <a:r>
              <a:rPr lang="en-US" dirty="0" smtClean="0"/>
              <a:t>Complex </a:t>
            </a:r>
            <a:r>
              <a:rPr lang="en-US" dirty="0"/>
              <a:t>memory subsystem and </a:t>
            </a:r>
            <a:r>
              <a:rPr lang="en-US" dirty="0" smtClean="0"/>
              <a:t>deep </a:t>
            </a:r>
            <a:r>
              <a:rPr lang="en-US" dirty="0"/>
              <a:t>execution </a:t>
            </a:r>
            <a:r>
              <a:rPr lang="en-US" dirty="0" smtClean="0"/>
              <a:t>pipelines</a:t>
            </a:r>
            <a:endParaRPr lang="en-US" altLang="zh-CN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8913" y="5846126"/>
            <a:ext cx="2743200" cy="365125"/>
          </a:xfrm>
        </p:spPr>
        <p:txBody>
          <a:bodyPr/>
          <a:lstStyle/>
          <a:p>
            <a:fld id="{12D8FB24-4664-4497-A38E-DB90968F7542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68101" y="4843739"/>
            <a:ext cx="5890194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There is a lack of detailed studies on profiling the aforementioned common design aspects of DSP </a:t>
            </a:r>
            <a:r>
              <a:rPr lang="en-US" altLang="en-US" sz="2400" dirty="0" smtClean="0">
                <a:solidFill>
                  <a:srgbClr val="FF0000"/>
                </a:solidFill>
              </a:rPr>
              <a:t>systems on scale-up architectures.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827905" y="2364613"/>
            <a:ext cx="1237024" cy="74611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Socket </a:t>
            </a:r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(8 Cores)</a:t>
            </a:r>
            <a:endParaRPr lang="en-SG" sz="2000" b="1" dirty="0">
              <a:solidFill>
                <a:schemeClr val="tx1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378545" y="1310513"/>
            <a:ext cx="4762383" cy="2126455"/>
            <a:chOff x="7582500" y="1361255"/>
            <a:chExt cx="4762383" cy="2126455"/>
          </a:xfrm>
        </p:grpSpPr>
        <p:sp>
          <p:nvSpPr>
            <p:cNvPr id="13" name="Rectangle 12"/>
            <p:cNvSpPr/>
            <p:nvPr/>
          </p:nvSpPr>
          <p:spPr>
            <a:xfrm>
              <a:off x="9035245" y="1367917"/>
              <a:ext cx="1237024" cy="74611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Socket 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(8 Cores)</a:t>
              </a:r>
              <a:endParaRPr lang="en-SG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591009" y="1367917"/>
              <a:ext cx="936624" cy="74611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DRAM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(128 GB)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Left-Right Arrow 14"/>
            <p:cNvSpPr/>
            <p:nvPr/>
          </p:nvSpPr>
          <p:spPr>
            <a:xfrm>
              <a:off x="10280778" y="1604328"/>
              <a:ext cx="386266" cy="287314"/>
            </a:xfrm>
            <a:prstGeom prst="leftRightArrow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18" name="Left-Right Arrow 17"/>
            <p:cNvSpPr/>
            <p:nvPr/>
          </p:nvSpPr>
          <p:spPr>
            <a:xfrm>
              <a:off x="8558239" y="1542822"/>
              <a:ext cx="468497" cy="373030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19" name="Left-Right Arrow 18"/>
            <p:cNvSpPr/>
            <p:nvPr/>
          </p:nvSpPr>
          <p:spPr>
            <a:xfrm>
              <a:off x="11883608" y="1546187"/>
              <a:ext cx="461275" cy="381304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06969" y="3179933"/>
              <a:ext cx="9540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51.2 GB/S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661311" y="1361255"/>
              <a:ext cx="1237024" cy="74611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Socket 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(8 Cores)</a:t>
              </a:r>
              <a:endParaRPr lang="en-SG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582500" y="2433816"/>
              <a:ext cx="936624" cy="74611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DRAM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(128 GB)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Left-Right Arrow 33"/>
            <p:cNvSpPr/>
            <p:nvPr/>
          </p:nvSpPr>
          <p:spPr>
            <a:xfrm>
              <a:off x="10272269" y="2670227"/>
              <a:ext cx="386266" cy="287314"/>
            </a:xfrm>
            <a:prstGeom prst="leftRightArrow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35" name="Left-Right Arrow 34"/>
            <p:cNvSpPr/>
            <p:nvPr/>
          </p:nvSpPr>
          <p:spPr>
            <a:xfrm>
              <a:off x="8549730" y="2608721"/>
              <a:ext cx="468497" cy="373030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36" name="Left-Right Arrow 35"/>
            <p:cNvSpPr/>
            <p:nvPr/>
          </p:nvSpPr>
          <p:spPr>
            <a:xfrm>
              <a:off x="11875099" y="2612086"/>
              <a:ext cx="461275" cy="381304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652802" y="2427154"/>
              <a:ext cx="1237024" cy="746117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Socket 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(8 Cores)</a:t>
              </a:r>
              <a:endParaRPr lang="en-SG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Left-Right Arrow 38"/>
            <p:cNvSpPr/>
            <p:nvPr/>
          </p:nvSpPr>
          <p:spPr>
            <a:xfrm rot="5400000">
              <a:off x="9460624" y="2106799"/>
              <a:ext cx="386266" cy="287314"/>
            </a:xfrm>
            <a:prstGeom prst="leftRightArrow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40" name="Left-Right Arrow 39"/>
            <p:cNvSpPr/>
            <p:nvPr/>
          </p:nvSpPr>
          <p:spPr>
            <a:xfrm rot="5400000">
              <a:off x="11086690" y="2112838"/>
              <a:ext cx="386266" cy="287314"/>
            </a:xfrm>
            <a:prstGeom prst="leftRightArrow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0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45946" y="2106264"/>
              <a:ext cx="9540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16 </a:t>
              </a:r>
              <a:r>
                <a:rPr lang="en-US" sz="1400" b="1" dirty="0"/>
                <a:t>GB/S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858295" y="1998026"/>
            <a:ext cx="839789" cy="4213226"/>
            <a:chOff x="6858143" y="2539999"/>
            <a:chExt cx="839789" cy="4213226"/>
          </a:xfrm>
        </p:grpSpPr>
        <p:sp>
          <p:nvSpPr>
            <p:cNvPr id="99" name="Left Brace 98"/>
            <p:cNvSpPr/>
            <p:nvPr/>
          </p:nvSpPr>
          <p:spPr>
            <a:xfrm>
              <a:off x="7583744" y="2539999"/>
              <a:ext cx="113791" cy="2838435"/>
            </a:xfrm>
            <a:prstGeom prst="lef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050" b="1"/>
            </a:p>
          </p:txBody>
        </p:sp>
        <p:sp>
          <p:nvSpPr>
            <p:cNvPr id="100" name="Left Brace 99"/>
            <p:cNvSpPr/>
            <p:nvPr/>
          </p:nvSpPr>
          <p:spPr>
            <a:xfrm>
              <a:off x="7579116" y="5447081"/>
              <a:ext cx="118816" cy="1306144"/>
            </a:xfrm>
            <a:prstGeom prst="lef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050" b="1"/>
            </a:p>
          </p:txBody>
        </p:sp>
        <p:sp>
          <p:nvSpPr>
            <p:cNvPr id="101" name="TextBox 100"/>
            <p:cNvSpPr txBox="1"/>
            <p:nvPr/>
          </p:nvSpPr>
          <p:spPr>
            <a:xfrm rot="16200000">
              <a:off x="6864624" y="3344459"/>
              <a:ext cx="602593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b="1" dirty="0" smtClean="0"/>
                <a:t>Front end</a:t>
              </a:r>
              <a:endParaRPr lang="en-SG" sz="2000" b="1" dirty="0"/>
            </a:p>
          </p:txBody>
        </p:sp>
        <p:sp>
          <p:nvSpPr>
            <p:cNvPr id="102" name="TextBox 101"/>
            <p:cNvSpPr txBox="1"/>
            <p:nvPr/>
          </p:nvSpPr>
          <p:spPr>
            <a:xfrm rot="16200000">
              <a:off x="6884836" y="5700502"/>
              <a:ext cx="562168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b="1" dirty="0" smtClean="0"/>
                <a:t>Back end</a:t>
              </a:r>
              <a:endParaRPr lang="en-SG" sz="2000" b="1" dirty="0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7785433" y="1910981"/>
            <a:ext cx="2136623" cy="4300271"/>
            <a:chOff x="7915737" y="1991385"/>
            <a:chExt cx="2136623" cy="4300271"/>
          </a:xfrm>
        </p:grpSpPr>
        <p:cxnSp>
          <p:nvCxnSpPr>
            <p:cNvPr id="97" name="Elbow Connector 96"/>
            <p:cNvCxnSpPr>
              <a:stCxn id="119" idx="3"/>
              <a:endCxn id="127" idx="2"/>
            </p:cNvCxnSpPr>
            <p:nvPr/>
          </p:nvCxnSpPr>
          <p:spPr>
            <a:xfrm flipV="1">
              <a:off x="9362282" y="5757230"/>
              <a:ext cx="606421" cy="70563"/>
            </a:xfrm>
            <a:prstGeom prst="bentConnector2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/>
            <p:cNvGrpSpPr/>
            <p:nvPr/>
          </p:nvGrpSpPr>
          <p:grpSpPr>
            <a:xfrm>
              <a:off x="7915737" y="1991385"/>
              <a:ext cx="2136623" cy="4300271"/>
              <a:chOff x="7915737" y="1991385"/>
              <a:chExt cx="2136623" cy="4300271"/>
            </a:xfrm>
          </p:grpSpPr>
          <p:cxnSp>
            <p:nvCxnSpPr>
              <p:cNvPr id="96" name="Elbow Connector 95"/>
              <p:cNvCxnSpPr>
                <a:stCxn id="123" idx="0"/>
                <a:endCxn id="104" idx="3"/>
              </p:cNvCxnSpPr>
              <p:nvPr/>
            </p:nvCxnSpPr>
            <p:spPr>
              <a:xfrm rot="16200000" flipV="1">
                <a:off x="9266696" y="2256859"/>
                <a:ext cx="735635" cy="557681"/>
              </a:xfrm>
              <a:prstGeom prst="bentConnector2">
                <a:avLst/>
              </a:prstGeom>
              <a:ln w="31750">
                <a:solidFill>
                  <a:schemeClr val="tx1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8" name="Group 137"/>
              <p:cNvGrpSpPr/>
              <p:nvPr/>
            </p:nvGrpSpPr>
            <p:grpSpPr>
              <a:xfrm>
                <a:off x="7915737" y="1991385"/>
                <a:ext cx="2136623" cy="4300271"/>
                <a:chOff x="7915737" y="1991385"/>
                <a:chExt cx="2136623" cy="4300271"/>
              </a:xfrm>
            </p:grpSpPr>
            <p:grpSp>
              <p:nvGrpSpPr>
                <p:cNvPr id="137" name="Group 136"/>
                <p:cNvGrpSpPr/>
                <p:nvPr/>
              </p:nvGrpSpPr>
              <p:grpSpPr>
                <a:xfrm>
                  <a:off x="7915737" y="1991385"/>
                  <a:ext cx="1789849" cy="4300271"/>
                  <a:chOff x="7915737" y="1991385"/>
                  <a:chExt cx="1789849" cy="4300271"/>
                </a:xfrm>
              </p:grpSpPr>
              <p:cxnSp>
                <p:nvCxnSpPr>
                  <p:cNvPr id="95" name="Elbow Connector 94"/>
                  <p:cNvCxnSpPr>
                    <a:stCxn id="109" idx="2"/>
                    <a:endCxn id="124" idx="1"/>
                  </p:cNvCxnSpPr>
                  <p:nvPr/>
                </p:nvCxnSpPr>
                <p:spPr>
                  <a:xfrm rot="16200000" flipH="1">
                    <a:off x="9122448" y="3677531"/>
                    <a:ext cx="153446" cy="1012831"/>
                  </a:xfrm>
                  <a:prstGeom prst="bentConnector2">
                    <a:avLst/>
                  </a:prstGeom>
                  <a:ln w="3175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7915737" y="1991385"/>
                    <a:ext cx="1547679" cy="4300271"/>
                    <a:chOff x="7785281" y="2452954"/>
                    <a:chExt cx="1547679" cy="4300271"/>
                  </a:xfrm>
                </p:grpSpPr>
                <p:sp>
                  <p:nvSpPr>
                    <p:cNvPr id="104" name="Rectangle 103"/>
                    <p:cNvSpPr/>
                    <p:nvPr/>
                  </p:nvSpPr>
                  <p:spPr>
                    <a:xfrm>
                      <a:off x="7904785" y="2452954"/>
                      <a:ext cx="1320431" cy="352993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Instruction Fetch Units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05" name="Straight Arrow Connector 104"/>
                    <p:cNvCxnSpPr>
                      <a:stCxn id="104" idx="2"/>
                      <a:endCxn id="106" idx="0"/>
                    </p:cNvCxnSpPr>
                    <p:nvPr/>
                  </p:nvCxnSpPr>
                  <p:spPr>
                    <a:xfrm>
                      <a:off x="8565001" y="2805947"/>
                      <a:ext cx="4226" cy="221172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7905181" y="3027119"/>
                      <a:ext cx="1328092" cy="370175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SG" sz="1200" b="1" dirty="0">
                          <a:solidFill>
                            <a:schemeClr val="tx1"/>
                          </a:solidFill>
                        </a:rPr>
                        <a:t>Instruction Length </a:t>
                      </a:r>
                      <a:r>
                        <a:rPr lang="en-SG" sz="1200" b="1" dirty="0" smtClean="0">
                          <a:solidFill>
                            <a:schemeClr val="tx1"/>
                          </a:solidFill>
                        </a:rPr>
                        <a:t>Decoder (ILD)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07" name="Straight Arrow Connector 106"/>
                    <p:cNvCxnSpPr>
                      <a:stCxn id="106" idx="2"/>
                      <a:endCxn id="108" idx="1"/>
                    </p:cNvCxnSpPr>
                    <p:nvPr/>
                  </p:nvCxnSpPr>
                  <p:spPr>
                    <a:xfrm flipH="1">
                      <a:off x="8559121" y="3397294"/>
                      <a:ext cx="10106" cy="229111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" name="Flowchart: Magnetic Disk 107"/>
                    <p:cNvSpPr/>
                    <p:nvPr/>
                  </p:nvSpPr>
                  <p:spPr>
                    <a:xfrm>
                      <a:off x="7785281" y="3626405"/>
                      <a:ext cx="1547679" cy="311432"/>
                    </a:xfrm>
                    <a:prstGeom prst="flowChartMagneticDisk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Instruction Queue (IQ)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9" name="Rectangle 108"/>
                    <p:cNvSpPr/>
                    <p:nvPr/>
                  </p:nvSpPr>
                  <p:spPr>
                    <a:xfrm>
                      <a:off x="7898254" y="4173993"/>
                      <a:ext cx="1328092" cy="394800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Instruction Decoders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10" name="Straight Arrow Connector 109"/>
                    <p:cNvCxnSpPr>
                      <a:stCxn id="108" idx="3"/>
                      <a:endCxn id="109" idx="0"/>
                    </p:cNvCxnSpPr>
                    <p:nvPr/>
                  </p:nvCxnSpPr>
                  <p:spPr>
                    <a:xfrm>
                      <a:off x="8559121" y="3937837"/>
                      <a:ext cx="3179" cy="236156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1" name="Can 110"/>
                    <p:cNvSpPr/>
                    <p:nvPr/>
                  </p:nvSpPr>
                  <p:spPr>
                    <a:xfrm>
                      <a:off x="7899384" y="4800698"/>
                      <a:ext cx="1325832" cy="442343"/>
                    </a:xfrm>
                    <a:prstGeom prst="can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Instruction Decode Queue (IDQ)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12" name="Straight Arrow Connector 111"/>
                    <p:cNvCxnSpPr>
                      <a:stCxn id="109" idx="2"/>
                      <a:endCxn id="111" idx="1"/>
                    </p:cNvCxnSpPr>
                    <p:nvPr/>
                  </p:nvCxnSpPr>
                  <p:spPr>
                    <a:xfrm>
                      <a:off x="8562300" y="4568793"/>
                      <a:ext cx="0" cy="231905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3" name="Rectangle 112"/>
                    <p:cNvSpPr/>
                    <p:nvPr/>
                  </p:nvSpPr>
                  <p:spPr>
                    <a:xfrm>
                      <a:off x="7905994" y="5467616"/>
                      <a:ext cx="1325832" cy="153605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</a:rPr>
                        <a:t>Renamer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4" name="Rectangle 113"/>
                    <p:cNvSpPr/>
                    <p:nvPr/>
                  </p:nvSpPr>
                  <p:spPr>
                    <a:xfrm>
                      <a:off x="7905181" y="6566366"/>
                      <a:ext cx="1325832" cy="186859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Retirement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15" name="Straight Arrow Connector 114"/>
                    <p:cNvCxnSpPr>
                      <a:stCxn id="111" idx="3"/>
                      <a:endCxn id="113" idx="0"/>
                    </p:cNvCxnSpPr>
                    <p:nvPr/>
                  </p:nvCxnSpPr>
                  <p:spPr>
                    <a:xfrm>
                      <a:off x="8562300" y="5243041"/>
                      <a:ext cx="6610" cy="224575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Arrow Connector 115"/>
                    <p:cNvCxnSpPr>
                      <a:stCxn id="113" idx="2"/>
                      <a:endCxn id="117" idx="0"/>
                    </p:cNvCxnSpPr>
                    <p:nvPr/>
                  </p:nvCxnSpPr>
                  <p:spPr>
                    <a:xfrm flipH="1">
                      <a:off x="8568097" y="5621221"/>
                      <a:ext cx="813" cy="201423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7" name="Rectangle 116"/>
                    <p:cNvSpPr/>
                    <p:nvPr/>
                  </p:nvSpPr>
                  <p:spPr>
                    <a:xfrm>
                      <a:off x="7905181" y="5822644"/>
                      <a:ext cx="1325832" cy="196134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Scheduler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18" name="Straight Arrow Connector 117"/>
                    <p:cNvCxnSpPr>
                      <a:stCxn id="119" idx="2"/>
                      <a:endCxn id="114" idx="0"/>
                    </p:cNvCxnSpPr>
                    <p:nvPr/>
                  </p:nvCxnSpPr>
                  <p:spPr>
                    <a:xfrm flipH="1">
                      <a:off x="8568097" y="6370232"/>
                      <a:ext cx="813" cy="196134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9" name="Rectangle 118"/>
                    <p:cNvSpPr/>
                    <p:nvPr/>
                  </p:nvSpPr>
                  <p:spPr>
                    <a:xfrm>
                      <a:off x="7905994" y="6208492"/>
                      <a:ext cx="1325832" cy="161740"/>
                    </a:xfrm>
                    <a:prstGeom prst="rect">
                      <a:avLst/>
                    </a:prstGeom>
                    <a:solidFill>
                      <a:schemeClr val="bg2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Execution Core</a:t>
                      </a:r>
                      <a:endParaRPr lang="en-SG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20" name="Straight Arrow Connector 119"/>
                    <p:cNvCxnSpPr>
                      <a:stCxn id="117" idx="2"/>
                      <a:endCxn id="119" idx="0"/>
                    </p:cNvCxnSpPr>
                    <p:nvPr/>
                  </p:nvCxnSpPr>
                  <p:spPr>
                    <a:xfrm>
                      <a:off x="8568097" y="6018778"/>
                      <a:ext cx="813" cy="189714"/>
                    </a:xfrm>
                    <a:prstGeom prst="straightConnector1">
                      <a:avLst/>
                    </a:prstGeom>
                    <a:ln w="31750">
                      <a:solidFill>
                        <a:schemeClr val="tx1"/>
                      </a:solidFill>
                      <a:headEnd w="lg" len="lg"/>
                      <a:tailEnd type="triangl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Elbow Connector 120"/>
                <p:cNvCxnSpPr>
                  <a:stCxn id="124" idx="2"/>
                  <a:endCxn id="113" idx="3"/>
                </p:cNvCxnSpPr>
                <p:nvPr/>
              </p:nvCxnSpPr>
              <p:spPr>
                <a:xfrm rot="5400000">
                  <a:off x="9410678" y="4441168"/>
                  <a:ext cx="593286" cy="690078"/>
                </a:xfrm>
                <a:prstGeom prst="bentConnector2">
                  <a:avLst/>
                </a:prstGeom>
                <a:ln w="31750">
                  <a:solidFill>
                    <a:schemeClr val="tx1"/>
                  </a:solidFill>
                  <a:headEnd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2" name="Group 121"/>
          <p:cNvGrpSpPr/>
          <p:nvPr/>
        </p:nvGrpSpPr>
        <p:grpSpPr>
          <a:xfrm>
            <a:off x="9575283" y="2759153"/>
            <a:ext cx="2519334" cy="3096488"/>
            <a:chOff x="9575131" y="3301126"/>
            <a:chExt cx="2519334" cy="3096488"/>
          </a:xfrm>
        </p:grpSpPr>
        <p:sp>
          <p:nvSpPr>
            <p:cNvPr id="123" name="Rectangle 122"/>
            <p:cNvSpPr/>
            <p:nvPr/>
          </p:nvSpPr>
          <p:spPr>
            <a:xfrm>
              <a:off x="9604538" y="3365086"/>
              <a:ext cx="356718" cy="259892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ITLB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9575131" y="4493344"/>
              <a:ext cx="693545" cy="457789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1.5k 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D-</a:t>
              </a:r>
              <a:r>
                <a:rPr lang="en-US" sz="1400" b="1" dirty="0" err="1" smtClean="0">
                  <a:solidFill>
                    <a:schemeClr val="tx1"/>
                  </a:solidFill>
                </a:rPr>
                <a:t>ICache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411938" y="4493507"/>
              <a:ext cx="458148" cy="764926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L2 cache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1349793" y="5114485"/>
              <a:ext cx="744672" cy="527900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b="1" dirty="0" smtClean="0">
                  <a:solidFill>
                    <a:schemeClr val="tx1"/>
                  </a:solidFill>
                </a:rPr>
                <a:t>LLC cache</a:t>
              </a:r>
              <a:endParaRPr lang="en-SG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9629418" y="5815954"/>
              <a:ext cx="417658" cy="402845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smtClean="0">
                  <a:solidFill>
                    <a:schemeClr val="tx1"/>
                  </a:solidFill>
                </a:rPr>
                <a:t>DTLB</a:t>
              </a:r>
              <a:endParaRPr lang="en-SG" sz="1400" b="1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0433763" y="5637140"/>
              <a:ext cx="458148" cy="76047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L1-D cache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9" name="Straight Arrow Connector 128"/>
            <p:cNvCxnSpPr>
              <a:stCxn id="127" idx="3"/>
              <a:endCxn id="128" idx="1"/>
            </p:cNvCxnSpPr>
            <p:nvPr/>
          </p:nvCxnSpPr>
          <p:spPr>
            <a:xfrm>
              <a:off x="10047076" y="6017377"/>
              <a:ext cx="38668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125" idx="2"/>
              <a:endCxn id="128" idx="0"/>
            </p:cNvCxnSpPr>
            <p:nvPr/>
          </p:nvCxnSpPr>
          <p:spPr>
            <a:xfrm>
              <a:off x="10641012" y="5258433"/>
              <a:ext cx="21825" cy="378707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stCxn id="125" idx="3"/>
              <a:endCxn id="126" idx="1"/>
            </p:cNvCxnSpPr>
            <p:nvPr/>
          </p:nvCxnSpPr>
          <p:spPr>
            <a:xfrm>
              <a:off x="10870086" y="4875970"/>
              <a:ext cx="479707" cy="502465"/>
            </a:xfrm>
            <a:prstGeom prst="bentConnector3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tangle 131"/>
            <p:cNvSpPr/>
            <p:nvPr/>
          </p:nvSpPr>
          <p:spPr>
            <a:xfrm>
              <a:off x="11251290" y="3900364"/>
              <a:ext cx="843175" cy="495593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Memory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3" name="Elbow Connector 132"/>
            <p:cNvCxnSpPr>
              <a:stCxn id="132" idx="2"/>
              <a:endCxn id="126" idx="0"/>
            </p:cNvCxnSpPr>
            <p:nvPr/>
          </p:nvCxnSpPr>
          <p:spPr>
            <a:xfrm rot="16200000" flipH="1">
              <a:off x="11338239" y="4730595"/>
              <a:ext cx="718528" cy="49251"/>
            </a:xfrm>
            <a:prstGeom prst="bentConnector3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/>
            <p:cNvCxnSpPr>
              <a:stCxn id="136" idx="0"/>
              <a:endCxn id="123" idx="3"/>
            </p:cNvCxnSpPr>
            <p:nvPr/>
          </p:nvCxnSpPr>
          <p:spPr>
            <a:xfrm rot="16200000" flipH="1" flipV="1">
              <a:off x="10204181" y="3058201"/>
              <a:ext cx="193905" cy="679756"/>
            </a:xfrm>
            <a:prstGeom prst="bentConnector4">
              <a:avLst>
                <a:gd name="adj1" fmla="val -117893"/>
                <a:gd name="adj2" fmla="val 66850"/>
              </a:avLst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6" idx="2"/>
              <a:endCxn id="125" idx="0"/>
            </p:cNvCxnSpPr>
            <p:nvPr/>
          </p:nvCxnSpPr>
          <p:spPr>
            <a:xfrm>
              <a:off x="10641012" y="4061601"/>
              <a:ext cx="0" cy="431906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/>
            <p:cNvSpPr/>
            <p:nvPr/>
          </p:nvSpPr>
          <p:spPr>
            <a:xfrm>
              <a:off x="10411938" y="3301127"/>
              <a:ext cx="458148" cy="760474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L1-I cache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81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32" grpId="0" animBg="1"/>
      <p:bldP spid="3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NUMA servers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556" y="1587844"/>
            <a:ext cx="3412244" cy="45259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481049"/>
            <a:ext cx="3350842" cy="4525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7629" y="6007012"/>
            <a:ext cx="4077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Glue-less</a:t>
            </a:r>
            <a:r>
              <a:rPr lang="en-US" dirty="0"/>
              <a:t> NUMA </a:t>
            </a:r>
            <a:r>
              <a:rPr lang="en-US" dirty="0" smtClean="0"/>
              <a:t>architecture from HUAWEI (288 cores and 8 TB of memory)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38084" y="6007012"/>
            <a:ext cx="493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Glue-assist</a:t>
            </a:r>
            <a:r>
              <a:rPr lang="en-US" dirty="0"/>
              <a:t> </a:t>
            </a:r>
            <a:r>
              <a:rPr lang="en-US"/>
              <a:t>NUMA </a:t>
            </a:r>
            <a:r>
              <a:rPr lang="en-US" smtClean="0"/>
              <a:t>architecture from HP (128 cores and 2 TB of memory)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0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Importance of d</a:t>
            </a:r>
            <a:r>
              <a:rPr lang="en-US" dirty="0" smtClean="0"/>
              <a:t>ata </a:t>
            </a:r>
            <a:r>
              <a:rPr lang="en-US" dirty="0"/>
              <a:t>stream processing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 smtClean="0"/>
              <a:t>Data stream processing (DSP) has attracted much attention for </a:t>
            </a:r>
            <a:r>
              <a:rPr lang="en-US" sz="3200" i="1" dirty="0" smtClean="0"/>
              <a:t>real-time</a:t>
            </a:r>
            <a:r>
              <a:rPr lang="en-US" sz="3200" dirty="0" smtClean="0"/>
              <a:t> </a:t>
            </a:r>
            <a:r>
              <a:rPr lang="en-US" altLang="zh-CN" sz="3200" dirty="0" smtClean="0"/>
              <a:t>analysis applications, e.g., stock market monitoring and </a:t>
            </a:r>
            <a:r>
              <a:rPr lang="en-US" altLang="zh-CN" sz="3200" dirty="0" err="1" smtClean="0"/>
              <a:t>IoT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>(Internet of Things)</a:t>
            </a:r>
            <a:r>
              <a:rPr lang="en-US" altLang="zh-CN" sz="32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Many DSP systems have been proposed recently.</a:t>
            </a:r>
          </a:p>
          <a:p>
            <a:pPr>
              <a:lnSpc>
                <a:spcPct val="100000"/>
              </a:lnSpc>
            </a:pP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2" descr="Image result for apache stor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10214"/>
            <a:ext cx="2295178" cy="169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232860" y="5802137"/>
            <a:ext cx="1504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Apache Storm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071821" y="5798943"/>
            <a:ext cx="148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Twitter Heron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308969" y="5807631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Apache </a:t>
            </a:r>
            <a:r>
              <a:rPr lang="en-US" altLang="zh-CN" dirty="0" err="1" smtClean="0"/>
              <a:t>Flink</a:t>
            </a:r>
            <a:endParaRPr lang="zh-CN" altLang="en-US" dirty="0"/>
          </a:p>
        </p:txBody>
      </p:sp>
      <p:pic>
        <p:nvPicPr>
          <p:cNvPr id="17" name="Picture 16" descr="Image result for apache flin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711" y="4115708"/>
            <a:ext cx="2295178" cy="169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 result for apache her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201" y="4530296"/>
            <a:ext cx="2466975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011645" y="4666533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…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01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  <p:bldP spid="16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representative stream processing applications/areas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Complex event processing. </a:t>
            </a:r>
          </a:p>
          <a:p>
            <a:pPr lvl="1"/>
            <a:r>
              <a:rPr lang="en-US" dirty="0" smtClean="0"/>
              <a:t>Identify composite (complex) event consists of a series of primitive events in real-time manner. For example, stock market monitoring.</a:t>
            </a:r>
          </a:p>
          <a:p>
            <a:r>
              <a:rPr lang="en-US" dirty="0" smtClean="0"/>
              <a:t>Real-time Machine Learning. </a:t>
            </a:r>
          </a:p>
          <a:p>
            <a:pPr lvl="1"/>
            <a:r>
              <a:rPr lang="en-US" dirty="0" smtClean="0"/>
              <a:t>Integrate Apache Storm and R to perform real-time data mining task. For example, make real-time decision on which ad to display [http://events.linuxfoundation.org/sites/events/files/slides/StormR.pdf].</a:t>
            </a:r>
          </a:p>
          <a:p>
            <a:r>
              <a:rPr lang="en-US" dirty="0" smtClean="0"/>
              <a:t>Internet of Things (</a:t>
            </a:r>
            <a:r>
              <a:rPr lang="en-US" dirty="0" err="1" smtClean="0"/>
              <a:t>IoT</a:t>
            </a:r>
            <a:r>
              <a:rPr lang="en-US" dirty="0" smtClean="0"/>
              <a:t>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98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 concert example: </a:t>
            </a:r>
            <a:r>
              <a:rPr lang="en-US" dirty="0" err="1" smtClean="0"/>
              <a:t>NaviSite</a:t>
            </a:r>
            <a:r>
              <a:rPr lang="en-US" dirty="0"/>
              <a:t>, Event Log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7713" y="3105277"/>
            <a:ext cx="147636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log messages </a:t>
            </a:r>
          </a:p>
        </p:txBody>
      </p:sp>
      <p:pic>
        <p:nvPicPr>
          <p:cNvPr id="6153" name="Picture 9" descr="http://www.michellgroup.com/wp-content/uploads/2014/02/Server-Room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9" y="3105277"/>
            <a:ext cx="2447337" cy="163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2948005" y="3823367"/>
            <a:ext cx="1134999" cy="106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8200" y="5791129"/>
            <a:ext cx="216508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Thousands of servers</a:t>
            </a:r>
            <a:endParaRPr lang="en-US" dirty="0"/>
          </a:p>
        </p:txBody>
      </p:sp>
      <p:pic>
        <p:nvPicPr>
          <p:cNvPr id="6163" name="Picture 19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687" y="3109013"/>
            <a:ext cx="811321" cy="81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945" y="4679986"/>
            <a:ext cx="839602" cy="839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5916062" y="3268875"/>
            <a:ext cx="1633986" cy="641865"/>
            <a:chOff x="6623454" y="2832742"/>
            <a:chExt cx="2350437" cy="914400"/>
          </a:xfrm>
        </p:grpSpPr>
        <p:sp>
          <p:nvSpPr>
            <p:cNvPr id="16" name="Rectangle 15"/>
            <p:cNvSpPr/>
            <p:nvPr/>
          </p:nvSpPr>
          <p:spPr>
            <a:xfrm>
              <a:off x="6623454" y="2832742"/>
              <a:ext cx="2350437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88134" y="2832742"/>
              <a:ext cx="1885757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560677" y="2832742"/>
              <a:ext cx="1413214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2754" y="3105278"/>
              <a:ext cx="968926" cy="4384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Queue</a:t>
              </a:r>
              <a:endParaRPr lang="en-US" sz="14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16060" y="4679985"/>
            <a:ext cx="1633988" cy="839603"/>
            <a:chOff x="6623454" y="2832742"/>
            <a:chExt cx="2350437" cy="914400"/>
          </a:xfrm>
        </p:grpSpPr>
        <p:sp>
          <p:nvSpPr>
            <p:cNvPr id="27" name="Rectangle 26"/>
            <p:cNvSpPr/>
            <p:nvPr/>
          </p:nvSpPr>
          <p:spPr>
            <a:xfrm>
              <a:off x="6623454" y="2832742"/>
              <a:ext cx="2350437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088134" y="2832742"/>
              <a:ext cx="1885757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560677" y="2832742"/>
              <a:ext cx="1413214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922755" y="3105277"/>
              <a:ext cx="9735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Queue</a:t>
              </a:r>
              <a:endParaRPr lang="en-US" sz="1400" dirty="0"/>
            </a:p>
          </p:txBody>
        </p:sp>
      </p:grpSp>
      <p:sp>
        <p:nvSpPr>
          <p:cNvPr id="20" name="Right Arrow 19"/>
          <p:cNvSpPr/>
          <p:nvPr/>
        </p:nvSpPr>
        <p:spPr>
          <a:xfrm>
            <a:off x="5178637" y="3211225"/>
            <a:ext cx="597627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5167731" y="4892182"/>
            <a:ext cx="60853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69" name="Picture 25" descr="Image result for apache storm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086" y="3268875"/>
            <a:ext cx="4276961" cy="178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/>
          <p:cNvCxnSpPr>
            <a:stCxn id="23" idx="3"/>
          </p:cNvCxnSpPr>
          <p:nvPr/>
        </p:nvCxnSpPr>
        <p:spPr>
          <a:xfrm>
            <a:off x="7550048" y="3589808"/>
            <a:ext cx="605909" cy="57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3"/>
          </p:cNvCxnSpPr>
          <p:nvPr/>
        </p:nvCxnSpPr>
        <p:spPr>
          <a:xfrm flipV="1">
            <a:off x="7550048" y="4805203"/>
            <a:ext cx="605909" cy="29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02160" y="5785611"/>
            <a:ext cx="1146468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/>
              <a:t>RabbitMQ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9951035" y="5780651"/>
            <a:ext cx="869020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1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Storm 101: A Word Count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3314" name="Picture 2" descr="Image result for storm word cou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519" y="1825625"/>
            <a:ext cx="7663898" cy="431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66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Background.</a:t>
            </a:r>
          </a:p>
          <a:p>
            <a:r>
              <a:rPr lang="en-US" b="1" dirty="0" smtClean="0"/>
              <a:t>Profiling study of DSP systems on modern multi-core processors</a:t>
            </a:r>
            <a:r>
              <a:rPr lang="en-US" b="1" dirty="0" smtClean="0"/>
              <a:t>.</a:t>
            </a:r>
          </a:p>
          <a:p>
            <a:pPr lvl="1"/>
            <a:r>
              <a:rPr lang="en-US" b="1" dirty="0" smtClean="0"/>
              <a:t>Published work in ICDE’2017</a:t>
            </a:r>
            <a:endParaRPr lang="en-US" b="1" dirty="0" smtClean="0"/>
          </a:p>
          <a:p>
            <a:r>
              <a:rPr lang="en-US" dirty="0" smtClean="0"/>
              <a:t>A new DSP system designed for </a:t>
            </a:r>
            <a:r>
              <a:rPr lang="en-US" dirty="0"/>
              <a:t>modern multi-core </a:t>
            </a:r>
            <a:r>
              <a:rPr lang="en-US" dirty="0" smtClean="0"/>
              <a:t>processors.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9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designs of recent DSP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dirty="0" smtClean="0"/>
              <a:t>Existing systems mainly focus on </a:t>
            </a:r>
            <a:r>
              <a:rPr lang="en-US" altLang="zh-CN" sz="3200" dirty="0" smtClean="0">
                <a:solidFill>
                  <a:srgbClr val="FF0000"/>
                </a:solidFill>
              </a:rPr>
              <a:t>scaling </a:t>
            </a:r>
            <a:r>
              <a:rPr lang="en-US" altLang="zh-CN" sz="3200" dirty="0">
                <a:solidFill>
                  <a:srgbClr val="FF0000"/>
                </a:solidFill>
              </a:rPr>
              <a:t>out </a:t>
            </a:r>
            <a:r>
              <a:rPr lang="en-US" altLang="zh-CN" sz="3200" dirty="0"/>
              <a:t>using a cluster of commodity </a:t>
            </a:r>
            <a:r>
              <a:rPr lang="en-US" altLang="zh-CN" sz="3200" dirty="0" smtClean="0"/>
              <a:t>machines.</a:t>
            </a: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altLang="zh-CN" sz="3200" dirty="0" smtClean="0"/>
              <a:t>Three common design aspects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US" altLang="zh-CN" sz="2800" dirty="0" smtClean="0"/>
              <a:t>Pipelined processing with message passing 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US" altLang="zh-CN" sz="2800" dirty="0" smtClean="0"/>
              <a:t>On-demand data parallelism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GB" altLang="zh-CN" sz="2800" dirty="0" smtClean="0"/>
              <a:t>JVM based implementation</a:t>
            </a:r>
          </a:p>
          <a:p>
            <a:pPr marL="228600" lvl="1">
              <a:lnSpc>
                <a:spcPct val="100000"/>
              </a:lnSpc>
              <a:spcBef>
                <a:spcPts val="1000"/>
              </a:spcBef>
            </a:pPr>
            <a:r>
              <a:rPr lang="en-GB" altLang="zh-CN" sz="3200" dirty="0"/>
              <a:t>In this </a:t>
            </a:r>
            <a:r>
              <a:rPr lang="en-GB" altLang="zh-CN" sz="3200" dirty="0" smtClean="0"/>
              <a:t>paper, </a:t>
            </a:r>
            <a:r>
              <a:rPr lang="en-GB" altLang="zh-CN" sz="3200" dirty="0"/>
              <a:t>we </a:t>
            </a:r>
            <a:r>
              <a:rPr lang="en-GB" altLang="zh-CN" sz="3200" dirty="0" smtClean="0"/>
              <a:t>study </a:t>
            </a:r>
            <a:r>
              <a:rPr lang="en-GB" altLang="zh-CN" sz="3200" dirty="0"/>
              <a:t>the three design aspects on scale-up </a:t>
            </a:r>
            <a:r>
              <a:rPr lang="en-GB" altLang="zh-CN" sz="3200" dirty="0" smtClean="0"/>
              <a:t>architectures (i.e., multi-socket multi-core architectures).</a:t>
            </a:r>
            <a:endParaRPr lang="en-GB" altLang="zh-CN" sz="3200" dirty="0"/>
          </a:p>
          <a:p>
            <a:pPr marL="359824" lvl="1" indent="-457200">
              <a:lnSpc>
                <a:spcPct val="100000"/>
              </a:lnSpc>
              <a:buAutoNum type="alphaLcParenR"/>
            </a:pPr>
            <a:endParaRPr lang="en-GB" altLang="zh-CN" sz="32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8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Design aspect 1: </a:t>
            </a:r>
            <a:r>
              <a:rPr lang="en-US" altLang="zh-CN" u="sng" dirty="0" smtClean="0"/>
              <a:t>Pipelined processing </a:t>
            </a:r>
            <a:r>
              <a:rPr lang="en-US" altLang="zh-CN" dirty="0" smtClean="0"/>
              <a:t>with message passing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8200" y="2213478"/>
            <a:ext cx="201798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383805" y="2213478"/>
            <a:ext cx="201798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Split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929411" y="2213478"/>
            <a:ext cx="201798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Count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75017" y="2213478"/>
            <a:ext cx="201798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Sink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7" idx="6"/>
            <a:endCxn id="8" idx="2"/>
          </p:cNvCxnSpPr>
          <p:nvPr/>
        </p:nvCxnSpPr>
        <p:spPr>
          <a:xfrm>
            <a:off x="2856186" y="2670678"/>
            <a:ext cx="5276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6"/>
            <a:endCxn id="9" idx="2"/>
          </p:cNvCxnSpPr>
          <p:nvPr/>
        </p:nvCxnSpPr>
        <p:spPr>
          <a:xfrm>
            <a:off x="5401791" y="2670678"/>
            <a:ext cx="5276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6"/>
            <a:endCxn id="10" idx="2"/>
          </p:cNvCxnSpPr>
          <p:nvPr/>
        </p:nvCxnSpPr>
        <p:spPr>
          <a:xfrm>
            <a:off x="7947397" y="2670678"/>
            <a:ext cx="5276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 flipH="1" flipV="1">
            <a:off x="1576026" y="3336004"/>
            <a:ext cx="542334" cy="359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flipH="1" flipV="1">
            <a:off x="1576026" y="3821567"/>
            <a:ext cx="542334" cy="359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 flipH="1" flipV="1">
            <a:off x="1576026" y="4307130"/>
            <a:ext cx="542334" cy="359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flipH="1" flipV="1">
            <a:off x="1576026" y="4801521"/>
            <a:ext cx="542334" cy="3594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71714" y="1770743"/>
            <a:ext cx="2540000" cy="15652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70603" y="2418935"/>
            <a:ext cx="796384" cy="5420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80007" y="4666584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Input tuples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783025" y="3262815"/>
            <a:ext cx="2398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Word-count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022E-16 L 0.21328 0.0002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64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-2.29167E-6 -0.0708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328 0.00023 L 0.41524 -1.11022E-1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9" y="-23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0.07083 L 0.21328 -0.070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12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33333E-6 L -1.875E-6 -0.14167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4" grpId="0" animBg="1"/>
      <p:bldP spid="6" grpId="0" animBg="1"/>
      <p:bldP spid="6" grpId="1" animBg="1"/>
      <p:bldP spid="19" grpId="0" animBg="1"/>
      <p:bldP spid="19" grpId="1" animBg="1"/>
      <p:bldP spid="16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Design aspect 1: Pipelined processing with </a:t>
            </a:r>
            <a:r>
              <a:rPr lang="en-US" altLang="zh-CN" u="sng" dirty="0" smtClean="0"/>
              <a:t>message passing</a:t>
            </a: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17</a:t>
            </a:fld>
            <a:endParaRPr lang="en-US"/>
          </a:p>
        </p:txBody>
      </p:sp>
      <p:sp>
        <p:nvSpPr>
          <p:cNvPr id="46" name="矩形 59"/>
          <p:cNvSpPr/>
          <p:nvPr/>
        </p:nvSpPr>
        <p:spPr>
          <a:xfrm>
            <a:off x="2713166" y="4393615"/>
            <a:ext cx="1725906" cy="418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lang="en-US" altLang="zh-CN" sz="1531" b="1" dirty="0">
                <a:solidFill>
                  <a:schemeClr val="tx1"/>
                </a:solidFill>
              </a:rPr>
              <a:t>Memory</a:t>
            </a:r>
            <a:endParaRPr kumimoji="1" lang="zh-CN" altLang="en-US" sz="1531" b="1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47" name="文本框 62"/>
          <p:cNvSpPr txBox="1"/>
          <p:nvPr/>
        </p:nvSpPr>
        <p:spPr>
          <a:xfrm>
            <a:off x="3182462" y="4891074"/>
            <a:ext cx="888631" cy="340219"/>
          </a:xfrm>
          <a:prstGeom prst="rect">
            <a:avLst/>
          </a:prstGeom>
          <a:noFill/>
        </p:spPr>
        <p:txBody>
          <a:bodyPr wrap="none" lIns="103627" tIns="51815" rIns="103627" bIns="51815" rtlCol="0">
            <a:spAutoFit/>
          </a:bodyPr>
          <a:lstStyle/>
          <a:p>
            <a:r>
              <a:rPr kumimoji="1" lang="en-US" altLang="zh-CN" sz="1531" b="1" dirty="0"/>
              <a:t>Socket 0</a:t>
            </a:r>
            <a:endParaRPr kumimoji="1" lang="zh-CN" altLang="en-US" sz="1531" b="1" dirty="0"/>
          </a:p>
        </p:txBody>
      </p:sp>
      <p:sp>
        <p:nvSpPr>
          <p:cNvPr id="48" name="文本框 63"/>
          <p:cNvSpPr txBox="1"/>
          <p:nvPr/>
        </p:nvSpPr>
        <p:spPr>
          <a:xfrm>
            <a:off x="6345480" y="4869102"/>
            <a:ext cx="888631" cy="340219"/>
          </a:xfrm>
          <a:prstGeom prst="rect">
            <a:avLst/>
          </a:prstGeom>
          <a:noFill/>
        </p:spPr>
        <p:txBody>
          <a:bodyPr wrap="none" lIns="103627" tIns="51815" rIns="103627" bIns="51815" rtlCol="0">
            <a:spAutoFit/>
          </a:bodyPr>
          <a:lstStyle/>
          <a:p>
            <a:r>
              <a:rPr kumimoji="1" lang="en-US" altLang="zh-CN" sz="1531" b="1" dirty="0"/>
              <a:t>Socket 1</a:t>
            </a:r>
            <a:endParaRPr kumimoji="1" lang="zh-CN" altLang="en-US" sz="1531" b="1" dirty="0"/>
          </a:p>
        </p:txBody>
      </p:sp>
      <p:cxnSp>
        <p:nvCxnSpPr>
          <p:cNvPr id="49" name="直线箭头连接符 67"/>
          <p:cNvCxnSpPr>
            <a:stCxn id="53" idx="4"/>
            <a:endCxn id="46" idx="0"/>
          </p:cNvCxnSpPr>
          <p:nvPr/>
        </p:nvCxnSpPr>
        <p:spPr>
          <a:xfrm>
            <a:off x="3570180" y="3006149"/>
            <a:ext cx="5943" cy="13874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矩形 68"/>
          <p:cNvSpPr/>
          <p:nvPr/>
        </p:nvSpPr>
        <p:spPr>
          <a:xfrm>
            <a:off x="3647979" y="3968404"/>
            <a:ext cx="791104" cy="41871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lang="en-US" altLang="zh-CN" sz="1531" b="1" dirty="0">
                <a:solidFill>
                  <a:schemeClr val="tx1"/>
                </a:solidFill>
              </a:rPr>
              <a:t>queue</a:t>
            </a:r>
            <a:endParaRPr kumimoji="1" lang="zh-CN" altLang="en-US" sz="1531" b="1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cxnSp>
        <p:nvCxnSpPr>
          <p:cNvPr id="51" name="直线箭头连接符 74"/>
          <p:cNvCxnSpPr>
            <a:stCxn id="53" idx="4"/>
            <a:endCxn id="50" idx="0"/>
          </p:cNvCxnSpPr>
          <p:nvPr/>
        </p:nvCxnSpPr>
        <p:spPr>
          <a:xfrm>
            <a:off x="3570180" y="3006153"/>
            <a:ext cx="473355" cy="96225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矩形 95"/>
          <p:cNvSpPr/>
          <p:nvPr/>
        </p:nvSpPr>
        <p:spPr>
          <a:xfrm>
            <a:off x="2902642" y="2621723"/>
            <a:ext cx="1335068" cy="3844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kumimoji="1" lang="en-US" altLang="zh-CN" sz="1531" dirty="0">
                <a:solidFill>
                  <a:srgbClr val="000000"/>
                </a:solidFill>
              </a:rPr>
              <a:t>Producer</a:t>
            </a:r>
            <a:endParaRPr kumimoji="1" lang="zh-CN" altLang="en-US" sz="1531" dirty="0">
              <a:solidFill>
                <a:srgbClr val="000000"/>
              </a:solidFill>
            </a:endParaRPr>
          </a:p>
        </p:txBody>
      </p:sp>
      <p:sp>
        <p:nvSpPr>
          <p:cNvPr id="54" name="矩形 81"/>
          <p:cNvSpPr/>
          <p:nvPr/>
        </p:nvSpPr>
        <p:spPr>
          <a:xfrm>
            <a:off x="6049904" y="2621723"/>
            <a:ext cx="1467929" cy="3844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kumimoji="1" lang="en-US" altLang="zh-CN" sz="1531" dirty="0">
                <a:solidFill>
                  <a:srgbClr val="000000"/>
                </a:solidFill>
              </a:rPr>
              <a:t>Consumer</a:t>
            </a:r>
            <a:endParaRPr kumimoji="1" lang="zh-CN" altLang="en-US" sz="1531" dirty="0">
              <a:solidFill>
                <a:srgbClr val="000000"/>
              </a:solidFill>
            </a:endParaRPr>
          </a:p>
        </p:txBody>
      </p:sp>
      <p:sp>
        <p:nvSpPr>
          <p:cNvPr id="56" name="椭圆 31"/>
          <p:cNvSpPr/>
          <p:nvPr/>
        </p:nvSpPr>
        <p:spPr>
          <a:xfrm>
            <a:off x="3057219" y="3326336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1</a:t>
            </a:r>
            <a:endParaRPr kumimoji="1" lang="zh-CN" altLang="en-US" sz="1531" dirty="0"/>
          </a:p>
        </p:txBody>
      </p:sp>
      <p:sp>
        <p:nvSpPr>
          <p:cNvPr id="57" name="椭圆 89"/>
          <p:cNvSpPr/>
          <p:nvPr/>
        </p:nvSpPr>
        <p:spPr>
          <a:xfrm>
            <a:off x="3902394" y="3321074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2</a:t>
            </a:r>
            <a:endParaRPr kumimoji="1" lang="zh-CN" altLang="en-US" sz="1531" dirty="0"/>
          </a:p>
        </p:txBody>
      </p:sp>
      <p:sp>
        <p:nvSpPr>
          <p:cNvPr id="58" name="椭圆 94"/>
          <p:cNvSpPr/>
          <p:nvPr/>
        </p:nvSpPr>
        <p:spPr>
          <a:xfrm>
            <a:off x="6301638" y="3321074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3</a:t>
            </a:r>
            <a:endParaRPr kumimoji="1" lang="zh-CN" altLang="en-US" sz="1531" dirty="0"/>
          </a:p>
        </p:txBody>
      </p:sp>
      <p:cxnSp>
        <p:nvCxnSpPr>
          <p:cNvPr id="59" name="直线箭头连接符 55"/>
          <p:cNvCxnSpPr>
            <a:stCxn id="50" idx="3"/>
            <a:endCxn id="54" idx="4"/>
          </p:cNvCxnSpPr>
          <p:nvPr/>
        </p:nvCxnSpPr>
        <p:spPr>
          <a:xfrm flipV="1">
            <a:off x="4439083" y="3006153"/>
            <a:ext cx="2344782" cy="1171613"/>
          </a:xfrm>
          <a:prstGeom prst="bentConnector2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线箭头连接符 112"/>
          <p:cNvCxnSpPr/>
          <p:nvPr/>
        </p:nvCxnSpPr>
        <p:spPr>
          <a:xfrm flipV="1">
            <a:off x="4433133" y="2992426"/>
            <a:ext cx="2696871" cy="164867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椭圆 117"/>
          <p:cNvSpPr/>
          <p:nvPr/>
        </p:nvSpPr>
        <p:spPr>
          <a:xfrm>
            <a:off x="7187109" y="3316151"/>
            <a:ext cx="430974" cy="404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4</a:t>
            </a:r>
            <a:endParaRPr kumimoji="1" lang="zh-CN" altLang="en-US" sz="1531" dirty="0"/>
          </a:p>
        </p:txBody>
      </p:sp>
      <p:grpSp>
        <p:nvGrpSpPr>
          <p:cNvPr id="65" name="Group 64"/>
          <p:cNvGrpSpPr/>
          <p:nvPr/>
        </p:nvGrpSpPr>
        <p:grpSpPr>
          <a:xfrm>
            <a:off x="7884654" y="3798174"/>
            <a:ext cx="1914849" cy="1089413"/>
            <a:chOff x="7884654" y="3798174"/>
            <a:chExt cx="1914849" cy="1089413"/>
          </a:xfrm>
        </p:grpSpPr>
        <p:sp>
          <p:nvSpPr>
            <p:cNvPr id="39" name="文本框 153"/>
            <p:cNvSpPr txBox="1"/>
            <p:nvPr/>
          </p:nvSpPr>
          <p:spPr>
            <a:xfrm>
              <a:off x="8252948" y="3798175"/>
              <a:ext cx="1546555" cy="340219"/>
            </a:xfrm>
            <a:prstGeom prst="rect">
              <a:avLst/>
            </a:prstGeom>
            <a:noFill/>
          </p:spPr>
          <p:txBody>
            <a:bodyPr wrap="squar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Pass value</a:t>
              </a:r>
              <a:endParaRPr kumimoji="1" lang="zh-CN" altLang="en-US" sz="1531" dirty="0"/>
            </a:p>
          </p:txBody>
        </p:sp>
        <p:sp>
          <p:nvSpPr>
            <p:cNvPr id="40" name="矩形 154"/>
            <p:cNvSpPr/>
            <p:nvPr/>
          </p:nvSpPr>
          <p:spPr>
            <a:xfrm>
              <a:off x="7884656" y="3798174"/>
              <a:ext cx="1623842" cy="1089413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3627" tIns="51815" rIns="103627" bIns="51815" rtlCol="0" anchor="ctr"/>
            <a:lstStyle/>
            <a:p>
              <a:pPr algn="ctr"/>
              <a:endParaRPr kumimoji="1" lang="zh-CN" altLang="en-US" sz="1531"/>
            </a:p>
          </p:txBody>
        </p:sp>
        <p:cxnSp>
          <p:nvCxnSpPr>
            <p:cNvPr id="41" name="直线箭头连接符 155"/>
            <p:cNvCxnSpPr>
              <a:stCxn id="42" idx="1"/>
            </p:cNvCxnSpPr>
            <p:nvPr/>
          </p:nvCxnSpPr>
          <p:spPr>
            <a:xfrm flipH="1" flipV="1">
              <a:off x="7921875" y="4233319"/>
              <a:ext cx="331074" cy="1"/>
            </a:xfrm>
            <a:prstGeom prst="straightConnector1">
              <a:avLst/>
            </a:prstGeom>
            <a:ln>
              <a:solidFill>
                <a:srgbClr val="000000"/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本框 158"/>
            <p:cNvSpPr txBox="1"/>
            <p:nvPr/>
          </p:nvSpPr>
          <p:spPr>
            <a:xfrm>
              <a:off x="8252953" y="4063210"/>
              <a:ext cx="1361901" cy="340219"/>
            </a:xfrm>
            <a:prstGeom prst="rect">
              <a:avLst/>
            </a:prstGeom>
            <a:noFill/>
          </p:spPr>
          <p:txBody>
            <a:bodyPr wrap="non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Pass reference</a:t>
              </a:r>
              <a:endParaRPr kumimoji="1" lang="zh-CN" altLang="en-US" sz="1531" dirty="0"/>
            </a:p>
          </p:txBody>
        </p:sp>
        <p:cxnSp>
          <p:nvCxnSpPr>
            <p:cNvPr id="43" name="直线箭头连接符 56"/>
            <p:cNvCxnSpPr/>
            <p:nvPr/>
          </p:nvCxnSpPr>
          <p:spPr>
            <a:xfrm flipH="1">
              <a:off x="7913144" y="3989996"/>
              <a:ext cx="33978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椭圆 118"/>
            <p:cNvSpPr/>
            <p:nvPr/>
          </p:nvSpPr>
          <p:spPr>
            <a:xfrm>
              <a:off x="7884654" y="4446884"/>
              <a:ext cx="430974" cy="40403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3627" tIns="51815" rIns="103627" bIns="51815" spcCol="0" rtlCol="0" anchor="ctr"/>
            <a:lstStyle/>
            <a:p>
              <a:pPr algn="ctr"/>
              <a:r>
                <a:rPr kumimoji="1" lang="en-US" altLang="zh-CN" sz="1531" dirty="0"/>
                <a:t>x</a:t>
              </a:r>
              <a:endParaRPr kumimoji="1" lang="zh-CN" altLang="en-US" sz="1531" dirty="0"/>
            </a:p>
          </p:txBody>
        </p:sp>
        <p:sp>
          <p:nvSpPr>
            <p:cNvPr id="63" name="文本框 119"/>
            <p:cNvSpPr txBox="1"/>
            <p:nvPr/>
          </p:nvSpPr>
          <p:spPr>
            <a:xfrm>
              <a:off x="8252931" y="4446901"/>
              <a:ext cx="692872" cy="340219"/>
            </a:xfrm>
            <a:prstGeom prst="rect">
              <a:avLst/>
            </a:prstGeom>
            <a:noFill/>
          </p:spPr>
          <p:txBody>
            <a:bodyPr wrap="non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Step x</a:t>
              </a:r>
              <a:endParaRPr kumimoji="1" lang="zh-CN" altLang="en-US" sz="1531" dirty="0"/>
            </a:p>
          </p:txBody>
        </p:sp>
      </p:grpSp>
    </p:spTree>
    <p:extLst>
      <p:ext uri="{BB962C8B-B14F-4D97-AF65-F5344CB8AC3E}">
        <p14:creationId xmlns:p14="http://schemas.microsoft.com/office/powerpoint/2010/main" val="82535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  <p:bldP spid="48" grpId="0"/>
      <p:bldP spid="50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 smtClean="0"/>
              <a:t>Design aspect 2: On-demand data parallelism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Modern DSP systems such as Storm and </a:t>
            </a:r>
            <a:r>
              <a:rPr lang="en-US" sz="3200" dirty="0" err="1" smtClean="0"/>
              <a:t>Flink</a:t>
            </a:r>
            <a:r>
              <a:rPr lang="en-US" sz="3200" dirty="0" smtClean="0"/>
              <a:t> are also designed to support </a:t>
            </a:r>
            <a:r>
              <a:rPr lang="en-US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data parallelism.</a:t>
            </a:r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139081"/>
              </p:ext>
            </p:extLst>
          </p:nvPr>
        </p:nvGraphicFramePr>
        <p:xfrm>
          <a:off x="2126159" y="2851413"/>
          <a:ext cx="7672982" cy="282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5" name="Acrobat Document" r:id="rId4" imgW="9144000" imgH="3362325" progId="AcroExch.Document.DC">
                  <p:embed/>
                </p:oleObj>
              </mc:Choice>
              <mc:Fallback>
                <p:oleObj name="Acrobat Document" r:id="rId4" imgW="9144000" imgH="3362325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6159" y="2851413"/>
                        <a:ext cx="7672982" cy="2821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493735" y="5117420"/>
            <a:ext cx="6937829" cy="105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38588" y="3065279"/>
            <a:ext cx="1814512" cy="2097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2187555" y="3773187"/>
            <a:ext cx="7511847" cy="592138"/>
            <a:chOff x="2187555" y="3773187"/>
            <a:chExt cx="7511847" cy="592138"/>
          </a:xfrm>
        </p:grpSpPr>
        <p:sp>
          <p:nvSpPr>
            <p:cNvPr id="9" name="Oval 8"/>
            <p:cNvSpPr/>
            <p:nvPr/>
          </p:nvSpPr>
          <p:spPr>
            <a:xfrm>
              <a:off x="2187555" y="3818605"/>
              <a:ext cx="1287959" cy="50299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Data Source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4383501" y="3818604"/>
              <a:ext cx="890652" cy="50299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Split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6661087" y="3818604"/>
              <a:ext cx="1073732" cy="50299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Count</a:t>
              </a:r>
              <a:endParaRPr lang="en-US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8783025" y="3773187"/>
              <a:ext cx="916377" cy="5921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Sink</a:t>
              </a:r>
              <a:endParaRPr lang="en-US" dirty="0"/>
            </a:p>
          </p:txBody>
        </p:sp>
        <p:cxnSp>
          <p:nvCxnSpPr>
            <p:cNvPr id="13" name="Straight Arrow Connector 12"/>
            <p:cNvCxnSpPr>
              <a:stCxn id="9" idx="6"/>
              <a:endCxn id="10" idx="2"/>
            </p:cNvCxnSpPr>
            <p:nvPr/>
          </p:nvCxnSpPr>
          <p:spPr>
            <a:xfrm flipV="1">
              <a:off x="3475514" y="4070103"/>
              <a:ext cx="90798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6"/>
              <a:endCxn id="11" idx="2"/>
            </p:cNvCxnSpPr>
            <p:nvPr/>
          </p:nvCxnSpPr>
          <p:spPr>
            <a:xfrm>
              <a:off x="5274153" y="4070103"/>
              <a:ext cx="13869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6"/>
              <a:endCxn id="12" idx="2"/>
            </p:cNvCxnSpPr>
            <p:nvPr/>
          </p:nvCxnSpPr>
          <p:spPr>
            <a:xfrm flipV="1">
              <a:off x="7734819" y="4069256"/>
              <a:ext cx="1048206" cy="8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8783025" y="3262815"/>
            <a:ext cx="2398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Word-count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4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7" grpId="0" animBg="1"/>
      <p:bldP spid="7" grpId="1" animBg="1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Design aspect </a:t>
            </a:r>
            <a:r>
              <a:rPr lang="en-US" altLang="zh-CN" dirty="0"/>
              <a:t>3: JVM based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Many DSP systems are implemented with JVM-based programming languages (i.e., Closure, Java, and </a:t>
            </a:r>
            <a:r>
              <a:rPr lang="en-US" sz="3200" dirty="0" smtClean="0"/>
              <a:t>Scala).</a:t>
            </a:r>
          </a:p>
          <a:p>
            <a:r>
              <a:rPr lang="en-US" sz="3200" dirty="0" smtClean="0"/>
              <a:t>We examine three aspects of JVM runtime.</a:t>
            </a:r>
            <a:endParaRPr lang="en-US" sz="3200" dirty="0"/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Data reference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Method table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Garbage collection (GC</a:t>
            </a:r>
            <a:r>
              <a:rPr lang="en-US" sz="2800" dirty="0" smtClean="0"/>
              <a:t>)</a:t>
            </a:r>
          </a:p>
          <a:p>
            <a:pPr marL="228600" lvl="1">
              <a:lnSpc>
                <a:spcPct val="100000"/>
              </a:lnSpc>
              <a:spcBef>
                <a:spcPts val="1000"/>
              </a:spcBef>
            </a:pPr>
            <a:r>
              <a:rPr lang="en-US" sz="3200" dirty="0"/>
              <a:t>Since previous studies demonstrate considerate runtime overhead of those components, we study their performance impact on DSP systems.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4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&amp;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 smtClean="0"/>
              <a:t>Goals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Identify the common design aspects of modern DSP systems and to understand how those designs </a:t>
            </a:r>
            <a:r>
              <a:rPr lang="en-US" altLang="zh-CN" sz="2800" dirty="0"/>
              <a:t>i</a:t>
            </a:r>
            <a:r>
              <a:rPr lang="en-US" sz="2800" dirty="0"/>
              <a:t>nteract with modern processors 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Develop some hardware and software approaches to resolving the bottleneck</a:t>
            </a:r>
          </a:p>
          <a:p>
            <a:r>
              <a:rPr lang="en-US" sz="3200" dirty="0" smtClean="0"/>
              <a:t>Contributions</a:t>
            </a:r>
          </a:p>
          <a:p>
            <a:pPr marL="817024" lvl="2" indent="-457200">
              <a:lnSpc>
                <a:spcPct val="11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We design a micro-benchmark covering a wide range of </a:t>
            </a:r>
            <a:r>
              <a:rPr lang="en-US" sz="2800" dirty="0" smtClean="0"/>
              <a:t>applications.</a:t>
            </a:r>
            <a:endParaRPr lang="en-US" sz="2800" dirty="0"/>
          </a:p>
          <a:p>
            <a:pPr marL="817024" lvl="2" indent="-457200">
              <a:lnSpc>
                <a:spcPct val="11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We conduct detailed profiling study on two state-of-the-art DSP </a:t>
            </a:r>
            <a:r>
              <a:rPr lang="en-US" sz="2800" dirty="0" smtClean="0"/>
              <a:t>systems.</a:t>
            </a:r>
            <a:endParaRPr lang="en-US" sz="2800" dirty="0"/>
          </a:p>
          <a:p>
            <a:pPr marL="817024" lvl="2" indent="-457200">
              <a:lnSpc>
                <a:spcPct val="11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/>
              <a:t>We design optimization techniques to solve the identified performance </a:t>
            </a:r>
            <a:r>
              <a:rPr lang="en-US" sz="2800" dirty="0" smtClean="0"/>
              <a:t>issues.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7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There has been no standard benchmark for DSP systems, especially on scale-up architectures.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We design our benchmark according to the four criteria proposed by Jim Gray [1].</a:t>
            </a:r>
          </a:p>
          <a:p>
            <a:pPr marL="817024" lvl="2" indent="-457200">
              <a:buFont typeface="Wingdings" panose="05000000000000000000" pitchFamily="2" charset="2"/>
              <a:buAutoNum type="alphaLcParenR"/>
            </a:pPr>
            <a:r>
              <a:rPr lang="en-US" sz="2600" dirty="0"/>
              <a:t>Relevance</a:t>
            </a:r>
          </a:p>
          <a:p>
            <a:pPr marL="817024" lvl="2" indent="-457200">
              <a:buFont typeface="Wingdings" panose="05000000000000000000" pitchFamily="2" charset="2"/>
              <a:buAutoNum type="alphaLcParenR"/>
            </a:pPr>
            <a:r>
              <a:rPr lang="en-US" sz="2600" dirty="0"/>
              <a:t>Portability</a:t>
            </a:r>
          </a:p>
          <a:p>
            <a:pPr marL="817024" lvl="2" indent="-457200">
              <a:buFont typeface="Wingdings" panose="05000000000000000000" pitchFamily="2" charset="2"/>
              <a:buAutoNum type="alphaLcParenR"/>
            </a:pPr>
            <a:r>
              <a:rPr lang="en-US" sz="2600" dirty="0"/>
              <a:t>Scalability</a:t>
            </a:r>
          </a:p>
          <a:p>
            <a:pPr marL="817024" lvl="2" indent="-457200">
              <a:buFont typeface="Wingdings" panose="05000000000000000000" pitchFamily="2" charset="2"/>
              <a:buAutoNum type="alphaLcParenR"/>
            </a:pPr>
            <a:r>
              <a:rPr lang="en-US" sz="2600" dirty="0"/>
              <a:t>Simplicity</a:t>
            </a:r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altLang="zh-CN" sz="3200" dirty="0" smtClean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 smtClean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41828" y="5530632"/>
            <a:ext cx="80119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NimbusRomNo9L-Regu"/>
              </a:rPr>
              <a:t>1: J</a:t>
            </a:r>
            <a:r>
              <a:rPr lang="en-US" dirty="0">
                <a:latin typeface="NimbusRomNo9L-Regu"/>
              </a:rPr>
              <a:t>. Gray, </a:t>
            </a:r>
            <a:r>
              <a:rPr lang="en-US" dirty="0">
                <a:latin typeface="NimbusRomNo9L-ReguItal"/>
              </a:rPr>
              <a:t>Benchmark Handbook: For Database and Transaction </a:t>
            </a:r>
            <a:r>
              <a:rPr lang="en-US" dirty="0" smtClean="0">
                <a:latin typeface="NimbusRomNo9L-ReguItal"/>
              </a:rPr>
              <a:t>Processing Systems</a:t>
            </a:r>
            <a:r>
              <a:rPr lang="en-US" dirty="0">
                <a:latin typeface="NimbusRomNo9L-Regu"/>
              </a:rPr>
              <a:t>. San </a:t>
            </a:r>
            <a:r>
              <a:rPr lang="en-US" dirty="0" smtClean="0">
                <a:latin typeface="NimbusRomNo9L-Regu"/>
              </a:rPr>
              <a:t>Francisco, CA</a:t>
            </a:r>
            <a:r>
              <a:rPr lang="en-US" dirty="0">
                <a:latin typeface="NimbusRomNo9L-Regu"/>
              </a:rPr>
              <a:t>, USA: Morgan Kaufmann </a:t>
            </a:r>
            <a:r>
              <a:rPr lang="en-US" dirty="0" smtClean="0">
                <a:latin typeface="NimbusRomNo9L-Regu"/>
              </a:rPr>
              <a:t>Publishers Inc</a:t>
            </a:r>
            <a:r>
              <a:rPr lang="en-US" dirty="0">
                <a:latin typeface="NimbusRomNo9L-Regu"/>
              </a:rPr>
              <a:t>., 1992.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38200" y="1683775"/>
            <a:ext cx="885947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b) Portability: Describe </a:t>
            </a:r>
            <a:r>
              <a:rPr lang="en-US" sz="2400" dirty="0">
                <a:solidFill>
                  <a:srgbClr val="FF0000"/>
                </a:solidFill>
              </a:rPr>
              <a:t>the high level functionality of each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58191"/>
            <a:ext cx="999004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a) Relevance: Cover a wide range of CPU </a:t>
            </a:r>
            <a:r>
              <a:rPr lang="en-US" sz="2400" dirty="0">
                <a:solidFill>
                  <a:srgbClr val="FF0000"/>
                </a:solidFill>
              </a:rPr>
              <a:t>and memory bandwidth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674375"/>
            <a:ext cx="5216364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c) Scalability: Include </a:t>
            </a:r>
            <a:r>
              <a:rPr lang="en-US" sz="2400" dirty="0">
                <a:solidFill>
                  <a:srgbClr val="FF0000"/>
                </a:solidFill>
              </a:rPr>
              <a:t>different data sizes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74374"/>
            <a:ext cx="7657224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d) Simplicity: Choose </a:t>
            </a:r>
            <a:r>
              <a:rPr lang="en-US" sz="2400" dirty="0">
                <a:solidFill>
                  <a:srgbClr val="FF0000"/>
                </a:solidFill>
              </a:rPr>
              <a:t>the applications with simplicity in mind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Benchmark</a:t>
            </a:r>
            <a:endParaRPr lang="en-US" dirty="0"/>
          </a:p>
        </p:txBody>
      </p:sp>
      <p:pic>
        <p:nvPicPr>
          <p:cNvPr id="6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2406077"/>
            <a:ext cx="10515600" cy="319043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712014" y="5870978"/>
            <a:ext cx="4333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https://github.com/shzhang1/ProfilingStudy</a:t>
            </a:r>
          </a:p>
        </p:txBody>
      </p:sp>
    </p:spTree>
    <p:extLst>
      <p:ext uri="{BB962C8B-B14F-4D97-AF65-F5344CB8AC3E}">
        <p14:creationId xmlns:p14="http://schemas.microsoft.com/office/powerpoint/2010/main" val="271566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" grpId="0" animBg="1"/>
      <p:bldP spid="3" grpId="1" animBg="1"/>
      <p:bldP spid="8" grpId="0" animBg="1"/>
      <p:bldP spid="8" grpId="1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Profiling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Scalability on varying number of CPU cores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Execution time breakdown of overall execution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Study the impact of common designs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3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on </a:t>
            </a:r>
            <a:r>
              <a:rPr lang="en-US" dirty="0" smtClean="0"/>
              <a:t>varying number of cores/sockets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24</a:t>
            </a:fld>
            <a:endParaRPr lang="en-US"/>
          </a:p>
        </p:txBody>
      </p:sp>
      <p:pic>
        <p:nvPicPr>
          <p:cNvPr id="9" name="Content Placeholder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20" y="1712348"/>
            <a:ext cx="9781228" cy="2727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13717" y="461895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Storm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206710" y="461895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</a:t>
            </a:r>
            <a:r>
              <a:rPr lang="en-US" dirty="0" err="1" smtClean="0"/>
              <a:t>Flink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19600" y="4425903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(2sockets)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067540" y="4418613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(4sockets)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224937" y="4425903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(2sockets)</a:t>
            </a:r>
            <a:endParaRPr lang="en-US" sz="1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872877" y="4411015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(4sockets)</a:t>
            </a:r>
            <a:endParaRPr 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002765" y="5437839"/>
            <a:ext cx="3670364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Scale well on a single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8879" y="5439817"/>
            <a:ext cx="418120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Scale poorly on multiple sockets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4242" y="5439817"/>
            <a:ext cx="5232715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Overhead &gt; Additional resource benefits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58399" y="5550906"/>
            <a:ext cx="379548" cy="23948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127112" y="3076138"/>
            <a:ext cx="2025788" cy="68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972162" y="3073749"/>
            <a:ext cx="2025788" cy="68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152900" y="2897115"/>
            <a:ext cx="1328150" cy="68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&quot;No&quot; Symbol 17"/>
          <p:cNvSpPr/>
          <p:nvPr/>
        </p:nvSpPr>
        <p:spPr>
          <a:xfrm>
            <a:off x="4514850" y="2566948"/>
            <a:ext cx="608151" cy="660375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8981662" y="2731473"/>
            <a:ext cx="1328150" cy="68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&quot;No&quot; Symbol 23"/>
          <p:cNvSpPr/>
          <p:nvPr/>
        </p:nvSpPr>
        <p:spPr>
          <a:xfrm>
            <a:off x="9343612" y="2401306"/>
            <a:ext cx="608151" cy="660375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65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20" grpId="0" animBg="1"/>
      <p:bldP spid="21" grpId="0" animBg="1"/>
      <p:bldP spid="6" grpId="0" animBg="1"/>
      <p:bldP spid="18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Profiling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Scalability on varying number of CPU cores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Execution time breakdown of overall execution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Study the impact of common designs</a:t>
            </a:r>
          </a:p>
          <a:p>
            <a:pPr lvl="1">
              <a:lnSpc>
                <a:spcPct val="100000"/>
              </a:lnSpc>
            </a:pP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42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Are there any problems when running on a single socket?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70216" y="472707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Storm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04016" y="472707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</a:t>
            </a:r>
            <a:r>
              <a:rPr lang="en-US" dirty="0" err="1" smtClean="0"/>
              <a:t>Flink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4504154"/>
              </p:ext>
            </p:extLst>
          </p:nvPr>
        </p:nvGraphicFramePr>
        <p:xfrm>
          <a:off x="1488930" y="1828379"/>
          <a:ext cx="4467286" cy="2804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6067874"/>
              </p:ext>
            </p:extLst>
          </p:nvPr>
        </p:nvGraphicFramePr>
        <p:xfrm>
          <a:off x="5956216" y="1828379"/>
          <a:ext cx="4495800" cy="2836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3169129" y="5345966"/>
            <a:ext cx="5853742" cy="830997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70</a:t>
            </a:r>
            <a:r>
              <a:rPr lang="en-US" altLang="zh-CN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% of the execution times are spent in processor </a:t>
            </a:r>
            <a:r>
              <a:rPr lang="en-US" altLang="zh-CN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stalls.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10619509" y="1953490"/>
            <a:ext cx="515666" cy="119149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047060" y="2226069"/>
            <a:ext cx="1112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Processor stalls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107382" y="1971726"/>
            <a:ext cx="3344634" cy="12749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611581" y="1974473"/>
            <a:ext cx="3230419" cy="12749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1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79390"/>
              </p:ext>
            </p:extLst>
          </p:nvPr>
        </p:nvGraphicFramePr>
        <p:xfrm>
          <a:off x="1488930" y="1828379"/>
          <a:ext cx="4467286" cy="2804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9028011"/>
              </p:ext>
            </p:extLst>
          </p:nvPr>
        </p:nvGraphicFramePr>
        <p:xfrm>
          <a:off x="5956216" y="1828379"/>
          <a:ext cx="4495800" cy="2836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Are there any problems when running on a single socket?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70216" y="472707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Storm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04016" y="472707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</a:t>
            </a:r>
            <a:r>
              <a:rPr lang="en-US" dirty="0" err="1" smtClean="0"/>
              <a:t>Flink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169129" y="5345966"/>
            <a:ext cx="5853742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Front-end stalls is a major bottleneck.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07382" y="2371547"/>
            <a:ext cx="3344634" cy="875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611581" y="2404009"/>
            <a:ext cx="3230419" cy="845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1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Profiling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Scalability on varying number of CPU cores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Execution time breakdown of overall execution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Study the impact of common designs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US" altLang="zh-CN" sz="2800" dirty="0"/>
              <a:t>Pipelined processing with message passing 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US" altLang="zh-CN" sz="2800" dirty="0"/>
              <a:t>On-demand data parallelism</a:t>
            </a:r>
          </a:p>
          <a:p>
            <a:pPr marL="817024" lvl="2" indent="-457200">
              <a:lnSpc>
                <a:spcPct val="100000"/>
              </a:lnSpc>
              <a:buAutoNum type="alphaLcParenR"/>
            </a:pPr>
            <a:r>
              <a:rPr lang="en-GB" altLang="zh-CN" sz="2800" dirty="0"/>
              <a:t>JVM based implementation</a:t>
            </a:r>
          </a:p>
          <a:p>
            <a:pPr>
              <a:lnSpc>
                <a:spcPct val="100000"/>
              </a:lnSpc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>
              <a:defRPr/>
            </a:pPr>
            <a:r>
              <a:rPr lang="en-US" altLang="zh-CN" dirty="0"/>
              <a:t>The design of supporting both pipelined and data parallel processing results in a very complex massively parallel threading </a:t>
            </a:r>
            <a:r>
              <a:rPr lang="en-US" altLang="zh-CN" dirty="0" smtClean="0"/>
              <a:t>model. </a:t>
            </a:r>
          </a:p>
          <a:p>
            <a:pPr lvl="0">
              <a:defRPr/>
            </a:pPr>
            <a:r>
              <a:rPr lang="en-US" altLang="zh-CN" i="1" dirty="0" smtClean="0"/>
              <a:t>This threading model poorly utilizes instruction cache.</a:t>
            </a:r>
            <a:endParaRPr lang="en-US" altLang="zh-CN" i="1" dirty="0"/>
          </a:p>
          <a:p>
            <a:pPr lvl="0">
              <a:defRPr/>
            </a:pPr>
            <a:endParaRPr lang="en-US" altLang="zh-CN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Impact of pipelined and data parallel processing model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58910" y="60472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Storm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65723" y="604728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</a:t>
            </a:r>
            <a:r>
              <a:rPr lang="en-US" dirty="0" err="1" smtClean="0"/>
              <a:t>Flink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301337"/>
              </p:ext>
            </p:extLst>
          </p:nvPr>
        </p:nvGraphicFramePr>
        <p:xfrm>
          <a:off x="1275240" y="3484882"/>
          <a:ext cx="4724400" cy="2582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7427826"/>
              </p:ext>
            </p:extLst>
          </p:nvPr>
        </p:nvGraphicFramePr>
        <p:xfrm>
          <a:off x="5999640" y="3510063"/>
          <a:ext cx="4532166" cy="2556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1963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Instruction footprint between two consecutive invocations of the same function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53087" y="566664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Storm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86887" y="566664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</a:t>
            </a:r>
            <a:r>
              <a:rPr lang="en-US" dirty="0" err="1" smtClean="0"/>
              <a:t>Flink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1059"/>
            <a:ext cx="6722715" cy="3655588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2004009" y="2011059"/>
            <a:ext cx="1216742" cy="2414341"/>
            <a:chOff x="3834581" y="2061794"/>
            <a:chExt cx="1216742" cy="2414341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3834581" y="3296265"/>
              <a:ext cx="121674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834581" y="2153265"/>
              <a:ext cx="0" cy="23228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5029200" y="2061794"/>
              <a:ext cx="22123" cy="236272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727976" y="2011059"/>
            <a:ext cx="663678" cy="2281606"/>
            <a:chOff x="7558548" y="2061794"/>
            <a:chExt cx="663678" cy="2281606"/>
          </a:xfrm>
        </p:grpSpPr>
        <p:cxnSp>
          <p:nvCxnSpPr>
            <p:cNvPr id="19" name="Straight Arrow Connector 18"/>
            <p:cNvCxnSpPr/>
            <p:nvPr/>
          </p:nvCxnSpPr>
          <p:spPr>
            <a:xfrm flipH="1">
              <a:off x="7566376" y="3161328"/>
              <a:ext cx="6411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558548" y="2061794"/>
              <a:ext cx="7828" cy="227940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8214852" y="2061794"/>
              <a:ext cx="7374" cy="228160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/>
          <p:cNvSpPr/>
          <p:nvPr/>
        </p:nvSpPr>
        <p:spPr>
          <a:xfrm>
            <a:off x="2564447" y="2463865"/>
            <a:ext cx="435108" cy="9217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6056355" y="2070735"/>
            <a:ext cx="435108" cy="9217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59988" y="2011059"/>
            <a:ext cx="4301383" cy="15696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) Common range of their instruction footprints is between 1KB to 10MB and 1KB to 1MB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9988" y="4102234"/>
            <a:ext cx="4301383" cy="156966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(ii) 50~70% and 20~40% of the instruction footprints are larger than the L1-ICache </a:t>
            </a:r>
          </a:p>
        </p:txBody>
      </p:sp>
    </p:spTree>
    <p:extLst>
      <p:ext uri="{BB962C8B-B14F-4D97-AF65-F5344CB8AC3E}">
        <p14:creationId xmlns:p14="http://schemas.microsoft.com/office/powerpoint/2010/main" val="305381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7" grpId="0" animBg="1"/>
      <p:bldP spid="1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 smtClean="0"/>
              <a:t>Message passing between operators scheduled to different sockets comes with remote memory access (RMA).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RMA overhead </a:t>
            </a:r>
            <a:r>
              <a:rPr lang="en-US" altLang="zh-CN" dirty="0"/>
              <a:t>prevents </a:t>
            </a:r>
            <a:r>
              <a:rPr lang="en-US" dirty="0"/>
              <a:t>DSP systems from scaling well on multi-socket </a:t>
            </a:r>
            <a:r>
              <a:rPr lang="en-US" dirty="0" smtClean="0"/>
              <a:t>processors.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Impact of m</a:t>
            </a:r>
            <a:r>
              <a:rPr lang="en-US" altLang="en-US" dirty="0" smtClean="0"/>
              <a:t>essage passing and stream partitioning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31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1676" y="4253698"/>
            <a:ext cx="7488648" cy="9607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00300" y="3849078"/>
            <a:ext cx="7391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+mn-lt"/>
              </a:rPr>
              <a:t>Table: LLC </a:t>
            </a:r>
            <a:r>
              <a:rPr lang="en-US" sz="2000" dirty="0">
                <a:latin typeface="+mn-lt"/>
              </a:rPr>
              <a:t>miss stalls when running </a:t>
            </a:r>
            <a:r>
              <a:rPr lang="en-US" sz="2000" dirty="0" smtClean="0">
                <a:latin typeface="+mn-lt"/>
              </a:rPr>
              <a:t>Storm with four CPU sockets</a:t>
            </a:r>
            <a:endParaRPr lang="en-US" sz="2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81275" y="5341456"/>
            <a:ext cx="7029450" cy="83099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Up to 24% of the total execution time are wasted due to remote memory access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3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(recap)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Large instruction footprint between two consecutive invocations of the same function causes significant L1-Icache misses.</a:t>
            </a:r>
          </a:p>
          <a:p>
            <a:pPr>
              <a:lnSpc>
                <a:spcPct val="100000"/>
              </a:lnSpc>
            </a:pPr>
            <a:r>
              <a:rPr lang="en-US" dirty="0"/>
              <a:t>The current message passing design </a:t>
            </a:r>
            <a:r>
              <a:rPr lang="en-US" dirty="0" smtClean="0"/>
              <a:t>overlooks </a:t>
            </a:r>
            <a:r>
              <a:rPr lang="en-US" dirty="0"/>
              <a:t>NUMA effect and results in serious performance degradation due to significant remote memory access overhead</a:t>
            </a:r>
            <a:r>
              <a:rPr lang="en-US" dirty="0" smtClean="0"/>
              <a:t>.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Towards more efficient DSP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Non-blocking tuple batching </a:t>
            </a:r>
            <a:endParaRPr lang="en-US" altLang="zh-CN" sz="3200" dirty="0" smtClean="0"/>
          </a:p>
          <a:p>
            <a:pPr lvl="1"/>
            <a:r>
              <a:rPr lang="en-US" altLang="zh-CN" dirty="0" smtClean="0"/>
              <a:t>Goal: to </a:t>
            </a:r>
            <a:r>
              <a:rPr lang="en-US" altLang="zh-CN" dirty="0"/>
              <a:t>reduce instruction cache </a:t>
            </a:r>
            <a:r>
              <a:rPr lang="en-US" altLang="zh-CN" dirty="0" smtClean="0"/>
              <a:t>misses</a:t>
            </a:r>
          </a:p>
          <a:p>
            <a:pPr lvl="1"/>
            <a:r>
              <a:rPr lang="en-US" altLang="zh-CN" dirty="0" smtClean="0"/>
              <a:t>Batch and only batch tuples that can be batched</a:t>
            </a:r>
            <a:endParaRPr lang="en-US" altLang="zh-CN" dirty="0"/>
          </a:p>
          <a:p>
            <a:r>
              <a:rPr lang="en-US" altLang="zh-CN" sz="3200" dirty="0"/>
              <a:t>NUMA-aware executor placement </a:t>
            </a:r>
            <a:endParaRPr lang="en-US" altLang="zh-CN" sz="3200" dirty="0" smtClean="0"/>
          </a:p>
          <a:p>
            <a:pPr lvl="1"/>
            <a:r>
              <a:rPr lang="en-US" altLang="zh-CN" dirty="0" smtClean="0"/>
              <a:t>Goal: to </a:t>
            </a:r>
            <a:r>
              <a:rPr lang="en-US" altLang="zh-CN" dirty="0"/>
              <a:t>reduce remote memory </a:t>
            </a:r>
            <a:r>
              <a:rPr lang="en-GB" altLang="zh-CN" dirty="0" smtClean="0"/>
              <a:t>accesses</a:t>
            </a:r>
          </a:p>
          <a:p>
            <a:pPr lvl="1"/>
            <a:r>
              <a:rPr lang="en-US" altLang="zh-CN" dirty="0" smtClean="0"/>
              <a:t>Relies on solving the min-cut graph partition problem on the executor graph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2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Evaluate combining both techniques on Storm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1937801" y="1690689"/>
          <a:ext cx="7884626" cy="37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1937085" y="5542475"/>
            <a:ext cx="7664116" cy="830997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Our optimizations can significantly improve Storm  (up to 3.2x).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89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Profiling study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There is a lack of detailed analysis on the common design aspects of modern DSP systems when running on modern </a:t>
            </a:r>
            <a:r>
              <a:rPr lang="en-US" altLang="en-US" dirty="0"/>
              <a:t>multi-socket multi-core </a:t>
            </a:r>
            <a:r>
              <a:rPr lang="en-US" altLang="en-US" dirty="0" smtClean="0"/>
              <a:t>processors.</a:t>
            </a:r>
          </a:p>
          <a:p>
            <a:r>
              <a:rPr lang="en-US" altLang="en-US" dirty="0" smtClean="0"/>
              <a:t>We have designed micro-benchmark, conducted extensive evaluations based on two state-of-the-art DSP systems, and identified several common performance issues.</a:t>
            </a:r>
          </a:p>
          <a:p>
            <a:r>
              <a:rPr lang="en-US" altLang="en-US" dirty="0" smtClean="0"/>
              <a:t>We </a:t>
            </a:r>
            <a:r>
              <a:rPr lang="en-US" altLang="en-US" smtClean="0"/>
              <a:t>have designed two </a:t>
            </a:r>
            <a:r>
              <a:rPr lang="en-US" altLang="en-US" dirty="0" smtClean="0"/>
              <a:t>optimization techniques to address the found performance issues </a:t>
            </a:r>
            <a:r>
              <a:rPr lang="en-US" altLang="en-US" smtClean="0"/>
              <a:t>and demonstrated </a:t>
            </a:r>
            <a:r>
              <a:rPr lang="en-US" altLang="en-US" dirty="0" smtClean="0"/>
              <a:t>promising performance improvements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5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Background.</a:t>
            </a:r>
          </a:p>
          <a:p>
            <a:r>
              <a:rPr lang="en-US" dirty="0" smtClean="0"/>
              <a:t>Profiling </a:t>
            </a:r>
            <a:r>
              <a:rPr lang="en-US" dirty="0"/>
              <a:t>study</a:t>
            </a:r>
            <a:r>
              <a:rPr lang="en-US" b="1" dirty="0"/>
              <a:t> </a:t>
            </a:r>
            <a:r>
              <a:rPr lang="en-US" dirty="0" smtClean="0"/>
              <a:t>of DSP systems on modern multi-core processors.</a:t>
            </a:r>
          </a:p>
          <a:p>
            <a:r>
              <a:rPr lang="en-US" b="1" dirty="0" smtClean="0"/>
              <a:t>A new DSP system designed for </a:t>
            </a:r>
            <a:r>
              <a:rPr lang="en-US" b="1" dirty="0"/>
              <a:t>modern multi-core </a:t>
            </a:r>
            <a:r>
              <a:rPr lang="en-US" b="1" dirty="0" smtClean="0"/>
              <a:t>processors</a:t>
            </a:r>
            <a:r>
              <a:rPr lang="en-US" b="1" dirty="0" smtClean="0"/>
              <a:t>.</a:t>
            </a:r>
          </a:p>
          <a:p>
            <a:pPr lvl="1"/>
            <a:r>
              <a:rPr lang="en-US" b="1" dirty="0" smtClean="0"/>
              <a:t>On-going work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BriskStream</a:t>
            </a:r>
            <a:r>
              <a:rPr kumimoji="1" lang="en-US" altLang="zh-CN" dirty="0"/>
              <a:t>: NUMA-aware Data Stream Processing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smtClean="0"/>
              <a:t>A quick glance of my recent work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9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need of a ``scale-up” DSP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Applications tend to more complex, expressed as larger diameter graph structure.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Cross machines communication is often the performance killer, especially considering latency.</a:t>
            </a:r>
          </a:p>
          <a:p>
            <a:r>
              <a:rPr lang="en-US" dirty="0" smtClean="0"/>
              <a:t>Modern multi-core processors have demonstrated superior performance.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Hundreds of cores and terabytes of memory are available in a single instance.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Stream Processing </a:t>
            </a:r>
            <a:r>
              <a:rPr lang="en-US" altLang="zh-CN" dirty="0" smtClean="0"/>
              <a:t>on NUMA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352096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An application is expressed as a directed acyclic graph (DAG).</a:t>
            </a:r>
          </a:p>
          <a:p>
            <a:pPr lvl="1"/>
            <a:r>
              <a:rPr lang="en-US" sz="2800" dirty="0" smtClean="0"/>
              <a:t>Pipeline execution: each vertex corresponds to one operator, which executes independently and edge indicates message passing between operators.</a:t>
            </a:r>
          </a:p>
          <a:p>
            <a:pPr lvl="1"/>
            <a:r>
              <a:rPr lang="en-US" sz="2800" dirty="0" smtClean="0"/>
              <a:t>Data parallel execution: each operator may be replicated to increase throughput.</a:t>
            </a:r>
          </a:p>
        </p:txBody>
      </p:sp>
      <p:sp>
        <p:nvSpPr>
          <p:cNvPr id="4" name="Oval 3"/>
          <p:cNvSpPr/>
          <p:nvPr/>
        </p:nvSpPr>
        <p:spPr>
          <a:xfrm>
            <a:off x="3047500" y="5060836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Parser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20480" y="4727756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Split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801872" y="5332021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Split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62298" y="4580654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Count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62296" y="5135319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162296" y="5725425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4" idx="6"/>
            <a:endCxn id="6" idx="2"/>
          </p:cNvCxnSpPr>
          <p:nvPr/>
        </p:nvCxnSpPr>
        <p:spPr>
          <a:xfrm flipV="1">
            <a:off x="4376569" y="4924458"/>
            <a:ext cx="443911" cy="333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6"/>
            <a:endCxn id="7" idx="2"/>
          </p:cNvCxnSpPr>
          <p:nvPr/>
        </p:nvCxnSpPr>
        <p:spPr>
          <a:xfrm>
            <a:off x="4376569" y="5257539"/>
            <a:ext cx="425303" cy="27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8" idx="2"/>
          </p:cNvCxnSpPr>
          <p:nvPr/>
        </p:nvCxnSpPr>
        <p:spPr>
          <a:xfrm flipV="1">
            <a:off x="6149549" y="4777356"/>
            <a:ext cx="1012749" cy="147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6"/>
            <a:endCxn id="9" idx="2"/>
          </p:cNvCxnSpPr>
          <p:nvPr/>
        </p:nvCxnSpPr>
        <p:spPr>
          <a:xfrm>
            <a:off x="6149549" y="4924459"/>
            <a:ext cx="1012747" cy="407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6"/>
            <a:endCxn id="10" idx="2"/>
          </p:cNvCxnSpPr>
          <p:nvPr/>
        </p:nvCxnSpPr>
        <p:spPr>
          <a:xfrm>
            <a:off x="6130941" y="5528723"/>
            <a:ext cx="1031355" cy="39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6"/>
            <a:endCxn id="9" idx="2"/>
          </p:cNvCxnSpPr>
          <p:nvPr/>
        </p:nvCxnSpPr>
        <p:spPr>
          <a:xfrm flipV="1">
            <a:off x="6130941" y="5332021"/>
            <a:ext cx="1031355" cy="19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6"/>
            <a:endCxn id="10" idx="2"/>
          </p:cNvCxnSpPr>
          <p:nvPr/>
        </p:nvCxnSpPr>
        <p:spPr>
          <a:xfrm>
            <a:off x="6149549" y="4924459"/>
            <a:ext cx="1012747" cy="99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6"/>
            <a:endCxn id="8" idx="2"/>
          </p:cNvCxnSpPr>
          <p:nvPr/>
        </p:nvCxnSpPr>
        <p:spPr>
          <a:xfrm flipV="1">
            <a:off x="6130941" y="4777357"/>
            <a:ext cx="1031357" cy="75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18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Optimize Data Stream Processing </a:t>
            </a:r>
            <a:r>
              <a:rPr lang="en-US" altLang="zh-CN" dirty="0"/>
              <a:t>on NUMA 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1548"/>
            <a:ext cx="10515600" cy="1765664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We need to determine both the </a:t>
            </a:r>
            <a:r>
              <a:rPr lang="en-US" sz="3200" u="sng" dirty="0" smtClean="0"/>
              <a:t>level of operator replication</a:t>
            </a:r>
            <a:r>
              <a:rPr lang="en-US" sz="3200" dirty="0" smtClean="0"/>
              <a:t> and the </a:t>
            </a:r>
            <a:r>
              <a:rPr lang="en-US" sz="3200" u="sng" dirty="0" smtClean="0"/>
              <a:t>placement of operators </a:t>
            </a:r>
            <a:r>
              <a:rPr lang="en-US" sz="3200" dirty="0" smtClean="0"/>
              <a:t>to optimize the execution (e.g., maximize throughput).</a:t>
            </a:r>
            <a:endParaRPr lang="en-US" sz="3200" dirty="0"/>
          </a:p>
        </p:txBody>
      </p:sp>
      <p:sp>
        <p:nvSpPr>
          <p:cNvPr id="4" name="Oval 3"/>
          <p:cNvSpPr/>
          <p:nvPr/>
        </p:nvSpPr>
        <p:spPr>
          <a:xfrm>
            <a:off x="3672363" y="4000292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445343" y="3667212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Split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426735" y="4271477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Split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7787161" y="3520110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Count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787159" y="4074775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787159" y="4664881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cxnSp>
        <p:nvCxnSpPr>
          <p:cNvPr id="10" name="Straight Arrow Connector 9"/>
          <p:cNvCxnSpPr>
            <a:stCxn id="6" idx="6"/>
            <a:endCxn id="8" idx="2"/>
          </p:cNvCxnSpPr>
          <p:nvPr/>
        </p:nvCxnSpPr>
        <p:spPr>
          <a:xfrm flipV="1">
            <a:off x="5001432" y="3863914"/>
            <a:ext cx="443911" cy="333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6"/>
            <a:endCxn id="9" idx="2"/>
          </p:cNvCxnSpPr>
          <p:nvPr/>
        </p:nvCxnSpPr>
        <p:spPr>
          <a:xfrm>
            <a:off x="5001432" y="4196995"/>
            <a:ext cx="425303" cy="27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6"/>
            <a:endCxn id="10" idx="2"/>
          </p:cNvCxnSpPr>
          <p:nvPr/>
        </p:nvCxnSpPr>
        <p:spPr>
          <a:xfrm flipV="1">
            <a:off x="6774412" y="3716812"/>
            <a:ext cx="1012749" cy="147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6"/>
            <a:endCxn id="11" idx="2"/>
          </p:cNvCxnSpPr>
          <p:nvPr/>
        </p:nvCxnSpPr>
        <p:spPr>
          <a:xfrm>
            <a:off x="6774412" y="3863915"/>
            <a:ext cx="1012747" cy="407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6"/>
            <a:endCxn id="12" idx="2"/>
          </p:cNvCxnSpPr>
          <p:nvPr/>
        </p:nvCxnSpPr>
        <p:spPr>
          <a:xfrm>
            <a:off x="6755804" y="4468179"/>
            <a:ext cx="1031355" cy="39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6"/>
            <a:endCxn id="11" idx="2"/>
          </p:cNvCxnSpPr>
          <p:nvPr/>
        </p:nvCxnSpPr>
        <p:spPr>
          <a:xfrm flipV="1">
            <a:off x="6755804" y="4271477"/>
            <a:ext cx="1031355" cy="19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6"/>
            <a:endCxn id="12" idx="2"/>
          </p:cNvCxnSpPr>
          <p:nvPr/>
        </p:nvCxnSpPr>
        <p:spPr>
          <a:xfrm>
            <a:off x="6774412" y="3863915"/>
            <a:ext cx="1012747" cy="99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6"/>
            <a:endCxn id="10" idx="2"/>
          </p:cNvCxnSpPr>
          <p:nvPr/>
        </p:nvCxnSpPr>
        <p:spPr>
          <a:xfrm flipV="1">
            <a:off x="6755804" y="3716813"/>
            <a:ext cx="1031357" cy="75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775051" y="5341765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3254" y="5341765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altLang="zh-CN" dirty="0"/>
              <a:t>1</a:t>
            </a:r>
            <a:endParaRPr lang="en-US" dirty="0"/>
          </a:p>
        </p:txBody>
      </p:sp>
      <p:cxnSp>
        <p:nvCxnSpPr>
          <p:cNvPr id="21" name="Straight Connector 20"/>
          <p:cNvCxnSpPr>
            <a:stCxn id="18" idx="3"/>
            <a:endCxn id="19" idx="1"/>
          </p:cNvCxnSpPr>
          <p:nvPr/>
        </p:nvCxnSpPr>
        <p:spPr>
          <a:xfrm>
            <a:off x="5689452" y="5798965"/>
            <a:ext cx="9438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9347052" y="3863915"/>
            <a:ext cx="9427" cy="7119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379551" y="403524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？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6" idx="4"/>
            <a:endCxn id="18" idx="0"/>
          </p:cNvCxnSpPr>
          <p:nvPr/>
        </p:nvCxnSpPr>
        <p:spPr>
          <a:xfrm flipH="1">
            <a:off x="5232251" y="4664881"/>
            <a:ext cx="859018" cy="6768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6" idx="4"/>
            <a:endCxn id="19" idx="0"/>
          </p:cNvCxnSpPr>
          <p:nvPr/>
        </p:nvCxnSpPr>
        <p:spPr>
          <a:xfrm>
            <a:off x="6091270" y="4664881"/>
            <a:ext cx="999185" cy="6768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37365" y="48615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76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passing</a:t>
            </a:r>
            <a:endParaRPr lang="en-US" dirty="0"/>
          </a:p>
        </p:txBody>
      </p:sp>
      <p:sp>
        <p:nvSpPr>
          <p:cNvPr id="6" name="矩形 59"/>
          <p:cNvSpPr/>
          <p:nvPr/>
        </p:nvSpPr>
        <p:spPr>
          <a:xfrm>
            <a:off x="3124463" y="5670872"/>
            <a:ext cx="1725906" cy="4187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lang="en-US" altLang="zh-CN" sz="1531" b="1" dirty="0">
                <a:solidFill>
                  <a:schemeClr val="tx1"/>
                </a:solidFill>
              </a:rPr>
              <a:t>Memory</a:t>
            </a:r>
            <a:endParaRPr kumimoji="1" lang="zh-CN" altLang="en-US" sz="1531" b="1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7" name="文本框 62"/>
          <p:cNvSpPr txBox="1"/>
          <p:nvPr/>
        </p:nvSpPr>
        <p:spPr>
          <a:xfrm>
            <a:off x="3593760" y="6168332"/>
            <a:ext cx="888631" cy="340219"/>
          </a:xfrm>
          <a:prstGeom prst="rect">
            <a:avLst/>
          </a:prstGeom>
          <a:noFill/>
        </p:spPr>
        <p:txBody>
          <a:bodyPr wrap="none" lIns="103627" tIns="51815" rIns="103627" bIns="51815" rtlCol="0">
            <a:spAutoFit/>
          </a:bodyPr>
          <a:lstStyle/>
          <a:p>
            <a:r>
              <a:rPr kumimoji="1" lang="en-US" altLang="zh-CN" sz="1531" b="1" dirty="0"/>
              <a:t>Socket 0</a:t>
            </a:r>
            <a:endParaRPr kumimoji="1" lang="zh-CN" altLang="en-US" sz="1531" b="1" dirty="0"/>
          </a:p>
        </p:txBody>
      </p:sp>
      <p:sp>
        <p:nvSpPr>
          <p:cNvPr id="8" name="文本框 63"/>
          <p:cNvSpPr txBox="1"/>
          <p:nvPr/>
        </p:nvSpPr>
        <p:spPr>
          <a:xfrm>
            <a:off x="6756778" y="6146360"/>
            <a:ext cx="888631" cy="340219"/>
          </a:xfrm>
          <a:prstGeom prst="rect">
            <a:avLst/>
          </a:prstGeom>
          <a:noFill/>
        </p:spPr>
        <p:txBody>
          <a:bodyPr wrap="none" lIns="103627" tIns="51815" rIns="103627" bIns="51815" rtlCol="0">
            <a:spAutoFit/>
          </a:bodyPr>
          <a:lstStyle/>
          <a:p>
            <a:r>
              <a:rPr kumimoji="1" lang="en-US" altLang="zh-CN" sz="1531" b="1" dirty="0"/>
              <a:t>Socket 1</a:t>
            </a:r>
            <a:endParaRPr kumimoji="1" lang="zh-CN" altLang="en-US" sz="1531" b="1" dirty="0"/>
          </a:p>
        </p:txBody>
      </p:sp>
      <p:cxnSp>
        <p:nvCxnSpPr>
          <p:cNvPr id="9" name="直线箭头连接符 67"/>
          <p:cNvCxnSpPr/>
          <p:nvPr/>
        </p:nvCxnSpPr>
        <p:spPr>
          <a:xfrm>
            <a:off x="3981478" y="4283406"/>
            <a:ext cx="5943" cy="13874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矩形 68"/>
          <p:cNvSpPr/>
          <p:nvPr/>
        </p:nvSpPr>
        <p:spPr>
          <a:xfrm>
            <a:off x="4059276" y="5245661"/>
            <a:ext cx="791104" cy="41871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lang="en-US" altLang="zh-CN" sz="1531" b="1" dirty="0">
                <a:solidFill>
                  <a:schemeClr val="tx1"/>
                </a:solidFill>
              </a:rPr>
              <a:t>queue</a:t>
            </a:r>
            <a:endParaRPr kumimoji="1" lang="zh-CN" altLang="en-US" sz="1531" b="1" dirty="0">
              <a:ln w="12700">
                <a:solidFill>
                  <a:srgbClr val="000000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cxnSp>
        <p:nvCxnSpPr>
          <p:cNvPr id="11" name="直线箭头连接符 74"/>
          <p:cNvCxnSpPr/>
          <p:nvPr/>
        </p:nvCxnSpPr>
        <p:spPr>
          <a:xfrm>
            <a:off x="3981478" y="4283411"/>
            <a:ext cx="473355" cy="96225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矩形 95"/>
          <p:cNvSpPr/>
          <p:nvPr/>
        </p:nvSpPr>
        <p:spPr>
          <a:xfrm>
            <a:off x="3313939" y="3898980"/>
            <a:ext cx="1335068" cy="3844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kumimoji="1" lang="en-US" altLang="zh-CN" sz="1531" dirty="0">
                <a:solidFill>
                  <a:srgbClr val="000000"/>
                </a:solidFill>
              </a:rPr>
              <a:t>Producer</a:t>
            </a:r>
            <a:endParaRPr kumimoji="1" lang="zh-CN" altLang="en-US" sz="1531" dirty="0">
              <a:solidFill>
                <a:srgbClr val="000000"/>
              </a:solidFill>
            </a:endParaRPr>
          </a:p>
        </p:txBody>
      </p:sp>
      <p:sp>
        <p:nvSpPr>
          <p:cNvPr id="13" name="矩形 81"/>
          <p:cNvSpPr/>
          <p:nvPr/>
        </p:nvSpPr>
        <p:spPr>
          <a:xfrm>
            <a:off x="6461202" y="3898980"/>
            <a:ext cx="1467929" cy="3844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3627" tIns="51815" rIns="103627" bIns="51815" rtlCol="0" anchor="ctr"/>
          <a:lstStyle/>
          <a:p>
            <a:pPr algn="ctr"/>
            <a:r>
              <a:rPr kumimoji="1" lang="en-US" altLang="zh-CN" sz="1531" dirty="0">
                <a:solidFill>
                  <a:srgbClr val="000000"/>
                </a:solidFill>
              </a:rPr>
              <a:t>Consumer</a:t>
            </a:r>
            <a:endParaRPr kumimoji="1" lang="zh-CN" altLang="en-US" sz="1531" dirty="0">
              <a:solidFill>
                <a:srgbClr val="000000"/>
              </a:solidFill>
            </a:endParaRPr>
          </a:p>
        </p:txBody>
      </p:sp>
      <p:sp>
        <p:nvSpPr>
          <p:cNvPr id="14" name="椭圆 31"/>
          <p:cNvSpPr/>
          <p:nvPr/>
        </p:nvSpPr>
        <p:spPr>
          <a:xfrm>
            <a:off x="3468516" y="4603593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1</a:t>
            </a:r>
            <a:endParaRPr kumimoji="1" lang="zh-CN" altLang="en-US" sz="1531" dirty="0"/>
          </a:p>
        </p:txBody>
      </p:sp>
      <p:sp>
        <p:nvSpPr>
          <p:cNvPr id="15" name="椭圆 89"/>
          <p:cNvSpPr/>
          <p:nvPr/>
        </p:nvSpPr>
        <p:spPr>
          <a:xfrm>
            <a:off x="4313691" y="4598331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2</a:t>
            </a:r>
            <a:endParaRPr kumimoji="1" lang="zh-CN" altLang="en-US" sz="1531" dirty="0"/>
          </a:p>
        </p:txBody>
      </p:sp>
      <p:sp>
        <p:nvSpPr>
          <p:cNvPr id="16" name="椭圆 94"/>
          <p:cNvSpPr/>
          <p:nvPr/>
        </p:nvSpPr>
        <p:spPr>
          <a:xfrm>
            <a:off x="6712935" y="4598331"/>
            <a:ext cx="430974" cy="40403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3</a:t>
            </a:r>
            <a:endParaRPr kumimoji="1" lang="zh-CN" altLang="en-US" sz="1531" dirty="0"/>
          </a:p>
        </p:txBody>
      </p:sp>
      <p:cxnSp>
        <p:nvCxnSpPr>
          <p:cNvPr id="17" name="直线箭头连接符 55"/>
          <p:cNvCxnSpPr/>
          <p:nvPr/>
        </p:nvCxnSpPr>
        <p:spPr>
          <a:xfrm flipV="1">
            <a:off x="4850380" y="4283411"/>
            <a:ext cx="2344782" cy="1171613"/>
          </a:xfrm>
          <a:prstGeom prst="bentConnector2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线箭头连接符 112"/>
          <p:cNvCxnSpPr/>
          <p:nvPr/>
        </p:nvCxnSpPr>
        <p:spPr>
          <a:xfrm flipV="1">
            <a:off x="4844431" y="4269683"/>
            <a:ext cx="2696871" cy="164867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椭圆 117"/>
          <p:cNvSpPr/>
          <p:nvPr/>
        </p:nvSpPr>
        <p:spPr>
          <a:xfrm>
            <a:off x="7598406" y="4593409"/>
            <a:ext cx="430974" cy="4040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3627" tIns="51815" rIns="103627" bIns="51815" spcCol="0" rtlCol="0" anchor="ctr"/>
          <a:lstStyle/>
          <a:p>
            <a:pPr algn="ctr"/>
            <a:r>
              <a:rPr kumimoji="1" lang="en-US" altLang="zh-CN" sz="1531" dirty="0"/>
              <a:t>4</a:t>
            </a:r>
            <a:endParaRPr kumimoji="1" lang="zh-CN" altLang="en-US" sz="1531" dirty="0"/>
          </a:p>
        </p:txBody>
      </p:sp>
      <p:grpSp>
        <p:nvGrpSpPr>
          <p:cNvPr id="20" name="Group 19"/>
          <p:cNvGrpSpPr/>
          <p:nvPr/>
        </p:nvGrpSpPr>
        <p:grpSpPr>
          <a:xfrm>
            <a:off x="8295952" y="5075432"/>
            <a:ext cx="1914849" cy="1089413"/>
            <a:chOff x="7884654" y="3798174"/>
            <a:chExt cx="1914849" cy="1089413"/>
          </a:xfrm>
        </p:grpSpPr>
        <p:sp>
          <p:nvSpPr>
            <p:cNvPr id="21" name="文本框 153"/>
            <p:cNvSpPr txBox="1"/>
            <p:nvPr/>
          </p:nvSpPr>
          <p:spPr>
            <a:xfrm>
              <a:off x="8252948" y="3798175"/>
              <a:ext cx="1546555" cy="340219"/>
            </a:xfrm>
            <a:prstGeom prst="rect">
              <a:avLst/>
            </a:prstGeom>
            <a:noFill/>
          </p:spPr>
          <p:txBody>
            <a:bodyPr wrap="squar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Pass value</a:t>
              </a:r>
              <a:endParaRPr kumimoji="1" lang="zh-CN" altLang="en-US" sz="1531" dirty="0"/>
            </a:p>
          </p:txBody>
        </p:sp>
        <p:sp>
          <p:nvSpPr>
            <p:cNvPr id="22" name="矩形 154"/>
            <p:cNvSpPr/>
            <p:nvPr/>
          </p:nvSpPr>
          <p:spPr>
            <a:xfrm>
              <a:off x="7884656" y="3798174"/>
              <a:ext cx="1623842" cy="1089413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3627" tIns="51815" rIns="103627" bIns="51815" rtlCol="0" anchor="ctr"/>
            <a:lstStyle/>
            <a:p>
              <a:pPr algn="ctr"/>
              <a:endParaRPr kumimoji="1" lang="zh-CN" altLang="en-US" sz="1531"/>
            </a:p>
          </p:txBody>
        </p:sp>
        <p:cxnSp>
          <p:nvCxnSpPr>
            <p:cNvPr id="23" name="直线箭头连接符 155"/>
            <p:cNvCxnSpPr/>
            <p:nvPr/>
          </p:nvCxnSpPr>
          <p:spPr>
            <a:xfrm flipH="1" flipV="1">
              <a:off x="7921875" y="4233319"/>
              <a:ext cx="331074" cy="1"/>
            </a:xfrm>
            <a:prstGeom prst="straightConnector1">
              <a:avLst/>
            </a:prstGeom>
            <a:ln>
              <a:solidFill>
                <a:srgbClr val="000000"/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158"/>
            <p:cNvSpPr txBox="1"/>
            <p:nvPr/>
          </p:nvSpPr>
          <p:spPr>
            <a:xfrm>
              <a:off x="8252953" y="4063210"/>
              <a:ext cx="1361901" cy="340219"/>
            </a:xfrm>
            <a:prstGeom prst="rect">
              <a:avLst/>
            </a:prstGeom>
            <a:noFill/>
          </p:spPr>
          <p:txBody>
            <a:bodyPr wrap="non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Pass reference</a:t>
              </a:r>
              <a:endParaRPr kumimoji="1" lang="zh-CN" altLang="en-US" sz="1531" dirty="0"/>
            </a:p>
          </p:txBody>
        </p:sp>
        <p:cxnSp>
          <p:nvCxnSpPr>
            <p:cNvPr id="25" name="直线箭头连接符 56"/>
            <p:cNvCxnSpPr/>
            <p:nvPr/>
          </p:nvCxnSpPr>
          <p:spPr>
            <a:xfrm flipH="1">
              <a:off x="7913144" y="3989996"/>
              <a:ext cx="339786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118"/>
            <p:cNvSpPr/>
            <p:nvPr/>
          </p:nvSpPr>
          <p:spPr>
            <a:xfrm>
              <a:off x="7884654" y="4446884"/>
              <a:ext cx="430974" cy="40403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3627" tIns="51815" rIns="103627" bIns="51815" spcCol="0" rtlCol="0" anchor="ctr"/>
            <a:lstStyle/>
            <a:p>
              <a:pPr algn="ctr"/>
              <a:r>
                <a:rPr kumimoji="1" lang="en-US" altLang="zh-CN" sz="1531" dirty="0"/>
                <a:t>x</a:t>
              </a:r>
              <a:endParaRPr kumimoji="1" lang="zh-CN" altLang="en-US" sz="1531" dirty="0"/>
            </a:p>
          </p:txBody>
        </p:sp>
        <p:sp>
          <p:nvSpPr>
            <p:cNvPr id="27" name="文本框 119"/>
            <p:cNvSpPr txBox="1"/>
            <p:nvPr/>
          </p:nvSpPr>
          <p:spPr>
            <a:xfrm>
              <a:off x="8252931" y="4446901"/>
              <a:ext cx="692872" cy="340219"/>
            </a:xfrm>
            <a:prstGeom prst="rect">
              <a:avLst/>
            </a:prstGeom>
            <a:noFill/>
          </p:spPr>
          <p:txBody>
            <a:bodyPr wrap="none" lIns="103627" tIns="51815" rIns="103627" bIns="51815" rtlCol="0">
              <a:spAutoFit/>
            </a:bodyPr>
            <a:lstStyle/>
            <a:p>
              <a:r>
                <a:rPr kumimoji="1" lang="en-US" altLang="zh-CN" sz="1531" dirty="0"/>
                <a:t>Step x</a:t>
              </a:r>
              <a:endParaRPr kumimoji="1" lang="zh-CN" altLang="en-US" sz="1531" dirty="0"/>
            </a:p>
          </p:txBody>
        </p:sp>
      </p:grpSp>
      <p:sp>
        <p:nvSpPr>
          <p:cNvPr id="28" name="Oval 27"/>
          <p:cNvSpPr/>
          <p:nvPr/>
        </p:nvSpPr>
        <p:spPr>
          <a:xfrm>
            <a:off x="3234414" y="2157014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Parser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5007394" y="1823934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Split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4988786" y="2428199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Split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7349212" y="1676832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Count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7349210" y="2231497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7349210" y="2821603"/>
            <a:ext cx="1329069" cy="39340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Count</a:t>
            </a:r>
            <a:endParaRPr lang="en-US" dirty="0"/>
          </a:p>
        </p:txBody>
      </p:sp>
      <p:cxnSp>
        <p:nvCxnSpPr>
          <p:cNvPr id="34" name="Straight Arrow Connector 33"/>
          <p:cNvCxnSpPr>
            <a:stCxn id="32" idx="6"/>
            <a:endCxn id="34" idx="2"/>
          </p:cNvCxnSpPr>
          <p:nvPr/>
        </p:nvCxnSpPr>
        <p:spPr>
          <a:xfrm flipV="1">
            <a:off x="4563483" y="2020636"/>
            <a:ext cx="443911" cy="333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6"/>
            <a:endCxn id="35" idx="2"/>
          </p:cNvCxnSpPr>
          <p:nvPr/>
        </p:nvCxnSpPr>
        <p:spPr>
          <a:xfrm>
            <a:off x="4563483" y="2353717"/>
            <a:ext cx="425303" cy="27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6" idx="2"/>
          </p:cNvCxnSpPr>
          <p:nvPr/>
        </p:nvCxnSpPr>
        <p:spPr>
          <a:xfrm flipV="1">
            <a:off x="6336463" y="1873534"/>
            <a:ext cx="1012749" cy="147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4" idx="6"/>
            <a:endCxn id="37" idx="2"/>
          </p:cNvCxnSpPr>
          <p:nvPr/>
        </p:nvCxnSpPr>
        <p:spPr>
          <a:xfrm>
            <a:off x="6336463" y="2020637"/>
            <a:ext cx="1012747" cy="407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6"/>
            <a:endCxn id="38" idx="2"/>
          </p:cNvCxnSpPr>
          <p:nvPr/>
        </p:nvCxnSpPr>
        <p:spPr>
          <a:xfrm>
            <a:off x="6317855" y="2624901"/>
            <a:ext cx="1031355" cy="393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6"/>
            <a:endCxn id="37" idx="2"/>
          </p:cNvCxnSpPr>
          <p:nvPr/>
        </p:nvCxnSpPr>
        <p:spPr>
          <a:xfrm flipV="1">
            <a:off x="6317855" y="2428199"/>
            <a:ext cx="1031355" cy="19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4" idx="6"/>
            <a:endCxn id="38" idx="2"/>
          </p:cNvCxnSpPr>
          <p:nvPr/>
        </p:nvCxnSpPr>
        <p:spPr>
          <a:xfrm>
            <a:off x="6336463" y="2020637"/>
            <a:ext cx="1012747" cy="99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5" idx="6"/>
            <a:endCxn id="36" idx="2"/>
          </p:cNvCxnSpPr>
          <p:nvPr/>
        </p:nvCxnSpPr>
        <p:spPr>
          <a:xfrm flipV="1">
            <a:off x="6317855" y="1873535"/>
            <a:ext cx="1031357" cy="75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线箭头连接符 74"/>
          <p:cNvCxnSpPr>
            <a:stCxn id="28" idx="4"/>
            <a:endCxn id="12" idx="0"/>
          </p:cNvCxnSpPr>
          <p:nvPr/>
        </p:nvCxnSpPr>
        <p:spPr>
          <a:xfrm>
            <a:off x="3898949" y="2550418"/>
            <a:ext cx="82525" cy="134856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线箭头连接符 74"/>
          <p:cNvCxnSpPr>
            <a:stCxn id="30" idx="4"/>
            <a:endCxn id="13" idx="0"/>
          </p:cNvCxnSpPr>
          <p:nvPr/>
        </p:nvCxnSpPr>
        <p:spPr>
          <a:xfrm>
            <a:off x="5653320" y="2821604"/>
            <a:ext cx="1541846" cy="107737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4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Relative location matters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22" y="1600201"/>
            <a:ext cx="8046156" cy="4525963"/>
          </a:xfrm>
        </p:spPr>
      </p:pic>
      <p:sp>
        <p:nvSpPr>
          <p:cNvPr id="5" name="TextBox 4"/>
          <p:cNvSpPr txBox="1"/>
          <p:nvPr/>
        </p:nvSpPr>
        <p:spPr>
          <a:xfrm>
            <a:off x="1981201" y="6211670"/>
            <a:ext cx="322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Sit together in the same CPU socket with its producer</a:t>
            </a:r>
          </a:p>
        </p:txBody>
      </p:sp>
      <p:cxnSp>
        <p:nvCxnSpPr>
          <p:cNvPr id="6" name="Straight Arrow Connector 5"/>
          <p:cNvCxnSpPr>
            <a:endCxn id="5" idx="0"/>
          </p:cNvCxnSpPr>
          <p:nvPr/>
        </p:nvCxnSpPr>
        <p:spPr>
          <a:xfrm flipH="1">
            <a:off x="3595916" y="5997239"/>
            <a:ext cx="1803399" cy="214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12" idx="0"/>
          </p:cNvCxnSpPr>
          <p:nvPr/>
        </p:nvCxnSpPr>
        <p:spPr>
          <a:xfrm>
            <a:off x="6683328" y="6086026"/>
            <a:ext cx="1346703" cy="123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15316" y="6209538"/>
            <a:ext cx="322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1-hop away from its producer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Insufficiency of existing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NUMA is between UMA and distributed environment.</a:t>
            </a:r>
          </a:p>
          <a:p>
            <a:pPr lvl="1">
              <a:buFont typeface="Wingdings" charset="2"/>
              <a:buChar char="Ø"/>
            </a:pPr>
            <a:r>
              <a:rPr lang="en-US" sz="2800" dirty="0" smtClean="0"/>
              <a:t>Cross site (i.e., cross sockets) communication cost </a:t>
            </a:r>
            <a:r>
              <a:rPr lang="en-US" sz="2800" dirty="0" smtClean="0"/>
              <a:t>can be significantly reduced thanks to shared-memory optimizations. </a:t>
            </a:r>
            <a:endParaRPr lang="en-US" sz="2800" dirty="0" smtClean="0"/>
          </a:p>
          <a:p>
            <a:pPr marL="914400" lvl="2" indent="0">
              <a:buNone/>
            </a:pPr>
            <a:r>
              <a:rPr lang="en-US" dirty="0" smtClean="0"/>
              <a:t>-&gt; traffic-minimization heuristics fall short.</a:t>
            </a:r>
          </a:p>
          <a:p>
            <a:pPr lvl="1">
              <a:buFont typeface="Wingdings" charset="2"/>
              <a:buChar char="Ø"/>
            </a:pPr>
            <a:r>
              <a:rPr lang="en-US" sz="2800" dirty="0" smtClean="0"/>
              <a:t>But, it still </a:t>
            </a:r>
            <a:r>
              <a:rPr lang="en-US" sz="2800" dirty="0"/>
              <a:t>creates </a:t>
            </a:r>
            <a:r>
              <a:rPr lang="en-US" sz="2800" dirty="0" smtClean="0"/>
              <a:t>differences among accessing cost to different CPU sockets. </a:t>
            </a:r>
            <a:endParaRPr lang="en-US" sz="2800" dirty="0"/>
          </a:p>
          <a:p>
            <a:pPr marL="914400" lvl="2" indent="0">
              <a:buNone/>
            </a:pPr>
            <a:r>
              <a:rPr lang="en-US" dirty="0" smtClean="0"/>
              <a:t>-&gt; the optimization needs to be </a:t>
            </a:r>
            <a:r>
              <a:rPr lang="en-US" dirty="0" smtClean="0"/>
              <a:t>NUMA-aware to ensure optimality.</a:t>
            </a:r>
            <a:endParaRPr lang="en-US" dirty="0"/>
          </a:p>
          <a:p>
            <a:r>
              <a:rPr lang="en-US" dirty="0" smtClean="0"/>
              <a:t>We propose a novel NUMA-aware optimization framework for DSP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1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 and Location Aware Scheduling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43" y="1956123"/>
            <a:ext cx="9086514" cy="3485424"/>
          </a:xfrm>
        </p:spPr>
      </p:pic>
    </p:spTree>
    <p:extLst>
      <p:ext uri="{BB962C8B-B14F-4D97-AF65-F5344CB8AC3E}">
        <p14:creationId xmlns:p14="http://schemas.microsoft.com/office/powerpoint/2010/main" val="99302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372" y="2701925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14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Impact </a:t>
            </a:r>
            <a:r>
              <a:rPr lang="en-US" altLang="zh-CN" dirty="0" smtClean="0"/>
              <a:t>of </a:t>
            </a:r>
            <a:r>
              <a:rPr lang="en-GB" altLang="zh-CN" dirty="0" smtClean="0"/>
              <a:t>JVM runtime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overhead of JVM runtime contains two major and moderate components. 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 smtClean="0"/>
              <a:t>The </a:t>
            </a:r>
            <a:r>
              <a:rPr lang="en-US" sz="2800" dirty="0"/>
              <a:t>frequent pointer referencing during tuple transmission and the frequent method table search stress TLB.</a:t>
            </a:r>
          </a:p>
          <a:p>
            <a:pPr marL="817024" lvl="2" indent="-457200">
              <a:lnSpc>
                <a:spcPct val="100000"/>
              </a:lnSpc>
              <a:buFont typeface="Wingdings" panose="05000000000000000000" pitchFamily="2" charset="2"/>
              <a:buAutoNum type="alphaLcParenR"/>
            </a:pPr>
            <a:r>
              <a:rPr lang="en-US" sz="2800" dirty="0" smtClean="0"/>
              <a:t>The </a:t>
            </a:r>
            <a:r>
              <a:rPr lang="en-US" sz="2800" dirty="0"/>
              <a:t>overhead of GC in running streaming applications (1~3%) is insignificant.</a:t>
            </a:r>
          </a:p>
          <a:p>
            <a:r>
              <a:rPr lang="en-US" sz="3200" dirty="0" smtClean="0"/>
              <a:t>Enable huge page optimizations to further reduce the TLB overhead.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81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Non-blocking tuple batching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6525"/>
            <a:ext cx="10515600" cy="40162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479390"/>
              </p:ext>
            </p:extLst>
          </p:nvPr>
        </p:nvGraphicFramePr>
        <p:xfrm>
          <a:off x="2286804" y="2499219"/>
          <a:ext cx="7672982" cy="282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5" name="Acrobat Document" r:id="rId4" imgW="9144000" imgH="3362325" progId="AcroExch.Document.11">
                  <p:embed/>
                </p:oleObj>
              </mc:Choice>
              <mc:Fallback>
                <p:oleObj name="Acrobat Document" r:id="rId4" imgW="9144000" imgH="3362325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804" y="2499219"/>
                        <a:ext cx="7672982" cy="2821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 flipH="1" flipV="1">
            <a:off x="2650685" y="4165788"/>
            <a:ext cx="542334" cy="35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H="1" flipV="1">
            <a:off x="2650685" y="4651351"/>
            <a:ext cx="542334" cy="3594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flipH="1" flipV="1">
            <a:off x="2650685" y="5136914"/>
            <a:ext cx="542334" cy="3594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flipH="1" flipV="1">
            <a:off x="2650685" y="5622477"/>
            <a:ext cx="542334" cy="3594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41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0.17097 -0.209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42" y="-1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0.16875 -0.161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38" y="-807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0023 L 0.16875 -0.1155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38" y="-576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-3.33333E-6 -0.2122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Non-blocking tuple batching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6525"/>
            <a:ext cx="10515600" cy="4016205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Revisiting the Design of Data Stream Processing Systems on Multi-Core Processors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2668772" y="1821285"/>
          <a:ext cx="7673975" cy="282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Acrobat Document" r:id="rId4" imgW="9144000" imgH="3362325" progId="AcroExch.Document.DC">
                  <p:embed/>
                </p:oleObj>
              </mc:Choice>
              <mc:Fallback>
                <p:oleObj name="Acrobat Document" r:id="rId4" imgW="9144000" imgH="3362325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8772" y="1821285"/>
                        <a:ext cx="7673975" cy="2820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 flipH="1" flipV="1">
            <a:off x="3032922" y="3487649"/>
            <a:ext cx="542334" cy="359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H="1" flipV="1">
            <a:off x="3032922" y="3973212"/>
            <a:ext cx="542334" cy="3594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flipH="1" flipV="1">
            <a:off x="3032922" y="4458775"/>
            <a:ext cx="542334" cy="3594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flipH="1" flipV="1">
            <a:off x="3032922" y="4886298"/>
            <a:ext cx="542334" cy="3594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761755" y="3573996"/>
            <a:ext cx="1084668" cy="360971"/>
            <a:chOff x="295866" y="4255193"/>
            <a:chExt cx="1084668" cy="360971"/>
          </a:xfrm>
        </p:grpSpPr>
        <p:sp>
          <p:nvSpPr>
            <p:cNvPr id="13" name="Rectangle 12"/>
            <p:cNvSpPr/>
            <p:nvPr/>
          </p:nvSpPr>
          <p:spPr>
            <a:xfrm flipH="1" flipV="1">
              <a:off x="295866" y="4256710"/>
              <a:ext cx="542334" cy="3594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flipH="1" flipV="1">
              <a:off x="838200" y="4255193"/>
              <a:ext cx="542334" cy="35945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95866" y="4255193"/>
              <a:ext cx="1084667" cy="3594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09143" y="5201733"/>
            <a:ext cx="7678057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Re-generating</a:t>
            </a:r>
            <a:r>
              <a:rPr lang="en-US" altLang="zh-CN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the hash </a:t>
            </a:r>
            <a:r>
              <a:rPr lang="en-US" altLang="zh-CN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value of the keys in each tuple, and combines whenever possible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743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0.17318 -0.2282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59" y="-1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Evaluate non-blocking tuple batching on Storm on a single socket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1415504" y="1834763"/>
          <a:ext cx="44196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6096000" y="1825625"/>
          <a:ext cx="4495800" cy="3268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96704" y="5189825"/>
            <a:ext cx="170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(a) Throughput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389753" y="5189825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(b) Latency per output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581275" y="5726921"/>
            <a:ext cx="7029450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trade-off between the throughput and latency</a:t>
            </a:r>
          </a:p>
        </p:txBody>
      </p:sp>
    </p:spTree>
    <p:extLst>
      <p:ext uri="{BB962C8B-B14F-4D97-AF65-F5344CB8AC3E}">
        <p14:creationId xmlns:p14="http://schemas.microsoft.com/office/powerpoint/2010/main" val="329155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 smtClean="0"/>
              <a:t>NUMA-Aware Executor Placement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200" dirty="0"/>
                  <a:t>Motivation: </a:t>
                </a:r>
                <a:r>
                  <a:rPr lang="en-US" altLang="zh-CN" sz="3200" dirty="0"/>
                  <a:t>to reduce remote memory </a:t>
                </a:r>
                <a:r>
                  <a:rPr lang="en-GB" altLang="zh-CN" sz="3200" dirty="0"/>
                  <a:t>accesses</a:t>
                </a:r>
                <a:endParaRPr lang="zh-CN" altLang="en-US" sz="3200" dirty="0"/>
              </a:p>
              <a:p>
                <a:r>
                  <a:rPr lang="en-US" altLang="zh-CN" sz="3200" dirty="0" smtClean="0"/>
                  <a:t>Strategically map executors into different CPU sockets</a:t>
                </a:r>
              </a:p>
              <a:p>
                <a:r>
                  <a:rPr lang="en-US" altLang="zh-CN" sz="3200" dirty="0" smtClean="0"/>
                  <a:t>The formulated optimization problem is mapped to </a:t>
                </a:r>
                <a:r>
                  <a:rPr lang="en-GB" altLang="zh-CN" sz="3200" dirty="0"/>
                  <a:t>the minimum k-cut </a:t>
                </a:r>
                <a:r>
                  <a:rPr lang="en-GB" altLang="zh-CN" sz="3200" dirty="0" smtClean="0"/>
                  <a:t>problem</a:t>
                </a:r>
              </a:p>
              <a:p>
                <a:r>
                  <a:rPr lang="en-US" altLang="zh-CN" sz="3200" dirty="0" smtClean="0"/>
                  <a:t>From </a:t>
                </a:r>
                <a:r>
                  <a:rPr lang="en-US" altLang="zh-CN" sz="3200" dirty="0"/>
                  <a:t>the results optimized </a:t>
                </a:r>
                <a:r>
                  <a:rPr lang="en-US" altLang="zh-CN" sz="3200" dirty="0" smtClean="0"/>
                  <a:t>for different </a:t>
                </a:r>
                <a:r>
                  <a:rPr lang="en-US" altLang="zh-CN" sz="3200" dirty="0"/>
                  <a:t>k </a:t>
                </a:r>
                <a:r>
                  <a:rPr lang="en-US" altLang="zh-CN" sz="3200" dirty="0" smtClean="0"/>
                  <a:t>values, we </a:t>
                </a:r>
                <a:r>
                  <a:rPr lang="en-US" altLang="zh-CN" sz="3200" dirty="0"/>
                  <a:t>test and select the plan with the </a:t>
                </a:r>
                <a:r>
                  <a:rPr lang="en-US" altLang="zh-CN" sz="3200" dirty="0" smtClean="0"/>
                  <a:t>best </a:t>
                </a:r>
                <a:r>
                  <a:rPr lang="en-GB" altLang="zh-CN" sz="3200" dirty="0" smtClean="0"/>
                  <a:t>performance</a:t>
                </a:r>
              </a:p>
              <a:p>
                <a:pPr marL="800100" lvl="1" indent="-4572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𝑛𝑢𝑚𝑏𝑒𝑟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𝐶𝑃𝑈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𝑠𝑜𝑐𝑘𝑒𝑡𝑠</m:t>
                    </m:r>
                  </m:oMath>
                </a14:m>
                <a:endParaRPr lang="zh-CN" alt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0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80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 NUMA-aware executor placement on Storm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1949912" y="1690687"/>
          <a:ext cx="7909385" cy="37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3293796" y="5668419"/>
            <a:ext cx="5221615" cy="46166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Improve up </a:t>
            </a:r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to 32</a:t>
            </a:r>
            <a:r>
              <a:rPr lang="en-US" sz="2400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% on four sockets</a:t>
            </a:r>
            <a:endParaRPr lang="en-US" sz="2400" dirty="0">
              <a:solidFill>
                <a:srgbClr val="FF0000"/>
              </a:solidFill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8330381" y="2728452"/>
            <a:ext cx="560438" cy="5456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09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Impact of m</a:t>
            </a:r>
            <a:r>
              <a:rPr lang="en-US" altLang="en-US" dirty="0" smtClean="0"/>
              <a:t>essage passing and stream partitioning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Revisiting the Design of Data Stream Processing Systems on Multi-Core Processors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8FB24-4664-4497-A38E-DB90968F7542}" type="slidenum">
              <a:rPr lang="en-US" smtClean="0"/>
              <a:t>52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46987" y="4849875"/>
            <a:ext cx="46064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/>
              <a:t>Number of threads of </a:t>
            </a:r>
            <a:r>
              <a:rPr lang="en-US" altLang="zh-CN" sz="1600" b="1" dirty="0" err="1"/>
              <a:t>MapMatcher</a:t>
            </a:r>
            <a:r>
              <a:rPr lang="en-US" altLang="zh-CN" sz="1600" b="1" dirty="0"/>
              <a:t> bolt in TM</a:t>
            </a:r>
            <a:endParaRPr lang="zh-CN" altLang="en-US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335467" y="5362450"/>
            <a:ext cx="7029450" cy="830997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The current design of data parallelism has overlooked the NUMA effect</a:t>
            </a:r>
          </a:p>
        </p:txBody>
      </p: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147915" y="1825625"/>
          <a:ext cx="9404555" cy="30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8153400" y="4100816"/>
            <a:ext cx="3830552" cy="920462"/>
            <a:chOff x="8153400" y="4100816"/>
            <a:chExt cx="3830552" cy="920462"/>
          </a:xfrm>
        </p:grpSpPr>
        <p:cxnSp>
          <p:nvCxnSpPr>
            <p:cNvPr id="12" name="Straight Arrow Connector 11"/>
            <p:cNvCxnSpPr>
              <a:endCxn id="13" idx="1"/>
            </p:cNvCxnSpPr>
            <p:nvPr/>
          </p:nvCxnSpPr>
          <p:spPr>
            <a:xfrm>
              <a:off x="8153400" y="4100816"/>
              <a:ext cx="1129556" cy="72040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9282956" y="4621168"/>
              <a:ext cx="2700996" cy="4001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Up to 3 times difference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050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6797</TotalTime>
  <Words>5325</Words>
  <Application>Microsoft Macintosh PowerPoint</Application>
  <PresentationFormat>Widescreen</PresentationFormat>
  <Paragraphs>638</Paragraphs>
  <Slides>52</Slides>
  <Notes>48</Notes>
  <HiddenSlides>10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Calibri</vt:lpstr>
      <vt:lpstr>Calibri Light</vt:lpstr>
      <vt:lpstr>Cambria Math</vt:lpstr>
      <vt:lpstr>Comic Sans MS</vt:lpstr>
      <vt:lpstr>Mangal</vt:lpstr>
      <vt:lpstr>ＭＳ Ｐゴシック</vt:lpstr>
      <vt:lpstr>NimbusRomNo9L-Regu</vt:lpstr>
      <vt:lpstr>NimbusRomNo9L-ReguItal</vt:lpstr>
      <vt:lpstr>Wingdings</vt:lpstr>
      <vt:lpstr>宋体</vt:lpstr>
      <vt:lpstr>Arial</vt:lpstr>
      <vt:lpstr>Office Theme</vt:lpstr>
      <vt:lpstr>Acrobat Document</vt:lpstr>
      <vt:lpstr>Revisiting the Design of Data Stream Processing Systems on Multi-Core Processors</vt:lpstr>
      <vt:lpstr>Outline</vt:lpstr>
      <vt:lpstr>Outline</vt:lpstr>
      <vt:lpstr>The trend of CPU development</vt:lpstr>
      <vt:lpstr>The speed gap between memory and CPU is widening</vt:lpstr>
      <vt:lpstr>From UMA to NUMA</vt:lpstr>
      <vt:lpstr>An overview of  one of the state-of-the-art NUMA server</vt:lpstr>
      <vt:lpstr>Scale-up architecture is complex</vt:lpstr>
      <vt:lpstr>NUMA servers</vt:lpstr>
      <vt:lpstr>Importance of data stream processing </vt:lpstr>
      <vt:lpstr>Some representative stream processing applications/areas</vt:lpstr>
      <vt:lpstr>A concert example: NaviSite, Event Log Monitoring</vt:lpstr>
      <vt:lpstr>Storm 101: A Word Count Example</vt:lpstr>
      <vt:lpstr>Outline</vt:lpstr>
      <vt:lpstr>Common designs of recent DSP systems</vt:lpstr>
      <vt:lpstr>Design aspect 1: Pipelined processing with message passing</vt:lpstr>
      <vt:lpstr>Design aspect 1: Pipelined processing with message passing</vt:lpstr>
      <vt:lpstr>Design aspect 2: On-demand data parallelism</vt:lpstr>
      <vt:lpstr>Design aspect 3: JVM based implementation</vt:lpstr>
      <vt:lpstr>Goals &amp; Contributions</vt:lpstr>
      <vt:lpstr>Benchmark design</vt:lpstr>
      <vt:lpstr>Benchmark</vt:lpstr>
      <vt:lpstr>Profiling Outline</vt:lpstr>
      <vt:lpstr>Scalability on varying number of cores/sockets</vt:lpstr>
      <vt:lpstr>Profiling Outline</vt:lpstr>
      <vt:lpstr>Are there any problems when running on a single socket?</vt:lpstr>
      <vt:lpstr>Are there any problems when running on a single socket?</vt:lpstr>
      <vt:lpstr>Profiling Outline</vt:lpstr>
      <vt:lpstr>Impact of pipelined and data parallel processing model</vt:lpstr>
      <vt:lpstr>Instruction footprint between two consecutive invocations of the same function</vt:lpstr>
      <vt:lpstr>Impact of message passing and stream partitioning</vt:lpstr>
      <vt:lpstr>Key Findings (recap)</vt:lpstr>
      <vt:lpstr>Towards more efficient DSP systems</vt:lpstr>
      <vt:lpstr>Evaluate combining both techniques on Storm</vt:lpstr>
      <vt:lpstr>Profiling study summary</vt:lpstr>
      <vt:lpstr>Outline</vt:lpstr>
      <vt:lpstr>BriskStream: NUMA-aware Data Stream Processing</vt:lpstr>
      <vt:lpstr>The need of a ``scale-up” DSP system</vt:lpstr>
      <vt:lpstr>Data Stream Processing on NUMA servers</vt:lpstr>
      <vt:lpstr>Optimize Data Stream Processing on NUMA servers</vt:lpstr>
      <vt:lpstr>Message passing</vt:lpstr>
      <vt:lpstr>Relative location matters</vt:lpstr>
      <vt:lpstr>Insufficiency of existing approaches</vt:lpstr>
      <vt:lpstr>Replication and Location Aware Scheduling</vt:lpstr>
      <vt:lpstr>Backup Slides</vt:lpstr>
      <vt:lpstr>Impact of JVM runtime environment</vt:lpstr>
      <vt:lpstr>Non-blocking tuple batching</vt:lpstr>
      <vt:lpstr>Non-blocking tuple batching</vt:lpstr>
      <vt:lpstr>Evaluate non-blocking tuple batching on Storm on a single socket</vt:lpstr>
      <vt:lpstr>NUMA-Aware Executor Placement</vt:lpstr>
      <vt:lpstr>Evaluation NUMA-aware executor placement on Storm</vt:lpstr>
      <vt:lpstr>Impact of message passing and stream partitioning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Microsoft Office User</cp:lastModifiedBy>
  <cp:revision>297</cp:revision>
  <cp:lastPrinted>2017-04-13T07:01:24Z</cp:lastPrinted>
  <dcterms:created xsi:type="dcterms:W3CDTF">2017-03-30T09:05:51Z</dcterms:created>
  <dcterms:modified xsi:type="dcterms:W3CDTF">2018-01-10T04:18:10Z</dcterms:modified>
</cp:coreProperties>
</file>