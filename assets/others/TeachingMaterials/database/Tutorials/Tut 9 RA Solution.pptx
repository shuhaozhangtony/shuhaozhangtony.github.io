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9" r:id="rId3"/>
    <p:sldId id="300" r:id="rId4"/>
    <p:sldId id="307" r:id="rId5"/>
    <p:sldId id="301" r:id="rId6"/>
    <p:sldId id="302" r:id="rId7"/>
    <p:sldId id="303" r:id="rId8"/>
    <p:sldId id="304" r:id="rId9"/>
    <p:sldId id="305" r:id="rId10"/>
    <p:sldId id="310" r:id="rId11"/>
    <p:sldId id="311" r:id="rId12"/>
    <p:sldId id="312" r:id="rId13"/>
    <p:sldId id="306" r:id="rId14"/>
  </p:sldIdLst>
  <p:sldSz cx="9144000" cy="6858000" type="screen4x3"/>
  <p:notesSz cx="6669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00FF"/>
    <a:srgbClr val="CC3300"/>
    <a:srgbClr val="FFFFCC"/>
    <a:srgbClr val="FF9900"/>
    <a:srgbClr val="33CC33"/>
    <a:srgbClr val="66FF33"/>
    <a:srgbClr val="CC00CC"/>
    <a:srgbClr val="00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81" autoAdjust="0"/>
    <p:restoredTop sz="81764" autoAdjust="0"/>
  </p:normalViewPr>
  <p:slideViewPr>
    <p:cSldViewPr>
      <p:cViewPr varScale="1">
        <p:scale>
          <a:sx n="111" d="100"/>
          <a:sy n="111" d="100"/>
        </p:scale>
        <p:origin x="1296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3" y="0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009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3" y="9428009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3" y="0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2950"/>
            <a:ext cx="4960938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153"/>
            <a:ext cx="533527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009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3" y="9428009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>
                <a:latin typeface="Calibri" pitchFamily="34" charset="0"/>
                <a:cs typeface="Iskoola Pota" pitchFamily="34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Calibri" pitchFamily="34" charset="0"/>
                <a:cs typeface="Iskoola Pota" pitchFamily="34" charset="0"/>
              </a:defRPr>
            </a:lvl1pPr>
          </a:lstStyle>
          <a:p>
            <a:r>
              <a:rPr lang="en-US" altLang="zh-CN" dirty="0" smtClean="0"/>
              <a:t>Click to edit Master subtitle style</a:t>
            </a:r>
            <a:endParaRPr lang="en-US" altLang="zh-CN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Calibri" pitchFamily="34" charset="0"/>
              <a:cs typeface="Iskoola Pot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2019/7/19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Calibri" pitchFamily="34" charset="0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Calibri" pitchFamily="34" charset="0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800">
          <a:solidFill>
            <a:schemeClr val="tx1"/>
          </a:solidFill>
          <a:latin typeface="Calibri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Calibri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200">
          <a:solidFill>
            <a:schemeClr val="tx1"/>
          </a:solidFill>
          <a:latin typeface="Calibri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 smtClean="0"/>
              <a:t>CS2102 Database </a:t>
            </a:r>
            <a:r>
              <a:rPr lang="en-US" altLang="zh-CN" sz="4400" dirty="0" smtClean="0"/>
              <a:t>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1EDD2B0-3293-4933-BB02-8571901C8670}" type="slidenum">
              <a:rPr lang="en-US" sz="1600">
                <a:solidFill>
                  <a:srgbClr val="FFFFFF"/>
                </a:solidFill>
                <a:latin typeface="Arial" charset="0"/>
              </a:rPr>
              <a:pPr/>
              <a:t>2</a:t>
            </a:fld>
            <a:endParaRPr lang="en-US" sz="16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304800" y="152400"/>
            <a:ext cx="25539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3200" b="1" dirty="0"/>
              <a:t>Question </a:t>
            </a:r>
            <a:r>
              <a:rPr lang="en-US" altLang="zh-CN" sz="3200" b="1" dirty="0" smtClean="0"/>
              <a:t>1 (</a:t>
            </a:r>
            <a:r>
              <a:rPr lang="en-US" altLang="zh-CN" sz="3200" b="1" dirty="0" err="1" smtClean="0"/>
              <a:t>i</a:t>
            </a:r>
            <a:r>
              <a:rPr lang="en-US" altLang="zh-CN" sz="3200" b="1" dirty="0" smtClean="0"/>
              <a:t>)</a:t>
            </a:r>
            <a:endParaRPr lang="en-US" sz="3200" b="1" dirty="0"/>
          </a:p>
        </p:txBody>
      </p:sp>
      <p:sp>
        <p:nvSpPr>
          <p:cNvPr id="6148" name="Text Box 6"/>
          <p:cNvSpPr txBox="1">
            <a:spLocks noChangeArrowheads="1"/>
          </p:cNvSpPr>
          <p:nvPr/>
        </p:nvSpPr>
        <p:spPr bwMode="auto">
          <a:xfrm>
            <a:off x="762000" y="4800600"/>
            <a:ext cx="7391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/>
              <a:t>Find names of members who have loaned books published before 1960.</a:t>
            </a:r>
          </a:p>
        </p:txBody>
      </p:sp>
      <p:sp>
        <p:nvSpPr>
          <p:cNvPr id="6149" name="Text Box 8"/>
          <p:cNvSpPr txBox="1">
            <a:spLocks noChangeArrowheads="1"/>
          </p:cNvSpPr>
          <p:nvPr/>
        </p:nvSpPr>
        <p:spPr bwMode="auto">
          <a:xfrm>
            <a:off x="304800" y="908720"/>
            <a:ext cx="79248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Aft>
                <a:spcPct val="50000"/>
              </a:spcAft>
            </a:pPr>
            <a:r>
              <a:rPr lang="en-US" dirty="0"/>
              <a:t>Library database schema:</a:t>
            </a:r>
          </a:p>
          <a:p>
            <a:r>
              <a:rPr lang="en-US" dirty="0"/>
              <a:t>	LIB-MEMBER(</a:t>
            </a:r>
            <a:r>
              <a:rPr lang="en-US" u="sng" dirty="0"/>
              <a:t>ID</a:t>
            </a:r>
            <a:r>
              <a:rPr lang="en-US" dirty="0"/>
              <a:t>, name, age)</a:t>
            </a:r>
          </a:p>
          <a:p>
            <a:r>
              <a:rPr lang="en-US" dirty="0"/>
              <a:t>	BOOK(</a:t>
            </a:r>
            <a:r>
              <a:rPr lang="en-US" u="sng" dirty="0"/>
              <a:t>serial#</a:t>
            </a:r>
            <a:r>
              <a:rPr lang="en-US" dirty="0"/>
              <a:t>, title, author, year-of-publication)</a:t>
            </a:r>
          </a:p>
          <a:p>
            <a:r>
              <a:rPr lang="en-US" dirty="0"/>
              <a:t>	LOAN(</a:t>
            </a:r>
            <a:r>
              <a:rPr lang="en-US" u="sng" dirty="0"/>
              <a:t>ID</a:t>
            </a:r>
            <a:r>
              <a:rPr lang="en-US" dirty="0"/>
              <a:t>, </a:t>
            </a:r>
            <a:r>
              <a:rPr lang="en-US" u="sng" dirty="0"/>
              <a:t>serial#</a:t>
            </a:r>
            <a:r>
              <a:rPr lang="en-US" dirty="0"/>
              <a:t>, date-due)</a:t>
            </a:r>
          </a:p>
          <a:p>
            <a:endParaRPr lang="en-US" dirty="0"/>
          </a:p>
        </p:txBody>
      </p:sp>
      <p:sp>
        <p:nvSpPr>
          <p:cNvPr id="6150" name="Text Box 11"/>
          <p:cNvSpPr txBox="1">
            <a:spLocks noChangeArrowheads="1"/>
          </p:cNvSpPr>
          <p:nvPr/>
        </p:nvSpPr>
        <p:spPr bwMode="auto">
          <a:xfrm>
            <a:off x="288925" y="2924944"/>
            <a:ext cx="59864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romanLcParenBoth"/>
            </a:pPr>
            <a:r>
              <a:rPr lang="en-US" dirty="0">
                <a:sym typeface="Symbol" pitchFamily="18" charset="2"/>
              </a:rPr>
              <a:t></a:t>
            </a:r>
            <a:r>
              <a:rPr lang="en-US" baseline="-25000" dirty="0"/>
              <a:t>name</a:t>
            </a:r>
            <a:r>
              <a:rPr lang="en-US" dirty="0"/>
              <a:t>(</a:t>
            </a:r>
            <a:r>
              <a:rPr lang="en-US" dirty="0">
                <a:sym typeface="Symbol" pitchFamily="18" charset="2"/>
              </a:rPr>
              <a:t></a:t>
            </a:r>
            <a:r>
              <a:rPr lang="en-US" baseline="-25000" dirty="0"/>
              <a:t>year-of-publication&lt;1960</a:t>
            </a:r>
            <a:r>
              <a:rPr lang="en-US" dirty="0"/>
              <a:t>BOOK       LOAN</a:t>
            </a:r>
          </a:p>
          <a:p>
            <a:r>
              <a:rPr lang="en-US" dirty="0"/>
              <a:t>	       LIB-MEMBER)</a:t>
            </a:r>
          </a:p>
        </p:txBody>
      </p:sp>
      <p:grpSp>
        <p:nvGrpSpPr>
          <p:cNvPr id="6151" name="Group 26"/>
          <p:cNvGrpSpPr>
            <a:grpSpLocks/>
          </p:cNvGrpSpPr>
          <p:nvPr/>
        </p:nvGrpSpPr>
        <p:grpSpPr bwMode="auto">
          <a:xfrm>
            <a:off x="4876800" y="3094112"/>
            <a:ext cx="304800" cy="152400"/>
            <a:chOff x="1296" y="3696"/>
            <a:chExt cx="240" cy="96"/>
          </a:xfrm>
        </p:grpSpPr>
        <p:sp>
          <p:nvSpPr>
            <p:cNvPr id="6157" name="Line 27"/>
            <p:cNvSpPr>
              <a:spLocks noChangeShapeType="1"/>
            </p:cNvSpPr>
            <p:nvPr/>
          </p:nvSpPr>
          <p:spPr bwMode="auto">
            <a:xfrm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6158" name="Line 28"/>
            <p:cNvSpPr>
              <a:spLocks noChangeShapeType="1"/>
            </p:cNvSpPr>
            <p:nvPr/>
          </p:nvSpPr>
          <p:spPr bwMode="auto">
            <a:xfrm flipV="1">
              <a:off x="153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6159" name="Line 29"/>
            <p:cNvSpPr>
              <a:spLocks noChangeShapeType="1"/>
            </p:cNvSpPr>
            <p:nvPr/>
          </p:nvSpPr>
          <p:spPr bwMode="auto">
            <a:xfrm flipH="1"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6160" name="Line 30"/>
            <p:cNvSpPr>
              <a:spLocks noChangeShapeType="1"/>
            </p:cNvSpPr>
            <p:nvPr/>
          </p:nvSpPr>
          <p:spPr bwMode="auto">
            <a:xfrm flipV="1">
              <a:off x="129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152" name="Group 26"/>
          <p:cNvGrpSpPr>
            <a:grpSpLocks/>
          </p:cNvGrpSpPr>
          <p:nvPr/>
        </p:nvGrpSpPr>
        <p:grpSpPr bwMode="auto">
          <a:xfrm>
            <a:off x="990600" y="3475112"/>
            <a:ext cx="304800" cy="152400"/>
            <a:chOff x="1296" y="3696"/>
            <a:chExt cx="240" cy="96"/>
          </a:xfrm>
        </p:grpSpPr>
        <p:sp>
          <p:nvSpPr>
            <p:cNvPr id="6153" name="Line 27"/>
            <p:cNvSpPr>
              <a:spLocks noChangeShapeType="1"/>
            </p:cNvSpPr>
            <p:nvPr/>
          </p:nvSpPr>
          <p:spPr bwMode="auto">
            <a:xfrm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6154" name="Line 28"/>
            <p:cNvSpPr>
              <a:spLocks noChangeShapeType="1"/>
            </p:cNvSpPr>
            <p:nvPr/>
          </p:nvSpPr>
          <p:spPr bwMode="auto">
            <a:xfrm flipV="1">
              <a:off x="153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6155" name="Line 29"/>
            <p:cNvSpPr>
              <a:spLocks noChangeShapeType="1"/>
            </p:cNvSpPr>
            <p:nvPr/>
          </p:nvSpPr>
          <p:spPr bwMode="auto">
            <a:xfrm flipH="1"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6156" name="Line 30"/>
            <p:cNvSpPr>
              <a:spLocks noChangeShapeType="1"/>
            </p:cNvSpPr>
            <p:nvPr/>
          </p:nvSpPr>
          <p:spPr bwMode="auto">
            <a:xfrm flipV="1">
              <a:off x="129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37089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561C30C-98DB-4975-BD2C-8931CA1442FB}" type="slidenum">
              <a:rPr lang="en-US" sz="1600">
                <a:solidFill>
                  <a:srgbClr val="FFFFFF"/>
                </a:solidFill>
                <a:latin typeface="Arial" charset="0"/>
              </a:rPr>
              <a:pPr/>
              <a:t>3</a:t>
            </a:fld>
            <a:endParaRPr lang="en-US" sz="16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26677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3200" b="1" dirty="0" smtClean="0"/>
              <a:t>Question 1 (ii)</a:t>
            </a:r>
            <a:endParaRPr lang="en-US" sz="3200" b="1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838200" y="4587875"/>
            <a:ext cx="7086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/>
              <a:t>Find IDs of members under the age of 21 who have not loaned a book by author “J.K.</a:t>
            </a:r>
            <a:r>
              <a:rPr lang="en-US" noProof="1"/>
              <a:t>Rowling</a:t>
            </a:r>
            <a:r>
              <a:rPr lang="en-US" dirty="0"/>
              <a:t>”.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288925" y="2886769"/>
            <a:ext cx="8550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/>
              <a:t>(ii)  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-25000"/>
              <a:t>ID</a:t>
            </a:r>
            <a:r>
              <a:rPr lang="en-US"/>
              <a:t>(</a:t>
            </a:r>
            <a:r>
              <a:rPr lang="en-US">
                <a:sym typeface="Symbol" pitchFamily="18" charset="2"/>
              </a:rPr>
              <a:t></a:t>
            </a:r>
            <a:r>
              <a:rPr lang="en-US" baseline="-25000"/>
              <a:t>age&lt;21</a:t>
            </a:r>
            <a:r>
              <a:rPr lang="en-US"/>
              <a:t>LIB-MEMBER) – </a:t>
            </a:r>
          </a:p>
          <a:p>
            <a:r>
              <a:rPr lang="en-US">
                <a:sym typeface="Symbol" pitchFamily="18" charset="2"/>
              </a:rPr>
              <a:t>       </a:t>
            </a:r>
            <a:r>
              <a:rPr lang="en-US" baseline="-25000"/>
              <a:t>ID</a:t>
            </a:r>
            <a:r>
              <a:rPr lang="en-US"/>
              <a:t>(</a:t>
            </a:r>
            <a:r>
              <a:rPr lang="en-US">
                <a:sym typeface="Symbol" pitchFamily="18" charset="2"/>
              </a:rPr>
              <a:t></a:t>
            </a:r>
            <a:r>
              <a:rPr lang="en-US" baseline="-25000"/>
              <a:t>author = "J.K.</a:t>
            </a:r>
            <a:r>
              <a:rPr lang="en-US" baseline="-25000" noProof="1"/>
              <a:t>Rowling</a:t>
            </a:r>
            <a:r>
              <a:rPr lang="en-US" baseline="-25000"/>
              <a:t>" </a:t>
            </a:r>
            <a:r>
              <a:rPr lang="en-US"/>
              <a:t>BOOK       LOAN)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04800" y="908720"/>
            <a:ext cx="7034213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Aft>
                <a:spcPct val="50000"/>
              </a:spcAft>
            </a:pPr>
            <a:r>
              <a:rPr lang="en-US"/>
              <a:t>Library database schema:</a:t>
            </a:r>
          </a:p>
          <a:p>
            <a:r>
              <a:rPr lang="en-US"/>
              <a:t>	LIB-MEMBER(</a:t>
            </a:r>
            <a:r>
              <a:rPr lang="en-US" u="sng"/>
              <a:t>ID</a:t>
            </a:r>
            <a:r>
              <a:rPr lang="en-US"/>
              <a:t>, name, age)</a:t>
            </a:r>
          </a:p>
          <a:p>
            <a:r>
              <a:rPr lang="en-US"/>
              <a:t>	BOOK(</a:t>
            </a:r>
            <a:r>
              <a:rPr lang="en-US" u="sng"/>
              <a:t>serial#</a:t>
            </a:r>
            <a:r>
              <a:rPr lang="en-US"/>
              <a:t>, title, author, year-of-publication)</a:t>
            </a:r>
          </a:p>
          <a:p>
            <a:r>
              <a:rPr lang="en-US"/>
              <a:t>	LOAN(</a:t>
            </a:r>
            <a:r>
              <a:rPr lang="en-US" u="sng"/>
              <a:t>ID</a:t>
            </a:r>
            <a:r>
              <a:rPr lang="en-US"/>
              <a:t>, </a:t>
            </a:r>
            <a:r>
              <a:rPr lang="en-US" u="sng"/>
              <a:t>serial#</a:t>
            </a:r>
            <a:r>
              <a:rPr lang="en-US"/>
              <a:t>, date-due)</a:t>
            </a:r>
          </a:p>
        </p:txBody>
      </p:sp>
      <p:grpSp>
        <p:nvGrpSpPr>
          <p:cNvPr id="7175" name="Group 26"/>
          <p:cNvGrpSpPr>
            <a:grpSpLocks/>
          </p:cNvGrpSpPr>
          <p:nvPr/>
        </p:nvGrpSpPr>
        <p:grpSpPr bwMode="auto">
          <a:xfrm>
            <a:off x="4495800" y="3420169"/>
            <a:ext cx="304800" cy="152400"/>
            <a:chOff x="1296" y="3696"/>
            <a:chExt cx="240" cy="96"/>
          </a:xfrm>
        </p:grpSpPr>
        <p:sp>
          <p:nvSpPr>
            <p:cNvPr id="7176" name="Line 27"/>
            <p:cNvSpPr>
              <a:spLocks noChangeShapeType="1"/>
            </p:cNvSpPr>
            <p:nvPr/>
          </p:nvSpPr>
          <p:spPr bwMode="auto">
            <a:xfrm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77" name="Line 28"/>
            <p:cNvSpPr>
              <a:spLocks noChangeShapeType="1"/>
            </p:cNvSpPr>
            <p:nvPr/>
          </p:nvSpPr>
          <p:spPr bwMode="auto">
            <a:xfrm flipV="1">
              <a:off x="153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78" name="Line 29"/>
            <p:cNvSpPr>
              <a:spLocks noChangeShapeType="1"/>
            </p:cNvSpPr>
            <p:nvPr/>
          </p:nvSpPr>
          <p:spPr bwMode="auto">
            <a:xfrm flipH="1"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79" name="Line 30"/>
            <p:cNvSpPr>
              <a:spLocks noChangeShapeType="1"/>
            </p:cNvSpPr>
            <p:nvPr/>
          </p:nvSpPr>
          <p:spPr bwMode="auto">
            <a:xfrm flipV="1">
              <a:off x="129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3426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405C813-963E-4C8E-BA98-69A6C0869ABE}" type="slidenum">
              <a:rPr lang="en-US" sz="1600">
                <a:solidFill>
                  <a:srgbClr val="FFFFFF"/>
                </a:solidFill>
                <a:latin typeface="Arial" charset="0"/>
              </a:rPr>
              <a:pPr/>
              <a:t>4</a:t>
            </a:fld>
            <a:endParaRPr lang="en-US" sz="16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27815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3200" b="1" dirty="0"/>
              <a:t>Question 1 (</a:t>
            </a:r>
            <a:r>
              <a:rPr lang="en-US" altLang="zh-CN" sz="3200" b="1" dirty="0" smtClean="0"/>
              <a:t>iii)</a:t>
            </a:r>
            <a:endParaRPr lang="en-US" sz="3200" b="1" dirty="0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15913" y="2852936"/>
            <a:ext cx="82942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(iii)  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400" baseline="-25000" dirty="0"/>
              <a:t>name</a:t>
            </a:r>
            <a:r>
              <a:rPr lang="en-US" sz="2400" dirty="0"/>
              <a:t>((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400" baseline="-25000" dirty="0" err="1"/>
              <a:t>ID,serial#</a:t>
            </a:r>
            <a:r>
              <a:rPr lang="en-US" sz="2400" dirty="0" err="1"/>
              <a:t>LOAN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 </a:t>
            </a:r>
            <a:r>
              <a:rPr lang="en-US" sz="2400" baseline="-25000" dirty="0"/>
              <a:t>serial#</a:t>
            </a:r>
            <a:r>
              <a:rPr lang="en-US" sz="2400" dirty="0">
                <a:sym typeface="Symbol" pitchFamily="18" charset="2"/>
              </a:rPr>
              <a:t>(</a:t>
            </a:r>
            <a:r>
              <a:rPr lang="en-US" sz="2400" baseline="-25000" dirty="0"/>
              <a:t>title = "C Programming" </a:t>
            </a:r>
            <a:r>
              <a:rPr lang="en-US" sz="2400" dirty="0"/>
              <a:t>BOOK)) </a:t>
            </a:r>
            <a:br>
              <a:rPr lang="en-US" sz="2400" dirty="0"/>
            </a:br>
            <a:r>
              <a:rPr lang="en-US" sz="2400" dirty="0"/>
              <a:t> 						LIB-MEMBER)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04800" y="901774"/>
            <a:ext cx="7034213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Aft>
                <a:spcPct val="50000"/>
              </a:spcAft>
            </a:pPr>
            <a:r>
              <a:rPr lang="en-US" dirty="0"/>
              <a:t>Library database schema:</a:t>
            </a:r>
          </a:p>
          <a:p>
            <a:r>
              <a:rPr lang="en-US" dirty="0"/>
              <a:t>	LIB-MEMBER(</a:t>
            </a:r>
            <a:r>
              <a:rPr lang="en-US" u="sng" dirty="0"/>
              <a:t>ID</a:t>
            </a:r>
            <a:r>
              <a:rPr lang="en-US" dirty="0"/>
              <a:t>, name, age)</a:t>
            </a:r>
          </a:p>
          <a:p>
            <a:r>
              <a:rPr lang="en-US" dirty="0"/>
              <a:t>	BOOK(</a:t>
            </a:r>
            <a:r>
              <a:rPr lang="en-US" u="sng" dirty="0"/>
              <a:t>serial#</a:t>
            </a:r>
            <a:r>
              <a:rPr lang="en-US" dirty="0"/>
              <a:t>, title, author, year-of-publication)</a:t>
            </a:r>
          </a:p>
          <a:p>
            <a:r>
              <a:rPr lang="en-US" dirty="0"/>
              <a:t>	LOAN(</a:t>
            </a:r>
            <a:r>
              <a:rPr lang="en-US" u="sng" dirty="0"/>
              <a:t>ID</a:t>
            </a:r>
            <a:r>
              <a:rPr lang="en-US" dirty="0"/>
              <a:t>, </a:t>
            </a:r>
            <a:r>
              <a:rPr lang="en-US" u="sng" dirty="0"/>
              <a:t>serial#</a:t>
            </a:r>
            <a:r>
              <a:rPr lang="en-US" dirty="0"/>
              <a:t>, date-due)</a:t>
            </a:r>
          </a:p>
        </p:txBody>
      </p:sp>
      <p:grpSp>
        <p:nvGrpSpPr>
          <p:cNvPr id="8199" name="Group 26"/>
          <p:cNvGrpSpPr>
            <a:grpSpLocks/>
          </p:cNvGrpSpPr>
          <p:nvPr/>
        </p:nvGrpSpPr>
        <p:grpSpPr bwMode="auto">
          <a:xfrm>
            <a:off x="5410200" y="3354586"/>
            <a:ext cx="304800" cy="152400"/>
            <a:chOff x="1296" y="3696"/>
            <a:chExt cx="240" cy="96"/>
          </a:xfrm>
        </p:grpSpPr>
        <p:sp>
          <p:nvSpPr>
            <p:cNvPr id="8200" name="Line 27"/>
            <p:cNvSpPr>
              <a:spLocks noChangeShapeType="1"/>
            </p:cNvSpPr>
            <p:nvPr/>
          </p:nvSpPr>
          <p:spPr bwMode="auto">
            <a:xfrm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01" name="Line 28"/>
            <p:cNvSpPr>
              <a:spLocks noChangeShapeType="1"/>
            </p:cNvSpPr>
            <p:nvPr/>
          </p:nvSpPr>
          <p:spPr bwMode="auto">
            <a:xfrm flipV="1">
              <a:off x="153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02" name="Line 29"/>
            <p:cNvSpPr>
              <a:spLocks noChangeShapeType="1"/>
            </p:cNvSpPr>
            <p:nvPr/>
          </p:nvSpPr>
          <p:spPr bwMode="auto">
            <a:xfrm flipH="1"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03" name="Line 30"/>
            <p:cNvSpPr>
              <a:spLocks noChangeShapeType="1"/>
            </p:cNvSpPr>
            <p:nvPr/>
          </p:nvSpPr>
          <p:spPr bwMode="auto">
            <a:xfrm flipV="1">
              <a:off x="129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94431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405C813-963E-4C8E-BA98-69A6C0869ABE}" type="slidenum">
              <a:rPr lang="en-US" sz="1600">
                <a:solidFill>
                  <a:srgbClr val="FFFFFF"/>
                </a:solidFill>
                <a:latin typeface="Arial" charset="0"/>
              </a:rPr>
              <a:pPr/>
              <a:t>5</a:t>
            </a:fld>
            <a:endParaRPr lang="en-US" sz="16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27815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3200" b="1" dirty="0"/>
              <a:t>Question 1 (</a:t>
            </a:r>
            <a:r>
              <a:rPr lang="en-US" altLang="zh-CN" sz="3200" b="1" dirty="0" smtClean="0"/>
              <a:t>iii)</a:t>
            </a:r>
            <a:endParaRPr lang="en-US" sz="3200" b="1" dirty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955675" y="4740275"/>
            <a:ext cx="74263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/>
              <a:t>Find names of members who have read all books with the title 'C Programming'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15913" y="2852936"/>
            <a:ext cx="82942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(iii)  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400" baseline="-25000" dirty="0"/>
              <a:t>name</a:t>
            </a:r>
            <a:r>
              <a:rPr lang="en-US" sz="2400" dirty="0"/>
              <a:t>((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400" baseline="-25000" dirty="0" err="1"/>
              <a:t>ID,serial#</a:t>
            </a:r>
            <a:r>
              <a:rPr lang="en-US" sz="2400" dirty="0" err="1"/>
              <a:t>LOAN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 </a:t>
            </a:r>
            <a:r>
              <a:rPr lang="en-US" sz="2400" baseline="-25000" dirty="0"/>
              <a:t>serial#</a:t>
            </a:r>
            <a:r>
              <a:rPr lang="en-US" sz="2400" dirty="0">
                <a:sym typeface="Symbol" pitchFamily="18" charset="2"/>
              </a:rPr>
              <a:t>(</a:t>
            </a:r>
            <a:r>
              <a:rPr lang="en-US" sz="2400" baseline="-25000" dirty="0"/>
              <a:t>title = "C Programming" </a:t>
            </a:r>
            <a:r>
              <a:rPr lang="en-US" sz="2400" dirty="0"/>
              <a:t>BOOK)) </a:t>
            </a:r>
            <a:br>
              <a:rPr lang="en-US" sz="2400" dirty="0"/>
            </a:br>
            <a:r>
              <a:rPr lang="en-US" sz="2400" dirty="0"/>
              <a:t> 						LIB-MEMBER)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04800" y="901774"/>
            <a:ext cx="7034213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Aft>
                <a:spcPct val="50000"/>
              </a:spcAft>
            </a:pPr>
            <a:r>
              <a:rPr lang="en-US" dirty="0"/>
              <a:t>Library database schema:</a:t>
            </a:r>
          </a:p>
          <a:p>
            <a:r>
              <a:rPr lang="en-US" dirty="0"/>
              <a:t>	LIB-MEMBER(</a:t>
            </a:r>
            <a:r>
              <a:rPr lang="en-US" u="sng" dirty="0"/>
              <a:t>ID</a:t>
            </a:r>
            <a:r>
              <a:rPr lang="en-US" dirty="0"/>
              <a:t>, name, age)</a:t>
            </a:r>
          </a:p>
          <a:p>
            <a:r>
              <a:rPr lang="en-US" dirty="0"/>
              <a:t>	BOOK(</a:t>
            </a:r>
            <a:r>
              <a:rPr lang="en-US" u="sng" dirty="0"/>
              <a:t>serial#</a:t>
            </a:r>
            <a:r>
              <a:rPr lang="en-US" dirty="0"/>
              <a:t>, title, author, year-of-publication)</a:t>
            </a:r>
          </a:p>
          <a:p>
            <a:r>
              <a:rPr lang="en-US" dirty="0"/>
              <a:t>	LOAN(</a:t>
            </a:r>
            <a:r>
              <a:rPr lang="en-US" u="sng" dirty="0"/>
              <a:t>ID</a:t>
            </a:r>
            <a:r>
              <a:rPr lang="en-US" dirty="0"/>
              <a:t>, </a:t>
            </a:r>
            <a:r>
              <a:rPr lang="en-US" u="sng" dirty="0"/>
              <a:t>serial#</a:t>
            </a:r>
            <a:r>
              <a:rPr lang="en-US" dirty="0"/>
              <a:t>, date-due)</a:t>
            </a:r>
          </a:p>
        </p:txBody>
      </p:sp>
      <p:grpSp>
        <p:nvGrpSpPr>
          <p:cNvPr id="8199" name="Group 26"/>
          <p:cNvGrpSpPr>
            <a:grpSpLocks/>
          </p:cNvGrpSpPr>
          <p:nvPr/>
        </p:nvGrpSpPr>
        <p:grpSpPr bwMode="auto">
          <a:xfrm>
            <a:off x="5410200" y="3356992"/>
            <a:ext cx="304800" cy="152400"/>
            <a:chOff x="1296" y="3696"/>
            <a:chExt cx="240" cy="96"/>
          </a:xfrm>
        </p:grpSpPr>
        <p:sp>
          <p:nvSpPr>
            <p:cNvPr id="8200" name="Line 27"/>
            <p:cNvSpPr>
              <a:spLocks noChangeShapeType="1"/>
            </p:cNvSpPr>
            <p:nvPr/>
          </p:nvSpPr>
          <p:spPr bwMode="auto">
            <a:xfrm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01" name="Line 28"/>
            <p:cNvSpPr>
              <a:spLocks noChangeShapeType="1"/>
            </p:cNvSpPr>
            <p:nvPr/>
          </p:nvSpPr>
          <p:spPr bwMode="auto">
            <a:xfrm flipV="1">
              <a:off x="153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02" name="Line 29"/>
            <p:cNvSpPr>
              <a:spLocks noChangeShapeType="1"/>
            </p:cNvSpPr>
            <p:nvPr/>
          </p:nvSpPr>
          <p:spPr bwMode="auto">
            <a:xfrm flipH="1">
              <a:off x="1296" y="369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03" name="Line 30"/>
            <p:cNvSpPr>
              <a:spLocks noChangeShapeType="1"/>
            </p:cNvSpPr>
            <p:nvPr/>
          </p:nvSpPr>
          <p:spPr bwMode="auto">
            <a:xfrm flipV="1">
              <a:off x="129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9846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0CAEC06-8C9E-4D24-B88E-97AF0F98BCED}" type="slidenum">
              <a:rPr lang="en-US" sz="1600">
                <a:solidFill>
                  <a:srgbClr val="FFFFFF"/>
                </a:solidFill>
                <a:latin typeface="Arial" charset="0"/>
              </a:rPr>
              <a:pPr/>
              <a:t>6</a:t>
            </a:fld>
            <a:endParaRPr lang="en-US" sz="16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9219" name="Rectangle 182"/>
          <p:cNvSpPr>
            <a:spLocks noChangeArrowheads="1"/>
          </p:cNvSpPr>
          <p:nvPr/>
        </p:nvSpPr>
        <p:spPr bwMode="auto">
          <a:xfrm>
            <a:off x="4005263" y="3770313"/>
            <a:ext cx="12700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257"/>
          <p:cNvSpPr txBox="1">
            <a:spLocks noChangeArrowheads="1"/>
          </p:cNvSpPr>
          <p:nvPr/>
        </p:nvSpPr>
        <p:spPr bwMode="auto">
          <a:xfrm>
            <a:off x="381000" y="902741"/>
            <a:ext cx="81534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SG" dirty="0"/>
              <a:t>STUDENT(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dirty="0" err="1"/>
              <a:t>Sname</a:t>
            </a:r>
            <a:r>
              <a:rPr lang="en-SG" dirty="0"/>
              <a:t>, Sex, Age, Year, GPA)</a:t>
            </a:r>
            <a:endParaRPr lang="en-US" dirty="0"/>
          </a:p>
          <a:p>
            <a:r>
              <a:rPr lang="en-SG" dirty="0"/>
              <a:t>DEPT(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dirty="0" err="1"/>
              <a:t>Numphds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PROF(</a:t>
            </a:r>
            <a:r>
              <a:rPr lang="en-SG" u="sng" dirty="0" err="1"/>
              <a:t>Pname</a:t>
            </a:r>
            <a:r>
              <a:rPr lang="en-SG" dirty="0"/>
              <a:t>, </a:t>
            </a:r>
            <a:r>
              <a:rPr lang="en-S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COURSE(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dirty="0" err="1"/>
              <a:t>Cname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MAJOR(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SECTION(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</a:t>
            </a:r>
            <a:r>
              <a:rPr lang="en-SG" dirty="0" err="1"/>
              <a:t>Pname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ENROLL(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Grade)</a:t>
            </a:r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AutoNum type="romanLcParenBoth"/>
            </a:pPr>
            <a:r>
              <a:rPr lang="en-US" dirty="0"/>
              <a:t>Find the names of professors who work in departments that have fewer than 50 PhD students.</a:t>
            </a:r>
          </a:p>
          <a:p>
            <a:endParaRPr lang="en-US" dirty="0"/>
          </a:p>
          <a:p>
            <a:r>
              <a:rPr lang="en-US" dirty="0"/>
              <a:t>	Answer:=</a:t>
            </a:r>
            <a:r>
              <a:rPr lang="pt-BR" dirty="0">
                <a:latin typeface="Symbol" pitchFamily="18" charset="2"/>
              </a:rPr>
              <a:t>p</a:t>
            </a:r>
            <a:r>
              <a:rPr lang="pt-BR" dirty="0"/>
              <a:t> </a:t>
            </a:r>
            <a:r>
              <a:rPr lang="pt-BR" baseline="-25000" dirty="0"/>
              <a:t>Pname</a:t>
            </a:r>
            <a:r>
              <a:rPr lang="pt-BR" dirty="0"/>
              <a:t> (PROF     </a:t>
            </a:r>
            <a:r>
              <a:rPr lang="pt-BR" dirty="0">
                <a:latin typeface="Symbol" pitchFamily="18" charset="2"/>
              </a:rPr>
              <a:t>s</a:t>
            </a:r>
            <a:r>
              <a:rPr lang="pt-BR" dirty="0"/>
              <a:t> </a:t>
            </a:r>
            <a:r>
              <a:rPr lang="pt-BR" baseline="-25000" dirty="0"/>
              <a:t>Numphds &lt; 50</a:t>
            </a:r>
            <a:r>
              <a:rPr lang="pt-BR" dirty="0"/>
              <a:t> (DEPT))</a:t>
            </a:r>
          </a:p>
          <a:p>
            <a:endParaRPr lang="en-US" dirty="0"/>
          </a:p>
          <a:p>
            <a:pPr>
              <a:buFontTx/>
              <a:buAutoNum type="romanLcParenBoth"/>
            </a:pPr>
            <a:endParaRPr lang="en-US" dirty="0"/>
          </a:p>
        </p:txBody>
      </p:sp>
      <p:sp>
        <p:nvSpPr>
          <p:cNvPr id="9221" name="Text Box 258"/>
          <p:cNvSpPr txBox="1">
            <a:spLocks noChangeArrowheads="1"/>
          </p:cNvSpPr>
          <p:nvPr/>
        </p:nvSpPr>
        <p:spPr bwMode="auto">
          <a:xfrm>
            <a:off x="304800" y="152400"/>
            <a:ext cx="25539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="1" dirty="0" smtClean="0"/>
              <a:t>Question 2 (</a:t>
            </a:r>
            <a:r>
              <a:rPr lang="en-US" sz="3200" b="1" dirty="0" err="1" smtClean="0"/>
              <a:t>i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grpSp>
        <p:nvGrpSpPr>
          <p:cNvPr id="9222" name="Group 24"/>
          <p:cNvGrpSpPr>
            <a:grpSpLocks/>
          </p:cNvGrpSpPr>
          <p:nvPr/>
        </p:nvGrpSpPr>
        <p:grpSpPr bwMode="auto">
          <a:xfrm>
            <a:off x="4419600" y="5035797"/>
            <a:ext cx="277813" cy="217488"/>
            <a:chOff x="377" y="2904"/>
            <a:chExt cx="154" cy="110"/>
          </a:xfrm>
        </p:grpSpPr>
        <p:sp>
          <p:nvSpPr>
            <p:cNvPr id="9223" name="Line 2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224" name="Line 2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225" name="Line 2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226" name="Line 2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6849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8CA19C8-5357-4B65-971C-7DA363FD773A}" type="slidenum">
              <a:rPr lang="en-US" sz="1600">
                <a:solidFill>
                  <a:srgbClr val="FFFFFF"/>
                </a:solidFill>
                <a:latin typeface="Arial" charset="0"/>
              </a:rPr>
              <a:pPr/>
              <a:t>7</a:t>
            </a:fld>
            <a:endParaRPr lang="en-US" sz="16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0243" name="Rectangle 182"/>
          <p:cNvSpPr>
            <a:spLocks noChangeArrowheads="1"/>
          </p:cNvSpPr>
          <p:nvPr/>
        </p:nvSpPr>
        <p:spPr bwMode="auto">
          <a:xfrm>
            <a:off x="4005263" y="3770313"/>
            <a:ext cx="12700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Text Box 257"/>
          <p:cNvSpPr txBox="1">
            <a:spLocks noChangeArrowheads="1"/>
          </p:cNvSpPr>
          <p:nvPr/>
        </p:nvSpPr>
        <p:spPr bwMode="auto">
          <a:xfrm>
            <a:off x="381000" y="908720"/>
            <a:ext cx="8763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SG" dirty="0"/>
              <a:t>STUDENT(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dirty="0" err="1"/>
              <a:t>Sname</a:t>
            </a:r>
            <a:r>
              <a:rPr lang="en-SG" dirty="0"/>
              <a:t>, Sex, Age, Year, GPA)</a:t>
            </a:r>
            <a:endParaRPr lang="en-US" dirty="0"/>
          </a:p>
          <a:p>
            <a:r>
              <a:rPr lang="en-SG" dirty="0"/>
              <a:t>DEPT(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dirty="0" err="1"/>
              <a:t>Numphds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PROF(</a:t>
            </a:r>
            <a:r>
              <a:rPr lang="en-SG" u="sng" dirty="0" err="1"/>
              <a:t>Pname</a:t>
            </a:r>
            <a:r>
              <a:rPr lang="en-SG" dirty="0"/>
              <a:t>, </a:t>
            </a:r>
            <a:r>
              <a:rPr lang="en-S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COURSE(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dirty="0" err="1"/>
              <a:t>Cname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MAJOR(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SECTION(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</a:t>
            </a:r>
            <a:r>
              <a:rPr lang="en-SG" dirty="0" err="1"/>
              <a:t>Pname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ENROLL(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Grade)</a:t>
            </a:r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AutoNum type="romanLcParenBoth" startAt="2"/>
            </a:pPr>
            <a:r>
              <a:rPr lang="en-SG" dirty="0"/>
              <a:t> Find the name(s) of student(s) with the lowest GPA</a:t>
            </a:r>
            <a:r>
              <a:rPr lang="en-US" dirty="0"/>
              <a:t>.</a:t>
            </a:r>
          </a:p>
          <a:p>
            <a:pPr lvl="1"/>
            <a:endParaRPr lang="en-US" dirty="0">
              <a:cs typeface="Times New Roman" pitchFamily="18" charset="0"/>
            </a:endParaRPr>
          </a:p>
          <a:p>
            <a:pPr lvl="1"/>
            <a:r>
              <a:rPr lang="en-SG" dirty="0"/>
              <a:t>Answer:=</a:t>
            </a:r>
            <a:br>
              <a:rPr lang="en-SG" dirty="0"/>
            </a:br>
            <a:r>
              <a:rPr lang="en-US" dirty="0">
                <a:latin typeface="Symbol" pitchFamily="18" charset="2"/>
              </a:rPr>
              <a:t>p</a:t>
            </a:r>
            <a:r>
              <a:rPr lang="pt-BR" dirty="0">
                <a:cs typeface="Times New Roman" pitchFamily="18" charset="0"/>
              </a:rPr>
              <a:t> </a:t>
            </a:r>
            <a:r>
              <a:rPr lang="pt-BR" baseline="-25000" dirty="0">
                <a:cs typeface="Times New Roman" pitchFamily="18" charset="0"/>
              </a:rPr>
              <a:t>Sname</a:t>
            </a:r>
            <a:r>
              <a:rPr lang="pt-BR" dirty="0">
                <a:cs typeface="Times New Roman" pitchFamily="18" charset="0"/>
              </a:rPr>
              <a:t> (STUDENT     </a:t>
            </a:r>
            <a:r>
              <a:rPr lang="pt-BR" baseline="-25000" dirty="0">
                <a:cs typeface="Times New Roman" pitchFamily="18" charset="0"/>
              </a:rPr>
              <a:t>GPA=MinGPA</a:t>
            </a:r>
            <a:r>
              <a:rPr lang="pt-BR" dirty="0">
                <a:cs typeface="Times New Roman" pitchFamily="18" charset="0"/>
              </a:rPr>
              <a:t> </a:t>
            </a:r>
            <a:r>
              <a:rPr lang="el-GR" dirty="0">
                <a:cs typeface="Times New Roman" pitchFamily="18" charset="0"/>
              </a:rPr>
              <a:t>γ </a:t>
            </a:r>
            <a:r>
              <a:rPr lang="en-US" baseline="-25000" dirty="0">
                <a:cs typeface="Times New Roman" pitchFamily="18" charset="0"/>
                <a:sym typeface="Symbol" pitchFamily="18" charset="2"/>
              </a:rPr>
              <a:t>MIN(GPA)</a:t>
            </a:r>
            <a:r>
              <a:rPr lang="en-US" baseline="-16000" dirty="0">
                <a:latin typeface="Arial" charset="0"/>
                <a:cs typeface="Arial" charset="0"/>
                <a:sym typeface="Symbol" pitchFamily="18" charset="2"/>
              </a:rPr>
              <a:t>→</a:t>
            </a:r>
            <a:r>
              <a:rPr lang="en-US" baseline="-25000" dirty="0" err="1">
                <a:cs typeface="Times New Roman" pitchFamily="18" charset="0"/>
                <a:sym typeface="Symbol" pitchFamily="18" charset="2"/>
              </a:rPr>
              <a:t>MinGPA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 (STUDENT)</a:t>
            </a:r>
            <a:r>
              <a:rPr lang="pt-BR" dirty="0">
                <a:cs typeface="Times New Roman" pitchFamily="18" charset="0"/>
              </a:rPr>
              <a:t>)</a:t>
            </a:r>
          </a:p>
          <a:p>
            <a:endParaRPr lang="pt-BR" dirty="0"/>
          </a:p>
          <a:p>
            <a:endParaRPr lang="en-US" dirty="0"/>
          </a:p>
          <a:p>
            <a:pPr>
              <a:buFontTx/>
              <a:buAutoNum type="romanLcParenBoth"/>
            </a:pPr>
            <a:endParaRPr lang="en-US" dirty="0"/>
          </a:p>
        </p:txBody>
      </p:sp>
      <p:sp>
        <p:nvSpPr>
          <p:cNvPr id="10245" name="Text Box 258"/>
          <p:cNvSpPr txBox="1">
            <a:spLocks noChangeArrowheads="1"/>
          </p:cNvSpPr>
          <p:nvPr/>
        </p:nvSpPr>
        <p:spPr bwMode="auto">
          <a:xfrm>
            <a:off x="304800" y="152400"/>
            <a:ext cx="26677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="1" dirty="0"/>
              <a:t>Question 2 </a:t>
            </a:r>
            <a:r>
              <a:rPr lang="en-US" sz="3200" b="1" dirty="0" smtClean="0"/>
              <a:t>(ii</a:t>
            </a:r>
            <a:r>
              <a:rPr lang="en-US" sz="3200" b="1" dirty="0"/>
              <a:t>)</a:t>
            </a:r>
          </a:p>
        </p:txBody>
      </p:sp>
      <p:grpSp>
        <p:nvGrpSpPr>
          <p:cNvPr id="10246" name="Group 24"/>
          <p:cNvGrpSpPr>
            <a:grpSpLocks/>
          </p:cNvGrpSpPr>
          <p:nvPr/>
        </p:nvGrpSpPr>
        <p:grpSpPr bwMode="auto">
          <a:xfrm>
            <a:off x="3352800" y="5099720"/>
            <a:ext cx="277813" cy="217488"/>
            <a:chOff x="377" y="2904"/>
            <a:chExt cx="154" cy="110"/>
          </a:xfrm>
        </p:grpSpPr>
        <p:sp>
          <p:nvSpPr>
            <p:cNvPr id="10247" name="Line 2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48" name="Line 2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49" name="Line 2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50" name="Line 2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280898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2"/>
          <p:cNvSpPr>
            <a:spLocks noChangeArrowheads="1"/>
          </p:cNvSpPr>
          <p:nvPr/>
        </p:nvSpPr>
        <p:spPr bwMode="auto">
          <a:xfrm>
            <a:off x="4005263" y="3536033"/>
            <a:ext cx="12700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Text Box 257"/>
          <p:cNvSpPr txBox="1">
            <a:spLocks noChangeArrowheads="1"/>
          </p:cNvSpPr>
          <p:nvPr/>
        </p:nvSpPr>
        <p:spPr bwMode="auto">
          <a:xfrm>
            <a:off x="381000" y="908720"/>
            <a:ext cx="81534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SG" dirty="0"/>
              <a:t>STUDENT(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dirty="0" err="1"/>
              <a:t>Sname</a:t>
            </a:r>
            <a:r>
              <a:rPr lang="en-SG" dirty="0"/>
              <a:t>, Sex, Age, Year, GPA)</a:t>
            </a:r>
            <a:endParaRPr lang="en-US" dirty="0"/>
          </a:p>
          <a:p>
            <a:r>
              <a:rPr lang="en-SG" dirty="0"/>
              <a:t>DEPT(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dirty="0" err="1"/>
              <a:t>Numphds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PROF(</a:t>
            </a:r>
            <a:r>
              <a:rPr lang="en-SG" u="sng" dirty="0" err="1"/>
              <a:t>Pname</a:t>
            </a:r>
            <a:r>
              <a:rPr lang="en-SG" dirty="0"/>
              <a:t>, </a:t>
            </a:r>
            <a:r>
              <a:rPr lang="en-S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COURSE(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dirty="0" err="1"/>
              <a:t>Cname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MAJOR(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SECTION(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</a:t>
            </a:r>
            <a:r>
              <a:rPr lang="en-SG" dirty="0" err="1"/>
              <a:t>Pname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ENROLL(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Grade)</a:t>
            </a:r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AutoNum type="romanLcParenBoth" startAt="3"/>
            </a:pPr>
            <a:r>
              <a:rPr lang="en-SG" dirty="0"/>
              <a:t>Find the names and majors of students who have taken the ‘Database Systems</a:t>
            </a:r>
            <a:r>
              <a:rPr lang="en-US" dirty="0"/>
              <a:t>’</a:t>
            </a:r>
            <a:r>
              <a:rPr lang="en-SG" dirty="0"/>
              <a:t> </a:t>
            </a:r>
            <a:r>
              <a:rPr lang="en-US" dirty="0"/>
              <a:t>course</a:t>
            </a:r>
            <a:r>
              <a:rPr lang="en-SG" dirty="0"/>
              <a:t>.</a:t>
            </a:r>
          </a:p>
          <a:p>
            <a:pPr>
              <a:spcBef>
                <a:spcPts val="1200"/>
              </a:spcBef>
            </a:pPr>
            <a:r>
              <a:rPr lang="en-SG" dirty="0"/>
              <a:t>	</a:t>
            </a:r>
            <a:r>
              <a:rPr lang="en-US" dirty="0"/>
              <a:t>R1</a:t>
            </a:r>
            <a:r>
              <a:rPr lang="en-US" dirty="0">
                <a:sym typeface="Symbol" pitchFamily="18" charset="2"/>
              </a:rPr>
              <a:t>:=</a:t>
            </a:r>
            <a:r>
              <a:rPr lang="pt-BR" dirty="0">
                <a:cs typeface="Times New Roman" pitchFamily="18" charset="0"/>
              </a:rPr>
              <a:t> </a:t>
            </a:r>
            <a:r>
              <a:rPr lang="en-US" dirty="0">
                <a:latin typeface="Symbol" pitchFamily="18" charset="2"/>
              </a:rPr>
              <a:t>p</a:t>
            </a:r>
            <a:r>
              <a:rPr lang="en-US" dirty="0"/>
              <a:t> </a:t>
            </a:r>
            <a:r>
              <a:rPr lang="en-US" baseline="-25000" dirty="0" err="1"/>
              <a:t>Dname</a:t>
            </a:r>
            <a:r>
              <a:rPr lang="en-US" baseline="-25000" dirty="0"/>
              <a:t>, </a:t>
            </a:r>
            <a:r>
              <a:rPr lang="en-US" baseline="-25000" dirty="0" err="1"/>
              <a:t>Cno</a:t>
            </a:r>
            <a:r>
              <a:rPr lang="en-US" dirty="0"/>
              <a:t> (</a:t>
            </a:r>
            <a:r>
              <a:rPr lang="en-US" dirty="0" err="1">
                <a:latin typeface="Symbol" pitchFamily="18" charset="2"/>
              </a:rPr>
              <a:t>s</a:t>
            </a:r>
            <a:r>
              <a:rPr lang="en-US" baseline="-25000" dirty="0" err="1"/>
              <a:t>Cname</a:t>
            </a:r>
            <a:r>
              <a:rPr lang="en-US" baseline="-25000" dirty="0"/>
              <a:t> =</a:t>
            </a:r>
            <a:r>
              <a:rPr lang="en-US" dirty="0"/>
              <a:t> </a:t>
            </a:r>
            <a:r>
              <a:rPr lang="en-US" baseline="-25000" dirty="0"/>
              <a:t>‘Database Systems’</a:t>
            </a:r>
            <a:r>
              <a:rPr lang="en-US" dirty="0"/>
              <a:t> (COURSE))</a:t>
            </a:r>
          </a:p>
          <a:p>
            <a:r>
              <a:rPr lang="en-US" dirty="0"/>
              <a:t>	R2</a:t>
            </a:r>
            <a:r>
              <a:rPr lang="en-US" dirty="0">
                <a:sym typeface="Symbol" pitchFamily="18" charset="2"/>
              </a:rPr>
              <a:t>:=</a:t>
            </a:r>
            <a:r>
              <a:rPr lang="pt-BR" dirty="0">
                <a:cs typeface="Times New Roman" pitchFamily="18" charset="0"/>
              </a:rPr>
              <a:t> </a:t>
            </a:r>
            <a:r>
              <a:rPr lang="en-US" dirty="0">
                <a:latin typeface="Symbol" pitchFamily="18" charset="2"/>
              </a:rPr>
              <a:t>p</a:t>
            </a:r>
            <a:r>
              <a:rPr lang="en-US" dirty="0"/>
              <a:t> </a:t>
            </a:r>
            <a:r>
              <a:rPr lang="en-US" baseline="-25000" dirty="0"/>
              <a:t>Sid</a:t>
            </a:r>
            <a:r>
              <a:rPr lang="en-US" dirty="0"/>
              <a:t> (R1     ENROLL)</a:t>
            </a:r>
          </a:p>
          <a:p>
            <a:r>
              <a:rPr lang="en-US" dirty="0"/>
              <a:t>	Answer:=</a:t>
            </a:r>
            <a:r>
              <a:rPr lang="en-US" dirty="0">
                <a:latin typeface="Symbol" pitchFamily="18" charset="2"/>
              </a:rPr>
              <a:t>p</a:t>
            </a:r>
            <a:r>
              <a:rPr lang="en-US" dirty="0"/>
              <a:t> </a:t>
            </a:r>
            <a:r>
              <a:rPr lang="en-US" baseline="-25000" dirty="0" err="1"/>
              <a:t>Sname</a:t>
            </a:r>
            <a:r>
              <a:rPr lang="en-US" baseline="-25000" dirty="0"/>
              <a:t>, </a:t>
            </a:r>
            <a:r>
              <a:rPr lang="en-US" baseline="-25000" dirty="0" err="1"/>
              <a:t>Dname</a:t>
            </a:r>
            <a:r>
              <a:rPr lang="en-US" baseline="-25000" dirty="0"/>
              <a:t> </a:t>
            </a:r>
            <a:r>
              <a:rPr lang="en-US" dirty="0"/>
              <a:t>(R2     MAJOR     STUDENT)  </a:t>
            </a:r>
          </a:p>
        </p:txBody>
      </p:sp>
      <p:sp>
        <p:nvSpPr>
          <p:cNvPr id="11269" name="Text Box 258"/>
          <p:cNvSpPr txBox="1">
            <a:spLocks noChangeArrowheads="1"/>
          </p:cNvSpPr>
          <p:nvPr/>
        </p:nvSpPr>
        <p:spPr bwMode="auto">
          <a:xfrm>
            <a:off x="304800" y="152400"/>
            <a:ext cx="27815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="1" dirty="0"/>
              <a:t>Question 2 (</a:t>
            </a:r>
            <a:r>
              <a:rPr lang="en-US" sz="3200" b="1" dirty="0" smtClean="0"/>
              <a:t>iii)</a:t>
            </a:r>
            <a:endParaRPr lang="en-US" sz="3200" b="1" dirty="0"/>
          </a:p>
        </p:txBody>
      </p:sp>
      <p:grpSp>
        <p:nvGrpSpPr>
          <p:cNvPr id="11270" name="Group 24"/>
          <p:cNvGrpSpPr>
            <a:grpSpLocks/>
          </p:cNvGrpSpPr>
          <p:nvPr/>
        </p:nvGrpSpPr>
        <p:grpSpPr bwMode="auto">
          <a:xfrm>
            <a:off x="3124200" y="5252120"/>
            <a:ext cx="277813" cy="217488"/>
            <a:chOff x="377" y="2904"/>
            <a:chExt cx="154" cy="110"/>
          </a:xfrm>
        </p:grpSpPr>
        <p:sp>
          <p:nvSpPr>
            <p:cNvPr id="11281" name="Line 2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82" name="Line 2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83" name="Line 2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84" name="Line 2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1271" name="Group 24"/>
          <p:cNvGrpSpPr>
            <a:grpSpLocks/>
          </p:cNvGrpSpPr>
          <p:nvPr/>
        </p:nvGrpSpPr>
        <p:grpSpPr bwMode="auto">
          <a:xfrm>
            <a:off x="6019800" y="5556920"/>
            <a:ext cx="277813" cy="217488"/>
            <a:chOff x="377" y="2904"/>
            <a:chExt cx="154" cy="110"/>
          </a:xfrm>
        </p:grpSpPr>
        <p:sp>
          <p:nvSpPr>
            <p:cNvPr id="11277" name="Line 2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78" name="Line 2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79" name="Line 2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80" name="Line 2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1272" name="Group 24"/>
          <p:cNvGrpSpPr>
            <a:grpSpLocks/>
          </p:cNvGrpSpPr>
          <p:nvPr/>
        </p:nvGrpSpPr>
        <p:grpSpPr bwMode="auto">
          <a:xfrm>
            <a:off x="4648200" y="5633120"/>
            <a:ext cx="277813" cy="217488"/>
            <a:chOff x="377" y="2904"/>
            <a:chExt cx="154" cy="110"/>
          </a:xfrm>
        </p:grpSpPr>
        <p:sp>
          <p:nvSpPr>
            <p:cNvPr id="11273" name="Line 2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74" name="Line 2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75" name="Line 2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276" name="Line 2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30242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82"/>
          <p:cNvSpPr>
            <a:spLocks noChangeArrowheads="1"/>
          </p:cNvSpPr>
          <p:nvPr/>
        </p:nvSpPr>
        <p:spPr bwMode="auto">
          <a:xfrm>
            <a:off x="4005263" y="3426223"/>
            <a:ext cx="12700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2" name="Text Box 257"/>
          <p:cNvSpPr txBox="1">
            <a:spLocks noChangeArrowheads="1"/>
          </p:cNvSpPr>
          <p:nvPr/>
        </p:nvSpPr>
        <p:spPr bwMode="auto">
          <a:xfrm>
            <a:off x="381000" y="764704"/>
            <a:ext cx="84582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SG" dirty="0"/>
              <a:t>STUDENT(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dirty="0" err="1"/>
              <a:t>Sname</a:t>
            </a:r>
            <a:r>
              <a:rPr lang="en-SG" dirty="0"/>
              <a:t>, Sex, Age, Year, GPA)</a:t>
            </a:r>
            <a:endParaRPr lang="en-US" dirty="0"/>
          </a:p>
          <a:p>
            <a:r>
              <a:rPr lang="en-SG" dirty="0"/>
              <a:t>DEPT(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dirty="0" err="1"/>
              <a:t>Numphds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PROF(</a:t>
            </a:r>
            <a:r>
              <a:rPr lang="en-SG" u="sng" dirty="0" err="1"/>
              <a:t>Pname</a:t>
            </a:r>
            <a:r>
              <a:rPr lang="en-SG" dirty="0"/>
              <a:t>, </a:t>
            </a:r>
            <a:r>
              <a:rPr lang="en-S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COURSE(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dirty="0" err="1"/>
              <a:t>Cname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MAJOR(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SECTION(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</a:t>
            </a:r>
            <a:r>
              <a:rPr lang="en-SG" dirty="0" err="1"/>
              <a:t>Pname</a:t>
            </a:r>
            <a:r>
              <a:rPr lang="en-SG" dirty="0"/>
              <a:t>)</a:t>
            </a:r>
            <a:endParaRPr lang="en-US" dirty="0"/>
          </a:p>
          <a:p>
            <a:r>
              <a:rPr lang="en-SG" dirty="0"/>
              <a:t>ENROLL(</a:t>
            </a:r>
            <a:r>
              <a:rPr lang="en-SG" u="sng" dirty="0"/>
              <a:t>Sid</a:t>
            </a:r>
            <a:r>
              <a:rPr lang="en-SG" dirty="0"/>
              <a:t>, </a:t>
            </a:r>
            <a:r>
              <a:rPr lang="en-SG" u="sng" dirty="0" err="1"/>
              <a:t>Dname</a:t>
            </a:r>
            <a:r>
              <a:rPr lang="en-SG" dirty="0"/>
              <a:t>, </a:t>
            </a:r>
            <a:r>
              <a:rPr lang="en-SG" u="sng" dirty="0" err="1"/>
              <a:t>Cno</a:t>
            </a:r>
            <a:r>
              <a:rPr lang="en-SG" dirty="0"/>
              <a:t>, </a:t>
            </a:r>
            <a:r>
              <a:rPr lang="en-SG" u="sng" dirty="0" err="1"/>
              <a:t>Sectno</a:t>
            </a:r>
            <a:r>
              <a:rPr lang="en-SG" dirty="0"/>
              <a:t>, Grade)</a:t>
            </a:r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AutoNum type="romanLcParenBoth" startAt="4"/>
            </a:pPr>
            <a:r>
              <a:rPr lang="en-SG" dirty="0"/>
              <a:t>Find the ids, names, and GPAs of the students who have taken all courses from the ‘Civil Engineering’ department.</a:t>
            </a:r>
          </a:p>
          <a:p>
            <a:pPr>
              <a:spcBef>
                <a:spcPts val="1200"/>
              </a:spcBef>
            </a:pPr>
            <a:r>
              <a:rPr lang="en-SG" dirty="0"/>
              <a:t>	</a:t>
            </a:r>
            <a:r>
              <a:rPr lang="en-US" dirty="0"/>
              <a:t>R1:=</a:t>
            </a:r>
            <a:r>
              <a:rPr lang="en-US" dirty="0">
                <a:latin typeface="Symbol" pitchFamily="18" charset="2"/>
              </a:rPr>
              <a:t>p</a:t>
            </a:r>
            <a:r>
              <a:rPr lang="en-US" dirty="0"/>
              <a:t> </a:t>
            </a:r>
            <a:r>
              <a:rPr lang="en-US" baseline="-25000" dirty="0" err="1"/>
              <a:t>Dname</a:t>
            </a:r>
            <a:r>
              <a:rPr lang="en-US" baseline="-25000" dirty="0"/>
              <a:t>,</a:t>
            </a:r>
            <a:r>
              <a:rPr lang="en-US" dirty="0"/>
              <a:t> </a:t>
            </a:r>
            <a:r>
              <a:rPr lang="en-US" baseline="-25000" dirty="0" err="1"/>
              <a:t>Cno</a:t>
            </a:r>
            <a:r>
              <a:rPr lang="en-US" baseline="-25000" dirty="0"/>
              <a:t> </a:t>
            </a:r>
            <a:r>
              <a:rPr lang="en-US" dirty="0"/>
              <a:t>(</a:t>
            </a:r>
            <a:r>
              <a:rPr lang="en-US" dirty="0">
                <a:latin typeface="Symbol" pitchFamily="18" charset="2"/>
              </a:rPr>
              <a:t>s</a:t>
            </a:r>
            <a:r>
              <a:rPr lang="en-US" dirty="0"/>
              <a:t> </a:t>
            </a:r>
            <a:r>
              <a:rPr lang="en-US" baseline="-25000" dirty="0" err="1"/>
              <a:t>Dname</a:t>
            </a:r>
            <a:r>
              <a:rPr lang="en-US" baseline="-25000" dirty="0"/>
              <a:t> = ‘Civil Engineering’</a:t>
            </a:r>
            <a:r>
              <a:rPr lang="en-US" dirty="0"/>
              <a:t> (COURSE))</a:t>
            </a:r>
          </a:p>
          <a:p>
            <a:r>
              <a:rPr lang="en-US" dirty="0"/>
              <a:t>	R2:=</a:t>
            </a:r>
            <a:r>
              <a:rPr lang="en-US" dirty="0">
                <a:latin typeface="Symbol" pitchFamily="18" charset="2"/>
              </a:rPr>
              <a:t>p</a:t>
            </a:r>
            <a:r>
              <a:rPr lang="en-US" dirty="0"/>
              <a:t> </a:t>
            </a:r>
            <a:r>
              <a:rPr lang="en-US" baseline="-25000" dirty="0"/>
              <a:t>Sid, </a:t>
            </a:r>
            <a:r>
              <a:rPr lang="en-US" baseline="-25000" dirty="0" err="1"/>
              <a:t>Dname</a:t>
            </a:r>
            <a:r>
              <a:rPr lang="en-US" baseline="-25000" dirty="0"/>
              <a:t>, </a:t>
            </a:r>
            <a:r>
              <a:rPr lang="en-US" baseline="-25000" dirty="0" err="1"/>
              <a:t>Cno</a:t>
            </a:r>
            <a:r>
              <a:rPr lang="en-US" baseline="-25000" dirty="0"/>
              <a:t> </a:t>
            </a:r>
            <a:r>
              <a:rPr lang="en-US" dirty="0"/>
              <a:t>(ENROLL)</a:t>
            </a:r>
          </a:p>
          <a:p>
            <a:r>
              <a:rPr lang="en-US" dirty="0"/>
              <a:t>	R3:=R2 </a:t>
            </a:r>
            <a:r>
              <a:rPr lang="en-US" dirty="0">
                <a:sym typeface="Symbol" pitchFamily="18" charset="2"/>
              </a:rPr>
              <a:t> </a:t>
            </a:r>
            <a:r>
              <a:rPr lang="en-US" dirty="0"/>
              <a:t>R1</a:t>
            </a:r>
          </a:p>
          <a:p>
            <a:r>
              <a:rPr lang="en-US" dirty="0"/>
              <a:t>	Answer:=</a:t>
            </a:r>
            <a:r>
              <a:rPr lang="en-US" dirty="0">
                <a:latin typeface="Symbol" pitchFamily="18" charset="2"/>
              </a:rPr>
              <a:t>p</a:t>
            </a:r>
            <a:r>
              <a:rPr lang="en-US" dirty="0"/>
              <a:t> </a:t>
            </a:r>
            <a:r>
              <a:rPr lang="en-US" baseline="-25000" dirty="0"/>
              <a:t>Sid, </a:t>
            </a:r>
            <a:r>
              <a:rPr lang="en-US" baseline="-25000" dirty="0" err="1"/>
              <a:t>Sname</a:t>
            </a:r>
            <a:r>
              <a:rPr lang="en-US" baseline="-25000" dirty="0"/>
              <a:t>, GPA</a:t>
            </a:r>
            <a:r>
              <a:rPr lang="en-US" dirty="0"/>
              <a:t> (R3     STUDENT)</a:t>
            </a:r>
          </a:p>
        </p:txBody>
      </p:sp>
      <p:sp>
        <p:nvSpPr>
          <p:cNvPr id="12293" name="Text Box 258"/>
          <p:cNvSpPr txBox="1">
            <a:spLocks noChangeArrowheads="1"/>
          </p:cNvSpPr>
          <p:nvPr/>
        </p:nvSpPr>
        <p:spPr bwMode="auto">
          <a:xfrm>
            <a:off x="304800" y="152400"/>
            <a:ext cx="2759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="1" dirty="0"/>
              <a:t>Question 2 (</a:t>
            </a:r>
            <a:r>
              <a:rPr lang="en-US" sz="3200" b="1" dirty="0" smtClean="0"/>
              <a:t>iv)</a:t>
            </a:r>
            <a:endParaRPr lang="en-US" sz="3200" b="1" dirty="0"/>
          </a:p>
        </p:txBody>
      </p:sp>
      <p:grpSp>
        <p:nvGrpSpPr>
          <p:cNvPr id="12294" name="Group 24"/>
          <p:cNvGrpSpPr>
            <a:grpSpLocks/>
          </p:cNvGrpSpPr>
          <p:nvPr/>
        </p:nvGrpSpPr>
        <p:grpSpPr bwMode="auto">
          <a:xfrm>
            <a:off x="4800600" y="5828110"/>
            <a:ext cx="277813" cy="217488"/>
            <a:chOff x="377" y="2904"/>
            <a:chExt cx="154" cy="110"/>
          </a:xfrm>
        </p:grpSpPr>
        <p:sp>
          <p:nvSpPr>
            <p:cNvPr id="12295" name="Line 2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296" name="Line 2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297" name="Line 2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298" name="Line 2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22027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93035" y="908721"/>
            <a:ext cx="8406063" cy="3358480"/>
          </a:xfrm>
        </p:spPr>
        <p:txBody>
          <a:bodyPr/>
          <a:lstStyle/>
          <a:p>
            <a:r>
              <a:rPr lang="en-SG" sz="2400" dirty="0" smtClean="0"/>
              <a:t>PLAYERS(player-id</a:t>
            </a:r>
            <a:r>
              <a:rPr lang="en-SG" sz="2400" dirty="0"/>
              <a:t>, name, </a:t>
            </a:r>
            <a:r>
              <a:rPr lang="en-SG" sz="2400" dirty="0" err="1"/>
              <a:t>countryname</a:t>
            </a:r>
            <a:r>
              <a:rPr lang="en-SG" sz="2400" dirty="0"/>
              <a:t>, </a:t>
            </a:r>
            <a:r>
              <a:rPr lang="en-SG" sz="2400" dirty="0" smtClean="0"/>
              <a:t>age)</a:t>
            </a:r>
          </a:p>
          <a:p>
            <a:r>
              <a:rPr lang="en-SG" sz="2400" dirty="0" smtClean="0"/>
              <a:t>EVENTS(event-id</a:t>
            </a:r>
            <a:r>
              <a:rPr lang="en-SG" sz="2400" dirty="0"/>
              <a:t>, name, </a:t>
            </a:r>
            <a:r>
              <a:rPr lang="en-SG" sz="2400" dirty="0" err="1"/>
              <a:t>eventtype</a:t>
            </a:r>
            <a:r>
              <a:rPr lang="en-SG" sz="2400" dirty="0"/>
              <a:t>) </a:t>
            </a:r>
          </a:p>
          <a:p>
            <a:r>
              <a:rPr lang="en-SG" sz="2400" dirty="0"/>
              <a:t>RESULTS(player-id, event-id, medal) </a:t>
            </a:r>
          </a:p>
          <a:p>
            <a:r>
              <a:rPr lang="en-SG" sz="2400" dirty="0"/>
              <a:t>Find the names of the players who won at least one gold and one silver. </a:t>
            </a:r>
          </a:p>
          <a:p>
            <a:endParaRPr lang="en-SG" sz="2400" dirty="0"/>
          </a:p>
        </p:txBody>
      </p:sp>
      <p:sp>
        <p:nvSpPr>
          <p:cNvPr id="13314" name="Rectangle 182"/>
          <p:cNvSpPr>
            <a:spLocks noChangeArrowheads="1"/>
          </p:cNvSpPr>
          <p:nvPr/>
        </p:nvSpPr>
        <p:spPr bwMode="auto">
          <a:xfrm>
            <a:off x="4005263" y="3770313"/>
            <a:ext cx="12700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Text Box 258"/>
          <p:cNvSpPr txBox="1">
            <a:spLocks noChangeArrowheads="1"/>
          </p:cNvSpPr>
          <p:nvPr/>
        </p:nvSpPr>
        <p:spPr bwMode="auto">
          <a:xfrm>
            <a:off x="304800" y="152400"/>
            <a:ext cx="25539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="1" dirty="0" smtClean="0"/>
              <a:t>Question </a:t>
            </a:r>
            <a:r>
              <a:rPr lang="en-US" sz="3200" b="1" dirty="0"/>
              <a:t>3</a:t>
            </a:r>
            <a:r>
              <a:rPr lang="en-US" sz="3200" b="1" dirty="0" smtClean="0"/>
              <a:t> (</a:t>
            </a:r>
            <a:r>
              <a:rPr lang="en-US" sz="3200" b="1" dirty="0" err="1" smtClean="0"/>
              <a:t>i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217" y="4607500"/>
                <a:ext cx="9123784" cy="1197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SG" sz="240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𝑛𝑎𝑚𝑒</m:t>
                          </m:r>
                        </m:sub>
                      </m:sSub>
                      <m:d>
                        <m:dPr>
                          <m:ctrlPr>
                            <a:rPr lang="en-SG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sz="24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𝑝𝑙𝑎𝑦𝑒𝑟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𝑖𝑑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SG" sz="240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400" i="1" smtClean="0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𝑚𝑒𝑑𝑎𝑙</m:t>
                                      </m:r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=′</m:t>
                                      </m:r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𝑔𝑜𝑙𝑑</m:t>
                                      </m:r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′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𝑟𝑒𝑠𝑢𝑙𝑡𝑠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SG" sz="24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𝑝𝑙𝑎𝑦𝑒𝑟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𝑖𝑑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SG" sz="240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400" i="1" smtClean="0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𝑚𝑒𝑑𝑎𝑙</m:t>
                                      </m:r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=′</m:t>
                                      </m:r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𝑠𝑖𝑙𝑣𝑒𝑟</m:t>
                                      </m:r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′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/>
                                          <a:ea typeface="Cambria Math"/>
                                        </a:rPr>
                                        <m:t>𝑟𝑒𝑠𝑢𝑙𝑡𝑠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SG" sz="2400" i="1" smtClean="0">
                              <a:latin typeface="Cambria Math"/>
                              <a:ea typeface="Cambria Math"/>
                            </a:rPr>
                            <m:t>⋈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𝑃𝑙𝑎𝑦𝑒𝑟𝑠</m:t>
                          </m:r>
                        </m:e>
                      </m: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7" y="4607500"/>
                <a:ext cx="9123784" cy="11977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69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93035" y="908720"/>
            <a:ext cx="8406063" cy="2937165"/>
          </a:xfrm>
        </p:spPr>
        <p:txBody>
          <a:bodyPr/>
          <a:lstStyle/>
          <a:p>
            <a:r>
              <a:rPr lang="en-SG" sz="2400" dirty="0" smtClean="0"/>
              <a:t>PLAYERS(player-id</a:t>
            </a:r>
            <a:r>
              <a:rPr lang="en-SG" sz="2400" dirty="0"/>
              <a:t>, name, </a:t>
            </a:r>
            <a:r>
              <a:rPr lang="en-SG" sz="2400" dirty="0" err="1"/>
              <a:t>countryname</a:t>
            </a:r>
            <a:r>
              <a:rPr lang="en-SG" sz="2400" dirty="0"/>
              <a:t>, </a:t>
            </a:r>
            <a:r>
              <a:rPr lang="en-SG" sz="2400" dirty="0" smtClean="0"/>
              <a:t>age)</a:t>
            </a:r>
          </a:p>
          <a:p>
            <a:r>
              <a:rPr lang="en-SG" sz="2400" dirty="0" smtClean="0"/>
              <a:t>EVENTS(event-id</a:t>
            </a:r>
            <a:r>
              <a:rPr lang="en-SG" sz="2400" dirty="0"/>
              <a:t>, name, </a:t>
            </a:r>
            <a:r>
              <a:rPr lang="en-SG" sz="2400" dirty="0" err="1"/>
              <a:t>eventtype</a:t>
            </a:r>
            <a:r>
              <a:rPr lang="en-SG" sz="2400" dirty="0"/>
              <a:t>) </a:t>
            </a:r>
          </a:p>
          <a:p>
            <a:r>
              <a:rPr lang="en-SG" sz="2400" dirty="0"/>
              <a:t>RESULTS(player-id, event-id, medal) </a:t>
            </a:r>
          </a:p>
          <a:p>
            <a:r>
              <a:rPr lang="en-SG" sz="2400" dirty="0"/>
              <a:t>Find the players who did not win a medal. </a:t>
            </a:r>
          </a:p>
          <a:p>
            <a:endParaRPr lang="en-SG" dirty="0"/>
          </a:p>
        </p:txBody>
      </p:sp>
      <p:sp>
        <p:nvSpPr>
          <p:cNvPr id="13314" name="Rectangle 182"/>
          <p:cNvSpPr>
            <a:spLocks noChangeArrowheads="1"/>
          </p:cNvSpPr>
          <p:nvPr/>
        </p:nvSpPr>
        <p:spPr bwMode="auto">
          <a:xfrm>
            <a:off x="4005263" y="3770313"/>
            <a:ext cx="12700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Text Box 258"/>
          <p:cNvSpPr txBox="1">
            <a:spLocks noChangeArrowheads="1"/>
          </p:cNvSpPr>
          <p:nvPr/>
        </p:nvSpPr>
        <p:spPr bwMode="auto">
          <a:xfrm>
            <a:off x="304800" y="152400"/>
            <a:ext cx="26677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="1" dirty="0" smtClean="0"/>
              <a:t>Question 3 (ii)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217" y="4114800"/>
                <a:ext cx="9123784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SG" sz="240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𝑛𝑎𝑚𝑒</m:t>
                          </m:r>
                        </m:sub>
                      </m:sSub>
                      <m:d>
                        <m:dPr>
                          <m:ctrlPr>
                            <a:rPr lang="en-SG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sz="24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𝑝𝑙𝑎𝑦𝑒𝑟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𝑖𝑑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smtClean="0">
                                      <a:latin typeface="Cambria Math"/>
                                      <a:ea typeface="Cambria Math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𝑙𝑎𝑦𝑒𝑟𝑠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SG" sz="24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𝑝𝑙𝑎𝑦𝑒𝑟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𝑖𝑑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smtClean="0">
                                      <a:latin typeface="Cambria Math"/>
                                      <a:ea typeface="Cambria Math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𝑒𝑠𝑢𝑙𝑡𝑠</m:t>
                                  </m:r>
                                </m:e>
                              </m:d>
                            </m:e>
                          </m:d>
                          <m:r>
                            <a:rPr lang="en-SG" sz="2400" i="1" smtClean="0">
                              <a:latin typeface="Cambria Math"/>
                              <a:ea typeface="Cambria Math"/>
                            </a:rPr>
                            <m:t>⋈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𝑃𝑙𝑎𝑦𝑒𝑟𝑠</m:t>
                          </m:r>
                        </m:e>
                      </m: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7" y="4114800"/>
                <a:ext cx="9123784" cy="6450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8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93035" y="908720"/>
            <a:ext cx="8406063" cy="2937165"/>
          </a:xfrm>
        </p:spPr>
        <p:txBody>
          <a:bodyPr/>
          <a:lstStyle/>
          <a:p>
            <a:r>
              <a:rPr lang="en-SG" sz="2400" dirty="0" smtClean="0"/>
              <a:t>PLAYERS(player-id</a:t>
            </a:r>
            <a:r>
              <a:rPr lang="en-SG" sz="2400" dirty="0"/>
              <a:t>, name, </a:t>
            </a:r>
            <a:r>
              <a:rPr lang="en-SG" sz="2400" dirty="0" err="1"/>
              <a:t>countryname</a:t>
            </a:r>
            <a:r>
              <a:rPr lang="en-SG" sz="2400" dirty="0"/>
              <a:t>, </a:t>
            </a:r>
            <a:r>
              <a:rPr lang="en-SG" sz="2400" dirty="0" smtClean="0"/>
              <a:t>age)</a:t>
            </a:r>
          </a:p>
          <a:p>
            <a:r>
              <a:rPr lang="en-SG" sz="2400" dirty="0" smtClean="0"/>
              <a:t>EVENTS(event-id</a:t>
            </a:r>
            <a:r>
              <a:rPr lang="en-SG" sz="2400" dirty="0"/>
              <a:t>, name, </a:t>
            </a:r>
            <a:r>
              <a:rPr lang="en-SG" sz="2400" dirty="0" err="1"/>
              <a:t>eventtype</a:t>
            </a:r>
            <a:r>
              <a:rPr lang="en-SG" sz="2400" dirty="0"/>
              <a:t>) </a:t>
            </a:r>
          </a:p>
          <a:p>
            <a:r>
              <a:rPr lang="en-SG" sz="2400" dirty="0"/>
              <a:t>RESULTS(player-id, event-id, medal) </a:t>
            </a:r>
          </a:p>
          <a:p>
            <a:r>
              <a:rPr lang="en-SG" sz="2400" dirty="0"/>
              <a:t>Find the names of all the players with the minimum age. </a:t>
            </a:r>
          </a:p>
          <a:p>
            <a:endParaRPr lang="en-SG" dirty="0"/>
          </a:p>
        </p:txBody>
      </p:sp>
      <p:sp>
        <p:nvSpPr>
          <p:cNvPr id="13314" name="Rectangle 182"/>
          <p:cNvSpPr>
            <a:spLocks noChangeArrowheads="1"/>
          </p:cNvSpPr>
          <p:nvPr/>
        </p:nvSpPr>
        <p:spPr bwMode="auto">
          <a:xfrm>
            <a:off x="4005263" y="3770313"/>
            <a:ext cx="12700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Text Box 258"/>
          <p:cNvSpPr txBox="1">
            <a:spLocks noChangeArrowheads="1"/>
          </p:cNvSpPr>
          <p:nvPr/>
        </p:nvSpPr>
        <p:spPr bwMode="auto">
          <a:xfrm>
            <a:off x="304800" y="152400"/>
            <a:ext cx="27815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="1" dirty="0" smtClean="0"/>
              <a:t>Question 3 (iii)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217" y="3933056"/>
                <a:ext cx="9123784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SG" sz="240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𝑛𝑎𝑚𝑒</m:t>
                          </m:r>
                        </m:sub>
                      </m:sSub>
                      <m:d>
                        <m:dPr>
                          <m:ctrlPr>
                            <a:rPr lang="en-SG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𝑃𝑙𝑎𝑦𝑒𝑟𝑠</m:t>
                          </m:r>
                          <m:sSub>
                            <m:sSubPr>
                              <m:ctrlPr>
                                <a:rPr lang="en-SG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SG" sz="2400" i="1" smtClean="0">
                                  <a:latin typeface="Cambria Math"/>
                                  <a:ea typeface="Cambria Math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𝑎𝑔𝑒</m:t>
                              </m:r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𝑀𝑖𝑛𝐴𝑔𝑒</m:t>
                              </m:r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𝑀𝐼𝑁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𝑎𝑔𝑒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)→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𝑀𝑖𝑛𝐴𝑔𝑒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𝑃𝑙𝑎𝑦𝑒𝑟𝑠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7" y="3933056"/>
                <a:ext cx="9123784" cy="645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80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4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/>
          <a:lstStyle/>
          <a:p>
            <a:pPr lvl="0"/>
            <a:r>
              <a:rPr lang="en-US" sz="2800" dirty="0"/>
              <a:t>Give a relational algebra expression to find the maximum value in the relation R(A) </a:t>
            </a:r>
            <a:r>
              <a:rPr lang="en-US" sz="2800" i="1" dirty="0"/>
              <a:t>without using aggregate operations</a:t>
            </a:r>
            <a:r>
              <a:rPr lang="en-US" sz="2800" dirty="0"/>
              <a:t>.</a:t>
            </a:r>
            <a:endParaRPr lang="en-SG" sz="2800" dirty="0"/>
          </a:p>
          <a:p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7190" y="3718773"/>
                <a:ext cx="91237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/>
                          <a:ea typeface="Cambria Math"/>
                        </a:rPr>
                        <m:t>𝑅</m:t>
                      </m:r>
                      <m:r>
                        <a:rPr lang="en-US" sz="3600" i="1">
                          <a:latin typeface="Cambria Math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3600" b="0" i="1" smtClean="0">
                          <a:latin typeface="Cambria Math"/>
                          <a:ea typeface="Cambria Math"/>
                        </a:rPr>
                        <m:t>𝑅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/>
                              <a:ea typeface="Cambria Math"/>
                            </a:rPr>
                            <m:t>⋈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𝑆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/>
                              <a:ea typeface="Cambria Math"/>
                            </a:rPr>
                            <m:t>𝜌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SG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90" y="3718773"/>
                <a:ext cx="9123784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99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20512</TotalTime>
  <Words>585</Words>
  <Application>Microsoft Office PowerPoint</Application>
  <PresentationFormat>On-screen Show (4:3)</PresentationFormat>
  <Paragraphs>109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Iskoola Pota</vt:lpstr>
      <vt:lpstr>宋体</vt:lpstr>
      <vt:lpstr>Arial</vt:lpstr>
      <vt:lpstr>Calibri</vt:lpstr>
      <vt:lpstr>Cambria Math</vt:lpstr>
      <vt:lpstr>Garamond</vt:lpstr>
      <vt:lpstr>Symbol</vt:lpstr>
      <vt:lpstr>Times New Roman</vt:lpstr>
      <vt:lpstr>Wingdings</vt:lpstr>
      <vt:lpstr>Edge</vt:lpstr>
      <vt:lpstr>CS2102 Database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Xiaokui XIAO</cp:lastModifiedBy>
  <cp:revision>1166</cp:revision>
  <cp:lastPrinted>2016-10-10T02:02:23Z</cp:lastPrinted>
  <dcterms:created xsi:type="dcterms:W3CDTF">2009-03-02T02:47:37Z</dcterms:created>
  <dcterms:modified xsi:type="dcterms:W3CDTF">2019-07-19T07:26:41Z</dcterms:modified>
</cp:coreProperties>
</file>