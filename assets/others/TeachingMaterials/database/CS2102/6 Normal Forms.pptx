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84"/>
  </p:notesMasterIdLst>
  <p:handoutMasterIdLst>
    <p:handoutMasterId r:id="rId85"/>
  </p:handoutMasterIdLst>
  <p:sldIdLst>
    <p:sldId id="256" r:id="rId2"/>
    <p:sldId id="886" r:id="rId3"/>
    <p:sldId id="812" r:id="rId4"/>
    <p:sldId id="813" r:id="rId5"/>
    <p:sldId id="819" r:id="rId6"/>
    <p:sldId id="817" r:id="rId7"/>
    <p:sldId id="818" r:id="rId8"/>
    <p:sldId id="820" r:id="rId9"/>
    <p:sldId id="821" r:id="rId10"/>
    <p:sldId id="822" r:id="rId11"/>
    <p:sldId id="823" r:id="rId12"/>
    <p:sldId id="824" r:id="rId13"/>
    <p:sldId id="825" r:id="rId14"/>
    <p:sldId id="826" r:id="rId15"/>
    <p:sldId id="827" r:id="rId16"/>
    <p:sldId id="828" r:id="rId17"/>
    <p:sldId id="829" r:id="rId18"/>
    <p:sldId id="830" r:id="rId19"/>
    <p:sldId id="831" r:id="rId20"/>
    <p:sldId id="832" r:id="rId21"/>
    <p:sldId id="833" r:id="rId22"/>
    <p:sldId id="834" r:id="rId23"/>
    <p:sldId id="835" r:id="rId24"/>
    <p:sldId id="836" r:id="rId25"/>
    <p:sldId id="837" r:id="rId26"/>
    <p:sldId id="654" r:id="rId27"/>
    <p:sldId id="655" r:id="rId28"/>
    <p:sldId id="889" r:id="rId29"/>
    <p:sldId id="890" r:id="rId30"/>
    <p:sldId id="657" r:id="rId31"/>
    <p:sldId id="658" r:id="rId32"/>
    <p:sldId id="839" r:id="rId33"/>
    <p:sldId id="840" r:id="rId34"/>
    <p:sldId id="841" r:id="rId35"/>
    <p:sldId id="842" r:id="rId36"/>
    <p:sldId id="843" r:id="rId37"/>
    <p:sldId id="891" r:id="rId38"/>
    <p:sldId id="892" r:id="rId39"/>
    <p:sldId id="659" r:id="rId40"/>
    <p:sldId id="660" r:id="rId41"/>
    <p:sldId id="661" r:id="rId42"/>
    <p:sldId id="662" r:id="rId43"/>
    <p:sldId id="663" r:id="rId44"/>
    <p:sldId id="664" r:id="rId45"/>
    <p:sldId id="665" r:id="rId46"/>
    <p:sldId id="666" r:id="rId47"/>
    <p:sldId id="845" r:id="rId48"/>
    <p:sldId id="846" r:id="rId49"/>
    <p:sldId id="847" r:id="rId50"/>
    <p:sldId id="848" r:id="rId51"/>
    <p:sldId id="849" r:id="rId52"/>
    <p:sldId id="850" r:id="rId53"/>
    <p:sldId id="851" r:id="rId54"/>
    <p:sldId id="852" r:id="rId55"/>
    <p:sldId id="853" r:id="rId56"/>
    <p:sldId id="855" r:id="rId57"/>
    <p:sldId id="856" r:id="rId58"/>
    <p:sldId id="857" r:id="rId59"/>
    <p:sldId id="858" r:id="rId60"/>
    <p:sldId id="859" r:id="rId61"/>
    <p:sldId id="860" r:id="rId62"/>
    <p:sldId id="861" r:id="rId63"/>
    <p:sldId id="862" r:id="rId64"/>
    <p:sldId id="863" r:id="rId65"/>
    <p:sldId id="864" r:id="rId66"/>
    <p:sldId id="893" r:id="rId67"/>
    <p:sldId id="894" r:id="rId68"/>
    <p:sldId id="865" r:id="rId69"/>
    <p:sldId id="866" r:id="rId70"/>
    <p:sldId id="867" r:id="rId71"/>
    <p:sldId id="868" r:id="rId72"/>
    <p:sldId id="869" r:id="rId73"/>
    <p:sldId id="870" r:id="rId74"/>
    <p:sldId id="871" r:id="rId75"/>
    <p:sldId id="872" r:id="rId76"/>
    <p:sldId id="873" r:id="rId77"/>
    <p:sldId id="874" r:id="rId78"/>
    <p:sldId id="875" r:id="rId79"/>
    <p:sldId id="876" r:id="rId80"/>
    <p:sldId id="877" r:id="rId81"/>
    <p:sldId id="878" r:id="rId82"/>
    <p:sldId id="879" r:id="rId83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CCFF99"/>
    <a:srgbClr val="008000"/>
    <a:srgbClr val="FF9900"/>
    <a:srgbClr val="33CC33"/>
    <a:srgbClr val="66FF33"/>
    <a:srgbClr val="CC00CC"/>
    <a:srgbClr val="00CC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9" autoAdjust="0"/>
    <p:restoredTop sz="25490" autoAdjust="0"/>
  </p:normalViewPr>
  <p:slideViewPr>
    <p:cSldViewPr>
      <p:cViewPr varScale="1">
        <p:scale>
          <a:sx n="51" d="100"/>
          <a:sy n="51" d="100"/>
        </p:scale>
        <p:origin x="64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4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4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4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1"/>
            <a:ext cx="5335270" cy="438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4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670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/>
              <a:t>CS2102</a:t>
            </a:r>
            <a:br>
              <a:rPr lang="en-US" altLang="zh-CN" sz="4400" dirty="0"/>
            </a:br>
            <a:r>
              <a:rPr lang="en-US" altLang="zh-CN" sz="4400" dirty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BCNF Definition: </a:t>
            </a:r>
          </a:p>
          <a:p>
            <a:pPr lvl="1"/>
            <a:r>
              <a:rPr lang="en-US" dirty="0"/>
              <a:t>A table R is in BCNF, if and only if for </a:t>
            </a:r>
            <a:r>
              <a:rPr lang="en-US" dirty="0">
                <a:solidFill>
                  <a:srgbClr val="A50021"/>
                </a:solidFill>
              </a:rPr>
              <a:t>any</a:t>
            </a:r>
            <a:r>
              <a:rPr lang="en-US" dirty="0"/>
              <a:t> FD on R,</a:t>
            </a:r>
          </a:p>
          <a:p>
            <a:pPr lvl="2"/>
            <a:r>
              <a:rPr lang="en-US" dirty="0"/>
              <a:t>Either the FD is trivial </a:t>
            </a:r>
          </a:p>
          <a:p>
            <a:pPr lvl="2"/>
            <a:r>
              <a:rPr lang="en-US" dirty="0"/>
              <a:t>Or the left hand side of the FD is a </a:t>
            </a:r>
            <a:r>
              <a:rPr lang="en-US" dirty="0" err="1"/>
              <a:t>superkey</a:t>
            </a:r>
            <a:r>
              <a:rPr lang="en-US" dirty="0"/>
              <a:t> of R</a:t>
            </a:r>
          </a:p>
          <a:p>
            <a:r>
              <a:rPr lang="en-US" dirty="0"/>
              <a:t>BCNF Check:</a:t>
            </a:r>
          </a:p>
          <a:p>
            <a:pPr lvl="1"/>
            <a:r>
              <a:rPr lang="en-US" dirty="0"/>
              <a:t>Check if there exists a </a:t>
            </a:r>
            <a:r>
              <a:rPr lang="en-US" dirty="0">
                <a:solidFill>
                  <a:srgbClr val="C00000"/>
                </a:solidFill>
              </a:rPr>
              <a:t>bad</a:t>
            </a:r>
            <a:r>
              <a:rPr lang="en-US" dirty="0"/>
              <a:t> closure, i.e., a “more but not all” closure</a:t>
            </a:r>
          </a:p>
          <a:p>
            <a:pPr lvl="1"/>
            <a:r>
              <a:rPr lang="en-US" dirty="0"/>
              <a:t>E.g., a table R(X, Y, Z), with {X}</a:t>
            </a:r>
            <a:r>
              <a:rPr lang="en-US" baseline="30000" dirty="0"/>
              <a:t>+</a:t>
            </a:r>
            <a:r>
              <a:rPr lang="en-US" dirty="0"/>
              <a:t> = {X, Y}</a:t>
            </a:r>
          </a:p>
          <a:p>
            <a:r>
              <a:rPr lang="en-US" dirty="0"/>
              <a:t>BCNF Decomposition</a:t>
            </a:r>
          </a:p>
          <a:p>
            <a:pPr lvl="1"/>
            <a:r>
              <a:rPr lang="en-US" dirty="0"/>
              <a:t>If we have a table a table R(X, Y, Z), with {X}</a:t>
            </a:r>
            <a:r>
              <a:rPr lang="en-US" baseline="30000" dirty="0"/>
              <a:t>+</a:t>
            </a:r>
            <a:r>
              <a:rPr lang="en-US" dirty="0"/>
              <a:t> = {X, Y}</a:t>
            </a:r>
          </a:p>
          <a:p>
            <a:pPr lvl="1"/>
            <a:r>
              <a:rPr lang="en-US" dirty="0"/>
              <a:t>Then decompose R into R1(X, Y) and R2(X, Z)</a:t>
            </a:r>
          </a:p>
          <a:p>
            <a:pPr lvl="1"/>
            <a:r>
              <a:rPr lang="en-US" dirty="0"/>
              <a:t>Repeat until all tables are in BCNF</a:t>
            </a:r>
          </a:p>
        </p:txBody>
      </p:sp>
    </p:spTree>
    <p:extLst>
      <p:ext uri="{BB962C8B-B14F-4D97-AF65-F5344CB8AC3E}">
        <p14:creationId xmlns:p14="http://schemas.microsoft.com/office/powerpoint/2010/main" val="273831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BCNF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properties</a:t>
            </a:r>
          </a:p>
          <a:p>
            <a:pPr lvl="1"/>
            <a:r>
              <a:rPr lang="en-US" dirty="0"/>
              <a:t>No update or deletion anomalies</a:t>
            </a:r>
          </a:p>
          <a:p>
            <a:pPr lvl="1"/>
            <a:r>
              <a:rPr lang="en-US" dirty="0"/>
              <a:t>Small redundancy</a:t>
            </a:r>
          </a:p>
          <a:p>
            <a:pPr lvl="1"/>
            <a:r>
              <a:rPr lang="en-US" dirty="0"/>
              <a:t>The original table can always be reconstructed from the decomposed tables</a:t>
            </a:r>
          </a:p>
          <a:p>
            <a:r>
              <a:rPr lang="en-US" dirty="0">
                <a:solidFill>
                  <a:srgbClr val="C00000"/>
                </a:solidFill>
              </a:rPr>
              <a:t>Bad properties</a:t>
            </a:r>
          </a:p>
          <a:p>
            <a:pPr lvl="1"/>
            <a:r>
              <a:rPr lang="en-US" dirty="0"/>
              <a:t>Dependencies may not be preserved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376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BCNF Decomposition may not Preserve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R(A, B, C) with FDs AB</a:t>
            </a:r>
            <a:r>
              <a:rPr lang="en-US" dirty="0">
                <a:sym typeface="Wingdings" pitchFamily="2" charset="2"/>
              </a:rPr>
              <a:t>C, CB</a:t>
            </a:r>
          </a:p>
          <a:p>
            <a:r>
              <a:rPr lang="en-US" dirty="0">
                <a:sym typeface="Wingdings" pitchFamily="2" charset="2"/>
              </a:rPr>
              <a:t>It is not in BCNF since {C}</a:t>
            </a:r>
            <a:r>
              <a:rPr lang="en-US" sz="4000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{B, C}</a:t>
            </a:r>
          </a:p>
          <a:p>
            <a:r>
              <a:rPr lang="en-US" dirty="0">
                <a:sym typeface="Wingdings" pitchFamily="2" charset="2"/>
              </a:rPr>
              <a:t>Let’s try to decompose R: </a:t>
            </a:r>
            <a:r>
              <a:rPr lang="en-US" dirty="0"/>
              <a:t>Decompose 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(B, C), R</a:t>
            </a:r>
            <a:r>
              <a:rPr lang="en-US" baseline="-25000" dirty="0"/>
              <a:t>2</a:t>
            </a:r>
            <a:r>
              <a:rPr lang="en-US" dirty="0"/>
              <a:t>(A, C), both in BCNF</a:t>
            </a:r>
          </a:p>
        </p:txBody>
      </p:sp>
    </p:spTree>
    <p:extLst>
      <p:ext uri="{BB962C8B-B14F-4D97-AF65-F5344CB8AC3E}">
        <p14:creationId xmlns:p14="http://schemas.microsoft.com/office/powerpoint/2010/main" val="6003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BCNF</a:t>
            </a:r>
          </a:p>
          <a:p>
            <a:pPr lvl="1"/>
            <a:r>
              <a:rPr lang="en-US" dirty="0"/>
              <a:t>No update or deletion anomalies</a:t>
            </a:r>
          </a:p>
          <a:p>
            <a:pPr lvl="1"/>
            <a:r>
              <a:rPr lang="en-US" dirty="0"/>
              <a:t>Small redundancy</a:t>
            </a:r>
          </a:p>
          <a:p>
            <a:pPr lvl="1"/>
            <a:r>
              <a:rPr lang="en-US" dirty="0"/>
              <a:t>Lossless join property</a:t>
            </a:r>
          </a:p>
          <a:p>
            <a:pPr lvl="1"/>
            <a:r>
              <a:rPr lang="en-US" dirty="0"/>
              <a:t>But may not preserve all FDs</a:t>
            </a:r>
          </a:p>
          <a:p>
            <a:r>
              <a:rPr lang="en-US" dirty="0"/>
              <a:t>Third Normal Form (3NF)</a:t>
            </a:r>
          </a:p>
          <a:p>
            <a:pPr lvl="1"/>
            <a:r>
              <a:rPr lang="en-US" dirty="0"/>
              <a:t>Not as strict as BCNF</a:t>
            </a:r>
          </a:p>
          <a:p>
            <a:pPr lvl="1"/>
            <a:r>
              <a:rPr lang="en-US" dirty="0"/>
              <a:t>No update or deletion anomalies</a:t>
            </a:r>
          </a:p>
          <a:p>
            <a:pPr lvl="1"/>
            <a:r>
              <a:rPr lang="en-US" dirty="0"/>
              <a:t>Small redundancy (</a:t>
            </a:r>
            <a:r>
              <a:rPr lang="en-US" dirty="0">
                <a:solidFill>
                  <a:srgbClr val="C00000"/>
                </a:solidFill>
              </a:rPr>
              <a:t>not as small as BCNF, though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Lossless join property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Preserve all FDs</a:t>
            </a:r>
            <a:endParaRPr lang="en-SG" dirty="0">
              <a:solidFill>
                <a:srgbClr val="C00000"/>
              </a:solidFill>
            </a:endParaRP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280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 (3NF)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256584"/>
          </a:xfrm>
        </p:spPr>
        <p:txBody>
          <a:bodyPr>
            <a:normAutofit fontScale="92500"/>
          </a:bodyPr>
          <a:lstStyle/>
          <a:p>
            <a:r>
              <a:rPr lang="en-US" dirty="0"/>
              <a:t>Definition: A table satisfies 3NF, if and only if for any non-trivial X</a:t>
            </a:r>
            <a:r>
              <a:rPr lang="en-US" dirty="0">
                <a:sym typeface="Wingdings" pitchFamily="2" charset="2"/>
              </a:rPr>
              <a:t>Y</a:t>
            </a:r>
          </a:p>
          <a:p>
            <a:pPr lvl="1"/>
            <a:r>
              <a:rPr lang="en-US" dirty="0"/>
              <a:t>Either X is a </a:t>
            </a:r>
            <a:r>
              <a:rPr lang="en-US" dirty="0" err="1"/>
              <a:t>superkey</a:t>
            </a:r>
            <a:endParaRPr lang="en-US" dirty="0"/>
          </a:p>
          <a:p>
            <a:pPr lvl="1"/>
            <a:r>
              <a:rPr lang="en-US" dirty="0"/>
              <a:t>Or each attribute in Y is either contained in a key or in X</a:t>
            </a:r>
          </a:p>
          <a:p>
            <a:endParaRPr lang="en-US" sz="900" dirty="0"/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Given FDs: C</a:t>
            </a:r>
            <a:r>
              <a:rPr lang="en-US" dirty="0">
                <a:sym typeface="Wingdings" pitchFamily="2" charset="2"/>
              </a:rPr>
              <a:t>B, ABC, BCC</a:t>
            </a:r>
          </a:p>
          <a:p>
            <a:pPr lvl="1"/>
            <a:r>
              <a:rPr lang="en-US" dirty="0">
                <a:sym typeface="Wingdings" pitchFamily="2" charset="2"/>
              </a:rPr>
              <a:t>Keys: {AB}, {AC}</a:t>
            </a:r>
          </a:p>
          <a:p>
            <a:pPr lvl="1"/>
            <a:r>
              <a:rPr lang="en-US" dirty="0">
                <a:sym typeface="Wingdings" pitchFamily="2" charset="2"/>
              </a:rPr>
              <a:t>ABC is OK, since AB is a key of R</a:t>
            </a:r>
          </a:p>
          <a:p>
            <a:pPr lvl="1"/>
            <a:r>
              <a:rPr lang="en-US" dirty="0">
                <a:sym typeface="Wingdings" pitchFamily="2" charset="2"/>
              </a:rPr>
              <a:t>CB is OK, since B is in a key of R</a:t>
            </a:r>
          </a:p>
          <a:p>
            <a:pPr lvl="1"/>
            <a:r>
              <a:rPr lang="en-US" dirty="0">
                <a:sym typeface="Wingdings" pitchFamily="2" charset="2"/>
              </a:rPr>
              <a:t>BCC is OK, it is a trivial FD</a:t>
            </a:r>
          </a:p>
          <a:p>
            <a:pPr lvl="1"/>
            <a:r>
              <a:rPr lang="en-US" dirty="0">
                <a:sym typeface="Wingdings" pitchFamily="2" charset="2"/>
              </a:rPr>
              <a:t>So R is in 3NF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3285903"/>
              </p:ext>
            </p:extLst>
          </p:nvPr>
        </p:nvGraphicFramePr>
        <p:xfrm>
          <a:off x="6606864" y="4301807"/>
          <a:ext cx="1209735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56176" y="4293096"/>
            <a:ext cx="407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6020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 (3NF)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Definition: A table satisfies 3NF, if and only if for any non-trivial X</a:t>
            </a:r>
            <a:r>
              <a:rPr lang="en-US" dirty="0">
                <a:sym typeface="Wingdings" pitchFamily="2" charset="2"/>
              </a:rPr>
              <a:t>Y</a:t>
            </a:r>
          </a:p>
          <a:p>
            <a:pPr lvl="1"/>
            <a:r>
              <a:rPr lang="en-US" dirty="0"/>
              <a:t>Either X is a </a:t>
            </a:r>
            <a:r>
              <a:rPr lang="en-US" dirty="0" err="1"/>
              <a:t>superkey</a:t>
            </a:r>
            <a:endParaRPr lang="en-US" dirty="0"/>
          </a:p>
          <a:p>
            <a:pPr lvl="1"/>
            <a:r>
              <a:rPr lang="en-US" dirty="0"/>
              <a:t>Or each attribute in Y is either contained in a key or in X</a:t>
            </a:r>
          </a:p>
          <a:p>
            <a:endParaRPr lang="en-US" dirty="0"/>
          </a:p>
          <a:p>
            <a:r>
              <a:rPr lang="en-US" dirty="0"/>
              <a:t>Another Example: </a:t>
            </a:r>
          </a:p>
          <a:p>
            <a:pPr lvl="1"/>
            <a:r>
              <a:rPr lang="en-US" dirty="0"/>
              <a:t>Given FDs: A</a:t>
            </a:r>
            <a:r>
              <a:rPr lang="en-US" dirty="0">
                <a:sym typeface="Wingdings" pitchFamily="2" charset="2"/>
              </a:rPr>
              <a:t>B, BC</a:t>
            </a:r>
          </a:p>
          <a:p>
            <a:pPr lvl="1"/>
            <a:r>
              <a:rPr lang="en-US" dirty="0">
                <a:sym typeface="Wingdings" pitchFamily="2" charset="2"/>
              </a:rPr>
              <a:t>Keys: {A}</a:t>
            </a:r>
          </a:p>
          <a:p>
            <a:pPr lvl="1"/>
            <a:r>
              <a:rPr lang="en-US" dirty="0">
                <a:sym typeface="Wingdings" pitchFamily="2" charset="2"/>
              </a:rPr>
              <a:t>AB is OK, since A is a key of R</a:t>
            </a:r>
          </a:p>
          <a:p>
            <a:pPr lvl="1"/>
            <a:r>
              <a:rPr lang="en-US" dirty="0">
                <a:sym typeface="Wingdings" pitchFamily="2" charset="2"/>
              </a:rPr>
              <a:t>BC is not OK, since C is NOT in a key of R, and it is NOT in the left hand side</a:t>
            </a:r>
          </a:p>
          <a:p>
            <a:pPr lvl="1"/>
            <a:r>
              <a:rPr lang="en-US" dirty="0">
                <a:sym typeface="Wingdings" pitchFamily="2" charset="2"/>
              </a:rPr>
              <a:t>So R is NOT in 3NF</a:t>
            </a:r>
            <a:endParaRPr lang="en-SG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6611675"/>
              </p:ext>
            </p:extLst>
          </p:nvPr>
        </p:nvGraphicFramePr>
        <p:xfrm>
          <a:off x="6170577" y="3509719"/>
          <a:ext cx="1209735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9889" y="3501008"/>
            <a:ext cx="407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74056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vs. 3NF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BCNF: </a:t>
            </a:r>
            <a:r>
              <a:rPr lang="en-SG" dirty="0">
                <a:sym typeface="Wingdings" pitchFamily="2" charset="2"/>
              </a:rPr>
              <a:t>For any non-trivial FD on a table R, its left hand side is a super-key for R</a:t>
            </a:r>
            <a:endParaRPr lang="en-SG" dirty="0"/>
          </a:p>
          <a:p>
            <a:r>
              <a:rPr lang="en-SG" dirty="0">
                <a:sym typeface="Wingdings" pitchFamily="2" charset="2"/>
              </a:rPr>
              <a:t>3NF: For any non-trivial FD on a table R, either its left hand side is a super-key for R, </a:t>
            </a:r>
            <a:r>
              <a:rPr lang="en-SG" dirty="0">
                <a:solidFill>
                  <a:srgbClr val="C00000"/>
                </a:solidFill>
                <a:sym typeface="Wingdings" pitchFamily="2" charset="2"/>
              </a:rPr>
              <a:t>or its right hand side is part of a key</a:t>
            </a:r>
          </a:p>
          <a:p>
            <a:r>
              <a:rPr lang="en-US" dirty="0">
                <a:sym typeface="Wingdings" pitchFamily="2" charset="2"/>
              </a:rPr>
              <a:t>BCNF is more restrictive than 3NF</a:t>
            </a:r>
          </a:p>
          <a:p>
            <a:r>
              <a:rPr lang="en-US" dirty="0">
                <a:sym typeface="Wingdings" pitchFamily="2" charset="2"/>
              </a:rPr>
              <a:t>Therefore, if a table is in BCNF, then it must also be in 3NF; but not necessarily vice versa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156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Check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Input: a table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</a:p>
          <a:p>
            <a:pPr marL="841375" lvl="1" indent="-514350"/>
            <a:r>
              <a:rPr lang="en-US" dirty="0"/>
              <a:t>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</a:p>
          <a:p>
            <a:pPr marL="841375" lvl="1" indent="-514350"/>
            <a:r>
              <a:rPr lang="en-US" dirty="0"/>
              <a:t>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3NF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6022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D, and D</a:t>
            </a:r>
            <a:r>
              <a:rPr lang="en-SG" dirty="0">
                <a:sym typeface="Wingdings" pitchFamily="2" charset="2"/>
              </a:rPr>
              <a:t>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</a:p>
          <a:p>
            <a:pPr lvl="1"/>
            <a:r>
              <a:rPr lang="en-US" dirty="0"/>
              <a:t>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65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D, and D</a:t>
            </a:r>
            <a:r>
              <a:rPr lang="en-SG" dirty="0">
                <a:sym typeface="Wingdings" pitchFamily="2" charset="2"/>
              </a:rPr>
              <a:t>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2. Derive the keys of R</a:t>
            </a:r>
            <a:br>
              <a:rPr lang="en-US" dirty="0">
                <a:sym typeface="Wingdings" pitchFamily="2" charset="2"/>
              </a:rPr>
            </a:br>
            <a:endParaRPr lang="en-US" dirty="0"/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</a:p>
          <a:p>
            <a:pPr lvl="1"/>
            <a:r>
              <a:rPr lang="en-US" dirty="0"/>
              <a:t>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0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D, and D</a:t>
            </a:r>
            <a:r>
              <a:rPr lang="en-SG" dirty="0">
                <a:sym typeface="Wingdings" pitchFamily="2" charset="2"/>
              </a:rPr>
              <a:t>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2. Derive the keys of R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Keys: AB, BC, BD</a:t>
            </a:r>
            <a:endParaRPr lang="en-US" dirty="0"/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</a:p>
          <a:p>
            <a:pPr lvl="1"/>
            <a:r>
              <a:rPr lang="en-US" dirty="0"/>
              <a:t>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03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SG" dirty="0"/>
              <a:t>R(A, B, C, D)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D, and D</a:t>
            </a:r>
            <a:r>
              <a:rPr lang="en-SG" dirty="0">
                <a:sym typeface="Wingdings" pitchFamily="2" charset="2"/>
              </a:rPr>
              <a:t>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2. Derive the keys of R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Keys: AB, BC, BD</a:t>
            </a:r>
            <a:endParaRPr lang="en-US" dirty="0"/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</a:p>
          <a:p>
            <a:pPr lvl="1"/>
            <a:r>
              <a:rPr lang="en-US" dirty="0"/>
              <a:t>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</a:p>
          <a:p>
            <a:pPr marL="344487" lvl="1" indent="0">
              <a:buNone/>
            </a:pPr>
            <a:r>
              <a:rPr lang="en-US" sz="2800" dirty="0"/>
              <a:t>3. </a:t>
            </a: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28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841375" lvl="1" indent="-51435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87566" y="3933056"/>
            <a:ext cx="15728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omic Sans MS" pitchFamily="66" charset="0"/>
              </a:rPr>
              <a:t>In 3NF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27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SG" dirty="0"/>
              <a:t>R(A, B, C, D) with FDs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3NF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217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{BCD},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 	</a:t>
            </a:r>
          </a:p>
          <a:p>
            <a:pPr lvl="1"/>
            <a:r>
              <a:rPr lang="en-US" dirty="0"/>
              <a:t>{BCD}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{BCD}, 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327025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2. </a:t>
            </a:r>
            <a:r>
              <a:rPr lang="en-US" dirty="0"/>
              <a:t>Derive the keys of R</a:t>
            </a:r>
            <a:br>
              <a:rPr lang="en-US" dirty="0"/>
            </a:br>
            <a:r>
              <a:rPr lang="en-US" dirty="0"/>
              <a:t>	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{BCD},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 	</a:t>
            </a:r>
          </a:p>
          <a:p>
            <a:pPr lvl="1"/>
            <a:r>
              <a:rPr lang="en-US" dirty="0"/>
              <a:t>{BCD}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{BCD}, 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327025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81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2. </a:t>
            </a:r>
            <a:r>
              <a:rPr lang="en-US" dirty="0"/>
              <a:t>Derive the keys of R</a:t>
            </a:r>
            <a:br>
              <a:rPr lang="en-US" dirty="0"/>
            </a:br>
            <a:r>
              <a:rPr lang="en-US" dirty="0"/>
              <a:t>	keys: AB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{BCD},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 	</a:t>
            </a:r>
          </a:p>
          <a:p>
            <a:pPr lvl="1"/>
            <a:r>
              <a:rPr lang="en-US" dirty="0"/>
              <a:t>{BCD}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{BCD}, 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327025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SG" dirty="0"/>
              <a:t>R(A, B, C, D) with FDs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2. </a:t>
            </a:r>
            <a:r>
              <a:rPr lang="en-US" dirty="0"/>
              <a:t>Derive the keys of R</a:t>
            </a:r>
            <a:br>
              <a:rPr lang="en-US" dirty="0"/>
            </a:br>
            <a:r>
              <a:rPr lang="en-US" dirty="0"/>
              <a:t>	keys: AB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{BCD},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{D}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{AC},  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{CD}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 	</a:t>
            </a:r>
          </a:p>
          <a:p>
            <a:pPr lvl="1"/>
            <a:r>
              <a:rPr lang="en-US" dirty="0"/>
              <a:t>{BCD}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{BCD}, {ACD}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{ACD}</a:t>
            </a:r>
          </a:p>
          <a:p>
            <a:pPr lvl="1"/>
            <a:r>
              <a:rPr lang="en-US" dirty="0"/>
              <a:t>{ABCD}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{ABCD}</a:t>
            </a:r>
            <a:r>
              <a:rPr lang="en-US" sz="2800" dirty="0"/>
              <a:t>	</a:t>
            </a:r>
            <a:endParaRPr lang="en-US" dirty="0"/>
          </a:p>
          <a:p>
            <a:pPr marL="327025" lvl="1" indent="0">
              <a:buNone/>
            </a:pPr>
            <a:r>
              <a:rPr lang="en-US" sz="2800" dirty="0"/>
              <a:t>3. </a:t>
            </a: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28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1781" y="3933056"/>
            <a:ext cx="2324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omic Sans MS" pitchFamily="66" charset="0"/>
              </a:rPr>
              <a:t>Not in 3NF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11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SG" dirty="0"/>
              <a:t>R(A, B, C, D) with FDs A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B,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</a:t>
            </a:r>
            <a:r>
              <a:rPr lang="en-SG" dirty="0">
                <a:sym typeface="Wingdings" pitchFamily="2" charset="2"/>
              </a:rPr>
              <a:t>D, and DA</a:t>
            </a: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3NF</a:t>
            </a:r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16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SG" dirty="0"/>
              <a:t>R(A, B, C, D) with FDs A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B,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</a:t>
            </a:r>
            <a:r>
              <a:rPr lang="en-SG" dirty="0">
                <a:sym typeface="Wingdings" pitchFamily="2" charset="2"/>
              </a:rPr>
              <a:t>D, and DA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{ABCD},  {B}</a:t>
            </a:r>
            <a:r>
              <a:rPr lang="en-US" sz="4000" baseline="30000" dirty="0"/>
              <a:t>+</a:t>
            </a:r>
            <a:r>
              <a:rPr lang="en-US" dirty="0"/>
              <a:t>= {ABCD},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</a:t>
            </a:r>
            <a:endParaRPr lang="en-US" baseline="-25000" dirty="0"/>
          </a:p>
          <a:p>
            <a:pPr lvl="1"/>
            <a:r>
              <a:rPr lang="en-US" sz="2800" dirty="0"/>
              <a:t>The others are all {ABCD}	</a:t>
            </a:r>
            <a:endParaRPr lang="en-US" dirty="0"/>
          </a:p>
          <a:p>
            <a:pPr marL="327025" lvl="1" indent="0">
              <a:buNone/>
            </a:pPr>
            <a:r>
              <a:rPr lang="en-US" dirty="0"/>
              <a:t>2. Find the keys: A, B, C, D</a:t>
            </a:r>
          </a:p>
          <a:p>
            <a:pPr marL="327025" lvl="1" indent="0">
              <a:buNone/>
            </a:pPr>
            <a:r>
              <a:rPr lang="en-US" dirty="0"/>
              <a:t>3.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841375" lvl="1" indent="-51435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60680" y="764704"/>
            <a:ext cx="15728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omic Sans MS" pitchFamily="66" charset="0"/>
              </a:rPr>
              <a:t>In 3NF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03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/>
              <a:t>R(A, B, C, D, E)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DE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</a:t>
            </a:r>
            <a:r>
              <a:rPr lang="en-SG" dirty="0">
                <a:sym typeface="Wingdings" pitchFamily="2" charset="2"/>
              </a:rPr>
              <a:t>E</a:t>
            </a: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3NF</a:t>
            </a:r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80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30725"/>
          </a:xfrm>
        </p:spPr>
        <p:txBody>
          <a:bodyPr>
            <a:normAutofit fontScale="92500" lnSpcReduction="10000"/>
          </a:bodyPr>
          <a:lstStyle/>
          <a:p>
            <a:r>
              <a:rPr lang="en-SG" dirty="0"/>
              <a:t>R(A, B, C, D, E)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DE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</a:t>
            </a:r>
            <a:r>
              <a:rPr lang="en-SG" dirty="0">
                <a:sym typeface="Wingdings" pitchFamily="2" charset="2"/>
              </a:rPr>
              <a:t>E</a:t>
            </a: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(Note: ABD must be in the key)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3NF</a:t>
            </a:r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718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R(A, B, C, D, E) with FDs AB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C, DE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C, B</a:t>
            </a:r>
            <a:r>
              <a:rPr lang="en-SG" dirty="0">
                <a:sym typeface="Wingdings" pitchFamily="2" charset="2"/>
              </a:rPr>
              <a:t>E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R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First consider the supersets of {ABD} to find the keys</a:t>
            </a:r>
            <a:endParaRPr lang="en-US" baseline="-25000" dirty="0"/>
          </a:p>
          <a:p>
            <a:pPr lvl="1"/>
            <a:r>
              <a:rPr lang="en-US" sz="2800" dirty="0"/>
              <a:t>{ABD}</a:t>
            </a:r>
            <a:r>
              <a:rPr lang="en-US" sz="4400" baseline="30000" dirty="0"/>
              <a:t>+</a:t>
            </a:r>
            <a:r>
              <a:rPr lang="en-US" sz="2800" dirty="0"/>
              <a:t>= {ABCDE}</a:t>
            </a:r>
            <a:endParaRPr lang="en-US" sz="2800" baseline="-25000" dirty="0"/>
          </a:p>
          <a:p>
            <a:pPr marL="327025" lvl="1" indent="0">
              <a:buNone/>
            </a:pPr>
            <a:r>
              <a:rPr lang="en-US" dirty="0"/>
              <a:t>2. Find the keys</a:t>
            </a:r>
          </a:p>
          <a:p>
            <a:pPr marL="327025" lvl="1" indent="0">
              <a:buNone/>
            </a:pPr>
            <a:r>
              <a:rPr lang="en-US" dirty="0"/>
              <a:t>3.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01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R(A, B, C, D, E) with FDs AB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C, DE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C, B</a:t>
            </a:r>
            <a:r>
              <a:rPr lang="en-SG" dirty="0">
                <a:sym typeface="Wingdings" pitchFamily="2" charset="2"/>
              </a:rPr>
              <a:t>E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R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First consider the supersets of {ABD} to find the keys</a:t>
            </a:r>
            <a:endParaRPr lang="en-US" baseline="-25000" dirty="0"/>
          </a:p>
          <a:p>
            <a:pPr lvl="1"/>
            <a:r>
              <a:rPr lang="en-US" sz="2800" dirty="0"/>
              <a:t>{ABD}</a:t>
            </a:r>
            <a:r>
              <a:rPr lang="en-US" sz="4400" baseline="30000" dirty="0"/>
              <a:t>+</a:t>
            </a:r>
            <a:r>
              <a:rPr lang="en-US" sz="2800" dirty="0"/>
              <a:t>= {ABCDE}</a:t>
            </a:r>
            <a:endParaRPr lang="en-US" sz="2800" baseline="-25000" dirty="0"/>
          </a:p>
          <a:p>
            <a:pPr marL="327025" lvl="1" indent="0">
              <a:buNone/>
            </a:pPr>
            <a:r>
              <a:rPr lang="en-US" dirty="0"/>
              <a:t>2. Find the keys: ABD</a:t>
            </a:r>
          </a:p>
          <a:p>
            <a:pPr marL="327025" lvl="1" indent="0">
              <a:buNone/>
            </a:pPr>
            <a:r>
              <a:rPr lang="en-US" dirty="0"/>
              <a:t>3.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841375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9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SG" dirty="0"/>
              <a:t>R(A, B, C, D, E) with FDs AB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C, DE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C, B</a:t>
            </a:r>
            <a:r>
              <a:rPr lang="en-SG" dirty="0">
                <a:sym typeface="Wingdings" pitchFamily="2" charset="2"/>
              </a:rPr>
              <a:t>E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R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Now consider every closure</a:t>
            </a:r>
            <a:endParaRPr lang="en-US" baseline="-25000" dirty="0"/>
          </a:p>
          <a:p>
            <a:pPr lvl="1"/>
            <a:r>
              <a:rPr lang="en-US" sz="2800" dirty="0"/>
              <a:t>{A}</a:t>
            </a:r>
            <a:r>
              <a:rPr lang="en-US" sz="4400" baseline="30000" dirty="0"/>
              <a:t>+</a:t>
            </a:r>
            <a:r>
              <a:rPr lang="en-US" sz="2800" dirty="0"/>
              <a:t>= {A}, {B}</a:t>
            </a:r>
            <a:r>
              <a:rPr lang="en-US" sz="4400" baseline="30000" dirty="0"/>
              <a:t>+</a:t>
            </a:r>
            <a:r>
              <a:rPr lang="en-US" sz="2800" dirty="0"/>
              <a:t>= {BE}</a:t>
            </a:r>
            <a:endParaRPr lang="en-US" sz="2800" baseline="-25000" dirty="0"/>
          </a:p>
          <a:p>
            <a:pPr lvl="1"/>
            <a:r>
              <a:rPr lang="en-US" sz="2800" dirty="0"/>
              <a:t>Violation found!</a:t>
            </a:r>
          </a:p>
          <a:p>
            <a:pPr marL="327025" lvl="1" indent="0">
              <a:buNone/>
            </a:pPr>
            <a:r>
              <a:rPr lang="en-US" dirty="0"/>
              <a:t>2. Find the keys: ABD</a:t>
            </a:r>
          </a:p>
          <a:p>
            <a:pPr marL="327025" lvl="1" indent="0">
              <a:buNone/>
            </a:pPr>
            <a:r>
              <a:rPr lang="en-US" dirty="0"/>
              <a:t>3.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attributes, and</a:t>
            </a:r>
            <a:br>
              <a:rPr lang="en-US" dirty="0"/>
            </a:br>
            <a:r>
              <a:rPr lang="en-US" dirty="0"/>
              <a:t>(ii) there is an attribute in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that is not in {X</a:t>
            </a:r>
            <a:r>
              <a:rPr lang="en-US" baseline="-25000" dirty="0"/>
              <a:t>1</a:t>
            </a:r>
            <a:r>
              <a:rPr lang="en-US" dirty="0"/>
              <a:t>, …, X</a:t>
            </a:r>
            <a:r>
              <a:rPr lang="en-US" baseline="-25000" dirty="0"/>
              <a:t>K</a:t>
            </a:r>
            <a:r>
              <a:rPr lang="en-US" dirty="0"/>
              <a:t>} and is not part of a key</a:t>
            </a:r>
          </a:p>
          <a:p>
            <a:pPr marL="841375" lvl="1" indent="-51435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28184" y="764704"/>
            <a:ext cx="2324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omic Sans MS" pitchFamily="66" charset="0"/>
              </a:rPr>
              <a:t>Not in 3NF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3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2952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Given: A table NOT in 3NF</a:t>
            </a:r>
          </a:p>
          <a:p>
            <a:r>
              <a:rPr lang="en-US" dirty="0"/>
              <a:t>Objective: Decompose it into smaller tables that are in 3NF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Given: R(A, B, C, D)</a:t>
            </a:r>
          </a:p>
          <a:p>
            <a:pPr lvl="1"/>
            <a:r>
              <a:rPr lang="en-US" dirty="0"/>
              <a:t>FDs: AB</a:t>
            </a:r>
            <a:r>
              <a:rPr lang="en-US" dirty="0">
                <a:sym typeface="Wingdings" pitchFamily="2" charset="2"/>
              </a:rPr>
              <a:t>C, CB, AD</a:t>
            </a:r>
          </a:p>
          <a:p>
            <a:pPr lvl="1"/>
            <a:r>
              <a:rPr lang="en-US" dirty="0">
                <a:sym typeface="Wingdings" pitchFamily="2" charset="2"/>
              </a:rPr>
              <a:t>Keys: {AB}, {AC}</a:t>
            </a:r>
          </a:p>
          <a:p>
            <a:pPr lvl="1"/>
            <a:r>
              <a:rPr lang="en-US" dirty="0">
                <a:sym typeface="Wingdings" pitchFamily="2" charset="2"/>
              </a:rPr>
              <a:t>R is not in 3NF, due to AD</a:t>
            </a:r>
          </a:p>
          <a:p>
            <a:pPr lvl="1"/>
            <a:r>
              <a:rPr lang="en-US" dirty="0">
                <a:sym typeface="Wingdings" pitchFamily="2" charset="2"/>
              </a:rPr>
              <a:t>3NF decomposition of R: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(A, B, C),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(A, D)</a:t>
            </a:r>
            <a:endParaRPr lang="en-US" dirty="0"/>
          </a:p>
          <a:p>
            <a:endParaRPr lang="en-SG" dirty="0"/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/>
          </p:nvPr>
        </p:nvGraphicFramePr>
        <p:xfrm>
          <a:off x="6530301" y="2069559"/>
          <a:ext cx="161298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dirty="0">
                          <a:latin typeface="Calibri" pitchFamily="34" charset="0"/>
                        </a:rPr>
                        <a:t>D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/>
          </p:nvPr>
        </p:nvGraphicFramePr>
        <p:xfrm>
          <a:off x="7336791" y="3767075"/>
          <a:ext cx="80649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dirty="0">
                          <a:latin typeface="Calibri" pitchFamily="34" charset="0"/>
                        </a:rPr>
                        <a:t>D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/>
          <p:cNvGraphicFramePr>
            <a:graphicFrameLocks/>
          </p:cNvGraphicFramePr>
          <p:nvPr>
            <p:extLst/>
          </p:nvPr>
        </p:nvGraphicFramePr>
        <p:xfrm>
          <a:off x="5637402" y="3767075"/>
          <a:ext cx="1209735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 bwMode="auto">
          <a:xfrm flipH="1">
            <a:off x="6199065" y="2789639"/>
            <a:ext cx="936104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7567217" y="2789639"/>
            <a:ext cx="144016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6079613" y="2060848"/>
            <a:ext cx="407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8104" y="3182300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  <a:r>
              <a:rPr lang="en-US" sz="3200" baseline="-25000" dirty="0">
                <a:latin typeface="Calibri" pitchFamily="34" charset="0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6376" y="3212976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  <a:r>
              <a:rPr lang="en-US" sz="3200" baseline="-25000" dirty="0">
                <a:latin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099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Decomposition Algorithm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5482952" cy="500618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Given: A table R, and a set S of FDs</a:t>
            </a:r>
          </a:p>
          <a:p>
            <a:pPr lvl="1"/>
            <a:r>
              <a:rPr lang="en-US" dirty="0"/>
              <a:t>e.g., R(A, B, C, D)</a:t>
            </a:r>
            <a:br>
              <a:rPr lang="en-US" dirty="0"/>
            </a:br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BD, ABC, CD, BCD}</a:t>
            </a:r>
          </a:p>
          <a:p>
            <a:r>
              <a:rPr lang="en-US" dirty="0"/>
              <a:t>Step 1: Derive a </a:t>
            </a:r>
            <a:r>
              <a:rPr lang="en-US" dirty="0">
                <a:solidFill>
                  <a:srgbClr val="A50021"/>
                </a:solidFill>
              </a:rPr>
              <a:t>minimal basis</a:t>
            </a:r>
            <a:r>
              <a:rPr lang="en-US" dirty="0"/>
              <a:t> of S</a:t>
            </a:r>
          </a:p>
          <a:p>
            <a:pPr lvl="1"/>
            <a:r>
              <a:rPr lang="en-US" dirty="0"/>
              <a:t>e.g., a minimal basis of S is </a:t>
            </a:r>
            <a:br>
              <a:rPr lang="en-US" dirty="0"/>
            </a:br>
            <a:r>
              <a:rPr lang="en-US" dirty="0"/>
              <a:t>{A</a:t>
            </a:r>
            <a:r>
              <a:rPr lang="en-US" dirty="0">
                <a:sym typeface="Wingdings" pitchFamily="2" charset="2"/>
              </a:rPr>
              <a:t>B, AC, CD}</a:t>
            </a:r>
            <a:endParaRPr lang="en-SG" dirty="0"/>
          </a:p>
          <a:p>
            <a:r>
              <a:rPr lang="en-US" dirty="0"/>
              <a:t>Step 2: In the minimal basis, combine the FDs whose left hand sides are the same</a:t>
            </a:r>
          </a:p>
          <a:p>
            <a:pPr lvl="1"/>
            <a:r>
              <a:rPr lang="en-US" dirty="0"/>
              <a:t>e.g., after combining A</a:t>
            </a:r>
            <a:r>
              <a:rPr lang="en-US" dirty="0">
                <a:sym typeface="Wingdings" pitchFamily="2" charset="2"/>
              </a:rPr>
              <a:t>B and AC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we have {A</a:t>
            </a:r>
            <a:r>
              <a:rPr lang="en-US" dirty="0">
                <a:sym typeface="Wingdings" pitchFamily="2" charset="2"/>
              </a:rPr>
              <a:t>BC, CD}</a:t>
            </a:r>
            <a:endParaRPr lang="en-US" dirty="0"/>
          </a:p>
          <a:p>
            <a:r>
              <a:rPr lang="en-US" dirty="0"/>
              <a:t>Step 3: Create a table for each FD remained</a:t>
            </a:r>
          </a:p>
          <a:p>
            <a:pPr lvl="1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(A, B, C), R</a:t>
            </a:r>
            <a:r>
              <a:rPr lang="en-US" baseline="-25000" dirty="0"/>
              <a:t>2</a:t>
            </a:r>
            <a:r>
              <a:rPr lang="en-US" dirty="0"/>
              <a:t>(C, D)</a:t>
            </a:r>
          </a:p>
          <a:p>
            <a:r>
              <a:rPr lang="en-US" dirty="0"/>
              <a:t>Step 4: If none of the tables contain a key of the original table R, create a table that contains a key of R</a:t>
            </a:r>
          </a:p>
          <a:p>
            <a:r>
              <a:rPr lang="en-US" dirty="0"/>
              <a:t>Step 5: Remove redundant tables</a:t>
            </a:r>
          </a:p>
          <a:p>
            <a:pPr lvl="1"/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6847452" y="1565503"/>
          <a:ext cx="161298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dirty="0">
                          <a:latin typeface="Calibri" pitchFamily="34" charset="0"/>
                        </a:rPr>
                        <a:t>D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7653942" y="3263019"/>
          <a:ext cx="80649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dirty="0">
                          <a:latin typeface="Calibri" pitchFamily="34" charset="0"/>
                        </a:rPr>
                        <a:t>D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5954553" y="3263019"/>
          <a:ext cx="1209735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>
                          <a:latin typeface="Calibri" pitchFamily="34" charset="0"/>
                        </a:rPr>
                        <a:t>C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 bwMode="auto">
          <a:xfrm flipH="1">
            <a:off x="6516216" y="2285583"/>
            <a:ext cx="936104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7884368" y="2285583"/>
            <a:ext cx="144016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6396764" y="1556792"/>
            <a:ext cx="407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25255" y="2678244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  <a:r>
              <a:rPr lang="en-US" sz="3200" baseline="-25000" dirty="0">
                <a:latin typeface="Calibri" pitchFamily="34" charset="0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3527" y="2708920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R</a:t>
            </a:r>
            <a:r>
              <a:rPr lang="en-US" sz="3200" baseline="-25000" dirty="0">
                <a:latin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013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50197"/>
          </a:xfrm>
        </p:spPr>
        <p:txBody>
          <a:bodyPr>
            <a:normAutofit/>
          </a:bodyPr>
          <a:lstStyle/>
          <a:p>
            <a:r>
              <a:rPr lang="en-US" dirty="0"/>
              <a:t>Given a set S of FDs, the </a:t>
            </a:r>
            <a:r>
              <a:rPr lang="en-US" dirty="0">
                <a:solidFill>
                  <a:srgbClr val="A50021"/>
                </a:solidFill>
              </a:rPr>
              <a:t>minimal basis</a:t>
            </a:r>
            <a:r>
              <a:rPr lang="en-US" dirty="0"/>
              <a:t> of S is a </a:t>
            </a:r>
            <a:r>
              <a:rPr lang="en-US" dirty="0">
                <a:solidFill>
                  <a:srgbClr val="A50021"/>
                </a:solidFill>
              </a:rPr>
              <a:t>simplified</a:t>
            </a:r>
            <a:r>
              <a:rPr lang="en-US" dirty="0"/>
              <a:t> version of S</a:t>
            </a:r>
          </a:p>
          <a:p>
            <a:r>
              <a:rPr lang="en-US" dirty="0"/>
              <a:t>Previous example:</a:t>
            </a:r>
          </a:p>
          <a:p>
            <a:pPr lvl="1"/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BD, ABC, CD, BCD}</a:t>
            </a:r>
          </a:p>
          <a:p>
            <a:pPr lvl="1"/>
            <a:r>
              <a:rPr lang="en-US" dirty="0"/>
              <a:t>A minimal basis: {A</a:t>
            </a:r>
            <a:r>
              <a:rPr lang="en-US" dirty="0">
                <a:sym typeface="Wingdings" pitchFamily="2" charset="2"/>
              </a:rPr>
              <a:t>B, AC, CD}</a:t>
            </a:r>
            <a:endParaRPr lang="en-US" dirty="0"/>
          </a:p>
          <a:p>
            <a:r>
              <a:rPr lang="en-US" dirty="0"/>
              <a:t>How simplified?</a:t>
            </a:r>
          </a:p>
          <a:p>
            <a:r>
              <a:rPr lang="en-US" dirty="0"/>
              <a:t>Four conditions.</a:t>
            </a:r>
          </a:p>
          <a:p>
            <a:r>
              <a:rPr lang="en-US" dirty="0"/>
              <a:t>Condition 1: Any FD in the minimal basis can be derived from S, and vice versa.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071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50197"/>
          </a:xfrm>
        </p:spPr>
        <p:txBody>
          <a:bodyPr>
            <a:normAutofit/>
          </a:bodyPr>
          <a:lstStyle/>
          <a:p>
            <a:r>
              <a:rPr lang="en-US" dirty="0"/>
              <a:t>Previous example:</a:t>
            </a:r>
          </a:p>
          <a:p>
            <a:pPr lvl="1"/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BD, ABC, CD, BCD}</a:t>
            </a:r>
          </a:p>
          <a:p>
            <a:pPr lvl="1"/>
            <a:r>
              <a:rPr lang="en-US" dirty="0"/>
              <a:t>A minimal basis: {A</a:t>
            </a:r>
            <a:r>
              <a:rPr lang="en-US" dirty="0">
                <a:sym typeface="Wingdings" pitchFamily="2" charset="2"/>
              </a:rPr>
              <a:t>B, AC, CD}</a:t>
            </a:r>
            <a:endParaRPr lang="en-US" dirty="0"/>
          </a:p>
          <a:p>
            <a:r>
              <a:rPr lang="en-US" dirty="0"/>
              <a:t>Condition 2: For any FD in the minimal basis, its right hand side has only one attribute.</a:t>
            </a:r>
          </a:p>
          <a:p>
            <a:r>
              <a:rPr lang="en-US" dirty="0"/>
              <a:t>Example in S: A</a:t>
            </a:r>
            <a:r>
              <a:rPr lang="en-US" dirty="0">
                <a:sym typeface="Wingdings" pitchFamily="2" charset="2"/>
              </a:rPr>
              <a:t>BD does not satisfy this condition</a:t>
            </a:r>
          </a:p>
          <a:p>
            <a:r>
              <a:rPr lang="en-US" dirty="0">
                <a:sym typeface="Wingdings" pitchFamily="2" charset="2"/>
              </a:rPr>
              <a:t>That is why ABD is not in the minimal basis</a:t>
            </a:r>
          </a:p>
          <a:p>
            <a:pPr lvl="1"/>
            <a:endParaRPr lang="en-US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615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50197"/>
          </a:xfrm>
        </p:spPr>
        <p:txBody>
          <a:bodyPr>
            <a:normAutofit/>
          </a:bodyPr>
          <a:lstStyle/>
          <a:p>
            <a:r>
              <a:rPr lang="en-US" dirty="0"/>
              <a:t>Previous example:</a:t>
            </a:r>
          </a:p>
          <a:p>
            <a:pPr lvl="1"/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BD, ABC, CD, BCD}</a:t>
            </a:r>
          </a:p>
          <a:p>
            <a:pPr lvl="1"/>
            <a:r>
              <a:rPr lang="en-US" dirty="0"/>
              <a:t>A minimal basis: {A</a:t>
            </a:r>
            <a:r>
              <a:rPr lang="en-US" dirty="0">
                <a:sym typeface="Wingdings" pitchFamily="2" charset="2"/>
              </a:rPr>
              <a:t>B, AC, CD}</a:t>
            </a:r>
            <a:endParaRPr lang="en-US" dirty="0"/>
          </a:p>
          <a:p>
            <a:r>
              <a:rPr lang="en-US" dirty="0"/>
              <a:t>Condition 3: No FD in the minimal basis is redundant. </a:t>
            </a:r>
          </a:p>
          <a:p>
            <a:r>
              <a:rPr lang="en-US" dirty="0"/>
              <a:t>That is, no FD in the minimal basis can be derived from the other FDs.</a:t>
            </a:r>
          </a:p>
          <a:p>
            <a:r>
              <a:rPr lang="en-US" dirty="0"/>
              <a:t>Example in S: BC</a:t>
            </a:r>
            <a:r>
              <a:rPr lang="en-US" dirty="0">
                <a:sym typeface="Wingdings" pitchFamily="2" charset="2"/>
              </a:rPr>
              <a:t>D can be derived from CD</a:t>
            </a:r>
          </a:p>
          <a:p>
            <a:r>
              <a:rPr lang="en-US" dirty="0">
                <a:sym typeface="Wingdings" pitchFamily="2" charset="2"/>
              </a:rPr>
              <a:t>That is why </a:t>
            </a:r>
            <a:r>
              <a:rPr lang="en-US" dirty="0"/>
              <a:t>BC</a:t>
            </a:r>
            <a:r>
              <a:rPr lang="en-US" dirty="0">
                <a:sym typeface="Wingdings" pitchFamily="2" charset="2"/>
              </a:rPr>
              <a:t>D is not in the minimal basis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774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245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Previous example:</a:t>
            </a:r>
          </a:p>
          <a:p>
            <a:pPr lvl="1"/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BD, ABC, CD, BCD}</a:t>
            </a:r>
          </a:p>
          <a:p>
            <a:pPr lvl="1"/>
            <a:r>
              <a:rPr lang="en-US" dirty="0"/>
              <a:t>A minimal basis: {A</a:t>
            </a:r>
            <a:r>
              <a:rPr lang="en-US" dirty="0">
                <a:sym typeface="Wingdings" pitchFamily="2" charset="2"/>
              </a:rPr>
              <a:t>B, AC, CD}</a:t>
            </a:r>
            <a:endParaRPr lang="en-US" dirty="0"/>
          </a:p>
          <a:p>
            <a:r>
              <a:rPr lang="en-US" dirty="0"/>
              <a:t>Condition 4: For each FD in the minimal basis, none of the attributes on the left hand side is redundant</a:t>
            </a:r>
          </a:p>
          <a:p>
            <a:r>
              <a:rPr lang="en-US" dirty="0"/>
              <a:t>That is, </a:t>
            </a:r>
            <a:r>
              <a:rPr lang="en-SG" dirty="0"/>
              <a:t>for any FD in the minimal basis, if we remove an attribute from the left hand side, then the resulting FD is a new FD that cannot be derived from the original set of FDs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S contains AB</a:t>
            </a:r>
            <a:r>
              <a:rPr lang="en-US" dirty="0">
                <a:sym typeface="Wingdings" pitchFamily="2" charset="2"/>
              </a:rPr>
              <a:t>C</a:t>
            </a:r>
          </a:p>
          <a:p>
            <a:pPr lvl="1"/>
            <a:r>
              <a:rPr lang="en-US" dirty="0">
                <a:sym typeface="Wingdings" pitchFamily="2" charset="2"/>
              </a:rPr>
              <a:t>If we remove B from the left hand side, we have AC</a:t>
            </a:r>
          </a:p>
          <a:p>
            <a:pPr lvl="1"/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C can be derived from S, as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{ABDC}</a:t>
            </a:r>
          </a:p>
          <a:p>
            <a:pPr lvl="1"/>
            <a:r>
              <a:rPr lang="en-US" dirty="0"/>
              <a:t>This indicates that A</a:t>
            </a:r>
            <a:r>
              <a:rPr lang="en-US" dirty="0">
                <a:sym typeface="Wingdings" pitchFamily="2" charset="2"/>
              </a:rPr>
              <a:t>C is “hidden” in S</a:t>
            </a:r>
          </a:p>
          <a:p>
            <a:pPr lvl="1"/>
            <a:r>
              <a:rPr lang="en-US" dirty="0">
                <a:sym typeface="Wingdings" pitchFamily="2" charset="2"/>
              </a:rPr>
              <a:t>Hence, we can replace ABC with AC, as AC is “simpler”</a:t>
            </a:r>
            <a:endParaRPr lang="en-US" dirty="0"/>
          </a:p>
          <a:p>
            <a:pPr lvl="1"/>
            <a:r>
              <a:rPr lang="en-US" dirty="0"/>
              <a:t>This is why AB</a:t>
            </a:r>
            <a:r>
              <a:rPr lang="en-US" dirty="0">
                <a:sym typeface="Wingdings" pitchFamily="2" charset="2"/>
              </a:rPr>
              <a:t>C is not in the minimal basis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4499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 of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S be a set of FDs</a:t>
            </a:r>
          </a:p>
          <a:p>
            <a:r>
              <a:rPr lang="en-US" dirty="0"/>
              <a:t>Its minimal basis M is a set of FDs, such that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any FD in S can be derived from M, and vice versa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its right hand side has only one attribute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any FD is removed from M, then some FD in S cannot be derived from M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if we remove an attribute from its left hand side, then the FD cannot be derived from 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445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 of FDs: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B, BC, AC}, M = {AB, BC}</a:t>
            </a:r>
            <a:endParaRPr lang="en-US" dirty="0"/>
          </a:p>
          <a:p>
            <a:r>
              <a:rPr lang="en-US" dirty="0"/>
              <a:t>M is a minimal basis of 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any FD in S can be derived from M, and vice versa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its right hand side has only one attribute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any FD is removed from M, then some FD in S cannot be derived from M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if we remove an attribute from its left hand side, then the FD cannot be derived from 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0933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 of FDs: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B, BC, AC}, M = {ABC, BC}</a:t>
            </a:r>
            <a:endParaRPr lang="en-US" dirty="0"/>
          </a:p>
          <a:p>
            <a:r>
              <a:rPr lang="en-US" dirty="0"/>
              <a:t>Is M a minimal basis of S?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any FD in S can be derived from M, and vice versa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its right hand side has only one attribute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any FD is removed from M, then some FD in S cannot be derived from M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if we remove an attribute from its left hand side, then the FD cannot be derived from 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5538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 of FDs: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B, BC, AC}, M = {ADB, BC}</a:t>
            </a:r>
            <a:endParaRPr lang="en-US" dirty="0"/>
          </a:p>
          <a:p>
            <a:r>
              <a:rPr lang="en-US" dirty="0"/>
              <a:t>Is M a minimal basis of S?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any FD in S can be derived from M, and vice versa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its right hand side has only one attribute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any FD is removed from M, then some FD in S cannot be derived from M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if we remove an attribute from its left hand side, then the FD cannot be derived from 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2942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Basis of FDs: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B, BC, AC},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M = {AB, BC, AC}</a:t>
            </a:r>
            <a:endParaRPr lang="en-US" dirty="0"/>
          </a:p>
          <a:p>
            <a:r>
              <a:rPr lang="en-US" dirty="0"/>
              <a:t>Is M a minimal basis of S?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any FD in S can be derived from M, and vice versa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its right hand side has only one attribute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any FD is removed from M, then some FD in S cannot be derived from M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any FD in M, if we remove an attribute from its left hand side, then the FD cannot be derived from 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4440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Decomposition Algorithm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147248" cy="50061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Given: A table R, and a set S of FDs</a:t>
            </a:r>
          </a:p>
          <a:p>
            <a:pPr lvl="1"/>
            <a:r>
              <a:rPr lang="en-US" dirty="0"/>
              <a:t>Step 1: Derive a </a:t>
            </a:r>
            <a:r>
              <a:rPr lang="en-US" dirty="0">
                <a:solidFill>
                  <a:srgbClr val="A50021"/>
                </a:solidFill>
              </a:rPr>
              <a:t>minimal basis</a:t>
            </a:r>
            <a:r>
              <a:rPr lang="en-US" dirty="0"/>
              <a:t> of S</a:t>
            </a:r>
          </a:p>
          <a:p>
            <a:pPr lvl="1"/>
            <a:r>
              <a:rPr lang="en-US" dirty="0"/>
              <a:t>Step 2: In the minimal basis, combine the FDs whose left hand sides are the same</a:t>
            </a:r>
          </a:p>
          <a:p>
            <a:pPr lvl="1"/>
            <a:r>
              <a:rPr lang="en-US" dirty="0"/>
              <a:t>Step 3: Create a table for each FD remained</a:t>
            </a:r>
          </a:p>
          <a:p>
            <a:pPr lvl="1"/>
            <a:r>
              <a:rPr lang="en-US" dirty="0"/>
              <a:t>Step 4: If none of the tables contain a key of the original table R, create a table that contains a key of R</a:t>
            </a:r>
          </a:p>
          <a:p>
            <a:pPr lvl="1"/>
            <a:r>
              <a:rPr lang="en-US" dirty="0"/>
              <a:t>Step 5: Remove redundant tables</a:t>
            </a:r>
          </a:p>
          <a:p>
            <a:r>
              <a:rPr lang="en-US" dirty="0"/>
              <a:t>How to find the minimal basis?</a:t>
            </a:r>
          </a:p>
          <a:p>
            <a:r>
              <a:rPr lang="en-US" dirty="0"/>
              <a:t>Solution: start from the FDs on R, and then simplify it step by step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356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6CB4-B60F-4FB1-9C8D-77EEF722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35D56-0935-4688-9D5A-886F2E362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Transform the FDs, so that each right hand side contains only one attribute</a:t>
            </a:r>
          </a:p>
          <a:p>
            <a:r>
              <a:rPr lang="en-US" dirty="0"/>
              <a:t>Step 2: Remove redundant FDs</a:t>
            </a:r>
          </a:p>
          <a:p>
            <a:r>
              <a:rPr lang="en-US" dirty="0"/>
              <a:t>Step 3: Remove redundant attributes on the left hand side of each FD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99527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/>
          </a:bodyPr>
          <a:lstStyle/>
          <a:p>
            <a:r>
              <a:rPr lang="en-US" dirty="0"/>
              <a:t>Given: a set S of FDs</a:t>
            </a:r>
          </a:p>
          <a:p>
            <a:r>
              <a:rPr lang="en-US" dirty="0"/>
              <a:t>Example: S = {A</a:t>
            </a:r>
            <a:r>
              <a:rPr lang="en-US" dirty="0">
                <a:sym typeface="Wingdings" pitchFamily="2" charset="2"/>
              </a:rPr>
              <a:t>BD, ABC, CD, BCD}</a:t>
            </a:r>
            <a:endParaRPr lang="en-US" dirty="0"/>
          </a:p>
          <a:p>
            <a:r>
              <a:rPr lang="en-US" dirty="0"/>
              <a:t>Step 1: Transform the FDs, so that each right hand side contains only one attribute</a:t>
            </a:r>
          </a:p>
          <a:p>
            <a:r>
              <a:rPr lang="en-US" dirty="0"/>
              <a:t>Result: S = {A</a:t>
            </a:r>
            <a:r>
              <a:rPr lang="en-US" dirty="0">
                <a:sym typeface="Wingdings" pitchFamily="2" charset="2"/>
              </a:rPr>
              <a:t>B, AD, ABC, CD, BCD}</a:t>
            </a:r>
          </a:p>
          <a:p>
            <a:r>
              <a:rPr lang="en-US" dirty="0">
                <a:sym typeface="Wingdings" pitchFamily="2" charset="2"/>
              </a:rPr>
              <a:t>Reason:</a:t>
            </a:r>
          </a:p>
          <a:p>
            <a:pPr lvl="1"/>
            <a:r>
              <a:rPr lang="en-US" dirty="0">
                <a:sym typeface="Wingdings" pitchFamily="2" charset="2"/>
              </a:rPr>
              <a:t>Condition 1 for minimal basis:</a:t>
            </a:r>
            <a:br>
              <a:rPr lang="en-US" dirty="0">
                <a:sym typeface="Wingdings" pitchFamily="2" charset="2"/>
              </a:rPr>
            </a:br>
            <a:r>
              <a:rPr lang="en-US" dirty="0"/>
              <a:t>The right hand side of each FD contains only one attribute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58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92500"/>
          </a:bodyPr>
          <a:lstStyle/>
          <a:p>
            <a:r>
              <a:rPr lang="en-US" dirty="0"/>
              <a:t>Result of Step 1:</a:t>
            </a:r>
          </a:p>
          <a:p>
            <a:pPr lvl="1"/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B, AD, ABC, CD, BCD}</a:t>
            </a:r>
            <a:endParaRPr lang="en-US" dirty="0"/>
          </a:p>
          <a:p>
            <a:r>
              <a:rPr lang="en-US" dirty="0"/>
              <a:t>Step 2: Remove redundant FDs</a:t>
            </a:r>
          </a:p>
          <a:p>
            <a:r>
              <a:rPr lang="en-US" dirty="0"/>
              <a:t>Is A</a:t>
            </a:r>
            <a:r>
              <a:rPr lang="en-US" dirty="0">
                <a:sym typeface="Wingdings" pitchFamily="2" charset="2"/>
              </a:rPr>
              <a:t>B redundant?</a:t>
            </a:r>
          </a:p>
          <a:p>
            <a:r>
              <a:rPr lang="en-US" dirty="0">
                <a:sym typeface="Wingdings" pitchFamily="2" charset="2"/>
              </a:rPr>
              <a:t>i.e., is AB implied by other FDs in S?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Without AB, we have {AD, ABC, CD, BCD}</a:t>
            </a:r>
          </a:p>
          <a:p>
            <a:r>
              <a:rPr lang="en-US" dirty="0">
                <a:sym typeface="Wingdings" pitchFamily="2" charset="2"/>
              </a:rPr>
              <a:t>Given those FDs, we have {A}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{AD}, which does not contain B</a:t>
            </a:r>
          </a:p>
          <a:p>
            <a:r>
              <a:rPr lang="en-US" dirty="0">
                <a:sym typeface="Wingdings" pitchFamily="2" charset="2"/>
              </a:rPr>
              <a:t>Therefore, AB is not implied by the other FDs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7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Result of Step 1:</a:t>
            </a:r>
          </a:p>
          <a:p>
            <a:pPr lvl="1"/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B, AD, ABC, CD, BCD}</a:t>
            </a:r>
            <a:endParaRPr lang="en-US" dirty="0"/>
          </a:p>
          <a:p>
            <a:r>
              <a:rPr lang="en-US" dirty="0"/>
              <a:t>Continue Step 2: Remove redundant FDs</a:t>
            </a:r>
          </a:p>
          <a:p>
            <a:r>
              <a:rPr lang="en-US" dirty="0"/>
              <a:t>Is A</a:t>
            </a:r>
            <a:r>
              <a:rPr lang="en-US" dirty="0">
                <a:sym typeface="Wingdings" pitchFamily="2" charset="2"/>
              </a:rPr>
              <a:t>D redundant?</a:t>
            </a:r>
          </a:p>
          <a:p>
            <a:r>
              <a:rPr lang="en-US" dirty="0">
                <a:sym typeface="Wingdings" pitchFamily="2" charset="2"/>
              </a:rPr>
              <a:t>i.e., is AD implied by other FDs in S?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Without AD, we have {AB, ABC, CD, BCD}</a:t>
            </a:r>
          </a:p>
          <a:p>
            <a:r>
              <a:rPr lang="en-US" dirty="0">
                <a:sym typeface="Wingdings" pitchFamily="2" charset="2"/>
              </a:rPr>
              <a:t>Given those FDs, we have {A}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{ABCD}, which contains D</a:t>
            </a:r>
          </a:p>
          <a:p>
            <a:r>
              <a:rPr lang="en-US" dirty="0">
                <a:sym typeface="Wingdings" pitchFamily="2" charset="2"/>
              </a:rPr>
              <a:t>Therefore, AD is implied by the other FDs</a:t>
            </a:r>
          </a:p>
          <a:p>
            <a:r>
              <a:rPr lang="en-US" dirty="0">
                <a:sym typeface="Wingdings" pitchFamily="2" charset="2"/>
              </a:rPr>
              <a:t>Hence, AD is redundant and should be removed</a:t>
            </a:r>
          </a:p>
          <a:p>
            <a:r>
              <a:rPr lang="en-US" dirty="0">
                <a:sym typeface="Wingdings" pitchFamily="2" charset="2"/>
              </a:rPr>
              <a:t>Result: S = {AB, ABC, CD, BCD}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4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Result of the last step:</a:t>
            </a:r>
          </a:p>
          <a:p>
            <a:pPr lvl="1"/>
            <a:r>
              <a:rPr lang="en-US" dirty="0"/>
              <a:t>S = {</a:t>
            </a:r>
            <a:r>
              <a:rPr lang="en-US" dirty="0">
                <a:sym typeface="Wingdings" pitchFamily="2" charset="2"/>
              </a:rPr>
              <a:t>AB, ABC, CD, BCD}</a:t>
            </a:r>
            <a:endParaRPr lang="en-US" dirty="0"/>
          </a:p>
          <a:p>
            <a:r>
              <a:rPr lang="en-US" dirty="0"/>
              <a:t>Continue Step 2: Remove redundant FDs</a:t>
            </a:r>
          </a:p>
          <a:p>
            <a:r>
              <a:rPr lang="en-US" dirty="0"/>
              <a:t>Is AB</a:t>
            </a:r>
            <a:r>
              <a:rPr lang="en-US" dirty="0">
                <a:sym typeface="Wingdings" pitchFamily="2" charset="2"/>
              </a:rPr>
              <a:t>C redundant?</a:t>
            </a:r>
          </a:p>
          <a:p>
            <a:r>
              <a:rPr lang="en-US" dirty="0">
                <a:sym typeface="Wingdings" pitchFamily="2" charset="2"/>
              </a:rPr>
              <a:t>i.e., is ABC implied by other FDs in S?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Without ABC, we have {AB, CD, BCD}</a:t>
            </a:r>
          </a:p>
          <a:p>
            <a:r>
              <a:rPr lang="en-US" dirty="0">
                <a:sym typeface="Wingdings" pitchFamily="2" charset="2"/>
              </a:rPr>
              <a:t>Given those FDs, we have {AB}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{ABD}, which does not contain C</a:t>
            </a:r>
          </a:p>
          <a:p>
            <a:r>
              <a:rPr lang="en-US" dirty="0">
                <a:sym typeface="Wingdings" pitchFamily="2" charset="2"/>
              </a:rPr>
              <a:t>Therefore, ABC is NOT implied by the other FDs</a:t>
            </a:r>
          </a:p>
          <a:p>
            <a:r>
              <a:rPr lang="en-US" dirty="0">
                <a:sym typeface="Wingdings" pitchFamily="2" charset="2"/>
              </a:rPr>
              <a:t>Hence, ABC is not redundant and should not be removed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8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Result of the last step:</a:t>
            </a:r>
          </a:p>
          <a:p>
            <a:pPr lvl="1"/>
            <a:r>
              <a:rPr lang="en-US" dirty="0">
                <a:sym typeface="Wingdings" pitchFamily="2" charset="2"/>
              </a:rPr>
              <a:t>S = {AB, ABC, CD, BCD}</a:t>
            </a:r>
            <a:endParaRPr lang="en-US" dirty="0"/>
          </a:p>
          <a:p>
            <a:r>
              <a:rPr lang="en-US" dirty="0"/>
              <a:t>Continue Step 2: Remove redundant FDs</a:t>
            </a:r>
          </a:p>
          <a:p>
            <a:r>
              <a:rPr lang="en-US" dirty="0"/>
              <a:t>Is C</a:t>
            </a:r>
            <a:r>
              <a:rPr lang="en-US" dirty="0">
                <a:sym typeface="Wingdings" pitchFamily="2" charset="2"/>
              </a:rPr>
              <a:t>D redundant?</a:t>
            </a:r>
          </a:p>
          <a:p>
            <a:r>
              <a:rPr lang="en-US" dirty="0">
                <a:sym typeface="Wingdings" pitchFamily="2" charset="2"/>
              </a:rPr>
              <a:t>i.e., is CD implied by other FDs in S?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Without CD, we have {AB, ABC, BCD}</a:t>
            </a:r>
          </a:p>
          <a:p>
            <a:r>
              <a:rPr lang="en-US" dirty="0">
                <a:sym typeface="Wingdings" pitchFamily="2" charset="2"/>
              </a:rPr>
              <a:t>Given those FDs, we have {C}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{C}, which does not contain D</a:t>
            </a:r>
          </a:p>
          <a:p>
            <a:r>
              <a:rPr lang="en-US" dirty="0">
                <a:sym typeface="Wingdings" pitchFamily="2" charset="2"/>
              </a:rPr>
              <a:t>Therefore, CD is NOT implied by the other FDs and should not be removed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0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Result of the last step:</a:t>
            </a:r>
          </a:p>
          <a:p>
            <a:pPr lvl="1"/>
            <a:r>
              <a:rPr lang="en-US" dirty="0">
                <a:sym typeface="Wingdings" pitchFamily="2" charset="2"/>
              </a:rPr>
              <a:t>S = {AB, ABC, CD, BCD}</a:t>
            </a:r>
            <a:endParaRPr lang="en-US" dirty="0"/>
          </a:p>
          <a:p>
            <a:r>
              <a:rPr lang="en-US" dirty="0"/>
              <a:t>Continue Step 2: Remove redundant FDs</a:t>
            </a:r>
          </a:p>
          <a:p>
            <a:r>
              <a:rPr lang="en-US" dirty="0"/>
              <a:t>Is BC</a:t>
            </a:r>
            <a:r>
              <a:rPr lang="en-US" dirty="0">
                <a:sym typeface="Wingdings" pitchFamily="2" charset="2"/>
              </a:rPr>
              <a:t>D redundant?</a:t>
            </a:r>
          </a:p>
          <a:p>
            <a:r>
              <a:rPr lang="en-US" dirty="0">
                <a:sym typeface="Wingdings" pitchFamily="2" charset="2"/>
              </a:rPr>
              <a:t>i.e., is BCD implied by other FDs in S?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Without BCD, we have {AB, ABC, CD}</a:t>
            </a:r>
          </a:p>
          <a:p>
            <a:r>
              <a:rPr lang="en-US" dirty="0">
                <a:sym typeface="Wingdings" pitchFamily="2" charset="2"/>
              </a:rPr>
              <a:t>Given those FDs, we have {BC}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{BCD}, which contains D</a:t>
            </a:r>
          </a:p>
          <a:p>
            <a:r>
              <a:rPr lang="en-US" dirty="0">
                <a:sym typeface="Wingdings" pitchFamily="2" charset="2"/>
              </a:rPr>
              <a:t>Therefore, BCD is implied by the other FDs</a:t>
            </a:r>
          </a:p>
          <a:p>
            <a:r>
              <a:rPr lang="en-US" dirty="0">
                <a:sym typeface="Wingdings" pitchFamily="2" charset="2"/>
              </a:rPr>
              <a:t>Hence, BCD is redundant and should be removed</a:t>
            </a:r>
          </a:p>
          <a:p>
            <a:r>
              <a:rPr lang="en-US" dirty="0">
                <a:sym typeface="Wingdings" pitchFamily="2" charset="2"/>
              </a:rPr>
              <a:t>Result: S = {AB, ABC, CD}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9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7"/>
            <a:ext cx="8507288" cy="532859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Result of Step 2:</a:t>
            </a:r>
          </a:p>
          <a:p>
            <a:pPr lvl="1"/>
            <a:r>
              <a:rPr lang="en-US" dirty="0">
                <a:sym typeface="Wingdings" pitchFamily="2" charset="2"/>
              </a:rPr>
              <a:t>S = {AB, ABC, CD}</a:t>
            </a:r>
            <a:endParaRPr lang="en-US" dirty="0"/>
          </a:p>
          <a:p>
            <a:r>
              <a:rPr lang="en-US" dirty="0"/>
              <a:t>Step 3: Remove redundant attributes on the left hand side (lhs) of each FD</a:t>
            </a:r>
          </a:p>
          <a:p>
            <a:r>
              <a:rPr lang="en-US" dirty="0">
                <a:sym typeface="Wingdings" pitchFamily="2" charset="2"/>
              </a:rPr>
              <a:t>Only ABC has more than one attribute on the lhs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Is A redundant?</a:t>
            </a:r>
          </a:p>
          <a:p>
            <a:r>
              <a:rPr lang="en-US" dirty="0">
                <a:sym typeface="Wingdings" pitchFamily="2" charset="2"/>
              </a:rPr>
              <a:t>If we remove A, then ABC becomes BC</a:t>
            </a:r>
          </a:p>
          <a:p>
            <a:r>
              <a:rPr lang="en-US" dirty="0">
                <a:sym typeface="Wingdings" pitchFamily="2" charset="2"/>
              </a:rPr>
              <a:t>Whether this removal is OK depends on whether BC is “hidden” in S already</a:t>
            </a:r>
          </a:p>
          <a:p>
            <a:r>
              <a:rPr lang="en-US" dirty="0">
                <a:sym typeface="Wingdings" pitchFamily="2" charset="2"/>
              </a:rPr>
              <a:t>If BC is “hidden” in S, then the removal of A is OK, (since the removal does not add extraneous information into S)</a:t>
            </a:r>
          </a:p>
          <a:p>
            <a:r>
              <a:rPr lang="en-US" dirty="0">
                <a:sym typeface="Wingdings" pitchFamily="2" charset="2"/>
              </a:rPr>
              <a:t>Is BC “hidden” in S?</a:t>
            </a:r>
          </a:p>
          <a:p>
            <a:r>
              <a:rPr lang="en-US" dirty="0">
                <a:sym typeface="Wingdings" pitchFamily="2" charset="2"/>
              </a:rPr>
              <a:t>Check: Given S, we have {B}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{B}, which does NOT contain C</a:t>
            </a:r>
          </a:p>
          <a:p>
            <a:r>
              <a:rPr lang="en-US" dirty="0">
                <a:sym typeface="Wingdings" pitchFamily="2" charset="2"/>
              </a:rPr>
              <a:t>Therefore, BC is not “hidden” in S, and hence, A is NOT redundant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86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Minimal Basis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507288" cy="525658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Result of Step 2:</a:t>
            </a:r>
          </a:p>
          <a:p>
            <a:pPr lvl="1"/>
            <a:r>
              <a:rPr lang="en-US" dirty="0">
                <a:sym typeface="Wingdings" pitchFamily="2" charset="2"/>
              </a:rPr>
              <a:t>S = {AB, ABC, CD}</a:t>
            </a:r>
            <a:endParaRPr lang="en-US" dirty="0"/>
          </a:p>
          <a:p>
            <a:r>
              <a:rPr lang="en-US" dirty="0"/>
              <a:t>Step 3: Remove redundant attributes on the left hand side (lhs) of each FD</a:t>
            </a:r>
          </a:p>
          <a:p>
            <a:r>
              <a:rPr lang="en-US" dirty="0">
                <a:sym typeface="Wingdings" pitchFamily="2" charset="2"/>
              </a:rPr>
              <a:t>Only ABC has more than one attribute on the lhs</a:t>
            </a:r>
          </a:p>
          <a:p>
            <a:r>
              <a:rPr lang="en-US" dirty="0">
                <a:sym typeface="Wingdings" pitchFamily="2" charset="2"/>
              </a:rPr>
              <a:t>Let’s check</a:t>
            </a:r>
          </a:p>
          <a:p>
            <a:r>
              <a:rPr lang="en-US" dirty="0">
                <a:sym typeface="Wingdings" pitchFamily="2" charset="2"/>
              </a:rPr>
              <a:t>Is B redundant?</a:t>
            </a:r>
          </a:p>
          <a:p>
            <a:r>
              <a:rPr lang="en-US" dirty="0">
                <a:sym typeface="Wingdings" pitchFamily="2" charset="2"/>
              </a:rPr>
              <a:t>If we remove B, then ABC becomes AC</a:t>
            </a:r>
          </a:p>
          <a:p>
            <a:r>
              <a:rPr lang="en-US" dirty="0">
                <a:sym typeface="Wingdings" pitchFamily="2" charset="2"/>
              </a:rPr>
              <a:t>Whether this is OK depends on whether AC is “hidden” in S</a:t>
            </a:r>
          </a:p>
          <a:p>
            <a:r>
              <a:rPr lang="en-US" dirty="0">
                <a:sym typeface="Wingdings" pitchFamily="2" charset="2"/>
              </a:rPr>
              <a:t>Is AC “hidden” in S?</a:t>
            </a:r>
          </a:p>
          <a:p>
            <a:r>
              <a:rPr lang="en-US" dirty="0">
                <a:sym typeface="Wingdings" pitchFamily="2" charset="2"/>
              </a:rPr>
              <a:t>Check: Given S, we have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{ABCD}, which contains C</a:t>
            </a:r>
          </a:p>
          <a:p>
            <a:r>
              <a:rPr lang="en-US" dirty="0">
                <a:sym typeface="Wingdings" pitchFamily="2" charset="2"/>
              </a:rPr>
              <a:t>Therefore, AC is “hidden” in S</a:t>
            </a:r>
          </a:p>
          <a:p>
            <a:r>
              <a:rPr lang="en-US" dirty="0">
                <a:sym typeface="Wingdings" pitchFamily="2" charset="2"/>
              </a:rPr>
              <a:t>Hence, we can simplify ABC to AC</a:t>
            </a:r>
          </a:p>
          <a:p>
            <a:r>
              <a:rPr lang="en-US" dirty="0">
                <a:sym typeface="Wingdings" pitchFamily="2" charset="2"/>
              </a:rPr>
              <a:t>Final minimal basis: S = {AB, AC, CD}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7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FDs on R: BC</a:t>
            </a:r>
            <a:r>
              <a:rPr lang="en-US" dirty="0">
                <a:sym typeface="Wingdings" pitchFamily="2" charset="2"/>
              </a:rPr>
              <a:t>DE, AE, DA, EB</a:t>
            </a:r>
          </a:p>
          <a:p>
            <a:pPr marL="514350" indent="-514350">
              <a:buAutoNum type="arabicPeriod"/>
            </a:pPr>
            <a:r>
              <a:rPr lang="en-US" dirty="0">
                <a:sym typeface="Wingdings" pitchFamily="2" charset="2"/>
              </a:rPr>
              <a:t>Transform the FDs to ensure that the right hand side of each FD has only one attribute</a:t>
            </a:r>
          </a:p>
          <a:p>
            <a:r>
              <a:rPr lang="en-US" dirty="0"/>
              <a:t>Results: M = {BC</a:t>
            </a:r>
            <a:r>
              <a:rPr lang="en-US" dirty="0">
                <a:sym typeface="Wingdings" pitchFamily="2" charset="2"/>
              </a:rPr>
              <a:t>D, BCE, AE, DA, EB}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</a:t>
            </a:r>
          </a:p>
          <a:p>
            <a:pPr marL="784225" lvl="1" indent="-457200"/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2"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581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 = {BC</a:t>
            </a:r>
            <a:r>
              <a:rPr lang="en-US" dirty="0">
                <a:sym typeface="Wingdings" pitchFamily="2" charset="2"/>
              </a:rPr>
              <a:t>D, BCE, AE, DA, EB}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Try BC</a:t>
            </a:r>
            <a:r>
              <a:rPr lang="en-US" dirty="0">
                <a:sym typeface="Wingdings" pitchFamily="2" charset="2"/>
              </a:rPr>
              <a:t>D first</a:t>
            </a:r>
          </a:p>
          <a:p>
            <a:pPr lvl="1"/>
            <a:r>
              <a:rPr lang="en-US" dirty="0"/>
              <a:t>If BC</a:t>
            </a:r>
            <a:r>
              <a:rPr lang="en-US" dirty="0">
                <a:sym typeface="Wingdings" pitchFamily="2" charset="2"/>
              </a:rPr>
              <a:t>D is removed, then the ones left would be BCE, AE, DA, EB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{BC}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{BCE}</a:t>
            </a:r>
          </a:p>
          <a:p>
            <a:pPr lvl="1"/>
            <a:r>
              <a:rPr lang="en-US" dirty="0">
                <a:sym typeface="Wingdings" pitchFamily="2" charset="2"/>
              </a:rPr>
              <a:t>Since {BC}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D, we know that BCD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BCD cannot be removed</a:t>
            </a: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369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 = {BC</a:t>
            </a:r>
            <a:r>
              <a:rPr lang="en-US" dirty="0">
                <a:sym typeface="Wingdings" pitchFamily="2" charset="2"/>
              </a:rPr>
              <a:t>D, BCE, AE, DA, EB}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Next, try BC</a:t>
            </a:r>
            <a:r>
              <a:rPr lang="en-US" dirty="0">
                <a:sym typeface="Wingdings" pitchFamily="2" charset="2"/>
              </a:rPr>
              <a:t>E</a:t>
            </a:r>
          </a:p>
          <a:p>
            <a:pPr lvl="1"/>
            <a:r>
              <a:rPr lang="en-US" dirty="0"/>
              <a:t>If BC</a:t>
            </a:r>
            <a:r>
              <a:rPr lang="en-US" dirty="0">
                <a:sym typeface="Wingdings" pitchFamily="2" charset="2"/>
              </a:rPr>
              <a:t>E is removed, then the ones left would be BCD, AE, DA, EB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{BC}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{ABCDE}</a:t>
            </a:r>
          </a:p>
          <a:p>
            <a:pPr lvl="1"/>
            <a:r>
              <a:rPr lang="en-US" dirty="0">
                <a:sym typeface="Wingdings" pitchFamily="2" charset="2"/>
              </a:rPr>
              <a:t>Since {BC}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contain E, we know that BCE can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BCE can be removed</a:t>
            </a:r>
          </a:p>
          <a:p>
            <a:r>
              <a:rPr lang="en-US" dirty="0"/>
              <a:t>New M = {</a:t>
            </a:r>
            <a:r>
              <a:rPr lang="en-US" dirty="0">
                <a:sym typeface="Wingdings" pitchFamily="2" charset="2"/>
              </a:rPr>
              <a:t>BCD, AE, DA, EB}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3044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New M = {</a:t>
            </a:r>
            <a:r>
              <a:rPr lang="en-US" dirty="0">
                <a:sym typeface="Wingdings" pitchFamily="2" charset="2"/>
              </a:rPr>
              <a:t>BCD, AE, DA, EB}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Next, try A</a:t>
            </a:r>
            <a:r>
              <a:rPr lang="en-US" dirty="0">
                <a:sym typeface="Wingdings" pitchFamily="2" charset="2"/>
              </a:rPr>
              <a:t>E</a:t>
            </a:r>
          </a:p>
          <a:p>
            <a:pPr lvl="1"/>
            <a:r>
              <a:rPr lang="en-US" dirty="0"/>
              <a:t>If A</a:t>
            </a:r>
            <a:r>
              <a:rPr lang="en-US" dirty="0">
                <a:sym typeface="Wingdings" pitchFamily="2" charset="2"/>
              </a:rPr>
              <a:t>E is removed, then the ones left would be BCD, DA, EB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{A}</a:t>
            </a:r>
          </a:p>
          <a:p>
            <a:pPr lvl="1"/>
            <a:r>
              <a:rPr lang="en-US" dirty="0">
                <a:sym typeface="Wingdings" pitchFamily="2" charset="2"/>
              </a:rPr>
              <a:t>Since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E, we know that AE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AE cannot be removed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7648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New M = {</a:t>
            </a:r>
            <a:r>
              <a:rPr lang="en-US" dirty="0">
                <a:sym typeface="Wingdings" pitchFamily="2" charset="2"/>
              </a:rPr>
              <a:t>BCD, AE, DA, EB}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Next, try D</a:t>
            </a:r>
            <a:r>
              <a:rPr lang="en-US" dirty="0">
                <a:sym typeface="Wingdings" pitchFamily="2" charset="2"/>
              </a:rPr>
              <a:t>A</a:t>
            </a:r>
          </a:p>
          <a:p>
            <a:pPr lvl="1"/>
            <a:r>
              <a:rPr lang="en-US" dirty="0"/>
              <a:t>If D</a:t>
            </a:r>
            <a:r>
              <a:rPr lang="en-US" dirty="0">
                <a:sym typeface="Wingdings" pitchFamily="2" charset="2"/>
              </a:rPr>
              <a:t>A is removed, then the ones left would be BCD, AE, EB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{D}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{D}</a:t>
            </a:r>
          </a:p>
          <a:p>
            <a:pPr lvl="1"/>
            <a:r>
              <a:rPr lang="en-US" dirty="0">
                <a:sym typeface="Wingdings" pitchFamily="2" charset="2"/>
              </a:rPr>
              <a:t>Since {D}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A, we know that DA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DA cannot be removed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608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New M = {</a:t>
            </a:r>
            <a:r>
              <a:rPr lang="en-US" dirty="0">
                <a:sym typeface="Wingdings" pitchFamily="2" charset="2"/>
              </a:rPr>
              <a:t>BCD, AE, DA, EB}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Next, try E</a:t>
            </a:r>
            <a:r>
              <a:rPr lang="en-US" dirty="0">
                <a:sym typeface="Wingdings" pitchFamily="2" charset="2"/>
              </a:rPr>
              <a:t>B</a:t>
            </a:r>
          </a:p>
          <a:p>
            <a:pPr lvl="1"/>
            <a:r>
              <a:rPr lang="en-US" dirty="0"/>
              <a:t>If E</a:t>
            </a:r>
            <a:r>
              <a:rPr lang="en-US" dirty="0">
                <a:sym typeface="Wingdings" pitchFamily="2" charset="2"/>
              </a:rPr>
              <a:t>B is removed, then the ones left would be BCD, AE, DA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{E}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{E}</a:t>
            </a:r>
          </a:p>
          <a:p>
            <a:pPr lvl="1"/>
            <a:r>
              <a:rPr lang="en-US" dirty="0">
                <a:sym typeface="Wingdings" pitchFamily="2" charset="2"/>
              </a:rPr>
              <a:t>Since {E}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B, we know that EB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EB cannot be removed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8597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New M = {</a:t>
            </a:r>
            <a:r>
              <a:rPr lang="en-US" dirty="0">
                <a:sym typeface="Wingdings" pitchFamily="2" charset="2"/>
              </a:rPr>
              <a:t>BCD, AE, DA, EB}</a:t>
            </a: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FD, such that the new FD can be derived from M</a:t>
            </a:r>
          </a:p>
          <a:p>
            <a:r>
              <a:rPr lang="en-US" dirty="0"/>
              <a:t>Only BC</a:t>
            </a:r>
            <a:r>
              <a:rPr lang="en-US" dirty="0">
                <a:sym typeface="Wingdings" pitchFamily="2" charset="2"/>
              </a:rPr>
              <a:t>D has more than one attributes on the left hand side</a:t>
            </a:r>
          </a:p>
          <a:p>
            <a:r>
              <a:rPr lang="en-US" dirty="0">
                <a:sym typeface="Wingdings" pitchFamily="2" charset="2"/>
              </a:rPr>
              <a:t>First, try to remove B from BCD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CD</a:t>
            </a:r>
          </a:p>
          <a:p>
            <a:pPr lvl="1"/>
            <a:r>
              <a:rPr lang="en-US" dirty="0">
                <a:sym typeface="Wingdings" pitchFamily="2" charset="2"/>
              </a:rPr>
              <a:t>Can CD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{C}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D, we know that CD cannot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B cannot be removed from BCD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171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New M = {</a:t>
            </a:r>
            <a:r>
              <a:rPr lang="en-US" dirty="0">
                <a:sym typeface="Wingdings" pitchFamily="2" charset="2"/>
              </a:rPr>
              <a:t>BCD, AE, DA, EB}</a:t>
            </a: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FD, such that the new FD can be derived from M</a:t>
            </a:r>
          </a:p>
          <a:p>
            <a:r>
              <a:rPr lang="en-US" dirty="0"/>
              <a:t>Only BC</a:t>
            </a:r>
            <a:r>
              <a:rPr lang="en-US" dirty="0">
                <a:sym typeface="Wingdings" pitchFamily="2" charset="2"/>
              </a:rPr>
              <a:t>D has more than one attributes on the left hand side</a:t>
            </a:r>
          </a:p>
          <a:p>
            <a:r>
              <a:rPr lang="en-US" dirty="0">
                <a:sym typeface="Wingdings" pitchFamily="2" charset="2"/>
              </a:rPr>
              <a:t>Next, try to remove C from BCD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BD</a:t>
            </a:r>
          </a:p>
          <a:p>
            <a:pPr lvl="1"/>
            <a:r>
              <a:rPr lang="en-US" dirty="0">
                <a:sym typeface="Wingdings" pitchFamily="2" charset="2"/>
              </a:rPr>
              <a:t>Can BD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{B}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{B}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{B}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D, we know that BD cannot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C cannot be removed from BCD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152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Minimal Basis: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Minimal basis = {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BCD, AE, DA, EB}</a:t>
            </a: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FD, such that the new FD can be derived from M</a:t>
            </a:r>
          </a:p>
          <a:p>
            <a:r>
              <a:rPr lang="en-US" dirty="0"/>
              <a:t>Only BC</a:t>
            </a:r>
            <a:r>
              <a:rPr lang="en-US" dirty="0">
                <a:sym typeface="Wingdings" pitchFamily="2" charset="2"/>
              </a:rPr>
              <a:t>D has more than one attributes on the left hand side</a:t>
            </a:r>
          </a:p>
          <a:p>
            <a:r>
              <a:rPr lang="en-US" dirty="0">
                <a:sym typeface="Wingdings" pitchFamily="2" charset="2"/>
              </a:rPr>
              <a:t>Next, try to remove C from BCD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BD</a:t>
            </a:r>
          </a:p>
          <a:p>
            <a:pPr lvl="1"/>
            <a:r>
              <a:rPr lang="en-US" dirty="0">
                <a:sym typeface="Wingdings" pitchFamily="2" charset="2"/>
              </a:rPr>
              <a:t>Can BD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{B}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{B}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{B}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D, we know that BD cannot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C cannot be removed from BCD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375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Transform the FDs to ensure that the right hand side of each FD has only one attribute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Check if we can remove any attribute from the left hand side of any FD</a:t>
            </a:r>
          </a:p>
          <a:p>
            <a:pPr marL="514350" indent="-514350">
              <a:buAutoNum type="arabicPeriod" startAt="2"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115048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/>
            </a:pPr>
            <a:r>
              <a:rPr lang="en-US" dirty="0">
                <a:sym typeface="Wingdings" pitchFamily="2" charset="2"/>
              </a:rPr>
              <a:t>Transform the FDs to ensure that the right hand side of each FD has only one attribute</a:t>
            </a:r>
          </a:p>
          <a:p>
            <a:r>
              <a:rPr lang="en-US" dirty="0"/>
              <a:t>Results: M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</a:t>
            </a:r>
          </a:p>
          <a:p>
            <a:pPr marL="784225" lvl="1" indent="-457200"/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2"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590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Try A</a:t>
            </a:r>
            <a:r>
              <a:rPr lang="en-US" dirty="0">
                <a:sym typeface="Wingdings" pitchFamily="2" charset="2"/>
              </a:rPr>
              <a:t>C first</a:t>
            </a:r>
          </a:p>
          <a:p>
            <a:pPr lvl="1"/>
            <a:r>
              <a:rPr lang="en-US" dirty="0"/>
              <a:t>If A</a:t>
            </a:r>
            <a:r>
              <a:rPr lang="en-US" dirty="0">
                <a:sym typeface="Wingdings" pitchFamily="2" charset="2"/>
              </a:rPr>
              <a:t>C is removed, then the ones left would be ACD, ADB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{A}</a:t>
            </a:r>
          </a:p>
          <a:p>
            <a:pPr lvl="1"/>
            <a:r>
              <a:rPr lang="en-US" dirty="0">
                <a:sym typeface="Wingdings" pitchFamily="2" charset="2"/>
              </a:rPr>
              <a:t>Since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C, we know that AC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AC cannot be removed</a:t>
            </a: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6734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Next, try AC</a:t>
            </a:r>
            <a:r>
              <a:rPr lang="en-US" dirty="0">
                <a:sym typeface="Wingdings" pitchFamily="2" charset="2"/>
              </a:rPr>
              <a:t>D</a:t>
            </a:r>
          </a:p>
          <a:p>
            <a:pPr lvl="1"/>
            <a:r>
              <a:rPr lang="en-US" dirty="0"/>
              <a:t>If AC</a:t>
            </a:r>
            <a:r>
              <a:rPr lang="en-US" dirty="0">
                <a:sym typeface="Wingdings" pitchFamily="2" charset="2"/>
              </a:rPr>
              <a:t>D is removed, then the ones left would be AC, ADB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{AC}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{AC}</a:t>
            </a:r>
          </a:p>
          <a:p>
            <a:pPr lvl="1"/>
            <a:r>
              <a:rPr lang="en-US" dirty="0">
                <a:sym typeface="Wingdings" pitchFamily="2" charset="2"/>
              </a:rPr>
              <a:t>Since {AC}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D, we know that ACD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ACD cannot be removed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050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 startAt="2"/>
            </a:pPr>
            <a:r>
              <a:rPr lang="en-US" dirty="0">
                <a:sym typeface="Wingdings" pitchFamily="2" charset="2"/>
              </a:rPr>
              <a:t>See if any FD can be derived from the other FDs. Remove those FDs one by one.</a:t>
            </a:r>
          </a:p>
          <a:p>
            <a:r>
              <a:rPr lang="en-US" dirty="0"/>
              <a:t>Next, try AD</a:t>
            </a:r>
            <a:r>
              <a:rPr lang="en-US" dirty="0">
                <a:sym typeface="Wingdings" pitchFamily="2" charset="2"/>
              </a:rPr>
              <a:t>B</a:t>
            </a:r>
          </a:p>
          <a:p>
            <a:pPr lvl="1"/>
            <a:r>
              <a:rPr lang="en-US" dirty="0"/>
              <a:t>If AD</a:t>
            </a:r>
            <a:r>
              <a:rPr lang="en-US" dirty="0">
                <a:sym typeface="Wingdings" pitchFamily="2" charset="2"/>
              </a:rPr>
              <a:t>B is removed, then the ones left would be AC, ACD</a:t>
            </a:r>
          </a:p>
          <a:p>
            <a:pPr lvl="1"/>
            <a:r>
              <a:rPr lang="en-US" dirty="0">
                <a:sym typeface="Wingdings" pitchFamily="2" charset="2"/>
              </a:rPr>
              <a:t>With the remaining FDs, we have {AD}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{AD}</a:t>
            </a:r>
          </a:p>
          <a:p>
            <a:pPr lvl="1"/>
            <a:r>
              <a:rPr lang="en-US" dirty="0">
                <a:sym typeface="Wingdings" pitchFamily="2" charset="2"/>
              </a:rPr>
              <a:t>Since {AD}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B, we know that ADB cannot be derived from the remaining FDs</a:t>
            </a:r>
          </a:p>
          <a:p>
            <a:pPr lvl="1"/>
            <a:r>
              <a:rPr lang="en-US" dirty="0">
                <a:sym typeface="Wingdings" pitchFamily="2" charset="2"/>
              </a:rPr>
              <a:t>Therefore, ADB cannot be removed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150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050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</a:t>
            </a:r>
          </a:p>
          <a:p>
            <a:r>
              <a:rPr lang="en-US" dirty="0">
                <a:sym typeface="Wingdings" pitchFamily="2" charset="2"/>
              </a:rPr>
              <a:t>First, try to remove A from ACD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CD</a:t>
            </a:r>
          </a:p>
          <a:p>
            <a:pPr lvl="1"/>
            <a:r>
              <a:rPr lang="en-US" dirty="0">
                <a:sym typeface="Wingdings" pitchFamily="2" charset="2"/>
              </a:rPr>
              <a:t>Can CD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{C}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D, we know that CD cannot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A cannot be removed from ACD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4505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 = {A</a:t>
            </a:r>
            <a:r>
              <a:rPr lang="en-US" dirty="0">
                <a:sym typeface="Wingdings" pitchFamily="2" charset="2"/>
              </a:rPr>
              <a:t>C, ACD, ADB}</a:t>
            </a: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</a:t>
            </a:r>
          </a:p>
          <a:p>
            <a:r>
              <a:rPr lang="en-US" dirty="0">
                <a:sym typeface="Wingdings" pitchFamily="2" charset="2"/>
              </a:rPr>
              <a:t>Next, try to remove C from ACD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AD</a:t>
            </a:r>
          </a:p>
          <a:p>
            <a:pPr lvl="1"/>
            <a:r>
              <a:rPr lang="en-US" dirty="0">
                <a:sym typeface="Wingdings" pitchFamily="2" charset="2"/>
              </a:rPr>
              <a:t>Can AD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{ABCD}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contains D, we know that AD can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C can be removed from ACD</a:t>
            </a:r>
          </a:p>
          <a:p>
            <a:r>
              <a:rPr lang="en-US" dirty="0">
                <a:solidFill>
                  <a:srgbClr val="C00000"/>
                </a:solidFill>
              </a:rPr>
              <a:t>New M = {A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C, AD, ADB}</a:t>
            </a: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394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7707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New M = {A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C, AD, ADB}</a:t>
            </a:r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</a:t>
            </a:r>
          </a:p>
          <a:p>
            <a:r>
              <a:rPr lang="en-US" dirty="0">
                <a:sym typeface="Wingdings" pitchFamily="2" charset="2"/>
              </a:rPr>
              <a:t>Next, try to remove A from ADB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DB</a:t>
            </a:r>
          </a:p>
          <a:p>
            <a:pPr lvl="1"/>
            <a:r>
              <a:rPr lang="en-US" dirty="0">
                <a:sym typeface="Wingdings" pitchFamily="2" charset="2"/>
              </a:rPr>
              <a:t>Can DB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{D}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{D}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{D}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does not contain B, we know that DB cannot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A cannot be removed from ADB</a:t>
            </a:r>
          </a:p>
          <a:p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1585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 = {A</a:t>
            </a:r>
            <a:r>
              <a:rPr lang="en-US" dirty="0">
                <a:sym typeface="Wingdings" pitchFamily="2" charset="2"/>
              </a:rPr>
              <a:t>C, AD, ADB}</a:t>
            </a: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Check if we can remove any attribute from the left hand side of any FD</a:t>
            </a:r>
          </a:p>
          <a:p>
            <a:r>
              <a:rPr lang="en-US" dirty="0">
                <a:sym typeface="Wingdings" pitchFamily="2" charset="2"/>
              </a:rPr>
              <a:t>Next, try to remove D from ADB</a:t>
            </a:r>
          </a:p>
          <a:p>
            <a:pPr lvl="1"/>
            <a:r>
              <a:rPr lang="en-US" dirty="0">
                <a:sym typeface="Wingdings" pitchFamily="2" charset="2"/>
              </a:rPr>
              <a:t>It results in AB</a:t>
            </a:r>
          </a:p>
          <a:p>
            <a:pPr lvl="1"/>
            <a:r>
              <a:rPr lang="en-US" dirty="0">
                <a:sym typeface="Wingdings" pitchFamily="2" charset="2"/>
              </a:rPr>
              <a:t>Can AB be derived from M?</a:t>
            </a:r>
          </a:p>
          <a:p>
            <a:pPr lvl="1"/>
            <a:r>
              <a:rPr lang="en-US" dirty="0">
                <a:sym typeface="Wingdings" pitchFamily="2" charset="2"/>
              </a:rPr>
              <a:t>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{ABCD} given M. </a:t>
            </a:r>
          </a:p>
          <a:p>
            <a:pPr lvl="1"/>
            <a:r>
              <a:rPr lang="en-US" dirty="0">
                <a:sym typeface="Wingdings" pitchFamily="2" charset="2"/>
              </a:rPr>
              <a:t>Since {A}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contains B, we know that AB can be derived from M</a:t>
            </a:r>
          </a:p>
          <a:p>
            <a:pPr lvl="1"/>
            <a:r>
              <a:rPr lang="en-US" dirty="0">
                <a:sym typeface="Wingdings" pitchFamily="2" charset="2"/>
              </a:rPr>
              <a:t>Therefore, D can be removed from ADB</a:t>
            </a:r>
          </a:p>
          <a:p>
            <a:r>
              <a:rPr lang="en-US" dirty="0">
                <a:solidFill>
                  <a:srgbClr val="C00000"/>
                </a:solidFill>
              </a:rPr>
              <a:t>New M = {A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C, AD, AB}; done</a:t>
            </a: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761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00618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Input: A table R with a set of FDs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Find a minimal basis of the FDs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Combine the FDs whose left hand sides are the same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After that, for each FD, construct a table that contains all attributes in the FD (note: avoid redundant tables)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Check if any of the tables contain a key for R; if not, then create a table that contains a key for R</a:t>
            </a:r>
          </a:p>
          <a:p>
            <a:pPr marL="531812" indent="-514350"/>
            <a:r>
              <a:rPr lang="en-US" dirty="0"/>
              <a:t>Example: R(A, B, C, D, E), with BC</a:t>
            </a:r>
            <a:r>
              <a:rPr lang="en-US" dirty="0">
                <a:sym typeface="Wingdings" pitchFamily="2" charset="2"/>
              </a:rPr>
              <a:t>DE, AE, DA, EB</a:t>
            </a:r>
          </a:p>
          <a:p>
            <a:pPr marL="858837" lvl="1" indent="-514350"/>
            <a:r>
              <a:rPr lang="en-US" dirty="0"/>
              <a:t>Minimal basis: </a:t>
            </a:r>
            <a:r>
              <a:rPr lang="en-US" dirty="0">
                <a:sym typeface="Wingdings" pitchFamily="2" charset="2"/>
              </a:rPr>
              <a:t>BCD, AE, DA, EB</a:t>
            </a:r>
          </a:p>
          <a:p>
            <a:pPr marL="858837" lvl="1" indent="-514350"/>
            <a:r>
              <a:rPr lang="en-US" dirty="0"/>
              <a:t>No FDs can be combined</a:t>
            </a:r>
            <a:endParaRPr lang="en-US" dirty="0">
              <a:sym typeface="Wingdings" pitchFamily="2" charset="2"/>
            </a:endParaRPr>
          </a:p>
          <a:p>
            <a:pPr marL="858837" lvl="1" indent="-514350"/>
            <a:r>
              <a:rPr lang="en-US" dirty="0">
                <a:sym typeface="Wingdings" pitchFamily="2" charset="2"/>
              </a:rPr>
              <a:t>Corresponding tables: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(B, C, D),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(A, E), R</a:t>
            </a:r>
            <a:r>
              <a:rPr lang="en-US" baseline="-25000" dirty="0">
                <a:sym typeface="Wingdings" pitchFamily="2" charset="2"/>
              </a:rPr>
              <a:t>3</a:t>
            </a:r>
            <a:r>
              <a:rPr lang="en-US" dirty="0">
                <a:sym typeface="Wingdings" pitchFamily="2" charset="2"/>
              </a:rPr>
              <a:t>(A, D), R</a:t>
            </a:r>
            <a:r>
              <a:rPr lang="en-US" baseline="-25000" dirty="0">
                <a:sym typeface="Wingdings" pitchFamily="2" charset="2"/>
              </a:rPr>
              <a:t>4</a:t>
            </a:r>
            <a:r>
              <a:rPr lang="en-US" dirty="0">
                <a:sym typeface="Wingdings" pitchFamily="2" charset="2"/>
              </a:rPr>
              <a:t>(B, E)</a:t>
            </a:r>
          </a:p>
          <a:p>
            <a:pPr marL="858837" lvl="1" indent="-514350"/>
            <a:r>
              <a:rPr lang="en-US" dirty="0">
                <a:sym typeface="Wingdings" pitchFamily="2" charset="2"/>
              </a:rPr>
              <a:t>Keys of R: AC, BC, CD, CE</a:t>
            </a:r>
          </a:p>
          <a:p>
            <a:pPr marL="858837" lvl="1" indent="-514350"/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contains a key of R; hence, we are done.</a:t>
            </a:r>
            <a:endParaRPr lang="en-US" dirty="0"/>
          </a:p>
          <a:p>
            <a:endParaRPr lang="en-US" dirty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4647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00618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Input: A table R with a set of FDs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Find a minimal basis of the FDs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Combine the FDs whose left hand sides are the same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After that, for each FD, construct a table that contains all attributes in the FD (note: avoid redundant tables)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Check if any of the tables contain a key for R; if not, then create a table that contains a key for R</a:t>
            </a:r>
          </a:p>
          <a:p>
            <a:pPr marL="531812" indent="-514350"/>
            <a:r>
              <a:rPr lang="en-US" dirty="0"/>
              <a:t>Example: R(A, B, C, D, E), with BC</a:t>
            </a:r>
            <a:r>
              <a:rPr lang="en-US" dirty="0">
                <a:sym typeface="Wingdings" pitchFamily="2" charset="2"/>
              </a:rPr>
              <a:t>DE, AE, DA, EB</a:t>
            </a:r>
          </a:p>
          <a:p>
            <a:pPr marL="858837" lvl="1" indent="-514350"/>
            <a:r>
              <a:rPr lang="en-US" dirty="0"/>
              <a:t>Minimal basis: </a:t>
            </a:r>
            <a:r>
              <a:rPr lang="en-US" dirty="0">
                <a:sym typeface="Wingdings" pitchFamily="2" charset="2"/>
              </a:rPr>
              <a:t>BCD, AE, DA, EB</a:t>
            </a:r>
          </a:p>
          <a:p>
            <a:pPr marL="858837" lvl="1" indent="-514350"/>
            <a:r>
              <a:rPr lang="en-US" dirty="0"/>
              <a:t>No FDs can be combined</a:t>
            </a:r>
            <a:endParaRPr lang="en-US" dirty="0">
              <a:sym typeface="Wingdings" pitchFamily="2" charset="2"/>
            </a:endParaRPr>
          </a:p>
          <a:p>
            <a:pPr marL="858837" lvl="1" indent="-514350"/>
            <a:r>
              <a:rPr lang="en-US" dirty="0">
                <a:sym typeface="Wingdings" pitchFamily="2" charset="2"/>
              </a:rPr>
              <a:t>Corresponding tables: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(B, C, D),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(A, E), R</a:t>
            </a:r>
            <a:r>
              <a:rPr lang="en-US" baseline="-25000" dirty="0">
                <a:sym typeface="Wingdings" pitchFamily="2" charset="2"/>
              </a:rPr>
              <a:t>3</a:t>
            </a:r>
            <a:r>
              <a:rPr lang="en-US" dirty="0">
                <a:sym typeface="Wingdings" pitchFamily="2" charset="2"/>
              </a:rPr>
              <a:t>(A, D), R</a:t>
            </a:r>
            <a:r>
              <a:rPr lang="en-US" baseline="-25000" dirty="0">
                <a:sym typeface="Wingdings" pitchFamily="2" charset="2"/>
              </a:rPr>
              <a:t>4</a:t>
            </a:r>
            <a:r>
              <a:rPr lang="en-US" dirty="0">
                <a:sym typeface="Wingdings" pitchFamily="2" charset="2"/>
              </a:rPr>
              <a:t>(B, E)</a:t>
            </a:r>
          </a:p>
          <a:p>
            <a:pPr marL="858837" lvl="1" indent="-514350"/>
            <a:r>
              <a:rPr lang="en-US" dirty="0">
                <a:sym typeface="Wingdings" pitchFamily="2" charset="2"/>
              </a:rPr>
              <a:t>Keys of R: AC, BC, CD, CE</a:t>
            </a:r>
          </a:p>
          <a:p>
            <a:pPr marL="858837" lvl="1" indent="-514350"/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contains a key of R; hence, we are done.</a:t>
            </a:r>
            <a:endParaRPr lang="en-US" dirty="0"/>
          </a:p>
          <a:p>
            <a:endParaRPr lang="en-US" dirty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326112-86A5-44F0-8FEF-11126C963BF3}"/>
              </a:ext>
            </a:extLst>
          </p:cNvPr>
          <p:cNvSpPr/>
          <p:nvPr/>
        </p:nvSpPr>
        <p:spPr bwMode="auto">
          <a:xfrm>
            <a:off x="1907704" y="980728"/>
            <a:ext cx="6779096" cy="1440161"/>
          </a:xfrm>
          <a:prstGeom prst="roundRect">
            <a:avLst/>
          </a:prstGeom>
          <a:solidFill>
            <a:srgbClr val="FFFFCC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  <a:ea typeface="宋体" pitchFamily="2" charset="-122"/>
              </a:rPr>
              <a:t>Why do we need this step?</a:t>
            </a:r>
          </a:p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G" sz="2800" dirty="0">
                <a:solidFill>
                  <a:srgbClr val="0000FF"/>
                </a:solidFill>
                <a:ea typeface="宋体" pitchFamily="2" charset="-122"/>
              </a:rPr>
              <a:t>To ensure lossless join decomposition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E31C19-8CC7-4F51-BB59-826C618CE007}"/>
              </a:ext>
            </a:extLst>
          </p:cNvPr>
          <p:cNvCxnSpPr>
            <a:cxnSpLocks/>
            <a:stCxn id="4" idx="2"/>
          </p:cNvCxnSpPr>
          <p:nvPr/>
        </p:nvCxnSpPr>
        <p:spPr bwMode="auto">
          <a:xfrm flipH="1">
            <a:off x="5076056" y="2420889"/>
            <a:ext cx="221196" cy="57606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3729561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1A6F8-626C-48AF-9CF1-8F8A068F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3NF Decomposition: Adding Key for Lossless Join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D5C1-9B44-4FF0-8867-92561B24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R(A, B, C, D), with A</a:t>
            </a:r>
            <a:r>
              <a:rPr lang="en-US" dirty="0">
                <a:sym typeface="Wingdings" panose="05000000000000000000" pitchFamily="2" charset="2"/>
              </a:rPr>
              <a:t>B, CD</a:t>
            </a:r>
          </a:p>
          <a:p>
            <a:pPr lvl="1"/>
            <a:r>
              <a:rPr lang="en-SG" dirty="0"/>
              <a:t>Minimal basis: A</a:t>
            </a:r>
            <a:r>
              <a:rPr lang="en-SG" dirty="0">
                <a:sym typeface="Wingdings" panose="05000000000000000000" pitchFamily="2" charset="2"/>
              </a:rPr>
              <a:t>B, CD</a:t>
            </a:r>
          </a:p>
          <a:p>
            <a:pPr lvl="1"/>
            <a:r>
              <a:rPr lang="en-US" dirty="0">
                <a:sym typeface="Wingdings" pitchFamily="2" charset="2"/>
              </a:rPr>
              <a:t>Corresponding tables: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(A, B),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(C, D)</a:t>
            </a:r>
          </a:p>
          <a:p>
            <a:pPr lvl="1"/>
            <a:r>
              <a:rPr lang="en-US" dirty="0">
                <a:sym typeface="Wingdings" pitchFamily="2" charset="2"/>
              </a:rPr>
              <a:t>Notice that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and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cannot be used to reconstruct R</a:t>
            </a:r>
          </a:p>
          <a:p>
            <a:pPr lvl="1"/>
            <a:r>
              <a:rPr lang="en-US" dirty="0">
                <a:sym typeface="Wingdings" pitchFamily="2" charset="2"/>
              </a:rPr>
              <a:t>This is why we require the following:</a:t>
            </a:r>
          </a:p>
          <a:p>
            <a:pPr lvl="2"/>
            <a:r>
              <a:rPr lang="en-US" dirty="0"/>
              <a:t>Check if any of the tables contain a key for R; if not, then create a table that contains a key for R</a:t>
            </a:r>
          </a:p>
          <a:p>
            <a:pPr lvl="1"/>
            <a:r>
              <a:rPr lang="en-US" dirty="0">
                <a:sym typeface="Wingdings" pitchFamily="2" charset="2"/>
              </a:rPr>
              <a:t>In this case, R has only one key: AC</a:t>
            </a:r>
          </a:p>
          <a:p>
            <a:pPr lvl="1"/>
            <a:r>
              <a:rPr lang="en-US" dirty="0">
                <a:sym typeface="Wingdings" pitchFamily="2" charset="2"/>
              </a:rPr>
              <a:t>Therefore, we add a table R</a:t>
            </a:r>
            <a:r>
              <a:rPr lang="en-US" baseline="-25000" dirty="0">
                <a:sym typeface="Wingdings" pitchFamily="2" charset="2"/>
              </a:rPr>
              <a:t>3</a:t>
            </a:r>
            <a:r>
              <a:rPr lang="en-US" dirty="0">
                <a:sym typeface="Wingdings" pitchFamily="2" charset="2"/>
              </a:rPr>
              <a:t>(A, C)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074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1812" indent="-514350"/>
            <a:r>
              <a:rPr lang="en-US" dirty="0"/>
              <a:t>R(A, B, C, D, E), with A</a:t>
            </a:r>
            <a:r>
              <a:rPr lang="en-US" dirty="0">
                <a:sym typeface="Wingdings" pitchFamily="2" charset="2"/>
              </a:rPr>
              <a:t>B, AC, BC, EC, ED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Find a minimal basis of the FDs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Combine the FDs whose left hand sides are the same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After that, for each FD, construct a table that contains all attributes in the FD (note: avoid redundant tables)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Check if any of the tables contain a key for R; if not, then create a table that contains a key for R</a:t>
            </a:r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5625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1812" indent="-514350"/>
            <a:r>
              <a:rPr lang="en-US" dirty="0"/>
              <a:t>R(A, B, C, D, E), with A</a:t>
            </a:r>
            <a:r>
              <a:rPr lang="en-US" dirty="0">
                <a:sym typeface="Wingdings" pitchFamily="2" charset="2"/>
              </a:rPr>
              <a:t>B, AC, BC, EC, ED</a:t>
            </a:r>
          </a:p>
          <a:p>
            <a:pPr marL="858837" lvl="1" indent="-514350"/>
            <a:r>
              <a:rPr lang="en-US" dirty="0"/>
              <a:t>Find a minimal basis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One attribute on the right: </a:t>
            </a: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B, AC, BC, EC, ED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Remove redundant FDs: </a:t>
            </a: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B, BC, EC, ED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Remove redundant attributes on the left: </a:t>
            </a: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B, BC, EC, ED</a:t>
            </a:r>
            <a:endParaRPr lang="en-US" dirty="0"/>
          </a:p>
          <a:p>
            <a:endParaRPr lang="en-US" dirty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649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31812" indent="-514350"/>
            <a:r>
              <a:rPr lang="en-US" dirty="0"/>
              <a:t>R(A, B, C, D, E), with A</a:t>
            </a:r>
            <a:r>
              <a:rPr lang="en-US" dirty="0">
                <a:sym typeface="Wingdings" pitchFamily="2" charset="2"/>
              </a:rPr>
              <a:t>B, ABC, CDE, EC, ED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Minimal basis: A</a:t>
            </a:r>
            <a:r>
              <a:rPr lang="en-US" dirty="0">
                <a:sym typeface="Wingdings" pitchFamily="2" charset="2"/>
              </a:rPr>
              <a:t>B, BC, EC, ED</a:t>
            </a:r>
            <a:endParaRPr lang="en-US" dirty="0"/>
          </a:p>
          <a:p>
            <a:pPr marL="858837" lvl="1" indent="-514350"/>
            <a:r>
              <a:rPr lang="en-US" dirty="0"/>
              <a:t>Combine the FDs whose left hand sides are the same: A</a:t>
            </a:r>
            <a:r>
              <a:rPr lang="en-US" dirty="0">
                <a:sym typeface="Wingdings" pitchFamily="2" charset="2"/>
              </a:rPr>
              <a:t>B, BC, ECD</a:t>
            </a:r>
            <a:endParaRPr lang="en-US" dirty="0"/>
          </a:p>
          <a:p>
            <a:pPr marL="858837" lvl="1" indent="-514350"/>
            <a:r>
              <a:rPr lang="en-US" dirty="0"/>
              <a:t>For each FD, construct a table that contains all attributes in the FD: (avoid redundant tables)</a:t>
            </a:r>
          </a:p>
          <a:p>
            <a:pPr marL="344487" lvl="1" indent="0">
              <a:buNone/>
            </a:pPr>
            <a:r>
              <a:rPr lang="en-US" dirty="0"/>
              <a:t>	R</a:t>
            </a:r>
            <a:r>
              <a:rPr lang="en-US" baseline="-25000" dirty="0"/>
              <a:t>1</a:t>
            </a:r>
            <a:r>
              <a:rPr lang="en-US" dirty="0"/>
              <a:t>(A, B), R</a:t>
            </a:r>
            <a:r>
              <a:rPr lang="en-US" baseline="-25000" dirty="0"/>
              <a:t>2</a:t>
            </a:r>
            <a:r>
              <a:rPr lang="en-US" dirty="0"/>
              <a:t>(B, C), R</a:t>
            </a:r>
            <a:r>
              <a:rPr lang="en-US" baseline="-25000" dirty="0"/>
              <a:t>3</a:t>
            </a:r>
            <a:r>
              <a:rPr lang="en-US" dirty="0"/>
              <a:t>(C, D, E)</a:t>
            </a:r>
          </a:p>
          <a:p>
            <a:pPr marL="858837" lvl="1" indent="-514350"/>
            <a:r>
              <a:rPr lang="en-US" dirty="0"/>
              <a:t>Check if any of the tables contain a key for R; if not, then create a table that contains a key for R:</a:t>
            </a:r>
          </a:p>
          <a:p>
            <a:pPr marL="344487" lvl="1" indent="0">
              <a:buNone/>
            </a:pPr>
            <a:r>
              <a:rPr lang="en-US" dirty="0"/>
              <a:t>	Key for R is {AD}, which is not contained in R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, or R</a:t>
            </a:r>
            <a:r>
              <a:rPr lang="en-US" baseline="-25000" dirty="0"/>
              <a:t>3</a:t>
            </a:r>
            <a:r>
              <a:rPr lang="en-US" dirty="0"/>
              <a:t>.</a:t>
            </a:r>
          </a:p>
          <a:p>
            <a:pPr marL="858837" lvl="1" indent="-514350"/>
            <a:r>
              <a:rPr lang="en-US" dirty="0"/>
              <a:t>Create another table R</a:t>
            </a:r>
            <a:r>
              <a:rPr lang="en-US" baseline="-25000" dirty="0"/>
              <a:t>4</a:t>
            </a:r>
            <a:r>
              <a:rPr lang="en-US" dirty="0"/>
              <a:t>(A, D) </a:t>
            </a:r>
          </a:p>
          <a:p>
            <a:pPr marL="858837" lvl="1" indent="-514350"/>
            <a:r>
              <a:rPr lang="en-US" dirty="0"/>
              <a:t>We are done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299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1812" indent="-514350"/>
            <a:r>
              <a:rPr lang="en-US" dirty="0"/>
              <a:t>R(A, B, C, D, E), with A</a:t>
            </a:r>
            <a:r>
              <a:rPr lang="en-US" dirty="0">
                <a:sym typeface="Wingdings" pitchFamily="2" charset="2"/>
              </a:rPr>
              <a:t>B, ABC, CDE, EC, ED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Find a minimal basis of the FDs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Combine the FDs whose left hand sides are the same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After that, for each FD, construct a table that contains all attributes in the FD (note: avoid redundant tables)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Check if any of the tables contain a key for R; if not, then create a table that contains a key for R</a:t>
            </a:r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71547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1812" indent="-514350"/>
            <a:r>
              <a:rPr lang="en-US" dirty="0"/>
              <a:t>R(A, B, C, D, E), with A</a:t>
            </a:r>
            <a:r>
              <a:rPr lang="en-US" dirty="0">
                <a:sym typeface="Wingdings" pitchFamily="2" charset="2"/>
              </a:rPr>
              <a:t>B, ABC, CDE, EC, ED</a:t>
            </a:r>
          </a:p>
          <a:p>
            <a:pPr marL="858837" lvl="1" indent="-514350"/>
            <a:r>
              <a:rPr lang="en-US" dirty="0"/>
              <a:t>Find a minimal basis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One attribute on the right: </a:t>
            </a: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B, ABC, CD, CE, EC, ED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Remove redundant FDs: </a:t>
            </a: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B, ABC, CD, CE, EC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Remove redundant attributes on the left: </a:t>
            </a: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B, AC, CD, CE, EC</a:t>
            </a:r>
            <a:endParaRPr lang="en-US" dirty="0"/>
          </a:p>
          <a:p>
            <a:endParaRPr lang="en-US" dirty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447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3NF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31812" indent="-514350"/>
            <a:r>
              <a:rPr lang="en-US" dirty="0"/>
              <a:t>R(A, B, C, D, E), with A</a:t>
            </a:r>
            <a:r>
              <a:rPr lang="en-US" dirty="0">
                <a:sym typeface="Wingdings" pitchFamily="2" charset="2"/>
              </a:rPr>
              <a:t>B, ABC, CDE, EC, ED</a:t>
            </a:r>
          </a:p>
          <a:p>
            <a:pPr marL="858837" lvl="1" indent="-514350"/>
            <a:r>
              <a:rPr lang="en-US" dirty="0"/>
              <a:t>Minimal basis: A</a:t>
            </a:r>
            <a:r>
              <a:rPr lang="en-US" dirty="0">
                <a:sym typeface="Wingdings" pitchFamily="2" charset="2"/>
              </a:rPr>
              <a:t>B, AC, CD, CE, EC</a:t>
            </a:r>
          </a:p>
          <a:p>
            <a:pPr marL="858837" lvl="1" indent="-514350"/>
            <a:r>
              <a:rPr lang="en-US" dirty="0"/>
              <a:t>Combine the FDs whose left hand sides are the same: A</a:t>
            </a:r>
            <a:r>
              <a:rPr lang="en-US" dirty="0">
                <a:sym typeface="Wingdings" pitchFamily="2" charset="2"/>
              </a:rPr>
              <a:t>BC, CDE, EC</a:t>
            </a:r>
            <a:endParaRPr lang="en-US" dirty="0"/>
          </a:p>
          <a:p>
            <a:pPr marL="858837" lvl="1" indent="-514350"/>
            <a:r>
              <a:rPr lang="en-US" dirty="0"/>
              <a:t>For each FD, construct a table that contains all attributes in the FD: (avoid redundant tables)</a:t>
            </a:r>
          </a:p>
          <a:p>
            <a:pPr marL="344487" lvl="1" indent="0">
              <a:buNone/>
            </a:pPr>
            <a:r>
              <a:rPr lang="en-US" dirty="0"/>
              <a:t>	R</a:t>
            </a:r>
            <a:r>
              <a:rPr lang="en-US" baseline="-25000" dirty="0"/>
              <a:t>1</a:t>
            </a:r>
            <a:r>
              <a:rPr lang="en-US" dirty="0"/>
              <a:t>(A, B, C), R</a:t>
            </a:r>
            <a:r>
              <a:rPr lang="en-US" baseline="-25000" dirty="0"/>
              <a:t>2</a:t>
            </a:r>
            <a:r>
              <a:rPr lang="en-US" dirty="0"/>
              <a:t>(C, D, E)</a:t>
            </a:r>
          </a:p>
          <a:p>
            <a:pPr marL="858837" lvl="1" indent="-514350"/>
            <a:r>
              <a:rPr lang="en-US" dirty="0"/>
              <a:t>Check if any of the tables contain a key for R; if not, then create a table that contains a key for R:</a:t>
            </a:r>
          </a:p>
          <a:p>
            <a:pPr marL="344487" lvl="1" indent="0">
              <a:buNone/>
            </a:pPr>
            <a:r>
              <a:rPr lang="en-US" dirty="0"/>
              <a:t>	Key for R is {A}, which is contained in R</a:t>
            </a:r>
            <a:r>
              <a:rPr lang="en-US" baseline="-25000" dirty="0"/>
              <a:t>1</a:t>
            </a:r>
          </a:p>
          <a:p>
            <a:pPr marL="858837" lvl="1" indent="-514350"/>
            <a:r>
              <a:rPr lang="en-US" dirty="0"/>
              <a:t>We are done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1006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2565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Poorly designed tables give rise to redundancy, update anomalies, and deletion anomalies</a:t>
            </a:r>
          </a:p>
          <a:p>
            <a:r>
              <a:rPr lang="en-US" dirty="0"/>
              <a:t>BCNF eliminates these problems</a:t>
            </a:r>
          </a:p>
          <a:p>
            <a:pPr lvl="1"/>
            <a:r>
              <a:rPr lang="en-SG" dirty="0">
                <a:sym typeface="Wingdings" pitchFamily="2" charset="2"/>
              </a:rPr>
              <a:t>BCNF: For any non-trivial FD on a table R, its left hand side is a super-key for R</a:t>
            </a:r>
            <a:endParaRPr lang="en-US" dirty="0"/>
          </a:p>
          <a:p>
            <a:r>
              <a:rPr lang="en-US" dirty="0"/>
              <a:t>But BCNF does not always preserve all FDs</a:t>
            </a:r>
          </a:p>
          <a:p>
            <a:pPr lvl="1"/>
            <a:r>
              <a:rPr lang="en-US" dirty="0"/>
              <a:t>We may need to perform a join of multiple tables to check whether an FD holds</a:t>
            </a:r>
          </a:p>
          <a:p>
            <a:r>
              <a:rPr lang="en-US" dirty="0"/>
              <a:t>3NF: slightly weaker than BCNF; has update and deletion anomalies in some rare cases, but preserves all FDs</a:t>
            </a:r>
          </a:p>
          <a:p>
            <a:pPr lvl="1"/>
            <a:r>
              <a:rPr lang="en-SG" dirty="0">
                <a:sym typeface="Wingdings" pitchFamily="2" charset="2"/>
              </a:rPr>
              <a:t>3NF: For any non-trivial FD on a table R, either its left hand side is a super-key for R, </a:t>
            </a:r>
            <a:r>
              <a:rPr lang="en-SG" dirty="0">
                <a:solidFill>
                  <a:srgbClr val="C00000"/>
                </a:solidFill>
                <a:sym typeface="Wingdings" pitchFamily="2" charset="2"/>
              </a:rPr>
              <a:t>or its right hand side is part of a key</a:t>
            </a:r>
            <a:endParaRPr lang="en-US" dirty="0"/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084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or 3NF?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BCNF is only inferior to 3NF in the sense that sometimes it does not preserve all FDs</a:t>
            </a:r>
          </a:p>
          <a:p>
            <a:r>
              <a:rPr lang="en-US" dirty="0"/>
              <a:t>So, go for BCNF if we can find a BCNF decomposition that preserves all FDs</a:t>
            </a:r>
          </a:p>
          <a:p>
            <a:r>
              <a:rPr lang="en-US" dirty="0"/>
              <a:t>If such a decomposition does not exist</a:t>
            </a:r>
          </a:p>
          <a:p>
            <a:pPr lvl="1"/>
            <a:r>
              <a:rPr lang="en-US" dirty="0"/>
              <a:t>Go for BCNF if preserving all FDs is not important</a:t>
            </a:r>
          </a:p>
          <a:p>
            <a:pPr lvl="1"/>
            <a:r>
              <a:rPr lang="en-US" dirty="0"/>
              <a:t>Go for 3NF otherwise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1941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whether a BCNF decomposition preserves all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R(A, B, C, D), with A</a:t>
            </a:r>
            <a:r>
              <a:rPr lang="en-US" dirty="0">
                <a:sym typeface="Wingdings" pitchFamily="2" charset="2"/>
              </a:rPr>
              <a:t>B, BC, CD, AD, DB</a:t>
            </a:r>
          </a:p>
          <a:p>
            <a:r>
              <a:rPr lang="en-US" dirty="0">
                <a:sym typeface="Wingdings" pitchFamily="2" charset="2"/>
              </a:rPr>
              <a:t>BCNF Decomposition: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(A, B),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(B, C, D)</a:t>
            </a:r>
          </a:p>
          <a:p>
            <a:r>
              <a:rPr lang="en-US" dirty="0"/>
              <a:t>FDs on each table</a:t>
            </a:r>
          </a:p>
          <a:p>
            <a:pPr lvl="1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: A</a:t>
            </a:r>
            <a:r>
              <a:rPr lang="en-US" dirty="0">
                <a:sym typeface="Wingdings" pitchFamily="2" charset="2"/>
              </a:rPr>
              <a:t>B</a:t>
            </a:r>
          </a:p>
          <a:p>
            <a:pPr lvl="1"/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: BC, CB, CD, DC, BD, DB</a:t>
            </a:r>
          </a:p>
          <a:p>
            <a:r>
              <a:rPr lang="en-US" dirty="0"/>
              <a:t>Are all original FDs preserved?</a:t>
            </a:r>
          </a:p>
          <a:p>
            <a:pPr lvl="1"/>
            <a:r>
              <a:rPr lang="en-US" dirty="0"/>
              <a:t>Yes</a:t>
            </a:r>
          </a:p>
          <a:p>
            <a:pPr lvl="1"/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B is on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, BC, CD, DB are on R</a:t>
            </a:r>
            <a:r>
              <a:rPr lang="en-US" baseline="-25000" dirty="0">
                <a:sym typeface="Wingdings" pitchFamily="2" charset="2"/>
              </a:rPr>
              <a:t>2</a:t>
            </a:r>
          </a:p>
          <a:p>
            <a:pPr lvl="1"/>
            <a:r>
              <a:rPr lang="en-US" dirty="0">
                <a:sym typeface="Wingdings" pitchFamily="2" charset="2"/>
              </a:rPr>
              <a:t>AD is implied by AB and BD</a:t>
            </a:r>
            <a:endParaRPr lang="en-US" dirty="0"/>
          </a:p>
          <a:p>
            <a:r>
              <a:rPr lang="en-US" dirty="0"/>
              <a:t>No need to go for a 3NF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88432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whether a BCNF decomposition preserves all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R(A, B, C, D), with A</a:t>
            </a:r>
            <a:r>
              <a:rPr lang="en-US" dirty="0">
                <a:sym typeface="Wingdings" pitchFamily="2" charset="2"/>
              </a:rPr>
              <a:t>B, BC, CD, AD, DB</a:t>
            </a:r>
          </a:p>
          <a:p>
            <a:r>
              <a:rPr lang="en-US" dirty="0">
                <a:sym typeface="Wingdings" pitchFamily="2" charset="2"/>
              </a:rPr>
              <a:t>BCNF Decomposition: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(A, B),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(B, C, D)</a:t>
            </a:r>
          </a:p>
          <a:p>
            <a:r>
              <a:rPr lang="en-US" dirty="0"/>
              <a:t>General approach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Find the FDs that hold on the table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each remaining FD, check whether it can derived from the FDs from the first step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all remaining FDs can be derived, then all FDs are preserved</a:t>
            </a:r>
          </a:p>
          <a:p>
            <a:pPr marL="344487" lvl="1" indent="0">
              <a:buNone/>
            </a:pPr>
            <a:r>
              <a:rPr lang="en-US" dirty="0"/>
              <a:t> </a:t>
            </a:r>
          </a:p>
          <a:p>
            <a:pPr marL="344487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391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R(A, B, C, D), with A</a:t>
            </a:r>
            <a:r>
              <a:rPr lang="en-US" dirty="0">
                <a:sym typeface="Wingdings" pitchFamily="2" charset="2"/>
              </a:rPr>
              <a:t>C, BCD, CDA, DB, </a:t>
            </a:r>
          </a:p>
          <a:p>
            <a:r>
              <a:rPr lang="en-US" dirty="0">
                <a:sym typeface="Wingdings" pitchFamily="2" charset="2"/>
              </a:rPr>
              <a:t>Check whether R is in BCNF</a:t>
            </a:r>
          </a:p>
          <a:p>
            <a:r>
              <a:rPr lang="en-US" dirty="0">
                <a:sym typeface="Wingdings" pitchFamily="2" charset="2"/>
              </a:rPr>
              <a:t>If not, decompose it into BCNF tables, and check whether all FDs are preserved</a:t>
            </a:r>
          </a:p>
          <a:p>
            <a:r>
              <a:rPr lang="en-US" dirty="0"/>
              <a:t>Note: Checking whether all FDs are preserved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Find the FDs that hold on the table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For each remaining FD, check whether it can derived from the FDs from the first step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all remaining FDs can be derived, then all FDs are preserved</a:t>
            </a:r>
          </a:p>
          <a:p>
            <a:pPr marL="344487" lvl="1" indent="0">
              <a:buNone/>
            </a:pPr>
            <a:r>
              <a:rPr lang="en-US" dirty="0"/>
              <a:t> </a:t>
            </a:r>
          </a:p>
          <a:p>
            <a:pPr marL="344487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64967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R(A, B, C, D), with A</a:t>
            </a:r>
            <a:r>
              <a:rPr lang="en-US" dirty="0">
                <a:sym typeface="Wingdings" pitchFamily="2" charset="2"/>
              </a:rPr>
              <a:t>C, BCD, CDA, DB, </a:t>
            </a:r>
          </a:p>
          <a:p>
            <a:r>
              <a:rPr lang="en-US" dirty="0">
                <a:sym typeface="Wingdings" pitchFamily="2" charset="2"/>
              </a:rPr>
              <a:t>BCNF Decomposition: R1(A, C), R2(B, D), R3(A, D)</a:t>
            </a:r>
          </a:p>
          <a:p>
            <a:r>
              <a:rPr lang="en-US" dirty="0">
                <a:sym typeface="Wingdings" pitchFamily="2" charset="2"/>
              </a:rPr>
              <a:t>FDs on R1, R2, and R3: AC, DB</a:t>
            </a:r>
          </a:p>
          <a:p>
            <a:r>
              <a:rPr lang="en-US" dirty="0">
                <a:sym typeface="Wingdings" pitchFamily="2" charset="2"/>
              </a:rPr>
              <a:t>Remaining ones: BCD, CDA</a:t>
            </a:r>
          </a:p>
          <a:p>
            <a:pPr lvl="1"/>
            <a:r>
              <a:rPr lang="en-US" dirty="0">
                <a:sym typeface="Wingdings" pitchFamily="2" charset="2"/>
              </a:rPr>
              <a:t>Can they be derived from AC and DB?</a:t>
            </a:r>
          </a:p>
          <a:p>
            <a:pPr lvl="1"/>
            <a:r>
              <a:rPr lang="en-US" dirty="0">
                <a:sym typeface="Wingdings" pitchFamily="2" charset="2"/>
              </a:rPr>
              <a:t>No</a:t>
            </a:r>
          </a:p>
          <a:p>
            <a:r>
              <a:rPr lang="en-US" dirty="0"/>
              <a:t>Therefore, the BCNF decomposition does not preserve all FDs</a:t>
            </a:r>
          </a:p>
          <a:p>
            <a:pPr marL="344487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073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R(A, B, C, D, E), with AB</a:t>
            </a:r>
            <a:r>
              <a:rPr lang="en-US" dirty="0">
                <a:sym typeface="Wingdings" pitchFamily="2" charset="2"/>
              </a:rPr>
              <a:t>C, CB, BCD, CDE</a:t>
            </a:r>
          </a:p>
          <a:p>
            <a:r>
              <a:rPr lang="en-US" dirty="0">
                <a:sym typeface="Wingdings" pitchFamily="2" charset="2"/>
              </a:rPr>
              <a:t>Check whether R is in BCNF; if not, derive a BCNF decomposition of R</a:t>
            </a:r>
          </a:p>
          <a:p>
            <a:r>
              <a:rPr lang="en-US" dirty="0">
                <a:sym typeface="Wingdings" pitchFamily="2" charset="2"/>
              </a:rPr>
              <a:t>Check whether the decomposition preserves all FDs</a:t>
            </a:r>
          </a:p>
          <a:p>
            <a:r>
              <a:rPr lang="en-US" dirty="0">
                <a:sym typeface="Wingdings" pitchFamily="2" charset="2"/>
              </a:rPr>
              <a:t>If not, check whether R is in 3NF; if R is not in 3NF, derive a 3NF decomposition of R</a:t>
            </a:r>
          </a:p>
        </p:txBody>
      </p:sp>
    </p:spTree>
    <p:extLst>
      <p:ext uri="{BB962C8B-B14F-4D97-AF65-F5344CB8AC3E}">
        <p14:creationId xmlns:p14="http://schemas.microsoft.com/office/powerpoint/2010/main" val="2444871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R(A, B, C, D, E), with AB</a:t>
            </a:r>
            <a:r>
              <a:rPr lang="en-US" dirty="0">
                <a:sym typeface="Wingdings" pitchFamily="2" charset="2"/>
              </a:rPr>
              <a:t>C, CB, BCD, CDE</a:t>
            </a:r>
          </a:p>
          <a:p>
            <a:r>
              <a:rPr lang="en-US" dirty="0">
                <a:sym typeface="Wingdings" pitchFamily="2" charset="2"/>
              </a:rPr>
              <a:t>{C}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{BCDE}, which violates BCNF; so R is not in BCNF</a:t>
            </a:r>
          </a:p>
          <a:p>
            <a:r>
              <a:rPr lang="en-US" dirty="0">
                <a:sym typeface="Wingdings" pitchFamily="2" charset="2"/>
              </a:rPr>
              <a:t>BCNF Decomposition: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(A, C),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(B, C, D, E)</a:t>
            </a:r>
          </a:p>
          <a:p>
            <a:r>
              <a:rPr lang="en-US" dirty="0">
                <a:sym typeface="Wingdings" pitchFamily="2" charset="2"/>
              </a:rPr>
              <a:t>FDs on each table:</a:t>
            </a:r>
          </a:p>
          <a:p>
            <a:pPr lvl="1"/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: none</a:t>
            </a:r>
          </a:p>
          <a:p>
            <a:pPr lvl="1"/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: CBDE, and some redundant ones</a:t>
            </a:r>
          </a:p>
          <a:p>
            <a:r>
              <a:rPr lang="en-US" dirty="0"/>
              <a:t>Are all original FDs preserved?</a:t>
            </a:r>
          </a:p>
          <a:p>
            <a:pPr lvl="1"/>
            <a:r>
              <a:rPr lang="en-US" dirty="0">
                <a:sym typeface="Wingdings" pitchFamily="2" charset="2"/>
              </a:rPr>
              <a:t>No. ABC cannot be derived.</a:t>
            </a:r>
          </a:p>
          <a:p>
            <a:r>
              <a:rPr lang="en-US" dirty="0">
                <a:sym typeface="Wingdings" pitchFamily="2" charset="2"/>
              </a:rPr>
              <a:t>Go for a 3NF decomposition</a:t>
            </a:r>
          </a:p>
          <a:p>
            <a:r>
              <a:rPr lang="en-US" dirty="0">
                <a:sym typeface="Wingdings" pitchFamily="2" charset="2"/>
              </a:rPr>
              <a:t>But is R already in 3NF?</a:t>
            </a:r>
          </a:p>
          <a:p>
            <a:pPr lvl="1"/>
            <a:r>
              <a:rPr lang="en-US" dirty="0">
                <a:sym typeface="Wingdings" pitchFamily="2" charset="2"/>
              </a:rPr>
              <a:t>Keys of R: AB, AC</a:t>
            </a:r>
          </a:p>
          <a:p>
            <a:pPr lvl="1"/>
            <a:r>
              <a:rPr lang="en-US" dirty="0">
                <a:sym typeface="Wingdings" pitchFamily="2" charset="2"/>
              </a:rPr>
              <a:t>BCD violates 3NF, so R is not in 3NF</a:t>
            </a:r>
          </a:p>
        </p:txBody>
      </p:sp>
    </p:spTree>
    <p:extLst>
      <p:ext uri="{BB962C8B-B14F-4D97-AF65-F5344CB8AC3E}">
        <p14:creationId xmlns:p14="http://schemas.microsoft.com/office/powerpoint/2010/main" val="153226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/>
          </a:bodyPr>
          <a:lstStyle/>
          <a:p>
            <a:r>
              <a:rPr lang="en-US" dirty="0"/>
              <a:t>R(A, B, C, D, E), with AB</a:t>
            </a:r>
            <a:r>
              <a:rPr lang="en-US" dirty="0">
                <a:sym typeface="Wingdings" pitchFamily="2" charset="2"/>
              </a:rPr>
              <a:t>C, CB, BCD, CDE</a:t>
            </a:r>
          </a:p>
          <a:p>
            <a:r>
              <a:rPr lang="en-US" dirty="0">
                <a:sym typeface="Wingdings" pitchFamily="2" charset="2"/>
              </a:rPr>
              <a:t>Keys of R: AB, AC</a:t>
            </a:r>
          </a:p>
          <a:p>
            <a:r>
              <a:rPr lang="en-US" dirty="0">
                <a:sym typeface="Wingdings" pitchFamily="2" charset="2"/>
              </a:rPr>
              <a:t>3NF decomposition</a:t>
            </a:r>
          </a:p>
          <a:p>
            <a:pPr lvl="1"/>
            <a:r>
              <a:rPr lang="en-US" dirty="0">
                <a:sym typeface="Wingdings" pitchFamily="2" charset="2"/>
              </a:rPr>
              <a:t>Minimal basis: ABC, CB, CD, CE</a:t>
            </a:r>
          </a:p>
          <a:p>
            <a:pPr lvl="1"/>
            <a:r>
              <a:rPr lang="en-US" dirty="0">
                <a:sym typeface="Wingdings" pitchFamily="2" charset="2"/>
              </a:rPr>
              <a:t>Combining FDs: ABC, CBDE</a:t>
            </a:r>
          </a:p>
          <a:p>
            <a:pPr lvl="1"/>
            <a:r>
              <a:rPr lang="en-US" dirty="0">
                <a:sym typeface="Wingdings" pitchFamily="2" charset="2"/>
              </a:rPr>
              <a:t>Tables from the minimal basis: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(A, B, C), 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(C, B, D, E)</a:t>
            </a:r>
          </a:p>
          <a:p>
            <a:pPr lvl="1"/>
            <a:r>
              <a:rPr lang="en-US" dirty="0">
                <a:sym typeface="Wingdings" pitchFamily="2" charset="2"/>
              </a:rPr>
              <a:t>One of the keys of R (namely, AB) is covered by R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, so we are done</a:t>
            </a:r>
          </a:p>
        </p:txBody>
      </p:sp>
    </p:spTree>
    <p:extLst>
      <p:ext uri="{BB962C8B-B14F-4D97-AF65-F5344CB8AC3E}">
        <p14:creationId xmlns:p14="http://schemas.microsoft.com/office/powerpoint/2010/main" val="352634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7819</Words>
  <Application>Microsoft Office PowerPoint</Application>
  <PresentationFormat>On-screen Show (4:3)</PresentationFormat>
  <Paragraphs>752</Paragraphs>
  <Slides>82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宋体</vt:lpstr>
      <vt:lpstr>Arial</vt:lpstr>
      <vt:lpstr>Calibri</vt:lpstr>
      <vt:lpstr>Comic Sans MS</vt:lpstr>
      <vt:lpstr>Garamond</vt:lpstr>
      <vt:lpstr>Wingdings</vt:lpstr>
      <vt:lpstr>Edge</vt:lpstr>
      <vt:lpstr>CS2102 Database Systems</vt:lpstr>
      <vt:lpstr>Last Lecture</vt:lpstr>
      <vt:lpstr>Properties of BCNF</vt:lpstr>
      <vt:lpstr>BCNF Decomposition may not Preserve FDs</vt:lpstr>
      <vt:lpstr>Roadmap</vt:lpstr>
      <vt:lpstr>Third Normal Form (3NF)</vt:lpstr>
      <vt:lpstr>Third Normal Form (3NF)</vt:lpstr>
      <vt:lpstr>BCNF vs. 3NF</vt:lpstr>
      <vt:lpstr>3NF Check</vt:lpstr>
      <vt:lpstr>3NF Check: Example</vt:lpstr>
      <vt:lpstr>3NF Check: Example</vt:lpstr>
      <vt:lpstr>3NF Check: Example</vt:lpstr>
      <vt:lpstr>3NF Check: Example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3NF Decomposition</vt:lpstr>
      <vt:lpstr>3NF Decomposition Algorithm</vt:lpstr>
      <vt:lpstr>Minimal Basis</vt:lpstr>
      <vt:lpstr>Minimal Basis</vt:lpstr>
      <vt:lpstr>Minimal Basis</vt:lpstr>
      <vt:lpstr>Minimal Basis</vt:lpstr>
      <vt:lpstr>Minimal Basis of FDs</vt:lpstr>
      <vt:lpstr>Minimal Basis of FDs: Example</vt:lpstr>
      <vt:lpstr>Minimal Basis of FDs: Example</vt:lpstr>
      <vt:lpstr>Minimal Basis of FDs: Example</vt:lpstr>
      <vt:lpstr>Minimal Basis of FDs: Example</vt:lpstr>
      <vt:lpstr>3NF Decomposition Algorithm</vt:lpstr>
      <vt:lpstr>Algorithm for Minimal Basis</vt:lpstr>
      <vt:lpstr>Algorithm for Minimal Basis</vt:lpstr>
      <vt:lpstr>Algorithm for Minimal Basis</vt:lpstr>
      <vt:lpstr>Algorithm for Minimal Basis</vt:lpstr>
      <vt:lpstr>Algorithm for Minimal Basis</vt:lpstr>
      <vt:lpstr>Algorithm for Minimal Basis</vt:lpstr>
      <vt:lpstr>Algorithm for Minimal Basis</vt:lpstr>
      <vt:lpstr>Algorithm for Minimal Basis</vt:lpstr>
      <vt:lpstr>Algorithm for Minimal Basis</vt:lpstr>
      <vt:lpstr>Finding Minimal Basis: Example</vt:lpstr>
      <vt:lpstr>Finding Minimal Basis: Example</vt:lpstr>
      <vt:lpstr>Finding Minimal Basis: Example</vt:lpstr>
      <vt:lpstr>Finding Minimal Basis: Example</vt:lpstr>
      <vt:lpstr>Finding Minimal Basis: Example</vt:lpstr>
      <vt:lpstr>Finding Minimal Basis: Example</vt:lpstr>
      <vt:lpstr>Finding Minimal Basis: Example</vt:lpstr>
      <vt:lpstr>Finding Minimal Basis: Example</vt:lpstr>
      <vt:lpstr>Finding Minimal Basis: Example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3NF Decomposition</vt:lpstr>
      <vt:lpstr>3NF Decomposition</vt:lpstr>
      <vt:lpstr>3NF Decomposition: Adding Key for Lossless Join</vt:lpstr>
      <vt:lpstr>Exercise: 3NF Decomposition</vt:lpstr>
      <vt:lpstr>Exercise: 3NF Decomposition</vt:lpstr>
      <vt:lpstr>Exercise: 3NF Decomposition</vt:lpstr>
      <vt:lpstr>Exercise: 3NF Decomposition</vt:lpstr>
      <vt:lpstr>Exercise: 3NF Decomposition</vt:lpstr>
      <vt:lpstr>Exercise: 3NF Decomposition</vt:lpstr>
      <vt:lpstr>Summary</vt:lpstr>
      <vt:lpstr>BCNF or 3NF?</vt:lpstr>
      <vt:lpstr>Checking whether a BCNF decomposition preserves all FDs</vt:lpstr>
      <vt:lpstr>Checking whether a BCNF decomposition preserves all FDs</vt:lpstr>
      <vt:lpstr>Exercise</vt:lpstr>
      <vt:lpstr>Exercise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 Xiaokui</cp:lastModifiedBy>
  <cp:revision>1128</cp:revision>
  <cp:lastPrinted>2013-09-12T04:51:00Z</cp:lastPrinted>
  <dcterms:created xsi:type="dcterms:W3CDTF">2009-03-02T02:47:37Z</dcterms:created>
  <dcterms:modified xsi:type="dcterms:W3CDTF">2019-06-17T14:07:50Z</dcterms:modified>
</cp:coreProperties>
</file>