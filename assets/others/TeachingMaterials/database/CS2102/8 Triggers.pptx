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54"/>
  </p:notesMasterIdLst>
  <p:handoutMasterIdLst>
    <p:handoutMasterId r:id="rId55"/>
  </p:handoutMasterIdLst>
  <p:sldIdLst>
    <p:sldId id="256" r:id="rId2"/>
    <p:sldId id="654" r:id="rId3"/>
    <p:sldId id="647" r:id="rId4"/>
    <p:sldId id="655" r:id="rId5"/>
    <p:sldId id="539" r:id="rId6"/>
    <p:sldId id="540" r:id="rId7"/>
    <p:sldId id="541" r:id="rId8"/>
    <p:sldId id="649" r:id="rId9"/>
    <p:sldId id="650" r:id="rId10"/>
    <p:sldId id="651" r:id="rId11"/>
    <p:sldId id="547" r:id="rId12"/>
    <p:sldId id="653" r:id="rId13"/>
    <p:sldId id="652" r:id="rId14"/>
    <p:sldId id="551" r:id="rId15"/>
    <p:sldId id="552" r:id="rId16"/>
    <p:sldId id="554" r:id="rId17"/>
    <p:sldId id="553" r:id="rId18"/>
    <p:sldId id="555" r:id="rId19"/>
    <p:sldId id="556" r:id="rId20"/>
    <p:sldId id="659" r:id="rId21"/>
    <p:sldId id="656" r:id="rId22"/>
    <p:sldId id="657" r:id="rId23"/>
    <p:sldId id="658" r:id="rId24"/>
    <p:sldId id="660" r:id="rId25"/>
    <p:sldId id="661" r:id="rId26"/>
    <p:sldId id="663" r:id="rId27"/>
    <p:sldId id="664" r:id="rId28"/>
    <p:sldId id="665" r:id="rId29"/>
    <p:sldId id="666" r:id="rId30"/>
    <p:sldId id="667" r:id="rId31"/>
    <p:sldId id="668" r:id="rId32"/>
    <p:sldId id="674" r:id="rId33"/>
    <p:sldId id="675" r:id="rId34"/>
    <p:sldId id="680" r:id="rId35"/>
    <p:sldId id="673" r:id="rId36"/>
    <p:sldId id="678" r:id="rId37"/>
    <p:sldId id="679" r:id="rId38"/>
    <p:sldId id="669" r:id="rId39"/>
    <p:sldId id="671" r:id="rId40"/>
    <p:sldId id="672" r:id="rId41"/>
    <p:sldId id="676" r:id="rId42"/>
    <p:sldId id="677" r:id="rId43"/>
    <p:sldId id="681" r:id="rId44"/>
    <p:sldId id="683" r:id="rId45"/>
    <p:sldId id="682" r:id="rId46"/>
    <p:sldId id="684" r:id="rId47"/>
    <p:sldId id="685" r:id="rId48"/>
    <p:sldId id="686" r:id="rId49"/>
    <p:sldId id="687" r:id="rId50"/>
    <p:sldId id="688" r:id="rId51"/>
    <p:sldId id="689" r:id="rId52"/>
    <p:sldId id="690" r:id="rId53"/>
  </p:sldIdLst>
  <p:sldSz cx="9144000" cy="6858000" type="screen4x3"/>
  <p:notesSz cx="6669088" cy="9753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8000"/>
    <a:srgbClr val="996600"/>
    <a:srgbClr val="FFFFCC"/>
    <a:srgbClr val="0000FF"/>
    <a:srgbClr val="CCFF99"/>
    <a:srgbClr val="FF9900"/>
    <a:srgbClr val="33CC33"/>
    <a:srgbClr val="66FF33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543" autoAdjust="0"/>
  </p:normalViewPr>
  <p:slideViewPr>
    <p:cSldViewPr>
      <p:cViewPr varScale="1">
        <p:scale>
          <a:sx n="110" d="100"/>
          <a:sy n="110" d="100"/>
        </p:scale>
        <p:origin x="1061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3" y="0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3" y="9263663"/>
            <a:ext cx="2889938" cy="487680"/>
          </a:xfrm>
          <a:prstGeom prst="rect">
            <a:avLst/>
          </a:prstGeom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3" y="0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0"/>
            <a:ext cx="533527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3" y="9263663"/>
            <a:ext cx="2889938" cy="487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91593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/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2019/6/20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2019/6/20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/>
              <a:t>CS2102</a:t>
            </a:r>
            <a:br>
              <a:rPr lang="en-US" altLang="zh-CN" sz="4400" dirty="0"/>
            </a:br>
            <a:r>
              <a:rPr lang="en-US" altLang="zh-CN" sz="440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Triggers</a:t>
            </a:r>
          </a:p>
          <a:p>
            <a:r>
              <a:rPr lang="en-US" dirty="0"/>
              <a:t>Stored procedures</a:t>
            </a:r>
          </a:p>
          <a:p>
            <a:r>
              <a:rPr lang="en-US" dirty="0" smtClean="0"/>
              <a:t>SQL in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73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Trigger: Motivation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5"/>
            <a:ext cx="8229600" cy="3888431"/>
          </a:xfrm>
        </p:spPr>
        <p:txBody>
          <a:bodyPr>
            <a:normAutofit/>
          </a:bodyPr>
          <a:lstStyle/>
          <a:p>
            <a:r>
              <a:rPr lang="en-US" dirty="0"/>
              <a:t>Every time there is a new beer from Tiger, the Lotus Bar would sell it at 10 dollars. </a:t>
            </a:r>
          </a:p>
          <a:p>
            <a:r>
              <a:rPr lang="en-US" dirty="0"/>
              <a:t>We cannot enforce this constraint using what we have learned</a:t>
            </a:r>
          </a:p>
          <a:p>
            <a:pPr lvl="1"/>
            <a:r>
              <a:rPr lang="en-US" dirty="0"/>
              <a:t>E.g., CHECK and ASSERTION does not help since they only prevents things from happening, but cannot make things happen</a:t>
            </a:r>
          </a:p>
          <a:p>
            <a:r>
              <a:rPr lang="en-US" dirty="0"/>
              <a:t>Solution: Use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5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DFA0-81BE-4EFF-965E-5FF68866C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8A61D-F7DC-47D5-94AA-6AC132271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 mini-program associated with insertion/deletion/update on a table T</a:t>
            </a:r>
          </a:p>
          <a:p>
            <a:r>
              <a:rPr lang="en-SG" dirty="0"/>
              <a:t>Used to enforce complex constraints</a:t>
            </a:r>
          </a:p>
          <a:p>
            <a:r>
              <a:rPr lang="en-US" dirty="0"/>
              <a:t>We will use some examples to explain how triggers work</a:t>
            </a:r>
          </a:p>
          <a:p>
            <a:r>
              <a:rPr lang="en-US" dirty="0"/>
              <a:t>Note: We will adopt MySQL’s trigger syntax</a:t>
            </a:r>
          </a:p>
          <a:p>
            <a:pPr lvl="1"/>
            <a:r>
              <a:rPr lang="en-US" dirty="0"/>
              <a:t>Other DBMS have slightly different syntaxes 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9379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5"/>
            <a:ext cx="8229600" cy="381642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time there is a new beer from Tiger, the Lotus Bar would sell it at 10 dollars. </a:t>
            </a:r>
          </a:p>
          <a:p>
            <a:r>
              <a:rPr lang="en-US" dirty="0">
                <a:solidFill>
                  <a:srgbClr val="0000CC"/>
                </a:solidFill>
              </a:rPr>
              <a:t>CREATE TRIGGER 		</a:t>
            </a:r>
            <a:r>
              <a:rPr lang="en-US" dirty="0" err="1">
                <a:solidFill>
                  <a:srgbClr val="0000CC"/>
                </a:solidFill>
              </a:rPr>
              <a:t>BeerTrig</a:t>
            </a:r>
            <a:r>
              <a:rPr lang="en-US" dirty="0">
                <a:solidFill>
                  <a:srgbClr val="0000CC"/>
                </a:solidFill>
              </a:rPr>
              <a:t/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AFTER INSERTION ON	Beers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FOR EACH ROW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BEGIN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	IF </a:t>
            </a:r>
            <a:r>
              <a:rPr lang="en-US" dirty="0" err="1">
                <a:solidFill>
                  <a:srgbClr val="C00000"/>
                </a:solidFill>
              </a:rPr>
              <a:t>NEW</a:t>
            </a:r>
            <a:r>
              <a:rPr lang="en-US" dirty="0" err="1"/>
              <a:t>.Brand</a:t>
            </a:r>
            <a:r>
              <a:rPr lang="en-US" dirty="0"/>
              <a:t> = ‘Tiger’ </a:t>
            </a:r>
            <a:r>
              <a:rPr lang="en-US" dirty="0">
                <a:solidFill>
                  <a:srgbClr val="0000CC"/>
                </a:solidFill>
              </a:rPr>
              <a:t>THEN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</a:t>
            </a:r>
            <a:r>
              <a:rPr lang="en-US" dirty="0" err="1"/>
              <a:t>Loctus</a:t>
            </a:r>
            <a:r>
              <a:rPr lang="en-US" dirty="0"/>
              <a:t>’, </a:t>
            </a:r>
            <a:r>
              <a:rPr lang="en-US" dirty="0" err="1">
                <a:solidFill>
                  <a:srgbClr val="C00000"/>
                </a:solidFill>
              </a:rPr>
              <a:t>NEW</a:t>
            </a:r>
            <a:r>
              <a:rPr lang="en-US" dirty="0" err="1"/>
              <a:t>.Name</a:t>
            </a:r>
            <a:r>
              <a:rPr lang="en-US" dirty="0"/>
              <a:t>, 10);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END IF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</a:t>
            </a:r>
            <a:r>
              <a:rPr lang="en-SG" dirty="0"/>
              <a:t>;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678875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3026452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60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time the Lotus Bar stops selling a beer, the Cheetah Bar would sell it at its last price</a:t>
            </a:r>
          </a:p>
          <a:p>
            <a:r>
              <a:rPr lang="en-US" dirty="0"/>
              <a:t>CREATE TRIGGER 	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INSERTION ON	Beers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NEW.Brand</a:t>
            </a:r>
            <a:r>
              <a:rPr lang="en-US" dirty="0"/>
              <a:t> = ‘Tiger’ THEN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</a:t>
            </a:r>
            <a:r>
              <a:rPr lang="en-US" dirty="0" err="1"/>
              <a:t>Loctus</a:t>
            </a:r>
            <a:r>
              <a:rPr lang="en-US" dirty="0"/>
              <a:t>’, </a:t>
            </a:r>
            <a:r>
              <a:rPr lang="en-US" dirty="0" err="1"/>
              <a:t>NEW.Name</a:t>
            </a:r>
            <a:r>
              <a:rPr lang="en-US" dirty="0"/>
              <a:t>, 10);</a:t>
            </a:r>
            <a:br>
              <a:rPr lang="en-US" dirty="0"/>
            </a:br>
            <a:r>
              <a:rPr lang="en-US" dirty="0"/>
              <a:t>	END IF</a:t>
            </a:r>
            <a:r>
              <a:rPr lang="en-SG" dirty="0"/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END</a:t>
            </a:r>
            <a:r>
              <a:rPr lang="en-SG" dirty="0"/>
              <a:t>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1416063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7321810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3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60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time the Lotus Bar stops selling a beer, the Cheetah Bar would sell it at its last price</a:t>
            </a:r>
          </a:p>
          <a:p>
            <a:r>
              <a:rPr lang="en-US" dirty="0"/>
              <a:t>CREATE TRIGGER 	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</a:t>
            </a:r>
            <a:r>
              <a:rPr lang="en-US" dirty="0">
                <a:solidFill>
                  <a:srgbClr val="0000FF"/>
                </a:solidFill>
              </a:rPr>
              <a:t>DELETION</a:t>
            </a:r>
            <a:r>
              <a:rPr lang="en-US" dirty="0"/>
              <a:t> ON		</a:t>
            </a:r>
            <a:r>
              <a:rPr lang="en-US" dirty="0">
                <a:solidFill>
                  <a:srgbClr val="0000FF"/>
                </a:solidFill>
              </a:rPr>
              <a:t>Sells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>
                <a:solidFill>
                  <a:srgbClr val="0000FF"/>
                </a:solidFill>
              </a:rPr>
              <a:t>OLD</a:t>
            </a:r>
            <a:r>
              <a:rPr lang="en-US" dirty="0" err="1"/>
              <a:t>.Brand</a:t>
            </a:r>
            <a:r>
              <a:rPr lang="en-US" dirty="0"/>
              <a:t> = ‘Tiger’ THEN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</a:t>
            </a:r>
            <a:r>
              <a:rPr lang="en-US" dirty="0" err="1"/>
              <a:t>Loctus</a:t>
            </a:r>
            <a:r>
              <a:rPr lang="en-US" dirty="0"/>
              <a:t>’, </a:t>
            </a:r>
            <a:r>
              <a:rPr lang="en-US" dirty="0" err="1">
                <a:solidFill>
                  <a:srgbClr val="0000FF"/>
                </a:solidFill>
              </a:rPr>
              <a:t>OLD</a:t>
            </a:r>
            <a:r>
              <a:rPr lang="en-US" dirty="0" err="1"/>
              <a:t>.Name</a:t>
            </a:r>
            <a:r>
              <a:rPr lang="en-US" dirty="0"/>
              <a:t>, 10);</a:t>
            </a:r>
            <a:br>
              <a:rPr lang="en-US" dirty="0"/>
            </a:br>
            <a:r>
              <a:rPr lang="en-US" dirty="0"/>
              <a:t>	END IF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/>
              <a:t>END;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3035755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1767842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19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60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time the Lotus Bar stops selling a beer, the Cheetah Bar would sell it at its last price</a:t>
            </a:r>
          </a:p>
          <a:p>
            <a:r>
              <a:rPr lang="en-US" dirty="0"/>
              <a:t>CREATE TRIGGER 	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DELETION ON	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OLD</a:t>
            </a:r>
            <a:r>
              <a:rPr lang="en-US" dirty="0" err="1">
                <a:solidFill>
                  <a:srgbClr val="0000CC"/>
                </a:solidFill>
              </a:rPr>
              <a:t>.Bar</a:t>
            </a:r>
            <a:r>
              <a:rPr lang="en-US" dirty="0"/>
              <a:t> = </a:t>
            </a:r>
            <a:r>
              <a:rPr lang="en-US" dirty="0">
                <a:solidFill>
                  <a:srgbClr val="0000FF"/>
                </a:solidFill>
              </a:rPr>
              <a:t>‘Lotus’</a:t>
            </a:r>
            <a:r>
              <a:rPr lang="en-US" dirty="0"/>
              <a:t> THEN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</a:t>
            </a:r>
            <a:r>
              <a:rPr lang="en-US" dirty="0" err="1"/>
              <a:t>Loctus</a:t>
            </a:r>
            <a:r>
              <a:rPr lang="en-US" dirty="0"/>
              <a:t>’, </a:t>
            </a:r>
            <a:r>
              <a:rPr lang="en-US" dirty="0" err="1"/>
              <a:t>OLD.Name</a:t>
            </a:r>
            <a:r>
              <a:rPr lang="en-US" dirty="0"/>
              <a:t>, 10);</a:t>
            </a:r>
            <a:br>
              <a:rPr lang="en-US" dirty="0"/>
            </a:br>
            <a:r>
              <a:rPr lang="en-US" dirty="0"/>
              <a:t>	END IF;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END;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01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507288" cy="39260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time the Lotus Bar stops selling a beer, the </a:t>
            </a:r>
            <a:br>
              <a:rPr lang="en-US" dirty="0"/>
            </a:br>
            <a:r>
              <a:rPr lang="en-US" dirty="0"/>
              <a:t>Cheetah Bar would sell it at its last price</a:t>
            </a:r>
          </a:p>
          <a:p>
            <a:r>
              <a:rPr lang="en-US" dirty="0"/>
              <a:t>CREATE TRIGGER 	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DELETION ON	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OLD.Bar</a:t>
            </a:r>
            <a:r>
              <a:rPr lang="en-US" dirty="0"/>
              <a:t> = ‘Lotus’ THEN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</a:t>
            </a:r>
            <a:r>
              <a:rPr lang="en-US" dirty="0">
                <a:solidFill>
                  <a:srgbClr val="0000FF"/>
                </a:solidFill>
              </a:rPr>
              <a:t>‘Cheetah’, </a:t>
            </a:r>
            <a:r>
              <a:rPr lang="en-US" dirty="0" err="1">
                <a:solidFill>
                  <a:srgbClr val="0000FF"/>
                </a:solidFill>
              </a:rPr>
              <a:t>OLD.Beer</a:t>
            </a:r>
            <a:r>
              <a:rPr lang="en-US" dirty="0">
                <a:solidFill>
                  <a:srgbClr val="0000FF"/>
                </a:solidFill>
              </a:rPr>
              <a:t>, </a:t>
            </a:r>
            <a:r>
              <a:rPr lang="en-US" dirty="0" err="1">
                <a:solidFill>
                  <a:srgbClr val="0000FF"/>
                </a:solidFill>
              </a:rPr>
              <a:t>OLD.Price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END IF;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END;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20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507288" cy="41044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time the Lotus Bar raises the price of a beer by over 10 dollars, the Cheetah Bar would sell it at its old price</a:t>
            </a:r>
          </a:p>
          <a:p>
            <a:r>
              <a:rPr lang="en-US" dirty="0"/>
              <a:t>CREATE TRIGGER 	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DELETION ON	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OLD.Bar</a:t>
            </a:r>
            <a:r>
              <a:rPr lang="en-US" dirty="0"/>
              <a:t> = ‘Lotus’ THEN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(‘Cheetah’, </a:t>
            </a:r>
            <a:r>
              <a:rPr lang="en-US" dirty="0" err="1"/>
              <a:t>OLD.Beer</a:t>
            </a:r>
            <a:r>
              <a:rPr lang="en-US" dirty="0"/>
              <a:t>, </a:t>
            </a:r>
            <a:r>
              <a:rPr lang="en-US" dirty="0" err="1"/>
              <a:t>OLD.Price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END IF;</a:t>
            </a:r>
            <a:br>
              <a:rPr lang="en-US" dirty="0"/>
            </a:br>
            <a:r>
              <a:rPr lang="en-US" dirty="0"/>
              <a:t>END;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41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507288" cy="410445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Every time the Lotus Bar raises the price of a beer by over 10 dollars, the Cheetah Bar would sell it at its old price</a:t>
            </a:r>
          </a:p>
          <a:p>
            <a:r>
              <a:rPr lang="en-US" dirty="0"/>
              <a:t>CREATE TRIGGER 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UPDATE ON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>
                <a:solidFill>
                  <a:srgbClr val="0000CC"/>
                </a:solidFill>
              </a:rPr>
              <a:t>OLD.Bar</a:t>
            </a:r>
            <a:r>
              <a:rPr lang="en-US" dirty="0">
                <a:solidFill>
                  <a:srgbClr val="0000CC"/>
                </a:solidFill>
              </a:rPr>
              <a:t> = ‘Lotus’ AND </a:t>
            </a:r>
            <a:r>
              <a:rPr lang="en-US" dirty="0" err="1">
                <a:solidFill>
                  <a:srgbClr val="0000CC"/>
                </a:solidFill>
              </a:rPr>
              <a:t>OLD.Price</a:t>
            </a:r>
            <a:r>
              <a:rPr lang="en-US" dirty="0">
                <a:solidFill>
                  <a:srgbClr val="0000CC"/>
                </a:solidFill>
              </a:rPr>
              <a:t> + 10 &lt; 		</a:t>
            </a:r>
            <a:r>
              <a:rPr lang="en-US" dirty="0" err="1">
                <a:solidFill>
                  <a:srgbClr val="0000CC"/>
                </a:solidFill>
              </a:rPr>
              <a:t>NEW.Price</a:t>
            </a:r>
            <a:r>
              <a:rPr lang="en-US" dirty="0"/>
              <a:t> THEN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(‘Cheetah’, </a:t>
            </a:r>
            <a:r>
              <a:rPr lang="en-US" dirty="0" err="1"/>
              <a:t>OLD.Beer</a:t>
            </a:r>
            <a:r>
              <a:rPr lang="en-US" dirty="0"/>
              <a:t>, </a:t>
            </a:r>
            <a:r>
              <a:rPr lang="en-US" dirty="0" err="1"/>
              <a:t>OLD.Price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END IF;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END;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781737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029706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969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432048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Every time the Lotus Bar raises the price of a beer by over 10 dollars, the Cheetah Bar would sell it at its old price. (</a:t>
            </a:r>
            <a:r>
              <a:rPr lang="en-US" dirty="0">
                <a:solidFill>
                  <a:srgbClr val="C00000"/>
                </a:solidFill>
              </a:rPr>
              <a:t>Note: The beer may have been sold at the </a:t>
            </a:r>
            <a:r>
              <a:rPr lang="en-US" dirty="0" err="1">
                <a:solidFill>
                  <a:srgbClr val="C00000"/>
                </a:solidFill>
              </a:rPr>
              <a:t>CheeTah</a:t>
            </a:r>
            <a:r>
              <a:rPr lang="en-US" dirty="0">
                <a:solidFill>
                  <a:srgbClr val="C00000"/>
                </a:solidFill>
              </a:rPr>
              <a:t> Bar</a:t>
            </a:r>
            <a:r>
              <a:rPr lang="en-US" dirty="0"/>
              <a:t>)</a:t>
            </a:r>
          </a:p>
          <a:p>
            <a:r>
              <a:rPr lang="en-US" dirty="0"/>
              <a:t>CREATE TRIGGER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UPDATE ON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OLD.Bar</a:t>
            </a:r>
            <a:r>
              <a:rPr lang="en-US" dirty="0"/>
              <a:t> = ‘Lotus’ AND </a:t>
            </a:r>
            <a:r>
              <a:rPr lang="en-US" dirty="0" err="1"/>
              <a:t>OLD.Price</a:t>
            </a:r>
            <a:r>
              <a:rPr lang="en-US" dirty="0"/>
              <a:t> + 10 &lt; </a:t>
            </a:r>
            <a:r>
              <a:rPr lang="en-US" dirty="0" err="1"/>
              <a:t>NEW.Price</a:t>
            </a:r>
            <a:r>
              <a:rPr lang="en-US" dirty="0"/>
              <a:t> THEN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(‘Cheetah’, </a:t>
            </a:r>
            <a:r>
              <a:rPr lang="en-US" dirty="0" err="1"/>
              <a:t>OLD.Beer</a:t>
            </a:r>
            <a:r>
              <a:rPr lang="en-US" dirty="0"/>
              <a:t>, </a:t>
            </a:r>
            <a:r>
              <a:rPr lang="en-US" dirty="0" err="1"/>
              <a:t>OLD.Price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END IF;</a:t>
            </a:r>
            <a:br>
              <a:rPr lang="en-US" dirty="0"/>
            </a:br>
            <a:r>
              <a:rPr lang="en-US" dirty="0"/>
              <a:t>END;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573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432048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Every time the Lotus Bar raises the price of a beer by over 10 dollars, the Cheetah Bar would sell it at its old price. (</a:t>
            </a:r>
            <a:r>
              <a:rPr lang="en-US" dirty="0">
                <a:solidFill>
                  <a:srgbClr val="C00000"/>
                </a:solidFill>
              </a:rPr>
              <a:t>Note: The beer may have been sold at the </a:t>
            </a:r>
            <a:r>
              <a:rPr lang="en-US" dirty="0" err="1">
                <a:solidFill>
                  <a:srgbClr val="C00000"/>
                </a:solidFill>
              </a:rPr>
              <a:t>CheeTah</a:t>
            </a:r>
            <a:r>
              <a:rPr lang="en-US" dirty="0">
                <a:solidFill>
                  <a:srgbClr val="C00000"/>
                </a:solidFill>
              </a:rPr>
              <a:t> Bar</a:t>
            </a:r>
            <a:r>
              <a:rPr lang="en-US" dirty="0"/>
              <a:t>)</a:t>
            </a:r>
          </a:p>
          <a:p>
            <a:r>
              <a:rPr lang="en-US" dirty="0"/>
              <a:t>CREATE TRIGGER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UPDATE ON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OLD.Bar</a:t>
            </a:r>
            <a:r>
              <a:rPr lang="en-US" dirty="0"/>
              <a:t> = ‘Lotus’ AND </a:t>
            </a:r>
            <a:r>
              <a:rPr lang="en-US" dirty="0" err="1"/>
              <a:t>OLD.Price</a:t>
            </a:r>
            <a:r>
              <a:rPr lang="en-US" dirty="0"/>
              <a:t> + 10 &lt; </a:t>
            </a:r>
            <a:r>
              <a:rPr lang="en-US" dirty="0" err="1"/>
              <a:t>NEW.Price</a:t>
            </a:r>
            <a:r>
              <a:rPr lang="en-US" dirty="0"/>
              <a:t> THEN</a:t>
            </a:r>
            <a:br>
              <a:rPr lang="en-US" dirty="0"/>
            </a:br>
            <a:r>
              <a:rPr lang="en-US" dirty="0"/>
              <a:t>		DELETE FROM	Sells</a:t>
            </a:r>
            <a:br>
              <a:rPr lang="en-US" dirty="0"/>
            </a:br>
            <a:r>
              <a:rPr lang="en-US" dirty="0"/>
              <a:t>			WHERE	Bar = ‘Cheetah’ AND Beer = </a:t>
            </a:r>
            <a:r>
              <a:rPr lang="en-US" dirty="0" err="1"/>
              <a:t>OLD.Beer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</a:t>
            </a:r>
            <a:r>
              <a:rPr lang="en-US" dirty="0" err="1"/>
              <a:t>CheeTah</a:t>
            </a:r>
            <a:r>
              <a:rPr lang="en-US" dirty="0"/>
              <a:t>’, </a:t>
            </a:r>
            <a:r>
              <a:rPr lang="en-US" dirty="0" err="1"/>
              <a:t>OLD.Beer</a:t>
            </a:r>
            <a:r>
              <a:rPr lang="en-US" dirty="0"/>
              <a:t>, </a:t>
            </a:r>
            <a:r>
              <a:rPr lang="en-US" dirty="0" err="1"/>
              <a:t>OLD.Price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END IF;</a:t>
            </a:r>
            <a:br>
              <a:rPr lang="en-US" dirty="0"/>
            </a:br>
            <a:r>
              <a:rPr lang="en-US" dirty="0"/>
              <a:t>END;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471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435280" cy="4320480"/>
          </a:xfrm>
        </p:spPr>
        <p:txBody>
          <a:bodyPr>
            <a:normAutofit/>
          </a:bodyPr>
          <a:lstStyle/>
          <a:p>
            <a:r>
              <a:rPr lang="en-US" dirty="0"/>
              <a:t>Every time the Lotus Bar sells a new bear, the Cheetah Bar would sell it with 1 dollars 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2010209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325865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817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507288" cy="417646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Every time the Lotus Bar sells a new bear, the Cheetah Bar would sell it with 1 dollars less</a:t>
            </a:r>
          </a:p>
          <a:p>
            <a:r>
              <a:rPr lang="en-US" dirty="0"/>
              <a:t>CREATE TRIGGER 	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INSERTION ON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NEW.Bar</a:t>
            </a:r>
            <a:r>
              <a:rPr lang="en-US" dirty="0"/>
              <a:t> = ‘Lotus’ THEN</a:t>
            </a:r>
            <a:br>
              <a:rPr lang="en-US" dirty="0"/>
            </a:br>
            <a:r>
              <a:rPr lang="en-US" dirty="0"/>
              <a:t>		DELETE FROM	Sells</a:t>
            </a:r>
            <a:br>
              <a:rPr lang="en-US" dirty="0"/>
            </a:br>
            <a:r>
              <a:rPr lang="en-US" dirty="0"/>
              <a:t>			WHERE	Bar = ‘Cheetah’ AND Beer = </a:t>
            </a:r>
            <a:r>
              <a:rPr lang="en-US" dirty="0" err="1"/>
              <a:t>NEW.Beer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</a:t>
            </a:r>
            <a:r>
              <a:rPr lang="en-US" dirty="0" err="1"/>
              <a:t>CheeTah</a:t>
            </a:r>
            <a:r>
              <a:rPr lang="en-US" dirty="0"/>
              <a:t>’, </a:t>
            </a:r>
            <a:r>
              <a:rPr lang="en-US" dirty="0" err="1"/>
              <a:t>NEW.Beer</a:t>
            </a:r>
            <a:r>
              <a:rPr lang="en-US" dirty="0"/>
              <a:t>, NEW - 1);</a:t>
            </a:r>
            <a:br>
              <a:rPr lang="en-US" dirty="0"/>
            </a:br>
            <a:r>
              <a:rPr lang="en-US" dirty="0"/>
              <a:t>	END IF;</a:t>
            </a:r>
            <a:br>
              <a:rPr lang="en-US" dirty="0"/>
            </a:br>
            <a:r>
              <a:rPr lang="en-US" dirty="0"/>
              <a:t>END;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2374833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6497545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282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104456"/>
          </a:xfrm>
        </p:spPr>
        <p:txBody>
          <a:bodyPr>
            <a:normAutofit/>
          </a:bodyPr>
          <a:lstStyle/>
          <a:p>
            <a:r>
              <a:rPr lang="en-US" dirty="0"/>
              <a:t>Every time the Lotus Bar cut the price of a beer by x dollars, the Cheetah Bar would cut the price by 2 * x dollars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54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507288" cy="410445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Every time the Lotus Bar cut the price of a beer by x dollars, the Cheetah Bar would cut the price by 2 * x dollars</a:t>
            </a:r>
          </a:p>
          <a:p>
            <a:r>
              <a:rPr lang="en-US" dirty="0"/>
              <a:t>CREATE TRIGGER 	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INSERTION ON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NEW.Bar</a:t>
            </a:r>
            <a:r>
              <a:rPr lang="en-US" dirty="0"/>
              <a:t> = ‘Lotus’ THEN</a:t>
            </a:r>
            <a:br>
              <a:rPr lang="en-US" dirty="0"/>
            </a:br>
            <a:r>
              <a:rPr lang="en-US" dirty="0"/>
              <a:t>		DELETE FROM	Sells</a:t>
            </a:r>
            <a:br>
              <a:rPr lang="en-US" dirty="0"/>
            </a:br>
            <a:r>
              <a:rPr lang="en-US" dirty="0"/>
              <a:t>		WHERE	Bar = ‘Cheetah’ AND Beer = </a:t>
            </a:r>
            <a:r>
              <a:rPr lang="en-US" dirty="0" err="1"/>
              <a:t>NEW.Beer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</a:t>
            </a:r>
            <a:r>
              <a:rPr lang="en-US" dirty="0" err="1"/>
              <a:t>CheeTah</a:t>
            </a:r>
            <a:r>
              <a:rPr lang="en-US" dirty="0"/>
              <a:t>’, </a:t>
            </a:r>
            <a:r>
              <a:rPr lang="en-US" dirty="0" err="1"/>
              <a:t>NEW.Beer</a:t>
            </a:r>
            <a:r>
              <a:rPr lang="en-US" dirty="0"/>
              <a:t>, NEW - 1);</a:t>
            </a:r>
            <a:br>
              <a:rPr lang="en-US" dirty="0"/>
            </a:br>
            <a:r>
              <a:rPr lang="en-US" dirty="0"/>
              <a:t>	END IF;</a:t>
            </a:r>
            <a:br>
              <a:rPr lang="en-US" dirty="0"/>
            </a:br>
            <a:r>
              <a:rPr lang="en-US" dirty="0"/>
              <a:t>END;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6298208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576696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675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507288" cy="4104456"/>
          </a:xfrm>
        </p:spPr>
        <p:txBody>
          <a:bodyPr>
            <a:normAutofit/>
          </a:bodyPr>
          <a:lstStyle/>
          <a:p>
            <a:r>
              <a:rPr lang="en-US" dirty="0"/>
              <a:t>Every time the Lotus Bar stops selling a beer, if the Cheetah bar sells the beer, it would set the price of the beer to the average price of the Tiger beers sold at the Lotus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6342359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3409459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019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507288" cy="417646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Every time the Lotus Bar stops selling a beer, if the Cheetah bar sells the beer, it would set the price of the beer to the average price of the Tiger beers sold at the Lotus Bar</a:t>
            </a:r>
          </a:p>
          <a:p>
            <a:r>
              <a:rPr lang="en-US" dirty="0"/>
              <a:t>CREATE TRIGGER 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DELETION ON	Sells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OLD.Bar</a:t>
            </a:r>
            <a:r>
              <a:rPr lang="en-US" dirty="0"/>
              <a:t> = ‘Lotus’ THEN</a:t>
            </a:r>
            <a:br>
              <a:rPr lang="en-US" dirty="0"/>
            </a:br>
            <a:r>
              <a:rPr lang="en-US" dirty="0"/>
              <a:t>		UPDATE 	Sells</a:t>
            </a:r>
            <a:br>
              <a:rPr lang="en-US" dirty="0"/>
            </a:br>
            <a:r>
              <a:rPr lang="en-US" dirty="0"/>
              <a:t>		SET	Price = (SELECT AVG(Price)</a:t>
            </a:r>
            <a:br>
              <a:rPr lang="en-US" dirty="0"/>
            </a:br>
            <a:r>
              <a:rPr lang="en-US" dirty="0"/>
              <a:t>				FROM 	Beers, Sells</a:t>
            </a:r>
            <a:br>
              <a:rPr lang="en-US" dirty="0"/>
            </a:br>
            <a:r>
              <a:rPr lang="en-US" dirty="0"/>
              <a:t>				WHERE  Bar = ‘Lotus’ AND Brand = Tiger)</a:t>
            </a:r>
            <a:br>
              <a:rPr lang="en-US" dirty="0"/>
            </a:br>
            <a:r>
              <a:rPr lang="en-US" dirty="0"/>
              <a:t>		WHERE Bar = ‘Cheetah’ AND Beer = </a:t>
            </a:r>
            <a:r>
              <a:rPr lang="en-US" dirty="0" err="1"/>
              <a:t>OLD.Beer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END IF;</a:t>
            </a:r>
            <a:br>
              <a:rPr lang="en-US" dirty="0"/>
            </a:br>
            <a:r>
              <a:rPr lang="en-US" dirty="0"/>
              <a:t>END;</a:t>
            </a:r>
            <a:endParaRPr lang="en-SG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270030"/>
            <a:ext cx="115212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Beers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2580323"/>
              </p:ext>
            </p:extLst>
          </p:nvPr>
        </p:nvGraphicFramePr>
        <p:xfrm>
          <a:off x="1835696" y="1074440"/>
          <a:ext cx="21602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Brand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latin typeface="Calibri" panose="020F0502020204030204" pitchFamily="34" charset="0"/>
                        </a:rPr>
                        <a:t>Tiger</a:t>
                      </a:r>
                      <a:endParaRPr lang="en-SG" sz="2400" u="none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64088" y="477942"/>
            <a:ext cx="1080120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Sells</a:t>
            </a:r>
            <a:endParaRPr lang="en-SG" sz="2800" b="1" dirty="0">
              <a:latin typeface="Calibri" panose="020F0502020204030204" pitchFamily="34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4446545"/>
              </p:ext>
            </p:extLst>
          </p:nvPr>
        </p:nvGraphicFramePr>
        <p:xfrm>
          <a:off x="5364088" y="1055389"/>
          <a:ext cx="309634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Bar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solidFill>
                            <a:srgbClr val="FFFF00"/>
                          </a:solidFill>
                          <a:latin typeface="Calibri" panose="020F0502020204030204" pitchFamily="34" charset="0"/>
                        </a:rPr>
                        <a:t>Beer</a:t>
                      </a:r>
                      <a:endParaRPr lang="en-SG" sz="2400" u="sng" dirty="0">
                        <a:solidFill>
                          <a:srgbClr val="FFFF00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Price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Lotus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B1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en-SG" sz="2400" u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671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3629-AA15-4A7E-8992-E7A1A6B0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Removing a trigger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A641A-8F07-4A2A-BB86-CB11A4190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TRIGGER 	</a:t>
            </a:r>
            <a:r>
              <a:rPr lang="en-US" dirty="0" err="1"/>
              <a:t>BeerTrig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AFTER INSERTION ON	Beers</a:t>
            </a:r>
            <a:br>
              <a:rPr lang="en-US" dirty="0"/>
            </a:br>
            <a:r>
              <a:rPr lang="en-US" dirty="0"/>
              <a:t>FOR EACH ROW</a:t>
            </a:r>
            <a:br>
              <a:rPr lang="en-US" dirty="0"/>
            </a:br>
            <a:r>
              <a:rPr lang="en-US" dirty="0"/>
              <a:t>BEGIN</a:t>
            </a:r>
            <a:br>
              <a:rPr lang="en-US" dirty="0"/>
            </a:br>
            <a:r>
              <a:rPr lang="en-US" dirty="0"/>
              <a:t>	IF </a:t>
            </a:r>
            <a:r>
              <a:rPr lang="en-US" dirty="0" err="1"/>
              <a:t>NEW.Brand</a:t>
            </a:r>
            <a:r>
              <a:rPr lang="en-US" dirty="0"/>
              <a:t> = ‘Tiger’ THEN</a:t>
            </a:r>
            <a:br>
              <a:rPr lang="en-US" dirty="0"/>
            </a:br>
            <a:r>
              <a:rPr lang="en-US" dirty="0"/>
              <a:t>		INSERT INTO 	Sells</a:t>
            </a:r>
            <a:br>
              <a:rPr lang="en-US" dirty="0"/>
            </a:br>
            <a:r>
              <a:rPr lang="en-US" dirty="0"/>
              <a:t>			VALUES (‘</a:t>
            </a:r>
            <a:r>
              <a:rPr lang="en-US" dirty="0" err="1"/>
              <a:t>Loctus</a:t>
            </a:r>
            <a:r>
              <a:rPr lang="en-US" dirty="0"/>
              <a:t>’, </a:t>
            </a:r>
            <a:r>
              <a:rPr lang="en-US" dirty="0" err="1"/>
              <a:t>NEW.Name</a:t>
            </a:r>
            <a:r>
              <a:rPr lang="en-US" dirty="0"/>
              <a:t>, 10);</a:t>
            </a:r>
            <a:br>
              <a:rPr lang="en-US" dirty="0"/>
            </a:br>
            <a:r>
              <a:rPr lang="en-US" dirty="0"/>
              <a:t>	END IF</a:t>
            </a:r>
            <a:r>
              <a:rPr lang="en-SG" dirty="0"/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END</a:t>
            </a:r>
            <a:r>
              <a:rPr lang="en-SG" dirty="0"/>
              <a:t>;</a:t>
            </a:r>
          </a:p>
          <a:p>
            <a:endParaRPr lang="en-SG" dirty="0"/>
          </a:p>
          <a:p>
            <a:r>
              <a:rPr lang="en-SG" dirty="0"/>
              <a:t>DROP TRIGGER </a:t>
            </a:r>
            <a:r>
              <a:rPr lang="en-SG" dirty="0" err="1"/>
              <a:t>Beers.BeerTrig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7886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9AD0-1B93-4DED-900E-F409CE1CA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Triggers: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93EBF-500F-4CDF-A9D2-AC845296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Triggers are a restricted type of program that reacts to insertion/deletion/update on tables</a:t>
            </a:r>
          </a:p>
          <a:p>
            <a:r>
              <a:rPr lang="en-SG" dirty="0"/>
              <a:t>What if we want less restricted programs that can be invoked whenever needed?</a:t>
            </a:r>
          </a:p>
          <a:p>
            <a:r>
              <a:rPr lang="en-SG" dirty="0"/>
              <a:t>We can use </a:t>
            </a:r>
            <a:r>
              <a:rPr lang="en-SG" i="1" dirty="0"/>
              <a:t>stored procedures</a:t>
            </a:r>
          </a:p>
        </p:txBody>
      </p:sp>
    </p:spTree>
    <p:extLst>
      <p:ext uri="{BB962C8B-B14F-4D97-AF65-F5344CB8AC3E}">
        <p14:creationId xmlns:p14="http://schemas.microsoft.com/office/powerpoint/2010/main" val="318377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Triggers</a:t>
            </a:r>
          </a:p>
          <a:p>
            <a:r>
              <a:rPr lang="en-US" dirty="0">
                <a:solidFill>
                  <a:srgbClr val="C00000"/>
                </a:solidFill>
              </a:rPr>
              <a:t>Stored procedures</a:t>
            </a:r>
          </a:p>
          <a:p>
            <a:r>
              <a:rPr lang="en-US" dirty="0" smtClean="0"/>
              <a:t>SQL in 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E327-EC08-418E-8897-55B75FA9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Stored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CD198-F91E-43D6-A0CA-737ED3E95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 function stored in the database</a:t>
            </a:r>
          </a:p>
          <a:p>
            <a:pPr lvl="1"/>
            <a:r>
              <a:rPr lang="en-SG" dirty="0"/>
              <a:t>Can run SQL queries</a:t>
            </a:r>
          </a:p>
          <a:p>
            <a:pPr lvl="1"/>
            <a:r>
              <a:rPr lang="en-SG" dirty="0"/>
              <a:t>Can have typical control structures such as IF and </a:t>
            </a:r>
            <a:r>
              <a:rPr lang="en-SG" dirty="0" smtClean="0"/>
              <a:t>LOOP</a:t>
            </a:r>
            <a:endParaRPr lang="en-SG" dirty="0"/>
          </a:p>
          <a:p>
            <a:r>
              <a:rPr lang="en-SG" dirty="0"/>
              <a:t>We will explain it using some examples</a:t>
            </a:r>
          </a:p>
          <a:p>
            <a:r>
              <a:rPr lang="en-SG" dirty="0"/>
              <a:t>Again, we will use the MySQL syntax</a:t>
            </a:r>
          </a:p>
          <a:p>
            <a:pPr lvl="1"/>
            <a:r>
              <a:rPr lang="en-SG" dirty="0"/>
              <a:t>Other DBMS have slightly different syntaxes</a:t>
            </a:r>
          </a:p>
        </p:txBody>
      </p:sp>
    </p:spTree>
    <p:extLst>
      <p:ext uri="{BB962C8B-B14F-4D97-AF65-F5344CB8AC3E}">
        <p14:creationId xmlns:p14="http://schemas.microsoft.com/office/powerpoint/2010/main" val="44523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Stored Procedures: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30725"/>
          </a:xfrm>
        </p:spPr>
        <p:txBody>
          <a:bodyPr/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SimpleProc1( </a:t>
            </a:r>
            <a:r>
              <a:rPr lang="en-SG" dirty="0">
                <a:solidFill>
                  <a:srgbClr val="0000CC"/>
                </a:solidFill>
              </a:rPr>
              <a:t>OUT</a:t>
            </a:r>
            <a:r>
              <a:rPr lang="en-SG" dirty="0"/>
              <a:t> </a:t>
            </a:r>
            <a:r>
              <a:rPr lang="en-SG" dirty="0" err="1"/>
              <a:t>cnt</a:t>
            </a:r>
            <a:r>
              <a:rPr lang="en-SG" dirty="0"/>
              <a:t> INT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SELECT COUNT(*) </a:t>
            </a:r>
            <a:r>
              <a:rPr lang="en-SG" dirty="0">
                <a:solidFill>
                  <a:srgbClr val="0000CC"/>
                </a:solidFill>
              </a:rPr>
              <a:t>INTO</a:t>
            </a:r>
            <a:r>
              <a:rPr lang="en-SG" dirty="0"/>
              <a:t> </a:t>
            </a:r>
            <a:r>
              <a:rPr lang="en-SG" dirty="0" err="1"/>
              <a:t>cnt</a:t>
            </a:r>
            <a:r>
              <a:rPr lang="en-SG" dirty="0"/>
              <a:t> FROM Employee;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Count the number of tuples in the Employee table, and record the number in para1.</a:t>
            </a:r>
          </a:p>
        </p:txBody>
      </p:sp>
    </p:spTree>
    <p:extLst>
      <p:ext uri="{BB962C8B-B14F-4D97-AF65-F5344CB8AC3E}">
        <p14:creationId xmlns:p14="http://schemas.microsoft.com/office/powerpoint/2010/main" val="46033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Stored Procedures: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>
            <a:normAutofit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SimpleProc2( </a:t>
            </a:r>
            <a:r>
              <a:rPr lang="en-SG" dirty="0">
                <a:solidFill>
                  <a:srgbClr val="0000CC"/>
                </a:solidFill>
              </a:rPr>
              <a:t>OUT</a:t>
            </a:r>
            <a:r>
              <a:rPr lang="en-SG" dirty="0"/>
              <a:t> </a:t>
            </a:r>
            <a:r>
              <a:rPr lang="en-SG" dirty="0" err="1"/>
              <a:t>paraSal</a:t>
            </a:r>
            <a:r>
              <a:rPr lang="en-SG" dirty="0"/>
              <a:t> INT, </a:t>
            </a:r>
            <a:r>
              <a:rPr lang="en-SG" dirty="0">
                <a:solidFill>
                  <a:srgbClr val="0000CC"/>
                </a:solidFill>
              </a:rPr>
              <a:t>IN</a:t>
            </a:r>
            <a:r>
              <a:rPr lang="en-SG" dirty="0"/>
              <a:t> </a:t>
            </a:r>
            <a:r>
              <a:rPr lang="en-SG" dirty="0" err="1"/>
              <a:t>paraName</a:t>
            </a:r>
            <a:r>
              <a:rPr lang="en-SG" dirty="0"/>
              <a:t> VARCHAR(40)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SELECT Salary </a:t>
            </a:r>
            <a:r>
              <a:rPr lang="en-SG" dirty="0">
                <a:solidFill>
                  <a:srgbClr val="0000CC"/>
                </a:solidFill>
              </a:rPr>
              <a:t>INTO</a:t>
            </a:r>
            <a:r>
              <a:rPr lang="en-SG" dirty="0"/>
              <a:t> </a:t>
            </a:r>
            <a:r>
              <a:rPr lang="en-SG" dirty="0" err="1"/>
              <a:t>paraSal</a:t>
            </a:r>
            <a:r>
              <a:rPr lang="en-SG" dirty="0"/>
              <a:t> FROM Employee</a:t>
            </a:r>
            <a:br>
              <a:rPr lang="en-SG" dirty="0"/>
            </a:br>
            <a:r>
              <a:rPr lang="en-SG" dirty="0"/>
              <a:t>	WHERE Name = </a:t>
            </a:r>
            <a:r>
              <a:rPr lang="en-SG" dirty="0" err="1"/>
              <a:t>paraName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Find the employee whose name equals para2, and record her salary in para1</a:t>
            </a:r>
          </a:p>
        </p:txBody>
      </p:sp>
    </p:spTree>
    <p:extLst>
      <p:ext uri="{BB962C8B-B14F-4D97-AF65-F5344CB8AC3E}">
        <p14:creationId xmlns:p14="http://schemas.microsoft.com/office/powerpoint/2010/main" val="426818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Stored Procedures: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>
            <a:normAutofit fontScale="850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SimpleProc3( </a:t>
            </a:r>
            <a:r>
              <a:rPr lang="en-SG" dirty="0">
                <a:solidFill>
                  <a:srgbClr val="0000CC"/>
                </a:solidFill>
              </a:rPr>
              <a:t>IN</a:t>
            </a:r>
            <a:r>
              <a:rPr lang="en-SG" dirty="0"/>
              <a:t> </a:t>
            </a:r>
            <a:r>
              <a:rPr lang="en-SG" dirty="0" err="1"/>
              <a:t>paraSal</a:t>
            </a:r>
            <a:r>
              <a:rPr lang="en-SG" dirty="0"/>
              <a:t> INT, </a:t>
            </a:r>
            <a:r>
              <a:rPr lang="en-SG" dirty="0">
                <a:solidFill>
                  <a:srgbClr val="0000CC"/>
                </a:solidFill>
              </a:rPr>
              <a:t>IN</a:t>
            </a:r>
            <a:r>
              <a:rPr lang="en-SG" dirty="0"/>
              <a:t> </a:t>
            </a:r>
            <a:r>
              <a:rPr lang="en-SG" dirty="0" err="1"/>
              <a:t>paraName</a:t>
            </a:r>
            <a:r>
              <a:rPr lang="en-SG" dirty="0"/>
              <a:t> VARCHAR(40)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SG" dirty="0">
                <a:solidFill>
                  <a:srgbClr val="0000CC"/>
                </a:solidFill>
              </a:rPr>
              <a:t>IF</a:t>
            </a:r>
            <a:r>
              <a:rPr lang="en-SG" dirty="0"/>
              <a:t> </a:t>
            </a:r>
            <a:r>
              <a:rPr lang="en-SG" dirty="0">
                <a:solidFill>
                  <a:srgbClr val="C00000"/>
                </a:solidFill>
              </a:rPr>
              <a:t>NOT EXISTS</a:t>
            </a:r>
            <a:r>
              <a:rPr lang="en-SG" dirty="0"/>
              <a:t>(SELECT * FROM Employee WHERE 	Salary &gt; </a:t>
            </a:r>
            <a:r>
              <a:rPr lang="en-SG" dirty="0" err="1"/>
              <a:t>paraSal</a:t>
            </a:r>
            <a:r>
              <a:rPr lang="en-SG" dirty="0"/>
              <a:t>) </a:t>
            </a:r>
            <a:br>
              <a:rPr lang="en-SG" dirty="0"/>
            </a:br>
            <a:r>
              <a:rPr lang="en-SG" dirty="0"/>
              <a:t>		INSERT INTO Employee( Name, Salary )</a:t>
            </a:r>
            <a:br>
              <a:rPr lang="en-SG" dirty="0"/>
            </a:br>
            <a:r>
              <a:rPr lang="en-SG" dirty="0"/>
              <a:t>		Values( </a:t>
            </a:r>
            <a:r>
              <a:rPr lang="en-SG" dirty="0" err="1"/>
              <a:t>paraName</a:t>
            </a:r>
            <a:r>
              <a:rPr lang="en-SG" dirty="0"/>
              <a:t>, </a:t>
            </a:r>
            <a:r>
              <a:rPr lang="en-SG" dirty="0" err="1"/>
              <a:t>paraSal</a:t>
            </a:r>
            <a:r>
              <a:rPr lang="en-SG" dirty="0"/>
              <a:t> );</a:t>
            </a:r>
            <a:br>
              <a:rPr lang="en-SG" dirty="0"/>
            </a:br>
            <a:r>
              <a:rPr lang="en-SG" dirty="0"/>
              <a:t>	</a:t>
            </a:r>
            <a:r>
              <a:rPr lang="en-SG" dirty="0">
                <a:solidFill>
                  <a:srgbClr val="0000CC"/>
                </a:solidFill>
              </a:rPr>
              <a:t>END IF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If no employee has a salary &gt; </a:t>
            </a:r>
            <a:r>
              <a:rPr lang="en-SG" dirty="0" err="1"/>
              <a:t>paraSal</a:t>
            </a:r>
            <a:r>
              <a:rPr lang="en-SG" dirty="0"/>
              <a:t>, then insert a tuple (</a:t>
            </a:r>
            <a:r>
              <a:rPr lang="en-SG" dirty="0" err="1"/>
              <a:t>paraName</a:t>
            </a:r>
            <a:r>
              <a:rPr lang="en-SG" dirty="0"/>
              <a:t>, </a:t>
            </a:r>
            <a:r>
              <a:rPr lang="en-SG" dirty="0" err="1"/>
              <a:t>paraSal</a:t>
            </a:r>
            <a:r>
              <a:rPr lang="en-SG" dirty="0"/>
              <a:t>) into the Employee table</a:t>
            </a:r>
          </a:p>
        </p:txBody>
      </p:sp>
    </p:spTree>
    <p:extLst>
      <p:ext uri="{BB962C8B-B14F-4D97-AF65-F5344CB8AC3E}">
        <p14:creationId xmlns:p14="http://schemas.microsoft.com/office/powerpoint/2010/main" val="246232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Stored Procedures: Local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 examples have only input and output parameters in the stored procedures</a:t>
            </a:r>
          </a:p>
          <a:p>
            <a:r>
              <a:rPr lang="en-US" dirty="0"/>
              <a:t>But local parameters are also allowed</a:t>
            </a:r>
          </a:p>
        </p:txBody>
      </p:sp>
    </p:spTree>
    <p:extLst>
      <p:ext uri="{BB962C8B-B14F-4D97-AF65-F5344CB8AC3E}">
        <p14:creationId xmlns:p14="http://schemas.microsoft.com/office/powerpoint/2010/main" val="310419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Stored Procedures: Local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>
            <a:normAutofit fontScale="92500" lnSpcReduction="1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SimpleProc4()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br>
              <a:rPr lang="en-SG" dirty="0">
                <a:solidFill>
                  <a:srgbClr val="0000CC"/>
                </a:solidFill>
              </a:rPr>
            </a:br>
            <a:r>
              <a:rPr lang="en-SG" dirty="0">
                <a:solidFill>
                  <a:srgbClr val="0000CC"/>
                </a:solidFill>
              </a:rPr>
              <a:t>	DECLARE</a:t>
            </a:r>
            <a:r>
              <a:rPr lang="en-SG" dirty="0"/>
              <a:t> </a:t>
            </a:r>
            <a:r>
              <a:rPr lang="en-SG" dirty="0" err="1"/>
              <a:t>maxSal</a:t>
            </a:r>
            <a:r>
              <a:rPr lang="en-SG" dirty="0"/>
              <a:t> INT;</a:t>
            </a:r>
            <a:br>
              <a:rPr lang="en-SG" dirty="0"/>
            </a:br>
            <a:r>
              <a:rPr lang="en-SG" dirty="0"/>
              <a:t/>
            </a:r>
            <a:br>
              <a:rPr lang="en-SG" dirty="0"/>
            </a:br>
            <a:r>
              <a:rPr lang="en-SG" dirty="0"/>
              <a:t>	SELECT MAX(Salary) </a:t>
            </a:r>
            <a:r>
              <a:rPr lang="en-SG" dirty="0">
                <a:solidFill>
                  <a:srgbClr val="0000CC"/>
                </a:solidFill>
              </a:rPr>
              <a:t>INTO</a:t>
            </a:r>
            <a:r>
              <a:rPr lang="en-SG" dirty="0"/>
              <a:t> </a:t>
            </a:r>
            <a:r>
              <a:rPr lang="en-SG" dirty="0" err="1"/>
              <a:t>maxSal</a:t>
            </a:r>
            <a:r>
              <a:rPr lang="en-SG" dirty="0"/>
              <a:t> FROM 	Employee;</a:t>
            </a:r>
            <a:br>
              <a:rPr lang="en-SG" dirty="0"/>
            </a:br>
            <a:r>
              <a:rPr lang="en-SG" dirty="0"/>
              <a:t>	DELETE FROM Employee WHERE Salary = </a:t>
            </a:r>
            <a:r>
              <a:rPr lang="en-SG" dirty="0" err="1"/>
              <a:t>maxSal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remove the tuple with the employee table with the highest salary</a:t>
            </a:r>
          </a:p>
        </p:txBody>
      </p:sp>
    </p:spTree>
    <p:extLst>
      <p:ext uri="{BB962C8B-B14F-4D97-AF65-F5344CB8AC3E}">
        <p14:creationId xmlns:p14="http://schemas.microsoft.com/office/powerpoint/2010/main" val="391131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Stored Procedures: Local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>
            <a:normAutofit fontScale="77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SimpleProc5( </a:t>
            </a:r>
            <a:r>
              <a:rPr lang="en-SG" dirty="0">
                <a:solidFill>
                  <a:srgbClr val="0000CC"/>
                </a:solidFill>
              </a:rPr>
              <a:t>IN</a:t>
            </a:r>
            <a:r>
              <a:rPr lang="en-SG" dirty="0"/>
              <a:t> </a:t>
            </a:r>
            <a:r>
              <a:rPr lang="en-SG" dirty="0" err="1"/>
              <a:t>paraName</a:t>
            </a:r>
            <a:r>
              <a:rPr lang="en-SG" dirty="0"/>
              <a:t> VARCHAR(40)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br>
              <a:rPr lang="en-SG" dirty="0">
                <a:solidFill>
                  <a:srgbClr val="0000CC"/>
                </a:solidFill>
              </a:rPr>
            </a:br>
            <a:r>
              <a:rPr lang="en-SG" dirty="0">
                <a:solidFill>
                  <a:srgbClr val="0000CC"/>
                </a:solidFill>
              </a:rPr>
              <a:t>	DECLARE</a:t>
            </a:r>
            <a:r>
              <a:rPr lang="en-SG" dirty="0"/>
              <a:t> </a:t>
            </a:r>
            <a:r>
              <a:rPr lang="en-SG" dirty="0" err="1"/>
              <a:t>varTitle</a:t>
            </a:r>
            <a:r>
              <a:rPr lang="en-SG" dirty="0"/>
              <a:t> INT;</a:t>
            </a:r>
            <a:r>
              <a:rPr lang="en-SG" dirty="0">
                <a:solidFill>
                  <a:srgbClr val="0000CC"/>
                </a:solidFill>
              </a:rPr>
              <a:t/>
            </a:r>
            <a:br>
              <a:rPr lang="en-SG" dirty="0">
                <a:solidFill>
                  <a:srgbClr val="0000CC"/>
                </a:solidFill>
              </a:rPr>
            </a:br>
            <a:r>
              <a:rPr lang="en-SG" dirty="0">
                <a:solidFill>
                  <a:srgbClr val="0000CC"/>
                </a:solidFill>
              </a:rPr>
              <a:t>	DECLARE</a:t>
            </a:r>
            <a:r>
              <a:rPr lang="en-SG" dirty="0"/>
              <a:t> </a:t>
            </a:r>
            <a:r>
              <a:rPr lang="en-SG" dirty="0" err="1"/>
              <a:t>varSal</a:t>
            </a:r>
            <a:r>
              <a:rPr lang="en-SG" dirty="0"/>
              <a:t> INT;</a:t>
            </a:r>
            <a:br>
              <a:rPr lang="en-SG" dirty="0"/>
            </a:br>
            <a:r>
              <a:rPr lang="en-SG" dirty="0"/>
              <a:t>	</a:t>
            </a:r>
            <a:br>
              <a:rPr lang="en-SG" dirty="0"/>
            </a:br>
            <a:r>
              <a:rPr lang="en-SG" dirty="0"/>
              <a:t>	SELECT Title, Salary </a:t>
            </a:r>
            <a:r>
              <a:rPr lang="en-SG" dirty="0">
                <a:solidFill>
                  <a:srgbClr val="0000CC"/>
                </a:solidFill>
              </a:rPr>
              <a:t>INTO</a:t>
            </a:r>
            <a:r>
              <a:rPr lang="en-SG" dirty="0"/>
              <a:t> </a:t>
            </a:r>
            <a:r>
              <a:rPr lang="en-SG" dirty="0" err="1"/>
              <a:t>varTitle</a:t>
            </a:r>
            <a:r>
              <a:rPr lang="en-SG" dirty="0"/>
              <a:t>, </a:t>
            </a:r>
            <a:r>
              <a:rPr lang="en-SG" dirty="0" err="1"/>
              <a:t>varSal</a:t>
            </a:r>
            <a:r>
              <a:rPr lang="en-SG" dirty="0"/>
              <a:t> FROM Employee 	WHERE Name = </a:t>
            </a:r>
            <a:r>
              <a:rPr lang="en-SG" dirty="0" err="1"/>
              <a:t>paraName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/>
              <a:t>	</a:t>
            </a:r>
            <a:br>
              <a:rPr lang="en-SG" dirty="0"/>
            </a:br>
            <a:r>
              <a:rPr lang="en-SG" dirty="0"/>
              <a:t>	DELETE FROM Employee WHERE Title = </a:t>
            </a:r>
            <a:r>
              <a:rPr lang="en-SG" dirty="0" err="1"/>
              <a:t>varTitle</a:t>
            </a:r>
            <a:r>
              <a:rPr lang="en-SG" dirty="0"/>
              <a:t> AND Salary &gt; 	</a:t>
            </a:r>
            <a:r>
              <a:rPr lang="en-SG" dirty="0" err="1"/>
              <a:t>varSal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find the title and salary of the employee whose name equals </a:t>
            </a:r>
            <a:r>
              <a:rPr lang="en-SG" dirty="0" err="1"/>
              <a:t>paraName</a:t>
            </a:r>
            <a:r>
              <a:rPr lang="en-SG" dirty="0"/>
              <a:t>, and then remove any other employees with the same title but higher salaries</a:t>
            </a:r>
          </a:p>
        </p:txBody>
      </p:sp>
    </p:spTree>
    <p:extLst>
      <p:ext uri="{BB962C8B-B14F-4D97-AF65-F5344CB8AC3E}">
        <p14:creationId xmlns:p14="http://schemas.microsoft.com/office/powerpoint/2010/main" val="9564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Stored Procedures: Local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>
            <a:normAutofit fontScale="77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SimpleProc5( </a:t>
            </a:r>
            <a:r>
              <a:rPr lang="en-SG" dirty="0">
                <a:solidFill>
                  <a:srgbClr val="0000CC"/>
                </a:solidFill>
              </a:rPr>
              <a:t>IN</a:t>
            </a:r>
            <a:r>
              <a:rPr lang="en-SG" dirty="0"/>
              <a:t> </a:t>
            </a:r>
            <a:r>
              <a:rPr lang="en-SG" dirty="0" err="1"/>
              <a:t>paraName</a:t>
            </a:r>
            <a:r>
              <a:rPr lang="en-SG" dirty="0"/>
              <a:t> VARCHAR(40)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br>
              <a:rPr lang="en-SG" dirty="0">
                <a:solidFill>
                  <a:srgbClr val="0000CC"/>
                </a:solidFill>
              </a:rPr>
            </a:br>
            <a:r>
              <a:rPr lang="en-SG" dirty="0">
                <a:solidFill>
                  <a:srgbClr val="0000CC"/>
                </a:solidFill>
              </a:rPr>
              <a:t>	DECLARE</a:t>
            </a:r>
            <a:r>
              <a:rPr lang="en-SG" dirty="0"/>
              <a:t> </a:t>
            </a:r>
            <a:r>
              <a:rPr lang="en-SG" dirty="0" err="1"/>
              <a:t>varTitle</a:t>
            </a:r>
            <a:r>
              <a:rPr lang="en-SG" dirty="0"/>
              <a:t> INT;</a:t>
            </a:r>
            <a:r>
              <a:rPr lang="en-SG" dirty="0">
                <a:solidFill>
                  <a:srgbClr val="0000CC"/>
                </a:solidFill>
              </a:rPr>
              <a:t/>
            </a:r>
            <a:br>
              <a:rPr lang="en-SG" dirty="0">
                <a:solidFill>
                  <a:srgbClr val="0000CC"/>
                </a:solidFill>
              </a:rPr>
            </a:br>
            <a:r>
              <a:rPr lang="en-SG" dirty="0">
                <a:solidFill>
                  <a:srgbClr val="0000CC"/>
                </a:solidFill>
              </a:rPr>
              <a:t>	DECLARE</a:t>
            </a:r>
            <a:r>
              <a:rPr lang="en-SG" dirty="0"/>
              <a:t> </a:t>
            </a:r>
            <a:r>
              <a:rPr lang="en-SG" dirty="0" err="1"/>
              <a:t>varSal</a:t>
            </a:r>
            <a:r>
              <a:rPr lang="en-SG" dirty="0"/>
              <a:t> INT;</a:t>
            </a:r>
            <a:br>
              <a:rPr lang="en-SG" dirty="0"/>
            </a:br>
            <a:r>
              <a:rPr lang="en-SG" dirty="0"/>
              <a:t>	</a:t>
            </a:r>
            <a:br>
              <a:rPr lang="en-SG" dirty="0"/>
            </a:br>
            <a:r>
              <a:rPr lang="en-SG" dirty="0"/>
              <a:t>	SELECT Title, Salary </a:t>
            </a:r>
            <a:r>
              <a:rPr lang="en-SG" dirty="0">
                <a:solidFill>
                  <a:srgbClr val="0000CC"/>
                </a:solidFill>
              </a:rPr>
              <a:t>INTO</a:t>
            </a:r>
            <a:r>
              <a:rPr lang="en-SG" dirty="0"/>
              <a:t> </a:t>
            </a:r>
            <a:r>
              <a:rPr lang="en-SG" dirty="0" err="1"/>
              <a:t>varTitle</a:t>
            </a:r>
            <a:r>
              <a:rPr lang="en-SG" dirty="0"/>
              <a:t>, </a:t>
            </a:r>
            <a:r>
              <a:rPr lang="en-SG" dirty="0" err="1"/>
              <a:t>varSal</a:t>
            </a:r>
            <a:r>
              <a:rPr lang="en-SG" dirty="0"/>
              <a:t> FROM Employee 	WHERE Name = </a:t>
            </a:r>
            <a:r>
              <a:rPr lang="en-SG" dirty="0" err="1"/>
              <a:t>paraName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/>
              <a:t>	</a:t>
            </a:r>
            <a:br>
              <a:rPr lang="en-SG" dirty="0"/>
            </a:br>
            <a:r>
              <a:rPr lang="en-SG" dirty="0"/>
              <a:t>	DELETE FROM Employee WHERE Title = </a:t>
            </a:r>
            <a:r>
              <a:rPr lang="en-SG" dirty="0" err="1"/>
              <a:t>varTitle</a:t>
            </a:r>
            <a:r>
              <a:rPr lang="en-SG" dirty="0"/>
              <a:t> AND Salary &gt; 	</a:t>
            </a:r>
            <a:r>
              <a:rPr lang="en-SG" dirty="0" err="1"/>
              <a:t>varSal</a:t>
            </a:r>
            <a:r>
              <a:rPr lang="en-SG" dirty="0"/>
              <a:t>;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find the title and salary of the employee whose name equals </a:t>
            </a:r>
            <a:r>
              <a:rPr lang="en-SG" dirty="0" err="1"/>
              <a:t>paraName</a:t>
            </a:r>
            <a:r>
              <a:rPr lang="en-SG" dirty="0"/>
              <a:t>, and then remove any other employees with the same title but higher salaries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457200" y="3789040"/>
            <a:ext cx="8229600" cy="2246769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What</a:t>
            </a:r>
            <a:r>
              <a:rPr kumimoji="0" lang="en-US" sz="2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 happens when there are multiple tuple with the same name?</a:t>
            </a:r>
          </a:p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baseline="0" dirty="0"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An error.</a:t>
            </a:r>
          </a:p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Solution: Use </a:t>
            </a:r>
            <a:r>
              <a:rPr kumimoji="0" lang="en-US" sz="280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cursors</a:t>
            </a:r>
            <a:endParaRPr kumimoji="0" lang="en-US" sz="2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 flipV="1">
            <a:off x="4860032" y="3429000"/>
            <a:ext cx="792088" cy="36004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1375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Cursors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4934173"/>
          </a:xfrm>
        </p:spPr>
        <p:txBody>
          <a:bodyPr>
            <a:normAutofit fontScale="62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SimpleProc6( IN </a:t>
            </a:r>
            <a:r>
              <a:rPr lang="en-SG" dirty="0" err="1"/>
              <a:t>paraSal</a:t>
            </a:r>
            <a:r>
              <a:rPr lang="en-SG" dirty="0"/>
              <a:t> INT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cur1 CURSOR FOR SELECT Salary FROM Employee;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, </a:t>
            </a:r>
            <a:r>
              <a:rPr lang="en-US" dirty="0" err="1"/>
              <a:t>varTotal</a:t>
            </a:r>
            <a:r>
              <a:rPr lang="en-US" dirty="0"/>
              <a:t>, finished INT;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HANDLER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NOT FOUNT</a:t>
            </a:r>
            <a:r>
              <a:rPr lang="en-US" dirty="0"/>
              <a:t> SET finished = 1;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SG" dirty="0">
              <a:solidFill>
                <a:schemeClr val="bg1"/>
              </a:solidFill>
            </a:endParaRPr>
          </a:p>
          <a:p>
            <a:r>
              <a:rPr lang="en-SG" dirty="0"/>
              <a:t>Meaning: calculate the total salary of those employee whose salaries are below </a:t>
            </a:r>
            <a:r>
              <a:rPr lang="en-US" dirty="0" err="1"/>
              <a:t>paraSal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6626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Cursors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4934173"/>
          </a:xfrm>
        </p:spPr>
        <p:txBody>
          <a:bodyPr>
            <a:normAutofit fontScale="62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SimpleProc6( IN </a:t>
            </a:r>
            <a:r>
              <a:rPr lang="en-SG" dirty="0" err="1"/>
              <a:t>paraSal</a:t>
            </a:r>
            <a:r>
              <a:rPr lang="en-SG" dirty="0"/>
              <a:t> INT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cur1 CURSOR FOR SELECT Salary FROM Employee;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, </a:t>
            </a:r>
            <a:r>
              <a:rPr lang="en-US" dirty="0" err="1"/>
              <a:t>varTotal</a:t>
            </a:r>
            <a:r>
              <a:rPr lang="en-US" dirty="0"/>
              <a:t>, finished INT;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HANDLER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NOT FOUNT</a:t>
            </a:r>
            <a:r>
              <a:rPr lang="en-US" dirty="0"/>
              <a:t> SET finished = 1;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SET finished = 0, </a:t>
            </a:r>
            <a:r>
              <a:rPr lang="en-US" dirty="0" err="1"/>
              <a:t>varTotal</a:t>
            </a:r>
            <a:r>
              <a:rPr lang="en-US" dirty="0"/>
              <a:t> = 0;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OPEN</a:t>
            </a:r>
            <a:r>
              <a:rPr lang="en-US" dirty="0"/>
              <a:t> cur1;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	LOOP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	FETCH cur1 INTO </a:t>
            </a:r>
            <a:r>
              <a:rPr lang="en-US" dirty="0" err="1">
                <a:solidFill>
                  <a:schemeClr val="bg1"/>
                </a:solidFill>
              </a:rPr>
              <a:t>varSal</a:t>
            </a:r>
            <a:r>
              <a:rPr lang="en-US" dirty="0">
                <a:solidFill>
                  <a:schemeClr val="bg1"/>
                </a:solidFill>
              </a:rPr>
              <a:t>;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/>
            </a:r>
            <a:br>
              <a:rPr lang="en-US" dirty="0">
                <a:solidFill>
                  <a:schemeClr val="bg1"/>
                </a:solidFill>
              </a:rPr>
            </a:br>
            <a:endParaRPr lang="en-SG" dirty="0">
              <a:solidFill>
                <a:schemeClr val="bg1"/>
              </a:solidFill>
            </a:endParaRPr>
          </a:p>
          <a:p>
            <a:r>
              <a:rPr lang="en-SG" dirty="0"/>
              <a:t>Meaning: calculate the total salary of those employee whose salaries are below </a:t>
            </a:r>
            <a:r>
              <a:rPr lang="en-US" dirty="0" err="1"/>
              <a:t>paraSal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6629D-C951-4F97-B1FF-646CDD2D5FB1}"/>
              </a:ext>
            </a:extLst>
          </p:cNvPr>
          <p:cNvSpPr txBox="1"/>
          <p:nvPr/>
        </p:nvSpPr>
        <p:spPr>
          <a:xfrm>
            <a:off x="2987824" y="2793122"/>
            <a:ext cx="56215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&lt;-- the query is executed, and cur1 is pointed to the </a:t>
            </a:r>
            <a:br>
              <a:rPr lang="en-SG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first tuple in the result</a:t>
            </a:r>
          </a:p>
        </p:txBody>
      </p:sp>
    </p:spTree>
    <p:extLst>
      <p:ext uri="{BB962C8B-B14F-4D97-AF65-F5344CB8AC3E}">
        <p14:creationId xmlns:p14="http://schemas.microsoft.com/office/powerpoint/2010/main" val="8198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Cursors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4934173"/>
          </a:xfrm>
        </p:spPr>
        <p:txBody>
          <a:bodyPr>
            <a:normAutofit fontScale="62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SimpleProc6( IN </a:t>
            </a:r>
            <a:r>
              <a:rPr lang="en-SG" dirty="0" err="1"/>
              <a:t>paraSal</a:t>
            </a:r>
            <a:r>
              <a:rPr lang="en-SG" dirty="0"/>
              <a:t> INT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cur1 CURSOR FOR SELECT Salary FROM Employee;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, </a:t>
            </a:r>
            <a:r>
              <a:rPr lang="en-US" dirty="0" err="1"/>
              <a:t>varTotal</a:t>
            </a:r>
            <a:r>
              <a:rPr lang="en-US" dirty="0"/>
              <a:t>, finished INT;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HANDLER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NOT FOUNT</a:t>
            </a:r>
            <a:r>
              <a:rPr lang="en-US" dirty="0"/>
              <a:t> SET finished = 1;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SET finished = 0, </a:t>
            </a:r>
            <a:r>
              <a:rPr lang="en-US" dirty="0" err="1"/>
              <a:t>varTotal</a:t>
            </a:r>
            <a:r>
              <a:rPr lang="en-US" dirty="0"/>
              <a:t> = 0;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OPEN</a:t>
            </a:r>
            <a:r>
              <a:rPr lang="en-US" dirty="0"/>
              <a:t> cur1;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check_salary</a:t>
            </a:r>
            <a:r>
              <a:rPr lang="en-US" dirty="0"/>
              <a:t>: </a:t>
            </a:r>
            <a:r>
              <a:rPr lang="en-US" dirty="0">
                <a:solidFill>
                  <a:srgbClr val="0000CC"/>
                </a:solidFill>
              </a:rPr>
              <a:t>LOOP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		FETCH </a:t>
            </a:r>
            <a:r>
              <a:rPr lang="en-US" dirty="0"/>
              <a:t>cur1</a:t>
            </a:r>
            <a:r>
              <a:rPr lang="en-US" dirty="0">
                <a:solidFill>
                  <a:srgbClr val="0000CC"/>
                </a:solidFill>
              </a:rPr>
              <a:t> INTO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		IF </a:t>
            </a:r>
            <a:r>
              <a:rPr lang="en-US" dirty="0" err="1">
                <a:solidFill>
                  <a:schemeClr val="bg1"/>
                </a:solidFill>
              </a:rPr>
              <a:t>varSal</a:t>
            </a:r>
            <a:r>
              <a:rPr lang="en-US" dirty="0">
                <a:solidFill>
                  <a:schemeClr val="bg1"/>
                </a:solidFill>
              </a:rPr>
              <a:t> &lt; </a:t>
            </a:r>
            <a:r>
              <a:rPr lang="en-US" dirty="0" err="1">
                <a:solidFill>
                  <a:schemeClr val="bg1"/>
                </a:solidFill>
              </a:rPr>
              <a:t>paraSal</a:t>
            </a:r>
            <a:r>
              <a:rPr lang="en-US" dirty="0">
                <a:solidFill>
                  <a:schemeClr val="bg1"/>
                </a:solidFill>
              </a:rPr>
              <a:t> THEN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		SET </a:t>
            </a:r>
            <a:r>
              <a:rPr lang="en-US" dirty="0" err="1">
                <a:solidFill>
                  <a:schemeClr val="bg1"/>
                </a:solidFill>
              </a:rPr>
              <a:t>varTotal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varTotal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varSal</a:t>
            </a:r>
            <a:r>
              <a:rPr lang="en-US" dirty="0">
                <a:solidFill>
                  <a:schemeClr val="bg1"/>
                </a:solidFill>
              </a:rPr>
              <a:t>;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	END IF;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END LOOP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CLOSE</a:t>
            </a:r>
            <a:r>
              <a:rPr lang="en-US" dirty="0"/>
              <a:t> cur1;	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calculate the total salary of those employee whose salaries are below </a:t>
            </a:r>
            <a:r>
              <a:rPr lang="en-US" dirty="0" err="1"/>
              <a:t>paraSal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57C44-8B7E-4BF7-BC64-BBD8F12F4132}"/>
              </a:ext>
            </a:extLst>
          </p:cNvPr>
          <p:cNvSpPr txBox="1"/>
          <p:nvPr/>
        </p:nvSpPr>
        <p:spPr>
          <a:xfrm>
            <a:off x="5074959" y="3225170"/>
            <a:ext cx="37455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&lt;-- copy the result into </a:t>
            </a:r>
            <a:r>
              <a:rPr lang="en-SG" sz="200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varSal</a:t>
            </a:r>
            <a:r>
              <a:rPr lang="en-SG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</a:t>
            </a:r>
            <a:br>
              <a:rPr lang="en-SG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move cur1 to the next result</a:t>
            </a:r>
          </a:p>
        </p:txBody>
      </p:sp>
    </p:spTree>
    <p:extLst>
      <p:ext uri="{BB962C8B-B14F-4D97-AF65-F5344CB8AC3E}">
        <p14:creationId xmlns:p14="http://schemas.microsoft.com/office/powerpoint/2010/main" val="58209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Cursors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4934173"/>
          </a:xfrm>
        </p:spPr>
        <p:txBody>
          <a:bodyPr>
            <a:normAutofit fontScale="62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SimpleProc6( IN </a:t>
            </a:r>
            <a:r>
              <a:rPr lang="en-SG" dirty="0" err="1"/>
              <a:t>paraSal</a:t>
            </a:r>
            <a:r>
              <a:rPr lang="en-SG" dirty="0"/>
              <a:t> INT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cur1 CURSOR FOR SELECT Salary FROM Employee;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, </a:t>
            </a:r>
            <a:r>
              <a:rPr lang="en-US" dirty="0" err="1"/>
              <a:t>varTotal</a:t>
            </a:r>
            <a:r>
              <a:rPr lang="en-US" dirty="0"/>
              <a:t>, finished INT;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HANDLER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NOT FOUNT</a:t>
            </a:r>
            <a:r>
              <a:rPr lang="en-US" dirty="0"/>
              <a:t> SET finished = 1;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SET finished = 0, </a:t>
            </a:r>
            <a:r>
              <a:rPr lang="en-US" dirty="0" err="1"/>
              <a:t>varTotal</a:t>
            </a:r>
            <a:r>
              <a:rPr lang="en-US" dirty="0"/>
              <a:t> = 0;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OPEN</a:t>
            </a:r>
            <a:r>
              <a:rPr lang="en-US" dirty="0"/>
              <a:t> cur1;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check_salary</a:t>
            </a:r>
            <a:r>
              <a:rPr lang="en-SG" dirty="0"/>
              <a:t>: </a:t>
            </a:r>
            <a:r>
              <a:rPr lang="en-US" dirty="0">
                <a:solidFill>
                  <a:srgbClr val="0000CC"/>
                </a:solidFill>
              </a:rPr>
              <a:t>LOOP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		FETCH </a:t>
            </a:r>
            <a:r>
              <a:rPr lang="en-US" dirty="0"/>
              <a:t>cur1</a:t>
            </a:r>
            <a:r>
              <a:rPr lang="en-US" dirty="0">
                <a:solidFill>
                  <a:srgbClr val="0000CC"/>
                </a:solidFill>
              </a:rPr>
              <a:t> INTO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IF finished = 1 THEN </a:t>
            </a:r>
            <a:r>
              <a:rPr lang="en-US" dirty="0">
                <a:solidFill>
                  <a:srgbClr val="0000CC"/>
                </a:solidFill>
              </a:rPr>
              <a:t>LEAVE</a:t>
            </a:r>
            <a:r>
              <a:rPr lang="en-US" dirty="0"/>
              <a:t> </a:t>
            </a:r>
            <a:r>
              <a:rPr lang="en-US" dirty="0" err="1"/>
              <a:t>check_salary</a:t>
            </a:r>
            <a:r>
              <a:rPr lang="en-US" dirty="0"/>
              <a:t> END IF;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		IF </a:t>
            </a:r>
            <a:r>
              <a:rPr lang="en-US" dirty="0" err="1">
                <a:solidFill>
                  <a:schemeClr val="bg1"/>
                </a:solidFill>
              </a:rPr>
              <a:t>varSal</a:t>
            </a:r>
            <a:r>
              <a:rPr lang="en-US" dirty="0">
                <a:solidFill>
                  <a:schemeClr val="bg1"/>
                </a:solidFill>
              </a:rPr>
              <a:t> &lt; </a:t>
            </a:r>
            <a:r>
              <a:rPr lang="en-US" dirty="0" err="1">
                <a:solidFill>
                  <a:schemeClr val="bg1"/>
                </a:solidFill>
              </a:rPr>
              <a:t>paraSal</a:t>
            </a:r>
            <a:r>
              <a:rPr lang="en-US" dirty="0">
                <a:solidFill>
                  <a:schemeClr val="bg1"/>
                </a:solidFill>
              </a:rPr>
              <a:t> THEN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		SET </a:t>
            </a:r>
            <a:r>
              <a:rPr lang="en-US" dirty="0" err="1">
                <a:solidFill>
                  <a:schemeClr val="bg1"/>
                </a:solidFill>
              </a:rPr>
              <a:t>varTotal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varTotal</a:t>
            </a:r>
            <a:r>
              <a:rPr lang="en-US" dirty="0">
                <a:solidFill>
                  <a:schemeClr val="bg1"/>
                </a:solidFill>
              </a:rPr>
              <a:t> + </a:t>
            </a:r>
            <a:r>
              <a:rPr lang="en-US" dirty="0" err="1">
                <a:solidFill>
                  <a:schemeClr val="bg1"/>
                </a:solidFill>
              </a:rPr>
              <a:t>varSal</a:t>
            </a:r>
            <a:r>
              <a:rPr lang="en-US" dirty="0">
                <a:solidFill>
                  <a:schemeClr val="bg1"/>
                </a:solidFill>
              </a:rPr>
              <a:t>;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		END IF;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END LOOP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CLOSE</a:t>
            </a:r>
            <a:r>
              <a:rPr lang="en-US" dirty="0"/>
              <a:t> cur1;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calculate the total salary of those employee whose salaries are below </a:t>
            </a:r>
            <a:r>
              <a:rPr lang="en-US" dirty="0" err="1"/>
              <a:t>paraSal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F4364-CFE0-41B9-A187-0C4B5A5B0F6E}"/>
              </a:ext>
            </a:extLst>
          </p:cNvPr>
          <p:cNvSpPr txBox="1"/>
          <p:nvPr/>
        </p:nvSpPr>
        <p:spPr>
          <a:xfrm>
            <a:off x="6228184" y="2564904"/>
            <a:ext cx="2592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Exit the procedure if all results are checked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9E6B99-06C6-41A5-A402-D4B5AD030819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5724128" y="2918847"/>
            <a:ext cx="504056" cy="58216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42689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Cursors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4934173"/>
          </a:xfrm>
        </p:spPr>
        <p:txBody>
          <a:bodyPr>
            <a:normAutofit fontScale="62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SimpleProc6( IN </a:t>
            </a:r>
            <a:r>
              <a:rPr lang="en-SG" dirty="0" err="1"/>
              <a:t>paraSal</a:t>
            </a:r>
            <a:r>
              <a:rPr lang="en-SG" dirty="0"/>
              <a:t> INT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cur1 CURSOR FOR SELECT Salary FROM Employee;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, </a:t>
            </a:r>
            <a:r>
              <a:rPr lang="en-US" dirty="0" err="1"/>
              <a:t>varTotal</a:t>
            </a:r>
            <a:r>
              <a:rPr lang="en-US" dirty="0"/>
              <a:t>, finished INT;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HANDLER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NOT FOUNT</a:t>
            </a:r>
            <a:r>
              <a:rPr lang="en-US" dirty="0"/>
              <a:t> SET finished = 1;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SET finished = 0, </a:t>
            </a:r>
            <a:r>
              <a:rPr lang="en-US" dirty="0" err="1"/>
              <a:t>varTotal</a:t>
            </a:r>
            <a:r>
              <a:rPr lang="en-US" dirty="0"/>
              <a:t> = 0;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OPEN</a:t>
            </a:r>
            <a:r>
              <a:rPr lang="en-US" dirty="0"/>
              <a:t> cur1;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check_salary</a:t>
            </a:r>
            <a:r>
              <a:rPr lang="en-SG" dirty="0"/>
              <a:t>: </a:t>
            </a:r>
            <a:r>
              <a:rPr lang="en-US" dirty="0">
                <a:solidFill>
                  <a:srgbClr val="0000CC"/>
                </a:solidFill>
              </a:rPr>
              <a:t>LOOP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		FETCH </a:t>
            </a:r>
            <a:r>
              <a:rPr lang="en-US" dirty="0"/>
              <a:t>cur1</a:t>
            </a:r>
            <a:r>
              <a:rPr lang="en-US" dirty="0">
                <a:solidFill>
                  <a:srgbClr val="0000CC"/>
                </a:solidFill>
              </a:rPr>
              <a:t> INTO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IF finished = 1 THEN </a:t>
            </a:r>
            <a:r>
              <a:rPr lang="en-US" dirty="0">
                <a:solidFill>
                  <a:srgbClr val="0000CC"/>
                </a:solidFill>
              </a:rPr>
              <a:t>LEAVE</a:t>
            </a:r>
            <a:r>
              <a:rPr lang="en-US" dirty="0"/>
              <a:t> </a:t>
            </a:r>
            <a:r>
              <a:rPr lang="en-US" dirty="0" err="1"/>
              <a:t>check_salary</a:t>
            </a:r>
            <a:r>
              <a:rPr lang="en-US" dirty="0"/>
              <a:t> END IF;</a:t>
            </a:r>
            <a:br>
              <a:rPr lang="en-US" dirty="0"/>
            </a:br>
            <a:r>
              <a:rPr lang="en-US" dirty="0"/>
              <a:t>		IF </a:t>
            </a:r>
            <a:r>
              <a:rPr lang="en-US" dirty="0" err="1"/>
              <a:t>varSal</a:t>
            </a:r>
            <a:r>
              <a:rPr lang="en-US" dirty="0"/>
              <a:t> &lt; </a:t>
            </a:r>
            <a:r>
              <a:rPr lang="en-US" dirty="0" err="1"/>
              <a:t>paraSal</a:t>
            </a:r>
            <a:r>
              <a:rPr lang="en-US" dirty="0"/>
              <a:t> THEN</a:t>
            </a:r>
            <a:br>
              <a:rPr lang="en-US" dirty="0"/>
            </a:br>
            <a:r>
              <a:rPr lang="en-US" dirty="0"/>
              <a:t>			SET </a:t>
            </a:r>
            <a:r>
              <a:rPr lang="en-US" dirty="0" err="1"/>
              <a:t>varTotal</a:t>
            </a:r>
            <a:r>
              <a:rPr lang="en-US" dirty="0"/>
              <a:t> = </a:t>
            </a:r>
            <a:r>
              <a:rPr lang="en-US" dirty="0" err="1"/>
              <a:t>varTotal</a:t>
            </a:r>
            <a:r>
              <a:rPr lang="en-US" dirty="0"/>
              <a:t> + </a:t>
            </a:r>
            <a:r>
              <a:rPr lang="en-US" dirty="0" err="1"/>
              <a:t>varSal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END IF;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END LOOP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CLOSE</a:t>
            </a:r>
            <a:r>
              <a:rPr lang="en-US" dirty="0"/>
              <a:t> cur1;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Meaning: calculate the total salary of those employee whose salaries are below </a:t>
            </a:r>
            <a:r>
              <a:rPr lang="en-US" dirty="0" err="1"/>
              <a:t>paraSal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7259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Cursors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1"/>
            <a:ext cx="8363272" cy="4680521"/>
          </a:xfrm>
        </p:spPr>
        <p:txBody>
          <a:bodyPr>
            <a:normAutofit fontScale="62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SimpleProc6( IN </a:t>
            </a:r>
            <a:r>
              <a:rPr lang="en-SG" dirty="0" err="1"/>
              <a:t>paraSal</a:t>
            </a:r>
            <a:r>
              <a:rPr lang="en-SG" dirty="0"/>
              <a:t> INT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cur1 CURSOR FOR SELECT Salary FROM Employee;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, </a:t>
            </a:r>
            <a:r>
              <a:rPr lang="en-US" dirty="0" err="1"/>
              <a:t>varTotal</a:t>
            </a:r>
            <a:r>
              <a:rPr lang="en-US" dirty="0"/>
              <a:t>, finished INT;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HANDLER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NOT FOUNT</a:t>
            </a:r>
            <a:r>
              <a:rPr lang="en-US" dirty="0"/>
              <a:t> SET finished = 1;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SET finished = 0, </a:t>
            </a:r>
            <a:r>
              <a:rPr lang="en-US" dirty="0" err="1"/>
              <a:t>varTotal</a:t>
            </a:r>
            <a:r>
              <a:rPr lang="en-US" dirty="0"/>
              <a:t> = 0;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OPEN</a:t>
            </a:r>
            <a:r>
              <a:rPr lang="en-US" dirty="0"/>
              <a:t> cur1;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check_salary</a:t>
            </a:r>
            <a:r>
              <a:rPr lang="en-SG" dirty="0"/>
              <a:t>: </a:t>
            </a:r>
            <a:r>
              <a:rPr lang="en-US" dirty="0">
                <a:solidFill>
                  <a:srgbClr val="0000CC"/>
                </a:solidFill>
              </a:rPr>
              <a:t>LOOP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		FETCH </a:t>
            </a:r>
            <a:r>
              <a:rPr lang="en-US" dirty="0"/>
              <a:t>cur1</a:t>
            </a:r>
            <a:r>
              <a:rPr lang="en-US" dirty="0">
                <a:solidFill>
                  <a:srgbClr val="0000CC"/>
                </a:solidFill>
              </a:rPr>
              <a:t> INTO</a:t>
            </a:r>
            <a:r>
              <a:rPr lang="en-US" dirty="0"/>
              <a:t> </a:t>
            </a:r>
            <a:r>
              <a:rPr lang="en-US" dirty="0" err="1"/>
              <a:t>varSal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IF finished = 1 THEN </a:t>
            </a:r>
            <a:r>
              <a:rPr lang="en-US" dirty="0">
                <a:solidFill>
                  <a:srgbClr val="0000CC"/>
                </a:solidFill>
              </a:rPr>
              <a:t>LEAVE</a:t>
            </a:r>
            <a:r>
              <a:rPr lang="en-US" dirty="0"/>
              <a:t> </a:t>
            </a:r>
            <a:r>
              <a:rPr lang="en-US" dirty="0" err="1"/>
              <a:t>check_salary</a:t>
            </a:r>
            <a:r>
              <a:rPr lang="en-US" dirty="0"/>
              <a:t> END IF;</a:t>
            </a:r>
            <a:br>
              <a:rPr lang="en-US" dirty="0"/>
            </a:br>
            <a:r>
              <a:rPr lang="en-US" dirty="0"/>
              <a:t>		IF </a:t>
            </a:r>
            <a:r>
              <a:rPr lang="en-US" dirty="0" err="1"/>
              <a:t>varSal</a:t>
            </a:r>
            <a:r>
              <a:rPr lang="en-US" dirty="0"/>
              <a:t> &lt; </a:t>
            </a:r>
            <a:r>
              <a:rPr lang="en-US" dirty="0" err="1"/>
              <a:t>paraSal</a:t>
            </a:r>
            <a:r>
              <a:rPr lang="en-US" dirty="0"/>
              <a:t> THEN</a:t>
            </a:r>
            <a:br>
              <a:rPr lang="en-US" dirty="0"/>
            </a:br>
            <a:r>
              <a:rPr lang="en-US" dirty="0"/>
              <a:t>			SET </a:t>
            </a:r>
            <a:r>
              <a:rPr lang="en-US" dirty="0" err="1"/>
              <a:t>varTotal</a:t>
            </a:r>
            <a:r>
              <a:rPr lang="en-US" dirty="0"/>
              <a:t> = </a:t>
            </a:r>
            <a:r>
              <a:rPr lang="en-US" dirty="0" err="1"/>
              <a:t>varTotal</a:t>
            </a:r>
            <a:r>
              <a:rPr lang="en-US" dirty="0"/>
              <a:t> + </a:t>
            </a:r>
            <a:r>
              <a:rPr lang="en-US" dirty="0" err="1"/>
              <a:t>varSal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END IF;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END LOOP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CLOSE</a:t>
            </a:r>
            <a:r>
              <a:rPr lang="en-US" dirty="0"/>
              <a:t> cur1;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>
                <a:solidFill>
                  <a:srgbClr val="C00000"/>
                </a:solidFill>
              </a:rPr>
              <a:t>Note: FETCH INTO can support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171999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Cursors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4824536"/>
          </a:xfrm>
        </p:spPr>
        <p:txBody>
          <a:bodyPr>
            <a:normAutofit fontScale="62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PROCEDURE</a:t>
            </a:r>
            <a:r>
              <a:rPr lang="en-SG" dirty="0"/>
              <a:t> SimpleProc6( IN </a:t>
            </a:r>
            <a:r>
              <a:rPr lang="en-SG" dirty="0" err="1"/>
              <a:t>paraSal</a:t>
            </a:r>
            <a:r>
              <a:rPr lang="en-SG" dirty="0"/>
              <a:t> INT )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cur1 CURSOR FOR SELECT </a:t>
            </a:r>
            <a:r>
              <a:rPr lang="en-US" dirty="0">
                <a:solidFill>
                  <a:srgbClr val="C00000"/>
                </a:solidFill>
              </a:rPr>
              <a:t>Name, </a:t>
            </a:r>
            <a:r>
              <a:rPr lang="en-US" dirty="0"/>
              <a:t>Salary FROM Employee;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varName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/>
              <a:t>varSal</a:t>
            </a:r>
            <a:r>
              <a:rPr lang="en-US" dirty="0"/>
              <a:t>, </a:t>
            </a:r>
            <a:r>
              <a:rPr lang="en-US" dirty="0" err="1"/>
              <a:t>varTotal</a:t>
            </a:r>
            <a:r>
              <a:rPr lang="en-US" dirty="0"/>
              <a:t>, finished INT;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HANDLER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NOT FOUNT</a:t>
            </a:r>
            <a:r>
              <a:rPr lang="en-US" dirty="0"/>
              <a:t> SET finished = 1;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SET finished = 0, </a:t>
            </a:r>
            <a:r>
              <a:rPr lang="en-US" dirty="0" err="1"/>
              <a:t>varTotal</a:t>
            </a:r>
            <a:r>
              <a:rPr lang="en-US" dirty="0"/>
              <a:t> = 0;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OPEN</a:t>
            </a:r>
            <a:r>
              <a:rPr lang="en-US" dirty="0"/>
              <a:t> cur1;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check_salary</a:t>
            </a:r>
            <a:r>
              <a:rPr lang="en-US" dirty="0"/>
              <a:t>: </a:t>
            </a:r>
            <a:r>
              <a:rPr lang="en-US" dirty="0">
                <a:solidFill>
                  <a:srgbClr val="0000CC"/>
                </a:solidFill>
              </a:rPr>
              <a:t>LOOP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		FETCH </a:t>
            </a:r>
            <a:r>
              <a:rPr lang="en-US" dirty="0"/>
              <a:t>cur1</a:t>
            </a:r>
            <a:r>
              <a:rPr lang="en-US" dirty="0">
                <a:solidFill>
                  <a:srgbClr val="0000CC"/>
                </a:solidFill>
              </a:rPr>
              <a:t> INTO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varName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/>
              <a:t>varSal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IF finished = 1 THEN </a:t>
            </a:r>
            <a:r>
              <a:rPr lang="en-US" dirty="0">
                <a:solidFill>
                  <a:srgbClr val="0000CC"/>
                </a:solidFill>
              </a:rPr>
              <a:t>LEAVE</a:t>
            </a:r>
            <a:r>
              <a:rPr lang="en-US" dirty="0"/>
              <a:t> </a:t>
            </a:r>
            <a:r>
              <a:rPr lang="en-US" dirty="0" err="1"/>
              <a:t>check_salary</a:t>
            </a:r>
            <a:r>
              <a:rPr lang="en-US" dirty="0"/>
              <a:t> END IF;</a:t>
            </a:r>
            <a:br>
              <a:rPr lang="en-US" dirty="0"/>
            </a:br>
            <a:r>
              <a:rPr lang="en-US" dirty="0"/>
              <a:t>		IF </a:t>
            </a:r>
            <a:r>
              <a:rPr lang="en-US" dirty="0" err="1"/>
              <a:t>varSal</a:t>
            </a:r>
            <a:r>
              <a:rPr lang="en-US" dirty="0"/>
              <a:t> &lt; </a:t>
            </a:r>
            <a:r>
              <a:rPr lang="en-US" dirty="0" err="1"/>
              <a:t>paraSal</a:t>
            </a:r>
            <a:r>
              <a:rPr lang="en-US" dirty="0"/>
              <a:t> THEN</a:t>
            </a:r>
            <a:br>
              <a:rPr lang="en-US" dirty="0"/>
            </a:br>
            <a:r>
              <a:rPr lang="en-US" dirty="0"/>
              <a:t>			SET </a:t>
            </a:r>
            <a:r>
              <a:rPr lang="en-US" dirty="0" err="1"/>
              <a:t>varTotal</a:t>
            </a:r>
            <a:r>
              <a:rPr lang="en-US" dirty="0"/>
              <a:t> = </a:t>
            </a:r>
            <a:r>
              <a:rPr lang="en-US" dirty="0" err="1"/>
              <a:t>varTotal</a:t>
            </a:r>
            <a:r>
              <a:rPr lang="en-US" dirty="0"/>
              <a:t> + </a:t>
            </a:r>
            <a:r>
              <a:rPr lang="en-US" dirty="0" err="1"/>
              <a:t>varSal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END IF;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END LOOP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CLOSE</a:t>
            </a:r>
            <a:r>
              <a:rPr lang="en-US" dirty="0"/>
              <a:t> cur1;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>
                <a:solidFill>
                  <a:srgbClr val="C00000"/>
                </a:solidFill>
              </a:rPr>
              <a:t>Note: FETCH INTO can support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208531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Stored procedures can also have return values</a:t>
            </a:r>
          </a:p>
          <a:p>
            <a:r>
              <a:rPr lang="en-US" dirty="0"/>
              <a:t>But we need to use CREATE FUNCTION instead of CREATE PROCEDURE</a:t>
            </a:r>
          </a:p>
        </p:txBody>
      </p:sp>
    </p:spTree>
    <p:extLst>
      <p:ext uri="{BB962C8B-B14F-4D97-AF65-F5344CB8AC3E}">
        <p14:creationId xmlns:p14="http://schemas.microsoft.com/office/powerpoint/2010/main" val="180123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>
            <a:normAutofit fontScale="850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FUNCTION</a:t>
            </a:r>
            <a:r>
              <a:rPr lang="en-SG" dirty="0"/>
              <a:t> </a:t>
            </a:r>
            <a:r>
              <a:rPr lang="en-SG" dirty="0" err="1"/>
              <a:t>MilesToKm</a:t>
            </a:r>
            <a:r>
              <a:rPr lang="en-SG" dirty="0"/>
              <a:t>( </a:t>
            </a:r>
            <a:r>
              <a:rPr lang="en-SG" dirty="0">
                <a:solidFill>
                  <a:srgbClr val="0000CC"/>
                </a:solidFill>
              </a:rPr>
              <a:t>IN</a:t>
            </a:r>
            <a:r>
              <a:rPr lang="en-SG" dirty="0"/>
              <a:t> </a:t>
            </a:r>
            <a:r>
              <a:rPr lang="en-SG" dirty="0" err="1"/>
              <a:t>paraMiles</a:t>
            </a:r>
            <a:r>
              <a:rPr lang="en-SG" dirty="0"/>
              <a:t> FLOAT ) </a:t>
            </a:r>
            <a:r>
              <a:rPr lang="en-SG" dirty="0">
                <a:solidFill>
                  <a:srgbClr val="0000CC"/>
                </a:solidFill>
              </a:rPr>
              <a:t>RETURNS</a:t>
            </a:r>
            <a:r>
              <a:rPr lang="en-SG" dirty="0"/>
              <a:t> FLOAT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RETURN </a:t>
            </a:r>
            <a:r>
              <a:rPr lang="en-US" dirty="0" err="1"/>
              <a:t>paraMiles</a:t>
            </a:r>
            <a:r>
              <a:rPr lang="en-US" dirty="0"/>
              <a:t> * 1.609;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US" dirty="0"/>
              <a:t>Note: A function can only return one value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  <a:p>
            <a:pPr marL="0" indent="0">
              <a:buNone/>
            </a:pP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013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>
            <a:normAutofit fontScale="850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FUNCTION</a:t>
            </a:r>
            <a:r>
              <a:rPr lang="en-SG" dirty="0"/>
              <a:t> </a:t>
            </a:r>
            <a:r>
              <a:rPr lang="en-SG" dirty="0" err="1"/>
              <a:t>MilesToKm</a:t>
            </a:r>
            <a:r>
              <a:rPr lang="en-SG" dirty="0"/>
              <a:t>( </a:t>
            </a:r>
            <a:r>
              <a:rPr lang="en-SG" dirty="0">
                <a:solidFill>
                  <a:srgbClr val="0000CC"/>
                </a:solidFill>
              </a:rPr>
              <a:t>IN</a:t>
            </a:r>
            <a:r>
              <a:rPr lang="en-SG" dirty="0"/>
              <a:t> </a:t>
            </a:r>
            <a:r>
              <a:rPr lang="en-SG" dirty="0" err="1"/>
              <a:t>paraMiles</a:t>
            </a:r>
            <a:r>
              <a:rPr lang="en-SG" dirty="0"/>
              <a:t> FLOAT ) </a:t>
            </a:r>
            <a:r>
              <a:rPr lang="en-SG" dirty="0">
                <a:solidFill>
                  <a:srgbClr val="0000CC"/>
                </a:solidFill>
              </a:rPr>
              <a:t>RETURNS</a:t>
            </a:r>
            <a:r>
              <a:rPr lang="en-SG" dirty="0"/>
              <a:t> FLOAT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RETURN </a:t>
            </a:r>
            <a:r>
              <a:rPr lang="en-US" dirty="0" err="1"/>
              <a:t>paraMiles</a:t>
            </a:r>
            <a:r>
              <a:rPr lang="en-US" dirty="0"/>
              <a:t> * 1.609;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SG" dirty="0">
              <a:solidFill>
                <a:srgbClr val="0000CC"/>
              </a:solidFill>
            </a:endParaRPr>
          </a:p>
          <a:p>
            <a:r>
              <a:rPr lang="en-SG" dirty="0"/>
              <a:t>SELECT </a:t>
            </a:r>
            <a:r>
              <a:rPr lang="en-SG" dirty="0" err="1"/>
              <a:t>MilesToKm</a:t>
            </a:r>
            <a:r>
              <a:rPr lang="en-SG" dirty="0"/>
              <a:t>( 3.5 )</a:t>
            </a:r>
          </a:p>
          <a:p>
            <a:pPr lvl="1"/>
            <a:r>
              <a:rPr lang="en-SG" dirty="0"/>
              <a:t>Meaning: convert 3.5 miles to km</a:t>
            </a:r>
          </a:p>
          <a:p>
            <a:endParaRPr lang="en-SG" dirty="0"/>
          </a:p>
          <a:p>
            <a:r>
              <a:rPr lang="en-SG" dirty="0"/>
              <a:t>SELECT ID, </a:t>
            </a:r>
            <a:r>
              <a:rPr lang="en-SG" dirty="0" err="1"/>
              <a:t>MilesToKm</a:t>
            </a:r>
            <a:r>
              <a:rPr lang="en-SG" dirty="0"/>
              <a:t>(Mileage) </a:t>
            </a:r>
            <a:br>
              <a:rPr lang="en-SG" dirty="0"/>
            </a:br>
            <a:r>
              <a:rPr lang="en-SG" dirty="0"/>
              <a:t>FROM Cars</a:t>
            </a:r>
          </a:p>
          <a:p>
            <a:pPr lvl="1"/>
            <a:r>
              <a:rPr lang="en-SG" dirty="0"/>
              <a:t>Meaning: show all tuples in Cars, with </a:t>
            </a:r>
            <a:br>
              <a:rPr lang="en-SG" dirty="0"/>
            </a:br>
            <a:r>
              <a:rPr lang="en-SG" dirty="0"/>
              <a:t>mileage shown in km</a:t>
            </a:r>
          </a:p>
          <a:p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518F57-94CE-4264-AD81-31FB740509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7231818"/>
              </p:ext>
            </p:extLst>
          </p:nvPr>
        </p:nvGraphicFramePr>
        <p:xfrm>
          <a:off x="6588224" y="3807296"/>
          <a:ext cx="208823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ID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Mileage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12000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67000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35000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21000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1EDBFED-E13B-414E-A5C5-74FC95164A12}"/>
              </a:ext>
            </a:extLst>
          </p:cNvPr>
          <p:cNvSpPr txBox="1"/>
          <p:nvPr/>
        </p:nvSpPr>
        <p:spPr>
          <a:xfrm>
            <a:off x="6588224" y="3212976"/>
            <a:ext cx="93610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95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A69A-ABB3-4C6C-8B05-BFBCAA01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SG" dirty="0"/>
              <a:t>Stored Procedures: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CE399-C9AC-4D07-BAFA-6BABEE2D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Create a function that</a:t>
            </a:r>
          </a:p>
          <a:p>
            <a:pPr lvl="1"/>
            <a:r>
              <a:rPr lang="en-SG" dirty="0"/>
              <a:t>Takes as input a mileage parameter</a:t>
            </a:r>
            <a:br>
              <a:rPr lang="en-SG" dirty="0"/>
            </a:br>
            <a:r>
              <a:rPr lang="en-SG" dirty="0" err="1"/>
              <a:t>paraMiles</a:t>
            </a:r>
            <a:endParaRPr lang="en-SG" dirty="0"/>
          </a:p>
          <a:p>
            <a:pPr lvl="1"/>
            <a:r>
              <a:rPr lang="en-SG" dirty="0"/>
              <a:t>Returns the ID of the car whose </a:t>
            </a:r>
            <a:br>
              <a:rPr lang="en-SG" dirty="0"/>
            </a:br>
            <a:r>
              <a:rPr lang="en-SG" dirty="0"/>
              <a:t>mileage is closest to </a:t>
            </a:r>
            <a:r>
              <a:rPr lang="en-SG" dirty="0" err="1"/>
              <a:t>paraMiles</a:t>
            </a:r>
            <a:endParaRPr lang="en-SG" dirty="0"/>
          </a:p>
          <a:p>
            <a:endParaRPr lang="en-SG" dirty="0"/>
          </a:p>
          <a:p>
            <a:r>
              <a:rPr lang="en-SG" dirty="0"/>
              <a:t>Assumption: all mileages in Cars are positive numbers and are unique</a:t>
            </a:r>
          </a:p>
          <a:p>
            <a:r>
              <a:rPr lang="en-SG" dirty="0"/>
              <a:t>Note: you are not allowed to use subqueries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7E684D-661D-48C9-B0FC-C047148A69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3973133"/>
              </p:ext>
            </p:extLst>
          </p:nvPr>
        </p:nvGraphicFramePr>
        <p:xfrm>
          <a:off x="6588224" y="1575048"/>
          <a:ext cx="208823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>
                          <a:latin typeface="Calibri" panose="020F0502020204030204" pitchFamily="34" charset="0"/>
                        </a:rPr>
                        <a:t>ID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Mileage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12000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2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67000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3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35000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</a:rPr>
                        <a:t>21000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FC8D40-2EDF-4E61-9044-EA4AA26E897C}"/>
              </a:ext>
            </a:extLst>
          </p:cNvPr>
          <p:cNvSpPr txBox="1"/>
          <p:nvPr/>
        </p:nvSpPr>
        <p:spPr>
          <a:xfrm>
            <a:off x="6588224" y="980728"/>
            <a:ext cx="93610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</a:rPr>
              <a:t>Cars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51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4D01-E152-4B19-B0AE-B329A6C7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Stored Procedures: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D516-090A-401E-87A0-A2422117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579296" cy="5328592"/>
          </a:xfrm>
        </p:spPr>
        <p:txBody>
          <a:bodyPr>
            <a:normAutofit fontScale="700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FUNCTION</a:t>
            </a:r>
            <a:r>
              <a:rPr lang="en-SG" dirty="0"/>
              <a:t> </a:t>
            </a:r>
            <a:r>
              <a:rPr lang="en-SG" dirty="0" err="1"/>
              <a:t>ClosestMileage</a:t>
            </a:r>
            <a:r>
              <a:rPr lang="en-SG" dirty="0"/>
              <a:t>( IN </a:t>
            </a:r>
            <a:r>
              <a:rPr lang="en-SG" dirty="0" err="1"/>
              <a:t>paraMiles</a:t>
            </a:r>
            <a:r>
              <a:rPr lang="en-SG" dirty="0"/>
              <a:t> FLOAT ) </a:t>
            </a:r>
            <a:r>
              <a:rPr lang="en-SG" dirty="0">
                <a:solidFill>
                  <a:srgbClr val="0000CC"/>
                </a:solidFill>
              </a:rPr>
              <a:t>RETURNS</a:t>
            </a:r>
            <a:r>
              <a:rPr lang="en-SG" dirty="0"/>
              <a:t> FLOAT</a:t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cur1 CURSOR FOR SELECT ID, Mileage FROM Cars;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/>
              <a:t>varID</a:t>
            </a:r>
            <a:r>
              <a:rPr lang="en-US" dirty="0"/>
              <a:t>, </a:t>
            </a:r>
            <a:r>
              <a:rPr lang="en-US" dirty="0" err="1"/>
              <a:t>varMinID</a:t>
            </a:r>
            <a:r>
              <a:rPr lang="en-US" dirty="0"/>
              <a:t>, finished INT;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 err="1"/>
              <a:t>varMiles</a:t>
            </a:r>
            <a:r>
              <a:rPr lang="en-US" dirty="0"/>
              <a:t>, </a:t>
            </a:r>
            <a:r>
              <a:rPr lang="en-US" dirty="0" err="1"/>
              <a:t>varMinDiff</a:t>
            </a:r>
            <a:r>
              <a:rPr lang="en-US" dirty="0"/>
              <a:t> FLOAT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DECLARE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CONTINUE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HANDLER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FOR</a:t>
            </a: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NOT FOUNT</a:t>
            </a:r>
            <a:r>
              <a:rPr lang="en-US" dirty="0"/>
              <a:t> SET finished = 1;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	SET finished = 0, </a:t>
            </a:r>
            <a:r>
              <a:rPr lang="en-US" dirty="0" err="1"/>
              <a:t>varMinDiff</a:t>
            </a:r>
            <a:r>
              <a:rPr lang="en-US" dirty="0"/>
              <a:t> = </a:t>
            </a:r>
            <a:r>
              <a:rPr lang="en-US" dirty="0" err="1"/>
              <a:t>paraMiles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OPEN</a:t>
            </a:r>
            <a:r>
              <a:rPr lang="en-US" dirty="0"/>
              <a:t> cur1;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check_miles</a:t>
            </a:r>
            <a:r>
              <a:rPr lang="en-US" dirty="0"/>
              <a:t>: </a:t>
            </a:r>
            <a:r>
              <a:rPr lang="en-US" dirty="0">
                <a:solidFill>
                  <a:srgbClr val="0000CC"/>
                </a:solidFill>
              </a:rPr>
              <a:t>LOOP</a:t>
            </a:r>
            <a:br>
              <a:rPr lang="en-US" dirty="0">
                <a:solidFill>
                  <a:srgbClr val="0000CC"/>
                </a:solidFill>
              </a:rPr>
            </a:br>
            <a:r>
              <a:rPr lang="en-US" dirty="0">
                <a:solidFill>
                  <a:srgbClr val="0000CC"/>
                </a:solidFill>
              </a:rPr>
              <a:t>		FETCH </a:t>
            </a:r>
            <a:r>
              <a:rPr lang="en-US" dirty="0"/>
              <a:t>cur1</a:t>
            </a:r>
            <a:r>
              <a:rPr lang="en-US" dirty="0">
                <a:solidFill>
                  <a:srgbClr val="0000CC"/>
                </a:solidFill>
              </a:rPr>
              <a:t> INTO</a:t>
            </a:r>
            <a:r>
              <a:rPr lang="en-US" dirty="0"/>
              <a:t> </a:t>
            </a:r>
            <a:r>
              <a:rPr lang="en-US" dirty="0" err="1"/>
              <a:t>varID</a:t>
            </a:r>
            <a:r>
              <a:rPr lang="en-US" dirty="0"/>
              <a:t>, </a:t>
            </a:r>
            <a:r>
              <a:rPr lang="en-US" dirty="0" err="1"/>
              <a:t>varMiles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IF finished = 1 THEN </a:t>
            </a:r>
            <a:r>
              <a:rPr lang="en-US" dirty="0">
                <a:solidFill>
                  <a:srgbClr val="0000CC"/>
                </a:solidFill>
              </a:rPr>
              <a:t>LEAVE</a:t>
            </a:r>
            <a:r>
              <a:rPr lang="en-US" dirty="0"/>
              <a:t> </a:t>
            </a:r>
            <a:r>
              <a:rPr lang="en-US" dirty="0" err="1"/>
              <a:t>check_salary</a:t>
            </a:r>
            <a:r>
              <a:rPr lang="en-US" dirty="0"/>
              <a:t> END IF;</a:t>
            </a:r>
            <a:br>
              <a:rPr lang="en-US" dirty="0"/>
            </a:br>
            <a:r>
              <a:rPr lang="en-US" dirty="0"/>
              <a:t>		IF ABS(</a:t>
            </a:r>
            <a:r>
              <a:rPr lang="en-US" dirty="0" err="1"/>
              <a:t>paraMiles</a:t>
            </a:r>
            <a:r>
              <a:rPr lang="en-US" dirty="0"/>
              <a:t> – </a:t>
            </a:r>
            <a:r>
              <a:rPr lang="en-US" dirty="0" err="1"/>
              <a:t>varMiles</a:t>
            </a:r>
            <a:r>
              <a:rPr lang="en-US" dirty="0"/>
              <a:t>) &lt;= </a:t>
            </a:r>
            <a:r>
              <a:rPr lang="en-US" dirty="0" err="1"/>
              <a:t>varMinDiff</a:t>
            </a:r>
            <a:r>
              <a:rPr lang="en-US" dirty="0"/>
              <a:t> THEN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varMinDiff</a:t>
            </a:r>
            <a:r>
              <a:rPr lang="en-US" dirty="0"/>
              <a:t> = ABS(</a:t>
            </a:r>
            <a:r>
              <a:rPr lang="en-US" dirty="0" err="1"/>
              <a:t>paraMiles</a:t>
            </a:r>
            <a:r>
              <a:rPr lang="en-US" dirty="0"/>
              <a:t> – </a:t>
            </a:r>
            <a:r>
              <a:rPr lang="en-US" dirty="0" err="1"/>
              <a:t>varMiles</a:t>
            </a:r>
            <a:r>
              <a:rPr lang="en-US" dirty="0"/>
              <a:t>);</a:t>
            </a:r>
            <a:br>
              <a:rPr lang="en-US" dirty="0"/>
            </a:br>
            <a:r>
              <a:rPr lang="en-US" dirty="0"/>
              <a:t>			</a:t>
            </a:r>
            <a:r>
              <a:rPr lang="en-US" dirty="0" err="1"/>
              <a:t>varMinID</a:t>
            </a:r>
            <a:r>
              <a:rPr lang="en-US" dirty="0"/>
              <a:t> = </a:t>
            </a:r>
            <a:r>
              <a:rPr lang="en-US" dirty="0" err="1"/>
              <a:t>varID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	END IF;		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END LOOP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CLOSE</a:t>
            </a:r>
            <a:r>
              <a:rPr lang="en-US" dirty="0"/>
              <a:t> cur1;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rgbClr val="0000CC"/>
                </a:solidFill>
              </a:rPr>
              <a:t>RETURN </a:t>
            </a:r>
            <a:r>
              <a:rPr lang="en-US" dirty="0" err="1"/>
              <a:t>varMinID</a:t>
            </a:r>
            <a:r>
              <a:rPr lang="en-US" dirty="0">
                <a:solidFill>
                  <a:srgbClr val="0000CC"/>
                </a:solidFill>
              </a:rPr>
              <a:t>;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2232943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Stored Procedures: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Functions defined inside </a:t>
            </a:r>
            <a:r>
              <a:rPr lang="en-SG" dirty="0"/>
              <a:t>the </a:t>
            </a:r>
            <a:r>
              <a:rPr lang="en-SG" dirty="0" smtClean="0"/>
              <a:t>databases</a:t>
            </a:r>
            <a:endParaRPr lang="en-SG" dirty="0"/>
          </a:p>
          <a:p>
            <a:pPr lvl="1"/>
            <a:r>
              <a:rPr lang="en-SG" dirty="0" smtClean="0"/>
              <a:t>Can run SQL queries</a:t>
            </a:r>
          </a:p>
          <a:p>
            <a:pPr lvl="1"/>
            <a:r>
              <a:rPr lang="en-SG" dirty="0" smtClean="0"/>
              <a:t>Have typical control structures such as IF and LOOP</a:t>
            </a:r>
          </a:p>
          <a:p>
            <a:r>
              <a:rPr lang="en-US" dirty="0" smtClean="0"/>
              <a:t>What if we want to write programs that talk to the databases from outside?</a:t>
            </a:r>
          </a:p>
          <a:p>
            <a:r>
              <a:rPr lang="en-US" dirty="0" smtClean="0"/>
              <a:t>There are APIs for this purpose</a:t>
            </a:r>
          </a:p>
          <a:p>
            <a:r>
              <a:rPr lang="en-US" dirty="0" smtClean="0"/>
              <a:t>We will take a look at a toy example for C++ &amp; MySQL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7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Triggers</a:t>
            </a:r>
          </a:p>
          <a:p>
            <a:r>
              <a:rPr lang="en-US" dirty="0"/>
              <a:t>Stored procedures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SQL in applications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8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12068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iostream</a:t>
            </a:r>
            <a:r>
              <a:rPr lang="en-US" dirty="0"/>
              <a:t>&gt;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</a:t>
            </a:r>
            <a:r>
              <a:rPr lang="en-US" dirty="0"/>
              <a:t>include "</a:t>
            </a:r>
            <a:r>
              <a:rPr lang="en-US" dirty="0" err="1"/>
              <a:t>mysql_connection.h</a:t>
            </a:r>
            <a:r>
              <a:rPr lang="en-US" dirty="0"/>
              <a:t>"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…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main(void)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sql</a:t>
            </a:r>
            <a:r>
              <a:rPr lang="en-US" dirty="0" smtClean="0"/>
              <a:t>::Driver *driver;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sql</a:t>
            </a:r>
            <a:r>
              <a:rPr lang="en-US" dirty="0"/>
              <a:t>::Connection *con;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sql</a:t>
            </a:r>
            <a:r>
              <a:rPr lang="en-US" dirty="0"/>
              <a:t>::Statement *</a:t>
            </a:r>
            <a:r>
              <a:rPr lang="en-US" dirty="0" err="1"/>
              <a:t>stmt</a:t>
            </a:r>
            <a:r>
              <a:rPr lang="en-US" dirty="0"/>
              <a:t>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sql</a:t>
            </a:r>
            <a:r>
              <a:rPr lang="en-US" dirty="0"/>
              <a:t>::</a:t>
            </a:r>
            <a:r>
              <a:rPr lang="en-US" dirty="0" err="1"/>
              <a:t>ResultSet</a:t>
            </a:r>
            <a:r>
              <a:rPr lang="en-US" dirty="0"/>
              <a:t> *res;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driver </a:t>
            </a:r>
            <a:r>
              <a:rPr lang="en-US" dirty="0"/>
              <a:t>= </a:t>
            </a:r>
            <a:r>
              <a:rPr lang="en-US" dirty="0" err="1"/>
              <a:t>get_driver_instance</a:t>
            </a:r>
            <a:r>
              <a:rPr lang="en-US" dirty="0"/>
              <a:t>();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con </a:t>
            </a:r>
            <a:r>
              <a:rPr lang="en-US" dirty="0"/>
              <a:t>= driver-&gt;connect("</a:t>
            </a:r>
            <a:r>
              <a:rPr lang="en-US" dirty="0" err="1"/>
              <a:t>tcp</a:t>
            </a:r>
            <a:r>
              <a:rPr lang="en-US" dirty="0"/>
              <a:t>://127.0.0.1:3306", "root", "root");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con-</a:t>
            </a:r>
            <a:r>
              <a:rPr lang="en-US" dirty="0"/>
              <a:t>&gt;</a:t>
            </a:r>
            <a:r>
              <a:rPr lang="en-US" dirty="0" err="1"/>
              <a:t>setSchema</a:t>
            </a:r>
            <a:r>
              <a:rPr lang="en-US" dirty="0"/>
              <a:t>("test");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 smtClean="0"/>
              <a:t>stmt</a:t>
            </a:r>
            <a:r>
              <a:rPr lang="en-US" dirty="0" smtClean="0"/>
              <a:t> </a:t>
            </a:r>
            <a:r>
              <a:rPr lang="en-US" dirty="0"/>
              <a:t>= con-&gt;</a:t>
            </a:r>
            <a:r>
              <a:rPr lang="en-US" dirty="0" err="1"/>
              <a:t>createStatement</a:t>
            </a:r>
            <a:r>
              <a:rPr lang="en-US" dirty="0"/>
              <a:t>();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res </a:t>
            </a:r>
            <a:r>
              <a:rPr lang="en-US" dirty="0"/>
              <a:t>= 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executeQuery</a:t>
            </a:r>
            <a:r>
              <a:rPr lang="en-US" dirty="0"/>
              <a:t>("SELECT 'Hello World!' AS _message");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while </a:t>
            </a:r>
            <a:r>
              <a:rPr lang="en-US" dirty="0"/>
              <a:t>(res-&gt;next())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cout</a:t>
            </a:r>
            <a:r>
              <a:rPr lang="en-US" dirty="0" smtClean="0"/>
              <a:t> </a:t>
            </a:r>
            <a:r>
              <a:rPr lang="en-US" dirty="0"/>
              <a:t>&lt;&lt; res-&gt;</a:t>
            </a:r>
            <a:r>
              <a:rPr lang="en-US" dirty="0" err="1"/>
              <a:t>getString</a:t>
            </a:r>
            <a:r>
              <a:rPr lang="en-US" dirty="0"/>
              <a:t>("_message") &lt;&lt; </a:t>
            </a:r>
            <a:r>
              <a:rPr lang="en-US" dirty="0" err="1"/>
              <a:t>endl</a:t>
            </a:r>
            <a:r>
              <a:rPr lang="en-US" dirty="0"/>
              <a:t>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</a:p>
          <a:p>
            <a:pPr marL="0" indent="0">
              <a:buNone/>
            </a:pPr>
            <a:r>
              <a:rPr lang="en-US" dirty="0" smtClean="0"/>
              <a:t>	delete </a:t>
            </a:r>
            <a:r>
              <a:rPr lang="en-US" dirty="0"/>
              <a:t>res;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delete </a:t>
            </a:r>
            <a:r>
              <a:rPr lang="en-US" dirty="0" err="1"/>
              <a:t>stmt</a:t>
            </a:r>
            <a:r>
              <a:rPr lang="en-US" dirty="0"/>
              <a:t>;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delete </a:t>
            </a:r>
            <a:r>
              <a:rPr lang="en-US" dirty="0"/>
              <a:t>con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265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Injection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/>
          <a:lstStyle/>
          <a:p>
            <a:r>
              <a:rPr lang="en-US" dirty="0" smtClean="0"/>
              <a:t>Using SQL in applications, if not done properly, could be vulnerable to </a:t>
            </a:r>
            <a:r>
              <a:rPr lang="en-US" dirty="0" smtClean="0">
                <a:solidFill>
                  <a:srgbClr val="C00000"/>
                </a:solidFill>
              </a:rPr>
              <a:t>SQL injection attacks</a:t>
            </a:r>
          </a:p>
          <a:p>
            <a:r>
              <a:rPr lang="en-US" dirty="0" smtClean="0"/>
              <a:t>We will explain this using an example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42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Suppose that we have a table</a:t>
            </a:r>
            <a:r>
              <a:rPr lang="en-US" dirty="0"/>
              <a:t> </a:t>
            </a:r>
            <a:r>
              <a:rPr lang="en-US" dirty="0" smtClean="0"/>
              <a:t>that stores users’ </a:t>
            </a:r>
            <a:br>
              <a:rPr lang="en-US" dirty="0" smtClean="0"/>
            </a:br>
            <a:r>
              <a:rPr lang="en-US" dirty="0" smtClean="0"/>
              <a:t>credentials, and we use it for user log-ins</a:t>
            </a:r>
          </a:p>
          <a:p>
            <a:r>
              <a:rPr lang="en-US" dirty="0" smtClean="0"/>
              <a:t>Input: </a:t>
            </a:r>
            <a:r>
              <a:rPr lang="en-US" dirty="0" err="1" smtClean="0"/>
              <a:t>uname</a:t>
            </a:r>
            <a:r>
              <a:rPr lang="en-US" dirty="0" smtClean="0"/>
              <a:t> and </a:t>
            </a:r>
            <a:r>
              <a:rPr lang="en-US" dirty="0" err="1" smtClean="0"/>
              <a:t>pword</a:t>
            </a:r>
            <a:r>
              <a:rPr lang="en-US" dirty="0" smtClean="0"/>
              <a:t>, both of which </a:t>
            </a:r>
            <a:br>
              <a:rPr lang="en-US" dirty="0" smtClean="0"/>
            </a:br>
            <a:r>
              <a:rPr lang="en-US" dirty="0" smtClean="0"/>
              <a:t>are strings</a:t>
            </a:r>
          </a:p>
          <a:p>
            <a:r>
              <a:rPr lang="en-US" dirty="0" smtClean="0"/>
              <a:t>Program:</a:t>
            </a:r>
          </a:p>
          <a:p>
            <a:pPr lvl="1"/>
            <a:r>
              <a:rPr lang="en-US" dirty="0" smtClean="0"/>
              <a:t>string </a:t>
            </a:r>
            <a:r>
              <a:rPr lang="en-US" dirty="0" err="1" smtClean="0"/>
              <a:t>str</a:t>
            </a:r>
            <a:r>
              <a:rPr lang="en-US" dirty="0" smtClean="0"/>
              <a:t> = "SELECT COUNT(*) FROM Users WHERE Name = </a:t>
            </a:r>
            <a:r>
              <a:rPr lang="en-US" dirty="0" smtClean="0">
                <a:solidFill>
                  <a:srgbClr val="C00000"/>
                </a:solidFill>
              </a:rPr>
              <a:t>'</a:t>
            </a:r>
            <a:r>
              <a:rPr lang="en-US" dirty="0" smtClean="0"/>
              <a:t>";</a:t>
            </a:r>
          </a:p>
          <a:p>
            <a:pPr lvl="1"/>
            <a:r>
              <a:rPr lang="en-US" dirty="0" err="1" smtClean="0"/>
              <a:t>str</a:t>
            </a:r>
            <a:r>
              <a:rPr lang="en-US" dirty="0" smtClean="0"/>
              <a:t> += </a:t>
            </a:r>
            <a:r>
              <a:rPr lang="en-US" dirty="0" err="1" smtClean="0"/>
              <a:t>uname</a:t>
            </a:r>
            <a:r>
              <a:rPr lang="en-US" dirty="0" smtClean="0"/>
              <a:t>;</a:t>
            </a:r>
          </a:p>
          <a:p>
            <a:pPr lvl="1"/>
            <a:r>
              <a:rPr lang="en-US" dirty="0" err="1" smtClean="0"/>
              <a:t>str</a:t>
            </a:r>
            <a:r>
              <a:rPr lang="en-US" dirty="0" smtClean="0"/>
              <a:t> += "</a:t>
            </a:r>
            <a:r>
              <a:rPr lang="en-US" dirty="0" smtClean="0">
                <a:solidFill>
                  <a:srgbClr val="C00000"/>
                </a:solidFill>
              </a:rPr>
              <a:t>'</a:t>
            </a:r>
            <a:r>
              <a:rPr lang="en-US" dirty="0" smtClean="0"/>
              <a:t> AND Password = </a:t>
            </a:r>
            <a:r>
              <a:rPr lang="en-US" dirty="0" smtClean="0">
                <a:solidFill>
                  <a:srgbClr val="C00000"/>
                </a:solidFill>
              </a:rPr>
              <a:t>'</a:t>
            </a:r>
            <a:r>
              <a:rPr lang="en-US" dirty="0" smtClean="0"/>
              <a:t>";</a:t>
            </a:r>
          </a:p>
          <a:p>
            <a:pPr lvl="1"/>
            <a:r>
              <a:rPr lang="en-US" dirty="0" err="1" smtClean="0"/>
              <a:t>str</a:t>
            </a:r>
            <a:r>
              <a:rPr lang="en-US" dirty="0" smtClean="0"/>
              <a:t> += </a:t>
            </a:r>
            <a:r>
              <a:rPr lang="en-US" dirty="0" err="1" smtClean="0"/>
              <a:t>pword</a:t>
            </a:r>
            <a:r>
              <a:rPr lang="en-US" dirty="0" smtClean="0"/>
              <a:t>;</a:t>
            </a:r>
          </a:p>
          <a:p>
            <a:pPr lvl="1"/>
            <a:r>
              <a:rPr lang="en-US" dirty="0" err="1" smtClean="0"/>
              <a:t>str</a:t>
            </a:r>
            <a:r>
              <a:rPr lang="en-US" dirty="0" smtClean="0"/>
              <a:t> += "</a:t>
            </a:r>
            <a:r>
              <a:rPr lang="en-US" dirty="0" smtClean="0">
                <a:solidFill>
                  <a:srgbClr val="C00000"/>
                </a:solidFill>
              </a:rPr>
              <a:t>'</a:t>
            </a:r>
            <a:r>
              <a:rPr lang="en-US" dirty="0" smtClean="0"/>
              <a:t>";</a:t>
            </a:r>
          </a:p>
          <a:p>
            <a:pPr lvl="1"/>
            <a:r>
              <a:rPr lang="en-US" dirty="0" smtClean="0"/>
              <a:t>res = </a:t>
            </a:r>
            <a:r>
              <a:rPr lang="en-US" dirty="0" err="1" smtClean="0"/>
              <a:t>stmt</a:t>
            </a:r>
            <a:r>
              <a:rPr lang="en-US" dirty="0" smtClean="0"/>
              <a:t>-</a:t>
            </a:r>
            <a:r>
              <a:rPr lang="en-US" dirty="0"/>
              <a:t>&gt;</a:t>
            </a:r>
            <a:r>
              <a:rPr lang="en-US" dirty="0" err="1" smtClean="0"/>
              <a:t>executeQuery</a:t>
            </a:r>
            <a:r>
              <a:rPr lang="en-US" dirty="0" smtClean="0"/>
              <a:t>(</a:t>
            </a:r>
            <a:r>
              <a:rPr lang="en-US" dirty="0" err="1" smtClean="0"/>
              <a:t>str</a:t>
            </a:r>
            <a:r>
              <a:rPr lang="en-US" dirty="0" smtClean="0"/>
              <a:t>);</a:t>
            </a:r>
          </a:p>
          <a:p>
            <a:pPr lvl="1"/>
            <a:r>
              <a:rPr lang="en-US" dirty="0" smtClean="0"/>
              <a:t>… //check res to see if log-in should be granted </a:t>
            </a:r>
          </a:p>
          <a:p>
            <a:r>
              <a:rPr lang="en-US" dirty="0" smtClean="0"/>
              <a:t>Example: </a:t>
            </a:r>
            <a:r>
              <a:rPr lang="en-US" dirty="0" err="1" smtClean="0"/>
              <a:t>uname</a:t>
            </a:r>
            <a:r>
              <a:rPr lang="en-US" dirty="0" smtClean="0"/>
              <a:t> = "Alice</a:t>
            </a:r>
            <a:r>
              <a:rPr lang="en-US" dirty="0"/>
              <a:t>"</a:t>
            </a:r>
            <a:r>
              <a:rPr lang="en-US" dirty="0" smtClean="0"/>
              <a:t>, </a:t>
            </a:r>
            <a:r>
              <a:rPr lang="en-US" dirty="0" err="1" smtClean="0"/>
              <a:t>pword</a:t>
            </a:r>
            <a:r>
              <a:rPr lang="en-US" dirty="0" smtClean="0"/>
              <a:t> = "1234</a:t>
            </a:r>
            <a:r>
              <a:rPr lang="en-US" dirty="0"/>
              <a:t>"</a:t>
            </a:r>
            <a:endParaRPr lang="en-US" dirty="0" smtClean="0"/>
          </a:p>
          <a:p>
            <a:pPr lvl="1"/>
            <a:r>
              <a:rPr lang="en-US" dirty="0" err="1" smtClean="0"/>
              <a:t>str</a:t>
            </a:r>
            <a:r>
              <a:rPr lang="en-US" dirty="0" smtClean="0"/>
              <a:t> = </a:t>
            </a:r>
            <a:r>
              <a:rPr lang="en-US" dirty="0"/>
              <a:t>"</a:t>
            </a:r>
            <a:r>
              <a:rPr lang="en-US" dirty="0" smtClean="0"/>
              <a:t>SELECT </a:t>
            </a:r>
            <a:r>
              <a:rPr lang="en-US" dirty="0"/>
              <a:t>COUNT(*) FROM Users WHERE Name = </a:t>
            </a:r>
            <a:r>
              <a:rPr lang="en-US" dirty="0" smtClean="0"/>
              <a:t>'Alice</a:t>
            </a:r>
            <a:r>
              <a:rPr lang="en-US" dirty="0"/>
              <a:t>'</a:t>
            </a:r>
            <a:r>
              <a:rPr lang="en-US" dirty="0" smtClean="0"/>
              <a:t> AND Password = '1234'</a:t>
            </a:r>
            <a:r>
              <a:rPr lang="en-US" dirty="0"/>
              <a:t>"</a:t>
            </a:r>
            <a:r>
              <a:rPr lang="en-US" dirty="0" smtClean="0"/>
              <a:t>;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7E684D-661D-48C9-B0FC-C047148A69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1746674"/>
              </p:ext>
            </p:extLst>
          </p:nvPr>
        </p:nvGraphicFramePr>
        <p:xfrm>
          <a:off x="6588224" y="332656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Password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Alice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1234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Bob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5678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Cath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abcd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 smtClean="0">
                          <a:latin typeface="Calibri" panose="020F0502020204030204" pitchFamily="34" charset="0"/>
                        </a:rPr>
                        <a:t>Dave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efgh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FC8D40-2EDF-4E61-9044-EA4AA26E897C}"/>
              </a:ext>
            </a:extLst>
          </p:cNvPr>
          <p:cNvSpPr txBox="1"/>
          <p:nvPr/>
        </p:nvSpPr>
        <p:spPr>
          <a:xfrm>
            <a:off x="5436096" y="332656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 panose="020F0502020204030204" pitchFamily="34" charset="0"/>
              </a:rPr>
              <a:t>Users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68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1328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Suppose that we have a table that stores users’ </a:t>
            </a:r>
            <a:br>
              <a:rPr lang="en-US" dirty="0"/>
            </a:br>
            <a:r>
              <a:rPr lang="en-US" dirty="0"/>
              <a:t>credentials, and we use it for user log-ins</a:t>
            </a:r>
          </a:p>
          <a:p>
            <a:r>
              <a:rPr lang="en-US" dirty="0"/>
              <a:t>Input: </a:t>
            </a:r>
            <a:r>
              <a:rPr lang="en-US" dirty="0" err="1" smtClean="0"/>
              <a:t>uname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err="1" smtClean="0"/>
              <a:t>pword</a:t>
            </a:r>
            <a:r>
              <a:rPr lang="en-US" dirty="0"/>
              <a:t>, both of which </a:t>
            </a:r>
            <a:br>
              <a:rPr lang="en-US" dirty="0"/>
            </a:br>
            <a:r>
              <a:rPr lang="en-US" dirty="0"/>
              <a:t>are strings</a:t>
            </a:r>
          </a:p>
          <a:p>
            <a:r>
              <a:rPr lang="en-US" dirty="0"/>
              <a:t>Program:</a:t>
            </a:r>
          </a:p>
          <a:p>
            <a:pPr lvl="1"/>
            <a:r>
              <a:rPr lang="en-US" dirty="0"/>
              <a:t>string </a:t>
            </a:r>
            <a:r>
              <a:rPr lang="en-US" dirty="0" err="1"/>
              <a:t>str</a:t>
            </a:r>
            <a:r>
              <a:rPr lang="en-US" dirty="0"/>
              <a:t> = "SELECT COUNT(*) FROM Users WHERE Name = </a:t>
            </a:r>
            <a:r>
              <a:rPr lang="en-US" dirty="0">
                <a:solidFill>
                  <a:srgbClr val="C00000"/>
                </a:solidFill>
              </a:rPr>
              <a:t>'</a:t>
            </a:r>
            <a:r>
              <a:rPr lang="en-US" dirty="0"/>
              <a:t>";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+= </a:t>
            </a:r>
            <a:r>
              <a:rPr lang="en-US" dirty="0" err="1"/>
              <a:t>user_name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+= "</a:t>
            </a:r>
            <a:r>
              <a:rPr lang="en-US" dirty="0">
                <a:solidFill>
                  <a:srgbClr val="C00000"/>
                </a:solidFill>
              </a:rPr>
              <a:t>'</a:t>
            </a:r>
            <a:r>
              <a:rPr lang="en-US" dirty="0"/>
              <a:t> AND Password = </a:t>
            </a:r>
            <a:r>
              <a:rPr lang="en-US" dirty="0">
                <a:solidFill>
                  <a:srgbClr val="C00000"/>
                </a:solidFill>
              </a:rPr>
              <a:t>'</a:t>
            </a:r>
            <a:r>
              <a:rPr lang="en-US" dirty="0"/>
              <a:t>";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+= </a:t>
            </a:r>
            <a:r>
              <a:rPr lang="en-US" dirty="0" err="1" smtClean="0"/>
              <a:t>pword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+= "</a:t>
            </a:r>
            <a:r>
              <a:rPr lang="en-US" dirty="0">
                <a:solidFill>
                  <a:srgbClr val="C00000"/>
                </a:solidFill>
              </a:rPr>
              <a:t>'</a:t>
            </a:r>
            <a:r>
              <a:rPr lang="en-US" dirty="0"/>
              <a:t>";</a:t>
            </a:r>
          </a:p>
          <a:p>
            <a:pPr lvl="1"/>
            <a:r>
              <a:rPr lang="en-US" dirty="0"/>
              <a:t>res = </a:t>
            </a:r>
            <a:r>
              <a:rPr lang="en-US" dirty="0" err="1"/>
              <a:t>stmt</a:t>
            </a:r>
            <a:r>
              <a:rPr lang="en-US" dirty="0"/>
              <a:t>-&gt;</a:t>
            </a:r>
            <a:r>
              <a:rPr lang="en-US" dirty="0" err="1"/>
              <a:t>executeQuery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… //check res to see if log-in should be granted </a:t>
            </a:r>
          </a:p>
          <a:p>
            <a:r>
              <a:rPr lang="en-US" dirty="0" smtClean="0"/>
              <a:t>Attack: </a:t>
            </a:r>
            <a:r>
              <a:rPr lang="en-US" dirty="0" err="1" smtClean="0"/>
              <a:t>uname</a:t>
            </a:r>
            <a:r>
              <a:rPr lang="en-US" dirty="0" smtClean="0"/>
              <a:t> = "Alice", </a:t>
            </a:r>
            <a:r>
              <a:rPr lang="en-US" dirty="0" err="1" smtClean="0"/>
              <a:t>pword</a:t>
            </a:r>
            <a:r>
              <a:rPr lang="en-US" dirty="0" smtClean="0"/>
              <a:t> = "</a:t>
            </a:r>
            <a:r>
              <a:rPr lang="en-US" dirty="0" smtClean="0">
                <a:solidFill>
                  <a:srgbClr val="00800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'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996600"/>
                </a:solidFill>
              </a:rPr>
              <a:t>OR Name = 'Alice'</a:t>
            </a:r>
            <a:r>
              <a:rPr lang="en-US" dirty="0" smtClean="0"/>
              <a:t>"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= "SELECT COUNT(*) FROM Users WHERE Name = </a:t>
            </a:r>
            <a:r>
              <a:rPr lang="en-US" dirty="0" smtClean="0"/>
              <a:t>'Alice' </a:t>
            </a:r>
            <a:r>
              <a:rPr lang="en-US" dirty="0"/>
              <a:t>AND Password = </a:t>
            </a:r>
            <a:r>
              <a:rPr lang="en-US" dirty="0" smtClean="0"/>
              <a:t>'</a:t>
            </a:r>
            <a:r>
              <a:rPr lang="en-US" dirty="0" smtClean="0">
                <a:solidFill>
                  <a:srgbClr val="008000"/>
                </a:solidFill>
              </a:rPr>
              <a:t>X</a:t>
            </a:r>
            <a:r>
              <a:rPr lang="en-US" dirty="0" smtClean="0">
                <a:solidFill>
                  <a:srgbClr val="C00000"/>
                </a:solidFill>
              </a:rPr>
              <a:t>'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996600"/>
                </a:solidFill>
              </a:rPr>
              <a:t>OR Name = 'Alice'</a:t>
            </a:r>
            <a:r>
              <a:rPr lang="en-US" dirty="0" smtClean="0"/>
              <a:t>";</a:t>
            </a:r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37E684D-661D-48C9-B0FC-C047148A69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3378758"/>
              </p:ext>
            </p:extLst>
          </p:nvPr>
        </p:nvGraphicFramePr>
        <p:xfrm>
          <a:off x="6588224" y="332656"/>
          <a:ext cx="24482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Password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Alice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1234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Bob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5678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Cath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abcd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 smtClean="0">
                          <a:latin typeface="Calibri" panose="020F0502020204030204" pitchFamily="34" charset="0"/>
                        </a:rPr>
                        <a:t>Dave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efgh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EFC8D40-2EDF-4E61-9044-EA4AA26E897C}"/>
              </a:ext>
            </a:extLst>
          </p:cNvPr>
          <p:cNvSpPr txBox="1"/>
          <p:nvPr/>
        </p:nvSpPr>
        <p:spPr>
          <a:xfrm>
            <a:off x="5436096" y="332656"/>
            <a:ext cx="1080120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 panose="020F0502020204030204" pitchFamily="34" charset="0"/>
              </a:rPr>
              <a:t>Users</a:t>
            </a:r>
            <a:endParaRPr lang="en-SG" sz="28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6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goes wrong?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Attack: </a:t>
            </a:r>
            <a:r>
              <a:rPr lang="en-US" dirty="0" err="1"/>
              <a:t>user_name</a:t>
            </a:r>
            <a:r>
              <a:rPr lang="en-US" dirty="0"/>
              <a:t> = "Alice", password = "</a:t>
            </a:r>
            <a:r>
              <a:rPr lang="en-US" dirty="0">
                <a:solidFill>
                  <a:srgbClr val="008000"/>
                </a:solidFill>
              </a:rPr>
              <a:t>X</a:t>
            </a:r>
            <a:r>
              <a:rPr lang="en-US" dirty="0">
                <a:solidFill>
                  <a:srgbClr val="C00000"/>
                </a:solidFill>
              </a:rPr>
              <a:t>'</a:t>
            </a:r>
            <a:r>
              <a:rPr lang="en-US" dirty="0"/>
              <a:t> </a:t>
            </a:r>
            <a:r>
              <a:rPr lang="en-US" dirty="0">
                <a:solidFill>
                  <a:srgbClr val="996600"/>
                </a:solidFill>
              </a:rPr>
              <a:t>OR Name = 'Alice'</a:t>
            </a:r>
            <a:r>
              <a:rPr lang="en-US" dirty="0"/>
              <a:t>"</a:t>
            </a:r>
          </a:p>
          <a:p>
            <a:pPr lvl="1"/>
            <a:r>
              <a:rPr lang="en-US" dirty="0" err="1"/>
              <a:t>str</a:t>
            </a:r>
            <a:r>
              <a:rPr lang="en-US" dirty="0"/>
              <a:t> = "SELECT COUNT(*) FROM Users WHERE Name = 'Alice' AND Password = '</a:t>
            </a:r>
            <a:r>
              <a:rPr lang="en-US" dirty="0">
                <a:solidFill>
                  <a:srgbClr val="008000"/>
                </a:solidFill>
              </a:rPr>
              <a:t>X</a:t>
            </a:r>
            <a:r>
              <a:rPr lang="en-US" dirty="0">
                <a:solidFill>
                  <a:srgbClr val="C00000"/>
                </a:solidFill>
              </a:rPr>
              <a:t>'</a:t>
            </a:r>
            <a:r>
              <a:rPr lang="en-US" dirty="0"/>
              <a:t> </a:t>
            </a:r>
            <a:r>
              <a:rPr lang="en-US" dirty="0">
                <a:solidFill>
                  <a:srgbClr val="996600"/>
                </a:solidFill>
              </a:rPr>
              <a:t>OR Name = 'Alice</a:t>
            </a:r>
            <a:r>
              <a:rPr lang="en-US" dirty="0" smtClean="0">
                <a:solidFill>
                  <a:srgbClr val="996600"/>
                </a:solidFill>
              </a:rPr>
              <a:t>'</a:t>
            </a:r>
            <a:r>
              <a:rPr lang="en-US" dirty="0" smtClean="0"/>
              <a:t>";</a:t>
            </a:r>
          </a:p>
          <a:p>
            <a:r>
              <a:rPr lang="en-US" dirty="0" smtClean="0"/>
              <a:t>The red single quote is supposed to be part of </a:t>
            </a:r>
            <a:r>
              <a:rPr lang="en-US" dirty="0" err="1" smtClean="0"/>
              <a:t>pword</a:t>
            </a:r>
            <a:r>
              <a:rPr lang="en-US" dirty="0" smtClean="0"/>
              <a:t>, but is interpreted by the DBMS as the end of the password</a:t>
            </a:r>
          </a:p>
          <a:p>
            <a:pPr lvl="1"/>
            <a:r>
              <a:rPr lang="en-US" dirty="0" smtClean="0"/>
              <a:t>The rest of </a:t>
            </a:r>
            <a:r>
              <a:rPr lang="en-US" dirty="0" err="1" smtClean="0"/>
              <a:t>pword</a:t>
            </a:r>
            <a:r>
              <a:rPr lang="en-US" dirty="0" smtClean="0"/>
              <a:t> is then interpreted as part of the query</a:t>
            </a:r>
          </a:p>
          <a:p>
            <a:r>
              <a:rPr lang="en-US" dirty="0" smtClean="0"/>
              <a:t>Solution: make sure that things like single quotes are correctly interpreted</a:t>
            </a:r>
          </a:p>
        </p:txBody>
      </p:sp>
    </p:spTree>
    <p:extLst>
      <p:ext uri="{BB962C8B-B14F-4D97-AF65-F5344CB8AC3E}">
        <p14:creationId xmlns:p14="http://schemas.microsoft.com/office/powerpoint/2010/main" val="62053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Solution 1: Use Prepared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00CC"/>
                </a:solidFill>
              </a:rPr>
              <a:t>PREPARE</a:t>
            </a:r>
            <a:r>
              <a:rPr lang="en-US" dirty="0" smtClean="0"/>
              <a:t> stmt1 </a:t>
            </a:r>
            <a:r>
              <a:rPr lang="en-US" dirty="0" smtClean="0">
                <a:solidFill>
                  <a:srgbClr val="0000CC"/>
                </a:solidFill>
              </a:rPr>
              <a:t>FROM</a:t>
            </a:r>
            <a:r>
              <a:rPr lang="en-US" dirty="0" smtClean="0"/>
              <a:t> 'SELECT </a:t>
            </a:r>
            <a:r>
              <a:rPr lang="en-US" dirty="0"/>
              <a:t>COUNT(*) FROM Users WHERE Name = </a:t>
            </a:r>
            <a:r>
              <a:rPr lang="en-US" dirty="0" smtClean="0"/>
              <a:t>? </a:t>
            </a:r>
            <a:r>
              <a:rPr lang="en-US" dirty="0"/>
              <a:t>AND Password = </a:t>
            </a:r>
            <a:r>
              <a:rPr lang="en-US" dirty="0" smtClean="0"/>
              <a:t>?';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SET</a:t>
            </a:r>
            <a:r>
              <a:rPr lang="en-US" dirty="0" smtClean="0"/>
              <a:t> @</a:t>
            </a:r>
            <a:r>
              <a:rPr lang="en-US" dirty="0" err="1" smtClean="0"/>
              <a:t>uname</a:t>
            </a:r>
            <a:r>
              <a:rPr lang="en-US" dirty="0" smtClean="0"/>
              <a:t> = 'Alice';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SET</a:t>
            </a:r>
            <a:r>
              <a:rPr lang="en-US" dirty="0" smtClean="0"/>
              <a:t> @</a:t>
            </a:r>
            <a:r>
              <a:rPr lang="en-US" dirty="0" err="1" smtClean="0"/>
              <a:t>pword</a:t>
            </a:r>
            <a:r>
              <a:rPr lang="en-US" dirty="0" smtClean="0"/>
              <a:t> = '1234';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EXECUTE</a:t>
            </a:r>
            <a:r>
              <a:rPr lang="en-US" dirty="0" smtClean="0"/>
              <a:t> stmt1 USING @</a:t>
            </a:r>
            <a:r>
              <a:rPr lang="en-US" dirty="0" err="1" smtClean="0"/>
              <a:t>uname</a:t>
            </a:r>
            <a:r>
              <a:rPr lang="en-US" dirty="0" smtClean="0"/>
              <a:t>, @</a:t>
            </a:r>
            <a:r>
              <a:rPr lang="en-US" dirty="0" err="1" smtClean="0"/>
              <a:t>pword</a:t>
            </a:r>
            <a:r>
              <a:rPr lang="en-US" dirty="0" smtClean="0"/>
              <a:t>;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DROP PREPARE </a:t>
            </a:r>
            <a:r>
              <a:rPr lang="en-US" dirty="0" smtClean="0"/>
              <a:t>stmt1;</a:t>
            </a:r>
          </a:p>
          <a:p>
            <a:endParaRPr lang="en-US" dirty="0"/>
          </a:p>
          <a:p>
            <a:r>
              <a:rPr lang="en-US" dirty="0" smtClean="0"/>
              <a:t>Idea: The prepared statement tells the DBMS what the query should be like</a:t>
            </a:r>
          </a:p>
          <a:p>
            <a:pPr lvl="1"/>
            <a:r>
              <a:rPr lang="en-US" dirty="0" smtClean="0"/>
              <a:t>So that a single quote in </a:t>
            </a:r>
            <a:r>
              <a:rPr lang="en-US" dirty="0" err="1" smtClean="0"/>
              <a:t>pword</a:t>
            </a:r>
            <a:r>
              <a:rPr lang="en-US" dirty="0" smtClean="0"/>
              <a:t> would not longer be interpreted as the end of the password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04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Solution 1: Use Prepared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00CC"/>
                </a:solidFill>
              </a:rPr>
              <a:t>PREPARE</a:t>
            </a:r>
            <a:r>
              <a:rPr lang="en-US" dirty="0" smtClean="0"/>
              <a:t> stmt1 </a:t>
            </a:r>
            <a:r>
              <a:rPr lang="en-US" dirty="0" smtClean="0">
                <a:solidFill>
                  <a:srgbClr val="0000CC"/>
                </a:solidFill>
              </a:rPr>
              <a:t>FROM</a:t>
            </a:r>
            <a:r>
              <a:rPr lang="en-US" dirty="0" smtClean="0"/>
              <a:t> 'SELECT </a:t>
            </a:r>
            <a:r>
              <a:rPr lang="en-US" dirty="0"/>
              <a:t>COUNT(*) FROM Users WHERE Name = </a:t>
            </a:r>
            <a:r>
              <a:rPr lang="en-US" dirty="0" smtClean="0"/>
              <a:t>? </a:t>
            </a:r>
            <a:r>
              <a:rPr lang="en-US" dirty="0"/>
              <a:t>AND Password = </a:t>
            </a:r>
            <a:r>
              <a:rPr lang="en-US" dirty="0" smtClean="0"/>
              <a:t>?';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SET</a:t>
            </a:r>
            <a:r>
              <a:rPr lang="en-US" dirty="0" smtClean="0"/>
              <a:t> @</a:t>
            </a:r>
            <a:r>
              <a:rPr lang="en-US" dirty="0" err="1" smtClean="0"/>
              <a:t>uname</a:t>
            </a:r>
            <a:r>
              <a:rPr lang="en-US" dirty="0" smtClean="0"/>
              <a:t> = 'Alice';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SET</a:t>
            </a:r>
            <a:r>
              <a:rPr lang="en-US" dirty="0" smtClean="0"/>
              <a:t> @</a:t>
            </a:r>
            <a:r>
              <a:rPr lang="en-US" dirty="0" err="1" smtClean="0"/>
              <a:t>pword</a:t>
            </a:r>
            <a:r>
              <a:rPr lang="en-US" dirty="0" smtClean="0"/>
              <a:t> = '</a:t>
            </a:r>
            <a:r>
              <a:rPr lang="en-US" dirty="0"/>
              <a:t>'</a:t>
            </a:r>
            <a:r>
              <a:rPr lang="en-US" dirty="0">
                <a:solidFill>
                  <a:srgbClr val="0000CC"/>
                </a:solidFill>
              </a:rPr>
              <a:t>X</a:t>
            </a:r>
            <a:r>
              <a:rPr lang="en-US" dirty="0">
                <a:solidFill>
                  <a:srgbClr val="C00000"/>
                </a:solidFill>
              </a:rPr>
              <a:t>'</a:t>
            </a:r>
            <a:r>
              <a:rPr lang="en-US" dirty="0"/>
              <a:t> </a:t>
            </a:r>
            <a:r>
              <a:rPr lang="en-US" dirty="0">
                <a:solidFill>
                  <a:srgbClr val="996600"/>
                </a:solidFill>
              </a:rPr>
              <a:t>OR Name = 'Alice'</a:t>
            </a:r>
            <a:r>
              <a:rPr lang="en-US" dirty="0" smtClean="0"/>
              <a:t>';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EXECUTE</a:t>
            </a:r>
            <a:r>
              <a:rPr lang="en-US" dirty="0" smtClean="0"/>
              <a:t> stmt1 USING @</a:t>
            </a:r>
            <a:r>
              <a:rPr lang="en-US" dirty="0" err="1" smtClean="0"/>
              <a:t>uname</a:t>
            </a:r>
            <a:r>
              <a:rPr lang="en-US" dirty="0" smtClean="0"/>
              <a:t>, @</a:t>
            </a:r>
            <a:r>
              <a:rPr lang="en-US" dirty="0" err="1" smtClean="0"/>
              <a:t>pword</a:t>
            </a:r>
            <a:r>
              <a:rPr lang="en-US" dirty="0" smtClean="0"/>
              <a:t>;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DROP PREPARE </a:t>
            </a:r>
            <a:r>
              <a:rPr lang="en-US" dirty="0" smtClean="0"/>
              <a:t>stmt1;</a:t>
            </a:r>
          </a:p>
          <a:p>
            <a:endParaRPr lang="en-US" dirty="0"/>
          </a:p>
          <a:p>
            <a:r>
              <a:rPr lang="en-US" dirty="0" smtClean="0"/>
              <a:t>Idea: The prepared statement tells the DBMS what the query should be like</a:t>
            </a:r>
          </a:p>
          <a:p>
            <a:pPr lvl="1"/>
            <a:r>
              <a:rPr lang="en-US" dirty="0" smtClean="0"/>
              <a:t>So that a single quote in </a:t>
            </a:r>
            <a:r>
              <a:rPr lang="en-US" dirty="0" err="1" smtClean="0"/>
              <a:t>pword</a:t>
            </a:r>
            <a:r>
              <a:rPr lang="en-US" dirty="0" smtClean="0"/>
              <a:t> would not longer be interpreted as the end of the password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2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Solution 2: Use Stored Procedures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>
                <a:solidFill>
                  <a:srgbClr val="0000CC"/>
                </a:solidFill>
              </a:rPr>
              <a:t>CREATE </a:t>
            </a:r>
            <a:r>
              <a:rPr lang="en-SG" dirty="0" smtClean="0">
                <a:solidFill>
                  <a:srgbClr val="0000CC"/>
                </a:solidFill>
              </a:rPr>
              <a:t>PROCEDURE</a:t>
            </a:r>
            <a:r>
              <a:rPr lang="en-SG" dirty="0" smtClean="0"/>
              <a:t> </a:t>
            </a:r>
            <a:r>
              <a:rPr lang="en-SG" dirty="0" err="1" smtClean="0"/>
              <a:t>CheckPass</a:t>
            </a:r>
            <a:r>
              <a:rPr lang="en-SG" dirty="0" smtClean="0"/>
              <a:t>( </a:t>
            </a:r>
            <a:r>
              <a:rPr lang="en-SG" dirty="0">
                <a:solidFill>
                  <a:srgbClr val="0000CC"/>
                </a:solidFill>
              </a:rPr>
              <a:t>IN</a:t>
            </a:r>
            <a:r>
              <a:rPr lang="en-SG" dirty="0"/>
              <a:t> </a:t>
            </a:r>
            <a:r>
              <a:rPr lang="en-SG" dirty="0" err="1" smtClean="0"/>
              <a:t>uname</a:t>
            </a:r>
            <a:r>
              <a:rPr lang="en-SG" dirty="0" smtClean="0"/>
              <a:t> </a:t>
            </a:r>
            <a:r>
              <a:rPr lang="en-SG" dirty="0"/>
              <a:t>VARCHAR(40)</a:t>
            </a:r>
            <a:r>
              <a:rPr lang="en-SG" dirty="0" smtClean="0"/>
              <a:t>, </a:t>
            </a:r>
            <a:r>
              <a:rPr lang="en-SG" dirty="0" smtClean="0">
                <a:solidFill>
                  <a:srgbClr val="0000CC"/>
                </a:solidFill>
              </a:rPr>
              <a:t>IN</a:t>
            </a:r>
            <a:r>
              <a:rPr lang="en-SG" dirty="0" smtClean="0"/>
              <a:t> </a:t>
            </a:r>
            <a:r>
              <a:rPr lang="en-SG" dirty="0" err="1" smtClean="0"/>
              <a:t>pword</a:t>
            </a:r>
            <a:r>
              <a:rPr lang="en-SG" dirty="0" smtClean="0"/>
              <a:t> VARCHAR(40), </a:t>
            </a:r>
            <a:r>
              <a:rPr lang="en-SG" dirty="0" smtClean="0">
                <a:solidFill>
                  <a:srgbClr val="0000CC"/>
                </a:solidFill>
              </a:rPr>
              <a:t>OUT</a:t>
            </a:r>
            <a:r>
              <a:rPr lang="en-SG" dirty="0" smtClean="0"/>
              <a:t> </a:t>
            </a:r>
            <a:r>
              <a:rPr lang="en-SG" dirty="0" err="1" smtClean="0"/>
              <a:t>cnt</a:t>
            </a:r>
            <a:r>
              <a:rPr lang="en-SG" dirty="0" smtClean="0"/>
              <a:t> INT )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BEGIN</a:t>
            </a: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>	</a:t>
            </a:r>
            <a:r>
              <a:rPr lang="en-US" dirty="0" smtClean="0"/>
              <a:t>SELECT </a:t>
            </a:r>
            <a:r>
              <a:rPr lang="en-US" dirty="0"/>
              <a:t>COUNT(*) </a:t>
            </a:r>
            <a:r>
              <a:rPr lang="en-US" dirty="0" smtClean="0"/>
              <a:t>INTO </a:t>
            </a:r>
            <a:r>
              <a:rPr lang="en-US" dirty="0" err="1" smtClean="0"/>
              <a:t>cnt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	FROM </a:t>
            </a:r>
            <a:r>
              <a:rPr lang="en-US" dirty="0"/>
              <a:t>Users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WHERE </a:t>
            </a:r>
            <a:r>
              <a:rPr lang="en-US" dirty="0"/>
              <a:t>Name = </a:t>
            </a:r>
            <a:r>
              <a:rPr lang="en-US" dirty="0" err="1" smtClean="0"/>
              <a:t>uname</a:t>
            </a:r>
            <a:r>
              <a:rPr lang="en-US" dirty="0" smtClean="0"/>
              <a:t> </a:t>
            </a:r>
            <a:r>
              <a:rPr lang="en-US" dirty="0"/>
              <a:t>AND Password = </a:t>
            </a:r>
            <a:r>
              <a:rPr lang="en-US" dirty="0" err="1" smtClean="0"/>
              <a:t>pword</a:t>
            </a:r>
            <a:r>
              <a:rPr lang="en-US" dirty="0" smtClean="0"/>
              <a:t>;</a:t>
            </a:r>
            <a:r>
              <a:rPr lang="en-SG" dirty="0"/>
              <a:t/>
            </a:r>
            <a:br>
              <a:rPr lang="en-SG" dirty="0"/>
            </a:br>
            <a:r>
              <a:rPr lang="en-SG" dirty="0">
                <a:solidFill>
                  <a:srgbClr val="0000CC"/>
                </a:solidFill>
              </a:rPr>
              <a:t>END;</a:t>
            </a:r>
          </a:p>
          <a:p>
            <a:endParaRPr lang="en-US" dirty="0"/>
          </a:p>
          <a:p>
            <a:r>
              <a:rPr lang="en-US" dirty="0" smtClean="0"/>
              <a:t>Idea: Stored procedures are pre-compiled, and hence, the DBMS knows what to expect in the query</a:t>
            </a:r>
          </a:p>
          <a:p>
            <a:pPr lvl="1"/>
            <a:r>
              <a:rPr lang="en-US" dirty="0" smtClean="0"/>
              <a:t>So that a single quote in </a:t>
            </a:r>
            <a:r>
              <a:rPr lang="en-US" dirty="0" err="1" smtClean="0"/>
              <a:t>pword</a:t>
            </a:r>
            <a:r>
              <a:rPr lang="en-US" dirty="0" smtClean="0"/>
              <a:t> would not longer be interpreted as the end of the password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54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306</TotalTime>
  <Words>1619</Words>
  <Application>Microsoft Office PowerPoint</Application>
  <PresentationFormat>On-screen Show (4:3)</PresentationFormat>
  <Paragraphs>497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宋体</vt:lpstr>
      <vt:lpstr>Arial</vt:lpstr>
      <vt:lpstr>Calibri</vt:lpstr>
      <vt:lpstr>Garamond</vt:lpstr>
      <vt:lpstr>Wingdings</vt:lpstr>
      <vt:lpstr>Edge</vt:lpstr>
      <vt:lpstr>CS2102 Database Systems</vt:lpstr>
      <vt:lpstr>Roadmap</vt:lpstr>
      <vt:lpstr>Trigger: Motivation</vt:lpstr>
      <vt:lpstr>Triggers</vt:lpstr>
      <vt:lpstr>Triggers</vt:lpstr>
      <vt:lpstr>Triggers (cont.)</vt:lpstr>
      <vt:lpstr>Triggers (cont.)</vt:lpstr>
      <vt:lpstr>Triggers (cont.)</vt:lpstr>
      <vt:lpstr>Triggers (cont.)</vt:lpstr>
      <vt:lpstr>Triggers (cont.)</vt:lpstr>
      <vt:lpstr>Triggers (cont.)</vt:lpstr>
      <vt:lpstr>Triggers (cont.)</vt:lpstr>
      <vt:lpstr>Triggers (cont.)</vt:lpstr>
      <vt:lpstr>Exercise</vt:lpstr>
      <vt:lpstr>Exercise</vt:lpstr>
      <vt:lpstr>Exercise</vt:lpstr>
      <vt:lpstr>Exercise</vt:lpstr>
      <vt:lpstr>Exercise</vt:lpstr>
      <vt:lpstr>Exercise</vt:lpstr>
      <vt:lpstr>Removing a trigger</vt:lpstr>
      <vt:lpstr>Triggers: Summary</vt:lpstr>
      <vt:lpstr>Roadmap</vt:lpstr>
      <vt:lpstr>Stored Procedures</vt:lpstr>
      <vt:lpstr>Stored Procedures: Example</vt:lpstr>
      <vt:lpstr>Stored Procedures: Example</vt:lpstr>
      <vt:lpstr>Stored Procedures: Example</vt:lpstr>
      <vt:lpstr>Stored Procedures: Local Parameters</vt:lpstr>
      <vt:lpstr>Stored Procedures: Local Parameters</vt:lpstr>
      <vt:lpstr>Stored Procedures: Local Parameters</vt:lpstr>
      <vt:lpstr>Stored Procedures: Local Parameters</vt:lpstr>
      <vt:lpstr>Stored Procedures: Cursors</vt:lpstr>
      <vt:lpstr>Stored Procedures: Cursors</vt:lpstr>
      <vt:lpstr>Stored Procedures: Cursors</vt:lpstr>
      <vt:lpstr>Stored Procedures: Cursors</vt:lpstr>
      <vt:lpstr>Stored Procedures: Cursors</vt:lpstr>
      <vt:lpstr>Stored Procedures: Cursors</vt:lpstr>
      <vt:lpstr>Stored Procedures: Cursors</vt:lpstr>
      <vt:lpstr>Stored Procedures: Function</vt:lpstr>
      <vt:lpstr>Stored Procedures: Function</vt:lpstr>
      <vt:lpstr>Stored Procedures: Function</vt:lpstr>
      <vt:lpstr>Stored Procedures: Exercise</vt:lpstr>
      <vt:lpstr>Stored Procedures: Exercise</vt:lpstr>
      <vt:lpstr>Stored Procedures: Summary</vt:lpstr>
      <vt:lpstr>Roadmap</vt:lpstr>
      <vt:lpstr>PowerPoint Presentation</vt:lpstr>
      <vt:lpstr>SQL Injection Attacks</vt:lpstr>
      <vt:lpstr>SQL Injection Attacks</vt:lpstr>
      <vt:lpstr>SQL Injection Attacks</vt:lpstr>
      <vt:lpstr>What goes wrong?</vt:lpstr>
      <vt:lpstr>Solution 1: Use Prepared Statements</vt:lpstr>
      <vt:lpstr>Solution 1: Use Prepared Statements</vt:lpstr>
      <vt:lpstr>Solution 2: Use Stored Procedures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Xiaokui XIAO</cp:lastModifiedBy>
  <cp:revision>1217</cp:revision>
  <cp:lastPrinted>2014-08-21T04:54:26Z</cp:lastPrinted>
  <dcterms:created xsi:type="dcterms:W3CDTF">2009-03-02T02:47:37Z</dcterms:created>
  <dcterms:modified xsi:type="dcterms:W3CDTF">2019-06-20T07:58:34Z</dcterms:modified>
</cp:coreProperties>
</file>