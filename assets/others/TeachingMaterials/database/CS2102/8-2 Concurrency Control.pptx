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</p:sldMasterIdLst>
  <p:notesMasterIdLst>
    <p:notesMasterId r:id="rId23"/>
  </p:notesMasterIdLst>
  <p:handoutMasterIdLst>
    <p:handoutMasterId r:id="rId24"/>
  </p:handoutMasterIdLst>
  <p:sldIdLst>
    <p:sldId id="257" r:id="rId2"/>
    <p:sldId id="365" r:id="rId3"/>
    <p:sldId id="362" r:id="rId4"/>
    <p:sldId id="363" r:id="rId5"/>
    <p:sldId id="364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401" r:id="rId14"/>
    <p:sldId id="366" r:id="rId15"/>
    <p:sldId id="367" r:id="rId16"/>
    <p:sldId id="368" r:id="rId17"/>
    <p:sldId id="371" r:id="rId18"/>
    <p:sldId id="374" r:id="rId19"/>
    <p:sldId id="384" r:id="rId20"/>
    <p:sldId id="398" r:id="rId21"/>
    <p:sldId id="399" r:id="rId22"/>
  </p:sldIdLst>
  <p:sldSz cx="9144000" cy="6858000" type="screen4x3"/>
  <p:notesSz cx="6669088" cy="9753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008000"/>
    <a:srgbClr val="0000FF"/>
    <a:srgbClr val="FFFFCC"/>
    <a:srgbClr val="FF9900"/>
    <a:srgbClr val="33CC33"/>
    <a:srgbClr val="66FF33"/>
    <a:srgbClr val="CC00CC"/>
    <a:srgbClr val="00CC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1394" autoAdjust="0"/>
  </p:normalViewPr>
  <p:slideViewPr>
    <p:cSldViewPr>
      <p:cViewPr varScale="1">
        <p:scale>
          <a:sx n="135" d="100"/>
          <a:sy n="135" d="100"/>
        </p:scale>
        <p:origin x="341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994" y="2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1A395C66-BAC7-4947-A978-17979EC9EE5D}" type="datetimeFigureOut">
              <a:rPr lang="zh-CN" altLang="en-US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263663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994" y="9263663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4239E3A9-FBC1-4C90-89C7-C86D175BA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708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994" y="2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C874FDD-B067-4E5B-9185-454DDEAB3F7B}" type="datetimeFigureOut">
              <a:rPr lang="zh-CN" altLang="en-US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6938" y="730250"/>
            <a:ext cx="4875212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632961"/>
            <a:ext cx="5335270" cy="4389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263663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994" y="9263663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A4026A9-F546-4A60-85FC-C280A3E995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689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 b="1"/>
            </a:lvl1pPr>
          </a:lstStyle>
          <a:p>
            <a:r>
              <a:rPr lang="en-US" altLang="zh-CN" dirty="0" smtClean="0"/>
              <a:t>Click to edit Master title style</a:t>
            </a:r>
            <a:endParaRPr lang="en-US" altLang="zh-CN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 dirty="0" smtClean="0"/>
              <a:t>Click to edit Master subtitle style</a:t>
            </a:r>
            <a:endParaRPr lang="en-US" altLang="zh-CN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CDC6D-4EE0-4163-813D-9CD3796578B8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893D8-0101-4D6A-B8CF-851210C370A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199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CC542-DA65-4D97-A79C-E6B794CDE341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68A76-9B69-47BF-9E4A-96902B10A1E7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D6CF1-B5B0-45CC-A494-C560F80EF87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93BC6-5129-4551-9A0C-D589C1FA99E0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94451-DE8C-4F17-A5F8-6E9471C791F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4FC51-53E4-4B4A-8408-0D7C776F0E9B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CD14B-0E03-45C4-9CB4-EC1BF9DBC28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9692D-24FD-4BF2-843F-111947BC32F2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499DB-596E-406E-A850-ADBBE4ACAF6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7657F-E8DF-42F6-A122-EC46F94251E9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21A6B-41C5-43CE-82EC-EE99A774C93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453A-18CE-4CCF-8E9D-7173DDA93971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BB9F9-E069-4585-84F6-CF7DDE5C2DA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6D232-B991-4B2D-9ABC-E8235D4C177C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185E5-D22F-4151-B7A0-3D1C0E84A9F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B0466F-4628-4FD0-96E3-BD8917FD5FD0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B01DE-58FC-4595-BD9C-BE624D0330D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B8E33-68C8-450A-AAFD-1D2427969E67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ABE93-1989-44EE-8354-A9E88BBC465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2019/6/20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2019/6/20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2019/6/20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2019/6/20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2019/6/20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  <p:sldLayoutId id="2147484028" r:id="rId12"/>
    <p:sldLayoutId id="2147484029" r:id="rId13"/>
    <p:sldLayoutId id="2147484030" r:id="rId14"/>
    <p:sldLayoutId id="2147484031" r:id="rId15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Calibri" pitchFamily="34" charset="0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Calibri" pitchFamily="34" charset="0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Calibri" pitchFamily="34" charset="0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4400" dirty="0" smtClean="0"/>
              <a:t>CS2102</a:t>
            </a:r>
            <a:r>
              <a:rPr lang="en-US" altLang="zh-CN" sz="4400" dirty="0" smtClean="0"/>
              <a:t/>
            </a:r>
            <a:br>
              <a:rPr lang="en-US" altLang="zh-CN" sz="4400" dirty="0" smtClean="0"/>
            </a:br>
            <a:r>
              <a:rPr lang="en-US" altLang="zh-CN" sz="4400" dirty="0" smtClean="0"/>
              <a:t>Database Systems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1981200" y="3962400"/>
            <a:ext cx="6553200" cy="2538434"/>
          </a:xfrm>
        </p:spPr>
        <p:txBody>
          <a:bodyPr>
            <a:normAutofit/>
          </a:bodyPr>
          <a:lstStyle/>
          <a:p>
            <a:pPr marL="26988" eaLnBrk="1" hangingPunct="1"/>
            <a:endParaRPr lang="en-US" altLang="zh-CN" sz="2600" dirty="0" smtClean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942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Concurrency Control: Motivation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dirty="0"/>
              <a:t>The DB should correctly handle </a:t>
            </a:r>
            <a:r>
              <a:rPr lang="en-US" dirty="0" smtClean="0"/>
              <a:t>tasks </a:t>
            </a:r>
            <a:r>
              <a:rPr lang="en-US" dirty="0"/>
              <a:t>even when many of them are running simultaneously (</a:t>
            </a:r>
            <a:r>
              <a:rPr lang="en-US" dirty="0">
                <a:solidFill>
                  <a:srgbClr val="C00000"/>
                </a:solidFill>
              </a:rPr>
              <a:t>concurrency control</a:t>
            </a:r>
            <a:r>
              <a:rPr lang="en-US" dirty="0"/>
              <a:t>)</a:t>
            </a:r>
          </a:p>
          <a:p>
            <a:r>
              <a:rPr lang="en-US" dirty="0" smtClean="0"/>
              <a:t>Naïve solution: Any at time, let each task do whatever it wants to the database </a:t>
            </a:r>
          </a:p>
          <a:p>
            <a:r>
              <a:rPr lang="en-US" dirty="0" smtClean="0"/>
              <a:t>Problem: Different tasks may interfere with each other</a:t>
            </a: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7734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Anomalies in Concurrent Schedules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19256" cy="168478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Naïve solution: Any at time, let each task do whatever they want to the database </a:t>
            </a:r>
          </a:p>
          <a:p>
            <a:r>
              <a:rPr lang="en-US" dirty="0" smtClean="0"/>
              <a:t>Anomaly 1: </a:t>
            </a:r>
            <a:r>
              <a:rPr lang="en-US" dirty="0" smtClean="0">
                <a:solidFill>
                  <a:srgbClr val="C00000"/>
                </a:solidFill>
              </a:rPr>
              <a:t>Lost Updates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 smtClean="0"/>
              <a:t>Caused by </a:t>
            </a:r>
            <a:r>
              <a:rPr lang="en-US" dirty="0" smtClean="0">
                <a:solidFill>
                  <a:srgbClr val="C00000"/>
                </a:solidFill>
              </a:rPr>
              <a:t>Write-Write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Conflicts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096817499"/>
              </p:ext>
            </p:extLst>
          </p:nvPr>
        </p:nvGraphicFramePr>
        <p:xfrm>
          <a:off x="457200" y="3356992"/>
          <a:ext cx="4038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libri" panose="020F0502020204030204" pitchFamily="34" charset="0"/>
                        </a:rPr>
                        <a:t>Task 1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X = Alice’s Account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Balance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X = 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X + 2000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Alice’s Account Balance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= X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Content Placeholder 8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861859694"/>
              </p:ext>
            </p:extLst>
          </p:nvPr>
        </p:nvGraphicFramePr>
        <p:xfrm>
          <a:off x="4644008" y="3356992"/>
          <a:ext cx="4038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libri" panose="020F0502020204030204" pitchFamily="34" charset="0"/>
                        </a:rPr>
                        <a:t>Task 2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Y = Alice’s Account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Balance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Y = 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Y + 1000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Alice’s Account Balance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= Y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32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/>
        <p:txBody>
          <a:bodyPr>
            <a:normAutofit/>
          </a:bodyPr>
          <a:lstStyle/>
          <a:p>
            <a:r>
              <a:rPr lang="en-US" dirty="0"/>
              <a:t>Anomalies in Concurrent Schedules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19256" cy="168478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Naïve solution: Any at time, let each task do whatever they want to the database </a:t>
            </a:r>
          </a:p>
          <a:p>
            <a:r>
              <a:rPr lang="en-US" dirty="0" smtClean="0"/>
              <a:t>Anomaly </a:t>
            </a:r>
            <a:r>
              <a:rPr lang="en-US" dirty="0"/>
              <a:t>2: </a:t>
            </a:r>
            <a:r>
              <a:rPr lang="en-US" dirty="0">
                <a:solidFill>
                  <a:srgbClr val="C00000"/>
                </a:solidFill>
              </a:rPr>
              <a:t>Dirty </a:t>
            </a:r>
            <a:r>
              <a:rPr lang="en-US" dirty="0" smtClean="0">
                <a:solidFill>
                  <a:srgbClr val="C00000"/>
                </a:solidFill>
              </a:rPr>
              <a:t>Read</a:t>
            </a:r>
          </a:p>
          <a:p>
            <a:r>
              <a:rPr lang="en-US" dirty="0"/>
              <a:t>Caused by </a:t>
            </a:r>
            <a:r>
              <a:rPr lang="en-US" dirty="0" smtClean="0">
                <a:solidFill>
                  <a:srgbClr val="C00000"/>
                </a:solidFill>
              </a:rPr>
              <a:t>Write-Read</a:t>
            </a:r>
            <a:r>
              <a:rPr lang="en-US" dirty="0" smtClean="0"/>
              <a:t> </a:t>
            </a:r>
            <a:r>
              <a:rPr lang="en-US" dirty="0">
                <a:solidFill>
                  <a:srgbClr val="C00000"/>
                </a:solidFill>
              </a:rPr>
              <a:t>Conflicts</a:t>
            </a:r>
          </a:p>
          <a:p>
            <a:endParaRPr lang="en-US" dirty="0"/>
          </a:p>
        </p:txBody>
      </p:sp>
      <p:graphicFrame>
        <p:nvGraphicFramePr>
          <p:cNvPr id="10" name="Content Placeholder 8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29658378"/>
              </p:ext>
            </p:extLst>
          </p:nvPr>
        </p:nvGraphicFramePr>
        <p:xfrm>
          <a:off x="4644008" y="3356992"/>
          <a:ext cx="4038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libri" panose="020F0502020204030204" pitchFamily="34" charset="0"/>
                        </a:rPr>
                        <a:t>Task 2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alibri" panose="020F0502020204030204" pitchFamily="34" charset="0"/>
                        </a:rPr>
                        <a:t>Check Alice’s total account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balance</a:t>
                      </a: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If balance &lt; 5000,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issue a warning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ontent Placeholder 8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36077877"/>
              </p:ext>
            </p:extLst>
          </p:nvPr>
        </p:nvGraphicFramePr>
        <p:xfrm>
          <a:off x="457200" y="3356992"/>
          <a:ext cx="4038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libri" panose="020F0502020204030204" pitchFamily="34" charset="0"/>
                        </a:rPr>
                        <a:t>Task 1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Deduct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1000 from Alice’s account 1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alibri" panose="020F0502020204030204" pitchFamily="34" charset="0"/>
                        </a:rPr>
                        <a:t>Add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1000 to Alice’s account 2</a:t>
                      </a: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264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/>
        <p:txBody>
          <a:bodyPr>
            <a:normAutofit/>
          </a:bodyPr>
          <a:lstStyle/>
          <a:p>
            <a:r>
              <a:rPr lang="en-US" dirty="0"/>
              <a:t>Anomalies in Concurrent Schedules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19256" cy="168478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Naïve solution: Any at time, let each task do whatever they want to the database </a:t>
            </a:r>
          </a:p>
          <a:p>
            <a:r>
              <a:rPr lang="en-US" dirty="0" smtClean="0"/>
              <a:t>Anomaly 3: </a:t>
            </a:r>
            <a:r>
              <a:rPr lang="en-US" dirty="0">
                <a:solidFill>
                  <a:srgbClr val="C00000"/>
                </a:solidFill>
              </a:rPr>
              <a:t>Unrepeatable Read</a:t>
            </a:r>
          </a:p>
          <a:p>
            <a:r>
              <a:rPr lang="en-US" dirty="0" smtClean="0"/>
              <a:t>Caused </a:t>
            </a:r>
            <a:r>
              <a:rPr lang="en-US" dirty="0"/>
              <a:t>by </a:t>
            </a:r>
            <a:r>
              <a:rPr lang="en-US" dirty="0" smtClean="0">
                <a:solidFill>
                  <a:srgbClr val="C00000"/>
                </a:solidFill>
              </a:rPr>
              <a:t>Read-Write</a:t>
            </a:r>
            <a:r>
              <a:rPr lang="en-US" dirty="0" smtClean="0"/>
              <a:t> </a:t>
            </a:r>
            <a:r>
              <a:rPr lang="en-US" dirty="0">
                <a:solidFill>
                  <a:srgbClr val="C00000"/>
                </a:solidFill>
              </a:rPr>
              <a:t>Conflicts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graphicFrame>
        <p:nvGraphicFramePr>
          <p:cNvPr id="10" name="Content Placeholder 8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074132854"/>
              </p:ext>
            </p:extLst>
          </p:nvPr>
        </p:nvGraphicFramePr>
        <p:xfrm>
          <a:off x="4644008" y="3356992"/>
          <a:ext cx="4038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libri" panose="020F0502020204030204" pitchFamily="34" charset="0"/>
                        </a:rPr>
                        <a:t>Task 2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alibri" panose="020F0502020204030204" pitchFamily="34" charset="0"/>
                        </a:rPr>
                        <a:t>Add 1000 to Alice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’s account 1</a:t>
                      </a: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ontent Placeholder 8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400979031"/>
              </p:ext>
            </p:extLst>
          </p:nvPr>
        </p:nvGraphicFramePr>
        <p:xfrm>
          <a:off x="457200" y="3356992"/>
          <a:ext cx="4038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libri" panose="020F0502020204030204" pitchFamily="34" charset="0"/>
                        </a:rPr>
                        <a:t>Task 1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X = 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Alice’s account 1 balance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Y = Alice’s total account balance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alibri" panose="020F0502020204030204" pitchFamily="34" charset="0"/>
                        </a:rPr>
                        <a:t> </a:t>
                      </a: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alibri" panose="020F0502020204030204" pitchFamily="34" charset="0"/>
                        </a:rPr>
                        <a:t>If X &lt; Y/2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then issue a warning</a:t>
                      </a: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5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Concurrency Control: Motivation (cont.)</a:t>
            </a:r>
            <a:endParaRPr lang="en-SG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Write-Write Conflicts</a:t>
            </a:r>
          </a:p>
          <a:p>
            <a:r>
              <a:rPr lang="en-US" dirty="0" smtClean="0"/>
              <a:t>Write-Read Conflicts</a:t>
            </a:r>
          </a:p>
          <a:p>
            <a:r>
              <a:rPr lang="en-US" dirty="0" smtClean="0"/>
              <a:t>Read-Write Conflicts</a:t>
            </a:r>
          </a:p>
          <a:p>
            <a:endParaRPr lang="en-SG" dirty="0"/>
          </a:p>
          <a:p>
            <a:r>
              <a:rPr lang="en-US" dirty="0" smtClean="0"/>
              <a:t>Concurrency Control: Avoids the above conflicts by imposing an appropriate order on the operations of concurrent tasks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9379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Concurrency Control: </a:t>
            </a:r>
            <a:r>
              <a:rPr lang="en-US" dirty="0" smtClean="0"/>
              <a:t>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40768"/>
          </a:xfrm>
        </p:spPr>
        <p:txBody>
          <a:bodyPr/>
          <a:lstStyle/>
          <a:p>
            <a:r>
              <a:rPr lang="en-US" dirty="0"/>
              <a:t>Concurrency Control: Avoids the above conflicts by imposing an appropriate order on the operations of concurrent tasks</a:t>
            </a:r>
            <a:endParaRPr lang="en-SG" dirty="0"/>
          </a:p>
          <a:p>
            <a:endParaRPr lang="en-SG" dirty="0"/>
          </a:p>
        </p:txBody>
      </p:sp>
      <p:graphicFrame>
        <p:nvGraphicFramePr>
          <p:cNvPr id="4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8244642"/>
              </p:ext>
            </p:extLst>
          </p:nvPr>
        </p:nvGraphicFramePr>
        <p:xfrm>
          <a:off x="457200" y="3356992"/>
          <a:ext cx="4038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libri" panose="020F0502020204030204" pitchFamily="34" charset="0"/>
                        </a:rPr>
                        <a:t>Task 1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X = Alice’s Account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Balance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X = 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X + 2000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Alice’s Account Balance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= X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4991525"/>
              </p:ext>
            </p:extLst>
          </p:nvPr>
        </p:nvGraphicFramePr>
        <p:xfrm>
          <a:off x="4644008" y="3356992"/>
          <a:ext cx="4038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libri" panose="020F0502020204030204" pitchFamily="34" charset="0"/>
                        </a:rPr>
                        <a:t>Task 2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Y = Alice’s Account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Balance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Y = 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Y + 1000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Alice’s Account Balance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= Y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5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Concurrency Control: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40768"/>
          </a:xfrm>
        </p:spPr>
        <p:txBody>
          <a:bodyPr/>
          <a:lstStyle/>
          <a:p>
            <a:r>
              <a:rPr lang="en-US" dirty="0"/>
              <a:t>Concurrency Control: Avoids the above conflicts by imposing an appropriate order on the operations of concurrent tasks</a:t>
            </a:r>
            <a:endParaRPr lang="en-SG" dirty="0"/>
          </a:p>
          <a:p>
            <a:endParaRPr lang="en-SG" dirty="0"/>
          </a:p>
        </p:txBody>
      </p:sp>
      <p:graphicFrame>
        <p:nvGraphicFramePr>
          <p:cNvPr id="4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6550282"/>
              </p:ext>
            </p:extLst>
          </p:nvPr>
        </p:nvGraphicFramePr>
        <p:xfrm>
          <a:off x="457200" y="3356992"/>
          <a:ext cx="4038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libri" panose="020F0502020204030204" pitchFamily="34" charset="0"/>
                        </a:rPr>
                        <a:t>Task 1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X = Alice’s Account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Balance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alibri" panose="020F0502020204030204" pitchFamily="34" charset="0"/>
                        </a:rPr>
                        <a:t>X = 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X + 2000</a:t>
                      </a: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alibri" panose="020F0502020204030204" pitchFamily="34" charset="0"/>
                        </a:rPr>
                        <a:t>Alice’s Account Balance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= X</a:t>
                      </a: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1553454"/>
              </p:ext>
            </p:extLst>
          </p:nvPr>
        </p:nvGraphicFramePr>
        <p:xfrm>
          <a:off x="4644008" y="3356992"/>
          <a:ext cx="4038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libri" panose="020F0502020204030204" pitchFamily="34" charset="0"/>
                        </a:rPr>
                        <a:t>Task 2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alibri" panose="020F0502020204030204" pitchFamily="34" charset="0"/>
                        </a:rPr>
                        <a:t>Y = Alice’s Account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Balance</a:t>
                      </a: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alibri" panose="020F0502020204030204" pitchFamily="34" charset="0"/>
                        </a:rPr>
                        <a:t>Y = 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Y + 1000</a:t>
                      </a: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Alice’s Account Balance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= Y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68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Transaction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556991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 concept introduced to capture the requirements of database concurrency control and recovery</a:t>
            </a:r>
          </a:p>
          <a:p>
            <a:r>
              <a:rPr lang="en-US" dirty="0" smtClean="0"/>
              <a:t>Definition: A transaction comprises one of more </a:t>
            </a:r>
            <a:r>
              <a:rPr lang="en-US" dirty="0"/>
              <a:t>DB </a:t>
            </a:r>
            <a:r>
              <a:rPr lang="en-US" dirty="0" smtClean="0"/>
              <a:t>operations that are treated as an </a:t>
            </a:r>
            <a:r>
              <a:rPr lang="en-US" dirty="0" smtClean="0">
                <a:solidFill>
                  <a:srgbClr val="C00000"/>
                </a:solidFill>
              </a:rPr>
              <a:t>indivisible</a:t>
            </a:r>
            <a:r>
              <a:rPr lang="en-US" dirty="0" smtClean="0"/>
              <a:t> unit of work</a:t>
            </a:r>
          </a:p>
          <a:p>
            <a:pPr lvl="1"/>
            <a:r>
              <a:rPr lang="en-US" dirty="0" smtClean="0"/>
              <a:t>i.e., the operations in a transactions are either (i) all executed, or (ii) all cancelled</a:t>
            </a:r>
          </a:p>
          <a:p>
            <a:r>
              <a:rPr lang="en-US" dirty="0" smtClean="0"/>
              <a:t>Example: </a:t>
            </a:r>
            <a:endParaRPr lang="en-SG" dirty="0"/>
          </a:p>
        </p:txBody>
      </p:sp>
      <p:graphicFrame>
        <p:nvGraphicFramePr>
          <p:cNvPr id="4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7862918"/>
              </p:ext>
            </p:extLst>
          </p:nvPr>
        </p:nvGraphicFramePr>
        <p:xfrm>
          <a:off x="2693640" y="4908768"/>
          <a:ext cx="4038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libri" panose="020F0502020204030204" pitchFamily="34" charset="0"/>
                        </a:rPr>
                        <a:t>Transaction T</a:t>
                      </a:r>
                      <a:r>
                        <a:rPr lang="en-US" baseline="-25000" dirty="0" smtClean="0">
                          <a:latin typeface="Calibri" panose="020F0502020204030204" pitchFamily="34" charset="0"/>
                        </a:rPr>
                        <a:t>1</a:t>
                      </a:r>
                      <a:endParaRPr lang="en-SG" baseline="-250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libri" panose="020F0502020204030204" pitchFamily="34" charset="0"/>
                        </a:rPr>
                        <a:t>Deduct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1000 from Alice’s account</a:t>
                      </a:r>
                      <a:endParaRPr lang="en-S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alibri" panose="020F0502020204030204" pitchFamily="34" charset="0"/>
                        </a:rPr>
                        <a:t>Add</a:t>
                      </a:r>
                      <a:r>
                        <a:rPr lang="en-US" baseline="0" dirty="0" smtClean="0">
                          <a:latin typeface="Calibri" panose="020F0502020204030204" pitchFamily="34" charset="0"/>
                        </a:rPr>
                        <a:t> 1000 to Bob’s account</a:t>
                      </a:r>
                      <a:endParaRPr lang="en-SG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521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Transactions in Applications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START TRANSACTION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[SQL Statements and others]</a:t>
            </a:r>
            <a:br>
              <a:rPr lang="en-US" dirty="0" smtClean="0"/>
            </a:br>
            <a:r>
              <a:rPr lang="en-US" dirty="0" smtClean="0">
                <a:solidFill>
                  <a:srgbClr val="C00000"/>
                </a:solidFill>
              </a:rPr>
              <a:t>COMMIT</a:t>
            </a:r>
          </a:p>
          <a:p>
            <a:endParaRPr lang="en-US" sz="2000" dirty="0"/>
          </a:p>
          <a:p>
            <a:r>
              <a:rPr lang="en-US" dirty="0" smtClean="0"/>
              <a:t>or</a:t>
            </a:r>
          </a:p>
          <a:p>
            <a:endParaRPr lang="en-US" sz="2000" dirty="0" smtClean="0"/>
          </a:p>
          <a:p>
            <a:r>
              <a:rPr lang="en-US" dirty="0">
                <a:solidFill>
                  <a:srgbClr val="C00000"/>
                </a:solidFill>
              </a:rPr>
              <a:t>START </a:t>
            </a:r>
            <a:r>
              <a:rPr lang="en-US" dirty="0" smtClean="0">
                <a:solidFill>
                  <a:srgbClr val="C00000"/>
                </a:solidFill>
              </a:rPr>
              <a:t>TRANSACTION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[SQL </a:t>
            </a:r>
            <a:r>
              <a:rPr lang="en-US" dirty="0" smtClean="0"/>
              <a:t>Statements and others]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solidFill>
                  <a:srgbClr val="C00000"/>
                </a:solidFill>
              </a:rPr>
              <a:t>ROLLBACK</a:t>
            </a:r>
            <a:endParaRPr lang="en-US" dirty="0">
              <a:solidFill>
                <a:srgbClr val="C00000"/>
              </a:solidFill>
            </a:endParaRP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5482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Transactions in Applications: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Purpose: To transfer 1000 from account 1 to account 2</a:t>
            </a:r>
          </a:p>
          <a:p>
            <a:r>
              <a:rPr lang="en-US" dirty="0" smtClean="0"/>
              <a:t>Pseudo-code (i.e., informal and high-level description of a computer program):</a:t>
            </a:r>
            <a:endParaRPr lang="en-US" dirty="0"/>
          </a:p>
          <a:p>
            <a:r>
              <a:rPr lang="en-US" dirty="0" smtClean="0">
                <a:solidFill>
                  <a:srgbClr val="C00000"/>
                </a:solidFill>
              </a:rPr>
              <a:t>START TRANSACTION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X = Account1.balance</a:t>
            </a:r>
            <a:br>
              <a:rPr lang="en-US" dirty="0" smtClean="0"/>
            </a:br>
            <a:r>
              <a:rPr lang="en-US" dirty="0" smtClean="0"/>
              <a:t>If X &gt;= 1000 then </a:t>
            </a:r>
            <a:br>
              <a:rPr lang="en-US" dirty="0" smtClean="0"/>
            </a:b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	Account1.balance = X – 1000;</a:t>
            </a:r>
            <a:br>
              <a:rPr lang="en-US" dirty="0" smtClean="0"/>
            </a:br>
            <a:r>
              <a:rPr lang="en-US" dirty="0" smtClean="0"/>
              <a:t>	Y = Account2.balance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r>
              <a:rPr lang="en-US" dirty="0" smtClean="0"/>
              <a:t>Account2.balance </a:t>
            </a:r>
            <a:r>
              <a:rPr lang="en-US" dirty="0"/>
              <a:t>= </a:t>
            </a:r>
            <a:r>
              <a:rPr lang="en-US" dirty="0" smtClean="0"/>
              <a:t>Y </a:t>
            </a:r>
            <a:r>
              <a:rPr lang="en-US" dirty="0"/>
              <a:t>– 1000;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COMMIT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>else</a:t>
            </a:r>
            <a:br>
              <a:rPr lang="en-US" dirty="0" smtClean="0"/>
            </a:b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	Prompt(“Transfer denied!”);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ROLLBACK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/>
              <a:t>}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1564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Properties of Transactions: ACID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tomicity</a:t>
            </a:r>
          </a:p>
          <a:p>
            <a:pPr lvl="1"/>
            <a:r>
              <a:rPr lang="en-US" dirty="0" smtClean="0"/>
              <a:t>Either all operations are executed, or none of them is executed (i.e., either commit or rollback)</a:t>
            </a:r>
          </a:p>
          <a:p>
            <a:r>
              <a:rPr lang="en-US" dirty="0">
                <a:solidFill>
                  <a:srgbClr val="C00000"/>
                </a:solidFill>
              </a:rPr>
              <a:t>C</a:t>
            </a:r>
            <a:r>
              <a:rPr lang="en-US" dirty="0"/>
              <a:t>onsistency</a:t>
            </a:r>
          </a:p>
          <a:p>
            <a:pPr lvl="1"/>
            <a:r>
              <a:rPr lang="en-US" dirty="0"/>
              <a:t>The DB should be in a consistent state after all operations in a transaction are executed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I</a:t>
            </a:r>
            <a:r>
              <a:rPr lang="en-US" dirty="0" smtClean="0"/>
              <a:t>solation</a:t>
            </a:r>
            <a:endParaRPr lang="en-US" dirty="0"/>
          </a:p>
          <a:p>
            <a:pPr lvl="1"/>
            <a:r>
              <a:rPr lang="en-US" dirty="0" smtClean="0"/>
              <a:t>Transactions should not interfere with each other (i.e., concurrent transactions should “feel” that they are non-concurrent)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urability</a:t>
            </a:r>
            <a:endParaRPr lang="en-US" dirty="0"/>
          </a:p>
          <a:p>
            <a:pPr lvl="1"/>
            <a:r>
              <a:rPr lang="en-US" dirty="0" smtClean="0"/>
              <a:t>Committed transactions cannot be rolled back (i.e., changes are written to the disk)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0231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Methods for Concurrency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13287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Locks</a:t>
            </a:r>
          </a:p>
          <a:p>
            <a:pPr lvl="1"/>
            <a:r>
              <a:rPr lang="en-US" dirty="0" smtClean="0"/>
              <a:t>Basic idea: use locks to ensure avoid read-write conflicts and write-write conflicts</a:t>
            </a:r>
          </a:p>
          <a:p>
            <a:pPr lvl="1"/>
            <a:r>
              <a:rPr lang="en-US" dirty="0" smtClean="0"/>
              <a:t>"What if I want to access something but it is locked?"</a:t>
            </a:r>
          </a:p>
          <a:p>
            <a:pPr lvl="1"/>
            <a:r>
              <a:rPr lang="en-US" dirty="0" smtClean="0"/>
              <a:t>You need to wait…</a:t>
            </a:r>
          </a:p>
          <a:p>
            <a:r>
              <a:rPr lang="en-US" dirty="0" smtClean="0"/>
              <a:t>Optimistic concurrency control</a:t>
            </a:r>
          </a:p>
          <a:p>
            <a:pPr lvl="1"/>
            <a:r>
              <a:rPr lang="en-US" dirty="0" smtClean="0"/>
              <a:t>Basic idea: let everyone work a "logical copy" of the database</a:t>
            </a:r>
          </a:p>
          <a:p>
            <a:pPr lvl="1"/>
            <a:r>
              <a:rPr lang="en-US" dirty="0" smtClean="0"/>
              <a:t>At the time of commit, check whether the "logical copy" is in conflict with the current database</a:t>
            </a:r>
          </a:p>
          <a:p>
            <a:pPr lvl="1"/>
            <a:r>
              <a:rPr lang="en-US" dirty="0" smtClean="0"/>
              <a:t>If it is in conflict, then roll back</a:t>
            </a:r>
          </a:p>
          <a:p>
            <a:r>
              <a:rPr lang="en-US" dirty="0" smtClean="0"/>
              <a:t>More details in CS3223 Database Systems Implementation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35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on Concurrency Control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Isolation levels</a:t>
            </a:r>
          </a:p>
          <a:p>
            <a:r>
              <a:rPr lang="en-US" dirty="0" smtClean="0"/>
              <a:t>Snapshot isolation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756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Isolation Levels: Motivation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Suppose that</a:t>
            </a:r>
          </a:p>
          <a:p>
            <a:pPr lvl="1"/>
            <a:r>
              <a:rPr lang="en-US" dirty="0" smtClean="0"/>
              <a:t>you want to read something from a table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he database is using </a:t>
            </a:r>
            <a:r>
              <a:rPr lang="en-US" dirty="0" smtClean="0"/>
              <a:t>locks</a:t>
            </a:r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START TRANSACTION</a:t>
            </a:r>
            <a:r>
              <a:rPr lang="en-SG" dirty="0"/>
              <a:t/>
            </a:r>
            <a:br>
              <a:rPr lang="en-SG" dirty="0"/>
            </a:br>
            <a:r>
              <a:rPr lang="en-US" dirty="0" smtClean="0"/>
              <a:t>SELECT xxx </a:t>
            </a:r>
            <a:br>
              <a:rPr lang="en-US" dirty="0" smtClean="0"/>
            </a:br>
            <a:r>
              <a:rPr lang="en-US" dirty="0" smtClean="0"/>
              <a:t>FROM </a:t>
            </a:r>
            <a:r>
              <a:rPr lang="en-US" dirty="0" err="1" smtClean="0"/>
              <a:t>yyy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zzz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…</a:t>
            </a:r>
            <a:br>
              <a:rPr lang="en-US" dirty="0" smtClean="0"/>
            </a:br>
            <a:r>
              <a:rPr lang="en-US" dirty="0" smtClean="0"/>
              <a:t>COMMIT</a:t>
            </a:r>
          </a:p>
          <a:p>
            <a:r>
              <a:rPr lang="en-US" dirty="0" smtClean="0"/>
              <a:t>The database will apply for locks for your transaction</a:t>
            </a:r>
          </a:p>
          <a:p>
            <a:r>
              <a:rPr lang="en-US" dirty="0" smtClean="0"/>
              <a:t>You may need to wait</a:t>
            </a:r>
          </a:p>
          <a:p>
            <a:r>
              <a:rPr lang="en-US" dirty="0" smtClean="0"/>
              <a:t>But what if you don’t want to wait, and you don’t mind reading some value that is being changed?</a:t>
            </a:r>
          </a:p>
        </p:txBody>
      </p:sp>
    </p:spTree>
    <p:extLst>
      <p:ext uri="{BB962C8B-B14F-4D97-AF65-F5344CB8AC3E}">
        <p14:creationId xmlns:p14="http://schemas.microsoft.com/office/powerpoint/2010/main" val="313755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Isolation Levels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507288" cy="493417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Suppose that</a:t>
            </a:r>
          </a:p>
          <a:p>
            <a:pPr lvl="1"/>
            <a:r>
              <a:rPr lang="en-US" dirty="0" smtClean="0"/>
              <a:t>you want to read something from a table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he database is using 2PL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SET TRANSCTION ISOLATIONAL LEVEL </a:t>
            </a:r>
            <a:r>
              <a:rPr lang="en-US" dirty="0" smtClean="0">
                <a:solidFill>
                  <a:srgbClr val="C00000"/>
                </a:solidFill>
              </a:rPr>
              <a:t>READ UNCOMMITED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START TRANSACTION</a:t>
            </a:r>
            <a:r>
              <a:rPr lang="en-SG" dirty="0"/>
              <a:t/>
            </a:r>
            <a:br>
              <a:rPr lang="en-SG" dirty="0"/>
            </a:br>
            <a:r>
              <a:rPr lang="en-US" dirty="0" smtClean="0"/>
              <a:t>SELECT xxx </a:t>
            </a:r>
            <a:br>
              <a:rPr lang="en-US" dirty="0" smtClean="0"/>
            </a:br>
            <a:r>
              <a:rPr lang="en-US" dirty="0" smtClean="0"/>
              <a:t>FROM </a:t>
            </a:r>
            <a:r>
              <a:rPr lang="en-US" dirty="0" err="1" smtClean="0"/>
              <a:t>yyy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zzz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…</a:t>
            </a:r>
            <a:br>
              <a:rPr lang="en-US" dirty="0" smtClean="0"/>
            </a:br>
            <a:r>
              <a:rPr lang="en-US" dirty="0" smtClean="0"/>
              <a:t>COMMIT</a:t>
            </a:r>
          </a:p>
          <a:p>
            <a:r>
              <a:rPr lang="en-US" dirty="0" smtClean="0"/>
              <a:t>The database will apply for locks for your transaction</a:t>
            </a:r>
          </a:p>
          <a:p>
            <a:r>
              <a:rPr lang="en-US" dirty="0" smtClean="0"/>
              <a:t>You may need to wait</a:t>
            </a:r>
          </a:p>
          <a:p>
            <a:r>
              <a:rPr lang="en-US" dirty="0" smtClean="0"/>
              <a:t>But what if you don’t want to wait, and you don’t mind reading some value that is being changed?</a:t>
            </a:r>
          </a:p>
        </p:txBody>
      </p:sp>
    </p:spTree>
    <p:extLst>
      <p:ext uri="{BB962C8B-B14F-4D97-AF65-F5344CB8AC3E}">
        <p14:creationId xmlns:p14="http://schemas.microsoft.com/office/powerpoint/2010/main" val="195681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Isolation Levels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507288" cy="493417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Suppose that</a:t>
            </a:r>
          </a:p>
          <a:p>
            <a:pPr lvl="1"/>
            <a:r>
              <a:rPr lang="en-US" dirty="0" smtClean="0"/>
              <a:t>you want to read something from a table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he database is using 2PL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SET TRANSCTION ISOLATIONAL LEVEL </a:t>
            </a:r>
            <a:r>
              <a:rPr lang="en-US" dirty="0" smtClean="0">
                <a:solidFill>
                  <a:srgbClr val="C00000"/>
                </a:solidFill>
              </a:rPr>
              <a:t>READ COMMITED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START TRANSACTION</a:t>
            </a:r>
            <a:r>
              <a:rPr lang="en-SG" dirty="0"/>
              <a:t/>
            </a:r>
            <a:br>
              <a:rPr lang="en-SG" dirty="0"/>
            </a:br>
            <a:r>
              <a:rPr lang="en-US" dirty="0" smtClean="0"/>
              <a:t>SELECT xxx </a:t>
            </a:r>
            <a:br>
              <a:rPr lang="en-US" dirty="0" smtClean="0"/>
            </a:br>
            <a:r>
              <a:rPr lang="en-US" dirty="0" smtClean="0"/>
              <a:t>FROM </a:t>
            </a:r>
            <a:r>
              <a:rPr lang="en-US" dirty="0" err="1" smtClean="0"/>
              <a:t>yyy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zzz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…</a:t>
            </a:r>
            <a:br>
              <a:rPr lang="en-US" dirty="0" smtClean="0"/>
            </a:br>
            <a:r>
              <a:rPr lang="en-US" dirty="0" smtClean="0"/>
              <a:t>COMMIT</a:t>
            </a:r>
          </a:p>
          <a:p>
            <a:r>
              <a:rPr lang="en-US" dirty="0" smtClean="0"/>
              <a:t>The database will apply for locks for your transaction</a:t>
            </a:r>
          </a:p>
          <a:p>
            <a:r>
              <a:rPr lang="en-US" dirty="0" smtClean="0"/>
              <a:t>You may need to wait</a:t>
            </a:r>
          </a:p>
          <a:p>
            <a:r>
              <a:rPr lang="en-US" dirty="0" smtClean="0"/>
              <a:t>But what if you don’t want to wait, and you don’t mind reading some value that is being changed?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2771800" y="3068960"/>
            <a:ext cx="6192688" cy="1055608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457200" marR="0" indent="-45720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宋体" pitchFamily="2" charset="-122"/>
              </a:rPr>
              <a:t>Now you will read only committed values</a:t>
            </a:r>
            <a:endParaRPr kumimoji="0" lang="en-SG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125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Isolation Levels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507288" cy="493417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Suppose that</a:t>
            </a:r>
          </a:p>
          <a:p>
            <a:pPr lvl="1"/>
            <a:r>
              <a:rPr lang="en-US" dirty="0" smtClean="0"/>
              <a:t>you want to read something from a table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he database is using 2PL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SET TRANSCTION ISOLATIONAL LEVEL </a:t>
            </a:r>
            <a:r>
              <a:rPr lang="en-US" dirty="0" smtClean="0">
                <a:solidFill>
                  <a:srgbClr val="C00000"/>
                </a:solidFill>
              </a:rPr>
              <a:t>REPEATABLE READ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START TRANSACTION</a:t>
            </a:r>
            <a:r>
              <a:rPr lang="en-SG" dirty="0"/>
              <a:t/>
            </a:r>
            <a:br>
              <a:rPr lang="en-SG" dirty="0"/>
            </a:br>
            <a:r>
              <a:rPr lang="en-US" dirty="0" smtClean="0"/>
              <a:t>SELECT xxx </a:t>
            </a:r>
            <a:br>
              <a:rPr lang="en-US" dirty="0" smtClean="0"/>
            </a:br>
            <a:r>
              <a:rPr lang="en-US" dirty="0" smtClean="0"/>
              <a:t>FROM </a:t>
            </a:r>
            <a:r>
              <a:rPr lang="en-US" dirty="0" err="1" smtClean="0"/>
              <a:t>yyy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zzz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…</a:t>
            </a:r>
            <a:br>
              <a:rPr lang="en-US" dirty="0" smtClean="0"/>
            </a:br>
            <a:r>
              <a:rPr lang="en-US" dirty="0" smtClean="0"/>
              <a:t>COMMIT</a:t>
            </a:r>
          </a:p>
          <a:p>
            <a:r>
              <a:rPr lang="en-US" dirty="0" smtClean="0"/>
              <a:t>The database will apply for locks for your transaction</a:t>
            </a:r>
          </a:p>
          <a:p>
            <a:r>
              <a:rPr lang="en-US" dirty="0" smtClean="0"/>
              <a:t>You may need to wait</a:t>
            </a:r>
          </a:p>
          <a:p>
            <a:r>
              <a:rPr lang="en-US" dirty="0" smtClean="0"/>
              <a:t>But what if you don’t want to wait, and you don’t mind reading some value that is being changed?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2771800" y="2976786"/>
            <a:ext cx="6192688" cy="1532334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457200" marR="0" indent="-45720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 smtClean="0">
                <a:ea typeface="宋体" pitchFamily="2" charset="-122"/>
              </a:rPr>
              <a:t>No one can change the value that you have read before you are done.</a:t>
            </a:r>
            <a:endParaRPr lang="en-US" sz="2800" dirty="0" smtClean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887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Isolation Levels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507288" cy="493417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Suppose that</a:t>
            </a:r>
          </a:p>
          <a:p>
            <a:pPr lvl="1"/>
            <a:r>
              <a:rPr lang="en-US" dirty="0" smtClean="0"/>
              <a:t>you want to read something from a table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he database is using 2PL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SET TRANSCTION ISOLATIONAL LEVEL </a:t>
            </a:r>
            <a:r>
              <a:rPr lang="en-US" dirty="0" smtClean="0">
                <a:solidFill>
                  <a:srgbClr val="C00000"/>
                </a:solidFill>
              </a:rPr>
              <a:t>SERIALIZABLE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START TRANSACTION</a:t>
            </a:r>
            <a:r>
              <a:rPr lang="en-SG" dirty="0"/>
              <a:t/>
            </a:r>
            <a:br>
              <a:rPr lang="en-SG" dirty="0"/>
            </a:br>
            <a:r>
              <a:rPr lang="en-US" dirty="0" smtClean="0"/>
              <a:t>SELECT xxx </a:t>
            </a:r>
            <a:br>
              <a:rPr lang="en-US" dirty="0" smtClean="0"/>
            </a:br>
            <a:r>
              <a:rPr lang="en-US" dirty="0" smtClean="0"/>
              <a:t>FROM </a:t>
            </a:r>
            <a:r>
              <a:rPr lang="en-US" dirty="0" err="1" smtClean="0"/>
              <a:t>yyy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zzz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…</a:t>
            </a:r>
            <a:br>
              <a:rPr lang="en-US" dirty="0" smtClean="0"/>
            </a:br>
            <a:r>
              <a:rPr lang="en-US" dirty="0" smtClean="0"/>
              <a:t>COMMIT</a:t>
            </a:r>
          </a:p>
          <a:p>
            <a:r>
              <a:rPr lang="en-US" dirty="0" smtClean="0"/>
              <a:t>The database will apply for locks for your transaction</a:t>
            </a:r>
          </a:p>
          <a:p>
            <a:r>
              <a:rPr lang="en-US" dirty="0" smtClean="0"/>
              <a:t>You may need to wait</a:t>
            </a:r>
          </a:p>
          <a:p>
            <a:r>
              <a:rPr lang="en-US" dirty="0" smtClean="0"/>
              <a:t>But what if you don’t want to wait, and you don’t mind reading some value that is being changed?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2771800" y="3068960"/>
            <a:ext cx="6192688" cy="1055608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457200" marR="0" indent="-45720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宋体" pitchFamily="2" charset="-122"/>
              </a:rPr>
              <a:t>Highest</a:t>
            </a:r>
            <a:r>
              <a:rPr kumimoji="0" lang="en-US" sz="28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ea typeface="宋体" pitchFamily="2" charset="-122"/>
              </a:rPr>
              <a:t> level of concurrency control</a:t>
            </a:r>
            <a:endParaRPr kumimoji="0" lang="en-SG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838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Isolation Level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default isolation level of many databases…</a:t>
            </a:r>
          </a:p>
          <a:p>
            <a:pPr lvl="1"/>
            <a:r>
              <a:rPr lang="en-US" dirty="0" smtClean="0"/>
              <a:t>Oracle</a:t>
            </a:r>
          </a:p>
          <a:p>
            <a:pPr lvl="1"/>
            <a:r>
              <a:rPr lang="en-US" dirty="0" smtClean="0"/>
              <a:t>SQL Server</a:t>
            </a:r>
          </a:p>
          <a:p>
            <a:pPr lvl="1"/>
            <a:r>
              <a:rPr lang="en-US" dirty="0" err="1" smtClean="0"/>
              <a:t>PostgreSQL</a:t>
            </a:r>
            <a:endParaRPr lang="en-US" dirty="0" smtClean="0"/>
          </a:p>
          <a:p>
            <a:pPr lvl="1"/>
            <a:r>
              <a:rPr lang="en-US" dirty="0" smtClean="0"/>
              <a:t>…</a:t>
            </a:r>
          </a:p>
          <a:p>
            <a:r>
              <a:rPr lang="en-US" dirty="0"/>
              <a:t>I</a:t>
            </a:r>
            <a:r>
              <a:rPr lang="en-US" dirty="0" smtClean="0"/>
              <a:t>s READ COMMITTED…</a:t>
            </a:r>
          </a:p>
        </p:txBody>
      </p:sp>
    </p:spTree>
    <p:extLst>
      <p:ext uri="{BB962C8B-B14F-4D97-AF65-F5344CB8AC3E}">
        <p14:creationId xmlns:p14="http://schemas.microsoft.com/office/powerpoint/2010/main" val="67296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Another non-related but useful thing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SET </a:t>
            </a:r>
            <a:r>
              <a:rPr lang="en-US" dirty="0" smtClean="0">
                <a:solidFill>
                  <a:srgbClr val="0000FF"/>
                </a:solidFill>
              </a:rPr>
              <a:t>TRANSCTION READ ONLY</a:t>
            </a:r>
          </a:p>
          <a:p>
            <a:r>
              <a:rPr lang="en-US" dirty="0" smtClean="0"/>
              <a:t>START TRANSACTION</a:t>
            </a:r>
          </a:p>
          <a:p>
            <a:r>
              <a:rPr lang="en-US" dirty="0" smtClean="0"/>
              <a:t>…</a:t>
            </a:r>
          </a:p>
          <a:p>
            <a:r>
              <a:rPr lang="en-US" dirty="0" smtClean="0"/>
              <a:t>COMMIT</a:t>
            </a:r>
          </a:p>
          <a:p>
            <a:endParaRPr lang="en-US" dirty="0"/>
          </a:p>
          <a:p>
            <a:r>
              <a:rPr lang="en-US" dirty="0" smtClean="0"/>
              <a:t>This tells the database upfront that the transaction will not perform any write</a:t>
            </a:r>
          </a:p>
          <a:p>
            <a:r>
              <a:rPr lang="en-US" dirty="0" smtClean="0"/>
              <a:t>It can help the database </a:t>
            </a:r>
            <a:r>
              <a:rPr lang="en-US" smtClean="0"/>
              <a:t>improve performance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5364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ge">
  <a:themeElements>
    <a:clrScheme name="Edge 12">
      <a:dk1>
        <a:srgbClr val="000000"/>
      </a:dk1>
      <a:lt1>
        <a:srgbClr val="FFFFFF"/>
      </a:lt1>
      <a:dk2>
        <a:srgbClr val="000000"/>
      </a:dk2>
      <a:lt2>
        <a:srgbClr val="666699"/>
      </a:lt2>
      <a:accent1>
        <a:srgbClr val="3366FF"/>
      </a:accent1>
      <a:accent2>
        <a:srgbClr val="3366FF"/>
      </a:accent2>
      <a:accent3>
        <a:srgbClr val="FFFFFF"/>
      </a:accent3>
      <a:accent4>
        <a:srgbClr val="000000"/>
      </a:accent4>
      <a:accent5>
        <a:srgbClr val="ADB8FF"/>
      </a:accent5>
      <a:accent6>
        <a:srgbClr val="2D5CE7"/>
      </a:accent6>
      <a:hlink>
        <a:srgbClr val="006666"/>
      </a:hlink>
      <a:folHlink>
        <a:srgbClr val="B2B2B2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1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0099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008A8A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2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19742</TotalTime>
  <Words>849</Words>
  <Application>Microsoft Office PowerPoint</Application>
  <PresentationFormat>On-screen Show (4:3)</PresentationFormat>
  <Paragraphs>165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宋体</vt:lpstr>
      <vt:lpstr>Arial</vt:lpstr>
      <vt:lpstr>Calibri</vt:lpstr>
      <vt:lpstr>Garamond</vt:lpstr>
      <vt:lpstr>Wingdings</vt:lpstr>
      <vt:lpstr>Edge</vt:lpstr>
      <vt:lpstr>CS2102 Database Systems</vt:lpstr>
      <vt:lpstr>Concurrency Control: Motivation</vt:lpstr>
      <vt:lpstr>Anomalies in Concurrent Schedules</vt:lpstr>
      <vt:lpstr>Anomalies in Concurrent Schedules</vt:lpstr>
      <vt:lpstr>Anomalies in Concurrent Schedules</vt:lpstr>
      <vt:lpstr>Concurrency Control: Motivation (cont.)</vt:lpstr>
      <vt:lpstr>Concurrency Control: Example</vt:lpstr>
      <vt:lpstr>Concurrency Control: Example</vt:lpstr>
      <vt:lpstr>Transaction</vt:lpstr>
      <vt:lpstr>Transactions in Applications</vt:lpstr>
      <vt:lpstr>Transactions in Applications: Example</vt:lpstr>
      <vt:lpstr>Properties of Transactions: ACID</vt:lpstr>
      <vt:lpstr>Methods for Concurrency Control</vt:lpstr>
      <vt:lpstr>More on Concurrency Control</vt:lpstr>
      <vt:lpstr>Isolation Levels: Motivation</vt:lpstr>
      <vt:lpstr>Isolation Levels</vt:lpstr>
      <vt:lpstr>Isolation Levels</vt:lpstr>
      <vt:lpstr>Isolation Levels</vt:lpstr>
      <vt:lpstr>Isolation Levels</vt:lpstr>
      <vt:lpstr>Default Isolation Level</vt:lpstr>
      <vt:lpstr>Another non-related but useful thing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Data Publishing</dc:title>
  <dc:creator>xiaokui</dc:creator>
  <cp:lastModifiedBy>Xiaokui XIAO</cp:lastModifiedBy>
  <cp:revision>1136</cp:revision>
  <cp:lastPrinted>2013-09-12T04:51:00Z</cp:lastPrinted>
  <dcterms:created xsi:type="dcterms:W3CDTF">2009-03-02T02:47:37Z</dcterms:created>
  <dcterms:modified xsi:type="dcterms:W3CDTF">2019-06-20T08:15:55Z</dcterms:modified>
</cp:coreProperties>
</file>