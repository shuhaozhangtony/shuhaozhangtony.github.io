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</p:sldMasterIdLst>
  <p:notesMasterIdLst>
    <p:notesMasterId r:id="rId113"/>
  </p:notesMasterIdLst>
  <p:handoutMasterIdLst>
    <p:handoutMasterId r:id="rId114"/>
  </p:handoutMasterIdLst>
  <p:sldIdLst>
    <p:sldId id="256" r:id="rId2"/>
    <p:sldId id="399" r:id="rId3"/>
    <p:sldId id="398" r:id="rId4"/>
    <p:sldId id="259" r:id="rId5"/>
    <p:sldId id="260" r:id="rId6"/>
    <p:sldId id="261" r:id="rId7"/>
    <p:sldId id="263" r:id="rId8"/>
    <p:sldId id="401" r:id="rId9"/>
    <p:sldId id="266" r:id="rId10"/>
    <p:sldId id="267" r:id="rId11"/>
    <p:sldId id="402" r:id="rId12"/>
    <p:sldId id="404" r:id="rId13"/>
    <p:sldId id="405" r:id="rId14"/>
    <p:sldId id="406" r:id="rId15"/>
    <p:sldId id="407" r:id="rId16"/>
    <p:sldId id="408" r:id="rId17"/>
    <p:sldId id="409" r:id="rId18"/>
    <p:sldId id="268" r:id="rId19"/>
    <p:sldId id="270" r:id="rId20"/>
    <p:sldId id="269" r:id="rId21"/>
    <p:sldId id="412" r:id="rId22"/>
    <p:sldId id="411" r:id="rId23"/>
    <p:sldId id="273" r:id="rId24"/>
    <p:sldId id="272" r:id="rId25"/>
    <p:sldId id="274" r:id="rId26"/>
    <p:sldId id="413" r:id="rId27"/>
    <p:sldId id="275" r:id="rId28"/>
    <p:sldId id="414" r:id="rId29"/>
    <p:sldId id="285" r:id="rId30"/>
    <p:sldId id="286" r:id="rId31"/>
    <p:sldId id="287" r:id="rId32"/>
    <p:sldId id="415" r:id="rId33"/>
    <p:sldId id="290" r:id="rId34"/>
    <p:sldId id="326" r:id="rId35"/>
    <p:sldId id="312" r:id="rId36"/>
    <p:sldId id="323" r:id="rId37"/>
    <p:sldId id="291" r:id="rId38"/>
    <p:sldId id="292" r:id="rId39"/>
    <p:sldId id="392" r:id="rId40"/>
    <p:sldId id="393" r:id="rId41"/>
    <p:sldId id="394" r:id="rId42"/>
    <p:sldId id="395" r:id="rId43"/>
    <p:sldId id="396" r:id="rId44"/>
    <p:sldId id="397" r:id="rId45"/>
    <p:sldId id="294" r:id="rId46"/>
    <p:sldId id="295" r:id="rId47"/>
    <p:sldId id="296" r:id="rId48"/>
    <p:sldId id="297" r:id="rId49"/>
    <p:sldId id="299" r:id="rId50"/>
    <p:sldId id="300" r:id="rId51"/>
    <p:sldId id="301" r:id="rId52"/>
    <p:sldId id="305" r:id="rId53"/>
    <p:sldId id="306" r:id="rId54"/>
    <p:sldId id="307" r:id="rId55"/>
    <p:sldId id="308" r:id="rId56"/>
    <p:sldId id="309" r:id="rId57"/>
    <p:sldId id="310" r:id="rId58"/>
    <p:sldId id="572" r:id="rId59"/>
    <p:sldId id="311" r:id="rId60"/>
    <p:sldId id="313" r:id="rId61"/>
    <p:sldId id="317" r:id="rId62"/>
    <p:sldId id="318" r:id="rId63"/>
    <p:sldId id="319" r:id="rId64"/>
    <p:sldId id="320" r:id="rId65"/>
    <p:sldId id="321" r:id="rId66"/>
    <p:sldId id="322" r:id="rId67"/>
    <p:sldId id="355" r:id="rId68"/>
    <p:sldId id="324" r:id="rId69"/>
    <p:sldId id="327" r:id="rId70"/>
    <p:sldId id="328" r:id="rId71"/>
    <p:sldId id="329" r:id="rId72"/>
    <p:sldId id="573" r:id="rId73"/>
    <p:sldId id="330" r:id="rId74"/>
    <p:sldId id="331" r:id="rId75"/>
    <p:sldId id="332" r:id="rId76"/>
    <p:sldId id="334" r:id="rId77"/>
    <p:sldId id="575" r:id="rId78"/>
    <p:sldId id="338" r:id="rId79"/>
    <p:sldId id="341" r:id="rId80"/>
    <p:sldId id="339" r:id="rId81"/>
    <p:sldId id="576" r:id="rId82"/>
    <p:sldId id="347" r:id="rId83"/>
    <p:sldId id="349" r:id="rId84"/>
    <p:sldId id="337" r:id="rId85"/>
    <p:sldId id="351" r:id="rId86"/>
    <p:sldId id="352" r:id="rId87"/>
    <p:sldId id="354" r:id="rId88"/>
    <p:sldId id="577" r:id="rId89"/>
    <p:sldId id="574" r:id="rId90"/>
    <p:sldId id="356" r:id="rId91"/>
    <p:sldId id="357" r:id="rId92"/>
    <p:sldId id="358" r:id="rId93"/>
    <p:sldId id="359" r:id="rId94"/>
    <p:sldId id="361" r:id="rId95"/>
    <p:sldId id="368" r:id="rId96"/>
    <p:sldId id="369" r:id="rId97"/>
    <p:sldId id="363" r:id="rId98"/>
    <p:sldId id="362" r:id="rId99"/>
    <p:sldId id="365" r:id="rId100"/>
    <p:sldId id="366" r:id="rId101"/>
    <p:sldId id="371" r:id="rId102"/>
    <p:sldId id="367" r:id="rId103"/>
    <p:sldId id="373" r:id="rId104"/>
    <p:sldId id="370" r:id="rId105"/>
    <p:sldId id="372" r:id="rId106"/>
    <p:sldId id="375" r:id="rId107"/>
    <p:sldId id="376" r:id="rId108"/>
    <p:sldId id="378" r:id="rId109"/>
    <p:sldId id="377" r:id="rId110"/>
    <p:sldId id="380" r:id="rId111"/>
    <p:sldId id="578" r:id="rId112"/>
  </p:sldIdLst>
  <p:sldSz cx="9144000" cy="6858000" type="screen4x3"/>
  <p:notesSz cx="6669088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CC6600"/>
    <a:srgbClr val="FF9900"/>
    <a:srgbClr val="008000"/>
    <a:srgbClr val="33CC33"/>
    <a:srgbClr val="66FF33"/>
    <a:srgbClr val="CC00CC"/>
    <a:srgbClr val="00CC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882" autoAdjust="0"/>
  </p:normalViewPr>
  <p:slideViewPr>
    <p:cSldViewPr>
      <p:cViewPr varScale="1">
        <p:scale>
          <a:sx n="47" d="100"/>
          <a:sy n="47" d="100"/>
        </p:scale>
        <p:origin x="952" y="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993" y="0"/>
            <a:ext cx="2889938" cy="496332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1A395C66-BAC7-4947-A978-17979EC9EE5D}" type="datetimeFigureOut">
              <a:rPr lang="zh-CN" altLang="en-US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009"/>
            <a:ext cx="2889938" cy="496332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993" y="9428009"/>
            <a:ext cx="2889938" cy="496332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239E3A9-FBC1-4C90-89C7-C86D175BA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708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993" y="0"/>
            <a:ext cx="2889938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C874FDD-B067-4E5B-9185-454DDEAB3F7B}" type="datetimeFigureOut">
              <a:rPr lang="zh-CN" altLang="en-US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4075" y="742950"/>
            <a:ext cx="4960938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5153"/>
            <a:ext cx="533527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009"/>
            <a:ext cx="2889938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993" y="9428009"/>
            <a:ext cx="2889938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4026A9-F546-4A60-85FC-C280A3E99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6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mentioned that it is a pretty dumb robot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56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 b="1"/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CDC6D-4EE0-4163-813D-9CD3796578B8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893D8-0101-4D6A-B8CF-851210C370A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199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CC542-DA65-4D97-A79C-E6B794CDE341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68A76-9B69-47BF-9E4A-96902B10A1E7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D6CF1-B5B0-45CC-A494-C560F80EF87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93BC6-5129-4551-9A0C-D589C1FA99E0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94451-DE8C-4F17-A5F8-6E9471C791F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4FC51-53E4-4B4A-8408-0D7C776F0E9B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CD14B-0E03-45C4-9CB4-EC1BF9DBC28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9692D-24FD-4BF2-843F-111947BC32F2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499DB-596E-406E-A850-ADBBE4ACAF6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7657F-E8DF-42F6-A122-EC46F94251E9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21A6B-41C5-43CE-82EC-EE99A774C93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453A-18CE-4CCF-8E9D-7173DDA93971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BB9F9-E069-4585-84F6-CF7DDE5C2DA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6D232-B991-4B2D-9ABC-E8235D4C177C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185E5-D22F-4151-B7A0-3D1C0E84A9F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0466F-4628-4FD0-96E3-BD8917FD5FD0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B01DE-58FC-4595-BD9C-BE624D0330D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B8E33-68C8-450A-AAFD-1D2427969E67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ABE93-1989-44EE-8354-A9E88BBC465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28" r:id="rId12"/>
    <p:sldLayoutId id="2147484029" r:id="rId13"/>
    <p:sldLayoutId id="2147484030" r:id="rId14"/>
    <p:sldLayoutId id="2147484031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mshinju@gmail.com" TargetMode="External"/><Relationship Id="rId2" Type="http://schemas.openxmlformats.org/officeDocument/2006/relationships/hyperlink" Target="mailto:xkxiao@nus.edu.s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shuhao.zhang@u.nus.edu.s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4400" dirty="0"/>
              <a:t>CS2102 </a:t>
            </a:r>
            <a:br>
              <a:rPr lang="en-US" altLang="zh-CN" sz="4400" dirty="0"/>
            </a:br>
            <a:r>
              <a:rPr lang="en-US" altLang="zh-CN" sz="4400" dirty="0"/>
              <a:t>Database Systems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1981200" y="3962400"/>
            <a:ext cx="6553200" cy="2538434"/>
          </a:xfrm>
        </p:spPr>
        <p:txBody>
          <a:bodyPr>
            <a:normAutofit/>
          </a:bodyPr>
          <a:lstStyle/>
          <a:p>
            <a:pPr marL="26988" eaLnBrk="1" hangingPunct="1"/>
            <a:endParaRPr lang="en-US" altLang="zh-CN" sz="26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6100-5AAC-4862-A176-326DEE70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Lecturers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51609-3A4E-490E-808D-15E893449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Xiaokui XIAO (Cedric)</a:t>
            </a:r>
          </a:p>
          <a:p>
            <a:pPr lvl="1"/>
            <a:r>
              <a:rPr lang="pt-BR" dirty="0"/>
              <a:t>email: </a:t>
            </a:r>
            <a:r>
              <a:rPr lang="pt-BR" dirty="0">
                <a:hlinkClick r:id="rId2"/>
              </a:rPr>
              <a:t>xkxiao@nus.edu.sg</a:t>
            </a:r>
            <a:endParaRPr lang="pt-BR" dirty="0"/>
          </a:p>
          <a:p>
            <a:pPr lvl="1"/>
            <a:r>
              <a:rPr lang="pt-BR" dirty="0"/>
              <a:t>office: COM1-03-25</a:t>
            </a:r>
          </a:p>
          <a:p>
            <a:endParaRPr lang="en-SG" dirty="0"/>
          </a:p>
          <a:p>
            <a:r>
              <a:rPr lang="en-SG" dirty="0" err="1"/>
              <a:t>Jieming</a:t>
            </a:r>
            <a:r>
              <a:rPr lang="en-SG" dirty="0"/>
              <a:t> SHI</a:t>
            </a:r>
          </a:p>
          <a:p>
            <a:pPr lvl="1"/>
            <a:r>
              <a:rPr lang="en-SG" dirty="0"/>
              <a:t>email: </a:t>
            </a:r>
            <a:r>
              <a:rPr lang="en-SG" dirty="0">
                <a:hlinkClick r:id="rId3"/>
              </a:rPr>
              <a:t>jmshinju@gmail.com</a:t>
            </a:r>
            <a:endParaRPr lang="en-SG" dirty="0"/>
          </a:p>
          <a:p>
            <a:pPr lvl="1"/>
            <a:r>
              <a:rPr lang="en-SG" dirty="0"/>
              <a:t>Covers Week 2’s lectures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03FAC-8350-4B91-AFAE-2253DB853E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3717032"/>
            <a:ext cx="1754503" cy="227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5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Teaching Assistant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430117"/>
          </a:xfrm>
        </p:spPr>
        <p:txBody>
          <a:bodyPr>
            <a:normAutofit/>
          </a:bodyPr>
          <a:lstStyle/>
          <a:p>
            <a:r>
              <a:rPr lang="en-SG" dirty="0" err="1"/>
              <a:t>Shuhao</a:t>
            </a:r>
            <a:r>
              <a:rPr lang="en-SG" dirty="0"/>
              <a:t> ZHANG</a:t>
            </a:r>
          </a:p>
          <a:p>
            <a:pPr lvl="1"/>
            <a:r>
              <a:rPr lang="en-SG" dirty="0"/>
              <a:t>email: </a:t>
            </a:r>
            <a:r>
              <a:rPr lang="en-SG" dirty="0">
                <a:hlinkClick r:id="rId2"/>
              </a:rPr>
              <a:t>shuhao.zhang@u.nus.edu.sg</a:t>
            </a:r>
            <a:endParaRPr lang="en-SG" dirty="0"/>
          </a:p>
          <a:p>
            <a:pPr lvl="1"/>
            <a:r>
              <a:rPr lang="en-SG" dirty="0"/>
              <a:t>covers all tutorials</a:t>
            </a:r>
          </a:p>
          <a:p>
            <a:endParaRPr lang="en-SG" dirty="0"/>
          </a:p>
          <a:p>
            <a:r>
              <a:rPr lang="en-SG" dirty="0"/>
              <a:t>Note: </a:t>
            </a:r>
          </a:p>
          <a:p>
            <a:pPr lvl="1"/>
            <a:r>
              <a:rPr lang="en-SG" dirty="0"/>
              <a:t>Tutorials start from Week 2</a:t>
            </a:r>
          </a:p>
          <a:p>
            <a:pPr lvl="1"/>
            <a:r>
              <a:rPr lang="en-SG" dirty="0"/>
              <a:t>We do not take attendance in tutorials</a:t>
            </a:r>
          </a:p>
        </p:txBody>
      </p:sp>
      <p:pic>
        <p:nvPicPr>
          <p:cNvPr id="1026" name="8B9ABE7C-C5AE-41C6-926F-F28AD5DC222B" descr="image1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700808"/>
            <a:ext cx="1440160" cy="192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356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Textbook</a:t>
            </a:r>
            <a:endParaRPr lang="en-S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546848" cy="4530725"/>
          </a:xfrm>
        </p:spPr>
        <p:txBody>
          <a:bodyPr/>
          <a:lstStyle/>
          <a:p>
            <a:r>
              <a:rPr lang="en-US" dirty="0"/>
              <a:t>Database Systems: The Complete Book</a:t>
            </a:r>
          </a:p>
          <a:p>
            <a:pPr lvl="1"/>
            <a:r>
              <a:rPr lang="en-US" sz="2800" dirty="0"/>
              <a:t>Hector Garcia-Molina</a:t>
            </a:r>
          </a:p>
          <a:p>
            <a:pPr lvl="1"/>
            <a:r>
              <a:rPr lang="en-US" sz="2800" dirty="0"/>
              <a:t>Jeffrey D. Ullman</a:t>
            </a:r>
          </a:p>
          <a:p>
            <a:pPr lvl="1"/>
            <a:r>
              <a:rPr lang="en-US" sz="2800" dirty="0"/>
              <a:t>Jennifer </a:t>
            </a:r>
            <a:r>
              <a:rPr lang="en-US" sz="2800" dirty="0" err="1"/>
              <a:t>Widom</a:t>
            </a:r>
            <a:endParaRPr lang="en-US" sz="2800" dirty="0"/>
          </a:p>
          <a:p>
            <a:pPr lvl="1"/>
            <a:endParaRPr lang="en-US" dirty="0"/>
          </a:p>
        </p:txBody>
      </p:sp>
      <p:pic>
        <p:nvPicPr>
          <p:cNvPr id="6" name="Content Placeholder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470" y="1600200"/>
            <a:ext cx="3446986" cy="453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56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Textbook</a:t>
            </a:r>
            <a:endParaRPr lang="en-S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618856" cy="4530725"/>
          </a:xfrm>
        </p:spPr>
        <p:txBody>
          <a:bodyPr/>
          <a:lstStyle/>
          <a:p>
            <a:r>
              <a:rPr lang="en-US" dirty="0"/>
              <a:t>Database Management Systems</a:t>
            </a:r>
          </a:p>
          <a:p>
            <a:pPr lvl="1"/>
            <a:r>
              <a:rPr lang="en-US" dirty="0"/>
              <a:t>Raghu </a:t>
            </a:r>
            <a:r>
              <a:rPr lang="en-US" dirty="0" err="1"/>
              <a:t>Ramakrishnan</a:t>
            </a:r>
            <a:endParaRPr lang="en-US" dirty="0"/>
          </a:p>
          <a:p>
            <a:pPr lvl="1"/>
            <a:r>
              <a:rPr lang="en-US" dirty="0"/>
              <a:t>Johannes Gehrke</a:t>
            </a:r>
          </a:p>
          <a:p>
            <a:endParaRPr lang="en-SG" dirty="0"/>
          </a:p>
          <a:p>
            <a:r>
              <a:rPr lang="en-SG" dirty="0"/>
              <a:t>Note:</a:t>
            </a:r>
          </a:p>
          <a:p>
            <a:pPr lvl="1"/>
            <a:r>
              <a:rPr lang="en-SG" dirty="0"/>
              <a:t>We won’t use the notations in this textbook (especially those for ER modelling) </a:t>
            </a:r>
          </a:p>
        </p:txBody>
      </p:sp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762100"/>
            <a:ext cx="2667000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697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Course Requirements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Final Exam		(50%)</a:t>
            </a:r>
          </a:p>
          <a:p>
            <a:pPr lvl="1"/>
            <a:r>
              <a:rPr lang="en-US" altLang="zh-CN" dirty="0"/>
              <a:t>August 2, 2019</a:t>
            </a:r>
          </a:p>
          <a:p>
            <a:r>
              <a:rPr lang="en-US" altLang="zh-CN" dirty="0"/>
              <a:t>1 Mid-term 		(20%)</a:t>
            </a:r>
          </a:p>
          <a:p>
            <a:pPr lvl="1"/>
            <a:r>
              <a:rPr lang="en-US" altLang="zh-CN" dirty="0"/>
              <a:t>July 16, 2019 (during the lecture)</a:t>
            </a:r>
          </a:p>
          <a:p>
            <a:r>
              <a:rPr lang="en-US" altLang="zh-CN" dirty="0"/>
              <a:t>1 Individual Project	(30%)</a:t>
            </a:r>
          </a:p>
          <a:p>
            <a:pPr lvl="1"/>
            <a:r>
              <a:rPr lang="en-US" altLang="zh-CN" dirty="0"/>
              <a:t>Three assessments, each for 10%</a:t>
            </a:r>
          </a:p>
          <a:p>
            <a:pPr lvl="1"/>
            <a:r>
              <a:rPr lang="en-US" altLang="zh-CN" dirty="0"/>
              <a:t>Deadlines in Weeks 4, 5, and 6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7717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How to design an entity-relationship data model to capture the data requirements for an application and translate the conceptual data model to a relational database schema</a:t>
            </a:r>
          </a:p>
          <a:p>
            <a:r>
              <a:rPr lang="en-US" dirty="0"/>
              <a:t>How to refine a relational database schema using schema decompositions to avoid update anomalies</a:t>
            </a:r>
          </a:p>
          <a:p>
            <a:r>
              <a:rPr lang="en-US" dirty="0"/>
              <a:t>How to use SQL to define relational schemas and write SQL queries on the schemas</a:t>
            </a:r>
          </a:p>
          <a:p>
            <a:r>
              <a:rPr lang="en-US" dirty="0"/>
              <a:t>How to reason about the correctness of relational queries based on the concepts of formal query languages</a:t>
            </a:r>
          </a:p>
          <a:p>
            <a:r>
              <a:rPr lang="en-US" dirty="0"/>
              <a:t>How to apply knowledge of relational database systems to develop database applications</a:t>
            </a:r>
            <a:endParaRPr lang="en-SG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395536" y="1988840"/>
            <a:ext cx="8229600" cy="2304256"/>
          </a:xfrm>
          <a:prstGeom prst="round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宋体" pitchFamily="2" charset="-122"/>
              </a:rPr>
              <a:t>In short: </a:t>
            </a:r>
            <a:r>
              <a:rPr lang="en-US" sz="4000" dirty="0"/>
              <a:t>This course is about the fundamentals of database management systems.</a:t>
            </a:r>
          </a:p>
        </p:txBody>
      </p:sp>
    </p:spTree>
    <p:extLst>
      <p:ext uri="{BB962C8B-B14F-4D97-AF65-F5344CB8AC3E}">
        <p14:creationId xmlns:p14="http://schemas.microsoft.com/office/powerpoint/2010/main" val="78661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Next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&amp; course overview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77367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database system? </a:t>
            </a:r>
          </a:p>
          <a:p>
            <a:r>
              <a:rPr lang="en-US" dirty="0"/>
              <a:t>A piece of software for managing databases</a:t>
            </a:r>
          </a:p>
          <a:p>
            <a:pPr lvl="1"/>
            <a:r>
              <a:rPr lang="en-US" dirty="0"/>
              <a:t>More formal name: database management system (DBMS)</a:t>
            </a:r>
          </a:p>
          <a:p>
            <a:r>
              <a:rPr lang="en-US" dirty="0"/>
              <a:t>What is a database?</a:t>
            </a:r>
          </a:p>
          <a:p>
            <a:pPr lvl="1"/>
            <a:r>
              <a:rPr lang="en-US" dirty="0"/>
              <a:t>A collection of data organized for easy access by computers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3297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and DBMS</a:t>
            </a:r>
            <a:endParaRPr lang="en-SG" dirty="0"/>
          </a:p>
        </p:txBody>
      </p:sp>
      <p:pic>
        <p:nvPicPr>
          <p:cNvPr id="1026" name="Picture 2" descr="C:\Users\Administrator\AppData\Local\Microsoft\Windows\Temporary Internet Files\Content.IE5\TNWL5KHU\MP90044829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814" y="1293200"/>
            <a:ext cx="864096" cy="129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Administrator\AppData\Local\Microsoft\Windows\Temporary Internet Files\Content.IE5\TNWL5KHU\MC900311156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351853" y="4268154"/>
            <a:ext cx="1068019" cy="182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16578" y="1712352"/>
            <a:ext cx="1348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Database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229" y="4580560"/>
            <a:ext cx="18607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Database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Management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System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5" name="Up-Down Arrow 4"/>
          <p:cNvSpPr/>
          <p:nvPr/>
        </p:nvSpPr>
        <p:spPr bwMode="auto">
          <a:xfrm>
            <a:off x="2698353" y="2708920"/>
            <a:ext cx="375017" cy="1368152"/>
          </a:xfrm>
          <a:prstGeom prst="upDownArrow">
            <a:avLst/>
          </a:pr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Up-Down Arrow 14"/>
          <p:cNvSpPr/>
          <p:nvPr/>
        </p:nvSpPr>
        <p:spPr bwMode="auto">
          <a:xfrm rot="5400000">
            <a:off x="4708528" y="4260667"/>
            <a:ext cx="375016" cy="2520280"/>
          </a:xfrm>
          <a:prstGeom prst="upDownArrow">
            <a:avLst/>
          </a:pr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034" name="Picture 10" descr="C:\Users\Administrator\AppData\Local\Microsoft\Windows\Temporary Internet Files\Content.IE5\VQIV2J9N\MC900439407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509120"/>
            <a:ext cx="1440160" cy="155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7812360" y="4949892"/>
            <a:ext cx="76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User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6156176" y="2003812"/>
            <a:ext cx="2592288" cy="2145268"/>
          </a:xfrm>
          <a:prstGeom prst="wedgeRoundRectCallout">
            <a:avLst>
              <a:gd name="adj1" fmla="val 6385"/>
              <a:gd name="adj2" fmla="val 63994"/>
              <a:gd name="adj3" fmla="val 16667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What is the average annual income of a Singapore tax payer?</a:t>
            </a:r>
            <a:endParaRPr kumimoji="0" lang="en-SG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21" name="Rounded Rectangular Callout 20"/>
          <p:cNvSpPr/>
          <p:nvPr/>
        </p:nvSpPr>
        <p:spPr bwMode="auto">
          <a:xfrm>
            <a:off x="3444117" y="3389491"/>
            <a:ext cx="1930998" cy="510778"/>
          </a:xfrm>
          <a:prstGeom prst="wedgeRoundRectCallout">
            <a:avLst>
              <a:gd name="adj1" fmla="val -64213"/>
              <a:gd name="adj2" fmla="val 148793"/>
              <a:gd name="adj3" fmla="val 16667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SGD *****</a:t>
            </a:r>
            <a:endParaRPr kumimoji="0" lang="en-SG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314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DBMS?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8245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Why can’t we just store data in files, and access them whenever needed?</a:t>
            </a:r>
          </a:p>
          <a:p>
            <a:r>
              <a:rPr lang="en-US" dirty="0"/>
              <a:t>Numerous reasons:</a:t>
            </a:r>
          </a:p>
          <a:p>
            <a:pPr lvl="1"/>
            <a:r>
              <a:rPr lang="en-US" dirty="0"/>
              <a:t>Ease of management</a:t>
            </a:r>
          </a:p>
          <a:p>
            <a:pPr lvl="1"/>
            <a:r>
              <a:rPr lang="en-US" dirty="0"/>
              <a:t>Query efficiency</a:t>
            </a:r>
          </a:p>
          <a:p>
            <a:pPr lvl="2"/>
            <a:r>
              <a:rPr lang="en-US" dirty="0"/>
              <a:t>DBMS are optimized for search</a:t>
            </a:r>
          </a:p>
          <a:p>
            <a:pPr lvl="1"/>
            <a:r>
              <a:rPr lang="en-US" dirty="0"/>
              <a:t>Concurrency control</a:t>
            </a:r>
          </a:p>
          <a:p>
            <a:pPr lvl="2"/>
            <a:r>
              <a:rPr lang="en-US" dirty="0"/>
              <a:t>DBMS allow concurrent accesses from multiple users</a:t>
            </a:r>
          </a:p>
          <a:p>
            <a:pPr lvl="1"/>
            <a:r>
              <a:rPr lang="en-US" dirty="0"/>
              <a:t>Security</a:t>
            </a:r>
          </a:p>
          <a:p>
            <a:pPr lvl="2"/>
            <a:r>
              <a:rPr lang="en-US" dirty="0"/>
              <a:t>DBMS offers fine-grained access control to data</a:t>
            </a:r>
          </a:p>
          <a:p>
            <a:pPr lvl="1"/>
            <a:r>
              <a:rPr lang="en-US" dirty="0"/>
              <a:t>Crash recovery</a:t>
            </a:r>
          </a:p>
          <a:p>
            <a:pPr lvl="1"/>
            <a:r>
              <a:rPr lang="en-US" dirty="0"/>
              <a:t>And others…</a:t>
            </a:r>
          </a:p>
        </p:txBody>
      </p:sp>
    </p:spTree>
    <p:extLst>
      <p:ext uri="{BB962C8B-B14F-4D97-AF65-F5344CB8AC3E}">
        <p14:creationId xmlns:p14="http://schemas.microsoft.com/office/powerpoint/2010/main" val="422748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4A26-C3B5-4CED-A306-DE835B47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Types of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A98EF-B0AE-4EB0-B8F3-9827D74D7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DBMS can be categorized based on the </a:t>
            </a:r>
            <a:r>
              <a:rPr lang="en-SG" i="1" dirty="0"/>
              <a:t>data model</a:t>
            </a:r>
            <a:r>
              <a:rPr lang="en-SG" dirty="0"/>
              <a:t> that it adopts</a:t>
            </a:r>
          </a:p>
          <a:p>
            <a:pPr lvl="1"/>
            <a:r>
              <a:rPr lang="en-SG" dirty="0"/>
              <a:t>i.e., based on the way that they describe data</a:t>
            </a:r>
          </a:p>
          <a:p>
            <a:r>
              <a:rPr lang="en-SG" dirty="0"/>
              <a:t>A number of data models exist:</a:t>
            </a:r>
          </a:p>
          <a:p>
            <a:pPr lvl="1"/>
            <a:r>
              <a:rPr lang="en-SG" dirty="0"/>
              <a:t>Network model</a:t>
            </a:r>
          </a:p>
          <a:p>
            <a:pPr lvl="1"/>
            <a:r>
              <a:rPr lang="en-SG" dirty="0"/>
              <a:t>Hierarchical model</a:t>
            </a:r>
          </a:p>
          <a:p>
            <a:pPr lvl="1"/>
            <a:r>
              <a:rPr lang="en-SG" b="1" dirty="0"/>
              <a:t>Relational model</a:t>
            </a:r>
          </a:p>
          <a:p>
            <a:pPr lvl="1"/>
            <a:r>
              <a:rPr lang="en-SG" dirty="0"/>
              <a:t>Object-oriented model</a:t>
            </a:r>
          </a:p>
          <a:p>
            <a:pPr lvl="1"/>
            <a:r>
              <a:rPr lang="en-SG" dirty="0"/>
              <a:t>Object-relational model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4396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03892-0064-4968-A3AA-FEB0F3A1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Types of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53902-8EDD-4CFC-94C3-6F092EA59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482952" cy="4530725"/>
          </a:xfrm>
        </p:spPr>
        <p:txBody>
          <a:bodyPr/>
          <a:lstStyle/>
          <a:p>
            <a:r>
              <a:rPr lang="en-SG" dirty="0"/>
              <a:t>Most existing databases adopt</a:t>
            </a:r>
            <a:br>
              <a:rPr lang="en-SG" dirty="0"/>
            </a:br>
            <a:r>
              <a:rPr lang="en-SG" dirty="0"/>
              <a:t>the relational model</a:t>
            </a:r>
          </a:p>
          <a:p>
            <a:pPr lvl="1"/>
            <a:r>
              <a:rPr lang="en-SG" dirty="0"/>
              <a:t>They are referred to as relational DBMS (RDBMS)</a:t>
            </a:r>
          </a:p>
          <a:p>
            <a:r>
              <a:rPr lang="en-US" dirty="0"/>
              <a:t>We will focus on RDBMS in this course</a:t>
            </a:r>
            <a:endParaRPr lang="en-SG" dirty="0"/>
          </a:p>
        </p:txBody>
      </p:sp>
      <p:pic>
        <p:nvPicPr>
          <p:cNvPr id="1026" name="Picture 2" descr="http://coding-geek.com/wp-content/uploads/2015/08/main_databases.jpg">
            <a:extLst>
              <a:ext uri="{FF2B5EF4-FFF2-40B4-BE49-F238E27FC236}">
                <a16:creationId xmlns:a16="http://schemas.microsoft.com/office/drawing/2014/main" id="{AF81DDA1-14FF-42E5-BB8F-391298BD7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2132856"/>
            <a:ext cx="28575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98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BFC68-DD84-4207-94CD-0F32F6248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Relational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D8C4D-1941-4C2E-BCB0-679AF198E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8738"/>
            <a:ext cx="8229600" cy="2372311"/>
          </a:xfrm>
        </p:spPr>
        <p:txBody>
          <a:bodyPr/>
          <a:lstStyle/>
          <a:p>
            <a:r>
              <a:rPr lang="en-SG" dirty="0"/>
              <a:t>Introduced by Edgar Codd from IBM in 1970</a:t>
            </a:r>
          </a:p>
          <a:p>
            <a:r>
              <a:rPr lang="en-SG" dirty="0"/>
              <a:t>Basic idea: Represent data using </a:t>
            </a:r>
            <a:r>
              <a:rPr lang="en-SG" i="1" dirty="0"/>
              <a:t>relations</a:t>
            </a:r>
            <a:endParaRPr lang="en-SG" dirty="0"/>
          </a:p>
          <a:p>
            <a:pPr lvl="1"/>
            <a:r>
              <a:rPr lang="en-SG" dirty="0"/>
              <a:t>Namely, tables with rows and columns</a:t>
            </a: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7191754"/>
              </p:ext>
            </p:extLst>
          </p:nvPr>
        </p:nvGraphicFramePr>
        <p:xfrm>
          <a:off x="827584" y="3807296"/>
          <a:ext cx="7560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9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7584" y="3212976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66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BFC68-DD84-4207-94CD-0F32F6248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Some Jargons</a:t>
            </a: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1587170"/>
              </p:ext>
            </p:extLst>
          </p:nvPr>
        </p:nvGraphicFramePr>
        <p:xfrm>
          <a:off x="827584" y="2367136"/>
          <a:ext cx="7560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9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7584" y="1772816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51D8C4D-1941-4C2E-BCB0-679AF198E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517232"/>
            <a:ext cx="8229600" cy="648072"/>
          </a:xfrm>
        </p:spPr>
        <p:txBody>
          <a:bodyPr/>
          <a:lstStyle/>
          <a:p>
            <a:r>
              <a:rPr lang="en-SG" dirty="0"/>
              <a:t>The whole thing is called a relation (or table)</a:t>
            </a:r>
          </a:p>
        </p:txBody>
      </p:sp>
      <p:sp>
        <p:nvSpPr>
          <p:cNvPr id="17" name="Rounded Rectangle 16"/>
          <p:cNvSpPr/>
          <p:nvPr/>
        </p:nvSpPr>
        <p:spPr bwMode="auto">
          <a:xfrm>
            <a:off x="755576" y="4149080"/>
            <a:ext cx="7704856" cy="57606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395536" y="1078081"/>
            <a:ext cx="2088232" cy="476726"/>
          </a:xfrm>
          <a:prstGeom prst="wedgeRoundRectCallout">
            <a:avLst>
              <a:gd name="adj1" fmla="val -2695"/>
              <a:gd name="adj2" fmla="val 102627"/>
              <a:gd name="adj3" fmla="val 16667"/>
            </a:avLst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Table name</a:t>
            </a:r>
          </a:p>
        </p:txBody>
      </p:sp>
      <p:sp>
        <p:nvSpPr>
          <p:cNvPr id="23" name="Rounded Rectangular Callout 22"/>
          <p:cNvSpPr/>
          <p:nvPr/>
        </p:nvSpPr>
        <p:spPr bwMode="auto">
          <a:xfrm>
            <a:off x="5292080" y="4993653"/>
            <a:ext cx="3441435" cy="476726"/>
          </a:xfrm>
          <a:prstGeom prst="wedgeRoundRectCallout">
            <a:avLst>
              <a:gd name="adj1" fmla="val -12836"/>
              <a:gd name="adj2" fmla="val -102387"/>
              <a:gd name="adj3" fmla="val 16667"/>
            </a:avLst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>
                <a:latin typeface="Calibri" panose="020F0502020204030204" pitchFamily="34" charset="0"/>
                <a:ea typeface="宋体" pitchFamily="2" charset="-122"/>
              </a:rPr>
              <a:t>Tuple (i.e. row, record)</a:t>
            </a:r>
            <a:endParaRPr lang="en-SG" sz="28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25" name="Rounded Rectangular Callout 24"/>
          <p:cNvSpPr/>
          <p:nvPr/>
        </p:nvSpPr>
        <p:spPr bwMode="auto">
          <a:xfrm>
            <a:off x="4716016" y="469602"/>
            <a:ext cx="3564396" cy="476726"/>
          </a:xfrm>
          <a:prstGeom prst="wedgeRoundRectCallout">
            <a:avLst>
              <a:gd name="adj1" fmla="val -26631"/>
              <a:gd name="adj2" fmla="val 326537"/>
              <a:gd name="adj3" fmla="val 16667"/>
            </a:avLst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>
                <a:latin typeface="Calibri" panose="020F0502020204030204" pitchFamily="34" charset="0"/>
                <a:ea typeface="宋体" pitchFamily="2" charset="-122"/>
              </a:rPr>
              <a:t>Attribute (i.e., column)</a:t>
            </a:r>
            <a:endParaRPr lang="en-SG" sz="28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27" name="Rounded Rectangular Callout 26"/>
          <p:cNvSpPr/>
          <p:nvPr/>
        </p:nvSpPr>
        <p:spPr bwMode="auto">
          <a:xfrm>
            <a:off x="6300192" y="1415661"/>
            <a:ext cx="2592288" cy="476726"/>
          </a:xfrm>
          <a:prstGeom prst="wedgeRoundRectCallout">
            <a:avLst>
              <a:gd name="adj1" fmla="val -75148"/>
              <a:gd name="adj2" fmla="val 184486"/>
              <a:gd name="adj3" fmla="val 16667"/>
            </a:avLst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>
                <a:latin typeface="Calibri" panose="020F0502020204030204" pitchFamily="34" charset="0"/>
                <a:ea typeface="宋体" pitchFamily="2" charset="-122"/>
              </a:rPr>
              <a:t>Attribute name</a:t>
            </a:r>
            <a:endParaRPr lang="en-SG" sz="28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20" name="Rounded Rectangle 19"/>
          <p:cNvSpPr/>
          <p:nvPr/>
        </p:nvSpPr>
        <p:spPr bwMode="auto">
          <a:xfrm>
            <a:off x="4139952" y="2258218"/>
            <a:ext cx="1800200" cy="2619326"/>
          </a:xfrm>
          <a:prstGeom prst="roundRect">
            <a:avLst/>
          </a:prstGeom>
          <a:noFill/>
          <a:ln w="25400" cap="flat" cmpd="sng" algn="ctr">
            <a:solidFill>
              <a:srgbClr val="CC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8" name="Rounded Rectangular Callout 27"/>
          <p:cNvSpPr/>
          <p:nvPr/>
        </p:nvSpPr>
        <p:spPr bwMode="auto">
          <a:xfrm>
            <a:off x="3059832" y="1296090"/>
            <a:ext cx="1944216" cy="476726"/>
          </a:xfrm>
          <a:prstGeom prst="wedgeRoundRectCallout">
            <a:avLst>
              <a:gd name="adj1" fmla="val -88675"/>
              <a:gd name="adj2" fmla="val 221402"/>
              <a:gd name="adj3" fmla="val 16667"/>
            </a:avLst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>
                <a:latin typeface="Calibri" panose="020F0502020204030204" pitchFamily="34" charset="0"/>
                <a:ea typeface="宋体" pitchFamily="2" charset="-122"/>
              </a:rPr>
              <a:t>Primary Key</a:t>
            </a:r>
            <a:endParaRPr lang="en-SG" sz="2800" dirty="0"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486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7" grpId="0" animBg="1"/>
      <p:bldP spid="6" grpId="0" animBg="1"/>
      <p:bldP spid="23" grpId="0" animBg="1"/>
      <p:bldP spid="25" grpId="0" animBg="1"/>
      <p:bldP spid="27" grpId="0" animBg="1"/>
      <p:bldP spid="20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Jargons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99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Each attribute has a </a:t>
            </a:r>
            <a:r>
              <a:rPr lang="en-US" i="1" dirty="0"/>
              <a:t>domain</a:t>
            </a:r>
            <a:r>
              <a:rPr lang="en-US" dirty="0"/>
              <a:t>, e.g.</a:t>
            </a:r>
          </a:p>
          <a:p>
            <a:pPr lvl="1"/>
            <a:r>
              <a:rPr lang="en-US" dirty="0" err="1"/>
              <a:t>PName’s</a:t>
            </a:r>
            <a:r>
              <a:rPr lang="en-US" dirty="0"/>
              <a:t> domain is string</a:t>
            </a:r>
          </a:p>
          <a:p>
            <a:pPr lvl="1"/>
            <a:r>
              <a:rPr lang="en-US" dirty="0"/>
              <a:t>Price’s domain is integer</a:t>
            </a:r>
          </a:p>
          <a:p>
            <a:r>
              <a:rPr lang="en-US" dirty="0"/>
              <a:t>Each relation has a </a:t>
            </a:r>
            <a:r>
              <a:rPr lang="en-US" i="1" dirty="0"/>
              <a:t>schema</a:t>
            </a:r>
            <a:r>
              <a:rPr lang="en-US" dirty="0"/>
              <a:t>, e.g.,</a:t>
            </a:r>
          </a:p>
          <a:p>
            <a:pPr lvl="1"/>
            <a:r>
              <a:rPr lang="en-US" dirty="0"/>
              <a:t>Product’s schema is </a:t>
            </a:r>
            <a:br>
              <a:rPr lang="en-US" dirty="0"/>
            </a:br>
            <a:r>
              <a:rPr lang="en-US" dirty="0"/>
              <a:t>Product( </a:t>
            </a:r>
            <a:r>
              <a:rPr lang="en-US" dirty="0" err="1"/>
              <a:t>PName</a:t>
            </a:r>
            <a:r>
              <a:rPr lang="en-US" dirty="0"/>
              <a:t>: string, Price: integer, Category: string, Manufacturer: string ) 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31948"/>
              </p:ext>
            </p:extLst>
          </p:nvPr>
        </p:nvGraphicFramePr>
        <p:xfrm>
          <a:off x="827584" y="1625352"/>
          <a:ext cx="7560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9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7584" y="103103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94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Jargons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99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i="1" dirty="0"/>
              <a:t>relational database</a:t>
            </a:r>
            <a:r>
              <a:rPr lang="en-US" dirty="0"/>
              <a:t> is a collection of relations</a:t>
            </a:r>
          </a:p>
          <a:p>
            <a:r>
              <a:rPr lang="en-US" dirty="0"/>
              <a:t>A relational database’s schema = </a:t>
            </a:r>
          </a:p>
          <a:p>
            <a:pPr marL="0" indent="0">
              <a:buNone/>
            </a:pPr>
            <a:r>
              <a:rPr lang="en-US" dirty="0"/>
              <a:t>	relation schemas + </a:t>
            </a:r>
            <a:r>
              <a:rPr lang="en-US" i="1" dirty="0"/>
              <a:t>integrity constraints</a:t>
            </a:r>
          </a:p>
          <a:p>
            <a:r>
              <a:rPr lang="en-US" dirty="0"/>
              <a:t>Integrity constraints: Constraints that the relations must satisfy</a:t>
            </a:r>
          </a:p>
          <a:p>
            <a:pPr lvl="1"/>
            <a:r>
              <a:rPr lang="en-US" dirty="0"/>
              <a:t>E.g., Price cannot be negative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827584" y="1625352"/>
          <a:ext cx="7560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9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7584" y="1031032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49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Tables, Relations, Relational Model</a:t>
            </a:r>
            <a:endParaRPr lang="en-SG" dirty="0"/>
          </a:p>
        </p:txBody>
      </p:sp>
      <p:pic>
        <p:nvPicPr>
          <p:cNvPr id="1026" name="Picture 2" descr="C:\Users\Administrator\AppData\Local\Microsoft\Windows\Temporary Internet Files\Content.IE5\TNWL5KHU\MP90044829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814" y="1293200"/>
            <a:ext cx="864096" cy="129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Administrator\AppData\Local\Microsoft\Windows\Temporary Internet Files\Content.IE5\TNWL5KHU\MC900311156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351853" y="4268154"/>
            <a:ext cx="1068019" cy="182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16578" y="1712352"/>
            <a:ext cx="1348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Database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229" y="4580560"/>
            <a:ext cx="18607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Database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Management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System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5" name="Up-Down Arrow 4"/>
          <p:cNvSpPr/>
          <p:nvPr/>
        </p:nvSpPr>
        <p:spPr bwMode="auto">
          <a:xfrm>
            <a:off x="2698353" y="2708920"/>
            <a:ext cx="375017" cy="1368152"/>
          </a:xfrm>
          <a:prstGeom prst="upDownArrow">
            <a:avLst/>
          </a:pr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Up-Down Arrow 14"/>
          <p:cNvSpPr/>
          <p:nvPr/>
        </p:nvSpPr>
        <p:spPr bwMode="auto">
          <a:xfrm rot="5400000">
            <a:off x="4708528" y="4260667"/>
            <a:ext cx="375016" cy="2520280"/>
          </a:xfrm>
          <a:prstGeom prst="upDownArrow">
            <a:avLst/>
          </a:pr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034" name="Picture 10" descr="C:\Users\Administrator\AppData\Local\Microsoft\Windows\Temporary Internet Files\Content.IE5\VQIV2J9N\MC900439407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509120"/>
            <a:ext cx="1440160" cy="155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7812360" y="4949892"/>
            <a:ext cx="76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User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3" name="Rectangular Callout 2"/>
          <p:cNvSpPr/>
          <p:nvPr/>
        </p:nvSpPr>
        <p:spPr bwMode="auto">
          <a:xfrm>
            <a:off x="3995936" y="1196752"/>
            <a:ext cx="4691985" cy="2196244"/>
          </a:xfrm>
          <a:prstGeom prst="wedgeRectCallout">
            <a:avLst>
              <a:gd name="adj1" fmla="val -62835"/>
              <a:gd name="adj2" fmla="val -16701"/>
            </a:avLst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4383"/>
              </p:ext>
            </p:extLst>
          </p:nvPr>
        </p:nvGraphicFramePr>
        <p:xfrm>
          <a:off x="4142634" y="1268760"/>
          <a:ext cx="4398588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Taxpayer_ID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Annual_Income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51248297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33891634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37108" y="2967335"/>
            <a:ext cx="19261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err="1">
                <a:latin typeface="Calibri" panose="020F0502020204030204" pitchFamily="34" charset="0"/>
              </a:rPr>
              <a:t>Income_Table</a:t>
            </a:r>
            <a:endParaRPr lang="en-SG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289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Tables, Relations, Relational Model</a:t>
            </a:r>
            <a:endParaRPr lang="en-SG" dirty="0"/>
          </a:p>
        </p:txBody>
      </p:sp>
      <p:pic>
        <p:nvPicPr>
          <p:cNvPr id="1026" name="Picture 2" descr="C:\Users\Administrator\AppData\Local\Microsoft\Windows\Temporary Internet Files\Content.IE5\TNWL5KHU\MP90044829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814" y="1293200"/>
            <a:ext cx="864096" cy="129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Administrator\AppData\Local\Microsoft\Windows\Temporary Internet Files\Content.IE5\TNWL5KHU\MC900311156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351853" y="4268154"/>
            <a:ext cx="1068019" cy="182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16578" y="1712352"/>
            <a:ext cx="1348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Database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229" y="4580560"/>
            <a:ext cx="18607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Database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Management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System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5" name="Up-Down Arrow 4"/>
          <p:cNvSpPr/>
          <p:nvPr/>
        </p:nvSpPr>
        <p:spPr bwMode="auto">
          <a:xfrm>
            <a:off x="2698353" y="2708920"/>
            <a:ext cx="375017" cy="1368152"/>
          </a:xfrm>
          <a:prstGeom prst="upDownArrow">
            <a:avLst/>
          </a:pr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Up-Down Arrow 14"/>
          <p:cNvSpPr/>
          <p:nvPr/>
        </p:nvSpPr>
        <p:spPr bwMode="auto">
          <a:xfrm rot="5400000">
            <a:off x="4708528" y="4260667"/>
            <a:ext cx="375016" cy="2520280"/>
          </a:xfrm>
          <a:prstGeom prst="upDownArrow">
            <a:avLst/>
          </a:pr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034" name="Picture 10" descr="C:\Users\Administrator\AppData\Local\Microsoft\Windows\Temporary Internet Files\Content.IE5\VQIV2J9N\MC900439407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509120"/>
            <a:ext cx="1440160" cy="155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7812360" y="4949892"/>
            <a:ext cx="76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User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3" name="Rectangular Callout 2"/>
          <p:cNvSpPr/>
          <p:nvPr/>
        </p:nvSpPr>
        <p:spPr bwMode="auto">
          <a:xfrm>
            <a:off x="3995936" y="1196752"/>
            <a:ext cx="4691985" cy="2196244"/>
          </a:xfrm>
          <a:prstGeom prst="wedgeRectCallout">
            <a:avLst>
              <a:gd name="adj1" fmla="val -62835"/>
              <a:gd name="adj2" fmla="val -16701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292469"/>
              </p:ext>
            </p:extLst>
          </p:nvPr>
        </p:nvGraphicFramePr>
        <p:xfrm>
          <a:off x="4142634" y="1268760"/>
          <a:ext cx="4398588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Taxpayer_ID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Annual_Income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51248297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33891634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37108" y="2967335"/>
            <a:ext cx="19261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err="1">
                <a:latin typeface="Calibri" panose="020F0502020204030204" pitchFamily="34" charset="0"/>
              </a:rPr>
              <a:t>Income_Table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3650692" y="3517711"/>
            <a:ext cx="5025764" cy="919401"/>
          </a:xfrm>
          <a:prstGeom prst="wedgeRoundRectCallout">
            <a:avLst>
              <a:gd name="adj1" fmla="val -673"/>
              <a:gd name="adj2" fmla="val 93434"/>
              <a:gd name="adj3" fmla="val 16667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What is the average annual income of a Singapore tax payer?</a:t>
            </a:r>
            <a:endParaRPr kumimoji="0" lang="en-SG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1141783" y="3566294"/>
            <a:ext cx="1210070" cy="510778"/>
          </a:xfrm>
          <a:prstGeom prst="wedgeRoundRectCallout">
            <a:avLst>
              <a:gd name="adj1" fmla="val 68197"/>
              <a:gd name="adj2" fmla="val 122893"/>
              <a:gd name="adj3" fmla="val 16667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???</a:t>
            </a:r>
            <a:endParaRPr kumimoji="0" lang="en-SG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5905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r>
              <a:rPr lang="en-US" dirty="0"/>
              <a:t>tructured </a:t>
            </a:r>
            <a:r>
              <a:rPr lang="en-US" dirty="0">
                <a:solidFill>
                  <a:srgbClr val="C00000"/>
                </a:solidFill>
              </a:rPr>
              <a:t>Q</a:t>
            </a:r>
            <a:r>
              <a:rPr lang="en-US" dirty="0"/>
              <a:t>uery </a:t>
            </a:r>
            <a:r>
              <a:rPr lang="en-US" dirty="0">
                <a:solidFill>
                  <a:srgbClr val="C00000"/>
                </a:solidFill>
              </a:rPr>
              <a:t>L</a:t>
            </a:r>
            <a:r>
              <a:rPr lang="en-US" dirty="0"/>
              <a:t>anguage (SQL)</a:t>
            </a:r>
            <a:endParaRPr lang="en-SG" dirty="0"/>
          </a:p>
        </p:txBody>
      </p:sp>
      <p:pic>
        <p:nvPicPr>
          <p:cNvPr id="1026" name="Picture 2" descr="C:\Users\Administrator\AppData\Local\Microsoft\Windows\Temporary Internet Files\Content.IE5\TNWL5KHU\MP90044829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814" y="1293200"/>
            <a:ext cx="864096" cy="129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Administrator\AppData\Local\Microsoft\Windows\Temporary Internet Files\Content.IE5\TNWL5KHU\MC900311156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351853" y="4268154"/>
            <a:ext cx="1068019" cy="182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16578" y="1712352"/>
            <a:ext cx="1348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Database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229" y="4580560"/>
            <a:ext cx="18607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Database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Management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System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5" name="Up-Down Arrow 4"/>
          <p:cNvSpPr/>
          <p:nvPr/>
        </p:nvSpPr>
        <p:spPr bwMode="auto">
          <a:xfrm>
            <a:off x="2698353" y="2708920"/>
            <a:ext cx="375017" cy="1368152"/>
          </a:xfrm>
          <a:prstGeom prst="upDownArrow">
            <a:avLst/>
          </a:pr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Up-Down Arrow 14"/>
          <p:cNvSpPr/>
          <p:nvPr/>
        </p:nvSpPr>
        <p:spPr bwMode="auto">
          <a:xfrm rot="5400000">
            <a:off x="4708528" y="4260667"/>
            <a:ext cx="375016" cy="2520280"/>
          </a:xfrm>
          <a:prstGeom prst="upDownArrow">
            <a:avLst/>
          </a:pr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034" name="Picture 10" descr="C:\Users\Administrator\AppData\Local\Microsoft\Windows\Temporary Internet Files\Content.IE5\VQIV2J9N\MC900439407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509120"/>
            <a:ext cx="1440160" cy="155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7812360" y="4949892"/>
            <a:ext cx="76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User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3" name="Rectangular Callout 2"/>
          <p:cNvSpPr/>
          <p:nvPr/>
        </p:nvSpPr>
        <p:spPr bwMode="auto">
          <a:xfrm>
            <a:off x="3995936" y="1196752"/>
            <a:ext cx="4691985" cy="2196244"/>
          </a:xfrm>
          <a:prstGeom prst="wedgeRectCallout">
            <a:avLst>
              <a:gd name="adj1" fmla="val -62835"/>
              <a:gd name="adj2" fmla="val -16701"/>
            </a:avLst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765756"/>
              </p:ext>
            </p:extLst>
          </p:nvPr>
        </p:nvGraphicFramePr>
        <p:xfrm>
          <a:off x="4142634" y="1268760"/>
          <a:ext cx="4398588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Taxpayer_ID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Annual_Income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51248297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Calibri" panose="020F0502020204030204" pitchFamily="34" charset="0"/>
                        </a:rPr>
                        <a:t>100000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33891634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37108" y="2967335"/>
            <a:ext cx="19261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err="1">
                <a:latin typeface="Calibri" panose="020F0502020204030204" pitchFamily="34" charset="0"/>
              </a:rPr>
              <a:t>Income_Table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3995936" y="3573016"/>
            <a:ext cx="4824536" cy="919401"/>
          </a:xfrm>
          <a:prstGeom prst="wedgeRoundRectCallout">
            <a:avLst>
              <a:gd name="adj1" fmla="val -93"/>
              <a:gd name="adj2" fmla="val 82878"/>
              <a:gd name="adj3" fmla="val 16667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avg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(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Annual_Income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)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Income_Table</a:t>
            </a:r>
            <a:endParaRPr kumimoji="0" lang="en-SG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19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Query Language (SQL)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by D. </a:t>
            </a:r>
            <a:r>
              <a:rPr lang="en-US" dirty="0" err="1"/>
              <a:t>Chamberline</a:t>
            </a:r>
            <a:r>
              <a:rPr lang="en-US" dirty="0"/>
              <a:t> &amp; R. Boyce from IBM Research in 1974</a:t>
            </a:r>
          </a:p>
          <a:p>
            <a:pPr lvl="1"/>
            <a:r>
              <a:rPr lang="en-US" dirty="0"/>
              <a:t>Original name: SEQUEL (Structured English </a:t>
            </a:r>
            <a:r>
              <a:rPr lang="en-US" dirty="0" err="1"/>
              <a:t>QUEry</a:t>
            </a:r>
            <a:r>
              <a:rPr lang="en-US" dirty="0"/>
              <a:t> Language)</a:t>
            </a:r>
          </a:p>
          <a:p>
            <a:r>
              <a:rPr lang="en-US" dirty="0"/>
              <a:t>SQL is not a general-purpose language but a domain-specific language (DSL)</a:t>
            </a:r>
          </a:p>
          <a:p>
            <a:pPr lvl="1"/>
            <a:r>
              <a:rPr lang="en-US" dirty="0"/>
              <a:t>Designed for computation on relations</a:t>
            </a:r>
          </a:p>
          <a:p>
            <a:r>
              <a:rPr lang="en-US" sz="3200" dirty="0"/>
              <a:t>More details about SQL will be </a:t>
            </a:r>
            <a:br>
              <a:rPr lang="en-US" sz="3200" dirty="0"/>
            </a:br>
            <a:r>
              <a:rPr lang="en-US" sz="3200" dirty="0"/>
              <a:t>covered later today</a:t>
            </a:r>
            <a:endParaRPr lang="en-SG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73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 Design</a:t>
            </a:r>
            <a:endParaRPr lang="en-SG" dirty="0"/>
          </a:p>
        </p:txBody>
      </p:sp>
      <p:pic>
        <p:nvPicPr>
          <p:cNvPr id="1026" name="Picture 2" descr="C:\Users\Administrator\AppData\Local\Microsoft\Windows\Temporary Internet Files\Content.IE5\TNWL5KHU\MP900448290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814" y="1293200"/>
            <a:ext cx="864096" cy="129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Administrator\AppData\Local\Microsoft\Windows\Temporary Internet Files\Content.IE5\TNWL5KHU\MC900311156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351853" y="4268154"/>
            <a:ext cx="1068019" cy="182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16578" y="1712352"/>
            <a:ext cx="1348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Database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229" y="4580560"/>
            <a:ext cx="18607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Database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Management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System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5" name="Up-Down Arrow 4"/>
          <p:cNvSpPr/>
          <p:nvPr/>
        </p:nvSpPr>
        <p:spPr bwMode="auto">
          <a:xfrm>
            <a:off x="2698353" y="2708920"/>
            <a:ext cx="375017" cy="1368152"/>
          </a:xfrm>
          <a:prstGeom prst="upDownArrow">
            <a:avLst/>
          </a:pr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Up-Down Arrow 14"/>
          <p:cNvSpPr/>
          <p:nvPr/>
        </p:nvSpPr>
        <p:spPr bwMode="auto">
          <a:xfrm rot="5400000">
            <a:off x="4708528" y="4260667"/>
            <a:ext cx="375016" cy="2520280"/>
          </a:xfrm>
          <a:prstGeom prst="upDownArrow">
            <a:avLst/>
          </a:pr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034" name="Picture 10" descr="C:\Users\Administrator\AppData\Local\Microsoft\Windows\Temporary Internet Files\Content.IE5\VQIV2J9N\MC900439407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509120"/>
            <a:ext cx="1440160" cy="155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7812360" y="4949892"/>
            <a:ext cx="76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User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4067944" y="1311874"/>
            <a:ext cx="4618856" cy="2794091"/>
          </a:xfrm>
        </p:spPr>
        <p:txBody>
          <a:bodyPr/>
          <a:lstStyle/>
          <a:p>
            <a:r>
              <a:rPr lang="en-US" dirty="0"/>
              <a:t>How does the DBMS know What tables should there be in a database?</a:t>
            </a:r>
          </a:p>
          <a:p>
            <a:r>
              <a:rPr lang="en-US" dirty="0"/>
              <a:t>They don’t know</a:t>
            </a:r>
          </a:p>
          <a:p>
            <a:r>
              <a:rPr lang="en-US" dirty="0"/>
              <a:t>We need to tell them</a:t>
            </a:r>
          </a:p>
        </p:txBody>
      </p:sp>
    </p:spTree>
    <p:extLst>
      <p:ext uri="{BB962C8B-B14F-4D97-AF65-F5344CB8AC3E}">
        <p14:creationId xmlns:p14="http://schemas.microsoft.com/office/powerpoint/2010/main" val="21065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 Design</a:t>
            </a:r>
            <a:endParaRPr lang="en-SG" dirty="0"/>
          </a:p>
        </p:txBody>
      </p:sp>
      <p:pic>
        <p:nvPicPr>
          <p:cNvPr id="1026" name="Picture 2" descr="C:\Users\Administrator\AppData\Local\Microsoft\Windows\Temporary Internet Files\Content.IE5\TNWL5KHU\MP90044829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814" y="1293200"/>
            <a:ext cx="864096" cy="129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Administrator\AppData\Local\Microsoft\Windows\Temporary Internet Files\Content.IE5\TNWL5KHU\MC900311156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351853" y="4268154"/>
            <a:ext cx="1068019" cy="182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16578" y="1712352"/>
            <a:ext cx="1348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Database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229" y="4580560"/>
            <a:ext cx="18607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Database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Management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System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5" name="Up-Down Arrow 4"/>
          <p:cNvSpPr/>
          <p:nvPr/>
        </p:nvSpPr>
        <p:spPr bwMode="auto">
          <a:xfrm>
            <a:off x="2698353" y="2708920"/>
            <a:ext cx="375017" cy="1368152"/>
          </a:xfrm>
          <a:prstGeom prst="upDownArrow">
            <a:avLst/>
          </a:pr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Up-Down Arrow 14"/>
          <p:cNvSpPr/>
          <p:nvPr/>
        </p:nvSpPr>
        <p:spPr bwMode="auto">
          <a:xfrm rot="5400000">
            <a:off x="4708528" y="4260667"/>
            <a:ext cx="375016" cy="2520280"/>
          </a:xfrm>
          <a:prstGeom prst="upDownArrow">
            <a:avLst/>
          </a:pr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034" name="Picture 10" descr="C:\Users\Administrator\AppData\Local\Microsoft\Windows\Temporary Internet Files\Content.IE5\VQIV2J9N\MC900439407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509120"/>
            <a:ext cx="1440160" cy="155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7812360" y="4949892"/>
            <a:ext cx="76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User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20" name="Rounded Rectangular Callout 19"/>
          <p:cNvSpPr/>
          <p:nvPr/>
        </p:nvSpPr>
        <p:spPr bwMode="auto">
          <a:xfrm>
            <a:off x="3995936" y="2593167"/>
            <a:ext cx="4691985" cy="1328023"/>
          </a:xfrm>
          <a:prstGeom prst="wedgeRoundRectCallout">
            <a:avLst>
              <a:gd name="adj1" fmla="val 15942"/>
              <a:gd name="adj2" fmla="val 89851"/>
              <a:gd name="adj3" fmla="val 16667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You should store XXX and YYY in two different tables, and blah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blah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blah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..</a:t>
            </a:r>
            <a:endParaRPr kumimoji="0" lang="en-SG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21" name="Rounded Rectangular Callout 20"/>
          <p:cNvSpPr/>
          <p:nvPr/>
        </p:nvSpPr>
        <p:spPr bwMode="auto">
          <a:xfrm>
            <a:off x="971600" y="3566294"/>
            <a:ext cx="1380253" cy="510778"/>
          </a:xfrm>
          <a:prstGeom prst="wedgeRoundRectCallout">
            <a:avLst>
              <a:gd name="adj1" fmla="val 68197"/>
              <a:gd name="adj2" fmla="val 122893"/>
              <a:gd name="adj3" fmla="val 16667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Yes sir!</a:t>
            </a:r>
            <a:endParaRPr kumimoji="0" lang="en-SG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266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 Design: Example</a:t>
            </a:r>
            <a:endParaRPr lang="en-SG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4365104"/>
            <a:ext cx="8229600" cy="1765821"/>
          </a:xfrm>
        </p:spPr>
        <p:txBody>
          <a:bodyPr/>
          <a:lstStyle/>
          <a:p>
            <a:r>
              <a:rPr lang="en-US" dirty="0"/>
              <a:t>Assume that we want to capture parent-child relationships</a:t>
            </a:r>
            <a:endParaRPr lang="en-S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854555"/>
              </p:ext>
            </p:extLst>
          </p:nvPr>
        </p:nvGraphicFramePr>
        <p:xfrm>
          <a:off x="395536" y="1772816"/>
          <a:ext cx="4248472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Taxpayer_ID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Annual_Income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51248297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33891634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67904777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19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 Design: Example</a:t>
            </a:r>
            <a:endParaRPr lang="en-S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792118"/>
              </p:ext>
            </p:extLst>
          </p:nvPr>
        </p:nvGraphicFramePr>
        <p:xfrm>
          <a:off x="395536" y="1772816"/>
          <a:ext cx="561662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Taxpayer_ID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Calibri" panose="020F0502020204030204" pitchFamily="34" charset="0"/>
                        </a:rPr>
                        <a:t>Annual_Income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Child_ID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51248297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33891634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67904777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ontent Placeholder 5"/>
          <p:cNvSpPr>
            <a:spLocks noGrp="1"/>
          </p:cNvSpPr>
          <p:nvPr>
            <p:ph idx="1"/>
          </p:nvPr>
        </p:nvSpPr>
        <p:spPr>
          <a:xfrm>
            <a:off x="457200" y="4365104"/>
            <a:ext cx="8229600" cy="1765821"/>
          </a:xfrm>
        </p:spPr>
        <p:txBody>
          <a:bodyPr/>
          <a:lstStyle/>
          <a:p>
            <a:r>
              <a:rPr lang="en-US" dirty="0"/>
              <a:t>Is one column enough?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975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 Design: Example</a:t>
            </a:r>
            <a:endParaRPr lang="en-S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5536" y="1772816"/>
          <a:ext cx="741682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Taxpayer_ID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Calibri" panose="020F0502020204030204" pitchFamily="34" charset="0"/>
                        </a:rPr>
                        <a:t>Annual_Income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Child_ID1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Child_ID2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51248297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33891634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67904777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ontent Placeholder 5"/>
          <p:cNvSpPr>
            <a:spLocks noGrp="1"/>
          </p:cNvSpPr>
          <p:nvPr>
            <p:ph idx="1"/>
          </p:nvPr>
        </p:nvSpPr>
        <p:spPr>
          <a:xfrm>
            <a:off x="457200" y="4365104"/>
            <a:ext cx="8229600" cy="1765821"/>
          </a:xfrm>
        </p:spPr>
        <p:txBody>
          <a:bodyPr/>
          <a:lstStyle/>
          <a:p>
            <a:r>
              <a:rPr lang="en-US" dirty="0"/>
              <a:t>Is two columns enough?</a:t>
            </a:r>
          </a:p>
          <a:p>
            <a:r>
              <a:rPr lang="en-US" dirty="0"/>
              <a:t>Assume that two columns are enough</a:t>
            </a:r>
          </a:p>
          <a:p>
            <a:r>
              <a:rPr lang="en-US" dirty="0"/>
              <a:t>Does everyone have two children?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449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 Design: Example</a:t>
            </a:r>
            <a:endParaRPr lang="en-S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61062"/>
              </p:ext>
            </p:extLst>
          </p:nvPr>
        </p:nvGraphicFramePr>
        <p:xfrm>
          <a:off x="395536" y="1772816"/>
          <a:ext cx="741682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Taxpayer_ID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Calibri" panose="020F0502020204030204" pitchFamily="34" charset="0"/>
                        </a:rPr>
                        <a:t>Annual_Income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Child_ID1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Child_ID2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51248297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33891634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67904777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70000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ontent Placeholder 5"/>
          <p:cNvSpPr>
            <a:spLocks noGrp="1"/>
          </p:cNvSpPr>
          <p:nvPr>
            <p:ph idx="1"/>
          </p:nvPr>
        </p:nvSpPr>
        <p:spPr>
          <a:xfrm>
            <a:off x="457200" y="4365104"/>
            <a:ext cx="8229600" cy="1765821"/>
          </a:xfrm>
        </p:spPr>
        <p:txBody>
          <a:bodyPr/>
          <a:lstStyle/>
          <a:p>
            <a:r>
              <a:rPr lang="en-US" dirty="0"/>
              <a:t>Is two columns enough?</a:t>
            </a:r>
          </a:p>
          <a:p>
            <a:r>
              <a:rPr lang="en-US" dirty="0"/>
              <a:t>Assume that two columns are enough</a:t>
            </a:r>
          </a:p>
          <a:p>
            <a:r>
              <a:rPr lang="en-US" dirty="0"/>
              <a:t>Does everyone have two children?</a:t>
            </a:r>
            <a:endParaRPr lang="en-SG" dirty="0"/>
          </a:p>
        </p:txBody>
      </p:sp>
      <p:sp>
        <p:nvSpPr>
          <p:cNvPr id="7" name="TextBox 6"/>
          <p:cNvSpPr txBox="1"/>
          <p:nvPr/>
        </p:nvSpPr>
        <p:spPr>
          <a:xfrm>
            <a:off x="395536" y="1700808"/>
            <a:ext cx="8291264" cy="3133505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</a:rPr>
              <a:t>We need a principled way to design relation schemas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</a:rPr>
              <a:t>This is can be done based on the </a:t>
            </a:r>
            <a:br>
              <a:rPr lang="en-US" sz="3600" dirty="0">
                <a:latin typeface="Calibri" panose="020F0502020204030204" pitchFamily="34" charset="0"/>
              </a:rPr>
            </a:br>
            <a:r>
              <a:rPr lang="en-US" sz="3600" i="1" dirty="0">
                <a:solidFill>
                  <a:srgbClr val="C00000"/>
                </a:solidFill>
                <a:latin typeface="Calibri" panose="020F0502020204030204" pitchFamily="34" charset="0"/>
              </a:rPr>
              <a:t>Entity-Relationship model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</a:rPr>
              <a:t>More details starting next week</a:t>
            </a:r>
            <a:endParaRPr lang="en-SG" sz="3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26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use relational database systems</a:t>
            </a:r>
          </a:p>
          <a:p>
            <a:pPr lvl="1"/>
            <a:r>
              <a:rPr lang="en-US" dirty="0"/>
              <a:t>SQL and its extensions</a:t>
            </a:r>
          </a:p>
          <a:p>
            <a:r>
              <a:rPr lang="en-US" dirty="0"/>
              <a:t>How to design a relational database</a:t>
            </a:r>
          </a:p>
          <a:p>
            <a:pPr lvl="1"/>
            <a:r>
              <a:rPr lang="en-US" dirty="0"/>
              <a:t>ER modelling</a:t>
            </a:r>
          </a:p>
          <a:p>
            <a:pPr lvl="1"/>
            <a:r>
              <a:rPr lang="en-US" dirty="0"/>
              <a:t>Functional dependencies</a:t>
            </a:r>
          </a:p>
          <a:p>
            <a:pPr lvl="1"/>
            <a:r>
              <a:rPr lang="en-US" dirty="0"/>
              <a:t>Normalization</a:t>
            </a:r>
          </a:p>
          <a:p>
            <a:r>
              <a:rPr lang="en-US" dirty="0"/>
              <a:t>Formal theory behind relational databases</a:t>
            </a:r>
          </a:p>
          <a:p>
            <a:pPr lvl="1"/>
            <a:r>
              <a:rPr lang="en-US" dirty="0"/>
              <a:t>Relational algebra</a:t>
            </a:r>
          </a:p>
        </p:txBody>
      </p:sp>
    </p:spTree>
    <p:extLst>
      <p:ext uri="{BB962C8B-B14F-4D97-AF65-F5344CB8AC3E}">
        <p14:creationId xmlns:p14="http://schemas.microsoft.com/office/powerpoint/2010/main" val="253642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</a:t>
            </a:r>
            <a:r>
              <a:rPr lang="en-US" dirty="0" err="1"/>
              <a:t>Overivew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use relational database systems</a:t>
            </a:r>
          </a:p>
          <a:p>
            <a:pPr lvl="1"/>
            <a:r>
              <a:rPr lang="en-US" dirty="0"/>
              <a:t>SQL and its extensions</a:t>
            </a:r>
          </a:p>
          <a:p>
            <a:r>
              <a:rPr lang="en-US" dirty="0"/>
              <a:t>How to design a relational database</a:t>
            </a:r>
          </a:p>
          <a:p>
            <a:pPr lvl="1"/>
            <a:r>
              <a:rPr lang="en-US" dirty="0"/>
              <a:t>ER modelling</a:t>
            </a:r>
          </a:p>
          <a:p>
            <a:pPr lvl="1"/>
            <a:r>
              <a:rPr lang="en-US" dirty="0"/>
              <a:t>Functional dependencies</a:t>
            </a:r>
          </a:p>
          <a:p>
            <a:pPr lvl="1"/>
            <a:r>
              <a:rPr lang="en-US" dirty="0"/>
              <a:t>Normalization</a:t>
            </a:r>
          </a:p>
          <a:p>
            <a:r>
              <a:rPr lang="en-US" dirty="0"/>
              <a:t>Formal theory behind relational databases</a:t>
            </a:r>
          </a:p>
          <a:p>
            <a:pPr lvl="1"/>
            <a:r>
              <a:rPr lang="en-US" dirty="0"/>
              <a:t>Relational algebra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16016" y="4528871"/>
            <a:ext cx="4032448" cy="1348401"/>
          </a:xfrm>
          <a:prstGeom prst="rect">
            <a:avLst/>
          </a:prstGeom>
          <a:solidFill>
            <a:srgbClr val="FFFFCC"/>
          </a:solidFill>
          <a:ln w="38100">
            <a:solidFill>
              <a:srgbClr val="C00000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</a:rPr>
              <a:t>Warning: These three are difficult topics</a:t>
            </a:r>
            <a:endParaRPr lang="en-SG" sz="3200" dirty="0">
              <a:latin typeface="Calibri" panose="020F0502020204030204" pitchFamily="34" charset="0"/>
            </a:endParaRPr>
          </a:p>
        </p:txBody>
      </p:sp>
      <p:cxnSp>
        <p:nvCxnSpPr>
          <p:cNvPr id="6" name="Straight Arrow Connector 5"/>
          <p:cNvCxnSpPr>
            <a:stCxn id="4" idx="1"/>
          </p:cNvCxnSpPr>
          <p:nvPr/>
        </p:nvCxnSpPr>
        <p:spPr bwMode="auto">
          <a:xfrm flipH="1">
            <a:off x="3779912" y="5203072"/>
            <a:ext cx="936104" cy="17014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H="1" flipV="1">
            <a:off x="3203848" y="4365104"/>
            <a:ext cx="1512168" cy="36004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H="1" flipV="1">
            <a:off x="4644008" y="3933056"/>
            <a:ext cx="504056" cy="59581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705070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Next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Structured Query Language (SQL)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30902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Query Language (SQL)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i="1" dirty="0"/>
              <a:t>declarative</a:t>
            </a:r>
            <a:r>
              <a:rPr lang="en-US" dirty="0"/>
              <a:t> language for managing data in a RDBMS</a:t>
            </a:r>
          </a:p>
          <a:p>
            <a:pPr lvl="1"/>
            <a:r>
              <a:rPr lang="en-US" dirty="0"/>
              <a:t>Tell the RDBMS </a:t>
            </a:r>
            <a:r>
              <a:rPr lang="en-US" i="1" dirty="0"/>
              <a:t>what</a:t>
            </a:r>
            <a:r>
              <a:rPr lang="en-US" dirty="0"/>
              <a:t> to compute (instead of </a:t>
            </a:r>
            <a:r>
              <a:rPr lang="en-US" i="1" dirty="0"/>
              <a:t>how</a:t>
            </a:r>
            <a:r>
              <a:rPr lang="en-US" dirty="0"/>
              <a:t> to compute)</a:t>
            </a:r>
          </a:p>
          <a:p>
            <a:r>
              <a:rPr lang="en-US" dirty="0"/>
              <a:t>There exists a standard syntax</a:t>
            </a:r>
          </a:p>
          <a:p>
            <a:pPr lvl="1"/>
            <a:r>
              <a:rPr lang="en-US" dirty="0"/>
              <a:t>But different RDBMS may have minor variations</a:t>
            </a:r>
          </a:p>
          <a:p>
            <a:r>
              <a:rPr lang="en-US" dirty="0"/>
              <a:t>Consists of two parts</a:t>
            </a:r>
          </a:p>
          <a:p>
            <a:pPr lvl="1"/>
            <a:r>
              <a:rPr lang="en-US" dirty="0"/>
              <a:t>Data Definition Language (DDL)</a:t>
            </a:r>
          </a:p>
          <a:p>
            <a:pPr lvl="2"/>
            <a:r>
              <a:rPr lang="en-US" dirty="0"/>
              <a:t>Create/Alter/Delete tables</a:t>
            </a:r>
          </a:p>
          <a:p>
            <a:pPr lvl="1"/>
            <a:r>
              <a:rPr lang="en-US" dirty="0"/>
              <a:t>Data Manipulation Language (DML)</a:t>
            </a:r>
          </a:p>
          <a:p>
            <a:pPr lvl="2"/>
            <a:r>
              <a:rPr lang="en-US" dirty="0"/>
              <a:t>Query one or more tables</a:t>
            </a:r>
          </a:p>
          <a:p>
            <a:pPr lvl="2"/>
            <a:r>
              <a:rPr lang="en-US" dirty="0"/>
              <a:t>Insert/Delete/Modify tuples in tables</a:t>
            </a:r>
          </a:p>
          <a:p>
            <a:r>
              <a:rPr lang="en-US" dirty="0"/>
              <a:t>We will talk about DML first</a:t>
            </a:r>
          </a:p>
        </p:txBody>
      </p:sp>
    </p:spTree>
    <p:extLst>
      <p:ext uri="{BB962C8B-B14F-4D97-AF65-F5344CB8AC3E}">
        <p14:creationId xmlns:p14="http://schemas.microsoft.com/office/powerpoint/2010/main" val="374294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Query Language (SQL)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49080"/>
            <a:ext cx="8229600" cy="198184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will start with some simple SQL queries on the table above</a:t>
            </a:r>
          </a:p>
          <a:p>
            <a:r>
              <a:rPr lang="en-US" dirty="0"/>
              <a:t>Assume the following attribute domains:</a:t>
            </a:r>
          </a:p>
          <a:p>
            <a:pPr lvl="1"/>
            <a:r>
              <a:rPr lang="en-US" dirty="0" err="1"/>
              <a:t>PName</a:t>
            </a:r>
            <a:r>
              <a:rPr lang="en-US" dirty="0"/>
              <a:t>, Category, Manufacturer: strings</a:t>
            </a:r>
          </a:p>
          <a:p>
            <a:pPr lvl="1"/>
            <a:r>
              <a:rPr lang="en-US" dirty="0"/>
              <a:t>Price: integer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5310253"/>
              </p:ext>
            </p:extLst>
          </p:nvPr>
        </p:nvGraphicFramePr>
        <p:xfrm>
          <a:off x="827584" y="1719064"/>
          <a:ext cx="7560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9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7584" y="1124744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8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SQL Query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7909906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0684100"/>
              </p:ext>
            </p:extLst>
          </p:nvPr>
        </p:nvGraphicFramePr>
        <p:xfrm>
          <a:off x="2483768" y="4885144"/>
          <a:ext cx="6120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</a:rPr>
                        <a:t>79</a:t>
                      </a:r>
                      <a:r>
                        <a:rPr lang="en-US" sz="2200" dirty="0">
                          <a:latin typeface="Calibri" panose="020F0502020204030204" pitchFamily="34" charset="0"/>
                        </a:rPr>
                        <a:t>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9552" y="3501008"/>
            <a:ext cx="4464496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*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Category = ‘Phone’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9" name="Down Arrow 8"/>
          <p:cNvSpPr/>
          <p:nvPr/>
        </p:nvSpPr>
        <p:spPr bwMode="auto">
          <a:xfrm>
            <a:off x="5580112" y="3501008"/>
            <a:ext cx="432048" cy="1200329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44208" y="3769876"/>
            <a:ext cx="2088232" cy="523220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</a:rPr>
              <a:t>“selection”</a:t>
            </a:r>
            <a:endParaRPr lang="en-SG" sz="2800" dirty="0">
              <a:solidFill>
                <a:srgbClr val="C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274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SQL Query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6396501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3998310"/>
              </p:ext>
            </p:extLst>
          </p:nvPr>
        </p:nvGraphicFramePr>
        <p:xfrm>
          <a:off x="2483768" y="4885144"/>
          <a:ext cx="6120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9552" y="3501008"/>
            <a:ext cx="4464496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*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Category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</a:rPr>
              <a:t>&lt;&gt;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 ‘Phone’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9" name="Down Arrow 8"/>
          <p:cNvSpPr/>
          <p:nvPr/>
        </p:nvSpPr>
        <p:spPr bwMode="auto">
          <a:xfrm>
            <a:off x="5580112" y="3501008"/>
            <a:ext cx="432048" cy="1200329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822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SQL Query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700945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0261944"/>
              </p:ext>
            </p:extLst>
          </p:nvPr>
        </p:nvGraphicFramePr>
        <p:xfrm>
          <a:off x="2483768" y="4885144"/>
          <a:ext cx="612068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9552" y="3501008"/>
            <a:ext cx="6696744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*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Category = ‘Phone’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</a:rPr>
              <a:t>AND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 Price &gt; 800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9" name="Down Arrow 8"/>
          <p:cNvSpPr/>
          <p:nvPr/>
        </p:nvSpPr>
        <p:spPr bwMode="auto">
          <a:xfrm>
            <a:off x="7596336" y="3501008"/>
            <a:ext cx="432048" cy="1200329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65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SQL Query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3080181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9552" y="3501008"/>
            <a:ext cx="6696744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*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Category = ‘Tablet’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</a:rPr>
              <a:t>OR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 Price &gt; 1000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9" name="Down Arrow 8"/>
          <p:cNvSpPr/>
          <p:nvPr/>
        </p:nvSpPr>
        <p:spPr bwMode="auto">
          <a:xfrm>
            <a:off x="7596336" y="3501008"/>
            <a:ext cx="432048" cy="1200329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3714294"/>
              </p:ext>
            </p:extLst>
          </p:nvPr>
        </p:nvGraphicFramePr>
        <p:xfrm>
          <a:off x="2483768" y="4885144"/>
          <a:ext cx="6120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36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SQL Query (cont.)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6335310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4994464"/>
              </p:ext>
            </p:extLst>
          </p:nvPr>
        </p:nvGraphicFramePr>
        <p:xfrm>
          <a:off x="3851920" y="4885144"/>
          <a:ext cx="4680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9552" y="3501008"/>
            <a:ext cx="5544616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, Price, Manufacturer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Price &gt; 800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9" name="Down Arrow 8"/>
          <p:cNvSpPr/>
          <p:nvPr/>
        </p:nvSpPr>
        <p:spPr bwMode="auto">
          <a:xfrm>
            <a:off x="6156176" y="3501008"/>
            <a:ext cx="432048" cy="1200329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8224" y="3429000"/>
            <a:ext cx="2088232" cy="1384995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</a:rPr>
              <a:t>“selection</a:t>
            </a:r>
            <a:b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</a:rPr>
              <a:t>and projection”</a:t>
            </a:r>
            <a:endParaRPr lang="en-SG" sz="2800" dirty="0">
              <a:solidFill>
                <a:srgbClr val="C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378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default, SQL is NOT case sensitive (when it comes to keywords and names)</a:t>
            </a:r>
          </a:p>
          <a:p>
            <a:pPr lvl="1"/>
            <a:r>
              <a:rPr lang="en-US" dirty="0"/>
              <a:t>SELECT = Select = select</a:t>
            </a:r>
          </a:p>
          <a:p>
            <a:pPr lvl="1"/>
            <a:r>
              <a:rPr lang="en-US" dirty="0"/>
              <a:t>Product = product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dirty="0"/>
              <a:t>String constants must use single quotes</a:t>
            </a:r>
          </a:p>
          <a:p>
            <a:pPr lvl="1"/>
            <a:r>
              <a:rPr lang="en-US" dirty="0"/>
              <a:t>‘</a:t>
            </a:r>
            <a:r>
              <a:rPr lang="en-US" dirty="0" err="1"/>
              <a:t>abc</a:t>
            </a:r>
            <a:r>
              <a:rPr lang="en-US" dirty="0"/>
              <a:t>’ – OK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abc</a:t>
            </a:r>
            <a:r>
              <a:rPr lang="en-US" dirty="0"/>
              <a:t>” – NOT OK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718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for Strings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5929452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8552837"/>
              </p:ext>
            </p:extLst>
          </p:nvPr>
        </p:nvGraphicFramePr>
        <p:xfrm>
          <a:off x="2483768" y="4885144"/>
          <a:ext cx="612068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9552" y="3501008"/>
            <a:ext cx="6696744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*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 LIKE ‘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iPh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%’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9" name="Down Arrow 8"/>
          <p:cNvSpPr/>
          <p:nvPr/>
        </p:nvSpPr>
        <p:spPr bwMode="auto">
          <a:xfrm>
            <a:off x="7596336" y="3501008"/>
            <a:ext cx="432048" cy="1200329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9552" y="5805264"/>
            <a:ext cx="6696744" cy="461665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% stands for “any string”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392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for Strings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9762984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9935511"/>
              </p:ext>
            </p:extLst>
          </p:nvPr>
        </p:nvGraphicFramePr>
        <p:xfrm>
          <a:off x="2483768" y="4885144"/>
          <a:ext cx="612068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9552" y="3501008"/>
            <a:ext cx="6696744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*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 LIKE ‘%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Ph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%’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9" name="Down Arrow 8"/>
          <p:cNvSpPr/>
          <p:nvPr/>
        </p:nvSpPr>
        <p:spPr bwMode="auto">
          <a:xfrm>
            <a:off x="7596336" y="3501008"/>
            <a:ext cx="432048" cy="1200329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9552" y="5805264"/>
            <a:ext cx="6696744" cy="461665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% stands for “any string”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742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for Strings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072292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3890415"/>
              </p:ext>
            </p:extLst>
          </p:nvPr>
        </p:nvGraphicFramePr>
        <p:xfrm>
          <a:off x="2483768" y="4885144"/>
          <a:ext cx="612068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9552" y="3501008"/>
            <a:ext cx="6696744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*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 LIKE ‘%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P%e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%’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9" name="Down Arrow 8"/>
          <p:cNvSpPr/>
          <p:nvPr/>
        </p:nvSpPr>
        <p:spPr bwMode="auto">
          <a:xfrm>
            <a:off x="7596336" y="3501008"/>
            <a:ext cx="432048" cy="1200329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9552" y="5805264"/>
            <a:ext cx="6696744" cy="461665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% stands for “any string”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146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for Strings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6126669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5617687"/>
              </p:ext>
            </p:extLst>
          </p:nvPr>
        </p:nvGraphicFramePr>
        <p:xfrm>
          <a:off x="2483768" y="4885144"/>
          <a:ext cx="612068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9552" y="3501008"/>
            <a:ext cx="6696744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*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 LIKE ‘_Phone X’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9" name="Down Arrow 8"/>
          <p:cNvSpPr/>
          <p:nvPr/>
        </p:nvSpPr>
        <p:spPr bwMode="auto">
          <a:xfrm>
            <a:off x="7596336" y="3501008"/>
            <a:ext cx="432048" cy="1200329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9552" y="5805264"/>
            <a:ext cx="6696744" cy="461665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_ stands for “any character”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934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for Strings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8122426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8822421"/>
              </p:ext>
            </p:extLst>
          </p:nvPr>
        </p:nvGraphicFramePr>
        <p:xfrm>
          <a:off x="2483768" y="4885144"/>
          <a:ext cx="612068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9552" y="3501008"/>
            <a:ext cx="6696744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*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 LIKE ‘_Phone__’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9" name="Down Arrow 8"/>
          <p:cNvSpPr/>
          <p:nvPr/>
        </p:nvSpPr>
        <p:spPr bwMode="auto">
          <a:xfrm>
            <a:off x="7596336" y="3501008"/>
            <a:ext cx="432048" cy="1200329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9552" y="5805264"/>
            <a:ext cx="6696744" cy="461665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_ stands for “any character”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764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for Strings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7835526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9552" y="3501008"/>
            <a:ext cx="6696744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*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</a:rPr>
              <a:t>NOT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 LIKE ‘_Phone__’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97156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Eliminating Duplicates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3272528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9552" y="3678123"/>
            <a:ext cx="2880320" cy="830997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Category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7151587"/>
              </p:ext>
            </p:extLst>
          </p:nvPr>
        </p:nvGraphicFramePr>
        <p:xfrm>
          <a:off x="7092280" y="3789040"/>
          <a:ext cx="144016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Bent Arrow 12"/>
          <p:cNvSpPr/>
          <p:nvPr/>
        </p:nvSpPr>
        <p:spPr bwMode="auto">
          <a:xfrm rot="10800000" flipH="1">
            <a:off x="5292080" y="3501008"/>
            <a:ext cx="1584176" cy="1584175"/>
          </a:xfrm>
          <a:prstGeom prst="bentArrow">
            <a:avLst>
              <a:gd name="adj1" fmla="val 16034"/>
              <a:gd name="adj2" fmla="val 17257"/>
              <a:gd name="adj3" fmla="val 21740"/>
              <a:gd name="adj4" fmla="val 77483"/>
            </a:avLst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492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Eliminating Duplicates (cont.)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8486839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9552" y="3678123"/>
            <a:ext cx="4536504" cy="830997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宋体" pitchFamily="2" charset="-122"/>
              </a:rPr>
              <a:t>DISTINCT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 Category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endParaRPr lang="en-SG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9997803"/>
              </p:ext>
            </p:extLst>
          </p:nvPr>
        </p:nvGraphicFramePr>
        <p:xfrm>
          <a:off x="7092280" y="3789040"/>
          <a:ext cx="144016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Bent Arrow 9"/>
          <p:cNvSpPr/>
          <p:nvPr/>
        </p:nvSpPr>
        <p:spPr bwMode="auto">
          <a:xfrm rot="10800000" flipH="1">
            <a:off x="5292080" y="3501008"/>
            <a:ext cx="1584176" cy="1584175"/>
          </a:xfrm>
          <a:prstGeom prst="bentArrow">
            <a:avLst>
              <a:gd name="adj1" fmla="val 16034"/>
              <a:gd name="adj2" fmla="val 17257"/>
              <a:gd name="adj3" fmla="val 21740"/>
              <a:gd name="adj4" fmla="val 77483"/>
            </a:avLst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388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the Results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326882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938416"/>
              </p:ext>
            </p:extLst>
          </p:nvPr>
        </p:nvGraphicFramePr>
        <p:xfrm>
          <a:off x="5940152" y="4885144"/>
          <a:ext cx="259228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39552" y="3501008"/>
            <a:ext cx="3384376" cy="1569660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, Price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Price &lt; 800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ORDER BY  </a:t>
            </a:r>
            <a:r>
              <a:rPr lang="en-SG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endParaRPr lang="en-US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6660232" y="3501007"/>
            <a:ext cx="432048" cy="1200329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23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the Results (cont.)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948902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4380633"/>
              </p:ext>
            </p:extLst>
          </p:nvPr>
        </p:nvGraphicFramePr>
        <p:xfrm>
          <a:off x="5940152" y="4885144"/>
          <a:ext cx="259228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39552" y="3501008"/>
            <a:ext cx="3744416" cy="1569660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, Price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Price &lt; 800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ORDER BY  </a:t>
            </a:r>
            <a:r>
              <a:rPr lang="en-SG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 DESC</a:t>
            </a:r>
            <a:endParaRPr lang="en-US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6660232" y="3501007"/>
            <a:ext cx="432048" cy="1200329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26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the Results (cont.)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5247247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39552" y="3501008"/>
            <a:ext cx="4320480" cy="1569660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, Category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Price &lt; 1000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ORDER BY  Category, </a:t>
            </a:r>
            <a:r>
              <a:rPr lang="en-SG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endParaRPr lang="en-US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6660232" y="3501007"/>
            <a:ext cx="432048" cy="784831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4607212"/>
              </p:ext>
            </p:extLst>
          </p:nvPr>
        </p:nvGraphicFramePr>
        <p:xfrm>
          <a:off x="5580112" y="4437112"/>
          <a:ext cx="302433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93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the Results (cont.)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090645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39552" y="3501008"/>
            <a:ext cx="4320480" cy="1938992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, Category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Price &lt; 1000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ORDER BY  Category DESC,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                   </a:t>
            </a:r>
            <a:r>
              <a:rPr lang="en-SG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endParaRPr lang="en-US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6660232" y="3501007"/>
            <a:ext cx="432048" cy="784831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9938652"/>
              </p:ext>
            </p:extLst>
          </p:nvPr>
        </p:nvGraphicFramePr>
        <p:xfrm>
          <a:off x="5580112" y="4437112"/>
          <a:ext cx="302433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26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the Results (cont.)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2466076"/>
              </p:ext>
            </p:extLst>
          </p:nvPr>
        </p:nvGraphicFramePr>
        <p:xfrm>
          <a:off x="2483768" y="1196752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39552" y="3501008"/>
            <a:ext cx="4320480" cy="1938992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</a:t>
            </a:r>
            <a:r>
              <a:rPr lang="en-US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, Category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WHERE  Price &lt; 1000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ORDER BY  Category DESC,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                   </a:t>
            </a:r>
            <a:r>
              <a:rPr lang="en-SG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 DESC</a:t>
            </a:r>
            <a:endParaRPr lang="en-US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6660232" y="3501007"/>
            <a:ext cx="432048" cy="784831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3236725"/>
              </p:ext>
            </p:extLst>
          </p:nvPr>
        </p:nvGraphicFramePr>
        <p:xfrm>
          <a:off x="5580112" y="4437112"/>
          <a:ext cx="302433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9592" y="119675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29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Exercise</a:t>
            </a:r>
            <a:endParaRPr lang="en-S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41168"/>
            <a:ext cx="8229600" cy="1189757"/>
          </a:xfrm>
        </p:spPr>
        <p:txBody>
          <a:bodyPr/>
          <a:lstStyle/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4214782"/>
              </p:ext>
            </p:extLst>
          </p:nvPr>
        </p:nvGraphicFramePr>
        <p:xfrm>
          <a:off x="2555776" y="188640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9552" y="2636912"/>
            <a:ext cx="4680520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DISTINCT Category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ORDER BY  Category</a:t>
            </a:r>
            <a:endParaRPr lang="en-US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600" y="1249596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2348880"/>
            <a:ext cx="7553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latin typeface="Calibri" panose="020F0502020204030204" pitchFamily="34" charset="0"/>
              </a:rPr>
              <a:t>?</a:t>
            </a:r>
            <a:endParaRPr lang="en-SG" sz="9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3284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Exercise</a:t>
            </a:r>
            <a:endParaRPr lang="en-S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41168"/>
            <a:ext cx="8229600" cy="1189757"/>
          </a:xfrm>
        </p:spPr>
        <p:txBody>
          <a:bodyPr/>
          <a:lstStyle/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0117723"/>
              </p:ext>
            </p:extLst>
          </p:nvPr>
        </p:nvGraphicFramePr>
        <p:xfrm>
          <a:off x="2555776" y="188640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71600" y="1249596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0451774"/>
              </p:ext>
            </p:extLst>
          </p:nvPr>
        </p:nvGraphicFramePr>
        <p:xfrm>
          <a:off x="7164288" y="2636912"/>
          <a:ext cx="144016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Bent Arrow 8"/>
          <p:cNvSpPr/>
          <p:nvPr/>
        </p:nvSpPr>
        <p:spPr bwMode="auto">
          <a:xfrm rot="10800000" flipH="1">
            <a:off x="5796136" y="2444988"/>
            <a:ext cx="1224136" cy="1272044"/>
          </a:xfrm>
          <a:prstGeom prst="bentArrow">
            <a:avLst>
              <a:gd name="adj1" fmla="val 16034"/>
              <a:gd name="adj2" fmla="val 17257"/>
              <a:gd name="adj3" fmla="val 21740"/>
              <a:gd name="adj4" fmla="val 77483"/>
            </a:avLst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9552" y="2636912"/>
            <a:ext cx="4680520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DISTINCT Category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ORDER BY  Category</a:t>
            </a:r>
            <a:endParaRPr lang="en-US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81900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Exercise</a:t>
            </a:r>
            <a:endParaRPr lang="en-S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41168"/>
            <a:ext cx="8229600" cy="1189757"/>
          </a:xfrm>
        </p:spPr>
        <p:txBody>
          <a:bodyPr/>
          <a:lstStyle/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9731584"/>
              </p:ext>
            </p:extLst>
          </p:nvPr>
        </p:nvGraphicFramePr>
        <p:xfrm>
          <a:off x="2555776" y="188640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9552" y="2636912"/>
            <a:ext cx="4680520" cy="1569660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DISTINCT Category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ORDER BY  Category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WHERE  Price &lt; 1000</a:t>
            </a:r>
            <a:endParaRPr lang="en-US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600" y="1249596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2348880"/>
            <a:ext cx="7553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latin typeface="Calibri" panose="020F0502020204030204" pitchFamily="34" charset="0"/>
              </a:rPr>
              <a:t>?</a:t>
            </a:r>
            <a:endParaRPr lang="en-SG" sz="9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9376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Exercise</a:t>
            </a:r>
            <a:endParaRPr lang="en-S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41168"/>
            <a:ext cx="8229600" cy="1189757"/>
          </a:xfrm>
        </p:spPr>
        <p:txBody>
          <a:bodyPr/>
          <a:lstStyle/>
          <a:p>
            <a:r>
              <a:rPr lang="en-US" dirty="0"/>
              <a:t>“WHERE” should always proceed “ORDER BY”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9075921"/>
              </p:ext>
            </p:extLst>
          </p:nvPr>
        </p:nvGraphicFramePr>
        <p:xfrm>
          <a:off x="2555776" y="188640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9552" y="2636912"/>
            <a:ext cx="4680520" cy="1569660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DISTINCT Category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ORDER BY  Category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WHERE  Price &lt; 1000</a:t>
            </a:r>
            <a:endParaRPr lang="en-US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600" y="1249596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8224" y="3068960"/>
            <a:ext cx="1278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6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96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Exercise</a:t>
            </a:r>
            <a:endParaRPr lang="en-S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41168"/>
            <a:ext cx="8229600" cy="1189757"/>
          </a:xfrm>
        </p:spPr>
        <p:txBody>
          <a:bodyPr/>
          <a:lstStyle/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3255237"/>
              </p:ext>
            </p:extLst>
          </p:nvPr>
        </p:nvGraphicFramePr>
        <p:xfrm>
          <a:off x="2555776" y="188640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9552" y="2636912"/>
            <a:ext cx="4680520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DISTINCT Category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ORDER BY  </a:t>
            </a:r>
            <a:r>
              <a:rPr lang="en-SG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endParaRPr lang="en-US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600" y="1249596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2348880"/>
            <a:ext cx="7553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latin typeface="Calibri" panose="020F0502020204030204" pitchFamily="34" charset="0"/>
              </a:rPr>
              <a:t>?</a:t>
            </a:r>
            <a:endParaRPr lang="en-SG" sz="9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2358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Exercise</a:t>
            </a:r>
            <a:endParaRPr lang="en-S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53136"/>
            <a:ext cx="8229600" cy="1477789"/>
          </a:xfrm>
        </p:spPr>
        <p:txBody>
          <a:bodyPr/>
          <a:lstStyle/>
          <a:p>
            <a:r>
              <a:rPr lang="en-SG" dirty="0"/>
              <a:t>“ORDER BY” items must appear in the select list if “SELECT DISTINCT” is specified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7429020"/>
              </p:ext>
            </p:extLst>
          </p:nvPr>
        </p:nvGraphicFramePr>
        <p:xfrm>
          <a:off x="2555776" y="188640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9552" y="2636912"/>
            <a:ext cx="4680520" cy="1200329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SELECT  DISTINCT Category</a:t>
            </a:r>
            <a:br>
              <a:rPr lang="en-US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US" sz="2400" dirty="0">
                <a:latin typeface="Calibri" panose="020F0502020204030204" pitchFamily="34" charset="0"/>
                <a:ea typeface="宋体" pitchFamily="2" charset="-122"/>
              </a:rPr>
              <a:t>FROM     Product</a:t>
            </a:r>
            <a:br>
              <a:rPr lang="en-SG" sz="2400" dirty="0">
                <a:latin typeface="Calibri" panose="020F0502020204030204" pitchFamily="34" charset="0"/>
                <a:ea typeface="宋体" pitchFamily="2" charset="-122"/>
              </a:rPr>
            </a:br>
            <a:r>
              <a:rPr lang="en-SG" sz="2400" dirty="0">
                <a:latin typeface="Calibri" panose="020F0502020204030204" pitchFamily="34" charset="0"/>
                <a:ea typeface="宋体" pitchFamily="2" charset="-122"/>
              </a:rPr>
              <a:t>ORDER BY  </a:t>
            </a:r>
            <a:r>
              <a:rPr lang="en-SG" sz="2400" dirty="0" err="1">
                <a:latin typeface="Calibri" panose="020F0502020204030204" pitchFamily="34" charset="0"/>
                <a:ea typeface="宋体" pitchFamily="2" charset="-122"/>
              </a:rPr>
              <a:t>PName</a:t>
            </a:r>
            <a:endParaRPr lang="en-US" sz="2400" dirty="0">
              <a:latin typeface="Calibri" panose="020F0502020204030204" pitchFamily="34" charset="0"/>
              <a:ea typeface="宋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600" y="1249596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8224" y="2924944"/>
            <a:ext cx="1278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6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0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SELECT … FROM … WHERE</a:t>
            </a:r>
          </a:p>
          <a:p>
            <a:r>
              <a:rPr lang="en-US" dirty="0"/>
              <a:t>ORDER BY</a:t>
            </a:r>
          </a:p>
          <a:p>
            <a:r>
              <a:rPr lang="en-US" dirty="0">
                <a:solidFill>
                  <a:srgbClr val="C00000"/>
                </a:solidFill>
              </a:rPr>
              <a:t>Joins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910776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  <a:endParaRPr lang="en-SG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1461702"/>
              </p:ext>
            </p:extLst>
          </p:nvPr>
        </p:nvGraphicFramePr>
        <p:xfrm>
          <a:off x="611560" y="2060848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6650490"/>
              </p:ext>
            </p:extLst>
          </p:nvPr>
        </p:nvGraphicFramePr>
        <p:xfrm>
          <a:off x="3900923" y="188640"/>
          <a:ext cx="468052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Japan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Korea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374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USA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123728" y="719118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49932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5013176"/>
            <a:ext cx="8229600" cy="1117749"/>
          </a:xfrm>
        </p:spPr>
        <p:txBody>
          <a:bodyPr>
            <a:normAutofit/>
          </a:bodyPr>
          <a:lstStyle/>
          <a:p>
            <a:r>
              <a:rPr lang="en-US" dirty="0"/>
              <a:t>A user wants to know the names and prices of all products by Japan companies. How?</a:t>
            </a:r>
          </a:p>
        </p:txBody>
      </p:sp>
    </p:spTree>
    <p:extLst>
      <p:ext uri="{BB962C8B-B14F-4D97-AF65-F5344CB8AC3E}">
        <p14:creationId xmlns:p14="http://schemas.microsoft.com/office/powerpoint/2010/main" val="42741257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  <a:endParaRPr lang="en-SG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3215917"/>
              </p:ext>
            </p:extLst>
          </p:nvPr>
        </p:nvGraphicFramePr>
        <p:xfrm>
          <a:off x="611560" y="2060848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8495399"/>
              </p:ext>
            </p:extLst>
          </p:nvPr>
        </p:nvGraphicFramePr>
        <p:xfrm>
          <a:off x="3900923" y="188640"/>
          <a:ext cx="468052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Japan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Korea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374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USA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123728" y="719118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499322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4653136"/>
            <a:ext cx="8229600" cy="147778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SELECT </a:t>
            </a:r>
            <a:r>
              <a:rPr lang="en-US" dirty="0" err="1"/>
              <a:t>PName</a:t>
            </a:r>
            <a:r>
              <a:rPr lang="en-US" dirty="0"/>
              <a:t>, Price</a:t>
            </a:r>
            <a:br>
              <a:rPr lang="en-US" dirty="0"/>
            </a:br>
            <a:r>
              <a:rPr lang="en-US" dirty="0"/>
              <a:t>FROM    Product, Company</a:t>
            </a:r>
            <a:br>
              <a:rPr lang="en-US" dirty="0"/>
            </a:br>
            <a:r>
              <a:rPr lang="en-US" dirty="0"/>
              <a:t>WHERE  Country = ‘Japan’</a:t>
            </a:r>
            <a:br>
              <a:rPr lang="en-US" dirty="0"/>
            </a:br>
            <a:r>
              <a:rPr lang="en-US" dirty="0"/>
              <a:t>              AND Manufacturer = </a:t>
            </a:r>
            <a:r>
              <a:rPr lang="en-US" dirty="0" err="1"/>
              <a:t>CName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0321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  <a:endParaRPr lang="en-SG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79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Find the names of the persons who work for companies in USA</a:t>
            </a:r>
          </a:p>
          <a:p>
            <a:r>
              <a:rPr lang="en-US" dirty="0"/>
              <a:t>SELECT </a:t>
            </a:r>
            <a:r>
              <a:rPr lang="en-US" dirty="0" err="1"/>
              <a:t>PName</a:t>
            </a:r>
            <a:br>
              <a:rPr lang="en-US" dirty="0"/>
            </a:br>
            <a:r>
              <a:rPr lang="en-US" dirty="0"/>
              <a:t>FROM    Person, Company</a:t>
            </a:r>
            <a:br>
              <a:rPr lang="en-US" dirty="0"/>
            </a:br>
            <a:r>
              <a:rPr lang="en-US" dirty="0"/>
              <a:t>WHERE  Country = ‘USA’</a:t>
            </a:r>
            <a:br>
              <a:rPr lang="en-US" dirty="0"/>
            </a:br>
            <a:r>
              <a:rPr lang="en-US" dirty="0"/>
              <a:t>              AND </a:t>
            </a:r>
            <a:r>
              <a:rPr lang="en-US" dirty="0" err="1"/>
              <a:t>WorksFor</a:t>
            </a:r>
            <a:r>
              <a:rPr lang="en-US" dirty="0"/>
              <a:t> = </a:t>
            </a:r>
            <a:r>
              <a:rPr lang="en-US" dirty="0" err="1"/>
              <a:t>CName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2719460"/>
              </p:ext>
            </p:extLst>
          </p:nvPr>
        </p:nvGraphicFramePr>
        <p:xfrm>
          <a:off x="395536" y="1844824"/>
          <a:ext cx="396044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WorksFor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7532274"/>
              </p:ext>
            </p:extLst>
          </p:nvPr>
        </p:nvGraphicFramePr>
        <p:xfrm>
          <a:off x="4860032" y="1855480"/>
          <a:ext cx="374441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60032" y="1196752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536" y="1196752"/>
            <a:ext cx="129614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Person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09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  <a:endParaRPr lang="en-SG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7949"/>
          </a:xfrm>
        </p:spPr>
        <p:txBody>
          <a:bodyPr>
            <a:normAutofit fontScale="92500"/>
          </a:bodyPr>
          <a:lstStyle/>
          <a:p>
            <a:r>
              <a:rPr lang="en-US" dirty="0"/>
              <a:t>Find the names the persons who work for companies in USA, as well as their company addresses</a:t>
            </a:r>
          </a:p>
          <a:p>
            <a:r>
              <a:rPr lang="en-US" dirty="0"/>
              <a:t>SELECT  </a:t>
            </a:r>
            <a:r>
              <a:rPr lang="en-US" dirty="0" err="1"/>
              <a:t>PName</a:t>
            </a:r>
            <a:r>
              <a:rPr lang="en-US" dirty="0"/>
              <a:t>, Address</a:t>
            </a:r>
            <a:br>
              <a:rPr lang="en-US" dirty="0"/>
            </a:br>
            <a:r>
              <a:rPr lang="en-US" dirty="0"/>
              <a:t>FROM     Person, Company</a:t>
            </a:r>
            <a:br>
              <a:rPr lang="en-US" dirty="0"/>
            </a:br>
            <a:r>
              <a:rPr lang="en-US" dirty="0"/>
              <a:t>WHERE  Country = ‘USA’</a:t>
            </a:r>
            <a:br>
              <a:rPr lang="en-US" dirty="0"/>
            </a:br>
            <a:r>
              <a:rPr lang="en-US" dirty="0"/>
              <a:t>              AND </a:t>
            </a:r>
            <a:r>
              <a:rPr lang="en-US" dirty="0" err="1"/>
              <a:t>WorksFor</a:t>
            </a:r>
            <a:r>
              <a:rPr lang="en-US" dirty="0"/>
              <a:t> = </a:t>
            </a:r>
            <a:r>
              <a:rPr lang="en-US" dirty="0" err="1"/>
              <a:t>CName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588224" y="4654877"/>
            <a:ext cx="1278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6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2719460"/>
              </p:ext>
            </p:extLst>
          </p:nvPr>
        </p:nvGraphicFramePr>
        <p:xfrm>
          <a:off x="395536" y="1844824"/>
          <a:ext cx="396044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WorksFor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7532274"/>
              </p:ext>
            </p:extLst>
          </p:nvPr>
        </p:nvGraphicFramePr>
        <p:xfrm>
          <a:off x="4860032" y="1855480"/>
          <a:ext cx="374441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860032" y="1196752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5536" y="1196752"/>
            <a:ext cx="129614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Person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1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  <a:endParaRPr lang="en-SG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9879685"/>
              </p:ext>
            </p:extLst>
          </p:nvPr>
        </p:nvGraphicFramePr>
        <p:xfrm>
          <a:off x="395536" y="1844824"/>
          <a:ext cx="396044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WorksFor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953415"/>
              </p:ext>
            </p:extLst>
          </p:nvPr>
        </p:nvGraphicFramePr>
        <p:xfrm>
          <a:off x="4860032" y="1855480"/>
          <a:ext cx="374441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60032" y="1196752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196752"/>
            <a:ext cx="129614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Person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7949"/>
          </a:xfrm>
        </p:spPr>
        <p:txBody>
          <a:bodyPr>
            <a:normAutofit fontScale="92500"/>
          </a:bodyPr>
          <a:lstStyle/>
          <a:p>
            <a:r>
              <a:rPr lang="en-US" dirty="0"/>
              <a:t>Find the names the persons who work for companies in USA, as well as their company addresses</a:t>
            </a:r>
          </a:p>
          <a:p>
            <a:r>
              <a:rPr lang="en-US" dirty="0"/>
              <a:t>SELECT  </a:t>
            </a:r>
            <a:r>
              <a:rPr lang="en-US" dirty="0" err="1"/>
              <a:t>PName</a:t>
            </a:r>
            <a:r>
              <a:rPr lang="en-US" dirty="0"/>
              <a:t>, </a:t>
            </a:r>
            <a:r>
              <a:rPr lang="en-US" dirty="0" err="1"/>
              <a:t>Company.Address</a:t>
            </a:r>
            <a:br>
              <a:rPr lang="en-US" dirty="0"/>
            </a:br>
            <a:r>
              <a:rPr lang="en-US" dirty="0"/>
              <a:t>FROM     Person, Company</a:t>
            </a:r>
            <a:br>
              <a:rPr lang="en-US" dirty="0"/>
            </a:br>
            <a:r>
              <a:rPr lang="en-US" dirty="0"/>
              <a:t>WHERE  Country = ‘USA’</a:t>
            </a:r>
            <a:br>
              <a:rPr lang="en-US" dirty="0"/>
            </a:br>
            <a:r>
              <a:rPr lang="en-US" dirty="0"/>
              <a:t>              AND </a:t>
            </a:r>
            <a:r>
              <a:rPr lang="en-US" dirty="0" err="1"/>
              <a:t>WorksFor</a:t>
            </a:r>
            <a:r>
              <a:rPr lang="en-US" dirty="0"/>
              <a:t> = </a:t>
            </a:r>
            <a:r>
              <a:rPr lang="en-US" dirty="0" err="1"/>
              <a:t>CName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3472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  <a:endParaRPr lang="en-SG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7949"/>
          </a:xfrm>
        </p:spPr>
        <p:txBody>
          <a:bodyPr>
            <a:normAutofit fontScale="92500"/>
          </a:bodyPr>
          <a:lstStyle/>
          <a:p>
            <a:r>
              <a:rPr lang="en-US" dirty="0"/>
              <a:t>Find the names the persons who work for companies in USA, as well as their company addresses</a:t>
            </a:r>
          </a:p>
          <a:p>
            <a:r>
              <a:rPr lang="en-US" dirty="0"/>
              <a:t>SELECT  </a:t>
            </a:r>
            <a:r>
              <a:rPr lang="en-US" dirty="0" err="1"/>
              <a:t>PName</a:t>
            </a:r>
            <a:r>
              <a:rPr lang="en-US" dirty="0"/>
              <a:t>, </a:t>
            </a:r>
            <a:r>
              <a:rPr lang="en-US" dirty="0" err="1"/>
              <a:t>Company.Address</a:t>
            </a:r>
            <a:br>
              <a:rPr lang="en-US" dirty="0"/>
            </a:br>
            <a:r>
              <a:rPr lang="en-US" dirty="0"/>
              <a:t>FROM     Person, Company</a:t>
            </a:r>
            <a:br>
              <a:rPr lang="en-US" dirty="0"/>
            </a:br>
            <a:r>
              <a:rPr lang="en-US" dirty="0"/>
              <a:t>WHERE  Country = ‘USA’</a:t>
            </a:r>
            <a:br>
              <a:rPr lang="en-US" dirty="0"/>
            </a:br>
            <a:r>
              <a:rPr lang="en-US" dirty="0"/>
              <a:t>              AND </a:t>
            </a:r>
            <a:r>
              <a:rPr lang="en-US" dirty="0" err="1"/>
              <a:t>CName</a:t>
            </a:r>
            <a:r>
              <a:rPr lang="en-US" dirty="0"/>
              <a:t> = </a:t>
            </a:r>
            <a:r>
              <a:rPr lang="en-US" dirty="0" err="1"/>
              <a:t>CName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588224" y="4942909"/>
            <a:ext cx="1278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6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512236"/>
              </p:ext>
            </p:extLst>
          </p:nvPr>
        </p:nvGraphicFramePr>
        <p:xfrm>
          <a:off x="395536" y="1844824"/>
          <a:ext cx="396044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502273"/>
              </p:ext>
            </p:extLst>
          </p:nvPr>
        </p:nvGraphicFramePr>
        <p:xfrm>
          <a:off x="4860032" y="1855480"/>
          <a:ext cx="374441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860032" y="1196752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5536" y="1196752"/>
            <a:ext cx="129614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Person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50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  <a:endParaRPr lang="en-SG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435280" cy="2917949"/>
          </a:xfrm>
        </p:spPr>
        <p:txBody>
          <a:bodyPr>
            <a:normAutofit fontScale="92500"/>
          </a:bodyPr>
          <a:lstStyle/>
          <a:p>
            <a:r>
              <a:rPr lang="en-US" dirty="0"/>
              <a:t>Find the names the persons who work for companies in USA, as well as their company addresses</a:t>
            </a:r>
          </a:p>
          <a:p>
            <a:r>
              <a:rPr lang="en-US" dirty="0"/>
              <a:t>SELECT  </a:t>
            </a:r>
            <a:r>
              <a:rPr lang="en-US" dirty="0" err="1"/>
              <a:t>PName</a:t>
            </a:r>
            <a:r>
              <a:rPr lang="en-US" dirty="0"/>
              <a:t>, </a:t>
            </a:r>
            <a:r>
              <a:rPr lang="en-US" dirty="0" err="1"/>
              <a:t>Company.Address</a:t>
            </a:r>
            <a:br>
              <a:rPr lang="en-US" dirty="0"/>
            </a:br>
            <a:r>
              <a:rPr lang="en-US" dirty="0"/>
              <a:t>FROM     Person, Company</a:t>
            </a:r>
            <a:br>
              <a:rPr lang="en-US" dirty="0"/>
            </a:br>
            <a:r>
              <a:rPr lang="en-US" dirty="0"/>
              <a:t>WHERE  Country = ‘USA’</a:t>
            </a:r>
            <a:br>
              <a:rPr lang="en-US" dirty="0"/>
            </a:br>
            <a:r>
              <a:rPr lang="en-US" dirty="0"/>
              <a:t>              AND </a:t>
            </a:r>
            <a:r>
              <a:rPr lang="en-US" dirty="0" err="1"/>
              <a:t>Person.CName</a:t>
            </a:r>
            <a:r>
              <a:rPr lang="en-US" dirty="0"/>
              <a:t> = </a:t>
            </a:r>
            <a:r>
              <a:rPr lang="en-US" dirty="0" err="1"/>
              <a:t>Company.CName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1253737"/>
              </p:ext>
            </p:extLst>
          </p:nvPr>
        </p:nvGraphicFramePr>
        <p:xfrm>
          <a:off x="395536" y="1844824"/>
          <a:ext cx="396044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502273"/>
              </p:ext>
            </p:extLst>
          </p:nvPr>
        </p:nvGraphicFramePr>
        <p:xfrm>
          <a:off x="4860032" y="1855480"/>
          <a:ext cx="374441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860032" y="1196752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5536" y="1196752"/>
            <a:ext cx="129614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Person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5617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  <a:endParaRPr lang="en-SG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435280" cy="2917949"/>
          </a:xfrm>
        </p:spPr>
        <p:txBody>
          <a:bodyPr>
            <a:normAutofit fontScale="92500"/>
          </a:bodyPr>
          <a:lstStyle/>
          <a:p>
            <a:r>
              <a:rPr lang="en-US" dirty="0"/>
              <a:t>Find the names the persons who work for companies in USA, as well as their company addresses</a:t>
            </a:r>
          </a:p>
          <a:p>
            <a:r>
              <a:rPr lang="en-US" dirty="0"/>
              <a:t>SELECT  </a:t>
            </a:r>
            <a:r>
              <a:rPr lang="en-US" dirty="0" err="1">
                <a:solidFill>
                  <a:srgbClr val="0000FF"/>
                </a:solidFill>
              </a:rPr>
              <a:t>X.</a:t>
            </a:r>
            <a:r>
              <a:rPr lang="en-US" dirty="0" err="1"/>
              <a:t>PName</a:t>
            </a:r>
            <a:r>
              <a:rPr lang="en-US" dirty="0"/>
              <a:t>, </a:t>
            </a:r>
            <a:r>
              <a:rPr lang="en-US" dirty="0" err="1">
                <a:solidFill>
                  <a:srgbClr val="0000FF"/>
                </a:solidFill>
              </a:rPr>
              <a:t>Y.</a:t>
            </a:r>
            <a:r>
              <a:rPr lang="en-US" dirty="0" err="1"/>
              <a:t>Address</a:t>
            </a:r>
            <a:br>
              <a:rPr lang="en-US" dirty="0"/>
            </a:br>
            <a:r>
              <a:rPr lang="en-US" dirty="0"/>
              <a:t>FROM     Person </a:t>
            </a:r>
            <a:r>
              <a:rPr lang="en-US" dirty="0">
                <a:solidFill>
                  <a:srgbClr val="C00000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/>
              <a:t>, Company </a:t>
            </a:r>
            <a:r>
              <a:rPr lang="en-US" dirty="0">
                <a:solidFill>
                  <a:srgbClr val="C00000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Y</a:t>
            </a:r>
            <a:br>
              <a:rPr lang="en-US" dirty="0"/>
            </a:br>
            <a:r>
              <a:rPr lang="en-US" dirty="0"/>
              <a:t>WHERE  </a:t>
            </a:r>
            <a:r>
              <a:rPr lang="en-US" dirty="0" err="1">
                <a:solidFill>
                  <a:srgbClr val="0000FF"/>
                </a:solidFill>
              </a:rPr>
              <a:t>Y.</a:t>
            </a:r>
            <a:r>
              <a:rPr lang="en-US" dirty="0" err="1"/>
              <a:t>Country</a:t>
            </a:r>
            <a:r>
              <a:rPr lang="en-US" dirty="0"/>
              <a:t> = ‘USA’</a:t>
            </a:r>
            <a:br>
              <a:rPr lang="en-US" dirty="0"/>
            </a:br>
            <a:r>
              <a:rPr lang="en-US" dirty="0"/>
              <a:t>              AND </a:t>
            </a:r>
            <a:r>
              <a:rPr lang="en-US" dirty="0" err="1">
                <a:solidFill>
                  <a:srgbClr val="0000FF"/>
                </a:solidFill>
              </a:rPr>
              <a:t>X.</a:t>
            </a:r>
            <a:r>
              <a:rPr lang="en-US" dirty="0" err="1"/>
              <a:t>CName</a:t>
            </a:r>
            <a:r>
              <a:rPr lang="en-US" dirty="0"/>
              <a:t> = </a:t>
            </a:r>
            <a:r>
              <a:rPr lang="en-US" dirty="0" err="1">
                <a:solidFill>
                  <a:srgbClr val="0000FF"/>
                </a:solidFill>
              </a:rPr>
              <a:t>Y.</a:t>
            </a:r>
            <a:r>
              <a:rPr lang="en-US" dirty="0" err="1"/>
              <a:t>CName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5784905"/>
              </p:ext>
            </p:extLst>
          </p:nvPr>
        </p:nvGraphicFramePr>
        <p:xfrm>
          <a:off x="395536" y="1844824"/>
          <a:ext cx="396044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502273"/>
              </p:ext>
            </p:extLst>
          </p:nvPr>
        </p:nvGraphicFramePr>
        <p:xfrm>
          <a:off x="4860032" y="1855480"/>
          <a:ext cx="374441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60032" y="1196752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536" y="1196752"/>
            <a:ext cx="129614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Person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7920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  <a:endParaRPr lang="en-SG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435280" cy="2917949"/>
          </a:xfrm>
        </p:spPr>
        <p:txBody>
          <a:bodyPr>
            <a:normAutofit fontScale="92500"/>
          </a:bodyPr>
          <a:lstStyle/>
          <a:p>
            <a:r>
              <a:rPr lang="en-US" dirty="0"/>
              <a:t>Find the names the persons who work for companies in USA, as well as their company addresses</a:t>
            </a:r>
          </a:p>
          <a:p>
            <a:r>
              <a:rPr lang="en-US" dirty="0"/>
              <a:t>SELECT  </a:t>
            </a:r>
            <a:r>
              <a:rPr lang="en-US" dirty="0" err="1">
                <a:solidFill>
                  <a:srgbClr val="0000FF"/>
                </a:solidFill>
              </a:rPr>
              <a:t>X.</a:t>
            </a:r>
            <a:r>
              <a:rPr lang="en-US" dirty="0" err="1"/>
              <a:t>PName</a:t>
            </a:r>
            <a:r>
              <a:rPr lang="en-US" dirty="0"/>
              <a:t>, </a:t>
            </a:r>
            <a:r>
              <a:rPr lang="en-US" dirty="0" err="1">
                <a:solidFill>
                  <a:srgbClr val="0000FF"/>
                </a:solidFill>
              </a:rPr>
              <a:t>Y.</a:t>
            </a:r>
            <a:r>
              <a:rPr lang="en-US" dirty="0" err="1"/>
              <a:t>Address</a:t>
            </a:r>
            <a:br>
              <a:rPr lang="en-US" dirty="0"/>
            </a:br>
            <a:r>
              <a:rPr lang="en-US" dirty="0"/>
              <a:t>FROM     Person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/>
              <a:t>, Company </a:t>
            </a:r>
            <a:r>
              <a:rPr lang="en-US" dirty="0">
                <a:solidFill>
                  <a:srgbClr val="0000FF"/>
                </a:solidFill>
              </a:rPr>
              <a:t>Y</a:t>
            </a:r>
            <a:br>
              <a:rPr lang="en-US" dirty="0"/>
            </a:br>
            <a:r>
              <a:rPr lang="en-US" dirty="0"/>
              <a:t>WHERE  </a:t>
            </a:r>
            <a:r>
              <a:rPr lang="en-US" dirty="0" err="1">
                <a:solidFill>
                  <a:srgbClr val="0000FF"/>
                </a:solidFill>
              </a:rPr>
              <a:t>Y.</a:t>
            </a:r>
            <a:r>
              <a:rPr lang="en-US" dirty="0" err="1"/>
              <a:t>Country</a:t>
            </a:r>
            <a:r>
              <a:rPr lang="en-US" dirty="0"/>
              <a:t> = ‘USA’</a:t>
            </a:r>
            <a:br>
              <a:rPr lang="en-US" dirty="0"/>
            </a:br>
            <a:r>
              <a:rPr lang="en-US" dirty="0"/>
              <a:t>              AND </a:t>
            </a:r>
            <a:r>
              <a:rPr lang="en-US" dirty="0" err="1">
                <a:solidFill>
                  <a:srgbClr val="0000FF"/>
                </a:solidFill>
              </a:rPr>
              <a:t>X.</a:t>
            </a:r>
            <a:r>
              <a:rPr lang="en-US" dirty="0" err="1"/>
              <a:t>CName</a:t>
            </a:r>
            <a:r>
              <a:rPr lang="en-US" dirty="0"/>
              <a:t> = </a:t>
            </a:r>
            <a:r>
              <a:rPr lang="en-US" dirty="0" err="1">
                <a:solidFill>
                  <a:srgbClr val="0000FF"/>
                </a:solidFill>
              </a:rPr>
              <a:t>Y.</a:t>
            </a:r>
            <a:r>
              <a:rPr lang="en-US" dirty="0" err="1"/>
              <a:t>CName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4024296"/>
              </p:ext>
            </p:extLst>
          </p:nvPr>
        </p:nvGraphicFramePr>
        <p:xfrm>
          <a:off x="395536" y="1844824"/>
          <a:ext cx="396044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3247940"/>
              </p:ext>
            </p:extLst>
          </p:nvPr>
        </p:nvGraphicFramePr>
        <p:xfrm>
          <a:off x="4860032" y="1855480"/>
          <a:ext cx="374441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Address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60032" y="1196752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536" y="1196752"/>
            <a:ext cx="129614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Person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2285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9460763"/>
              </p:ext>
            </p:extLst>
          </p:nvPr>
        </p:nvGraphicFramePr>
        <p:xfrm>
          <a:off x="2411760" y="2215520"/>
          <a:ext cx="612068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0330154"/>
              </p:ext>
            </p:extLst>
          </p:nvPr>
        </p:nvGraphicFramePr>
        <p:xfrm>
          <a:off x="2411760" y="1074048"/>
          <a:ext cx="468052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1560" y="111623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2268364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284594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Exercise: Find the names of the companies in China that produce products in the ‘tablet’ category</a:t>
            </a:r>
          </a:p>
          <a:p>
            <a:r>
              <a:rPr lang="en-US" dirty="0"/>
              <a:t>SELECT DISTINCT </a:t>
            </a:r>
            <a:r>
              <a:rPr lang="en-US" dirty="0" err="1"/>
              <a:t>CName</a:t>
            </a:r>
            <a:br>
              <a:rPr lang="en-US" dirty="0"/>
            </a:br>
            <a:r>
              <a:rPr lang="en-US" dirty="0"/>
              <a:t>FROM    Company, Product</a:t>
            </a:r>
            <a:br>
              <a:rPr lang="en-US" dirty="0"/>
            </a:br>
            <a:r>
              <a:rPr lang="en-US" dirty="0"/>
              <a:t>WHERE  Manufacturer = </a:t>
            </a:r>
            <a:r>
              <a:rPr lang="en-US" dirty="0" err="1"/>
              <a:t>CName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         AND Country = ‘China’</a:t>
            </a:r>
            <a:br>
              <a:rPr lang="en-US" dirty="0"/>
            </a:br>
            <a:r>
              <a:rPr lang="en-US" dirty="0"/>
              <a:t>              AND Category = ‘Tablet’</a:t>
            </a:r>
          </a:p>
        </p:txBody>
      </p:sp>
    </p:spTree>
    <p:extLst>
      <p:ext uri="{BB962C8B-B14F-4D97-AF65-F5344CB8AC3E}">
        <p14:creationId xmlns:p14="http://schemas.microsoft.com/office/powerpoint/2010/main" val="162537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4035541"/>
              </p:ext>
            </p:extLst>
          </p:nvPr>
        </p:nvGraphicFramePr>
        <p:xfrm>
          <a:off x="2411760" y="2215520"/>
          <a:ext cx="612068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1861208"/>
              </p:ext>
            </p:extLst>
          </p:nvPr>
        </p:nvGraphicFramePr>
        <p:xfrm>
          <a:off x="2411760" y="1074048"/>
          <a:ext cx="468052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1560" y="111623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2268364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306196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Exercise: Find the names of the companies in China that produce products in the ‘tablet’ or ‘phone’ category</a:t>
            </a:r>
          </a:p>
          <a:p>
            <a:r>
              <a:rPr lang="en-US" dirty="0"/>
              <a:t>SELECT DISTINCT </a:t>
            </a:r>
            <a:r>
              <a:rPr lang="en-US" dirty="0" err="1"/>
              <a:t>CName</a:t>
            </a:r>
            <a:br>
              <a:rPr lang="en-US" dirty="0"/>
            </a:br>
            <a:r>
              <a:rPr lang="en-US" dirty="0"/>
              <a:t>FROM    Company, Product</a:t>
            </a:r>
            <a:br>
              <a:rPr lang="en-US" dirty="0"/>
            </a:br>
            <a:r>
              <a:rPr lang="en-US" dirty="0"/>
              <a:t>WHERE  Manufacturer = </a:t>
            </a:r>
            <a:r>
              <a:rPr lang="en-US" dirty="0" err="1"/>
              <a:t>CName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         AND Country = ‘China’</a:t>
            </a:r>
            <a:br>
              <a:rPr lang="en-US" dirty="0"/>
            </a:br>
            <a:r>
              <a:rPr lang="en-US" dirty="0"/>
              <a:t>              AND (Category = ‘Tablet’ </a:t>
            </a:r>
            <a:br>
              <a:rPr lang="en-US" dirty="0"/>
            </a:br>
            <a:r>
              <a:rPr lang="en-US" dirty="0"/>
              <a:t>                        OR Category = ‘Phone’)</a:t>
            </a:r>
          </a:p>
        </p:txBody>
      </p:sp>
    </p:spTree>
    <p:extLst>
      <p:ext uri="{BB962C8B-B14F-4D97-AF65-F5344CB8AC3E}">
        <p14:creationId xmlns:p14="http://schemas.microsoft.com/office/powerpoint/2010/main" val="77959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2845941"/>
          </a:xfrm>
        </p:spPr>
        <p:txBody>
          <a:bodyPr>
            <a:normAutofit fontScale="92500"/>
          </a:bodyPr>
          <a:lstStyle/>
          <a:p>
            <a:r>
              <a:rPr lang="en-US" dirty="0"/>
              <a:t>Exercise: Find the manufacturers that produce products in both the ‘tablet’ and ‘phone’ categories</a:t>
            </a:r>
          </a:p>
          <a:p>
            <a:r>
              <a:rPr lang="en-US" dirty="0"/>
              <a:t>SELECT  DISTINCT Manufacturer</a:t>
            </a:r>
            <a:br>
              <a:rPr lang="en-US" dirty="0"/>
            </a:br>
            <a:r>
              <a:rPr lang="en-US" dirty="0"/>
              <a:t>FROM     Product</a:t>
            </a:r>
            <a:br>
              <a:rPr lang="en-US" dirty="0"/>
            </a:br>
            <a:r>
              <a:rPr lang="en-US" dirty="0"/>
              <a:t>WHERE  Category = ‘Tablet’ </a:t>
            </a:r>
            <a:br>
              <a:rPr lang="en-US" dirty="0"/>
            </a:br>
            <a:r>
              <a:rPr lang="en-US" dirty="0"/>
              <a:t>              AND Category = ‘Phone’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224" y="4726885"/>
            <a:ext cx="1278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6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3568" y="1772816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7739203"/>
              </p:ext>
            </p:extLst>
          </p:nvPr>
        </p:nvGraphicFramePr>
        <p:xfrm>
          <a:off x="2411760" y="935360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76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10" name="TextBox 9"/>
          <p:cNvSpPr txBox="1"/>
          <p:nvPr/>
        </p:nvSpPr>
        <p:spPr>
          <a:xfrm>
            <a:off x="683568" y="1772816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284594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Exercise: Find the manufacturers that produce products in both the ‘tablet’ and ‘phone’ categories</a:t>
            </a:r>
          </a:p>
          <a:p>
            <a:r>
              <a:rPr lang="en-US" dirty="0"/>
              <a:t>SELECT  DISTINCT </a:t>
            </a:r>
            <a:r>
              <a:rPr lang="en-US" dirty="0" err="1"/>
              <a:t>X.Manufacturer</a:t>
            </a:r>
            <a:br>
              <a:rPr lang="en-US" dirty="0"/>
            </a:br>
            <a:r>
              <a:rPr lang="en-US" dirty="0"/>
              <a:t>FROM     Product AS X, Product AS Y</a:t>
            </a:r>
            <a:br>
              <a:rPr lang="en-US" dirty="0"/>
            </a:br>
            <a:r>
              <a:rPr lang="en-US" dirty="0"/>
              <a:t>WHERE  </a:t>
            </a:r>
            <a:r>
              <a:rPr lang="en-US" dirty="0" err="1"/>
              <a:t>X.Manufacturer</a:t>
            </a:r>
            <a:r>
              <a:rPr lang="en-US" dirty="0"/>
              <a:t> = </a:t>
            </a:r>
            <a:r>
              <a:rPr lang="en-US" dirty="0" err="1"/>
              <a:t>Y.Manufacturer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         AND </a:t>
            </a:r>
            <a:r>
              <a:rPr lang="en-US" dirty="0" err="1"/>
              <a:t>X.Category</a:t>
            </a:r>
            <a:r>
              <a:rPr lang="en-US" dirty="0"/>
              <a:t> = ‘Tablet’ </a:t>
            </a:r>
            <a:br>
              <a:rPr lang="en-US" dirty="0"/>
            </a:br>
            <a:r>
              <a:rPr lang="en-US" dirty="0"/>
              <a:t>              AND </a:t>
            </a:r>
            <a:r>
              <a:rPr lang="en-US" dirty="0" err="1"/>
              <a:t>Y.Category</a:t>
            </a:r>
            <a:r>
              <a:rPr lang="en-US" dirty="0"/>
              <a:t> = ‘Phone’</a:t>
            </a: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2953871"/>
              </p:ext>
            </p:extLst>
          </p:nvPr>
        </p:nvGraphicFramePr>
        <p:xfrm>
          <a:off x="2411760" y="935360"/>
          <a:ext cx="6120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Manufacturer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iPhone X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888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iPad Pro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668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Tablet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Apple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Galaxy S10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798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Phone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Samsung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EOS 800D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1199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Camera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Canon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2564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SELECT … FROM … WHERE</a:t>
            </a:r>
          </a:p>
          <a:p>
            <a:r>
              <a:rPr lang="en-US" dirty="0"/>
              <a:t>ORDER BY</a:t>
            </a:r>
          </a:p>
          <a:p>
            <a:r>
              <a:rPr lang="en-US" dirty="0"/>
              <a:t>Joins</a:t>
            </a:r>
          </a:p>
          <a:p>
            <a:r>
              <a:rPr lang="en-US" dirty="0">
                <a:solidFill>
                  <a:srgbClr val="C00000"/>
                </a:solidFill>
              </a:rPr>
              <a:t>Subqueries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7834053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Subqueries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subquery</a:t>
            </a:r>
            <a:r>
              <a:rPr lang="en-US" dirty="0"/>
              <a:t> is a SQL query nested inside a larger query</a:t>
            </a:r>
          </a:p>
          <a:p>
            <a:r>
              <a:rPr lang="en-US" dirty="0"/>
              <a:t>Queries with </a:t>
            </a:r>
            <a:r>
              <a:rPr lang="en-US" dirty="0" err="1"/>
              <a:t>subqueries</a:t>
            </a:r>
            <a:r>
              <a:rPr lang="en-US" dirty="0"/>
              <a:t> are referred to as </a:t>
            </a:r>
            <a:r>
              <a:rPr lang="en-US" dirty="0">
                <a:solidFill>
                  <a:srgbClr val="C00000"/>
                </a:solidFill>
              </a:rPr>
              <a:t>nested queries</a:t>
            </a:r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subquery</a:t>
            </a:r>
            <a:r>
              <a:rPr lang="en-US" dirty="0"/>
              <a:t> may occur in</a:t>
            </a:r>
          </a:p>
          <a:p>
            <a:pPr lvl="1"/>
            <a:r>
              <a:rPr lang="en-US" dirty="0"/>
              <a:t>A SELECT clause (omitted in this course)</a:t>
            </a:r>
          </a:p>
          <a:p>
            <a:pPr lvl="1"/>
            <a:r>
              <a:rPr lang="en-US" dirty="0"/>
              <a:t>A FROM clause</a:t>
            </a:r>
          </a:p>
          <a:p>
            <a:pPr lvl="1"/>
            <a:r>
              <a:rPr lang="en-US" dirty="0"/>
              <a:t>A WHERE clause</a:t>
            </a:r>
          </a:p>
          <a:p>
            <a:pPr lvl="1"/>
            <a:r>
              <a:rPr lang="en-US" dirty="0"/>
              <a:t>A HAVING clause (we will talk about it later)</a:t>
            </a:r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3784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Subqueries</a:t>
            </a:r>
            <a:r>
              <a:rPr lang="en-US" dirty="0"/>
              <a:t> in FROM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99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Find all products in the ‘phone’ category with prices under 1000</a:t>
            </a:r>
          </a:p>
          <a:p>
            <a:r>
              <a:rPr lang="en-US" dirty="0"/>
              <a:t>SELECT </a:t>
            </a:r>
            <a:r>
              <a:rPr lang="en-US" dirty="0" err="1"/>
              <a:t>X.PName</a:t>
            </a:r>
            <a:br>
              <a:rPr lang="en-US" dirty="0"/>
            </a:br>
            <a:r>
              <a:rPr lang="en-US" dirty="0"/>
              <a:t>FROM   </a:t>
            </a:r>
            <a:r>
              <a:rPr lang="en-US" dirty="0">
                <a:solidFill>
                  <a:srgbClr val="C00000"/>
                </a:solidFill>
              </a:rPr>
              <a:t>(SELECT *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              FROM Product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              WHERE category = ‘Phone’)</a:t>
            </a:r>
            <a:r>
              <a:rPr lang="en-US" dirty="0"/>
              <a:t> AS X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X.Price</a:t>
            </a:r>
            <a:r>
              <a:rPr lang="en-US" dirty="0"/>
              <a:t> &lt; 1000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7413177"/>
              </p:ext>
            </p:extLst>
          </p:nvPr>
        </p:nvGraphicFramePr>
        <p:xfrm>
          <a:off x="2411760" y="2132856"/>
          <a:ext cx="525658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6851289"/>
              </p:ext>
            </p:extLst>
          </p:nvPr>
        </p:nvGraphicFramePr>
        <p:xfrm>
          <a:off x="2411760" y="1074048"/>
          <a:ext cx="468052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560" y="111623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2185700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84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Subqueries</a:t>
            </a:r>
            <a:r>
              <a:rPr lang="en-US" dirty="0"/>
              <a:t> in FROM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99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Find all products in the ‘phone’ category with prices under 1000</a:t>
            </a:r>
          </a:p>
          <a:p>
            <a:r>
              <a:rPr lang="en-US" dirty="0"/>
              <a:t>SELECT </a:t>
            </a:r>
            <a:r>
              <a:rPr lang="en-US" dirty="0" err="1"/>
              <a:t>PName</a:t>
            </a:r>
            <a:br>
              <a:rPr lang="en-US" dirty="0"/>
            </a:br>
            <a:r>
              <a:rPr lang="en-US" dirty="0"/>
              <a:t>FROM    Product</a:t>
            </a:r>
            <a:br>
              <a:rPr lang="en-US" dirty="0"/>
            </a:br>
            <a:r>
              <a:rPr lang="en-US" dirty="0"/>
              <a:t>WHERE Category = ‘Phone’ </a:t>
            </a:r>
            <a:br>
              <a:rPr lang="en-US" dirty="0"/>
            </a:br>
            <a:r>
              <a:rPr lang="en-US" dirty="0"/>
              <a:t>             AND Price &lt; 1000</a:t>
            </a:r>
            <a:endParaRPr lang="en-SG" dirty="0"/>
          </a:p>
          <a:p>
            <a:r>
              <a:rPr lang="en-US" dirty="0"/>
              <a:t>This is a much more efficient solution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8496727"/>
              </p:ext>
            </p:extLst>
          </p:nvPr>
        </p:nvGraphicFramePr>
        <p:xfrm>
          <a:off x="2411760" y="2132856"/>
          <a:ext cx="525658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198825"/>
              </p:ext>
            </p:extLst>
          </p:nvPr>
        </p:nvGraphicFramePr>
        <p:xfrm>
          <a:off x="2411760" y="1074048"/>
          <a:ext cx="468052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560" y="111623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2185700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22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Subqueries</a:t>
            </a:r>
            <a:r>
              <a:rPr lang="en-US" dirty="0"/>
              <a:t> in WHERE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99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Find all countries where some company makes some product with price &lt; 100</a:t>
            </a:r>
          </a:p>
          <a:p>
            <a:r>
              <a:rPr lang="en-US" dirty="0"/>
              <a:t>SELECT DISTINCT Country</a:t>
            </a:r>
            <a:br>
              <a:rPr lang="en-US" dirty="0"/>
            </a:br>
            <a:r>
              <a:rPr lang="en-US" dirty="0"/>
              <a:t>FROM    Company AS X</a:t>
            </a:r>
            <a:br>
              <a:rPr lang="en-US" dirty="0"/>
            </a:br>
            <a:r>
              <a:rPr lang="en-US" dirty="0"/>
              <a:t>WHERE  </a:t>
            </a:r>
            <a:r>
              <a:rPr lang="en-US" dirty="0">
                <a:solidFill>
                  <a:srgbClr val="C00000"/>
                </a:solidFill>
              </a:rPr>
              <a:t>EXISTS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/>
              <a:t>(SELECT * FROM Product AS Y</a:t>
            </a:r>
            <a:br>
              <a:rPr lang="en-US" dirty="0"/>
            </a:br>
            <a:r>
              <a:rPr lang="en-US" dirty="0"/>
              <a:t>	 WHERE </a:t>
            </a:r>
            <a:r>
              <a:rPr lang="en-US" dirty="0" err="1"/>
              <a:t>X.CName</a:t>
            </a:r>
            <a:r>
              <a:rPr lang="en-US" dirty="0"/>
              <a:t> = </a:t>
            </a:r>
            <a:r>
              <a:rPr lang="en-US" dirty="0" err="1"/>
              <a:t>Y.Cname</a:t>
            </a:r>
            <a:br>
              <a:rPr lang="en-US" dirty="0"/>
            </a:br>
            <a:r>
              <a:rPr lang="en-US" dirty="0"/>
              <a:t>	 AND </a:t>
            </a:r>
            <a:r>
              <a:rPr lang="en-US" dirty="0" err="1"/>
              <a:t>Y.Price</a:t>
            </a:r>
            <a:r>
              <a:rPr lang="en-US" dirty="0"/>
              <a:t> &lt; 100)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4925060"/>
              </p:ext>
            </p:extLst>
          </p:nvPr>
        </p:nvGraphicFramePr>
        <p:xfrm>
          <a:off x="2411760" y="2132856"/>
          <a:ext cx="525658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7853523"/>
              </p:ext>
            </p:extLst>
          </p:nvPr>
        </p:nvGraphicFramePr>
        <p:xfrm>
          <a:off x="2411760" y="1074048"/>
          <a:ext cx="468052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560" y="111623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2185700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17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02FA-CF79-4AF4-B038-7A6BE667D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Subqueries in WHERE (cont.)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CF7C-B14B-451F-AEA7-0C8198642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>
            <a:normAutofit lnSpcReduction="10000"/>
          </a:bodyPr>
          <a:lstStyle/>
          <a:p>
            <a:r>
              <a:rPr lang="en-SG" dirty="0"/>
              <a:t>In general, a subquery in WHERE is usually connected to the main query with one of the following operators:</a:t>
            </a:r>
          </a:p>
          <a:p>
            <a:pPr lvl="1"/>
            <a:r>
              <a:rPr lang="en-SG" dirty="0"/>
              <a:t>EXISTS (or NOT EXISTS)</a:t>
            </a:r>
          </a:p>
          <a:p>
            <a:pPr lvl="2"/>
            <a:r>
              <a:rPr lang="en-SG" dirty="0"/>
              <a:t>E.g., SELECT A FROM B WHERE EXISTS (subquery)</a:t>
            </a:r>
          </a:p>
          <a:p>
            <a:pPr lvl="1"/>
            <a:r>
              <a:rPr lang="en-SG" dirty="0"/>
              <a:t>IN (or NOT IN)</a:t>
            </a:r>
          </a:p>
          <a:p>
            <a:pPr lvl="2"/>
            <a:r>
              <a:rPr lang="en-SG" dirty="0"/>
              <a:t>E.g., SELECT A FROM B WHERE C IN (subquery)</a:t>
            </a:r>
          </a:p>
          <a:p>
            <a:pPr lvl="1"/>
            <a:r>
              <a:rPr lang="en-SG" dirty="0"/>
              <a:t>ANY</a:t>
            </a:r>
          </a:p>
          <a:p>
            <a:pPr lvl="2"/>
            <a:r>
              <a:rPr lang="en-SG" dirty="0"/>
              <a:t>E.g., SELECT A FROM B WHERE C = ANY(subquery)</a:t>
            </a:r>
          </a:p>
          <a:p>
            <a:pPr lvl="1"/>
            <a:r>
              <a:rPr lang="en-SG" dirty="0"/>
              <a:t>ALL</a:t>
            </a:r>
          </a:p>
          <a:p>
            <a:pPr lvl="2"/>
            <a:r>
              <a:rPr lang="en-SG" dirty="0"/>
              <a:t>E.g., SELECT A FROM B WHERE C &lt; ALL(subquery)</a:t>
            </a:r>
          </a:p>
        </p:txBody>
      </p:sp>
    </p:spTree>
    <p:extLst>
      <p:ext uri="{BB962C8B-B14F-4D97-AF65-F5344CB8AC3E}">
        <p14:creationId xmlns:p14="http://schemas.microsoft.com/office/powerpoint/2010/main" val="98413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Subqueries</a:t>
            </a:r>
            <a:r>
              <a:rPr lang="en-US" dirty="0"/>
              <a:t> in WHERE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995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Find all countries where some company makes some products with price &lt; 100</a:t>
            </a:r>
          </a:p>
          <a:p>
            <a:r>
              <a:rPr lang="en-US" dirty="0"/>
              <a:t>SELECT DISTINCT Country</a:t>
            </a:r>
            <a:br>
              <a:rPr lang="en-US" dirty="0"/>
            </a:br>
            <a:r>
              <a:rPr lang="en-US" dirty="0"/>
              <a:t>FROM    Company AS X</a:t>
            </a:r>
            <a:br>
              <a:rPr lang="en-US" dirty="0"/>
            </a:br>
            <a:r>
              <a:rPr lang="en-US" dirty="0"/>
              <a:t>WHERE  </a:t>
            </a:r>
            <a:r>
              <a:rPr lang="en-US" dirty="0" err="1"/>
              <a:t>X.CName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IN</a:t>
            </a:r>
          </a:p>
          <a:p>
            <a:pPr marL="0" indent="0">
              <a:buNone/>
            </a:pPr>
            <a:r>
              <a:rPr lang="en-US" dirty="0"/>
              <a:t>	(SELECT </a:t>
            </a:r>
            <a:r>
              <a:rPr lang="en-US" dirty="0" err="1"/>
              <a:t>Y.CName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	 FROM Product AS Y</a:t>
            </a:r>
            <a:br>
              <a:rPr lang="en-US" dirty="0"/>
            </a:br>
            <a:r>
              <a:rPr lang="en-US" dirty="0"/>
              <a:t>	 WHERE </a:t>
            </a:r>
            <a:r>
              <a:rPr lang="en-US" dirty="0" err="1"/>
              <a:t>Y.Price</a:t>
            </a:r>
            <a:r>
              <a:rPr lang="en-US" dirty="0"/>
              <a:t> &lt; 100)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4657932"/>
              </p:ext>
            </p:extLst>
          </p:nvPr>
        </p:nvGraphicFramePr>
        <p:xfrm>
          <a:off x="2411760" y="2132856"/>
          <a:ext cx="525658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2569818"/>
              </p:ext>
            </p:extLst>
          </p:nvPr>
        </p:nvGraphicFramePr>
        <p:xfrm>
          <a:off x="2411760" y="1074048"/>
          <a:ext cx="468052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560" y="111623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2185700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56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Subqueries</a:t>
            </a:r>
            <a:r>
              <a:rPr lang="en-US" dirty="0"/>
              <a:t> in WHERE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995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Find all countries where some company makes some products with price &lt; 100</a:t>
            </a:r>
          </a:p>
          <a:p>
            <a:r>
              <a:rPr lang="en-US" dirty="0"/>
              <a:t>SELECT DISTINCT Country</a:t>
            </a:r>
            <a:br>
              <a:rPr lang="en-US" dirty="0"/>
            </a:br>
            <a:r>
              <a:rPr lang="en-US" dirty="0"/>
              <a:t>FROM    Company AS X</a:t>
            </a:r>
            <a:br>
              <a:rPr lang="en-US" dirty="0"/>
            </a:br>
            <a:r>
              <a:rPr lang="en-US" dirty="0"/>
              <a:t>WHERE  </a:t>
            </a:r>
            <a:r>
              <a:rPr lang="en-US" dirty="0" err="1"/>
              <a:t>X.CName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IN</a:t>
            </a:r>
          </a:p>
          <a:p>
            <a:pPr marL="0" indent="0">
              <a:buNone/>
            </a:pPr>
            <a:r>
              <a:rPr lang="en-US" dirty="0"/>
              <a:t>	(SELECT  * </a:t>
            </a:r>
            <a:br>
              <a:rPr lang="en-US" dirty="0"/>
            </a:br>
            <a:r>
              <a:rPr lang="en-US" dirty="0"/>
              <a:t>	 FROM Product AS Y</a:t>
            </a:r>
            <a:br>
              <a:rPr lang="en-US" dirty="0"/>
            </a:br>
            <a:r>
              <a:rPr lang="en-US" dirty="0"/>
              <a:t>	 WHERE </a:t>
            </a:r>
            <a:r>
              <a:rPr lang="en-US" dirty="0" err="1"/>
              <a:t>Y.Price</a:t>
            </a:r>
            <a:r>
              <a:rPr lang="en-US" dirty="0"/>
              <a:t> &lt; 100)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4762854"/>
              </p:ext>
            </p:extLst>
          </p:nvPr>
        </p:nvGraphicFramePr>
        <p:xfrm>
          <a:off x="2411760" y="2132856"/>
          <a:ext cx="525658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645056"/>
              </p:ext>
            </p:extLst>
          </p:nvPr>
        </p:nvGraphicFramePr>
        <p:xfrm>
          <a:off x="2411760" y="1074048"/>
          <a:ext cx="468052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560" y="111623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2185700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8224" y="4221088"/>
            <a:ext cx="1278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6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58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Subqueries</a:t>
            </a:r>
            <a:r>
              <a:rPr lang="en-US" dirty="0"/>
              <a:t> in WHERE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99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Find all countries where some company makes some products with price &lt; 100</a:t>
            </a:r>
          </a:p>
          <a:p>
            <a:r>
              <a:rPr lang="en-US" dirty="0"/>
              <a:t>SELECT DISTINCT Country</a:t>
            </a:r>
            <a:br>
              <a:rPr lang="en-US" dirty="0"/>
            </a:br>
            <a:r>
              <a:rPr lang="en-US" dirty="0"/>
              <a:t>FROM    Company AS X</a:t>
            </a:r>
            <a:br>
              <a:rPr lang="en-US" dirty="0"/>
            </a:br>
            <a:r>
              <a:rPr lang="en-US" dirty="0"/>
              <a:t>WHERE  100 &gt; </a:t>
            </a:r>
            <a:r>
              <a:rPr lang="en-US" dirty="0">
                <a:solidFill>
                  <a:srgbClr val="C00000"/>
                </a:solidFill>
              </a:rPr>
              <a:t>ANY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/>
              <a:t>(SELECT Price FROM Product AS Y</a:t>
            </a:r>
            <a:br>
              <a:rPr lang="en-US" dirty="0"/>
            </a:br>
            <a:r>
              <a:rPr lang="en-US" dirty="0"/>
              <a:t>	 WHERE </a:t>
            </a:r>
            <a:r>
              <a:rPr lang="en-US" dirty="0" err="1"/>
              <a:t>X.CName</a:t>
            </a:r>
            <a:r>
              <a:rPr lang="en-US" dirty="0"/>
              <a:t> = </a:t>
            </a:r>
            <a:r>
              <a:rPr lang="en-US" dirty="0" err="1"/>
              <a:t>Y.Cname</a:t>
            </a:r>
            <a:r>
              <a:rPr lang="en-US" dirty="0"/>
              <a:t>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0796718"/>
              </p:ext>
            </p:extLst>
          </p:nvPr>
        </p:nvGraphicFramePr>
        <p:xfrm>
          <a:off x="2411760" y="2132856"/>
          <a:ext cx="525658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6723315"/>
              </p:ext>
            </p:extLst>
          </p:nvPr>
        </p:nvGraphicFramePr>
        <p:xfrm>
          <a:off x="2411760" y="1074048"/>
          <a:ext cx="468052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560" y="111623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2185700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98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Subqueries</a:t>
            </a:r>
            <a:r>
              <a:rPr lang="en-US" dirty="0"/>
              <a:t> in WHERE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99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Find all countries where some company only makes products with price &lt; 100</a:t>
            </a:r>
          </a:p>
          <a:p>
            <a:r>
              <a:rPr lang="en-US" dirty="0"/>
              <a:t>SELECT DISTINCT Country</a:t>
            </a:r>
            <a:br>
              <a:rPr lang="en-US" dirty="0"/>
            </a:br>
            <a:r>
              <a:rPr lang="en-US" dirty="0"/>
              <a:t>FROM    Company AS X</a:t>
            </a:r>
            <a:br>
              <a:rPr lang="en-US" dirty="0"/>
            </a:br>
            <a:r>
              <a:rPr lang="en-US" dirty="0"/>
              <a:t>WHERE  100 &gt; </a:t>
            </a:r>
            <a:r>
              <a:rPr lang="en-US" dirty="0">
                <a:solidFill>
                  <a:srgbClr val="C00000"/>
                </a:solidFill>
              </a:rPr>
              <a:t>ALL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/>
              <a:t>(SELECT Price FROM Product AS Y</a:t>
            </a:r>
            <a:br>
              <a:rPr lang="en-US" dirty="0"/>
            </a:br>
            <a:r>
              <a:rPr lang="en-US" dirty="0"/>
              <a:t>	 WHERE </a:t>
            </a:r>
            <a:r>
              <a:rPr lang="en-US" dirty="0" err="1"/>
              <a:t>X.CName</a:t>
            </a:r>
            <a:r>
              <a:rPr lang="en-US" dirty="0"/>
              <a:t> = </a:t>
            </a:r>
            <a:r>
              <a:rPr lang="en-US" dirty="0" err="1"/>
              <a:t>Y.Cname</a:t>
            </a:r>
            <a:r>
              <a:rPr lang="en-US" dirty="0"/>
              <a:t>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2411760" y="2132856"/>
          <a:ext cx="525658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2411760" y="1074048"/>
          <a:ext cx="468052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560" y="111623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2185700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1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Avoiding Nested Queries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 nested queries tend to be more inefficient than un-nested queries</a:t>
            </a:r>
          </a:p>
          <a:p>
            <a:endParaRPr lang="en-US" dirty="0"/>
          </a:p>
          <a:p>
            <a:r>
              <a:rPr lang="en-US" dirty="0"/>
              <a:t>Therefore, they should be avoided whenever possible</a:t>
            </a:r>
          </a:p>
          <a:p>
            <a:endParaRPr lang="en-US" dirty="0"/>
          </a:p>
          <a:p>
            <a:r>
              <a:rPr lang="en-US" dirty="0"/>
              <a:t>But there are cases where avoiding nested queries is hard…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506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Subqueries</a:t>
            </a:r>
            <a:r>
              <a:rPr lang="en-US" dirty="0"/>
              <a:t> in WHERE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99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Find all companies that do not make any product with price &lt; 100</a:t>
            </a:r>
          </a:p>
          <a:p>
            <a:r>
              <a:rPr lang="en-US" dirty="0"/>
              <a:t>SELECT DISTINCT </a:t>
            </a:r>
            <a:r>
              <a:rPr lang="en-US" dirty="0" err="1"/>
              <a:t>CName</a:t>
            </a:r>
            <a:br>
              <a:rPr lang="en-US" dirty="0"/>
            </a:br>
            <a:r>
              <a:rPr lang="en-US" dirty="0"/>
              <a:t>FROM    Company AS X</a:t>
            </a:r>
            <a:br>
              <a:rPr lang="en-US" dirty="0"/>
            </a:br>
            <a:r>
              <a:rPr lang="en-US" dirty="0"/>
              <a:t>WHERE  100 &lt;= </a:t>
            </a:r>
            <a:r>
              <a:rPr lang="en-US" dirty="0">
                <a:solidFill>
                  <a:srgbClr val="C00000"/>
                </a:solidFill>
              </a:rPr>
              <a:t>ALL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/>
              <a:t>(SELECT Price FROM Product AS Y</a:t>
            </a:r>
            <a:br>
              <a:rPr lang="en-US" dirty="0"/>
            </a:br>
            <a:r>
              <a:rPr lang="en-US" dirty="0"/>
              <a:t>	 WHERE </a:t>
            </a:r>
            <a:r>
              <a:rPr lang="en-US" dirty="0" err="1"/>
              <a:t>X.CName</a:t>
            </a:r>
            <a:r>
              <a:rPr lang="en-US" dirty="0"/>
              <a:t> = </a:t>
            </a:r>
            <a:r>
              <a:rPr lang="en-US" dirty="0" err="1"/>
              <a:t>Y.Cname</a:t>
            </a:r>
            <a:r>
              <a:rPr lang="en-US" dirty="0"/>
              <a:t>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2411760" y="2132856"/>
          <a:ext cx="525658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2411760" y="1074048"/>
          <a:ext cx="468052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560" y="111623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2185700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89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Subqueries</a:t>
            </a:r>
            <a:r>
              <a:rPr lang="en-US" dirty="0"/>
              <a:t> in WHERE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99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Find all companies that do not make any product with price &lt; 100</a:t>
            </a:r>
          </a:p>
          <a:p>
            <a:r>
              <a:rPr lang="en-US" dirty="0"/>
              <a:t>SELECT DISTINCT </a:t>
            </a:r>
            <a:r>
              <a:rPr lang="en-US" dirty="0" err="1"/>
              <a:t>CName</a:t>
            </a:r>
            <a:br>
              <a:rPr lang="en-US" dirty="0"/>
            </a:br>
            <a:r>
              <a:rPr lang="en-US" dirty="0"/>
              <a:t>FROM    Company AS X</a:t>
            </a:r>
            <a:br>
              <a:rPr lang="en-US" dirty="0"/>
            </a:br>
            <a:r>
              <a:rPr lang="en-US" dirty="0"/>
              <a:t>WHERE  </a:t>
            </a:r>
            <a:r>
              <a:rPr lang="en-US" dirty="0">
                <a:solidFill>
                  <a:srgbClr val="C00000"/>
                </a:solidFill>
              </a:rPr>
              <a:t>NOT EXISTS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/>
              <a:t>(SELECT * FROM Product AS Y</a:t>
            </a:r>
            <a:br>
              <a:rPr lang="en-US" dirty="0"/>
            </a:br>
            <a:r>
              <a:rPr lang="en-US" dirty="0"/>
              <a:t>	 WHERE </a:t>
            </a:r>
            <a:r>
              <a:rPr lang="en-US" dirty="0" err="1"/>
              <a:t>X.CName</a:t>
            </a:r>
            <a:r>
              <a:rPr lang="en-US" dirty="0"/>
              <a:t> = </a:t>
            </a:r>
            <a:r>
              <a:rPr lang="en-US" dirty="0" err="1"/>
              <a:t>Y.Cname</a:t>
            </a:r>
            <a:br>
              <a:rPr lang="en-US" dirty="0"/>
            </a:br>
            <a:r>
              <a:rPr lang="en-US" dirty="0"/>
              <a:t>		AND </a:t>
            </a:r>
            <a:r>
              <a:rPr lang="en-US" dirty="0" err="1"/>
              <a:t>Y.Price</a:t>
            </a:r>
            <a:r>
              <a:rPr lang="en-US" dirty="0"/>
              <a:t> &lt; 100)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0008613"/>
              </p:ext>
            </p:extLst>
          </p:nvPr>
        </p:nvGraphicFramePr>
        <p:xfrm>
          <a:off x="2411760" y="2132856"/>
          <a:ext cx="525658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0218521"/>
              </p:ext>
            </p:extLst>
          </p:nvPr>
        </p:nvGraphicFramePr>
        <p:xfrm>
          <a:off x="2411760" y="1074048"/>
          <a:ext cx="468052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560" y="111623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2185700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62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59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Find all drinkers that frequent some bar that serves some beer they like</a:t>
            </a:r>
          </a:p>
          <a:p>
            <a:r>
              <a:rPr lang="en-US" dirty="0"/>
              <a:t>SELECT  	DINSTINT </a:t>
            </a:r>
            <a:r>
              <a:rPr lang="en-US" dirty="0" err="1"/>
              <a:t>F.Drinker</a:t>
            </a:r>
            <a:br>
              <a:rPr lang="en-US" dirty="0"/>
            </a:br>
            <a:r>
              <a:rPr lang="en-US" dirty="0"/>
              <a:t>FROM	Likes AS L, Frequent AS F, Serve AS S</a:t>
            </a:r>
            <a:br>
              <a:rPr lang="en-US" dirty="0"/>
            </a:br>
            <a:r>
              <a:rPr lang="en-US" dirty="0"/>
              <a:t>WHERE  	</a:t>
            </a:r>
            <a:r>
              <a:rPr lang="en-US" dirty="0" err="1"/>
              <a:t>L.Drinker</a:t>
            </a:r>
            <a:r>
              <a:rPr lang="en-US" dirty="0"/>
              <a:t> = </a:t>
            </a:r>
            <a:r>
              <a:rPr lang="en-US" dirty="0" err="1"/>
              <a:t>F.Drinker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		AND </a:t>
            </a:r>
            <a:r>
              <a:rPr lang="en-US" dirty="0" err="1"/>
              <a:t>F.Bar</a:t>
            </a:r>
            <a:r>
              <a:rPr lang="en-US" dirty="0"/>
              <a:t> = </a:t>
            </a:r>
            <a:r>
              <a:rPr lang="en-US" dirty="0" err="1"/>
              <a:t>S.Bar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		AND </a:t>
            </a:r>
            <a:r>
              <a:rPr lang="en-US" dirty="0" err="1"/>
              <a:t>L.Beer</a:t>
            </a:r>
            <a:r>
              <a:rPr lang="en-US" dirty="0"/>
              <a:t> = </a:t>
            </a:r>
            <a:r>
              <a:rPr lang="en-US" dirty="0" err="1"/>
              <a:t>S.Beer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7546767"/>
              </p:ext>
            </p:extLst>
          </p:nvPr>
        </p:nvGraphicFramePr>
        <p:xfrm>
          <a:off x="611560" y="1772816"/>
          <a:ext cx="208823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Drinker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Beer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16236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Likes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0979926"/>
              </p:ext>
            </p:extLst>
          </p:nvPr>
        </p:nvGraphicFramePr>
        <p:xfrm>
          <a:off x="3635896" y="1783472"/>
          <a:ext cx="194421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Drinker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35896" y="11268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Frequent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2055652"/>
              </p:ext>
            </p:extLst>
          </p:nvPr>
        </p:nvGraphicFramePr>
        <p:xfrm>
          <a:off x="6588224" y="1783472"/>
          <a:ext cx="158417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Beer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8224" y="1126892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Serves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07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598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Find all drinkers that frequent some bar that does not serve any beer they like</a:t>
            </a:r>
          </a:p>
          <a:p>
            <a:r>
              <a:rPr lang="en-US" dirty="0"/>
              <a:t>SELECT  DISTINCT </a:t>
            </a:r>
            <a:r>
              <a:rPr lang="en-US" dirty="0" err="1"/>
              <a:t>F.Drinker</a:t>
            </a:r>
            <a:br>
              <a:rPr lang="en-US" dirty="0"/>
            </a:br>
            <a:r>
              <a:rPr lang="en-US" dirty="0"/>
              <a:t>FROM     Frequent AS F, Serves AS S</a:t>
            </a:r>
            <a:br>
              <a:rPr lang="en-US" dirty="0"/>
            </a:br>
            <a:r>
              <a:rPr lang="en-US" dirty="0"/>
              <a:t>WHERE  </a:t>
            </a:r>
            <a:r>
              <a:rPr lang="en-US" dirty="0" err="1"/>
              <a:t>F.Bar</a:t>
            </a:r>
            <a:r>
              <a:rPr lang="en-US" dirty="0"/>
              <a:t> = </a:t>
            </a:r>
            <a:r>
              <a:rPr lang="en-US" dirty="0" err="1"/>
              <a:t>S.Bar</a:t>
            </a:r>
            <a:r>
              <a:rPr lang="en-US" dirty="0"/>
              <a:t> AND NOT EXIST</a:t>
            </a:r>
            <a:br>
              <a:rPr lang="en-US" dirty="0"/>
            </a:br>
            <a:r>
              <a:rPr lang="en-US" dirty="0"/>
              <a:t>	(SELECT  *</a:t>
            </a:r>
            <a:br>
              <a:rPr lang="en-US" dirty="0"/>
            </a:br>
            <a:r>
              <a:rPr lang="en-US" dirty="0"/>
              <a:t>	 FROM    Likes as L</a:t>
            </a:r>
            <a:br>
              <a:rPr lang="en-US" dirty="0"/>
            </a:br>
            <a:r>
              <a:rPr lang="en-US" dirty="0"/>
              <a:t>	 WHERE  </a:t>
            </a:r>
            <a:r>
              <a:rPr lang="en-US" dirty="0" err="1"/>
              <a:t>L.Beer</a:t>
            </a:r>
            <a:r>
              <a:rPr lang="en-US" dirty="0"/>
              <a:t> = </a:t>
            </a:r>
            <a:r>
              <a:rPr lang="en-US" dirty="0" err="1"/>
              <a:t>S.Beer</a:t>
            </a:r>
            <a:r>
              <a:rPr lang="en-US" dirty="0"/>
              <a:t> AND </a:t>
            </a:r>
            <a:r>
              <a:rPr lang="en-US" dirty="0" err="1"/>
              <a:t>L.Drinker</a:t>
            </a:r>
            <a:r>
              <a:rPr lang="en-US" dirty="0"/>
              <a:t> = </a:t>
            </a:r>
            <a:r>
              <a:rPr lang="en-US" dirty="0" err="1"/>
              <a:t>F.Drinker</a:t>
            </a:r>
            <a:r>
              <a:rPr lang="en-US" dirty="0"/>
              <a:t>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8585029"/>
              </p:ext>
            </p:extLst>
          </p:nvPr>
        </p:nvGraphicFramePr>
        <p:xfrm>
          <a:off x="611560" y="1772816"/>
          <a:ext cx="208823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Drinker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Beer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16236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Likes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7468231"/>
              </p:ext>
            </p:extLst>
          </p:nvPr>
        </p:nvGraphicFramePr>
        <p:xfrm>
          <a:off x="3635896" y="1783472"/>
          <a:ext cx="194421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Drinker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35896" y="11268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Frequent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3604026"/>
              </p:ext>
            </p:extLst>
          </p:nvPr>
        </p:nvGraphicFramePr>
        <p:xfrm>
          <a:off x="6588224" y="1783472"/>
          <a:ext cx="158417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Beer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8224" y="1126892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Serves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14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598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Find all drinkers that do not frequent any bar that serve some beer they like</a:t>
            </a:r>
          </a:p>
          <a:p>
            <a:r>
              <a:rPr lang="en-US" dirty="0"/>
              <a:t>SELECT  DISTINCT </a:t>
            </a:r>
            <a:r>
              <a:rPr lang="en-US" dirty="0" err="1"/>
              <a:t>F.Drinker</a:t>
            </a:r>
            <a:br>
              <a:rPr lang="en-US" dirty="0"/>
            </a:br>
            <a:r>
              <a:rPr lang="en-US" dirty="0"/>
              <a:t>FROM     Frequent AS F</a:t>
            </a:r>
            <a:br>
              <a:rPr lang="en-US" dirty="0"/>
            </a:br>
            <a:r>
              <a:rPr lang="en-US" dirty="0"/>
              <a:t>WHERE  NOT EXIST</a:t>
            </a:r>
            <a:br>
              <a:rPr lang="en-US" dirty="0"/>
            </a:br>
            <a:r>
              <a:rPr lang="en-US" dirty="0"/>
              <a:t>	(SELECT  *</a:t>
            </a:r>
            <a:br>
              <a:rPr lang="en-US" dirty="0"/>
            </a:br>
            <a:r>
              <a:rPr lang="en-US" dirty="0"/>
              <a:t>	 FROM    Likes AS L, Serves AS S</a:t>
            </a:r>
            <a:br>
              <a:rPr lang="en-US" dirty="0"/>
            </a:br>
            <a:r>
              <a:rPr lang="en-US" dirty="0"/>
              <a:t>	 WHERE  </a:t>
            </a:r>
            <a:r>
              <a:rPr lang="en-US" dirty="0" err="1"/>
              <a:t>L.Beer</a:t>
            </a:r>
            <a:r>
              <a:rPr lang="en-US" dirty="0"/>
              <a:t> = </a:t>
            </a:r>
            <a:r>
              <a:rPr lang="en-US" dirty="0" err="1"/>
              <a:t>S.Beer</a:t>
            </a:r>
            <a:r>
              <a:rPr lang="en-US" dirty="0"/>
              <a:t> AND </a:t>
            </a:r>
            <a:r>
              <a:rPr lang="en-US" dirty="0" err="1"/>
              <a:t>L.Drinker</a:t>
            </a:r>
            <a:r>
              <a:rPr lang="en-US" dirty="0"/>
              <a:t> = </a:t>
            </a:r>
            <a:r>
              <a:rPr lang="en-US" dirty="0" err="1"/>
              <a:t>F.Drinker</a:t>
            </a:r>
            <a:br>
              <a:rPr lang="en-US" dirty="0"/>
            </a:br>
            <a:r>
              <a:rPr lang="en-US" dirty="0"/>
              <a:t>		AND </a:t>
            </a:r>
            <a:r>
              <a:rPr lang="en-US" dirty="0" err="1"/>
              <a:t>S.Bar</a:t>
            </a:r>
            <a:r>
              <a:rPr lang="en-US" dirty="0"/>
              <a:t> = </a:t>
            </a:r>
            <a:r>
              <a:rPr lang="en-US" dirty="0" err="1"/>
              <a:t>F.Bar</a:t>
            </a:r>
            <a:r>
              <a:rPr lang="en-US" dirty="0"/>
              <a:t>)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0561824"/>
              </p:ext>
            </p:extLst>
          </p:nvPr>
        </p:nvGraphicFramePr>
        <p:xfrm>
          <a:off x="611560" y="1772816"/>
          <a:ext cx="208823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Drinker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Beer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16236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Likes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9512184"/>
              </p:ext>
            </p:extLst>
          </p:nvPr>
        </p:nvGraphicFramePr>
        <p:xfrm>
          <a:off x="3635896" y="1783472"/>
          <a:ext cx="194421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Drinker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35896" y="11268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Frequent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4934676"/>
              </p:ext>
            </p:extLst>
          </p:nvPr>
        </p:nvGraphicFramePr>
        <p:xfrm>
          <a:off x="6588224" y="1783472"/>
          <a:ext cx="158417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Beer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8224" y="1126892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Serves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94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7083F-D2C6-4EA1-A88D-FD7BEF1EF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93E0C-A178-4690-9DA2-FBABD9409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96952"/>
            <a:ext cx="8229600" cy="3133973"/>
          </a:xfrm>
        </p:spPr>
        <p:txBody>
          <a:bodyPr>
            <a:normAutofit fontScale="85000" lnSpcReduction="20000"/>
          </a:bodyPr>
          <a:lstStyle/>
          <a:p>
            <a:r>
              <a:rPr lang="en-SG" dirty="0"/>
              <a:t>Is it possible to have a subquery in WHERE without using EXISTS, IN, ANY, or ALL?</a:t>
            </a:r>
          </a:p>
          <a:p>
            <a:r>
              <a:rPr lang="en-SG" dirty="0"/>
              <a:t>Yes, but only in </a:t>
            </a:r>
            <a:r>
              <a:rPr lang="en-SG"/>
              <a:t>very restrictive cases</a:t>
            </a:r>
            <a:endParaRPr lang="en-SG" dirty="0"/>
          </a:p>
          <a:p>
            <a:r>
              <a:rPr lang="en-SG" dirty="0"/>
              <a:t>EXAMPLE:</a:t>
            </a:r>
          </a:p>
          <a:p>
            <a:pPr lvl="1"/>
            <a:r>
              <a:rPr lang="en-SG" dirty="0"/>
              <a:t>SELECT Country FROM Company X</a:t>
            </a:r>
            <a:br>
              <a:rPr lang="en-SG" dirty="0"/>
            </a:br>
            <a:r>
              <a:rPr lang="en-SG" dirty="0"/>
              <a:t>WHERE </a:t>
            </a:r>
            <a:r>
              <a:rPr lang="en-SG" dirty="0" err="1"/>
              <a:t>X.Cname</a:t>
            </a:r>
            <a:r>
              <a:rPr lang="en-SG" dirty="0"/>
              <a:t> = </a:t>
            </a:r>
            <a:br>
              <a:rPr lang="en-SG" dirty="0"/>
            </a:br>
            <a:r>
              <a:rPr lang="en-SG" dirty="0"/>
              <a:t>	(SELET </a:t>
            </a:r>
            <a:r>
              <a:rPr lang="en-SG" dirty="0" err="1"/>
              <a:t>Y.CName</a:t>
            </a:r>
            <a:r>
              <a:rPr lang="en-SG" dirty="0"/>
              <a:t> FROM Product Y)</a:t>
            </a:r>
          </a:p>
          <a:p>
            <a:r>
              <a:rPr lang="en-SG" dirty="0"/>
              <a:t>Correct when there is only one row in Product; incorrect otherwise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DC38AC-7D2B-4B05-AD27-7E093EBD2D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6990786"/>
              </p:ext>
            </p:extLst>
          </p:nvPr>
        </p:nvGraphicFramePr>
        <p:xfrm>
          <a:off x="2771800" y="2049726"/>
          <a:ext cx="525658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PName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Category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14EC0DD-103D-45D1-8A97-5E16AA49E0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6787150"/>
              </p:ext>
            </p:extLst>
          </p:nvPr>
        </p:nvGraphicFramePr>
        <p:xfrm>
          <a:off x="2771800" y="990918"/>
          <a:ext cx="468052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CName</a:t>
                      </a:r>
                      <a:endParaRPr lang="en-SG" sz="22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StockPrice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Country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EE7034D-40A6-4A6C-8656-AF28619244CE}"/>
              </a:ext>
            </a:extLst>
          </p:cNvPr>
          <p:cNvSpPr txBox="1"/>
          <p:nvPr/>
        </p:nvSpPr>
        <p:spPr>
          <a:xfrm>
            <a:off x="971600" y="103310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Company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87D8C-D99B-418A-AF21-8285BA876F0E}"/>
              </a:ext>
            </a:extLst>
          </p:cNvPr>
          <p:cNvSpPr txBox="1"/>
          <p:nvPr/>
        </p:nvSpPr>
        <p:spPr>
          <a:xfrm>
            <a:off x="971600" y="2102570"/>
            <a:ext cx="1512168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Product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09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SELECT … FROM … WHERE</a:t>
            </a:r>
          </a:p>
          <a:p>
            <a:r>
              <a:rPr lang="en-US" dirty="0"/>
              <a:t>ORDER BY</a:t>
            </a:r>
          </a:p>
          <a:p>
            <a:r>
              <a:rPr lang="en-US" dirty="0"/>
              <a:t>Joins</a:t>
            </a:r>
          </a:p>
          <a:p>
            <a:r>
              <a:rPr lang="en-US" dirty="0"/>
              <a:t>Subqueries</a:t>
            </a:r>
          </a:p>
          <a:p>
            <a:r>
              <a:rPr lang="en-US" dirty="0">
                <a:solidFill>
                  <a:srgbClr val="C00000"/>
                </a:solidFill>
              </a:rPr>
              <a:t>Aggregation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437139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2951"/>
            <a:ext cx="8229600" cy="1139825"/>
          </a:xfrm>
        </p:spPr>
        <p:txBody>
          <a:bodyPr/>
          <a:lstStyle/>
          <a:p>
            <a:r>
              <a:rPr lang="en-US" dirty="0"/>
              <a:t>Aggregation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9040"/>
            <a:ext cx="8229600" cy="2341885"/>
          </a:xfrm>
        </p:spPr>
        <p:txBody>
          <a:bodyPr/>
          <a:lstStyle/>
          <a:p>
            <a:r>
              <a:rPr lang="en-US" dirty="0"/>
              <a:t>What is the average price of the models from Toyota?</a:t>
            </a:r>
          </a:p>
          <a:p>
            <a:r>
              <a:rPr lang="en-US" dirty="0"/>
              <a:t>How many models are there from BMW?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1390052"/>
              </p:ext>
            </p:extLst>
          </p:nvPr>
        </p:nvGraphicFramePr>
        <p:xfrm>
          <a:off x="2699792" y="1628800"/>
          <a:ext cx="446449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Model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Corolla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Toyota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E89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BMW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31640" y="1670988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60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Count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7949"/>
          </a:xfrm>
        </p:spPr>
        <p:txBody>
          <a:bodyPr/>
          <a:lstStyle/>
          <a:p>
            <a:r>
              <a:rPr lang="en-US" dirty="0"/>
              <a:t>Count the number of car models from Toyota:</a:t>
            </a:r>
          </a:p>
          <a:p>
            <a:r>
              <a:rPr lang="en-US" dirty="0"/>
              <a:t>SELECT	COUNT(*)</a:t>
            </a:r>
            <a:br>
              <a:rPr lang="en-US" dirty="0"/>
            </a:br>
            <a:r>
              <a:rPr lang="en-US" dirty="0"/>
              <a:t>FROM	Cars</a:t>
            </a:r>
            <a:br>
              <a:rPr lang="en-US" dirty="0"/>
            </a:br>
            <a:r>
              <a:rPr lang="en-US" dirty="0"/>
              <a:t>WHERE 	Maker = ‘Toyota’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0754320"/>
              </p:ext>
            </p:extLst>
          </p:nvPr>
        </p:nvGraphicFramePr>
        <p:xfrm>
          <a:off x="2699792" y="1196752"/>
          <a:ext cx="446449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Model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Corolla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Toyota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E89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BMW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31640" y="1238940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79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Count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7949"/>
          </a:xfrm>
        </p:spPr>
        <p:txBody>
          <a:bodyPr/>
          <a:lstStyle/>
          <a:p>
            <a:r>
              <a:rPr lang="en-US" dirty="0"/>
              <a:t>Count the number of car makers:</a:t>
            </a:r>
          </a:p>
          <a:p>
            <a:r>
              <a:rPr lang="en-US" dirty="0"/>
              <a:t>SELECT	COUNT(Maker)</a:t>
            </a:r>
            <a:br>
              <a:rPr lang="en-US" dirty="0"/>
            </a:br>
            <a:r>
              <a:rPr lang="en-US" dirty="0"/>
              <a:t>FROM  	Cars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5921914"/>
              </p:ext>
            </p:extLst>
          </p:nvPr>
        </p:nvGraphicFramePr>
        <p:xfrm>
          <a:off x="2699792" y="1196752"/>
          <a:ext cx="446449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Model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Corolla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Toyota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E89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BMW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31640" y="1238940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16216" y="3933056"/>
            <a:ext cx="1278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6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6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Count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7949"/>
          </a:xfrm>
        </p:spPr>
        <p:txBody>
          <a:bodyPr/>
          <a:lstStyle/>
          <a:p>
            <a:r>
              <a:rPr lang="en-US" dirty="0"/>
              <a:t>Count the number of car makers:</a:t>
            </a:r>
          </a:p>
          <a:p>
            <a:r>
              <a:rPr lang="en-US" dirty="0"/>
              <a:t>SELECT  	COUNT(DISTINCT Maker)</a:t>
            </a:r>
            <a:br>
              <a:rPr lang="en-US" dirty="0"/>
            </a:br>
            <a:r>
              <a:rPr lang="en-US" dirty="0"/>
              <a:t>FROM     	Cars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9245319"/>
              </p:ext>
            </p:extLst>
          </p:nvPr>
        </p:nvGraphicFramePr>
        <p:xfrm>
          <a:off x="2699792" y="1196752"/>
          <a:ext cx="446449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Model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Corolla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Toyota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E89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BMW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31640" y="1238940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55700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Average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7949"/>
          </a:xfrm>
        </p:spPr>
        <p:txBody>
          <a:bodyPr/>
          <a:lstStyle/>
          <a:p>
            <a:r>
              <a:rPr lang="en-US" dirty="0"/>
              <a:t>Compute the average price of car models from Toyota:</a:t>
            </a:r>
          </a:p>
          <a:p>
            <a:r>
              <a:rPr lang="en-US" dirty="0"/>
              <a:t>SELECT  	AVG(Price)</a:t>
            </a:r>
            <a:br>
              <a:rPr lang="en-US" dirty="0"/>
            </a:br>
            <a:r>
              <a:rPr lang="en-US" dirty="0"/>
              <a:t>FROM     	Cars</a:t>
            </a:r>
            <a:br>
              <a:rPr lang="en-US" dirty="0"/>
            </a:br>
            <a:r>
              <a:rPr lang="en-US" dirty="0"/>
              <a:t>WHERE  	Maker = ‘Toyota’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9390131"/>
              </p:ext>
            </p:extLst>
          </p:nvPr>
        </p:nvGraphicFramePr>
        <p:xfrm>
          <a:off x="2699792" y="1196752"/>
          <a:ext cx="446449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Model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Corolla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Toyota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E89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BMW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31640" y="1238940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523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Min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7949"/>
          </a:xfrm>
        </p:spPr>
        <p:txBody>
          <a:bodyPr/>
          <a:lstStyle/>
          <a:p>
            <a:r>
              <a:rPr lang="en-US" dirty="0"/>
              <a:t>Compute the minimum price of car models from Toyota:</a:t>
            </a:r>
          </a:p>
          <a:p>
            <a:r>
              <a:rPr lang="en-US" dirty="0"/>
              <a:t>SELECT  	MIN(Price)</a:t>
            </a:r>
            <a:br>
              <a:rPr lang="en-US" dirty="0"/>
            </a:br>
            <a:r>
              <a:rPr lang="en-US" dirty="0"/>
              <a:t>FROM     	Cars</a:t>
            </a:r>
            <a:br>
              <a:rPr lang="en-US" dirty="0"/>
            </a:br>
            <a:r>
              <a:rPr lang="en-US" dirty="0"/>
              <a:t>WHERE  	Maker = ‘Toyota’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4561701"/>
              </p:ext>
            </p:extLst>
          </p:nvPr>
        </p:nvGraphicFramePr>
        <p:xfrm>
          <a:off x="2699792" y="1196752"/>
          <a:ext cx="446449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Model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Corolla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Toyota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E89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BMW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31640" y="1238940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82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Max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7949"/>
          </a:xfrm>
        </p:spPr>
        <p:txBody>
          <a:bodyPr/>
          <a:lstStyle/>
          <a:p>
            <a:r>
              <a:rPr lang="en-US" dirty="0"/>
              <a:t>Compute the maximum price of car models from Toyota:</a:t>
            </a:r>
          </a:p>
          <a:p>
            <a:r>
              <a:rPr lang="en-US" dirty="0"/>
              <a:t>SELECT  	MAX(Price)</a:t>
            </a:r>
            <a:br>
              <a:rPr lang="en-US" dirty="0"/>
            </a:br>
            <a:r>
              <a:rPr lang="en-US" dirty="0"/>
              <a:t>FROM     	Cars</a:t>
            </a:r>
            <a:br>
              <a:rPr lang="en-US" dirty="0"/>
            </a:br>
            <a:r>
              <a:rPr lang="en-US" dirty="0"/>
              <a:t>WHERE  	Maker = ‘Toyota’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6503809"/>
              </p:ext>
            </p:extLst>
          </p:nvPr>
        </p:nvGraphicFramePr>
        <p:xfrm>
          <a:off x="2699792" y="1196752"/>
          <a:ext cx="446449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Model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Corolla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Toyota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E89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BMW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31640" y="1238940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39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Sum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7949"/>
          </a:xfrm>
        </p:spPr>
        <p:txBody>
          <a:bodyPr/>
          <a:lstStyle/>
          <a:p>
            <a:r>
              <a:rPr lang="en-US" dirty="0"/>
              <a:t>Compute the sum of prices of car models from Toyota:</a:t>
            </a:r>
          </a:p>
          <a:p>
            <a:r>
              <a:rPr lang="en-US" dirty="0"/>
              <a:t>SELECT  	SUM(Price)</a:t>
            </a:r>
            <a:br>
              <a:rPr lang="en-US" dirty="0"/>
            </a:br>
            <a:r>
              <a:rPr lang="en-US" dirty="0"/>
              <a:t>FROM     	Cars</a:t>
            </a:r>
            <a:br>
              <a:rPr lang="en-US" dirty="0"/>
            </a:br>
            <a:r>
              <a:rPr lang="en-US" dirty="0"/>
              <a:t>WHERE  	Maker = ‘Toyota’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3375233"/>
              </p:ext>
            </p:extLst>
          </p:nvPr>
        </p:nvGraphicFramePr>
        <p:xfrm>
          <a:off x="2699792" y="1196752"/>
          <a:ext cx="446449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Model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Maker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Corolla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Toyota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E89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BMW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2000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31640" y="1238940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3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Sum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/>
          <a:lstStyle/>
          <a:p>
            <a:r>
              <a:rPr lang="en-US" dirty="0"/>
              <a:t>Compute the gross sales of oranges:</a:t>
            </a:r>
          </a:p>
          <a:p>
            <a:r>
              <a:rPr lang="en-US" dirty="0"/>
              <a:t>SELECT  	SUM(Price * Quantity)</a:t>
            </a:r>
            <a:br>
              <a:rPr lang="en-US" dirty="0"/>
            </a:br>
            <a:r>
              <a:rPr lang="en-US" dirty="0"/>
              <a:t>FROM     	Purchase</a:t>
            </a:r>
            <a:br>
              <a:rPr lang="en-US" dirty="0"/>
            </a:br>
            <a:r>
              <a:rPr lang="en-US" dirty="0"/>
              <a:t>WHERE   	Product = ‘Orange’</a:t>
            </a:r>
          </a:p>
          <a:p>
            <a:endParaRPr lang="en-SG" dirty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0230062"/>
              </p:ext>
            </p:extLst>
          </p:nvPr>
        </p:nvGraphicFramePr>
        <p:xfrm>
          <a:off x="2627784" y="1196752"/>
          <a:ext cx="482453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Quantity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123894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Purchase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12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Sum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/>
          <a:lstStyle/>
          <a:p>
            <a:r>
              <a:rPr lang="en-US" dirty="0"/>
              <a:t>Is it possible to obtain this?</a:t>
            </a:r>
          </a:p>
          <a:p>
            <a:r>
              <a:rPr lang="en-US" dirty="0"/>
              <a:t>Yes</a:t>
            </a:r>
          </a:p>
          <a:p>
            <a:r>
              <a:rPr lang="en-US" dirty="0"/>
              <a:t>Use </a:t>
            </a:r>
            <a:r>
              <a:rPr lang="en-US" dirty="0">
                <a:solidFill>
                  <a:srgbClr val="C00000"/>
                </a:solidFill>
              </a:rPr>
              <a:t>GROUP BY</a:t>
            </a:r>
            <a:endParaRPr lang="en-SG" dirty="0">
              <a:solidFill>
                <a:srgbClr val="C00000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9059329"/>
              </p:ext>
            </p:extLst>
          </p:nvPr>
        </p:nvGraphicFramePr>
        <p:xfrm>
          <a:off x="5796136" y="4653136"/>
          <a:ext cx="2880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GrossSales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90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976711"/>
              </p:ext>
            </p:extLst>
          </p:nvPr>
        </p:nvGraphicFramePr>
        <p:xfrm>
          <a:off x="2627784" y="1196752"/>
          <a:ext cx="482453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Quantity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9552" y="123894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Purchase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59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Group By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/>
          <a:lstStyle/>
          <a:p>
            <a:r>
              <a:rPr lang="en-US" dirty="0"/>
              <a:t>SELECT  	Product, SUM(Price * Quantity) </a:t>
            </a:r>
            <a:br>
              <a:rPr lang="en-US" dirty="0"/>
            </a:br>
            <a:r>
              <a:rPr lang="en-US" dirty="0"/>
              <a:t>              	AS </a:t>
            </a:r>
            <a:r>
              <a:rPr lang="en-US" dirty="0" err="1"/>
              <a:t>GrossSales</a:t>
            </a:r>
            <a:br>
              <a:rPr lang="en-US" dirty="0"/>
            </a:br>
            <a:r>
              <a:rPr lang="en-US" dirty="0"/>
              <a:t>FROM     	Purchase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GROUP BY</a:t>
            </a:r>
            <a:r>
              <a:rPr lang="en-US" dirty="0"/>
              <a:t> Product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8861178"/>
              </p:ext>
            </p:extLst>
          </p:nvPr>
        </p:nvGraphicFramePr>
        <p:xfrm>
          <a:off x="5796136" y="4653136"/>
          <a:ext cx="2880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GrossSales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90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2053328"/>
              </p:ext>
            </p:extLst>
          </p:nvPr>
        </p:nvGraphicFramePr>
        <p:xfrm>
          <a:off x="2627784" y="1196752"/>
          <a:ext cx="482453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Quantity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9552" y="123894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Purchase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76459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Group By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33056"/>
            <a:ext cx="8229600" cy="129614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SELECT  Product, Date, SUM(Price * Quantity) AS </a:t>
            </a:r>
            <a:r>
              <a:rPr lang="en-US" dirty="0" err="1"/>
              <a:t>GrossSales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FROM    Purchase</a:t>
            </a:r>
            <a:br>
              <a:rPr lang="en-US" dirty="0"/>
            </a:br>
            <a:r>
              <a:rPr lang="en-US" dirty="0"/>
              <a:t>GROUP BY Product, Date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6798637"/>
              </p:ext>
            </p:extLst>
          </p:nvPr>
        </p:nvGraphicFramePr>
        <p:xfrm>
          <a:off x="2627784" y="1196752"/>
          <a:ext cx="482453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Quantity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9552" y="123894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Purchase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2525042"/>
              </p:ext>
            </p:extLst>
          </p:nvPr>
        </p:nvGraphicFramePr>
        <p:xfrm>
          <a:off x="4499992" y="4365104"/>
          <a:ext cx="4176464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GrossSales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60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Group By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58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SELECT  	Product, SUM(Price * Quantity) </a:t>
            </a:r>
            <a:br>
              <a:rPr lang="en-US" dirty="0"/>
            </a:br>
            <a:r>
              <a:rPr lang="en-US" dirty="0"/>
              <a:t>              	AS </a:t>
            </a:r>
            <a:r>
              <a:rPr lang="en-US" dirty="0" err="1"/>
              <a:t>GrossSales</a:t>
            </a:r>
            <a:br>
              <a:rPr lang="en-US" dirty="0"/>
            </a:br>
            <a:r>
              <a:rPr lang="en-US" dirty="0"/>
              <a:t>FROM     	Purchase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WHERE  Price &gt;= 2</a:t>
            </a:r>
            <a:br>
              <a:rPr lang="en-US" dirty="0"/>
            </a:br>
            <a:r>
              <a:rPr lang="en-US" dirty="0"/>
              <a:t>GROUP BY Product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5708907"/>
              </p:ext>
            </p:extLst>
          </p:nvPr>
        </p:nvGraphicFramePr>
        <p:xfrm>
          <a:off x="5796136" y="4653136"/>
          <a:ext cx="2880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GrossSales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80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70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8700085"/>
              </p:ext>
            </p:extLst>
          </p:nvPr>
        </p:nvGraphicFramePr>
        <p:xfrm>
          <a:off x="2627784" y="1196752"/>
          <a:ext cx="482453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Quantity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9552" y="123894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Purchase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2483768" y="3140968"/>
            <a:ext cx="511256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7891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Group By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5"/>
            <a:ext cx="8229600" cy="136815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SELECT   	Product, SUM(Quantity) AS </a:t>
            </a:r>
            <a:r>
              <a:rPr lang="en-US" dirty="0" err="1"/>
              <a:t>TotalQuan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                	Max(Price) as </a:t>
            </a:r>
            <a:r>
              <a:rPr lang="en-US" dirty="0" err="1"/>
              <a:t>MaxPrice</a:t>
            </a:r>
            <a:br>
              <a:rPr lang="en-US" dirty="0"/>
            </a:br>
            <a:r>
              <a:rPr lang="en-US" dirty="0"/>
              <a:t>FROM      	Purchase</a:t>
            </a:r>
            <a:br>
              <a:rPr lang="en-US" dirty="0"/>
            </a:br>
            <a:r>
              <a:rPr lang="en-US" dirty="0"/>
              <a:t>GROUP BY Product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0695805"/>
              </p:ext>
            </p:extLst>
          </p:nvPr>
        </p:nvGraphicFramePr>
        <p:xfrm>
          <a:off x="2627784" y="1196752"/>
          <a:ext cx="482453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Quantity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9552" y="123894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Purchase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4978831"/>
              </p:ext>
            </p:extLst>
          </p:nvPr>
        </p:nvGraphicFramePr>
        <p:xfrm>
          <a:off x="4355976" y="4807808"/>
          <a:ext cx="432047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TotalQuan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MaxPrice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62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Having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5"/>
            <a:ext cx="8229600" cy="129614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SELECT   	Product, SUM(Quantity) AS </a:t>
            </a:r>
            <a:r>
              <a:rPr lang="en-US" dirty="0" err="1"/>
              <a:t>TotalQuan</a:t>
            </a:r>
            <a:br>
              <a:rPr lang="en-US" dirty="0"/>
            </a:br>
            <a:r>
              <a:rPr lang="en-US" dirty="0"/>
              <a:t>FROM      	Purchase</a:t>
            </a:r>
            <a:br>
              <a:rPr lang="en-US" dirty="0"/>
            </a:br>
            <a:r>
              <a:rPr lang="en-US" dirty="0"/>
              <a:t>GROUP BY 	Product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HAVING</a:t>
            </a:r>
            <a:r>
              <a:rPr lang="en-US" dirty="0"/>
              <a:t>  Max(Price) &gt; 4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7894044"/>
              </p:ext>
            </p:extLst>
          </p:nvPr>
        </p:nvGraphicFramePr>
        <p:xfrm>
          <a:off x="2627784" y="1196752"/>
          <a:ext cx="482453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Quantity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9552" y="123894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Purchase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3824643"/>
              </p:ext>
            </p:extLst>
          </p:nvPr>
        </p:nvGraphicFramePr>
        <p:xfrm>
          <a:off x="4355976" y="4807808"/>
          <a:ext cx="4320479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TotalQuan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MaxPrice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61406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Aggregation: Having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5"/>
            <a:ext cx="8229600" cy="165618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SELECT   	Product, SUM(Quantity) AS </a:t>
            </a:r>
            <a:r>
              <a:rPr lang="en-US" dirty="0" err="1"/>
              <a:t>TotalQuan</a:t>
            </a:r>
            <a:br>
              <a:rPr lang="en-US" dirty="0"/>
            </a:br>
            <a:r>
              <a:rPr lang="en-US" dirty="0"/>
              <a:t>FROM      	Purchase</a:t>
            </a:r>
            <a:br>
              <a:rPr lang="en-US" dirty="0"/>
            </a:br>
            <a:r>
              <a:rPr lang="en-US" dirty="0"/>
              <a:t>GROUP BY 	Product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HAVING</a:t>
            </a:r>
            <a:r>
              <a:rPr lang="en-US" dirty="0"/>
              <a:t>  Max(Price) &gt; 4</a:t>
            </a:r>
            <a:br>
              <a:rPr lang="en-US" dirty="0"/>
            </a:br>
            <a:r>
              <a:rPr lang="en-US" dirty="0"/>
              <a:t>         OR </a:t>
            </a:r>
            <a:r>
              <a:rPr lang="en-US" dirty="0" err="1"/>
              <a:t>TotalQuan</a:t>
            </a:r>
            <a:r>
              <a:rPr lang="en-US" dirty="0"/>
              <a:t> &gt; 20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7164247"/>
              </p:ext>
            </p:extLst>
          </p:nvPr>
        </p:nvGraphicFramePr>
        <p:xfrm>
          <a:off x="2627784" y="1196752"/>
          <a:ext cx="482453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Quantity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9552" y="123894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Purchase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7140470"/>
              </p:ext>
            </p:extLst>
          </p:nvPr>
        </p:nvGraphicFramePr>
        <p:xfrm>
          <a:off x="4355976" y="4807808"/>
          <a:ext cx="432047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TotalQuan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MaxPrice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29817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5"/>
            <a:ext cx="8229600" cy="216023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SELECT   	Product, Date, SUM(Quantity) AS </a:t>
            </a:r>
            <a:r>
              <a:rPr lang="en-US" dirty="0" err="1"/>
              <a:t>TotalQuan</a:t>
            </a:r>
            <a:br>
              <a:rPr lang="en-US" dirty="0"/>
            </a:br>
            <a:r>
              <a:rPr lang="en-US" dirty="0"/>
              <a:t>FROM      	Purchase</a:t>
            </a:r>
            <a:br>
              <a:rPr lang="en-US" dirty="0"/>
            </a:br>
            <a:r>
              <a:rPr lang="en-US" dirty="0"/>
              <a:t>GROUP BY Product</a:t>
            </a:r>
          </a:p>
          <a:p>
            <a:r>
              <a:rPr lang="en-US" dirty="0"/>
              <a:t>Anything in the SELECT list should either be (i) an aggregate function or (ii) in the GROUP BY list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9933235"/>
              </p:ext>
            </p:extLst>
          </p:nvPr>
        </p:nvGraphicFramePr>
        <p:xfrm>
          <a:off x="2627784" y="1196752"/>
          <a:ext cx="482453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Quantity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9552" y="123894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Purchase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8264" y="4365104"/>
            <a:ext cx="1278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6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21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05065"/>
            <a:ext cx="8229600" cy="216023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SELECT   Product</a:t>
            </a:r>
            <a:r>
              <a:rPr lang="en-US"/>
              <a:t>, SUM(Quantity</a:t>
            </a:r>
            <a:r>
              <a:rPr lang="en-US" dirty="0"/>
              <a:t>) AS </a:t>
            </a:r>
            <a:r>
              <a:rPr lang="en-US" dirty="0" err="1"/>
              <a:t>TotalQuan</a:t>
            </a:r>
            <a:br>
              <a:rPr lang="en-US" dirty="0"/>
            </a:br>
            <a:r>
              <a:rPr lang="en-US" dirty="0"/>
              <a:t>FROM      Purchase</a:t>
            </a:r>
            <a:br>
              <a:rPr lang="en-US" dirty="0"/>
            </a:br>
            <a:r>
              <a:rPr lang="en-US" dirty="0"/>
              <a:t>GROUP BY Product</a:t>
            </a:r>
            <a:br>
              <a:rPr lang="en-US" dirty="0"/>
            </a:br>
            <a:r>
              <a:rPr lang="en-US" dirty="0"/>
              <a:t>HAVING  Price &gt; 2</a:t>
            </a:r>
          </a:p>
          <a:p>
            <a:r>
              <a:rPr lang="en-US" dirty="0"/>
              <a:t>The HAVING clause specifies conditions on each group, but not conditions on each tuple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5851470"/>
              </p:ext>
            </p:extLst>
          </p:nvPr>
        </p:nvGraphicFramePr>
        <p:xfrm>
          <a:off x="2627784" y="1196752"/>
          <a:ext cx="482453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Quantity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9552" y="123894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Purchase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8264" y="4437112"/>
            <a:ext cx="1278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</a:rPr>
              <a:t>Error!</a:t>
            </a:r>
            <a:endParaRPr lang="en-SG" sz="36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91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0928"/>
            <a:ext cx="8229600" cy="3349997"/>
          </a:xfrm>
        </p:spPr>
        <p:txBody>
          <a:bodyPr/>
          <a:lstStyle/>
          <a:p>
            <a:r>
              <a:rPr lang="en-US" dirty="0"/>
              <a:t>Find the number of usernames under each real name</a:t>
            </a:r>
          </a:p>
          <a:p>
            <a:r>
              <a:rPr lang="en-US" dirty="0"/>
              <a:t>SELECT 	COUNT(*)</a:t>
            </a:r>
            <a:br>
              <a:rPr lang="en-US" dirty="0"/>
            </a:br>
            <a:r>
              <a:rPr lang="en-US" dirty="0"/>
              <a:t>FROM    	Author</a:t>
            </a:r>
            <a:br>
              <a:rPr lang="en-US" dirty="0"/>
            </a:br>
            <a:r>
              <a:rPr lang="en-US" dirty="0"/>
              <a:t>GROUP BY </a:t>
            </a:r>
            <a:r>
              <a:rPr lang="en-US" dirty="0" err="1"/>
              <a:t>RealName</a:t>
            </a:r>
            <a:endParaRPr lang="en-US" dirty="0"/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0193991"/>
              </p:ext>
            </p:extLst>
          </p:nvPr>
        </p:nvGraphicFramePr>
        <p:xfrm>
          <a:off x="611560" y="1772816"/>
          <a:ext cx="316835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162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0243115"/>
              </p:ext>
            </p:extLst>
          </p:nvPr>
        </p:nvGraphicFramePr>
        <p:xfrm>
          <a:off x="5004048" y="1783472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4048" y="11268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62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0928"/>
            <a:ext cx="8229600" cy="3349997"/>
          </a:xfrm>
        </p:spPr>
        <p:txBody>
          <a:bodyPr/>
          <a:lstStyle/>
          <a:p>
            <a:r>
              <a:rPr lang="en-US" dirty="0"/>
              <a:t>Find the number of articles written by each user, group by real names</a:t>
            </a:r>
          </a:p>
          <a:p>
            <a:r>
              <a:rPr lang="en-US" dirty="0"/>
              <a:t>SELECT 	</a:t>
            </a:r>
            <a:r>
              <a:rPr lang="en-US" dirty="0" err="1"/>
              <a:t>RealName</a:t>
            </a:r>
            <a:r>
              <a:rPr lang="en-US" dirty="0"/>
              <a:t>, COUNT(*)</a:t>
            </a:r>
            <a:br>
              <a:rPr lang="en-US" dirty="0"/>
            </a:br>
            <a:r>
              <a:rPr lang="en-US" dirty="0"/>
              <a:t>FROM    	Author AS A, Wrote AS W</a:t>
            </a:r>
            <a:br>
              <a:rPr lang="en-US" dirty="0"/>
            </a:br>
            <a:r>
              <a:rPr lang="en-US" dirty="0"/>
              <a:t>WHERE  	</a:t>
            </a:r>
            <a:r>
              <a:rPr lang="en-US" dirty="0" err="1"/>
              <a:t>A.UserName</a:t>
            </a:r>
            <a:r>
              <a:rPr lang="en-US" dirty="0"/>
              <a:t> = </a:t>
            </a:r>
            <a:r>
              <a:rPr lang="en-US" dirty="0" err="1"/>
              <a:t>W.UserName</a:t>
            </a:r>
            <a:br>
              <a:rPr lang="en-US" dirty="0"/>
            </a:br>
            <a:r>
              <a:rPr lang="en-US" dirty="0"/>
              <a:t>GROUP BY </a:t>
            </a:r>
            <a:r>
              <a:rPr lang="en-US" dirty="0" err="1"/>
              <a:t>RealName</a:t>
            </a:r>
            <a:endParaRPr lang="en-US" dirty="0"/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807887"/>
              </p:ext>
            </p:extLst>
          </p:nvPr>
        </p:nvGraphicFramePr>
        <p:xfrm>
          <a:off x="611560" y="1772816"/>
          <a:ext cx="316835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162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0316662"/>
              </p:ext>
            </p:extLst>
          </p:nvPr>
        </p:nvGraphicFramePr>
        <p:xfrm>
          <a:off x="5004048" y="1783472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4048" y="11268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54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0928"/>
            <a:ext cx="8229600" cy="3349997"/>
          </a:xfrm>
        </p:spPr>
        <p:txBody>
          <a:bodyPr/>
          <a:lstStyle/>
          <a:p>
            <a:r>
              <a:rPr lang="en-US" dirty="0"/>
              <a:t>Find the real names of the persons who wrote more than 10 articles</a:t>
            </a:r>
          </a:p>
          <a:p>
            <a:r>
              <a:rPr lang="en-US" dirty="0"/>
              <a:t>SELECT 	</a:t>
            </a:r>
            <a:r>
              <a:rPr lang="en-US" dirty="0" err="1"/>
              <a:t>RealName</a:t>
            </a:r>
            <a:br>
              <a:rPr lang="en-US" dirty="0"/>
            </a:br>
            <a:r>
              <a:rPr lang="en-US" dirty="0"/>
              <a:t>FROM    	Author AS A, Wrote AS W</a:t>
            </a:r>
            <a:br>
              <a:rPr lang="en-US" dirty="0"/>
            </a:br>
            <a:r>
              <a:rPr lang="en-US" dirty="0"/>
              <a:t>WHERE  	</a:t>
            </a:r>
            <a:r>
              <a:rPr lang="en-US" dirty="0" err="1"/>
              <a:t>A.UserName</a:t>
            </a:r>
            <a:r>
              <a:rPr lang="en-US" dirty="0"/>
              <a:t> = </a:t>
            </a:r>
            <a:r>
              <a:rPr lang="en-US" dirty="0" err="1"/>
              <a:t>W.UserName</a:t>
            </a:r>
            <a:br>
              <a:rPr lang="en-US" dirty="0"/>
            </a:br>
            <a:r>
              <a:rPr lang="en-US" dirty="0"/>
              <a:t>GROUP BY </a:t>
            </a:r>
            <a:r>
              <a:rPr lang="en-US" dirty="0" err="1"/>
              <a:t>RealName</a:t>
            </a:r>
            <a:br>
              <a:rPr lang="en-US" dirty="0"/>
            </a:br>
            <a:r>
              <a:rPr lang="en-US" dirty="0"/>
              <a:t>HAVING COUNT(*) &gt; 10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9740529"/>
              </p:ext>
            </p:extLst>
          </p:nvPr>
        </p:nvGraphicFramePr>
        <p:xfrm>
          <a:off x="611560" y="1772816"/>
          <a:ext cx="316835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sng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>
                          <a:latin typeface="Calibri" panose="020F0502020204030204" pitchFamily="34" charset="0"/>
                        </a:rPr>
                        <a:t>RealName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1116236"/>
            <a:ext cx="136815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Author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2722495"/>
              </p:ext>
            </p:extLst>
          </p:nvPr>
        </p:nvGraphicFramePr>
        <p:xfrm>
          <a:off x="5004048" y="1783472"/>
          <a:ext cx="302433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dirty="0" err="1">
                          <a:latin typeface="Calibri" panose="020F0502020204030204" pitchFamily="34" charset="0"/>
                        </a:rPr>
                        <a:t>UserName</a:t>
                      </a:r>
                      <a:endParaRPr lang="en-SG" sz="22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>
                          <a:latin typeface="Calibri" panose="020F0502020204030204" pitchFamily="34" charset="0"/>
                        </a:rPr>
                        <a:t>Article</a:t>
                      </a:r>
                      <a:endParaRPr lang="en-SG" sz="22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4048" y="1126892"/>
            <a:ext cx="1728192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Wrote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22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4BAD0-73E3-4C22-A910-FA52A3C4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Subqueries in HAVING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C1223-159F-447E-97B8-13DCD11D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3061965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Find the products whose gross sales are more than that of Orange</a:t>
            </a:r>
          </a:p>
          <a:p>
            <a:r>
              <a:rPr lang="en-US" dirty="0"/>
              <a:t>SELECT  		</a:t>
            </a:r>
            <a:r>
              <a:rPr lang="en-US" dirty="0" err="1"/>
              <a:t>X.Product</a:t>
            </a:r>
            <a:r>
              <a:rPr lang="en-US" dirty="0"/>
              <a:t>	FROM     Purchase X</a:t>
            </a:r>
            <a:br>
              <a:rPr lang="en-US" dirty="0"/>
            </a:br>
            <a:r>
              <a:rPr lang="en-US" dirty="0"/>
              <a:t>GROUP BY 	</a:t>
            </a:r>
            <a:r>
              <a:rPr lang="en-US" dirty="0" err="1"/>
              <a:t>X.Product</a:t>
            </a:r>
            <a:br>
              <a:rPr lang="en-US" dirty="0"/>
            </a:br>
            <a:r>
              <a:rPr lang="en-US" dirty="0"/>
              <a:t>HAVING		SUM(</a:t>
            </a:r>
            <a:r>
              <a:rPr lang="en-US" dirty="0" err="1"/>
              <a:t>X.Price</a:t>
            </a:r>
            <a:r>
              <a:rPr lang="en-US" dirty="0"/>
              <a:t> * </a:t>
            </a:r>
            <a:r>
              <a:rPr lang="en-US" dirty="0" err="1"/>
              <a:t>X.Quantity</a:t>
            </a:r>
            <a:r>
              <a:rPr lang="en-US" dirty="0"/>
              <a:t>) &gt; </a:t>
            </a:r>
            <a:br>
              <a:rPr lang="en-US" dirty="0"/>
            </a:br>
            <a:r>
              <a:rPr lang="en-US" dirty="0"/>
              <a:t>	(SELECT 	SUM(</a:t>
            </a:r>
            <a:r>
              <a:rPr lang="en-US" dirty="0" err="1"/>
              <a:t>Y.Price</a:t>
            </a:r>
            <a:r>
              <a:rPr lang="en-US" dirty="0"/>
              <a:t> * </a:t>
            </a:r>
            <a:r>
              <a:rPr lang="en-US" dirty="0" err="1"/>
              <a:t>Y.Quantity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	 FROM 	Purchase Y</a:t>
            </a:r>
            <a:br>
              <a:rPr lang="en-US" dirty="0"/>
            </a:br>
            <a:r>
              <a:rPr lang="en-US" dirty="0"/>
              <a:t>	 WHERE   	Product = ‘Orange’)</a:t>
            </a:r>
          </a:p>
          <a:p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5840DC-FD67-494A-BDE8-3A61FE2EA4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3636691"/>
              </p:ext>
            </p:extLst>
          </p:nvPr>
        </p:nvGraphicFramePr>
        <p:xfrm>
          <a:off x="2627784" y="1196752"/>
          <a:ext cx="482453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libri" panose="020F0502020204030204" pitchFamily="34" charset="0"/>
                        </a:rPr>
                        <a:t>Product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Date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Quantity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Orange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2011.1.1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10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Banana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2011.1.2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5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libri" panose="020F0502020204030204" pitchFamily="34" charset="0"/>
                        </a:rPr>
                        <a:t>…</a:t>
                      </a:r>
                      <a:endParaRPr lang="en-SG" sz="22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50995F-EECE-493C-A6DC-440AF2E97AF0}"/>
              </a:ext>
            </a:extLst>
          </p:cNvPr>
          <p:cNvSpPr txBox="1"/>
          <p:nvPr/>
        </p:nvSpPr>
        <p:spPr>
          <a:xfrm>
            <a:off x="539552" y="1238940"/>
            <a:ext cx="180020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Purchase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997752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12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3366FF"/>
      </a:accent1>
      <a:accent2>
        <a:srgbClr val="3366FF"/>
      </a:accent2>
      <a:accent3>
        <a:srgbClr val="FFFFFF"/>
      </a:accent3>
      <a:accent4>
        <a:srgbClr val="000000"/>
      </a:accent4>
      <a:accent5>
        <a:srgbClr val="ADB8FF"/>
      </a:accent5>
      <a:accent6>
        <a:srgbClr val="2D5CE7"/>
      </a:accent6>
      <a:hlink>
        <a:srgbClr val="006666"/>
      </a:hlink>
      <a:folHlink>
        <a:srgbClr val="B2B2B2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1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0099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008A8A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2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0</TotalTime>
  <Words>4183</Words>
  <Application>Microsoft Office PowerPoint</Application>
  <PresentationFormat>On-screen Show (4:3)</PresentationFormat>
  <Paragraphs>2157</Paragraphs>
  <Slides>111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7" baseType="lpstr">
      <vt:lpstr>宋体</vt:lpstr>
      <vt:lpstr>Arial</vt:lpstr>
      <vt:lpstr>Calibri</vt:lpstr>
      <vt:lpstr>Garamond</vt:lpstr>
      <vt:lpstr>Wingdings</vt:lpstr>
      <vt:lpstr>Edge</vt:lpstr>
      <vt:lpstr>CS2102  Database Systems</vt:lpstr>
      <vt:lpstr>Lecturers</vt:lpstr>
      <vt:lpstr>Teaching Assistant</vt:lpstr>
      <vt:lpstr>Main Textbook</vt:lpstr>
      <vt:lpstr>Alternative Textbook</vt:lpstr>
      <vt:lpstr>Course Requirements</vt:lpstr>
      <vt:lpstr>Learning Objectives</vt:lpstr>
      <vt:lpstr>Coming Next</vt:lpstr>
      <vt:lpstr>Introduction</vt:lpstr>
      <vt:lpstr>Database and DBMS</vt:lpstr>
      <vt:lpstr>Why do we need DBMS?</vt:lpstr>
      <vt:lpstr>Types of DBMS</vt:lpstr>
      <vt:lpstr>Types of DBMS</vt:lpstr>
      <vt:lpstr>Relational Data Model</vt:lpstr>
      <vt:lpstr>Some Jargons</vt:lpstr>
      <vt:lpstr>Some More Jargons</vt:lpstr>
      <vt:lpstr>Some More Jargons</vt:lpstr>
      <vt:lpstr>Tables, Relations, Relational Model</vt:lpstr>
      <vt:lpstr>Tables, Relations, Relational Model</vt:lpstr>
      <vt:lpstr>Structured Query Language (SQL)</vt:lpstr>
      <vt:lpstr>Structured Query Language (SQL)</vt:lpstr>
      <vt:lpstr>Database Schema Design</vt:lpstr>
      <vt:lpstr>Database Schema Design</vt:lpstr>
      <vt:lpstr>Database Schema Design: Example</vt:lpstr>
      <vt:lpstr>Database Schema Design: Example</vt:lpstr>
      <vt:lpstr>Database Schema Design: Example</vt:lpstr>
      <vt:lpstr>Database Schema Design: Example</vt:lpstr>
      <vt:lpstr>Course Overview</vt:lpstr>
      <vt:lpstr>Course Overivew</vt:lpstr>
      <vt:lpstr>Coming Next</vt:lpstr>
      <vt:lpstr>Structured Query Language (SQL)</vt:lpstr>
      <vt:lpstr>Structured Query Language (SQL)</vt:lpstr>
      <vt:lpstr>Simple SQL Query</vt:lpstr>
      <vt:lpstr>Simple SQL Query</vt:lpstr>
      <vt:lpstr>Simple SQL Query</vt:lpstr>
      <vt:lpstr>Simple SQL Query</vt:lpstr>
      <vt:lpstr>Simple SQL Query (cont.)</vt:lpstr>
      <vt:lpstr>Details</vt:lpstr>
      <vt:lpstr>Patterns for Strings</vt:lpstr>
      <vt:lpstr>Patterns for Strings</vt:lpstr>
      <vt:lpstr>Patterns for Strings</vt:lpstr>
      <vt:lpstr>Patterns for Strings</vt:lpstr>
      <vt:lpstr>Patterns for Strings</vt:lpstr>
      <vt:lpstr>Patterns for Strings</vt:lpstr>
      <vt:lpstr>Eliminating Duplicates</vt:lpstr>
      <vt:lpstr>Eliminating Duplicates (cont.)</vt:lpstr>
      <vt:lpstr>Ordering the Results</vt:lpstr>
      <vt:lpstr>Ordering the Results (cont.)</vt:lpstr>
      <vt:lpstr>Ordering the Results (cont.)</vt:lpstr>
      <vt:lpstr>Ordering the Results (cont.)</vt:lpstr>
      <vt:lpstr>Ordering the Results (cont.)</vt:lpstr>
      <vt:lpstr>Exercise</vt:lpstr>
      <vt:lpstr>Exercise</vt:lpstr>
      <vt:lpstr>Exercise</vt:lpstr>
      <vt:lpstr>Exercise</vt:lpstr>
      <vt:lpstr>Exercise</vt:lpstr>
      <vt:lpstr>Exercise</vt:lpstr>
      <vt:lpstr>Roadmap</vt:lpstr>
      <vt:lpstr>Joins</vt:lpstr>
      <vt:lpstr>Joins</vt:lpstr>
      <vt:lpstr>Joins</vt:lpstr>
      <vt:lpstr>Joins</vt:lpstr>
      <vt:lpstr>Joins</vt:lpstr>
      <vt:lpstr>Joins</vt:lpstr>
      <vt:lpstr>Joins</vt:lpstr>
      <vt:lpstr>Joins</vt:lpstr>
      <vt:lpstr>Joins</vt:lpstr>
      <vt:lpstr>Exercise</vt:lpstr>
      <vt:lpstr>Exercise</vt:lpstr>
      <vt:lpstr>Exercise</vt:lpstr>
      <vt:lpstr>Exercise</vt:lpstr>
      <vt:lpstr>Roadmap</vt:lpstr>
      <vt:lpstr>Subqueries</vt:lpstr>
      <vt:lpstr>Subqueries in FROM</vt:lpstr>
      <vt:lpstr>Subqueries in FROM (cont.)</vt:lpstr>
      <vt:lpstr>Subqueries in WHERE (cont.)</vt:lpstr>
      <vt:lpstr>Subqueries in WHERE (cont.)</vt:lpstr>
      <vt:lpstr>Subqueries in WHERE (cont.)</vt:lpstr>
      <vt:lpstr>Subqueries in WHERE (cont.)</vt:lpstr>
      <vt:lpstr>Subqueries in WHERE (cont.)</vt:lpstr>
      <vt:lpstr>Subqueries in WHERE (cont.)</vt:lpstr>
      <vt:lpstr>Avoiding Nested Queries</vt:lpstr>
      <vt:lpstr>Subqueries in WHERE (cont.)</vt:lpstr>
      <vt:lpstr>Subqueries in WHERE (cont.)</vt:lpstr>
      <vt:lpstr>Exercise</vt:lpstr>
      <vt:lpstr>Exercise</vt:lpstr>
      <vt:lpstr>Exercise</vt:lpstr>
      <vt:lpstr>Question</vt:lpstr>
      <vt:lpstr>Roadmap</vt:lpstr>
      <vt:lpstr>Aggregation</vt:lpstr>
      <vt:lpstr>Aggregation: Count</vt:lpstr>
      <vt:lpstr>Aggregation: Count (cont.)</vt:lpstr>
      <vt:lpstr>Aggregation: Count (cont.)</vt:lpstr>
      <vt:lpstr>Aggregation: Average</vt:lpstr>
      <vt:lpstr>Aggregation: Min</vt:lpstr>
      <vt:lpstr>Aggregation: Max</vt:lpstr>
      <vt:lpstr>Aggregation: Sum</vt:lpstr>
      <vt:lpstr>Aggregation: Sum (cont.)</vt:lpstr>
      <vt:lpstr>Aggregation: Sum (cont.)</vt:lpstr>
      <vt:lpstr>Aggregation: Group By</vt:lpstr>
      <vt:lpstr>Aggregation: Group By (cont.)</vt:lpstr>
      <vt:lpstr>Aggregation: Group By (cont.)</vt:lpstr>
      <vt:lpstr>Aggregation: Group By (cont.)</vt:lpstr>
      <vt:lpstr>Aggregation: Having (cont.)</vt:lpstr>
      <vt:lpstr>Aggregation: Having (cont.)</vt:lpstr>
      <vt:lpstr>Common Mistakes</vt:lpstr>
      <vt:lpstr>Common Mistakes (cont.)</vt:lpstr>
      <vt:lpstr>Exercise</vt:lpstr>
      <vt:lpstr>Exercise</vt:lpstr>
      <vt:lpstr>Exercise</vt:lpstr>
      <vt:lpstr>Subqueries in HAVING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Data Publishing</dc:title>
  <dc:creator>xiaokui</dc:creator>
  <cp:lastModifiedBy>Xiao Xiaokui</cp:lastModifiedBy>
  <cp:revision>1069</cp:revision>
  <cp:lastPrinted>2015-08-13T02:09:41Z</cp:lastPrinted>
  <dcterms:created xsi:type="dcterms:W3CDTF">2009-03-02T02:47:37Z</dcterms:created>
  <dcterms:modified xsi:type="dcterms:W3CDTF">2019-06-18T13:42:14Z</dcterms:modified>
</cp:coreProperties>
</file>