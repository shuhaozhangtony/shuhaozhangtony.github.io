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36" r:id="rId59"/>
    <p:sldId id="337" r:id="rId60"/>
    <p:sldId id="338" r:id="rId61"/>
    <p:sldId id="339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7400" y="685800"/>
            <a:ext cx="9652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15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1600200"/>
            <a:ext cx="99060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altLang="en-US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推理系统：两小时快速介绍</a:t>
            </a:r>
            <a:endParaRPr lang="zh-CN" altLang="en-US" sz="42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3302000"/>
            <a:ext cx="8890000" cy="42989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从模型生成到服务调度、</a:t>
            </a:r>
            <a:r>
              <a:rPr lang="en-US" altLang="zh-CN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KV </a:t>
            </a:r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内存、异构执行与实验验证</a:t>
            </a:r>
            <a:endParaRPr lang="zh-CN" altLang="en-US" sz="2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5257800"/>
            <a:ext cx="914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单文件速览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55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休息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+ 55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5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5943600"/>
            <a:ext cx="914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华中科技大学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张书豪课题组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033000" y="1397000"/>
            <a:ext cx="1333500" cy="1333500"/>
          </a:xfrm>
          <a:prstGeom prst="ellipse">
            <a:avLst/>
          </a:prstGeom>
          <a:noFill/>
          <a:ln w="63500">
            <a:solidFill>
              <a:srgbClr val="28CBD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36200" y="1701800"/>
            <a:ext cx="927100" cy="9531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速览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两小时课程地图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两段各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 55 </a:t>
            </a:r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分钟，中间休息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00–25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25–55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请求与指标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65–95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调度与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95–120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执行与证据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课后应能从一个请求出发，解释生成、调度、内存与实验验证的完整链路。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模型、推理与推理服务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模型：给定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序列，计算下一个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的概率分布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推理：反复执行模型并按采样规则选择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推理服务：让许多用户通过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共享模型和硬件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本课程研究服务层到硬件执行层的完整路径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3220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先把模型看成计算函数，再把推理看成循环，最后把服务看成多请求共享系统。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一句话如何变成流式输出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例子：用户输入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请用两句话解释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Cache”</a:t>
            </a:r>
            <a:endParaRPr lang="en-US" altLang="zh-CN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文本切成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进入等待队列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读完整输入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逐个生成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流式返回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后续所有指标都可以标在这条时间线上。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logits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与采样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是模型处理的离散编号，不一定对应一个汉字或单词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Logits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是模型对词表中每个候选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给出的未归一化分数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Softmax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转成概率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Temperature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top-p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改变候选分布和随机性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系统优化必须保持采样语义，否则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更快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可能来自输出行为改变。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课程研究对象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对象是在线大模型推理服务，不是模型训练过程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系统需要同时处理模型执行、请求调度、状态管理与服务接口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核心问题是有限资源下的延迟、吞吐、成本和可靠性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后续七讲都围绕同一条请求路径展开。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端到端请求路径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一条请求跨越服务层、运行时和硬件执行层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1995805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鉴权与排队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40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0860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6100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6100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调度器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选择批次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504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0824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6064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6064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处理输入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0468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0788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6028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6028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0432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40752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5992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5992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流式返回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结束与回收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任何局部优化都要回到端到端路径判断收益。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训练与推理的系统差异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endParaRPr lang="zh-CN" altLang="en-US" sz="21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批次结构更稳定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目标通常是吞吐与收敛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状态随训练步骤更新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推理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请求长度高度变化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用户直接感知尾延迟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每个请求维护独立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推理系统的难点来自动态到达、动态长度和在线</a:t>
            </a:r>
            <a:r>
              <a:rPr lang="en-US" altLang="zh-CN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</a:t>
            </a:r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推理的最小路径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不展开训练，只保留生成一个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所需的计算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Embedding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编号变向量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从上下文取信息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MLP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逐位置变换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Logits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得到词表分数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Sampling</a:t>
            </a:r>
            <a:endParaRPr lang="en-US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选下一个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每一层都会读写中间状态，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位于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的直觉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表示当前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想从历史中查什么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表示每个历史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可被怎样匹配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是匹配后取回的信息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权重由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的相似度决定，再加权求和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图书馆类比：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是检索词，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是索引，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是书中的内容。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为什么缓存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步生成时，历史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不会改变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没有缓存：每一步重新计算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1…t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的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V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有缓存：只计算新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token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的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V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旧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V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直接从显存读取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Q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只服务当前一步，因此通常不长期保存</a:t>
            </a:r>
            <a:endParaRPr lang="zh-CN" altLang="en-US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减少重复计算，但引入持续增长的显存占用和带宽压力。</a:t>
            </a:r>
            <a:endParaRPr lang="zh-CN" altLang="en-US" sz="17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的张量变化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8-token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输入为例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一次并行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forward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K/V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得到最后位置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采样首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指序列位置可批量计算，不代表没有层间依赖。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的逐步增长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生成后，每轮只增加一个位置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step 1: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读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8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组历史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，写第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9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step 2: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读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9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组历史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，写第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10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step 3: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读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10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组历史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，写第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11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组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序列越长，每步需要读取的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越多</a:t>
            </a:r>
            <a:endParaRPr lang="zh-CN" altLang="en-US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长输出会同时增加迭代次数和单次</a:t>
            </a:r>
            <a:r>
              <a:rPr lang="en-US" altLang="zh-CN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 </a:t>
            </a:r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的数据量。</a:t>
            </a:r>
            <a:endParaRPr lang="zh-CN" altLang="en-US" sz="17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最小调用链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016000"/>
            <a:ext cx="10795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不同实现命名可能变化，但职责顺序稳定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1676400"/>
            <a:ext cx="10795000" cy="35306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4400" y="1955800"/>
            <a:ext cx="10185400" cy="16605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API server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└─ engine.generate(request)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└─ scheduler.schedule()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└─ model_runner.execute_model()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    └─ sampler.sample()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        └─ output_processor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54864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阅读代码时先找对象边界，再跟踪数据结构。</a:t>
            </a:r>
            <a:endParaRPr lang="zh-CN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请求状态机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请求不是一次函数调用，而是一组持续演化的状态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WAITING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进入队列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RUNNING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获得执行槽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PREEMPTED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让出资源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FINISHED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释放状态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状态转换由调度决策、内存压力和终止条件共同触发。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入口层的职责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prompt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、采样参数与停止条件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request_id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并维护流式连接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执行限流、鉴权和输入校验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把请求交给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engine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，而不是直接调用模型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入口层把用户协议转换为运行时对象。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序列到首</a:t>
            </a:r>
            <a:r>
              <a:rPr lang="en-US" altLang="zh-CN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Tokenize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构造输入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建立块表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Forward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Sample</a:t>
            </a:r>
            <a:endParaRPr lang="en-US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产生首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包含排队、预处理和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连续批处理在每次迭代重组运行集合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1995805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选择活跃请求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40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0860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6100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6100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准备位置与块表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504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0824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6064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6064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执行单步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forward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0468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0788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6028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6028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采样并更新状态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0432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40752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5992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6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5992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或结束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由多次迭代的稳定性决定。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endParaRPr lang="zh-CN" altLang="en-US" sz="21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一次处理整段输入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并行度高，计算更密集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主要影响首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每轮只生成一个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频繁读取权重与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主要影响逐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两个阶段的资源特征不同，混在一起调度会产生干扰。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TPOT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的具体时间线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假设请求在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ms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到达，首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420 ms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753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到达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        0 ms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排队结束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          120 ms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Prefill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完成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首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token  420 ms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后续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token          470, 520, 575 ms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TTFT = 420 ms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TPOT ≈ (575-420)/3 = 51.7 ms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</a:t>
            </a:r>
            <a:r>
              <a:rPr lang="zh-CN" altLang="en-US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包含排队和</a:t>
            </a:r>
            <a:r>
              <a:rPr lang="en-US" altLang="zh-CN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</a:t>
            </a:r>
            <a:r>
              <a:rPr lang="zh-CN" altLang="en-US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 </a:t>
            </a:r>
            <a:r>
              <a:rPr lang="zh-CN" altLang="en-US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描述首</a:t>
            </a:r>
            <a:r>
              <a:rPr lang="en-US" altLang="zh-CN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之后的输出节奏。</a:t>
            </a:r>
            <a:endParaRPr lang="zh-CN" altLang="en-US" sz="17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用户可感知指标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：请求到第一个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的时间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：相邻输出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的平均间隔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E2E latency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：完整请求完成时间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P95/P99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：高分位延迟揭示拥塞和抖动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平均值不足以描述在线体验。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P99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为什么重要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个请求按延迟从小到大排序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P50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：第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50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个请求，代表典型体验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P95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：第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95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个请求，只有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5%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更慢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P99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：第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99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个请求，揭示严重排队与抖动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平均值可能被大量短请求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“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稀释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”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报告分位数时必须说明样本数、测量窗口与插值方法。</a:t>
            </a:r>
            <a:endParaRPr lang="zh-CN" altLang="en-US" sz="17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系统效率指标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Throughput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：单位时间完成的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或请求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Goodput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：满足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的有效吞吐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GPU/NPU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利用率：只能解释资源使用，不能替代服务指标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单位请求成本：把硬件时间和容量规划联系起来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先写清分母、窗口和</a:t>
            </a:r>
            <a:r>
              <a:rPr lang="en-US" altLang="zh-CN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</a:t>
            </a:r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，再报告数字。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吞吐、容量与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goodput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容易混淆</a:t>
            </a:r>
            <a:endParaRPr lang="zh-CN" altLang="en-US" sz="20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token/s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等于可服务用户数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设备利用率高等于体验好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8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完成请求都算有效吞吐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正确区分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容量受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和到达过程限制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高利用率可能伴随长排队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goodput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只计满足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的请求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评价系统时必须同时看</a:t>
            </a:r>
            <a:r>
              <a:rPr lang="en-US" altLang="zh-CN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做了多少</a:t>
            </a:r>
            <a:r>
              <a:rPr lang="en-US" altLang="zh-CN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按时完成多少</a:t>
            </a:r>
            <a:r>
              <a:rPr lang="en-US" altLang="zh-CN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Goodput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的数字例子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秒内完成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个请求，其中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72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个满足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</a:t>
            </a:r>
            <a:endParaRPr lang="en-US" altLang="zh-CN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throughput = 100 / 10 = 10 req/s</a:t>
            </a:r>
            <a:endParaRPr lang="en-US" altLang="en-US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goodput = 72 / 10 = 7.2 req/s</a:t>
            </a:r>
            <a:endParaRPr lang="en-US" altLang="en-US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若优化后完成</a:t>
            </a:r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110 个但仅 60 个满足 SLO：</a:t>
            </a:r>
            <a:endParaRPr lang="zh-CN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throughput = 11 req/s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goodput = 6 req/s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吞吐提高仍可能伴随有效服务能力下降。</a:t>
            </a:r>
            <a:endParaRPr lang="zh-CN" altLang="en-US" sz="17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从指标回溯瓶颈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症状需要映射到具体系统阶段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变差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查排队与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59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591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15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5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变差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干扰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0550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0870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6110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抖动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查抢占与回收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5050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858250" y="2235200"/>
            <a:ext cx="254635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010650" y="2463800"/>
            <a:ext cx="224155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10650" y="2997200"/>
            <a:ext cx="224155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吞吐低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查批次与算子</a:t>
            </a:r>
            <a:endParaRPr lang="zh-CN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先定位路径，再选择优化手段。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课堂练习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" y="10922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课堂练习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lang="en-US" altLang="zh-CN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15–20 </a:t>
            </a:r>
            <a:r>
              <a:rPr lang="zh-CN" altLang="en-US" sz="15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5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2400" y="18034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“32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路在线对话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，写出至少四个必须明确的工作负载参数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28448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22400" y="28448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为聊天服务定义一组包含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TTFT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goodput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3886200"/>
            <a:ext cx="685800" cy="4914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2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2400" y="3886200"/>
            <a:ext cx="95758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画出指标异常到系统模块的排查路径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0400" y="5461000"/>
            <a:ext cx="10414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练习产出：一页工作负载卡片和一张端到端请求图。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7400" y="685800"/>
            <a:ext cx="9652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5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</a:t>
            </a:r>
            <a:endParaRPr lang="en-US" altLang="zh-CN" sz="15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7400" y="1600200"/>
            <a:ext cx="99060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休息</a:t>
            </a:r>
            <a:r>
              <a:rPr lang="en-US" altLang="zh-CN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altLang="en-US" sz="42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altLang="en-US" sz="42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3302000"/>
            <a:ext cx="8890000" cy="42989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下半场：调度、</a:t>
            </a:r>
            <a:r>
              <a:rPr lang="en-US" altLang="zh-CN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2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、执行与证据</a:t>
            </a:r>
            <a:endParaRPr lang="zh-CN" altLang="en-US" sz="2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5257800"/>
            <a:ext cx="914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回来后从</a:t>
            </a:r>
            <a:r>
              <a:rPr lang="en-US" altLang="zh-CN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continuous batching </a:t>
            </a:r>
            <a:r>
              <a:rPr lang="zh-CN" altLang="en-US" sz="15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</a:t>
            </a:r>
            <a:endParaRPr lang="zh-CN" altLang="en-US" sz="15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5943600"/>
            <a:ext cx="914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华中科技大学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张书豪课题组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033000" y="1397000"/>
            <a:ext cx="1333500" cy="1333500"/>
          </a:xfrm>
          <a:prstGeom prst="ellipse">
            <a:avLst/>
          </a:prstGeom>
          <a:noFill/>
          <a:ln w="63500">
            <a:solidFill>
              <a:srgbClr val="28CBD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236200" y="1701800"/>
            <a:ext cx="927100" cy="9531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排队系统的三个量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到达率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λ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：单位时间进入多少请求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服务率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μ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：系统单位时间能处理多少工作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利用率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ρ ≈ λ/μ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：到达负载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服务能力（需统一工作量单位）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当利用率接近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，等待时间通常快速增长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“GPU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很忙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可能意味着效率高，也可能意味着队列已经失控。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队首阻塞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一个长请求可能拖慢后面的短请求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到达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占满本轮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budget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出现尖峰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 </a:t>
            </a:r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恶化</a:t>
            </a:r>
            <a:endParaRPr lang="zh-CN" altLang="en-US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调度策略需要识别工作的大小和紧迫程度。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budget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的一轮推演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假设每轮最多处理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endParaRPr lang="en-US" altLang="zh-CN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47637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两个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Decode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请求：各需要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 token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，共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一个新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Prefill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：输入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30 token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若不分块：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Prefill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无法进入本轮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若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chunk=14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：本轮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2 Decode + 14 Prefill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下一轮继续处理剩余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16 Prefill token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预算是</a:t>
            </a:r>
            <a:r>
              <a:rPr lang="en-US" altLang="zh-CN" sz="17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本轮处理量</a:t>
            </a:r>
            <a:r>
              <a:rPr lang="en-US" altLang="zh-CN" sz="17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，不是请求总长度。</a:t>
            </a:r>
            <a:endParaRPr lang="zh-CN" altLang="en-US" sz="17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Continuous batching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的时间轴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请求可以在迭代边界加入和退出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23114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Prefill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2420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3020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4290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9000" y="2921000"/>
            <a:ext cx="231140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Decode + B Prefill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6740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0452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1722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72200" y="2921000"/>
            <a:ext cx="231140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 Decode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1060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788400" y="2209800"/>
            <a:ext cx="256540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915400" y="2438400"/>
            <a:ext cx="23114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915400" y="2921000"/>
            <a:ext cx="231140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Decode + C Prefill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每轮批次不同，因此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metadata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映射也随之变化。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连续批处理循环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每轮都重新形成有效批次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1995805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1691005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回收完成请求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40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0860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6100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6100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waiting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队列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504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0824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6064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6064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budget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0468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0788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6028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6028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block</a:t>
            </a:r>
            <a:endParaRPr lang="en-US" altLang="zh-CN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0432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40752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5992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6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5992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执行并更新状态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调度循环本身就是运行时的主时钟。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调度约束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最大批次请求数与最大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设备可用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block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chunk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大小与单轮预算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FFAB4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优先级、等待时间和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73723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策略必须明确约束的优先顺序。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FCFS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感知策略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FCFS</a:t>
            </a:r>
            <a:endParaRPr lang="en-US" altLang="en-US" sz="21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容易解释和复现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等待公平性较好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无法区分紧急程度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 </a:t>
            </a:r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根据剩余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slack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保护临近违约请求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需要可靠的代价预测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复杂策略只有在预测与开销可控时才有价值。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AB4A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近期研究：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Chunked Prefill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Sarathi-Serve</a:t>
            </a:r>
            <a:r>
              <a:rPr lang="zh-CN" altLang="en-US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OSDI 2024</a:t>
            </a:r>
            <a:endParaRPr lang="en-US" altLang="zh-CN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问题：长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会造成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停顿并放大尾延迟。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方法：把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分块，与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组成更均匀的批次，并减少流水线气泡。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论文报告：论文在其模型与硬件配置下报告最高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5.6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serving capacity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AB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FFAB4A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FFAB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倍数依赖并行方式和延迟约束，课堂重点是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分块如何改变批次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https://www.usenix.org/conference/osdi24/presentation/agrawal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与模型权重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模型权重对所有请求共享，加载后通常保持不变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属于具体请求，并随序列长度增长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权重决定模型能力，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保存当前上下文的中间结果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请求结束后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应释放，权重仍驻留设备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先区分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共享且固定的权重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每请求变化的状态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MHA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GQA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MQA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MHA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Query head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都有独立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K/V head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GQA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：一组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Query head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共享一组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K/V head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MQA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：所有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Query head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共享同一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K/V head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K/V head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可显著降低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容量和带宽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014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共享越多，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越省，但模型设计和质量由训练阶段决定。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容量的数字例子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层、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heads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head_dim=128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FP16</a:t>
            </a:r>
            <a:endParaRPr lang="en-US" altLang="zh-CN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47637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每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token KV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= 2(K/V)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32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8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128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2 bytes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= 131,072 bytes ≈ 128 KiB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一个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8K-token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请求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≈ 1 GiB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32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个此类请求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≈ 32 GiB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这里只估算</a:t>
            </a:r>
            <a:r>
              <a:rPr lang="en-US" altLang="zh-CN" sz="17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tensor</a:t>
            </a:r>
            <a:r>
              <a:rPr lang="zh-CN" altLang="en-US" sz="17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，不含权重、激活、碎片和运行时缓冲区。</a:t>
            </a:r>
            <a:endParaRPr lang="zh-CN" altLang="en-US" sz="17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39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碎片与分页的具体例子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208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三个请求实际长度分别为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token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 size=4</a:t>
            </a:r>
            <a:endParaRPr lang="en-US" altLang="zh-CN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580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blocks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7556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336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8036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8036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blocks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012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4792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7492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7492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blocks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6468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4248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6948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6948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共分配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 blocks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59240" y="2933700"/>
            <a:ext cx="177800" cy="47561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337040" y="2209800"/>
            <a:ext cx="2016760" cy="19558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464040" y="2438400"/>
            <a:ext cx="176276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4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4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64040" y="2921000"/>
            <a:ext cx="1762760" cy="6140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尾块未用</a:t>
            </a:r>
            <a:r>
              <a:rPr lang="en-US" altLang="zh-CN" sz="17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 token</a:t>
            </a:r>
            <a:endParaRPr lang="en-US" altLang="zh-CN" sz="17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9600" y="4673600"/>
            <a:ext cx="10668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分页消除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大段预留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，但每个请求最后一块仍有内部碎片。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容量估算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016000"/>
            <a:ext cx="10795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忽略额外元数据时的近似表达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1676400"/>
            <a:ext cx="10795000" cy="35306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4400" y="1955800"/>
            <a:ext cx="10185400" cy="16605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bytes_per_token</a:t>
            </a:r>
            <a:endParaRPr lang="en-US" altLang="en-US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= 2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num_layers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num_kv_heads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head_dim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bytes_per_element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total_kv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= bytes_per_token </a:t>
            </a:r>
            <a:r>
              <a:rPr lang="zh-CN" altLang="en-US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×</a:t>
            </a:r>
            <a:r>
              <a:rPr lang="en-US" altLang="zh-CN" sz="1700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active_tokens</a:t>
            </a:r>
            <a:endParaRPr lang="en-US" altLang="zh-CN" sz="1700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54864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GQA/MQA </a:t>
            </a:r>
            <a:r>
              <a:rPr lang="zh-CN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通过减少</a:t>
            </a:r>
            <a:r>
              <a:rPr lang="en-US" altLang="zh-CN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head </a:t>
            </a:r>
            <a:r>
              <a:rPr lang="zh-CN" altLang="en-US" sz="16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数降低状态开销。</a:t>
            </a:r>
            <a:endParaRPr lang="zh-CN" altLang="en-US" sz="16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引用计数与所有权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共享发生时</a:t>
            </a:r>
            <a:endParaRPr lang="zh-CN" altLang="en-US" sz="20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父请求与子请求指向同一物理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block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引用计数从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增加到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8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block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内容必须只读或写时复制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释放发生时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一个请求结束只减少引用计数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计数为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才能回收物理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block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取消、异常与驱逐都要走同一规则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共享错误通常不会立即崩溃，却可能导致静默串扰。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近期研究：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走向分层存储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Mooncake</a:t>
            </a:r>
            <a:r>
              <a:rPr lang="zh-CN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 2025</a:t>
            </a:r>
            <a:r>
              <a:rPr lang="zh-CN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）与</a:t>
            </a:r>
            <a:r>
              <a:rPr lang="en-US" altLang="zh-CN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NEO</a:t>
            </a:r>
            <a:r>
              <a:rPr lang="zh-CN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MLSys 2025</a:t>
            </a:r>
            <a:r>
              <a:rPr lang="zh-CN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问题：长上下文使显存容量成为主要限制。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Mooncake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构建分布式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存储并分离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Prefill/Decode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NEO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将部分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卸载到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论文报告：两项工作都在特定部署和硬件下报告容量或吞吐收益。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存储更大并不自动更快，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PCIe/RDMA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传输和命中率决定收益。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https://www.usenix.org/conference/fast25/presentation/qin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https://proceedings.mlsys.org/paper_files/paper/2025/hash/66a026c0d17040889b50f0dfa650e5e0-Abstract-Conference.html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系统分层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85800" y="13589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400" y="12954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服务层：协议、流式返回、限流和多租户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85800" y="23241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1400" y="22606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引擎层：请求状态、调度、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管理与指标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85800" y="32893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400" y="32258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执行层：模型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runner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、并行通信和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</a:t>
            </a:r>
            <a:endParaRPr lang="en-US" altLang="zh-CN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85800" y="4254500"/>
            <a:ext cx="152400" cy="152400"/>
          </a:xfrm>
          <a:prstGeom prst="ellipse">
            <a:avLst/>
          </a:prstGeom>
          <a:solidFill>
            <a:srgbClr val="28CBD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400" y="4191000"/>
            <a:ext cx="6731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平台层：</a:t>
            </a:r>
            <a:r>
              <a:rPr lang="en-US" altLang="zh-CN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GPU/NPU runtime</a:t>
            </a:r>
            <a:r>
              <a:rPr lang="zh-CN" altLang="en-US" sz="20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、编译器和驱动</a:t>
            </a:r>
            <a:endParaRPr lang="zh-CN" altLang="en-US" sz="20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204200" y="1498600"/>
            <a:ext cx="3175000" cy="35052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59800" y="1854200"/>
            <a:ext cx="2463800" cy="30670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4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本页抓手</a:t>
            </a:r>
            <a:endParaRPr lang="zh-CN" altLang="en-US" sz="14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9800" y="2489200"/>
            <a:ext cx="2463800" cy="106045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分层用于定位职责，不代表实现必须拆成独立进程。</a:t>
            </a:r>
            <a:endParaRPr lang="zh-CN" altLang="en-US" sz="21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控制面与数据面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控制面</a:t>
            </a:r>
            <a:endParaRPr lang="zh-CN" altLang="en-US" sz="21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调度请求与资源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维护状态和元数据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决定何时、在哪里执行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0" y="1168400"/>
            <a:ext cx="5143500" cy="414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1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数据面</a:t>
            </a:r>
            <a:endParaRPr lang="zh-CN" altLang="en-US" sz="21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7600" y="18796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搬运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、权重和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600" y="26670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执行算子与通信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97600" y="3454400"/>
            <a:ext cx="51435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和采样结果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" y="5410200"/>
            <a:ext cx="106426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控制面决定路径，数据面承担主要计算与传输。</a:t>
            </a:r>
            <a:endParaRPr lang="zh-CN" altLang="en-US" sz="16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DP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的直觉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模型切分</a:t>
            </a:r>
            <a:endParaRPr lang="zh-CN" altLang="en-US" sz="20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TP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：一层矩阵分到多卡，需要频繁集合通信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PP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：不同层分到不同卡，请求经过流水线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请求切分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DP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：每组设备有完整模型，不同请求分流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容量扩展更直接，但每个副本需要完整权重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并行方式决定通信位置，也决定调度器能看到哪些资源。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8CBDB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近期研究：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Prefill/Decode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DistServe</a:t>
            </a:r>
            <a:r>
              <a:rPr lang="zh-CN" altLang="en-US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OSDI 2024</a:t>
            </a:r>
            <a:endParaRPr lang="en-US" altLang="zh-CN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偏计算密集，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偏带宽和延迟敏感，混部会互相干扰。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方法：把两个阶段放在不同设备池，并独立配置并行策略和资源。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论文报告：论文在其工作负载和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下报告更高可服务请求数。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28CB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28CBDB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28CBD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必须跨池传输，低负载或传输慢时，分离未必获益。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https://www.usenix.org/conference/osdi24/presentation/zhong-yinmin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875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计算受限与内存受限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计算受限：算术单元忙，增加带宽帮助有限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内存受限：算术单元等待数据，更多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FLOPS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也用不上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的大矩阵乘更容易提高计算利用率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小批次反复读取权重，更容易受内存带宽限制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先判断瓶颈类型，再谈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或硬件优化。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875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算术强度的直觉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算术强度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完成的计算量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从内存搬运的数据量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同一份权重服务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个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token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：复用少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同一份权重服务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32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个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 token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：复用更多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批次扩大通常提高算术强度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但批次过大也会增加排队延迟</a:t>
            </a:r>
            <a:endParaRPr lang="zh-CN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Roofline </a:t>
            </a:r>
            <a:r>
              <a:rPr lang="zh-CN" altLang="en-US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模型帮助解释</a:t>
            </a:r>
            <a:r>
              <a:rPr lang="en-US" altLang="zh-CN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为什么批次能提速</a:t>
            </a:r>
            <a:r>
              <a:rPr lang="en-US" altLang="zh-CN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，不直接给出</a:t>
            </a:r>
            <a:r>
              <a:rPr lang="en-US" altLang="zh-CN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SLO </a:t>
            </a:r>
            <a:r>
              <a:rPr lang="zh-CN" altLang="en-US" sz="17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最优点。</a:t>
            </a:r>
            <a:endParaRPr lang="zh-CN" altLang="en-US" sz="17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49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875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GEMM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GEMV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GEMM</a:t>
            </a:r>
            <a:endParaRPr lang="en-US" altLang="en-US" sz="20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矩阵乘矩阵，计算并行度高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常见于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Prefill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或大批次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8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更容易利用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Tensor Core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GEMV / </a:t>
            </a:r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</a:t>
            </a:r>
            <a:r>
              <a:rPr lang="en-US" altLang="zh-CN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GEMM</a:t>
            </a:r>
            <a:endParaRPr lang="en-US" altLang="zh-CN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矩阵乘向量或很窄的矩阵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常见于小批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800" y="3581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权重读取成本占比高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同一模型在两个阶段可能需要不同</a:t>
            </a:r>
            <a:r>
              <a:rPr lang="en-US" altLang="zh-CN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kernel</a:t>
            </a:r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875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FlashAttention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容易被误解的地方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它通过分块减少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中间结果的显存读写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它保持精确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，不等同于稀疏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</a:t>
            </a:r>
            <a:endParaRPr lang="en-US" altLang="zh-CN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6756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/Prefill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的二维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attention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paged KV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访问不同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端到端收益还受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MLP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、通信和调度时间影响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13220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FlashAttention”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不能单独证明整个服务更快。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51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875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平台适配路线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990600"/>
            <a:ext cx="10795000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6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从可运行到可维护</a:t>
            </a:r>
            <a:endParaRPr lang="zh-CN" altLang="en-US" sz="16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9600" y="2235200"/>
            <a:ext cx="1995805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2000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00" y="2997200"/>
            <a:ext cx="1691005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</a:t>
            </a:r>
            <a:r>
              <a:rPr lang="en-US" altLang="zh-CN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CPU/GPU </a:t>
            </a:r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40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0860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6100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sz="16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6100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枚举不支持路径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504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0824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6064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sz="16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6064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实现最小适配层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0468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20788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6028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sz="16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6028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验证正确性与数值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04325" y="3048000"/>
            <a:ext cx="203200" cy="50673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ctr"/>
            <a:r>
              <a:rPr lang="en-US" altLang="en-US" sz="27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lang="en-US" altLang="en-US" sz="27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407525" y="2235200"/>
            <a:ext cx="1996440" cy="2133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559925" y="2463800"/>
            <a:ext cx="1691005" cy="33718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6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altLang="en-US" sz="16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59925" y="2997200"/>
            <a:ext cx="1691005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测量瓶颈并优化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4927600"/>
            <a:ext cx="106172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每一步都保留可回退的证据。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52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F6875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异构平台适配的验收顺序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结果正确：固定输入下输出或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logits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在允许误差内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路径真实：日志与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profiler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证明运行在目标设备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性能可解释：热点与平台能力对应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FF687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维护可持续：平台分支集中，测试和回退明确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FF68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FF6875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FF68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先证明跑对、跑真，再证明跑快。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近期研究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近期案例：生产级</a:t>
            </a:r>
            <a:r>
              <a:rPr lang="en-US" altLang="zh-CN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NPU Serving</a:t>
            </a:r>
            <a:endParaRPr lang="en-US" altLang="zh-CN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795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DEEPSERVE</a:t>
            </a:r>
            <a:r>
              <a:rPr lang="zh-CN" altLang="en-US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USENIX ATC 2025</a:t>
            </a:r>
            <a:endParaRPr lang="en-US" altLang="zh-CN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000" y="2082800"/>
            <a:ext cx="6731000" cy="64516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问题：大规模平台需要同时处理模型服务、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服务、冷启动和资源调度。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000" y="29464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方法：系统采用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NPU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中心执行、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混合部署调度和预热等机制。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4013200"/>
            <a:ext cx="67310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论文报告：论文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会议页面说明其在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Ascend NPU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集群上运行。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924800" y="2006600"/>
            <a:ext cx="3454400" cy="28956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55000" y="2286000"/>
            <a:ext cx="27940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课堂怎么读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55000" y="2794000"/>
            <a:ext cx="2794000" cy="92202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平台案例要区分公开机制、生产描述和可复现实验范围。</a:t>
            </a:r>
            <a:endParaRPr lang="zh-CN" altLang="en-US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8800" y="5689600"/>
            <a:ext cx="10795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https://www.usenix.org/conference/atc25/presentation/hu-junhao</a:t>
            </a:r>
            <a:endParaRPr lang="en-US" altLang="zh-CN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54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自变量、因变量与控制变量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实验中改变或测量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8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自变量：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 size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、并发或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block size</a:t>
            </a:r>
            <a:endParaRPr lang="en-US" altLang="zh-CN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8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因变量：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TPOT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goodput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、显存占用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46800" y="1473200"/>
            <a:ext cx="51054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为了公平而固定</a:t>
            </a:r>
            <a:endParaRPr lang="zh-CN" altLang="en-US" sz="20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6800" y="2057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模型、精度、硬件、软件版本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46800" y="2819400"/>
            <a:ext cx="5105400" cy="36830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输出长度分布和随机种子</a:t>
            </a:r>
            <a:endParaRPr lang="zh-CN" altLang="en-US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4200" y="54356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控制变量不完整时，结果可能来自另一个变化。</a:t>
            </a:r>
            <a:endParaRPr lang="zh-CN" altLang="en-US" sz="1500" b="1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55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 </a:t>
            </a:r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是要超越或解释的参照实现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它应使用合理版本和公平调优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baseline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可分别代表默认系统、同类方法和上界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r>
              <a:rPr lang="en-US" altLang="zh-CN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baseline </a:t>
            </a:r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的配置与失败情况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默认参数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不一定是公平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baseline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56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尾延迟样本数的陷阱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" y="1346200"/>
            <a:ext cx="10668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个请求时，</a:t>
            </a:r>
            <a:r>
              <a:rPr lang="en-US" altLang="zh-CN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 </a:t>
            </a:r>
            <a:r>
              <a:rPr lang="zh-CN" altLang="en-US" sz="15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几乎由最慢的一个请求决定</a:t>
            </a:r>
            <a:endParaRPr lang="zh-CN" altLang="en-US" sz="15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8800" y="1879600"/>
            <a:ext cx="10795000" cy="2971800"/>
          </a:xfrm>
          <a:prstGeom prst="roundRect">
            <a:avLst/>
          </a:prstGeom>
          <a:solidFill>
            <a:srgbClr val="050C1B"/>
          </a:solidFill>
          <a:ln w="12700">
            <a:solidFill>
              <a:srgbClr val="364B6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2159000"/>
            <a:ext cx="10160000" cy="11988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样本少：</a:t>
            </a:r>
            <a:r>
              <a:rPr lang="en-US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P99 </a:t>
            </a:r>
            <a:r>
              <a:rPr lang="zh-CN" altLang="en-US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估计高度不稳定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请求存在时间相关性：独立同分布假设不成立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预热与故障事件会改变分布</a:t>
            </a:r>
            <a:endParaRPr lang="en-US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zh-CN" altLang="zh-CN">
                <a:solidFill>
                  <a:srgbClr val="F5F8FF"/>
                </a:solidFill>
                <a:latin typeface="Consolas" panose="020B0609020204030204" charset="0"/>
                <a:cs typeface="Consolas" panose="020B0609020204030204" charset="0"/>
              </a:rPr>
              <a:t>置信区间用区间估计表示重复采样的不确定性，并应说明算法、样本数和重复次数</a:t>
            </a:r>
            <a:endParaRPr lang="zh-CN" altLang="zh-CN">
              <a:solidFill>
                <a:srgbClr val="F5F8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00" y="5156200"/>
            <a:ext cx="10668000" cy="35242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置信区间反映估计方法在重复采样中的不确定性，不等于</a:t>
            </a:r>
            <a:r>
              <a:rPr lang="en-US" altLang="zh-CN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真值落在区间内的概率</a:t>
            </a:r>
            <a:r>
              <a:rPr lang="en-US" altLang="zh-CN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7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7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57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9070FF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一张图的审阅清单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坐标轴、单位、对数刻度和归一化对象是否明确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模型、硬件、并发和长度分布是否一致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误差线或重复实验是否支持差异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9070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标题中的结论是否超出图中证据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907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9070FF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907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先读实验条件，再读柱子高低。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58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800" y="279400"/>
            <a:ext cx="2286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初学者补充</a:t>
            </a:r>
            <a:endParaRPr lang="zh-CN" altLang="en-US" sz="12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8800" y="660400"/>
            <a:ext cx="10668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初学者项目的范围控制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" y="6413500"/>
            <a:ext cx="9271000" cy="2298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9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9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400" y="16637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0600" y="16002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只选择一个主要指标和一个主要机制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60400" y="25781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0600" y="25146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先做最小规模稳定复现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0400" y="34925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0600" y="34290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保留失败实验，它们帮助说明边界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60400" y="4406900"/>
            <a:ext cx="139700" cy="139700"/>
          </a:xfrm>
          <a:prstGeom prst="ellipse">
            <a:avLst/>
          </a:prstGeom>
          <a:solidFill>
            <a:srgbClr val="54D39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90600" y="4343400"/>
            <a:ext cx="6604000" cy="38354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900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若没有真实硬件，只报告仿真、回放或设计结果</a:t>
            </a:r>
            <a:endParaRPr lang="zh-CN" altLang="en-US" sz="1900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026400" y="1600200"/>
            <a:ext cx="3352800" cy="3454400"/>
          </a:xfrm>
          <a:prstGeom prst="roundRect">
            <a:avLst/>
          </a:prstGeom>
          <a:solidFill>
            <a:srgbClr val="12213D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31200" y="1905000"/>
            <a:ext cx="2730500" cy="29146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3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先这样理解</a:t>
            </a:r>
            <a:endParaRPr lang="zh-CN" altLang="en-US" sz="13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31200" y="2438400"/>
            <a:ext cx="2730500" cy="70675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可信的小闭环优于无法验证的大系统蓝图。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59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54D397"/>
          </a:solidFill>
          <a:ln w="12700">
            <a:solidFill>
              <a:srgbClr val="54D3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3400" y="304800"/>
            <a:ext cx="10541000" cy="52197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8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</a:rPr>
              <a:t>两小时速览总结</a:t>
            </a:r>
            <a:endParaRPr lang="zh-CN" altLang="en-US" sz="28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100" y="6375400"/>
            <a:ext cx="9652000" cy="24511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推理系统</a:t>
            </a:r>
            <a:r>
              <a:rPr lang="en-US" altLang="zh-CN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2027 · </a:t>
            </a:r>
            <a:r>
              <a:rPr lang="zh-CN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两小时快速介绍</a:t>
            </a:r>
            <a:endParaRPr lang="zh-CN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1117600"/>
            <a:ext cx="10414000" cy="321945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500" b="1">
                <a:solidFill>
                  <a:srgbClr val="54D397"/>
                </a:solidFill>
                <a:latin typeface="微软雅黑" panose="020B0503020204020204" charset="-122"/>
                <a:ea typeface="微软雅黑" panose="020B0503020204020204" charset="-122"/>
              </a:rPr>
              <a:t>带走四句话</a:t>
            </a:r>
            <a:endParaRPr lang="zh-CN" altLang="en-US" sz="1500" b="1">
              <a:solidFill>
                <a:srgbClr val="54D3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400" y="18034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推理服务是一条跨层请求路径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26416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Prefill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Decode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具有不同资源特征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34798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尾延迟和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goodput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更接近用户体验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400" y="4318000"/>
            <a:ext cx="10414000" cy="39878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r>
              <a:rPr lang="en-US" altLang="zh-CN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 b="1">
                <a:solidFill>
                  <a:srgbClr val="F5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可复现实验从完整工作负载定义开始</a:t>
            </a:r>
            <a:endParaRPr lang="zh-CN" altLang="en-US" sz="2000" b="1">
              <a:solidFill>
                <a:srgbClr val="F5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5410200"/>
            <a:ext cx="10414000" cy="275590"/>
          </a:xfrm>
          <a:prstGeom prst="rect">
            <a:avLst/>
          </a:prstGeom>
          <a:noFill/>
        </p:spPr>
        <p:txBody>
          <a:bodyPr wrap="square" lIns="101600" tIns="50800" rIns="101600" bIns="50800" rtlCol="0" anchor="t">
            <a:noAutofit/>
          </a:bodyPr>
          <a:p>
            <a:pPr algn="l"/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完整版：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2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讲课程课件。速览版用于两小时导论或课程预习。</a:t>
            </a:r>
            <a:endParaRPr lang="zh-CN" altLang="en-US" sz="12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074400" y="6299200"/>
            <a:ext cx="635000" cy="330200"/>
          </a:xfrm>
          <a:prstGeom prst="rect">
            <a:avLst/>
          </a:prstGeom>
          <a:solidFill>
            <a:srgbClr val="0A142A"/>
          </a:solidFill>
          <a:ln w="12700">
            <a:solidFill>
              <a:srgbClr val="0A14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125200" y="6337300"/>
            <a:ext cx="482600" cy="2451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en-US" altLang="en-US" sz="1000">
                <a:solidFill>
                  <a:srgbClr val="AEBCD3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endParaRPr lang="en-US" altLang="en-US" sz="1000">
              <a:solidFill>
                <a:srgbClr val="AEBC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10446</Words>
  <Application>WPS 演示</Application>
  <PresentationFormat>宽屏</PresentationFormat>
  <Paragraphs>1459</Paragraphs>
  <Slides>60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7" baseType="lpstr">
      <vt:lpstr>Arial</vt:lpstr>
      <vt:lpstr>宋体</vt:lpstr>
      <vt:lpstr>Wingdings</vt:lpstr>
      <vt:lpstr>Wingdings</vt:lpstr>
      <vt:lpstr>微软雅黑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张书豪</cp:lastModifiedBy>
  <cp:revision>160</cp:revision>
  <dcterms:created xsi:type="dcterms:W3CDTF">2019-06-19T02:08:00Z</dcterms:created>
  <dcterms:modified xsi:type="dcterms:W3CDTF">2026-09-05T02:40:01Z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B1FB34D940F74F479CA3E8CAA1D5D13C_13</vt:lpwstr>
  </property>
</Properties>
</file>