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72" r:id="rId5"/>
    <p:sldId id="273" r:id="rId6"/>
    <p:sldId id="274" r:id="rId7"/>
    <p:sldId id="275" r:id="rId8"/>
    <p:sldId id="258" r:id="rId9"/>
    <p:sldId id="259" r:id="rId10"/>
    <p:sldId id="260" r:id="rId11"/>
    <p:sldId id="261" r:id="rId12"/>
    <p:sldId id="262" r:id="rId13"/>
    <p:sldId id="276" r:id="rId14"/>
    <p:sldId id="263" r:id="rId15"/>
    <p:sldId id="264" r:id="rId16"/>
    <p:sldId id="265" r:id="rId17"/>
    <p:sldId id="277" r:id="rId18"/>
    <p:sldId id="266" r:id="rId19"/>
    <p:sldId id="267" r:id="rId20"/>
    <p:sldId id="268" r:id="rId21"/>
    <p:sldId id="278" r:id="rId22"/>
    <p:sldId id="269" r:id="rId23"/>
    <p:sldId id="279" r:id="rId24"/>
    <p:sldId id="270" r:id="rId25"/>
    <p:sldId id="271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2032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787400" y="685800"/>
            <a:ext cx="9652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5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5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5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15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87400" y="1600200"/>
            <a:ext cx="99060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42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执行优化与异构平台适配</a:t>
            </a:r>
            <a:endParaRPr lang="zh-CN" altLang="en-US" sz="42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12800" y="3302000"/>
            <a:ext cx="8890000" cy="42989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把瓶颈、算子路径与平台约束连接起来</a:t>
            </a:r>
            <a:endParaRPr lang="zh-CN" altLang="en-US" sz="2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12800" y="5257800"/>
            <a:ext cx="914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每讲</a:t>
            </a:r>
            <a:r>
              <a:rPr lang="en-US" altLang="zh-CN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 </a:t>
            </a:r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小时</a:t>
            </a:r>
            <a:r>
              <a:rPr lang="en-US" altLang="zh-CN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理论、代码路径、案例与练习</a:t>
            </a:r>
            <a:endParaRPr lang="zh-CN" altLang="en-US" sz="15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12800" y="5943600"/>
            <a:ext cx="9144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华中科技大学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张书豪课题组</a:t>
            </a:r>
            <a:endParaRPr lang="zh-CN" altLang="en-US" sz="1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10033000" y="1397000"/>
            <a:ext cx="1333500" cy="1333500"/>
          </a:xfrm>
          <a:prstGeom prst="ellipse">
            <a:avLst/>
          </a:prstGeom>
          <a:noFill/>
          <a:ln w="63500">
            <a:solidFill>
              <a:srgbClr val="FF687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236200" y="1701800"/>
            <a:ext cx="927100" cy="9531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两小时课程地图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990600"/>
            <a:ext cx="10795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优化从瓶颈证据开始，以端到端结果结束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6200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6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6200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00–25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执行瓶颈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15595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335915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351155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6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51155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25–55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算子与通信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90550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610870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26110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6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626110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65–95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异构适配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65505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885825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901065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6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901065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95–120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案例设计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60400" y="4927600"/>
            <a:ext cx="106172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课后应能判断优化作用于计算、内存、通信还是控制开销。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计算受限与内存受限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60400" y="1663700"/>
            <a:ext cx="139700" cy="1397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0600" y="16002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计算受限：算术单元忙，增加带宽帮助有限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60400" y="2578100"/>
            <a:ext cx="139700" cy="1397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90600" y="25146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内存受限：算术单元等待数据，更多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FLOPS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也用不上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0400" y="3492500"/>
            <a:ext cx="139700" cy="1397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90600" y="34290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Prefill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的大矩阵乘更容易提高计算利用率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60400" y="4406900"/>
            <a:ext cx="139700" cy="1397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90600" y="43434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小批次反复读取权重，更容易受内存带宽限制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026400" y="1600200"/>
            <a:ext cx="3352800" cy="34544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31200" y="1905000"/>
            <a:ext cx="27305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先这样理解</a:t>
            </a:r>
            <a:endParaRPr lang="zh-CN" altLang="en-US" sz="13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31200" y="2438400"/>
            <a:ext cx="2730500" cy="70675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先判断瓶颈类型，再谈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kernel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或硬件优化。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算术强度的直觉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算术强度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=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完成的计算量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从内存搬运的数据量</a:t>
            </a:r>
            <a:endParaRPr lang="zh-CN" altLang="en-US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558800" y="1879600"/>
            <a:ext cx="10795000" cy="2971800"/>
          </a:xfrm>
          <a:prstGeom prst="roundRect">
            <a:avLst/>
          </a:prstGeom>
          <a:solidFill>
            <a:srgbClr val="050C1B"/>
          </a:solidFill>
          <a:ln w="12700">
            <a:solidFill>
              <a:srgbClr val="364B6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889000" y="2159000"/>
            <a:ext cx="10160000" cy="11988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同一份权重服务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1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个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token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：复用少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同一份权重服务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32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个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token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：复用更多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批次扩大通常提高算术强度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但批次过大也会增加排队延迟</a:t>
            </a:r>
            <a:endParaRPr lang="zh-CN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00" y="5156200"/>
            <a:ext cx="10668000" cy="3524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7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Roofline </a:t>
            </a:r>
            <a:r>
              <a:rPr lang="zh-CN" altLang="en-US" sz="17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模型帮助解释</a:t>
            </a:r>
            <a:r>
              <a:rPr lang="en-US" altLang="zh-CN" sz="17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17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为什么批次能提速</a:t>
            </a:r>
            <a:r>
              <a:rPr lang="en-US" altLang="zh-CN" sz="17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17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，不直接给出</a:t>
            </a:r>
            <a:r>
              <a:rPr lang="en-US" altLang="zh-CN" sz="17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 </a:t>
            </a:r>
            <a:r>
              <a:rPr lang="zh-CN" altLang="en-US" sz="17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最优点。</a:t>
            </a:r>
            <a:endParaRPr lang="zh-CN" altLang="en-US" sz="17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GEMM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GEMV</a:t>
            </a:r>
            <a:endParaRPr lang="en-US" altLang="zh-CN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473200"/>
            <a:ext cx="51054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GEMM</a:t>
            </a:r>
            <a:endParaRPr lang="en-US" altLang="en-US" sz="20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58800" y="2057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矩阵乘矩阵，计算并行度高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58800" y="2819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常见于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或大批次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58800" y="3581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更容易利用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Tensor Core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46800" y="1473200"/>
            <a:ext cx="51054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GEMV / </a:t>
            </a:r>
            <a:r>
              <a:rPr lang="zh-CN" altLang="en-US" sz="20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</a:t>
            </a:r>
            <a:r>
              <a:rPr lang="en-US" altLang="zh-CN" sz="20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GEMM</a:t>
            </a:r>
            <a:endParaRPr lang="en-US" altLang="zh-CN" sz="20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46800" y="2057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矩阵乘向量或很窄的矩阵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46800" y="2819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常见于小批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800" y="3581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权重读取成本占比高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84200" y="54356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同一模型在两个阶段可能需要不同</a:t>
            </a:r>
            <a:r>
              <a:rPr lang="en-US" altLang="zh-CN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kernel</a:t>
            </a:r>
            <a:r>
              <a:rPr lang="zh-CN" altLang="en-US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1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FlashAttention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容易被误解的地方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60400" y="1663700"/>
            <a:ext cx="139700" cy="1397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0600" y="16002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它通过分块减少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attention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中间结果的显存读写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60400" y="2578100"/>
            <a:ext cx="139700" cy="1397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90600" y="25146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它保持精确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attention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，不等同于稀疏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attention</a:t>
            </a:r>
            <a:endParaRPr lang="en-US" altLang="zh-CN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0400" y="3492500"/>
            <a:ext cx="139700" cy="1397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90600" y="3429000"/>
            <a:ext cx="6604000" cy="6756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/Prefill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的二维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attention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paged KV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访问不同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60400" y="4406900"/>
            <a:ext cx="139700" cy="1397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90600" y="43434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端到端收益还受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MLP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、通信和调度时间影响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026400" y="1600200"/>
            <a:ext cx="3352800" cy="34544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31200" y="1905000"/>
            <a:ext cx="27305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先这样理解</a:t>
            </a:r>
            <a:endParaRPr lang="zh-CN" altLang="en-US" sz="13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31200" y="2438400"/>
            <a:ext cx="2730500" cy="13220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FlashAttention”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不能单独证明整个服务更快。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执行时间的组成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模型算子计算时间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权重与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的内存访问时间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设备间通信与同步时间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调度、准备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metadata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kernel launch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开销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总延迟由关键路径决定，不能把所有时间简单相加。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Prefill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的优化方向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1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Prefill</a:t>
            </a:r>
            <a:endParaRPr lang="en-US" altLang="en-US" sz="21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提高大矩阵乘效率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FlashAttention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降低中间访存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分块处理控制单轮占用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Decode</a:t>
            </a:r>
            <a:endParaRPr lang="en-US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优化小批次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GEMM/GEMV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减少权重与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重复读取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降低逐步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launch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与同步开销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阶段特征不同，最优</a:t>
            </a:r>
            <a:r>
              <a:rPr lang="en-US" altLang="zh-CN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kernel </a:t>
            </a:r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与并行策略也可能不同。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算子融合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减少中间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tensor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写回显存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降低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kernel launch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数量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融合边界受数值稳定与复用限制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端到端收益取决于算子在关键路径中的占比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微基准加速不能直接等同于服务加速。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9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FlashAttention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的系统意义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tiling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减少高带宽内存读写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保持精确注意力语义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Prefill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收益通常更直接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Paged KV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需要专门的数据布局和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kernel</a:t>
            </a:r>
            <a:endParaRPr lang="en-US" altLang="zh-CN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算法</a:t>
            </a:r>
            <a:r>
              <a:rPr lang="en-US" altLang="zh-CN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I/O </a:t>
            </a:r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复杂度改变了系统可达到的工作点。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量化与推测解码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量化</a:t>
            </a:r>
            <a:endParaRPr lang="zh-CN" altLang="en-US" sz="21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减少权重和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占用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改变算子支持与数值误差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收益受硬件低精度能力影响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推测解码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用小模型提出候选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大模型批量验证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接受率决定额外计算是否值得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两类优化都需要同时报告质量与性能。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近期研究</a:t>
            </a:r>
            <a:endParaRPr lang="zh-CN" altLang="en-US" sz="12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近期研究：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FlashInfer</a:t>
            </a:r>
            <a:endParaRPr lang="en-US" altLang="zh-CN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795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FlashInfer</a:t>
            </a:r>
            <a:r>
              <a:rPr lang="zh-CN" altLang="en-US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MLSys 2025</a:t>
            </a:r>
            <a:endParaRPr lang="en-US" altLang="zh-CN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5000" y="20828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问题：服务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workload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包含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paged KV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ragged batch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prefix reuse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和推测解码等多种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attention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形态。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35000" y="29464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方法：提供可组合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格式、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JIT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模板和负载均衡调度，并接入多个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serving framework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40132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论文报告：论文报告多类场景的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kernel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与端到端延迟改进。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7924800" y="2006600"/>
            <a:ext cx="3454400" cy="2895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255000" y="2286000"/>
            <a:ext cx="27940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课堂怎么读</a:t>
            </a:r>
            <a:endParaRPr lang="zh-CN" altLang="en-US" sz="13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255000" y="2794000"/>
            <a:ext cx="2794000" cy="922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课堂要区分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kernel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指标、组件指标和服务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，避免跨层外推。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58800" y="5689600"/>
            <a:ext cx="10795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https://proceedings.mlsys.org/paper_files/paper/2025/hash/dbf02b21d77409a2db30e56866a8ab3a-Abstract-Conference.html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并行通信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Tensor Parallel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常受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All-Reduce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影响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Pipeline Parallel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需要控制阶段气泡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专家并行引入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All-to-All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与负载不均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通信优化需结合拓扑和消息大小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并行规模增加后，通信可能从隐藏成本变成主瓶颈。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异构路径的三层差异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算子层：支持集合、布局和精度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运行时层：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stream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event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graph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与内存接口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系统层：设备发现、并行通信和监控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工具链：编译、调试、性能分析与发布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适配不是替换设备名称，而是对齐完整执行契约。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平台适配路线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990600"/>
            <a:ext cx="10795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从可运行到可维护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2235200"/>
            <a:ext cx="1995805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62000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6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62000" y="2997200"/>
            <a:ext cx="1691005" cy="922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建立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CPU/GPU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基线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60540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280860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96100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6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96100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枚举不支持路径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80504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500824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16064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6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16064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实现最小适配层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00468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720788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736028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6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36028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验证正确性与数值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20432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圆角矩形 22"/>
          <p:cNvSpPr/>
          <p:nvPr/>
        </p:nvSpPr>
        <p:spPr>
          <a:xfrm>
            <a:off x="940752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55992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en-US" altLang="en-US" sz="16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955992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测量瓶颈并优化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60400" y="4927600"/>
            <a:ext cx="106172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每一步都保留可回退的证据。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15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近期研究</a:t>
            </a:r>
            <a:endParaRPr lang="zh-CN" altLang="en-US" sz="12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近期研究：量化与长上下文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795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QServe </a:t>
            </a:r>
            <a:r>
              <a:rPr lang="zh-CN" altLang="en-US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LServe</a:t>
            </a:r>
            <a:r>
              <a:rPr lang="zh-CN" altLang="en-US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MLSys 2025</a:t>
            </a:r>
            <a:endParaRPr lang="en-US" altLang="zh-CN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5000" y="20828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问题：云端大批服务和长上下文同时受到权重、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attention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成本限制。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35000" y="29464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方法：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QServe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采用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W4A8KV4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系统协同，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LServe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结合长序列稀疏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attention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40132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论文报告：论文分别报告其目标场景中的吞吐或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Prefill/Decode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加速。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7924800" y="2006600"/>
            <a:ext cx="3454400" cy="2895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255000" y="2286000"/>
            <a:ext cx="27940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课堂怎么读</a:t>
            </a:r>
            <a:endParaRPr lang="zh-CN" altLang="en-US" sz="13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255000" y="2794000"/>
            <a:ext cx="2794000" cy="922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必须同时核对模型质量、上下文长度、硬件和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baseline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58800" y="5689600"/>
            <a:ext cx="10795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https://proceedings.mlsys.org/paper_files/paper/2025/hash/fbe2b2f74a2ece8070d8fb073717bda6-Abstract-Conference.html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https://proceedings.mlsys.org/paper_files/paper/2025/hash/cc8c6b9d89f7a898a29f58869b238e46-Abstract-Conference.html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16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公共逻辑与平台逻辑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公共路径</a:t>
            </a:r>
            <a:endParaRPr lang="zh-CN" altLang="en-US" sz="21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调度、请求状态与算法语义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平台无关测试覆盖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尽量减少条件分支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适配层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设备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API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kernel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和通信实现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明确能力探测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独立记录环境与限制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清晰边界降低上游同步和长期维护成本。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17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环境可信度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记录硬件型号、驱动、固件和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runtime</a:t>
            </a:r>
            <a:endParaRPr lang="en-US" altLang="zh-CN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保存编译参数、容器与依赖锁定文件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确认测试确实运行在目标设备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区分真实硬件、仿真、回放和推算结果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平台结论必须与真实执行证据对应。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18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自适应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Backend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案例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根据批次形态选择不同执行后端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选择开销必须低于预期收益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需要稳定的特征与回退路径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评测要覆盖负载变化，不只测单一最优点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自适应策略的价值来自跨工作点稳定获益。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19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量化格式的四个位置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473200"/>
            <a:ext cx="51054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模型计算</a:t>
            </a:r>
            <a:endParaRPr lang="zh-CN" altLang="en-US" sz="20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58800" y="2057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权重量化减少模型存储和读取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58800" y="2819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激活量化影响矩阵乘接口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58800" y="3581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累加精度影响数值稳定性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46800" y="1473200"/>
            <a:ext cx="51054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运行时状态</a:t>
            </a:r>
            <a:endParaRPr lang="zh-CN" altLang="en-US" sz="20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46800" y="2057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量化减少容量和带宽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46800" y="2819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反量化增加执行开销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800" y="3581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采样输出用于检查端到端质量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84200" y="54356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W4A8KV4 </a:t>
            </a:r>
            <a:r>
              <a:rPr lang="zh-CN" altLang="en-US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中的每个数字对应不同数据对象。</a:t>
            </a:r>
            <a:endParaRPr lang="zh-CN" altLang="en-US" sz="1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20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性能证据链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Profiler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定位时间与带宽热点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微基准验证单个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kernel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或通信原语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组件实验验证数据路径变化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端到端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workload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验证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和成本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证据从局部到整体逐层闭合。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6875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异构平台适配的验收顺序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60400" y="1663700"/>
            <a:ext cx="139700" cy="1397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0600" y="16002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结果正确：固定输入下输出或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logits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在允许误差内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60400" y="2578100"/>
            <a:ext cx="139700" cy="1397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90600" y="25146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路径真实：日志与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profiler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证明运行在目标设备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0400" y="3492500"/>
            <a:ext cx="139700" cy="1397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90600" y="34290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性能可解释：热点与平台能力对应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60400" y="4406900"/>
            <a:ext cx="139700" cy="139700"/>
          </a:xfrm>
          <a:prstGeom prst="ellipse">
            <a:avLst/>
          </a:prstGeom>
          <a:solidFill>
            <a:srgbClr val="FF687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90600" y="43434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维护可持续：平台分支集中，测试和回退明确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026400" y="1600200"/>
            <a:ext cx="3352800" cy="34544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FF68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31200" y="1905000"/>
            <a:ext cx="27305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FF6875"/>
                </a:solidFill>
                <a:latin typeface="微软雅黑" panose="020B0503020204020204" charset="-122"/>
                <a:ea typeface="微软雅黑" panose="020B0503020204020204" charset="-122"/>
              </a:rPr>
              <a:t>先这样理解</a:t>
            </a:r>
            <a:endParaRPr lang="zh-CN" altLang="en-US" sz="1300" b="1">
              <a:solidFill>
                <a:srgbClr val="FF68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31200" y="2438400"/>
            <a:ext cx="2730500" cy="70675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先证明跑对、跑真，再证明跑快。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课堂练习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35000" y="1092200"/>
            <a:ext cx="1041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课堂练习</a:t>
            </a:r>
            <a:r>
              <a:rPr lang="en-US" altLang="zh-CN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</a:t>
            </a:r>
            <a:r>
              <a:rPr lang="en-US" altLang="zh-CN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15–20 </a:t>
            </a:r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zh-CN" altLang="en-US" sz="15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60400" y="18034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422400" y="18034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给定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小批次低利用率现象，列出计算、内存、通信和控制四类假设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60400" y="28448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422400" y="28448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为目标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NPU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制定从可运行到端到端验证的五步计划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38862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422400" y="38862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设计一个能区分真实硬件与推算结果的证据表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60400" y="5461000"/>
            <a:ext cx="10414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练习产出：瓶颈树、适配路线和一张证据矩阵。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本讲总结与延伸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6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60400" y="1117600"/>
            <a:ext cx="1041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带走四句话</a:t>
            </a:r>
            <a:endParaRPr lang="zh-CN" altLang="en-US" sz="15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60400" y="18034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执行优化必须对应可测量的关键路径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60400" y="26416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Prefill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Decode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需要不同的优化视角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60400" y="34798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异构适配覆盖算子、运行时、系统和工具链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60400" y="43180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端到端结论需要真实环境和分层证据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5410200"/>
            <a:ext cx="10414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来源：个人主页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2026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讲义第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08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讲及案例补充。</a:t>
            </a:r>
            <a:endParaRPr lang="zh-CN" altLang="en-US" sz="1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3967</Words>
  <Application>WPS 演示</Application>
  <PresentationFormat>宽屏</PresentationFormat>
  <Paragraphs>518</Paragraphs>
  <Slides>24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1" baseType="lpstr">
      <vt:lpstr>Arial</vt:lpstr>
      <vt:lpstr>宋体</vt:lpstr>
      <vt:lpstr>Wingdings</vt:lpstr>
      <vt:lpstr>Wingdings</vt:lpstr>
      <vt:lpstr>微软雅黑</vt:lpstr>
      <vt:lpstr>Consolas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Administrator</dc:creator>
  <cp:lastModifiedBy>张书豪</cp:lastModifiedBy>
  <cp:revision>159</cp:revision>
  <dcterms:created xsi:type="dcterms:W3CDTF">2019-06-19T02:08:00Z</dcterms:created>
  <dcterms:modified xsi:type="dcterms:W3CDTF">2026-09-05T02:08:45Z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EEC9AFFEBF93447A922C9DACA6D02D0B_11</vt:lpwstr>
  </property>
</Properties>
</file>