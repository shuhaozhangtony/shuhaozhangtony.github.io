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48a4763d1248e7" /><Relationship Type="http://schemas.openxmlformats.org/officeDocument/2006/relationships/extended-properties" Target="/docProps/app.xml" Id="Rf8c935dcadca4622" /><Relationship Type="http://schemas.openxmlformats.org/officeDocument/2006/relationships/officeDocument" Target="/ppt/presentation.xml" Id="R3b8c1749b0a045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7975bfe80b4290"/>
  </p:sldMasterIdLst>
  <p:notesMasterIdLst>
    <p:notesMasterId xmlns:r="http://schemas.openxmlformats.org/officeDocument/2006/relationships" r:id="Rad56848278424474"/>
  </p:notesMasterIdLst>
  <p:sldIdLst>
    <p:sldId xmlns:r="http://schemas.openxmlformats.org/officeDocument/2006/relationships" id="256" r:id="R20d6f42f68f14f91"/>
    <p:sldId xmlns:r="http://schemas.openxmlformats.org/officeDocument/2006/relationships" id="257" r:id="Rb9ec2711a76540a3"/>
    <p:sldId xmlns:r="http://schemas.openxmlformats.org/officeDocument/2006/relationships" id="258" r:id="R57c99941c0bb44f8"/>
    <p:sldId xmlns:r="http://schemas.openxmlformats.org/officeDocument/2006/relationships" id="259" r:id="R5edc1553196f40dd"/>
    <p:sldId xmlns:r="http://schemas.openxmlformats.org/officeDocument/2006/relationships" id="260" r:id="Rdaa3aca05cfc4217"/>
    <p:sldId xmlns:r="http://schemas.openxmlformats.org/officeDocument/2006/relationships" id="261" r:id="Rcd1c85d3c1ea4454"/>
    <p:sldId xmlns:r="http://schemas.openxmlformats.org/officeDocument/2006/relationships" id="262" r:id="R124123d7bf50487e"/>
    <p:sldId xmlns:r="http://schemas.openxmlformats.org/officeDocument/2006/relationships" id="263" r:id="R3585f381a9024f68"/>
    <p:sldId xmlns:r="http://schemas.openxmlformats.org/officeDocument/2006/relationships" id="264" r:id="Rb5a79a9b0a6247cb"/>
    <p:sldId xmlns:r="http://schemas.openxmlformats.org/officeDocument/2006/relationships" id="265" r:id="R4bb40be6738645c2"/>
    <p:sldId xmlns:r="http://schemas.openxmlformats.org/officeDocument/2006/relationships" id="266" r:id="Re5da1007feb84198"/>
    <p:sldId xmlns:r="http://schemas.openxmlformats.org/officeDocument/2006/relationships" id="267" r:id="Rc651c832ed034dd5"/>
    <p:sldId xmlns:r="http://schemas.openxmlformats.org/officeDocument/2006/relationships" id="268" r:id="Rfccfc4a9a9bf424a"/>
    <p:sldId xmlns:r="http://schemas.openxmlformats.org/officeDocument/2006/relationships" id="269" r:id="R019ee39acf424671"/>
    <p:sldId xmlns:r="http://schemas.openxmlformats.org/officeDocument/2006/relationships" id="270" r:id="Rb13cea7d5b86498b"/>
    <p:sldId xmlns:r="http://schemas.openxmlformats.org/officeDocument/2006/relationships" id="271" r:id="R41da4d4825b7400a"/>
    <p:sldId xmlns:r="http://schemas.openxmlformats.org/officeDocument/2006/relationships" id="272" r:id="Rdbbb71bc3fad43f7"/>
    <p:sldId xmlns:r="http://schemas.openxmlformats.org/officeDocument/2006/relationships" id="273" r:id="Rc00e7b65dec247b7"/>
    <p:sldId xmlns:r="http://schemas.openxmlformats.org/officeDocument/2006/relationships" id="274" r:id="R2bcb389506624d90"/>
    <p:sldId xmlns:r="http://schemas.openxmlformats.org/officeDocument/2006/relationships" id="275" r:id="R8876d1fba8704e4b"/>
    <p:sldId xmlns:r="http://schemas.openxmlformats.org/officeDocument/2006/relationships" id="276" r:id="Rafcd8f7ab1f84f0b"/>
    <p:sldId xmlns:r="http://schemas.openxmlformats.org/officeDocument/2006/relationships" id="277" r:id="R789b51ca234242e0"/>
    <p:sldId xmlns:r="http://schemas.openxmlformats.org/officeDocument/2006/relationships" id="278" r:id="R77eb99287fc445ba"/>
    <p:sldId xmlns:r="http://schemas.openxmlformats.org/officeDocument/2006/relationships" id="279" r:id="Rf7e212192b094ef8"/>
    <p:sldId xmlns:r="http://schemas.openxmlformats.org/officeDocument/2006/relationships" id="280" r:id="R6bfbba8ed7b94046"/>
    <p:sldId xmlns:r="http://schemas.openxmlformats.org/officeDocument/2006/relationships" id="281" r:id="Rf7521d8ef4884052"/>
    <p:sldId xmlns:r="http://schemas.openxmlformats.org/officeDocument/2006/relationships" id="282" r:id="R1cad8cbd8fa74741"/>
    <p:sldId xmlns:r="http://schemas.openxmlformats.org/officeDocument/2006/relationships" id="283" r:id="Rcfc1ee138b264429"/>
    <p:sldId xmlns:r="http://schemas.openxmlformats.org/officeDocument/2006/relationships" id="284" r:id="Rcc43a3abcfab423c"/>
    <p:sldId xmlns:r="http://schemas.openxmlformats.org/officeDocument/2006/relationships" id="285" r:id="R44b518f6941b442c"/>
    <p:sldId xmlns:r="http://schemas.openxmlformats.org/officeDocument/2006/relationships" id="286" r:id="Rcacbccfc3ed04b1b"/>
    <p:sldId xmlns:r="http://schemas.openxmlformats.org/officeDocument/2006/relationships" id="287" r:id="R3bccdb91a13e4b31"/>
    <p:sldId xmlns:r="http://schemas.openxmlformats.org/officeDocument/2006/relationships" id="288" r:id="R278a0521dda3428a"/>
    <p:sldId xmlns:r="http://schemas.openxmlformats.org/officeDocument/2006/relationships" id="289" r:id="R26ea0b67e7bd4ebf"/>
    <p:sldId xmlns:r="http://schemas.openxmlformats.org/officeDocument/2006/relationships" id="290" r:id="R92bbeae59f4f4b81"/>
    <p:sldId xmlns:r="http://schemas.openxmlformats.org/officeDocument/2006/relationships" id="291" r:id="Rbe60d5333f1d4e01"/>
    <p:sldId xmlns:r="http://schemas.openxmlformats.org/officeDocument/2006/relationships" id="292" r:id="Rc297874292954bbe"/>
    <p:sldId xmlns:r="http://schemas.openxmlformats.org/officeDocument/2006/relationships" id="293" r:id="R5068dcf2517042f7"/>
    <p:sldId xmlns:r="http://schemas.openxmlformats.org/officeDocument/2006/relationships" id="294" r:id="R6e7b6b2bba054062"/>
    <p:sldId xmlns:r="http://schemas.openxmlformats.org/officeDocument/2006/relationships" id="295" r:id="R5d810b79017d4eb7"/>
    <p:sldId xmlns:r="http://schemas.openxmlformats.org/officeDocument/2006/relationships" id="296" r:id="R63ff28dd5b774ddf"/>
    <p:sldId xmlns:r="http://schemas.openxmlformats.org/officeDocument/2006/relationships" id="297" r:id="R335cc58a267f456a"/>
    <p:sldId xmlns:r="http://schemas.openxmlformats.org/officeDocument/2006/relationships" id="298" r:id="Rb179cacb936449b8"/>
    <p:sldId xmlns:r="http://schemas.openxmlformats.org/officeDocument/2006/relationships" id="299" r:id="Rc40a57ee2a6a4a64"/>
    <p:sldId xmlns:r="http://schemas.openxmlformats.org/officeDocument/2006/relationships" id="300" r:id="R66b00efe4ac24293"/>
    <p:sldId xmlns:r="http://schemas.openxmlformats.org/officeDocument/2006/relationships" id="301" r:id="R87b2ba1e72484cfd"/>
    <p:sldId xmlns:r="http://schemas.openxmlformats.org/officeDocument/2006/relationships" id="302" r:id="Rc2d17df2a0d444c6"/>
    <p:sldId xmlns:r="http://schemas.openxmlformats.org/officeDocument/2006/relationships" id="303" r:id="R0b4958ec87924c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67c764d7a448ef" /><Relationship Type="http://schemas.openxmlformats.org/officeDocument/2006/relationships/slideMaster" Target="/ppt/slideMasters/slideMaster1.xml" Id="Rbe7975bfe80b4290" /><Relationship Type="http://schemas.openxmlformats.org/officeDocument/2006/relationships/notesMaster" Target="/ppt/notesMasters/notesMaster1.xml" Id="Rad56848278424474" /><Relationship Type="http://schemas.openxmlformats.org/officeDocument/2006/relationships/presProps" Target="/ppt/presProps.xml" Id="R9427313e1c214c99" /><Relationship Type="http://schemas.openxmlformats.org/officeDocument/2006/relationships/viewProps" Target="/ppt/viewProps.xml" Id="R0d80948f933f48f2" /><Relationship Type="http://schemas.openxmlformats.org/officeDocument/2006/relationships/tableStyles" Target="/ppt/tableStyles.xml" Id="R24b833beea3c46f7" /><Relationship Type="http://schemas.openxmlformats.org/officeDocument/2006/relationships/slide" Target="/ppt/slides/slide1.xml" Id="R20d6f42f68f14f91" /><Relationship Type="http://schemas.openxmlformats.org/officeDocument/2006/relationships/slide" Target="/ppt/slides/slide2.xml" Id="Rb9ec2711a76540a3" /><Relationship Type="http://schemas.openxmlformats.org/officeDocument/2006/relationships/slide" Target="/ppt/slides/slide3.xml" Id="R57c99941c0bb44f8" /><Relationship Type="http://schemas.openxmlformats.org/officeDocument/2006/relationships/slide" Target="/ppt/slides/slide4.xml" Id="R5edc1553196f40dd" /><Relationship Type="http://schemas.openxmlformats.org/officeDocument/2006/relationships/slide" Target="/ppt/slides/slide5.xml" Id="Rdaa3aca05cfc4217" /><Relationship Type="http://schemas.openxmlformats.org/officeDocument/2006/relationships/slide" Target="/ppt/slides/slide6.xml" Id="Rcd1c85d3c1ea4454" /><Relationship Type="http://schemas.openxmlformats.org/officeDocument/2006/relationships/slide" Target="/ppt/slides/slide7.xml" Id="R124123d7bf50487e" /><Relationship Type="http://schemas.openxmlformats.org/officeDocument/2006/relationships/slide" Target="/ppt/slides/slide8.xml" Id="R3585f381a9024f68" /><Relationship Type="http://schemas.openxmlformats.org/officeDocument/2006/relationships/slide" Target="/ppt/slides/slide9.xml" Id="Rb5a79a9b0a6247cb" /><Relationship Type="http://schemas.openxmlformats.org/officeDocument/2006/relationships/slide" Target="/ppt/slides/slide10.xml" Id="R4bb40be6738645c2" /><Relationship Type="http://schemas.openxmlformats.org/officeDocument/2006/relationships/slide" Target="/ppt/slides/slide11.xml" Id="Re5da1007feb84198" /><Relationship Type="http://schemas.openxmlformats.org/officeDocument/2006/relationships/slide" Target="/ppt/slides/slide12.xml" Id="Rc651c832ed034dd5" /><Relationship Type="http://schemas.openxmlformats.org/officeDocument/2006/relationships/slide" Target="/ppt/slides/slide13.xml" Id="Rfccfc4a9a9bf424a" /><Relationship Type="http://schemas.openxmlformats.org/officeDocument/2006/relationships/slide" Target="/ppt/slides/slide14.xml" Id="R019ee39acf424671" /><Relationship Type="http://schemas.openxmlformats.org/officeDocument/2006/relationships/slide" Target="/ppt/slides/slide15.xml" Id="Rb13cea7d5b86498b" /><Relationship Type="http://schemas.openxmlformats.org/officeDocument/2006/relationships/slide" Target="/ppt/slides/slide16.xml" Id="R41da4d4825b7400a" /><Relationship Type="http://schemas.openxmlformats.org/officeDocument/2006/relationships/slide" Target="/ppt/slides/slide17.xml" Id="Rdbbb71bc3fad43f7" /><Relationship Type="http://schemas.openxmlformats.org/officeDocument/2006/relationships/slide" Target="/ppt/slides/slide18.xml" Id="Rc00e7b65dec247b7" /><Relationship Type="http://schemas.openxmlformats.org/officeDocument/2006/relationships/slide" Target="/ppt/slides/slide19.xml" Id="R2bcb389506624d90" /><Relationship Type="http://schemas.openxmlformats.org/officeDocument/2006/relationships/slide" Target="/ppt/slides/slide20.xml" Id="R8876d1fba8704e4b" /><Relationship Type="http://schemas.openxmlformats.org/officeDocument/2006/relationships/slide" Target="/ppt/slides/slide21.xml" Id="Rafcd8f7ab1f84f0b" /><Relationship Type="http://schemas.openxmlformats.org/officeDocument/2006/relationships/slide" Target="/ppt/slides/slide22.xml" Id="R789b51ca234242e0" /><Relationship Type="http://schemas.openxmlformats.org/officeDocument/2006/relationships/slide" Target="/ppt/slides/slide23.xml" Id="R77eb99287fc445ba" /><Relationship Type="http://schemas.openxmlformats.org/officeDocument/2006/relationships/slide" Target="/ppt/slides/slide24.xml" Id="Rf7e212192b094ef8" /><Relationship Type="http://schemas.openxmlformats.org/officeDocument/2006/relationships/slide" Target="/ppt/slides/slide25.xml" Id="R6bfbba8ed7b94046" /><Relationship Type="http://schemas.openxmlformats.org/officeDocument/2006/relationships/slide" Target="/ppt/slides/slide26.xml" Id="Rf7521d8ef4884052" /><Relationship Type="http://schemas.openxmlformats.org/officeDocument/2006/relationships/slide" Target="/ppt/slides/slide27.xml" Id="R1cad8cbd8fa74741" /><Relationship Type="http://schemas.openxmlformats.org/officeDocument/2006/relationships/slide" Target="/ppt/slides/slide28.xml" Id="Rcfc1ee138b264429" /><Relationship Type="http://schemas.openxmlformats.org/officeDocument/2006/relationships/slide" Target="/ppt/slides/slide29.xml" Id="Rcc43a3abcfab423c" /><Relationship Type="http://schemas.openxmlformats.org/officeDocument/2006/relationships/slide" Target="/ppt/slides/slide30.xml" Id="R44b518f6941b442c" /><Relationship Type="http://schemas.openxmlformats.org/officeDocument/2006/relationships/slide" Target="/ppt/slides/slide31.xml" Id="Rcacbccfc3ed04b1b" /><Relationship Type="http://schemas.openxmlformats.org/officeDocument/2006/relationships/slide" Target="/ppt/slides/slide32.xml" Id="R3bccdb91a13e4b31" /><Relationship Type="http://schemas.openxmlformats.org/officeDocument/2006/relationships/slide" Target="/ppt/slides/slide33.xml" Id="R278a0521dda3428a" /><Relationship Type="http://schemas.openxmlformats.org/officeDocument/2006/relationships/slide" Target="/ppt/slides/slide34.xml" Id="R26ea0b67e7bd4ebf" /><Relationship Type="http://schemas.openxmlformats.org/officeDocument/2006/relationships/slide" Target="/ppt/slides/slide35.xml" Id="R92bbeae59f4f4b81" /><Relationship Type="http://schemas.openxmlformats.org/officeDocument/2006/relationships/slide" Target="/ppt/slides/slide36.xml" Id="Rbe60d5333f1d4e01" /><Relationship Type="http://schemas.openxmlformats.org/officeDocument/2006/relationships/slide" Target="/ppt/slides/slide37.xml" Id="Rc297874292954bbe" /><Relationship Type="http://schemas.openxmlformats.org/officeDocument/2006/relationships/slide" Target="/ppt/slides/slide38.xml" Id="R5068dcf2517042f7" /><Relationship Type="http://schemas.openxmlformats.org/officeDocument/2006/relationships/slide" Target="/ppt/slides/slide39.xml" Id="R6e7b6b2bba054062" /><Relationship Type="http://schemas.openxmlformats.org/officeDocument/2006/relationships/slide" Target="/ppt/slides/slide40.xml" Id="R5d810b79017d4eb7" /><Relationship Type="http://schemas.openxmlformats.org/officeDocument/2006/relationships/slide" Target="/ppt/slides/slide41.xml" Id="R63ff28dd5b774ddf" /><Relationship Type="http://schemas.openxmlformats.org/officeDocument/2006/relationships/slide" Target="/ppt/slides/slide42.xml" Id="R335cc58a267f456a" /><Relationship Type="http://schemas.openxmlformats.org/officeDocument/2006/relationships/slide" Target="/ppt/slides/slide43.xml" Id="Rb179cacb936449b8" /><Relationship Type="http://schemas.openxmlformats.org/officeDocument/2006/relationships/slide" Target="/ppt/slides/slide44.xml" Id="Rc40a57ee2a6a4a64" /><Relationship Type="http://schemas.openxmlformats.org/officeDocument/2006/relationships/slide" Target="/ppt/slides/slide45.xml" Id="R66b00efe4ac24293" /><Relationship Type="http://schemas.openxmlformats.org/officeDocument/2006/relationships/slide" Target="/ppt/slides/slide46.xml" Id="R87b2ba1e72484cfd" /><Relationship Type="http://schemas.openxmlformats.org/officeDocument/2006/relationships/slide" Target="/ppt/slides/slide47.xml" Id="Rc2d17df2a0d444c6" /><Relationship Type="http://schemas.openxmlformats.org/officeDocument/2006/relationships/slide" Target="/ppt/slides/slide48.xml" Id="R0b4958ec87924c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ece004f4354c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2287bffc654847" /><Relationship Type="http://schemas.openxmlformats.org/officeDocument/2006/relationships/notesMaster" Target="/ppt/notesMasters/notesMaster1.xml" Id="R322beb73d5d147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3eaf60a65147a2" /><Relationship Type="http://schemas.openxmlformats.org/officeDocument/2006/relationships/notesMaster" Target="/ppt/notesMasters/notesMaster1.xml" Id="R44c4ef288a2542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b67b9710304c07" /><Relationship Type="http://schemas.openxmlformats.org/officeDocument/2006/relationships/notesMaster" Target="/ppt/notesMasters/notesMaster1.xml" Id="R4177b931d27c44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9276a989c24c4f" /><Relationship Type="http://schemas.openxmlformats.org/officeDocument/2006/relationships/notesMaster" Target="/ppt/notesMasters/notesMaster1.xml" Id="R6bd75d6df4fc46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145e47bc6e4d81" /><Relationship Type="http://schemas.openxmlformats.org/officeDocument/2006/relationships/notesMaster" Target="/ppt/notesMasters/notesMaster1.xml" Id="R07e2588616474f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42528bd9ac4ab4" /><Relationship Type="http://schemas.openxmlformats.org/officeDocument/2006/relationships/notesMaster" Target="/ppt/notesMasters/notesMaster1.xml" Id="R5ec20357b15f46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c40492933a40e8" /><Relationship Type="http://schemas.openxmlformats.org/officeDocument/2006/relationships/notesMaster" Target="/ppt/notesMasters/notesMaster1.xml" Id="R9f2423d1e67843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1e49bea0034ac6" /><Relationship Type="http://schemas.openxmlformats.org/officeDocument/2006/relationships/notesMaster" Target="/ppt/notesMasters/notesMaster1.xml" Id="R406da9493dbb45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a42bc306e8414e" /><Relationship Type="http://schemas.openxmlformats.org/officeDocument/2006/relationships/notesMaster" Target="/ppt/notesMasters/notesMaster1.xml" Id="Rf7b8b98fea184d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d54c0977204e7b" /><Relationship Type="http://schemas.openxmlformats.org/officeDocument/2006/relationships/notesMaster" Target="/ppt/notesMasters/notesMaster1.xml" Id="Rfc7162dad8bd42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e54a571def4199" /><Relationship Type="http://schemas.openxmlformats.org/officeDocument/2006/relationships/notesMaster" Target="/ppt/notesMasters/notesMaster1.xml" Id="R2dcdc107110b49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04aa9b31b94f32" /><Relationship Type="http://schemas.openxmlformats.org/officeDocument/2006/relationships/notesMaster" Target="/ppt/notesMasters/notesMaster1.xml" Id="R3bdd27b437c24c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6429c59e774da5" /><Relationship Type="http://schemas.openxmlformats.org/officeDocument/2006/relationships/notesMaster" Target="/ppt/notesMasters/notesMaster1.xml" Id="R04bc18aa4d224f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cd3bbd9cbd4891" /><Relationship Type="http://schemas.openxmlformats.org/officeDocument/2006/relationships/notesMaster" Target="/ppt/notesMasters/notesMaster1.xml" Id="Rf2e8c388364249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c43a43436e4b83" /><Relationship Type="http://schemas.openxmlformats.org/officeDocument/2006/relationships/notesMaster" Target="/ppt/notesMasters/notesMaster1.xml" Id="R693d34c6ea784b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db7720f11b478b" /><Relationship Type="http://schemas.openxmlformats.org/officeDocument/2006/relationships/notesMaster" Target="/ppt/notesMasters/notesMaster1.xml" Id="Rd1daac7041c545a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76c3f668e6406b" /><Relationship Type="http://schemas.openxmlformats.org/officeDocument/2006/relationships/notesMaster" Target="/ppt/notesMasters/notesMaster1.xml" Id="R963254a1371c4b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a1204202e7410d" /><Relationship Type="http://schemas.openxmlformats.org/officeDocument/2006/relationships/notesMaster" Target="/ppt/notesMasters/notesMaster1.xml" Id="R8f76653c0cc246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36d52e3e3a4b4f" /><Relationship Type="http://schemas.openxmlformats.org/officeDocument/2006/relationships/notesMaster" Target="/ppt/notesMasters/notesMaster1.xml" Id="R4bd89b38880349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3a5c75e53e940ac" /><Relationship Type="http://schemas.openxmlformats.org/officeDocument/2006/relationships/notesMaster" Target="/ppt/notesMasters/notesMaster1.xml" Id="R398c02d29212470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c09841d0bd74119" /><Relationship Type="http://schemas.openxmlformats.org/officeDocument/2006/relationships/notesMaster" Target="/ppt/notesMasters/notesMaster1.xml" Id="R3289f51ebeef45b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54043487a2f45a5" /><Relationship Type="http://schemas.openxmlformats.org/officeDocument/2006/relationships/notesMaster" Target="/ppt/notesMasters/notesMaster1.xml" Id="R9c185716403c47c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d27e81986994fa9" /><Relationship Type="http://schemas.openxmlformats.org/officeDocument/2006/relationships/notesMaster" Target="/ppt/notesMasters/notesMaster1.xml" Id="Rfa4efc8f3e854a3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bb60079718648e3" /><Relationship Type="http://schemas.openxmlformats.org/officeDocument/2006/relationships/notesMaster" Target="/ppt/notesMasters/notesMaster1.xml" Id="R27be099d337545c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fb4153fa9e64725" /><Relationship Type="http://schemas.openxmlformats.org/officeDocument/2006/relationships/notesMaster" Target="/ppt/notesMasters/notesMaster1.xml" Id="Rda89aae1a82144d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997647a8b2e4290" /><Relationship Type="http://schemas.openxmlformats.org/officeDocument/2006/relationships/notesMaster" Target="/ppt/notesMasters/notesMaster1.xml" Id="Rb3821e29a3554b4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276402a013841ee" /><Relationship Type="http://schemas.openxmlformats.org/officeDocument/2006/relationships/notesMaster" Target="/ppt/notesMasters/notesMaster1.xml" Id="R11b32e653365496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f5c7d43ff643df" /><Relationship Type="http://schemas.openxmlformats.org/officeDocument/2006/relationships/notesMaster" Target="/ppt/notesMasters/notesMaster1.xml" Id="R51eea17bc42e4e7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55b8388a13d4172" /><Relationship Type="http://schemas.openxmlformats.org/officeDocument/2006/relationships/notesMaster" Target="/ppt/notesMasters/notesMaster1.xml" Id="Re94461655fae412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c7c2fcb69ae4743" /><Relationship Type="http://schemas.openxmlformats.org/officeDocument/2006/relationships/notesMaster" Target="/ppt/notesMasters/notesMaster1.xml" Id="Rba9cd29579e548e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d5e6f8f964c43a0" /><Relationship Type="http://schemas.openxmlformats.org/officeDocument/2006/relationships/notesMaster" Target="/ppt/notesMasters/notesMaster1.xml" Id="R1cd27fe033344be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dbd1b02fe2648dc" /><Relationship Type="http://schemas.openxmlformats.org/officeDocument/2006/relationships/notesMaster" Target="/ppt/notesMasters/notesMaster1.xml" Id="R04a453c9835d4a8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290889996ce42f0" /><Relationship Type="http://schemas.openxmlformats.org/officeDocument/2006/relationships/notesMaster" Target="/ppt/notesMasters/notesMaster1.xml" Id="R5e5264f369ed41e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52d050726b74b76" /><Relationship Type="http://schemas.openxmlformats.org/officeDocument/2006/relationships/notesMaster" Target="/ppt/notesMasters/notesMaster1.xml" Id="R5258d863cfb7417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4b7727152d24809" /><Relationship Type="http://schemas.openxmlformats.org/officeDocument/2006/relationships/notesMaster" Target="/ppt/notesMasters/notesMaster1.xml" Id="R5830c9aba44c4d0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e7a6e5aaf0f4e55" /><Relationship Type="http://schemas.openxmlformats.org/officeDocument/2006/relationships/notesMaster" Target="/ppt/notesMasters/notesMaster1.xml" Id="R991d5b55627e43d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7d2e69c8963412b" /><Relationship Type="http://schemas.openxmlformats.org/officeDocument/2006/relationships/notesMaster" Target="/ppt/notesMasters/notesMaster1.xml" Id="R2cf3cb9b4474425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93d427e756943a8" /><Relationship Type="http://schemas.openxmlformats.org/officeDocument/2006/relationships/notesMaster" Target="/ppt/notesMasters/notesMaster1.xml" Id="R3bb82bb8a4b24cc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637469545d0401b" /><Relationship Type="http://schemas.openxmlformats.org/officeDocument/2006/relationships/notesMaster" Target="/ppt/notesMasters/notesMaster1.xml" Id="R89c07469581048f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6074fe969104752" /><Relationship Type="http://schemas.openxmlformats.org/officeDocument/2006/relationships/notesMaster" Target="/ppt/notesMasters/notesMaster1.xml" Id="R6c6e0744aed84f2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88ffc1ec78e4a85" /><Relationship Type="http://schemas.openxmlformats.org/officeDocument/2006/relationships/notesMaster" Target="/ppt/notesMasters/notesMaster1.xml" Id="Rf3e23ede44c4435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80a7914d695428d" /><Relationship Type="http://schemas.openxmlformats.org/officeDocument/2006/relationships/notesMaster" Target="/ppt/notesMasters/notesMaster1.xml" Id="R9288cb018b7c431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ed8940e935e49d6" /><Relationship Type="http://schemas.openxmlformats.org/officeDocument/2006/relationships/notesMaster" Target="/ppt/notesMasters/notesMaster1.xml" Id="R67bc9badf1f6471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64197f013e34b46" /><Relationship Type="http://schemas.openxmlformats.org/officeDocument/2006/relationships/notesMaster" Target="/ppt/notesMasters/notesMaster1.xml" Id="Refa208270bac430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d047030237e40f1" /><Relationship Type="http://schemas.openxmlformats.org/officeDocument/2006/relationships/notesMaster" Target="/ppt/notesMasters/notesMaster1.xml" Id="R805cc615b2d7472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b323e8b72d84e40" /><Relationship Type="http://schemas.openxmlformats.org/officeDocument/2006/relationships/notesMaster" Target="/ppt/notesMasters/notesMaster1.xml" Id="R0274f9236675450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04ad40800d743b3" /><Relationship Type="http://schemas.openxmlformats.org/officeDocument/2006/relationships/notesMaster" Target="/ppt/notesMasters/notesMaster1.xml" Id="Rfc57f0d7d03a4c0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168ce81020b417b" /><Relationship Type="http://schemas.openxmlformats.org/officeDocument/2006/relationships/notesMaster" Target="/ppt/notesMasters/notesMaster1.xml" Id="Rb613a5424ce545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1。先说明目标，再让学生带着三个问题进入后续内容：机制是什么、数字怎么算、何时会失效。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2。先说明目标，再让学生带着三个问题进入后续内容：机制是什么、数字怎么算、何时会失效。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3。先说明目标，再让学生带着三个问题进入后续内容：机制是什么、数字怎么算、何时会失效。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扩展模块 4。先说明目标，再让学生带着三个问题进入后续内容：机制是什么、数字怎么算、何时会失效。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逐块讲解；每一块都要求学生用自己的话复述，不直接跳到术语结论。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算例不要直接揭示最后一步。停顿 2–3 分钟，让学生先写出式子和单位，再共同核对。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沿箭头完整讲一遍，再倒序追问：某一步失败时，上一步留下的状态由谁清理？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每个误区请学生举一个反例。强调这些不是措辞问题，而是会直接导致错误设计或错误结论。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不把答案直接放在屏幕上。先收集两种不同解释，再用本模块目标收束。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d9b7fb47345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62b7b4e854e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af55a27574b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be5466531847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8e21e013a41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b61289c0b407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cfc29b2784e1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64db0930347c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e4738e19d4cc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24c11d8a04c5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f803e764641d4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8CF954D-C847-42E3-B4E2-92B6A9FF4D1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9F2CA3A-D198-4D13-A2C0-E25BA8BE06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486DDF97-85E8-4F89-9F2A-03FE4425EA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45D038ED-E514-4422-BB52-65D40470C2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724EAA22-AAFD-4730-8290-7EA58B15D8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580B6C-F32C-43CB-821B-4BEA73AEA5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95D8910-0051-423C-A2F9-7D562C3E2F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FDE0F6A-4AC0-4EBD-8011-C1C3748303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CED865A-5E79-4D0B-9838-CD1DDB29FD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CAE44C1-05EE-4DAA-9371-D33023ED24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1F6CC3D-B731-41D4-B086-B1B157C8E9F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930FC2F-D4F2-4B13-913D-EB4BF973D62D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401A7B-2508-4D2F-A9C2-BCBCDED515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166C8D-9AAD-43B6-8D6E-8A16CBBB41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051002A-EE55-4000-BDBE-B4B0158E56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A8DA872-93BF-4333-A5F3-F98A7B3C13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CC152A4-A696-456E-A763-E01AEC2564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A09771D-47C1-4559-AD1F-2D08C1421ED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94D4D93-941A-4F18-998A-C8E646D7BC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F0318C9-D02B-49F0-9A1F-9E90EBA69D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67FD6E6-4BF8-4786-9A8A-1303316610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ADB4F30-AA60-411F-9C8E-5BC9E2318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F8D137C-0C8D-4FFC-A0DF-0CBBE7E0B1E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CE0D78B-3277-4144-92E2-F540121B79E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8391F76-ADE9-4E7B-8966-9001884093CF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273BE7E-8389-4DDB-9CE1-CD666D90E9E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05D58F1-2541-4143-9106-9E67A866CA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97633F1-E556-4CE3-8802-31F8BD73D0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C533948-4866-4E1F-BC2D-1C38CC8FE7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3240C1-7BA5-411A-BBC9-E1F0E71292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DF9F97D-99CC-4955-93F0-EBE105B4C4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C6B01AF-004A-41F5-B200-5DC1895540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3D72D0D-49FB-4203-846F-21DC511AF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190AC04-3AEE-47B5-86D8-4ADDD713C2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D5F7865-E3FF-45A5-936D-73EBF1200A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9229AA2-FB98-4320-B7B7-6E9507AF7E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436DE2F6-130A-4398-A450-6276EEC22E3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98C0953-83A2-44BB-850D-89249E140B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E652223-C789-42A9-A072-24DAAE9DB4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EF9EBC8-3AC0-43E5-A694-FCAE036A2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7CF04EC-F6AF-4061-AF5B-5EBA9AC2EB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AF428CB-23E2-4FB9-B168-65D019298A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828679B-4D01-4DB2-8F6F-7609B739902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A66B64F-289F-46D1-8E4B-FEEE2E5578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BAA72B6-360E-4931-A5D6-24D6ABE0CB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7A064C8-0D73-46BA-ACF5-D90A06E086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F30D444-5651-4548-B056-15C41C8BA1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41A7A4E-61FC-4BB6-B6C6-EBE5D8C211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4575DBE-E5C1-4E46-BDED-9261BCB62A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93F7625-7526-4991-853B-2E6EA27899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1AFE34E8-0673-42D1-9836-49F6F4F54196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33291C5-0F92-47FA-ABCD-658DB2C590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202743B-D9FE-495A-A0E1-494A7FBA1A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4EE416B-B732-4FF8-8CF8-A7728EB7FF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8785AF1-8D09-4678-BBED-61B840D357A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F6318415-C6FE-43C1-9DD6-70CB92AD36C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c2d3f35cc9471c" /><Relationship Type="http://schemas.openxmlformats.org/officeDocument/2006/relationships/slideLayout" Target="/ppt/slideLayouts/slideLayout1.xml" Id="R938cf4c52e0544c1" /><Relationship Type="http://schemas.openxmlformats.org/officeDocument/2006/relationships/slideLayout" Target="/ppt/slideLayouts/slideLayout2.xml" Id="Rbf896288db134789" /><Relationship Type="http://schemas.openxmlformats.org/officeDocument/2006/relationships/slideLayout" Target="/ppt/slideLayouts/slideLayout3.xml" Id="Rffc16ab756e34e9a" /><Relationship Type="http://schemas.openxmlformats.org/officeDocument/2006/relationships/slideLayout" Target="/ppt/slideLayouts/slideLayout4.xml" Id="R8ddd6ec4665d48d5" /><Relationship Type="http://schemas.openxmlformats.org/officeDocument/2006/relationships/slideLayout" Target="/ppt/slideLayouts/slideLayout5.xml" Id="Ree5d61ba9a114299" /><Relationship Type="http://schemas.openxmlformats.org/officeDocument/2006/relationships/slideLayout" Target="/ppt/slideLayouts/slideLayout6.xml" Id="Rd4e0dd412e6b433d" /><Relationship Type="http://schemas.openxmlformats.org/officeDocument/2006/relationships/slideLayout" Target="/ppt/slideLayouts/slideLayout7.xml" Id="R5ac60c54061a434c" /><Relationship Type="http://schemas.openxmlformats.org/officeDocument/2006/relationships/slideLayout" Target="/ppt/slideLayouts/slideLayout8.xml" Id="R9825fce28a3345d9" /><Relationship Type="http://schemas.openxmlformats.org/officeDocument/2006/relationships/slideLayout" Target="/ppt/slideLayouts/slideLayout9.xml" Id="R8dc0ca12655a416c" /><Relationship Type="http://schemas.openxmlformats.org/officeDocument/2006/relationships/slideLayout" Target="/ppt/slideLayouts/slideLayout10.xml" Id="Rbe8f3150b8d54e80" /><Relationship Type="http://schemas.openxmlformats.org/officeDocument/2006/relationships/slideLayout" Target="/ppt/slideLayouts/slideLayout11.xml" Id="Ra0c13dfe76e1495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6C2B969-684B-4FDE-832F-411033B093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9E08B02-D7D3-431F-9DBF-BFD84F896C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1315F57-54E6-4436-9017-545E910E7B6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C779EAB-B40D-4CD8-A9CE-90048B3087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131C797-6D4E-4FF5-9910-CA2160B27B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8cf4c52e0544c1"/>
    <p:sldLayoutId xmlns:r="http://schemas.openxmlformats.org/officeDocument/2006/relationships" id="2147483650" r:id="Rbf896288db134789"/>
    <p:sldLayoutId xmlns:r="http://schemas.openxmlformats.org/officeDocument/2006/relationships" id="2147483651" r:id="Rffc16ab756e34e9a"/>
    <p:sldLayoutId xmlns:r="http://schemas.openxmlformats.org/officeDocument/2006/relationships" id="2147483652" r:id="R8ddd6ec4665d48d5"/>
    <p:sldLayoutId xmlns:r="http://schemas.openxmlformats.org/officeDocument/2006/relationships" id="2147483653" r:id="Ree5d61ba9a114299"/>
    <p:sldLayoutId xmlns:r="http://schemas.openxmlformats.org/officeDocument/2006/relationships" id="2147483654" r:id="Rd4e0dd412e6b433d"/>
    <p:sldLayoutId xmlns:r="http://schemas.openxmlformats.org/officeDocument/2006/relationships" id="2147483655" r:id="R5ac60c54061a434c"/>
    <p:sldLayoutId xmlns:r="http://schemas.openxmlformats.org/officeDocument/2006/relationships" id="2147483656" r:id="R9825fce28a3345d9"/>
    <p:sldLayoutId xmlns:r="http://schemas.openxmlformats.org/officeDocument/2006/relationships" id="2147483657" r:id="R8dc0ca12655a416c"/>
    <p:sldLayoutId xmlns:r="http://schemas.openxmlformats.org/officeDocument/2006/relationships" id="2147483658" r:id="Rbe8f3150b8d54e80"/>
    <p:sldLayoutId xmlns:r="http://schemas.openxmlformats.org/officeDocument/2006/relationships" id="2147483659" r:id="Ra0c13dfe76e14954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0b77ba33944d00" /><Relationship Type="http://schemas.openxmlformats.org/officeDocument/2006/relationships/notesSlide" Target="/ppt/notesSlides/notesSlide1.xml" Id="R97fc34bc01e049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ef5d16f59942ed" /><Relationship Type="http://schemas.openxmlformats.org/officeDocument/2006/relationships/notesSlide" Target="/ppt/notesSlides/notesSlide2.xml" Id="R4672c6888c55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66f8476c1f4749" /><Relationship Type="http://schemas.openxmlformats.org/officeDocument/2006/relationships/notesSlide" Target="/ppt/notesSlides/notesSlide3.xml" Id="R7e0c2e35b69945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d43721643b41b2" /><Relationship Type="http://schemas.openxmlformats.org/officeDocument/2006/relationships/notesSlide" Target="/ppt/notesSlides/notesSlide4.xml" Id="R2a494fb7056546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8f079e785e456a" /><Relationship Type="http://schemas.openxmlformats.org/officeDocument/2006/relationships/notesSlide" Target="/ppt/notesSlides/notesSlide5.xml" Id="R53d428a587a745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5239a8a7d64974" /><Relationship Type="http://schemas.openxmlformats.org/officeDocument/2006/relationships/notesSlide" Target="/ppt/notesSlides/notesSlide6.xml" Id="Ra5b08d0926674f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8a9a91c3994c25" /><Relationship Type="http://schemas.openxmlformats.org/officeDocument/2006/relationships/notesSlide" Target="/ppt/notesSlides/notesSlide7.xml" Id="R0d7bb3a796214e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a4dee5a4da400d" /><Relationship Type="http://schemas.openxmlformats.org/officeDocument/2006/relationships/notesSlide" Target="/ppt/notesSlides/notesSlide8.xml" Id="Rc9e5f3e43cd74a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82d67eb0f64bc1" /><Relationship Type="http://schemas.openxmlformats.org/officeDocument/2006/relationships/notesSlide" Target="/ppt/notesSlides/notesSlide9.xml" Id="Re77577611c2541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47168ee36343ed" /><Relationship Type="http://schemas.openxmlformats.org/officeDocument/2006/relationships/notesSlide" Target="/ppt/notesSlides/notesSlide10.xml" Id="R39309db4b67349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da5ad1f7ef4d20" /><Relationship Type="http://schemas.openxmlformats.org/officeDocument/2006/relationships/notesSlide" Target="/ppt/notesSlides/notesSlide11.xml" Id="Rd6cfd71a89644d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729f54f42b462e" /><Relationship Type="http://schemas.openxmlformats.org/officeDocument/2006/relationships/notesSlide" Target="/ppt/notesSlides/notesSlide12.xml" Id="R7b1adbd0e72f4d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2e75039c5d4feb" /><Relationship Type="http://schemas.openxmlformats.org/officeDocument/2006/relationships/notesSlide" Target="/ppt/notesSlides/notesSlide13.xml" Id="R598916de1a8443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f5f99af28c4db8" /><Relationship Type="http://schemas.openxmlformats.org/officeDocument/2006/relationships/notesSlide" Target="/ppt/notesSlides/notesSlide14.xml" Id="R677cd115146546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9bc53892b14a4c" /><Relationship Type="http://schemas.openxmlformats.org/officeDocument/2006/relationships/notesSlide" Target="/ppt/notesSlides/notesSlide15.xml" Id="R4f8b6b535af44f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c6dab63ee84076" /><Relationship Type="http://schemas.openxmlformats.org/officeDocument/2006/relationships/notesSlide" Target="/ppt/notesSlides/notesSlide16.xml" Id="R48d284bfb97945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98b04affff4dbd" /><Relationship Type="http://schemas.openxmlformats.org/officeDocument/2006/relationships/notesSlide" Target="/ppt/notesSlides/notesSlide17.xml" Id="R9a1fe77ba82949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188963080c4799" /><Relationship Type="http://schemas.openxmlformats.org/officeDocument/2006/relationships/notesSlide" Target="/ppt/notesSlides/notesSlide18.xml" Id="R92756e76653044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e3e4d2637a49ce" /><Relationship Type="http://schemas.openxmlformats.org/officeDocument/2006/relationships/notesSlide" Target="/ppt/notesSlides/notesSlide19.xml" Id="Rc90d893fe730436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5d2f5e97dd467b" /><Relationship Type="http://schemas.openxmlformats.org/officeDocument/2006/relationships/notesSlide" Target="/ppt/notesSlides/notesSlide20.xml" Id="Re70ee158557345c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aecd363d8f4091" /><Relationship Type="http://schemas.openxmlformats.org/officeDocument/2006/relationships/notesSlide" Target="/ppt/notesSlides/notesSlide21.xml" Id="R69f6a943d6e74cf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2b6c24144740da" /><Relationship Type="http://schemas.openxmlformats.org/officeDocument/2006/relationships/notesSlide" Target="/ppt/notesSlides/notesSlide22.xml" Id="Rb76509554d5940f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bacedbb564455" /><Relationship Type="http://schemas.openxmlformats.org/officeDocument/2006/relationships/notesSlide" Target="/ppt/notesSlides/notesSlide23.xml" Id="R3ccf49227d2f4bc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2845cb2434c81" /><Relationship Type="http://schemas.openxmlformats.org/officeDocument/2006/relationships/notesSlide" Target="/ppt/notesSlides/notesSlide24.xml" Id="Ree15f3a8179a417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90b189b1c4a55" /><Relationship Type="http://schemas.openxmlformats.org/officeDocument/2006/relationships/notesSlide" Target="/ppt/notesSlides/notesSlide25.xml" Id="R6d0c81e2a64443e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87add4cb444db" /><Relationship Type="http://schemas.openxmlformats.org/officeDocument/2006/relationships/notesSlide" Target="/ppt/notesSlides/notesSlide26.xml" Id="Rc152fb6ba29b4a7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5ab32b24c4552" /><Relationship Type="http://schemas.openxmlformats.org/officeDocument/2006/relationships/notesSlide" Target="/ppt/notesSlides/notesSlide27.xml" Id="Rfe2bc727af1c448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99c6f08a244cf" /><Relationship Type="http://schemas.openxmlformats.org/officeDocument/2006/relationships/notesSlide" Target="/ppt/notesSlides/notesSlide28.xml" Id="Rc00564e0bfdf443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a3b6ae9754e1f" /><Relationship Type="http://schemas.openxmlformats.org/officeDocument/2006/relationships/notesSlide" Target="/ppt/notesSlides/notesSlide29.xml" Id="R663efe096c97433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96f79a3bd4ce6" /><Relationship Type="http://schemas.openxmlformats.org/officeDocument/2006/relationships/notesSlide" Target="/ppt/notesSlides/notesSlide30.xml" Id="Rbf9cab89b8a8437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6a4dc13c04d23" /><Relationship Type="http://schemas.openxmlformats.org/officeDocument/2006/relationships/notesSlide" Target="/ppt/notesSlides/notesSlide31.xml" Id="Re0e3927fc38244a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b66ca7deb4cea" /><Relationship Type="http://schemas.openxmlformats.org/officeDocument/2006/relationships/notesSlide" Target="/ppt/notesSlides/notesSlide32.xml" Id="Rde14cbb4d7324ff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01748c16843f0" /><Relationship Type="http://schemas.openxmlformats.org/officeDocument/2006/relationships/notesSlide" Target="/ppt/notesSlides/notesSlide33.xml" Id="R3b6e141797dd447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15a7881f44c30" /><Relationship Type="http://schemas.openxmlformats.org/officeDocument/2006/relationships/notesSlide" Target="/ppt/notesSlides/notesSlide34.xml" Id="Rc4ff74eba74b4d4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4e63d4ef14c7b" /><Relationship Type="http://schemas.openxmlformats.org/officeDocument/2006/relationships/notesSlide" Target="/ppt/notesSlides/notesSlide35.xml" Id="R55e5d2d8af6c4cf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d4a93cfdf4c3a" /><Relationship Type="http://schemas.openxmlformats.org/officeDocument/2006/relationships/notesSlide" Target="/ppt/notesSlides/notesSlide36.xml" Id="R462a60cdd2c7489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5b7151fa5446b" /><Relationship Type="http://schemas.openxmlformats.org/officeDocument/2006/relationships/notesSlide" Target="/ppt/notesSlides/notesSlide37.xml" Id="R2d14e1051cdf4f5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22439c2074ef8" /><Relationship Type="http://schemas.openxmlformats.org/officeDocument/2006/relationships/notesSlide" Target="/ppt/notesSlides/notesSlide38.xml" Id="Rc86d31a7be45454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7a72640054395" /><Relationship Type="http://schemas.openxmlformats.org/officeDocument/2006/relationships/notesSlide" Target="/ppt/notesSlides/notesSlide39.xml" Id="R7d4dfc9694b849f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15d0468da4613" /><Relationship Type="http://schemas.openxmlformats.org/officeDocument/2006/relationships/notesSlide" Target="/ppt/notesSlides/notesSlide40.xml" Id="Rc8b3c5ce555e43a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896869e974b70" /><Relationship Type="http://schemas.openxmlformats.org/officeDocument/2006/relationships/notesSlide" Target="/ppt/notesSlides/notesSlide41.xml" Id="Rcf14276055e74ea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18a17011d4a97" /><Relationship Type="http://schemas.openxmlformats.org/officeDocument/2006/relationships/notesSlide" Target="/ppt/notesSlides/notesSlide42.xml" Id="Rcf92f44ac816448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c9ca264fe4c48" /><Relationship Type="http://schemas.openxmlformats.org/officeDocument/2006/relationships/notesSlide" Target="/ppt/notesSlides/notesSlide43.xml" Id="Radc0ceb9a9524a7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6db4c24eb4384" /><Relationship Type="http://schemas.openxmlformats.org/officeDocument/2006/relationships/notesSlide" Target="/ppt/notesSlides/notesSlide44.xml" Id="Rc714f9d97e8c40d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918d15cb94bab" /><Relationship Type="http://schemas.openxmlformats.org/officeDocument/2006/relationships/notesSlide" Target="/ppt/notesSlides/notesSlide45.xml" Id="R519607732323467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04d106adc46a5" /><Relationship Type="http://schemas.openxmlformats.org/officeDocument/2006/relationships/notesSlide" Target="/ppt/notesSlides/notesSlide46.xml" Id="Reac2945f2cf74a2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da74af17fa46c3" /><Relationship Type="http://schemas.openxmlformats.org/officeDocument/2006/relationships/notesSlide" Target="/ppt/notesSlides/notesSlide47.xml" Id="Rfa12d987bc4943a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5cdcbfe6cc4006" /><Relationship Type="http://schemas.openxmlformats.org/officeDocument/2006/relationships/notesSlide" Target="/ppt/notesSlides/notesSlide48.xml" Id="R03990cff31ff45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936C3CB-A8D2-47C9-BFD7-B8EFF0EF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962C79-131A-452D-A13A-AD74740A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685800"/>
            <a:ext cx="9652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15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E98F3BD-8D0C-4575-8AE2-565429E9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1600200"/>
            <a:ext cx="99060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请求调度与连续批处理</a:t>
            </a:r>
            <a:endParaRPr sz="42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D32A757-A0D4-4804-9E85-95AB0251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302000"/>
            <a:ext cx="8890000" cy="4298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把队列、批次、</a:t>
            </a:r>
            <a:r>
              <a:rPr sz="2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SLO </a:t>
            </a:r>
            <a:r>
              <a:rPr sz="2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 sz="2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压力放在同一决策中</a:t>
            </a:r>
            <a:endParaRPr sz="2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9087F3F-EE32-4565-B154-1483EF76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257800"/>
            <a:ext cx="914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每讲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2 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小时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理论、代码路径、案例与练习</a:t>
            </a:r>
            <a:endParaRPr sz="15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15E0FA7-4B0A-40D4-9BF2-C95B73E7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943600"/>
            <a:ext cx="9144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华中科技大学</a:t>
            </a: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张书豪课题组</a:t>
            </a:r>
            <a:endParaRPr sz="1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0BA38BDF-D154-423D-B84C-5D13BDD0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1397000"/>
            <a:ext cx="1333500" cy="1333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B5260C9-3BE3-40AD-A3BD-9C1F39FF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200" y="1701800"/>
            <a:ext cx="927100" cy="9531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FABD5D-B32D-4432-B378-326A513D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DEAB8DA1-DA85-4F6C-B8E6-26C62B61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41414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0293D36-D372-45B1-9A18-DF9BF52F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3C5DDC88-D77A-4400-B3B5-D5DFE482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两小时课程地图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B1F3774-F542-4A7D-9F00-84E38E96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FA914B3-2DED-4D01-86C3-D34B5B55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795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从调度目标到可执行策略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F32C4AB2-AB1F-454C-A29F-CC8CFDC1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04E41336-0963-4CB2-AAE9-DB7E112F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12294DCB-DEB9-4289-A3AC-872B838D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00–25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调度问题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DF8F57F-2DD3-4E8C-8C98-339E922E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95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8DED0542-1ADF-4B7F-B53D-77067B3B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145FE6C-9047-4757-8E54-A8D4E671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3B4F66A-6A0C-4D59-8542-9492EA23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5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25–55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连续批处理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2F45A81-F26A-4F21-83F7-36654B5F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BFF9A578-FD3A-4CDD-9826-1D90429B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052BCA54-5171-411C-880F-2B587BE6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5116F958-EDB9-42CB-8B04-A1B64E3A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65–95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抢占与恢复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144255F6-8420-4BBB-813A-B06C8BEB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050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AB56AA79-D04C-4C75-8539-5547ED20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5200"/>
            <a:ext cx="254635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37733F31-9C67-4A9F-9BD7-474AA018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3800"/>
            <a:ext cx="224155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C6F8AF6-7554-422E-9026-F690F6DE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97200"/>
            <a:ext cx="224155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95–120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实验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864E7B7-8EE4-47E9-B216-0D5497A4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927600"/>
            <a:ext cx="106172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课后应能解释一次调度决策为何发生，以及它如何影响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TTFT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TPOT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CB24924-5FC9-491D-B2BB-29C742FF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F8A65ADE-ABC8-4FAA-8915-94D72CCC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5577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6CB3FD-CEDB-4F57-AD07-61EFF59B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002103E-DBF8-4C7E-9192-6A67DE80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519DEF6-0608-4A6E-9736-14C2400F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排队系统的三个量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61E8A840-B0AE-41CA-A0BD-BB3884F8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9C5A8F42-C5EE-43C2-8A83-7B30B375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637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C7A6AB9-639B-438B-B56D-3699D993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到达率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λ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：单位时间进入多少请求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8A05B857-3F98-4309-AC5B-F05E3FE6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5781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41D1990-75FD-4DDE-8BF4-FCD3BFC6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服务率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μ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：系统单位时间能处理多少工作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8573DBA2-F575-4953-AD25-C0DB8DD0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925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F8C8A56-CBFC-4264-9AFA-DA57B433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利用率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ρ ≈ λ/μ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：到达负载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服务能力（需统一工作量单位）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E6176DE8-2AF5-4E5C-A471-243118CA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069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9DF2568-436A-4F2E-9924-07AAD552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当利用率接近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100%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，等待时间通常快速增长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849A634E-B003-426F-9222-A93AB0E3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00200"/>
            <a:ext cx="3352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1BC9811-F22B-4896-AC00-55CFCD32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27305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先这样理解</a:t>
            </a:r>
            <a:endParaRPr sz="13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05EAE08-3473-47F5-A3A6-7DFAEECC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438400"/>
            <a:ext cx="2730500" cy="1014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“GPU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很忙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可能意味着效率高，也可能意味着队列已经失控。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BA9442E-4E5D-4E2B-8E6E-34C40E12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C953671-814F-4194-B599-52000CAC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27192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53CCB38-E84E-4432-9B0D-724D83BD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CA98719-77FF-4C5E-B257-2BA8B7D1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FA17138-A28D-4DC1-B988-4740F1ED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队首阻塞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B7B9591-8C9F-41D8-A738-8FE63EB9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7C9FBA8-599F-4443-8E2C-08595BCE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208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一个长请求可能拖慢后面的短请求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6E5FD3D-27A3-4422-B117-28B23B26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15275A6-8908-4A25-9DC9-7AE84DC3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DE9A7C4-9A51-44C1-82E1-9F7728AA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1000"/>
            <a:ext cx="176276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长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Prefill 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到达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3951AC3-9158-49E1-B1F9-A6ED35FD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E00CD31C-9F94-4BB1-9AB6-F9045062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36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D0234FD-AF89-4128-8E09-0FC1DA01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84DA55A-6AFB-4FF8-908F-98796553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921000"/>
            <a:ext cx="1762760" cy="614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占满本轮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budget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5A4DE92-3F0D-43CA-86EC-1D2021E7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12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3D9E2349-D0FD-4A25-ABFF-209CC263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92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28528FA-FBD8-4755-AC36-0DC5612D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E806BD5-3E6A-45F4-A91D-E7B1F006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921000"/>
            <a:ext cx="1762760" cy="614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短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等待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F592F736-2646-47B2-95E9-97CE860E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88AEF808-50E6-4B86-9338-6B4B5DFE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8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39580C68-99EB-4E38-8797-90F697AB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4A5CEFA0-0F4D-4370-9474-FC9274B2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921000"/>
            <a:ext cx="176276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TPOT 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出现尖峰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C4ADD23-E585-4D69-929D-383B2158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24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483EC80A-1531-49CC-80A6-D86018B5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040" y="2209800"/>
            <a:ext cx="201676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59C44C4-F1BC-4341-B6A2-4FD86A42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438400"/>
            <a:ext cx="176276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D8A4122-8E7A-4F06-A90A-2A5093CB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921000"/>
            <a:ext cx="176276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P99 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恶化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419FE1D1-3D57-4A41-ABAF-C61DF34F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3600"/>
            <a:ext cx="10668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调度策略需要识别工作的大小和紧迫程度。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0BD84EC-7AE4-4685-BF36-37CC2426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255DB6F7-01E7-4239-85B0-6DAD5477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5354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CE8EE97-641E-40E9-AB9A-8ABC6A59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713BE15-D1C9-4C6C-B458-1103BD94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1FCD325-7727-48C3-ABA0-679B0694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Token budget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的一轮推演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092C795-D094-4916-9596-08043B5B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F2B1614-3229-4E0F-8989-0A105074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假设每轮最多处理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16 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个</a:t>
            </a: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token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58D29AFB-367F-421B-8BB4-805CA393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879600"/>
            <a:ext cx="107950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50C1B"/>
          </a:solidFill>
          <a:ln xmlns:a="http://schemas.openxmlformats.org/drawingml/2006/main" w="12700">
            <a:solidFill>
              <a:srgbClr val="364B6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1094F23-9110-43C1-A406-2B9F01A3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159000"/>
            <a:ext cx="10160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两个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Decode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请求：各需要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1 token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，共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2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一个新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Prefill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：输入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30 token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若不分块：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Prefill 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无法进入本轮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若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chunk=14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：本轮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2 Decode + 14 Prefill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下一轮继续处理剩余</a:t>
            </a:r>
            <a:r>
              <a:rPr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 16 Prefill token</a:t>
            </a:r>
            <a:endParaRPr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407B999-3B06-4DDB-888F-D2A5EE92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515620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预算是</a:t>
            </a:r>
            <a:r>
              <a:rPr sz="17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17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本轮处理量</a:t>
            </a:r>
            <a:r>
              <a:rPr sz="17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sz="17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，不是请求总长度。</a:t>
            </a:r>
            <a:endParaRPr sz="17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40D4677-5ECA-4E98-8F1F-00320CE4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7AF4F9F-A620-4FB5-B64B-DFF24A16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969792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EE361C-0963-4C26-8079-E43D6DF6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A2601BF-C362-4916-BE5E-886BE1B7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23A477E-F45B-496D-8109-06E592A3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Continuous batching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的时间轴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F5E5B0B-24F7-447D-99E4-09723C9B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60D957A-FBF9-459D-89D0-B68509A6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208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请求可以在迭代边界加入和退出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375EB7FF-E8A6-4E6C-AF4D-31D826EA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09800"/>
            <a:ext cx="256540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2E4308A-69C3-4ACE-9258-891085D8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3114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5828DC8-5C97-4E4A-B85C-6F4A0676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1000"/>
            <a:ext cx="231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迭代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1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A Prefill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8BBC2E1-3670-4F58-938D-92B6BA3A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27A50E5B-ED98-4CB2-8BB8-D9F926AE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2209800"/>
            <a:ext cx="256540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A76A755-6871-4EA7-869E-A1C0ECA2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38400"/>
            <a:ext cx="23114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2BF1D73-A46B-47C4-BBAE-C6B72272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21000"/>
            <a:ext cx="2311400" cy="614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迭代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2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A Decode + B Prefill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08BEDEE-851B-4A67-AA05-E339DFE5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41A81B64-7DFF-4AA5-9F45-DCB79338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2209800"/>
            <a:ext cx="256540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4D25FFF-2822-44E1-B826-F74CA9AE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23114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FD81B4F4-F13A-4E0E-9E48-2D49CF58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21000"/>
            <a:ext cx="2311400" cy="614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迭代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3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A/B Decode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C48411EC-7DEA-4D34-A5D0-F5A1B200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33700"/>
            <a:ext cx="177800" cy="475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8CE8C66D-0926-43E3-BB6A-EDA6DF6F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400" y="2209800"/>
            <a:ext cx="2565400" cy="195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69672EA-35D5-4321-B77A-67DEBB4B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38400"/>
            <a:ext cx="23114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2014FA17-0A0E-4CB6-973F-9BA8A421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21000"/>
            <a:ext cx="2311400" cy="614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迭代</a:t>
            </a: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4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sz="17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B Decode + C Prefill</a:t>
            </a:r>
            <a:endParaRPr sz="17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8D839F00-C393-454A-A3B1-213CA259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3600"/>
            <a:ext cx="10668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每轮批次不同，因此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metadata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映射也随之变化。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21189BE-15D2-4FAB-A634-E919493C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32D8A15F-FC09-42B2-B3A8-ABA11682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516687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C5A44F8-8216-4B7B-AA95-028A0637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291F44-8DAC-4CFA-83EF-676A25BD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调度器每轮回答的问题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20FBF5D-1E0D-41AA-87CD-4AF88FF6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40C7A9FE-2F2F-4D4A-94FC-89B6A3AE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82FFE9A-CBA4-4079-8103-B4A69305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哪些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waiting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请求进入运行集合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D748A50-DC5B-4FBC-96C9-88F788AB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7107C42-0FC7-4CAC-8852-0C41DDBC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哪些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running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请求继续执行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B8C1D820-EAC4-4C62-91E5-8C22E720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C7B613E-D738-405B-B7E1-035DF7DE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Prefill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如何共享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budget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48E88653-2E91-4D90-850F-89DA7E28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D599D95-71DC-41D5-BD03-0B39DE80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不足时谁等待、谁抢占、谁恢复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7AFCE729-FA5C-4154-B60B-13C5483D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2044981-3989-47C1-975E-AE7CAD43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D725A94-0387-462B-8BE6-06943B5B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调度决策同时受计算预算和内存预算约束。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0E60850-2F20-4D20-B6D4-BB360F01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7800CB2-8E64-47CD-A981-68125F6C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44441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6384EBF-5B21-4A4D-993D-67EE2443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D962F4B-E8C4-4598-B607-8549C38A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请求级与迭代级调度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01FA04A-0771-4AAA-81B5-2D286F21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277F0D4-A029-4FE2-9579-F6436890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请求级</a:t>
            </a:r>
            <a:endParaRPr sz="21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AD3A422-1440-4645-BB1D-6A866BCC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以完整请求为分配单位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A4A0642-FA00-481A-AF0B-480696D4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策略直观但粒度较粗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E282632-1778-442E-83ED-26F69447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容易被长输出阻塞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E4E9E6B-6B84-40E1-9A73-C339E038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迭代级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20EB4768-2ADE-4162-854E-419DADCA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每个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step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重新组批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EC86DF7-9771-41D6-A6C2-244BCC92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快速吸收新请求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9D0184D-CDA9-4622-BABC-ABBBE7ED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需要维护细粒度状态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9645917-A7CF-4E5D-A592-C8D94236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现代在线引擎通常以迭代为调度边界。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3DEA64A-02CA-419D-BC19-99F9CA37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074F9EC-D844-4B40-91A5-8E42CB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72974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CE966CA-DB46-4E50-8EE5-80F9C66C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36B97318-F85E-4B9E-A9C5-84A91D28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连续批处理循环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F48BEB2-9D13-4A7F-B4E1-8781B6ED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90E3E29-ADF2-486C-8C47-A01C3175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795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每轮都重新形成有效批次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AE9FC055-B037-4040-B7B2-60C3DE77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1995805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AFF479E-BC8F-46B1-8237-739CCE46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2DDD1A4-47E5-40E6-9305-DFCB99D3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7200"/>
            <a:ext cx="16910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回收完成请求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EDDB89C-741D-4F0F-AC64-82610523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40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E873E1DA-9853-4D53-80A5-710667C4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60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D63E62C-CB02-4E4E-AA4C-37278728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42FB75A2-F9FA-40B3-A450-3F8D05F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检查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waiting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队列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7C5985D8-A62F-4BF2-9706-0BFC4841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4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E438E56B-5306-4F8D-908A-71D87C1C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4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B63296E-3E35-4F02-84AC-5F665344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CAB3863B-9C00-4AAB-AD73-437D95FD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计算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budget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EDC40D27-FFFE-4DD6-A495-829CB8BC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68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8C64FDF8-196E-4A5E-8938-156B4E09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88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FF0F2F78-9A4D-4E0C-AF32-D01589C6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0983936B-1BF2-487C-8D90-72AF14E9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分配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block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C87DD9D8-A0ED-49E0-9D60-C79815C9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32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157BF283-9E19-4927-B418-11733E5E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52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6BEAE354-C1AF-4FC0-8A08-E4B1D81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186C40A-5FC9-420A-9B65-225C4B7C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执行并更新状态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B89C7BDA-F331-4014-B6AB-6F977208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927600"/>
            <a:ext cx="106172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调度循环本身就是运行时的主时钟。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580E59D-F3A2-4FAB-A962-EFC6DD83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73BE167C-12E4-4283-BBDA-1719505E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9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159707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52E2222-980F-4506-B15A-B4308F94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F907186A-E5A5-468E-AA79-689611FC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调度约束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5941548-DC71-47E4-8040-CBBD487D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AAE9A344-3002-4983-B306-F1D2FAE6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14D2009-8EE2-4E41-8AE9-AF787757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最大批次请求数与最大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数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EB448566-A20E-4659-B408-3E9BD13B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C4F7617-7E2A-47E0-8ABD-4A748EC3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设备可用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block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数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8685E1C5-22F6-4FD0-AFEF-E804A1F1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0C288E9-0D86-4AC3-91DB-2ACB7302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Prefill chunk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大小与单轮预算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84538199-3DC5-4CAA-9DAA-8B374529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3C75953A-D92E-4989-B611-0D98EE21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优先级、等待时间和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SLO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风险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B87CD1AF-A47A-4D2F-9AB5-18CE73C8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1C27E116-1C16-47EE-AD12-2E0C6227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0F8479F9-543F-4A03-8254-284A9E14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策略必须明确约束的优先顺序。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F3CF0C-F0DF-4CB0-AF33-F1EFD4B1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DFA5F02-7FEF-44AC-B3AE-A9A07F15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569691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A03702B-2241-4069-AD3E-F55DC8A2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ED7CB18-6349-418B-9B5E-7290091E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FCFS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SLO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感知策略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171A38-117D-4773-AD5D-F7E09980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A2C8F70-F8C5-485D-9442-13B59378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FCFS</a:t>
            </a:r>
            <a:endParaRPr sz="21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8A7D79C-4223-461A-8210-84070BBA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容易解释和复现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E710601A-6631-434F-BD8D-7C4009AA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等待公平性较好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E0193B5-8097-441E-AA25-8728F671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无法区分紧急程度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2BB155E-9708-48B6-A346-C4D658DA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SLO </a:t>
            </a: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感知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0A8C75F-6068-4483-9E1F-EEE233FD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根据剩余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slack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排序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AB4BAAF-F606-46AA-A222-70453F22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保护临近违约请求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3727F5A5-57A0-4516-B27D-45C02F8E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需要可靠的代价预测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4965CD8-70CD-4B7C-AE2C-522BB4D2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复杂策略只有在预测与开销可控时才有价值。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46B2C60-FB6D-4B5F-BA4D-5EC5A1CE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7CD63A75-9A21-4F3A-A2C2-044AB5F3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08255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ED53971-A60F-4EB0-9AC8-DC3BD09F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2CFE462-9184-4E74-9D14-689853A4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近期研究</a:t>
            </a:r>
            <a:endParaRPr sz="12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4C56AA9-7B31-4554-82C2-6160943B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近期研究：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Chunked Prefill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D0161F0-69C5-4608-8999-27E3374A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2096694-31B7-4328-8B1D-6BDFC36B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79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Sarathi-Serve</a:t>
            </a:r>
            <a:r>
              <a:rPr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OSDI 2024</a:t>
            </a:r>
            <a:endParaRPr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9E58A9A-4BA2-4FD0-8E5B-6FF8C86A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0828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问题：长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Prefill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会造成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停顿并放大尾延迟。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B3631D4-B7BB-40D8-9423-BE0594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9464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方法：把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Prefill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分块，与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组成更均匀的批次，并减少流水线气泡。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537657F-AAA8-413A-BC90-AC0F1201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0132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论文报告：论文在其模型与硬件配置下报告最高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5.6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倍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serving capacity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提升。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24E6A58D-166E-41F2-8E93-85480ED5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6600"/>
            <a:ext cx="3454400" cy="2895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25DD7AE-CA93-4568-8C83-7C06D7D9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286000"/>
            <a:ext cx="27940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课堂怎么读</a:t>
            </a:r>
            <a:endParaRPr sz="13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C532101-BCF9-4CB4-AC88-196A888F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94000"/>
            <a:ext cx="2794000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倍数依赖并行方式和延迟约束，课堂重点是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分块如何改变批次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”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1538F6B-3B5F-4A92-BC9C-16DFBD55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689600"/>
            <a:ext cx="10795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来源：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https://www.usenix.org/conference/osdi24/presentation/agrawal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471096E-51D5-489C-B441-F5803EFC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37C7203-EC30-4D28-ACB0-3E3AFAEF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471283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2A2F29C-8EC5-4159-B090-3DD301DE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3D02BCF-6A09-4E8C-8B8C-CC8739DB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Chunked Prefill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8CD1C8-4D4C-4098-BEF5-E39BDB9F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F60D7CDC-4FF1-438A-8457-3C9D9A15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9AC8641-94D1-4266-89D8-24BF18C6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把长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prompt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Prefill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切成多个小块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B9644F4F-C71D-4005-98C1-E97122A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0EAB6D9-AB59-4928-A9E5-BF1284A8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避免单个长请求独占一次迭代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FE969628-D58E-4C00-AC80-43884945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DA170475-E82B-48D1-B1EB-7A6C0927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Prefill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之间插入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请求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FE912C43-93A5-4D59-BAF0-B7A079DD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78DE23E-8830-4E18-8DD5-F961C39F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chunk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太小会增加调度和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kernel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开销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0E949B6F-0749-49CF-8319-DB5741DF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AF39FE4-7B2E-4990-A521-2BBC8E89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651BCA21-16B6-4519-B0D8-96AA5BC4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chunk </a:t>
            </a: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大小决定响应性与执行效率的平衡。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F55FA84-4824-4976-83D4-3EBD9FCE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8A538F3-7786-41F5-938C-1EAACE9F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185006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F025D99-1729-41C5-A3FF-C851AEF3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F4D9BD08-8936-47AF-9D91-AE4C2C1F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优先级与公平性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A151CE0-85D3-49A6-860F-377DF7E9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AC3A17C8-16F6-435B-863F-66A1A24D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4FDC123-CA8C-4ED4-B454-585115C0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静态优先级可能导致低优先级饥饿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7C7128FC-D8C1-4AC5-B137-4555FD2D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DCFC632-7F69-43E9-93D3-59B3D7F7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等待时间可用于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aging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3BFD5AFF-2E12-4A6D-8A0B-297C3E19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D9015D9-16E0-49F0-877C-E980FDCB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长度感知策略需要防止错误预测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BA2727DA-AAC2-435F-85D9-0A4AC361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2429FCE-0260-48B8-A0E5-036AD7DB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租户隔离需要独立配额或加权公平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252D9AE9-A506-414B-A8AA-038401CD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7B0BBF4-CE41-43E9-BDB1-C78C2FA1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0A8BFC7-13D6-4DAC-934E-B7A8782F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公平性必须有可观察定义，而不是口号。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BE7C054-3506-42B7-9BB1-7157C954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D328DD3-63C0-4351-B71E-16E902E7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822363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ADFA346-B7CB-4ECC-87F9-F878C4FA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7CD1DDB-CE65-46EF-98F3-FF78E9C8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压力下的决策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80EB845-2A7A-4689-BF7A-D4022387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BE1CE14-5779-4A5A-8E61-2CB723A8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795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内存不足会改变调度可行域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B61406EA-730F-41ED-A1C5-4D850721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1995805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1D9FE7E-0812-496F-B1C2-96FC6E3E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2781C9E7-9429-490B-B696-889F054C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检测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block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不足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46B6ECE2-9E17-4B1B-8FA7-379C6773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40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DC49FF48-5AE8-4E8A-9849-8ABE7079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60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737FE91-0409-4382-8505-A2A5E2B4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A9CB102-E7C6-4251-B9E0-91E0843E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2997200"/>
            <a:ext cx="169100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估计释放代价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C15B338-2AC8-4B14-A884-61992124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04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418D5AEE-A258-40C5-9575-C9A53462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4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5D8D6E4-B1A1-432C-A173-DC05EB8F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9B81E0D9-2A58-4B03-9CB4-7EADFDCC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选择等待或抢占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ABC9F38-C6EE-4D81-8AF1-EEBCF5BE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68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94B92719-BC1F-4886-B3A8-C6BE01A9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88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C8AB2B-3AE3-46C8-B17F-081F5014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D89FD03C-7D4A-418D-AB47-BF75601E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8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释放或换出状态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42A6154-AFBA-47B9-B35A-4A0F9C13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325" y="3048000"/>
            <a:ext cx="20320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7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A503A438-5A42-42B4-AB3D-08F40885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525" y="2235200"/>
            <a:ext cx="199644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EF40E490-67D7-4037-AC54-83AA1554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463800"/>
            <a:ext cx="169100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18BE4D5-82DB-429B-9213-B30241D3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2997200"/>
            <a:ext cx="1691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恢复并继续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7B78CCFA-3930-49A8-9478-5FC366A6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927600"/>
            <a:ext cx="106172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抢占不是异常，它是内存调度策略的一部分。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A7541BA-C610-4211-BD44-B3234F5B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DC510E64-2690-4A8F-998A-3F2DD6B4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15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400835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4D0AEB3-F4A1-4345-968E-377C8F26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69D78C8E-163C-438D-AE8B-48335731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近期研究</a:t>
            </a:r>
            <a:endParaRPr sz="12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98B371A-3C23-4CAF-B10D-9A928FE2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近期研究：迁移与细粒度抢占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AD21D61-FD8F-4F9A-8228-092B0029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75063EB-B1FE-47D4-AB1A-52552774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346200"/>
            <a:ext cx="1079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Llumnix</a:t>
            </a:r>
            <a:r>
              <a:rPr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OSDI 2024</a:t>
            </a:r>
            <a:r>
              <a:rPr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）与</a:t>
            </a:r>
            <a:r>
              <a:rPr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 FastServe</a:t>
            </a:r>
            <a:r>
              <a:rPr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NSDI 2026</a:t>
            </a:r>
            <a:r>
              <a:rPr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）</a:t>
            </a:r>
            <a:endParaRPr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E0FCBED-3EF8-4F3F-A653-6E309F13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0828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问题：静态分配难以处理请求长度、优先级和实例负载的变化。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332DE0A-DDD9-46A7-B850-72460FD7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946400"/>
            <a:ext cx="67310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方法：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Llumnix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迁移带状态的请求，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FastServe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以输出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为抢占粒度并管理状态换入换出。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1A232368-4AF6-4A57-B8D7-1FA7B0CA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013200"/>
            <a:ext cx="6731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论文报告：论文分别报告尾延迟、优先级或延迟方面的改进。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5626BF00-77FD-4E53-A2DA-5430CE14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6600"/>
            <a:ext cx="3454400" cy="2895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F060EB80-9757-4F1A-B674-58F76200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286000"/>
            <a:ext cx="27940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课堂怎么读</a:t>
            </a:r>
            <a:endParaRPr sz="13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5498F10-D670-4B01-94E1-39355903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94000"/>
            <a:ext cx="2794000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迁移和抢占会引入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传输或重算成本，必须计入决策。</a:t>
            </a:r>
            <a:endParaRPr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1524515-7035-41BD-BBED-E63BDD8D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689600"/>
            <a:ext cx="10795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来源：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https://www.usenix.org/conference/osdi24/presentation/sun-biao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https://www.usenix.org/conference/nsdi26/presentation/wu-bingyang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9B09268-1E0B-429F-A55D-9370FC46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4B574F1-62D1-4AC7-888E-C135B90F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962926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65EE574-63BD-496F-A899-F06D8569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9F0901F0-FEE5-41A2-9836-C464E245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抢占方式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930F248-A928-46E9-A07A-4A131D1F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1F84644-16C3-4BE7-AA0E-75E5265C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Recompute</a:t>
            </a:r>
            <a:endParaRPr sz="21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A9DE0EE-3BB2-44B1-BF6A-5740C6E1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丢弃部分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D7BA85C-AB3B-41B1-A9FA-E48361A7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恢复时重新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Prefill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718E41E-3378-4E17-959F-816034F2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节省传输但增加计算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3F371F6-E94F-42FF-90DE-59FE1C9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168400"/>
            <a:ext cx="5143500" cy="414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Swap</a:t>
            </a:r>
            <a:endParaRPr sz="21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391D465-F88A-4D5F-AFD4-42587EE8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796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把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换出设备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91FC27D-C0BB-4373-8688-83B0882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670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恢复时传回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6D5BACD-945E-43AA-8596-44A9564B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454400"/>
            <a:ext cx="51435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节省计算但占用带宽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53B591D-18EF-4208-90C8-D0BC25F5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102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选择取决于</a:t>
            </a: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prompt </a:t>
            </a:r>
            <a:r>
              <a:rPr sz="16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长度、带宽和当前拥塞。</a:t>
            </a:r>
            <a:endParaRPr sz="16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E646374-1C0D-4AA2-A8D8-CD2FC028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EF5DD984-EAF5-4622-8FCD-9BD4A488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28654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2506836-144F-4D08-8C9A-9D222D10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9CB3133D-93E6-4026-BFB0-5451763B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BidKV </a:t>
            </a: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案例的启示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3656C8C-329A-446F-9B49-1AF661B4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1070207A-EC0E-4427-84AC-34D69846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EA27401-1482-4F07-A77E-C926D8A3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只看已等待时间不能反映抢占代价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D69966BC-33EF-49F5-9719-DA103735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D02E37C-A03B-4F06-973C-CED47702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占用量决定释放收益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61BCA7D4-8173-4F3E-A2BB-490CC1AA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F99EA66-8927-49CE-987E-8D312B0C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剩余生成长度影响未来资源需求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19CB299C-4FCC-468E-AE5C-B25B3932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8C87D0A-7280-4E6B-9067-9B3256E8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策略要把效用与恢复成本一起建模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11980CF4-C964-422E-8CF1-D1F73CEE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0165D63-3B4D-48D7-95DE-075886FB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9732A9F-1B90-499D-ACCA-3FFEC9A6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压力会把调度问题变成状态价值判断。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DA4FBC9-154F-4B4F-AB37-D030D8CE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E75C2AF-8F16-44E9-A490-1B17BA95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378391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866B4EB-957E-4E97-A60C-CC9C5566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AD48BB4-FEFF-46FF-97B2-CEC09937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调度日志的最小字段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7DB6909D-CAB9-461E-B2F3-7AF52866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3A732335-828A-4C83-A81D-26685917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3B1D5C3-981A-4689-A94B-038F83A2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2954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迭代号、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waiting/running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数量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2A2FE857-5B84-4C38-9068-DB1D4D46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66D7F83-9D43-40CB-B053-F0206B98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2606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本轮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Prefill token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token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3401BBE4-BB69-4AA2-AC38-C9A96367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9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28E74DDF-6970-4CC1-B341-73F9EEC4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258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已用块、空闲块和抢占量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16AD4F20-2DB3-45C5-9B0F-F9BB50FB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C7A3759B-783C-4D2C-A1EC-0374A40B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191000"/>
            <a:ext cx="6731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每个请求的状态变化与原因</a:t>
            </a:r>
            <a:endParaRPr sz="20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033857BD-B551-46ED-BAA3-A35BA67F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498600"/>
            <a:ext cx="3175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079E700D-C107-4CC4-9F49-6B622E7A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1854200"/>
            <a:ext cx="24638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本页抓手</a:t>
            </a:r>
            <a:endParaRPr sz="14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499D106-2E50-4A88-AF41-04A22458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489200"/>
            <a:ext cx="2463800" cy="737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没有决策日志，尾延迟异常很难归因。</a:t>
            </a:r>
            <a:endParaRPr sz="21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3F55AA5-D187-45D4-9C5D-46B4A335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52673F3-95B4-4580-A1FB-9996706A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062381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34D138E-E367-451E-A6B2-23866C23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6A559023-CAE0-4067-9169-4196461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AA37C-143D-4C27-BE99-791FB9ED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等待、抢占与拒绝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9E34035-3339-4DFC-ACB9-CC24AECC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543A551-9ABF-4702-9C6E-B029C143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473200"/>
            <a:ext cx="51054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含义</a:t>
            </a:r>
            <a:endParaRPr sz="20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C6BAEC4-4AC7-4A46-BD86-FF0A30A7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057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等待：请求尚未获得执行资源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1DF87AB-2F3F-430B-A1D2-DA0AB06A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819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抢占：运行请求暂时让出资源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64976C2-56D8-46C3-9195-F2B9D519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581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拒绝：系统不接收超出容量的请求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0672DDB-8CD1-4B2A-B346-482840C3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1473200"/>
            <a:ext cx="51054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9070FF"/>
                </a:solidFill>
                <a:latin typeface="微软雅黑"/>
                <a:ea typeface="微软雅黑"/>
                <a:cs typeface="微软雅黑"/>
              </a:rPr>
              <a:t>适用条件</a:t>
            </a:r>
            <a:endParaRPr sz="2000" b="1">
              <a:solidFill>
                <a:srgbClr val="907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1104ECA-2380-47E2-B33D-0991F8A7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057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等待保护状态但增加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TTFT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029DDD8B-CB67-4D6F-8687-DDFB81CE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2819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抢占保护紧急请求但有恢复代价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959D426-02E4-4069-AFCF-B9961BEB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3581400"/>
            <a:ext cx="51054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拒绝用于过载保护和明确容量边界</a:t>
            </a:r>
            <a:endParaRPr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B79F930-7A10-4F92-87A5-AB234914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5435600"/>
            <a:ext cx="10668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三种动作影响不同指标，日志中必须区分原因。</a:t>
            </a:r>
            <a:endParaRPr sz="1500" b="1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6AD1EB5-3189-4F13-AED5-BE3C4092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C05D9B8E-B76D-44DA-B54F-A89BAEE8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732736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EB04B7B-4151-4AA4-B81D-98713F48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C0F1F31-A5AF-468D-B4BD-50DE7C12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最小调度伪代码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DA57B46-2089-46BA-B5CA-21599843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9BADE88-30B1-4645-BC83-C9499BB7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6000"/>
            <a:ext cx="10795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先满足硬约束，再比较策略优先级</a:t>
            </a:r>
            <a:endParaRPr sz="15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076092D1-649B-45CE-9610-78B2D37D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795000" cy="3530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50C1B"/>
          </a:solidFill>
          <a:ln xmlns:a="http://schemas.openxmlformats.org/drawingml/2006/main" w="12700">
            <a:solidFill>
              <a:srgbClr val="364B6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5DC97DF-C8C2-4C6A-86EF-0A3B8DD5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5800"/>
            <a:ext cx="10185400" cy="166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free_finished()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budget = make_budget(kv_free, max_tokens)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decode = select_running(budget)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prefill = admit_waiting(budget)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if kv_pressure: preempt_or_swap()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algn="l">
              <a:buNone/>
            </a:pPr>
            <a:r>
              <a:rPr sz="1700">
                <a:solidFill>
                  <a:srgbClr val="F5F8FF"/>
                </a:solidFill>
                <a:latin typeface="Consolas"/>
                <a:ea typeface="Consolas"/>
                <a:cs typeface="Consolas"/>
              </a:rPr>
              <a:t>execute(prefill + decode)</a:t>
            </a:r>
            <a:endParaRPr sz="1700">
              <a:solidFill>
                <a:srgbClr val="F5F8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F3F91FD-684F-40A5-885D-B916C4CF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86400"/>
            <a:ext cx="106426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把策略改动限制在可单独测试的选择函数中。</a:t>
            </a:r>
            <a:endParaRPr sz="1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6562D9-088A-43A6-898C-391C7AF5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978C5362-2EC4-4BF3-B20D-88A44652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142989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E940A79-C5A3-4993-AB79-88CC5607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4FAA5AC3-AF1F-4A53-9192-BFD55336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79400"/>
            <a:ext cx="228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初学者补充</a:t>
            </a:r>
            <a:endParaRPr sz="12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5FFDDD5-EC93-4A71-998B-7BFF8554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60400"/>
            <a:ext cx="10668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调度策略的验证问题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ED770D8-F0C7-4B3F-9EFA-02CF8854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413500"/>
            <a:ext cx="9271000" cy="229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9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</a:t>
            </a:r>
            <a:endParaRPr sz="9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0C850EF6-5C33-4E8C-B104-1065E0E1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6637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AB0C2A8-7F10-42C3-85C2-C75AC9A2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是否减少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P99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，而不是只提高平均吞吐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4FF81EA-A539-4624-A151-6BD90822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5781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4E36D25-DBDD-4EA3-8CCE-DEAFF1DB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是否让某类请求长期饥饿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9D65E05D-BC42-4CA0-BB4F-687EDC3A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925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66F2F41-AD18-413E-AEA8-8676DF21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是否把开销转移到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迁移或重算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FE4E0AA9-C7A0-4E04-9E24-63945836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06900"/>
            <a:ext cx="139700" cy="13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2863D37-E1CF-436C-805D-F2E30190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040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策略在低负载下是否仍有额外代价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26994B29-315E-4A03-85FC-851707BB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600200"/>
            <a:ext cx="3352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13D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0FE093B5-77F1-4143-A027-F11459B8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2730500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先这样理解</a:t>
            </a:r>
            <a:endParaRPr sz="13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4193B09-18F8-4A32-B61E-B15809FA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438400"/>
            <a:ext cx="2730500" cy="1014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一个策略至少要有正常负载、压力负载和失效边界三组实验。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7B46360-A601-439B-8795-B7DB8454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CFB73D6-3DD2-40E3-8D5E-C81B79AD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8472254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2DC44-8DFE-406A-BCEC-CCEBB59F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B4ACB-055D-490F-A282-52A64D2C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68F5E-9CAD-48D9-89E3-D1F9FB87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1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1CE4F-71B8-42A8-A04A-E406BF73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队列为什么会突然失控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5EB39-9C77-459F-B509-E3134B47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F83BB-3B52-4FD8-AE68-19DF92E8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9A747-7D03-41F3-8456-19A6670A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73073-0769-4579-93BB-1292FF18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3D05E-E9B7-4EF7-A47A-D9D742DA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E2DAC-5638-4D3C-BA4B-77EDDDF2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0E4FD-C266-4BA6-B1F0-FDFBDA1D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从 λ、μ、ρ 建立最小排队直觉，并认识突发性。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919FB-1C02-4F67-951C-35D5CA46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3AA2A-7340-498D-BC2C-C3F75070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125754703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C0FBD5-A6F1-4184-B3B8-F44832A3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B3C0E-CED6-4FAD-846A-356DB895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E173F-DCC3-48D4-8B8D-271367FB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F74D2-A7BD-4722-AB41-706A5496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队列为什么会突然失控：四个必须说清的点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8B932-FE17-44E0-9DAE-158286CE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D0ED9-F91C-4C3A-BAF5-E4A46E54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18E05-BCD2-4228-AEC3-C18135F1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82F74-DABC-48D0-A876-BC07135E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87EF2-E056-42BF-BA2E-1E0D8282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472F1-9270-4EB7-A479-575528F4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FCCBA-2D94-4DD3-87D7-E25AA003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17AEE-0C22-4AC5-8E8D-180C6A96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到达率 λ 接近服务率 μ 时，等待时间会非线性增长。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E660C-4C8C-42CE-8F32-9AB57209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8B83E-C779-4CF7-BF10-0363D8C2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1AF49-98D4-4632-A478-FDECEA19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77B66-8FB5-4F7C-8080-39364059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ρ=λ/μ 是直觉工具，不是对复杂引擎的完整模型。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A6539-AED8-422F-A649-44F17E73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09B37-7736-43F3-8D6D-3B4EAD72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E7CC6A-B4ED-4EE0-90BB-04F2E0CB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D6B44-319B-40D4-A7E9-7A3B960B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服务时间受输入、输出长度影响，方差会放大尾延迟。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1873AC-24F2-49CA-B054-A53EE881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5769D-F673-4047-8F40-29B1BEB9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19AB04-79C9-4443-B3F0-BAC9E476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E8782-C405-4B27-8956-ECD104E2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稳定系统要求长期处理能力大于到达需求。</a:t>
            </a:r>
          </a:p>
        </p:txBody>
      </p:sp>
    </p:spTree>
    <p:extLst>
      <p:ext uri="{BB962C8B-B14F-4D97-AF65-F5344CB8AC3E}">
        <p14:creationId xmlns:p14="http://schemas.microsoft.com/office/powerpoint/2010/main" val="13632978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756D1B-4E0E-4C7B-82E0-A540094B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6C729-CC32-473F-93B0-5089A61F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E3578-C17F-4E64-B152-0D1DD01F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F971C-CB53-4D3C-B291-E587F370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队列为什么会突然失控：把结论算出来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FF693-B703-4BB3-A580-54562108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FEA4D-61E6-4F67-86FF-0BB93B35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C87D6-66B3-4472-9D6A-8D2917D2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9D491-2B38-40A4-9E65-6D532B88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6A4BC-3761-4A05-B8BC-D18F6051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3EDB5-20CF-47C0-816A-171C5712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12001-C616-4ED5-8AAD-1E6DF179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606A9-2584-4FE9-A4AD-6A1B48DD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引擎稳定处理 100 请求/秒。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224B0-3E7C-4D13-A1A7-F302CF00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EB573-1D38-4512-B8B7-3F305845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C3C3F-86C7-437C-8406-EA12AD13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A21A8-C4EA-48A0-BB83-CA9A25EF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负载从 70 提到 95 请求/秒，只增加 36%。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2349E-78BC-465D-8C97-7F3FB583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A7BEE-F735-4BE8-92DD-B8FEF4E1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68E12-E9DC-439D-ACAD-595CE3A1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C8F8E-FA1E-4061-9D3A-5FFE50A5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但空闲余量从 30 降到 5，吸收突发的能力下降 6 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BC713-EF3B-4867-9AB5-28330C8E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2948D0-076E-4857-8FAE-92AF744A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BF83E-54B3-4534-AED9-8969EF77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FC0B56-B586-45BF-BF49-600C8C1F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短暂突发即可形成需要很久才能消化的积压。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7CD61-9782-4F70-BBB4-5D07DBA2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25938933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73718C-2900-4CF1-AE99-7F85E5E2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B9D9C-D81F-450A-ADC3-D55DA08F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EA811-04A9-4A97-A678-ECE9FEFF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DE11B-AEA4-42A3-A3C9-A895B519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队列为什么会突然失控：五步走通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C24A3-3A63-47DD-812C-578B8590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D5F2D-0230-40F0-8631-D0226B67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4A8AF-A144-4726-9C34-61537347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79A81-9503-47AF-9B48-A5280AED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59215-F469-4B5B-98DD-7F345435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CCC1C-521D-4065-95F8-BE574B68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ABFFD-8C2C-430A-BEA2-CB9C2D63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测量稳定服务能力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6A20E-BC59-4A3F-A4EB-AD7CE155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7A120-4442-477A-BB21-260F36B0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D57EF-9134-4BBA-89C7-416D2466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9B00A-40BB-415D-98B4-4236CFE9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逐级增加开放环到达率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A6B90-2B19-4873-A212-CEE13869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183C8-3DDF-46AC-8821-FB075388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1A53C-1414-4468-A434-4434A43C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CA2E0-3306-4909-A33C-AE8958F0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记录队列长度与等待时间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F2FC8-8042-4003-BF03-8639E85A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A13136-0583-4D58-A03C-2B7FD14B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38D8C-521F-4798-A582-631D062E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DD8DF-EBE6-4EDA-9261-9C517C58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找到延迟拐点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E4CA1-29A4-410C-B256-14979FDD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C1FDEF-237A-441F-BCBC-81463594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8C33BC-C64E-4DD3-8114-0A661131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2C0977-E7F8-4935-8DC3-C7ADD885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在拐点前设置准入策略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B530B-B0D2-4776-B47B-250AD382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83171C-0241-4505-8A10-AAD324E4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85786506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5EEE1B-791C-4C11-B1F0-544EDB04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32CCD-4AC9-4953-A904-7033F7BF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FA6F6-D429-4C53-B5F7-737D448A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642AA-EA74-4DB0-8424-E9694693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队列为什么会突然失控：四个看似合理的误区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8EA47-0F5A-4E65-8207-FD1A6E84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C7BC4-AFB3-4363-BCCD-47E866BD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76045-4D02-4C66-AD88-2873A6B7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0BA69-94D5-4FA3-BC05-162CD36B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A2E44-DD65-454D-8815-4C6D72F9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22AFE-488D-4EA2-A681-2D8992C2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86215-26ED-456B-BF78-1222467C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把峰值 μ 当长期 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1ED3C-4B32-4CD3-B68C-7BA36761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88D47-EAC9-4311-BD15-C4D29D4C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41D15-9175-498A-95A1-241A2BC6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用闭环压测隐藏排队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0EF3F-D4AC-46FB-9C4F-440FF299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A5C0D-D479-46C9-9028-E5B05FAE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E7227-6C86-4992-9E3F-CF0D617F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忽略长度方差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B4F64-94FA-425A-B915-10A0E743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AEBC8-DCF1-4E9E-9ED6-C110AB92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DE64A-41C7-439B-9071-281C406D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只看平均队列长度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BB45E-818D-46DF-92E1-630F6DA7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38715503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D91EC-A146-4166-85A1-51294D86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EA75F-6954-4414-83AD-9FA1FC17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7C538-6496-4F20-959E-E2C0C36C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84A1C-D0C0-418E-A5FE-7C770323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队列为什么会突然失控：10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28328-057C-4ACC-9B64-93A06601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E2689-8002-43BB-9BB4-BFB15ADC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2C862-3BA2-45A2-9403-1C15C7D3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55317-DAC3-4596-8BE3-00F64CD5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39EAB-D3AA-4A2E-8F38-FC54B511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7EFEB-E8F2-43B1-A20B-D0C6AB3D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3CFDA-F2D8-436B-80EA-7E1AD2CB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42920-5C19-4E8C-8452-11C60B04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ρ 接近 1 时发生什么？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DCF05-4C7E-4ADC-9988-B6B5748D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71EBA-64CD-4E0B-959A-EF6F3B4A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7A774-013F-4873-BD54-E8C0D5FB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856D4-647F-46C4-A184-C95DD6ED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为什么长请求会放大方差？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2F081-1842-45AC-B136-A972B5BF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98D54-2271-4147-9A32-DAC0BE41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20302-88AB-414B-884B-6741AA47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FEB44-747C-4696-A012-2ADC1900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开放环负载为何更能暴露过载？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40FB0F-586B-4AEA-82DA-F54C1479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B50505-A444-45D1-801C-07763193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带走一句话：从 λ、μ、ρ 建立最小排队直觉，并认识突发性。</a:t>
            </a:r>
          </a:p>
        </p:txBody>
      </p:sp>
    </p:spTree>
    <p:extLst>
      <p:ext uri="{BB962C8B-B14F-4D97-AF65-F5344CB8AC3E}">
        <p14:creationId xmlns:p14="http://schemas.microsoft.com/office/powerpoint/2010/main" val="140416382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9685B-DFE5-4870-BCA6-C993FA02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AAA1A-071D-40A0-8A29-38CDA0AF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395C5-0BFA-40A9-B57D-1833CCDA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2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0AFF3-A877-4182-8407-91722C8A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连续批处理的每轮决策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0D751-2A65-4BCF-9C0F-39EC6744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32ED5-4146-41E8-8298-5980BDA3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BA190-5034-414E-BBD8-3F5997BE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E02BD-F3A3-46FC-97D4-D8AECA72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F09AA-8D63-4169-8D86-6DCE70F8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4127A-2C2F-4565-BDF0-27F83AE7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DDBCD-3004-4D50-B04C-CCA7DBCF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看清调度器如何在一个 iteration 中组合 prefill 与 decode。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4FB52-B959-4303-A66F-A8FBFB9E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2800E-3760-4B6E-A890-DB161E20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202672344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C7E76A-8A4E-4F37-B74B-059F4B69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72530-2692-4764-A62D-A80987AD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3FC29-EB60-4CAA-ADEE-B6320263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53BDC-9B14-4861-9F23-B4F2B4BD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连续批处理的每轮决策：四个必须说清的点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495EC-A60B-49BC-BAFC-07E290D1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A940E-D31D-49FC-BDC2-B093581A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23840-2F3D-4E2A-8553-88B8C11C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DB027-6D9A-417E-9CBF-A68DF73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47FAF-13C2-40B5-9BC2-7B6563EC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E5C47-D06D-455C-9B33-65326B06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8E93A-49D7-4339-A29C-AA56091E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AAB6A-720B-4402-97F8-563EADC3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连续批处理允许完成的请求退出、新请求立即加入。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E6116-0820-42E7-ADFC-A88E0F4C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06F40-AC19-46DB-A22C-ED0531E1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D2D09-1A5F-48D1-8479-EC1FF9C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13B3E-C062-4DE4-B5CB-9CF111CE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调度器分配的是本轮 token 预算和可用 KV 空间。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11EC0A-FB21-429E-AB05-3120B841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AD1CC-DD1E-404F-87DB-1A6DC160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E0768-AA06-4F61-A3D0-B1246A12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82AD5-1440-41F2-93B4-CDDC0658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decode 请求通常延迟敏感，长 prefill 可能阻塞它们。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4A2CD-F1D8-46AC-B88E-5AD3F8B4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8804E-6A94-4D71-8354-1E1E24C3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0F5E4-C6AB-47E7-A80B-F6C00308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979CA-A336-4CFD-AE31-47261AB9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chunked prefill 把长输入拆开以改善交错。</a:t>
            </a:r>
          </a:p>
        </p:txBody>
      </p:sp>
    </p:spTree>
    <p:extLst>
      <p:ext uri="{BB962C8B-B14F-4D97-AF65-F5344CB8AC3E}">
        <p14:creationId xmlns:p14="http://schemas.microsoft.com/office/powerpoint/2010/main" val="173380776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A6DF05-AA81-49BE-A64B-AE404B58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0B36C-C1B8-4A18-A4AF-C62098EF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F28C3-4D62-4AB5-81FF-68746F30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61416-7B85-4001-8E81-2E43CE18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连续批处理的每轮决策：把结论算出来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BFDE0-7A9E-465F-9A63-B10842C6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7036C-89F7-412A-8337-5D8C7C98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12E25-2521-4EC9-93F7-7097E557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B80B4-4AA4-4F8B-8697-4E0755CB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3341C-278F-452A-81D9-E72C3F5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451DA-3FBA-48E7-B293-E61E8FF1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80076-5098-4B50-904C-859008AC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29A72-EEEF-4378-9691-9F3712EB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本轮 token 预算为 16。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36F72-A655-4EB2-96F9-B4AB6AB3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87A6B-8F60-43DE-9961-970536C7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14E0D-B241-4383-B94E-345CC9CC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A0E20-6C30-4BE9-80ED-BC3B68A4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已有 8 个 decode 请求各需 1 token，剩余预算 8。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72C03-15BF-47E1-9562-A18AE8CF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890A7-011F-42B1-8D7D-4AA79DA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B3286-5756-4F01-8E0D-DEF557DB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3B7CE-D449-48C9-9945-8698B3EA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一个 40-token prefill 可先处理 8 token，余下留到后续轮次。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1E0D8-D83B-42C9-BA56-5C4DF7D7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04B3E-9527-49FA-BDE5-776EE441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63CF0-AF14-4980-BF09-B217A2E9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83A2AE-0E01-4EE3-987A-D484EAF4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这样 decode 不必等待完整 40-token prefill。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E039D-A855-4018-A90E-10308FD8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207388282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2566F-B878-45F9-8BEF-B68482FC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4FC4D-D4F7-4FC7-B768-196EE05F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E2D7E-A6A5-4521-A813-7749C74E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A3704-3531-4098-947D-87C7317D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连续批处理的每轮决策：五步走通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8D095-AF58-4A5D-AEB3-03DD8465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80DB6-B739-4C71-AAEC-A0AEBD98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5C2B1-448F-4EFF-941E-01D94891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4019C-E015-4604-BE99-C235360F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D8388-50D8-4A73-BFCE-AD6342D9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EB77D-E926-4982-8FE4-599177F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24C74-B927-47D6-B6C0-4C777E0D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读取 waiting/running 集合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87162-B5DA-4886-B0AD-C17CF3CE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F7574-4EA8-4A50-AE71-547AEABC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3D70D-C867-40A2-A35F-0AA42676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7A6DF-4B21-483F-9238-AAC041B6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预留 decode token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7B217-A566-4BBA-BCBE-CDC1E58F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5508E-9A3B-40E6-A630-C89FADBF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B0EA2-2766-43C1-B262-3900FA26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4FC2C-F57C-4F73-AFA6-89CCE7A8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按策略选择 prefill chunk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440A3-8E0D-4601-9E94-C480E951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5618F-9052-4728-B69D-1DE91B06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2BF3D-1B9B-426D-A1BB-E1AC8336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13F5A-B690-44AF-80A5-2F44D7B0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检查 KV 容量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09D1F8-775D-424B-9D2F-935064CB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2CDCC-F9DD-4F06-A045-E13715DE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42A6AE-B0D5-4BC3-BBF1-9C932241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650FE4-A54C-4B41-9FAF-587E0FC6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执行并更新请求状态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5129A2-95A8-4BCC-9B1B-68D80888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8FFD8C-DD94-4ED8-98F0-43974BAF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1216706728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9EB91-63D8-4306-AE57-6ACEE64B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CB5EA-81A4-4F56-9C2E-B8E58A4B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BE89E-978A-4349-BC12-8A0A02D1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50EEC-E53C-48C8-9648-9BBE6D05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连续批处理的每轮决策：四个看似合理的误区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8B864-D59F-4C32-A572-D9E40C73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00C8A-D252-41A6-A2B6-ED680D19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06085-8D47-49D7-A8AF-A9143158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1DC12-5508-4D9F-BAD5-46F66FFF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4C970-200C-4318-9E8A-FD7FC96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89D35-8FD8-4C13-91BB-E7AA2F7E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3A6E4-F745-4904-85EB-1F3A701F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预算只看请求数不看 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8CD8C-C86C-445B-A66C-823B3FCC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BAC75-E3DF-415F-8887-66115D3A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49225-1851-455A-B827-1C1C7B75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prefill chunk 太小导致开销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697BC-3ADA-43F7-892D-2B18E0F8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56786-0DCC-43AA-84AA-784C14F6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B94D9-B635-4817-B8B4-C5E5ED91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固定优先级造成饥饿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87FDB-C57F-4829-8262-8DF8584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522B4-D511-4EAD-B543-AC3457D6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F74B5-3A5C-401F-83B3-12C97E4B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状态更新晚于资源分配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677D7-8DF5-4144-972E-B0C28704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910327818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ECB94-3BF1-49CC-9156-7D27C6AB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0AC97-BAEC-4355-86AC-83C1F9B7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EB062-11C4-44A4-8948-A351F5B3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76E2F-435D-4A27-9978-0A69CEB8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连续批处理的每轮决策：10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23F99-D7EF-42C3-B935-040FF95E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96A4F-4AE8-457A-886C-E2CAD233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D8F9F-BFBC-4A2B-B718-5D5D53CE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B7411-D9B7-474B-BDFD-1EC8E104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FA265-2F0E-47EB-A18B-26E34611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369CC-07DC-4E2F-A5F5-BD038409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ECC83-910D-43D8-BFF4-7092DD1C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C0681-E77A-4038-9E45-6D5F3BDC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为什么 token budget 优于 batch size？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07882-4F58-4EF2-8AB9-F5CB0A25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6D858-0EDC-46DA-A435-F37E7BF7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52BEC-2F00-424C-883D-B6705F8C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5EF4D-FD8C-4954-9565-B7EACADE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chunked prefill 牺牲了什么？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2D2D6-1EAB-4EDA-BE08-9BB80E98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A1DB8-B481-4469-9032-1A160ECC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EC2FA-60E6-42DF-B7CA-B6373267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C5B5D-2791-4B39-8E17-875000F9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何时应优先 decode？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CB333-E823-4E6A-87D7-12B9F43C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D8B420-450B-4507-956F-63AB8EF5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带走一句话：看清调度器如何在一个 iteration 中组合 prefill 与 decode。</a:t>
            </a:r>
          </a:p>
        </p:txBody>
      </p:sp>
    </p:spTree>
    <p:extLst>
      <p:ext uri="{BB962C8B-B14F-4D97-AF65-F5344CB8AC3E}">
        <p14:creationId xmlns:p14="http://schemas.microsoft.com/office/powerpoint/2010/main" val="68405597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4E4A6-1D91-4F8F-B672-98B89C78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3CF6E-368D-418E-83D1-998A8056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2004C-AAC6-45A5-A9F6-BD33FA01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3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2BDC3-E4DD-4F37-ABA3-2CFF9DC8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KV 压力下的抢占选择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91791-D071-4D31-BC68-48259969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A72F2-4734-449A-8A5D-15A682CF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76B1A-0E22-4D0C-9650-FE495C75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46393-601D-4694-84D5-611831F3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38509-8F4B-4AFB-A902-D0C2A5A1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C7F62-8711-4053-90B1-94288136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DAA36-5F58-4DE0-9FA2-365907AB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比较 recompute、swap 与拒绝请求的真实代价。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40DD8-801E-4B78-873B-47E1E2B7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EE50F-C467-46E2-AE5A-139C889A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484047108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F9F468-0CDE-458E-8285-11400B37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B1D16-7527-40CA-8F14-376933AB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BBE63-55F8-4C08-BD69-2A17AE1D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A8255-409D-415A-A446-424F19C5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KV 压力下的抢占选择：四个必须说清的点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3881D-AEE2-4A5F-93D4-13372B82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806BE-CDB0-4C72-9300-118AC117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D2174-A69C-45BA-BF37-0645D567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5181F-B11E-4A2F-BD73-5A3DDFB0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806AB-CC3A-4282-BB5A-5308CD33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64EF5-BD47-4ADE-9938-77D1A6E7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C3DDA-F6A8-46C9-9D30-423C2178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C8CAD-DB11-41B0-B23C-3EB2675D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KV 空间不足时，新请求不能只靠排队解决正在运行的占用。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2D906-7C0D-4052-822F-107C7135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ECD63-D546-4C98-BD14-A87F204E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A9182-813F-4AFC-857F-66EE4DFB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30F91-6054-4E36-8EDE-BB27D7F3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recompute 释放 KV，但恢复时重算历史 token。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C8B32-81B7-4544-8135-8D81149F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5EB3E-63D0-43BF-BAFF-7B9A817C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525A5-0BF3-4444-9E1C-C920E3AF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62A59-57DE-48B4-A8B5-2FADDF92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swap 保留状态，却引入主机—设备传输与带宽竞争。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860BBB-653D-4F69-8822-30DD6187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D32E3-6DB1-475D-BC42-3F4A2D4F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A6FAFF-EB02-4322-9400-A79D36D3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A233D-E311-440E-9EE8-92B88EA3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选择取决于序列长度、传输成本和延迟目标。</a:t>
            </a:r>
          </a:p>
        </p:txBody>
      </p:sp>
    </p:spTree>
    <p:extLst>
      <p:ext uri="{BB962C8B-B14F-4D97-AF65-F5344CB8AC3E}">
        <p14:creationId xmlns:p14="http://schemas.microsoft.com/office/powerpoint/2010/main" val="57882734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D7CDEF-8BCC-4056-AE6D-76910063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AE108-892F-44B0-8CEF-4A773B2A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49507-30D7-4446-A5CF-56B7A21A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DC2E3-D0B0-4883-92C7-D4F3E094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KV 压力下的抢占选择：把结论算出来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97D93-2F81-4B59-A985-F4530ACB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BD258-70F9-43BD-92E3-0E397EEA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BD212-4DBC-461E-AF09-142B62B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DF41D-257E-42E9-810C-5E702DEC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39060-7562-4D8B-AAF5-5A90F0F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A8069-4CB4-4E6A-B998-1A87685A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D97AB-A9A5-4EC3-AA07-74975391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7E8A8-18A1-4676-B762-AB8D74D5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请求 A 已生成很短但输入很长；请求 B 历史较短。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DAFFF-CD15-4DE5-A6D2-C9B4A2B1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B84FA-C447-4B57-AB66-580E76DA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A7DE0-1931-4E72-8CF6-5654AB57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6FA9F-1904-4E2F-AF59-12CF8BF6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抢占 A 后重算代价高，swap 数据也大。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75788-823D-4528-9E7B-BF0C7B3E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70897-3A24-414D-AAB9-CFD57B8F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75B74-C951-46BD-8500-B441524E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57B34-D2DF-4BD3-B537-26416F15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若 B 的 SLO 更紧，可抢占 A；否则可能延迟接纳 B。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BEC42D-3977-46D3-AB33-79280A71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856B3-3F48-4E02-A833-E3859B64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DC0581-90C1-40D3-9E47-AA29A355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2FB44-1D5B-4327-87E2-783C7F9A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调度决策要显式计算机会成本。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5A3CAC-8D16-4743-8056-DF802C97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80312201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5DDE8E-D2D1-45AC-A08A-1965B293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AFBC1-CF27-4924-BEED-B5F361A7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62374-284B-447D-84CF-F03EEC9F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DF8A6-E87C-445C-91DB-6695EF2E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KV 压力下的抢占选择：五步走通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45C95-8275-4184-9751-59B0B8A2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C317B-1AA9-449C-9A73-4BFA4E06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872FB-68FF-487D-88C2-E1590AAC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F55AE-A8F5-4FFD-9910-391936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EE2F7-3BAB-4D84-BBC3-A4B61D45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81BA7-58EB-4204-8184-AC7140A9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E7CB0-947A-4C95-A54C-5F0EB32D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预测本轮 KV 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B35BE-CB1A-4C5F-8D53-B16E806E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3ABFB-7AA8-40A6-ADE2-2951BBDB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F4A6C-80F0-45D6-859E-128F5391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FFB94-1E15-4B14-BCE3-0A33C26B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选择候选受害请求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7A96D-23D6-425D-BBBB-79C4D2DC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BFD12-E784-400B-9F05-64F18FD1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BB35D-4C56-4FC0-A27F-562843BF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6A170-FA2C-40CF-9F76-FBAD7009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估计重算与迁移成本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B35FB-4036-47BD-A79E-97B1CCD3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0AD16-6289-41AB-B663-16E7DF4E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CC70F-3906-4457-8CDF-DB1ECD54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41781-73AC-4B08-8420-8C1E3DBE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执行抢占并记录原因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81613F-EF31-4834-B711-8F611A83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B46992-5BE7-48C2-A761-3911D90E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AD5B0-C68E-4619-A3FC-8058B3CD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7C0AD0-CB11-46F2-997B-184F5520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恢复后验证公平性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D3D55A-5D15-4F69-9CA2-1F0ADFEF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214C2-11DA-4036-89CB-8965436D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1533372398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A0392-6A03-4D57-B829-EC86DA27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C3ECC-E7BD-4BC7-8601-F866F52A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5C6AF-D370-427F-8315-D3284C86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F8C76-5E4B-46A4-8332-67AED68E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KV 压力下的抢占选择：四个看似合理的误区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68A7E-91A4-465D-9D47-02B64D5F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E66D2-72F0-477E-9558-F2CC7E7E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95B08-6368-4382-B72A-AFC4AB14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B6C12-7A75-4DED-8DAB-36C25D73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440C8-E783-4ABE-AC89-3A0790AB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42B8D-9C07-4DED-9B38-92AF6691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F7973-F495-452A-8ADB-13972755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随机抢占造成抖动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5CF58-6737-4C3F-B702-3383C450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027FA-5B8E-4963-9954-4677E5E4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CFE15-07E2-4AD7-9422-9DA61D31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反复 swap 同一请求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44E24-54AB-48E8-8C30-014D857B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CA2A3-0469-44E9-8CDE-E27C3D1F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F24AB-B504-427A-84E1-960AA64E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只按到达顺序选择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51DE1-B943-4AA8-BB04-D5DBAE5C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805E7-229D-41DE-999A-6382D4D4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4D360-DD23-494E-BF26-211DB642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不统计恢复成本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F1EDD-828D-4803-B0F8-4728AE14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1389939788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4CF63D-5FB1-4657-A63E-AF889369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0A633-E175-4331-82FD-BC809B27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89C7E-5017-4A71-9D35-4D099350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D588D-CB6E-47C8-BFBE-EB30EBAE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KV 压力下的抢占选择：10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5CDAE-4CD6-4791-AB89-305CA099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FB6F1-11BD-44AA-A782-A0ED9440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AA3F4-017C-4089-A20A-2C03CEA4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712C1-C65A-45B0-AAE4-AF77FCE4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9DD9D-27A2-4AB9-8A3B-AF61B2F6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CC5B8-7886-43F1-AEBD-92BDB6E7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B8D4F-6B7C-4C85-8A66-FCEFE882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1A168-E57C-4E30-B16D-4A9B168D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长 prompt 更怕哪类抢占？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6992B-961D-403A-8585-BA52A209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E8EC7-85A1-4E0D-9D51-CDACAD8D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EDD76-ACAE-4548-A17D-80B8ECEF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5B661-C103-4557-AA2D-49F923F1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swap 受哪种硬件资源限制？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46018-4737-4634-8D26-5B980FE2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06D37-C6A9-48FC-A89C-0B67CC1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ED351-6AAD-477B-8FC7-4C6FB8F8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9827C-EBA6-4131-B5B6-DC218882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如何发现抢占抖动？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080069-8BE6-4C08-9637-ED071467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2D0B2-C9E8-4319-BC0E-7AFE4778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带走一句话：比较 recompute、swap 与拒绝请求的真实代价。</a:t>
            </a:r>
          </a:p>
        </p:txBody>
      </p:sp>
    </p:spTree>
    <p:extLst>
      <p:ext uri="{BB962C8B-B14F-4D97-AF65-F5344CB8AC3E}">
        <p14:creationId xmlns:p14="http://schemas.microsoft.com/office/powerpoint/2010/main" val="1160483992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88A24-8533-4629-93E7-829F87B0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38628-F603-4A14-B183-2B544DBD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914DE-9827-4637-976F-6B684B63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扩展模块 4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C302C-8615-4C27-8F7A-D4DAC241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公平性、SLO 与准入控制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A05F9-F58E-457C-9B7D-E6A4B201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32278-52BE-4342-BC33-2866AB78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9E015-412D-4F22-980F-7818BB89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E161A-C97A-4A9B-B347-96F4F778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543D4-33E6-4344-B9C1-2263F305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EEF1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CFB67-2E5D-4E1F-B166-4958F548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本模块目标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351CE-B1A2-41E1-973B-DEB98FBD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在系统过载时明确谁等待、谁降级、谁被拒绝。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F7E38-6794-4474-ACC1-F020D864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C315A-2181-4612-BAB5-32286AAD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学习完成后，你应能独立解释机制、完成一个算例，并指出至少两个常见误区。</a:t>
            </a:r>
          </a:p>
        </p:txBody>
      </p:sp>
    </p:spTree>
    <p:extLst>
      <p:ext uri="{BB962C8B-B14F-4D97-AF65-F5344CB8AC3E}">
        <p14:creationId xmlns:p14="http://schemas.microsoft.com/office/powerpoint/2010/main" val="1569296276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8EE89-39AC-480D-A7DD-3D37D148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FC7A3-8868-4CF7-8879-0405CC68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78963-E553-40C2-89E9-E9E89AB0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概念展开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846B9-28D2-4D7D-A07A-E4041449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公平性、SLO 与准入控制：四个必须说清的点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2BE73-6897-4AE9-9CAD-8E614A90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17CCF-6BEF-4A5B-BC2C-FB587EE2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B3EE9-B313-4B43-A74C-3473A45B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17F6B-49E6-407A-BF5F-B5D8A2FD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FDE8A-4E28-4009-9CA0-E1AA0240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E15B9-8EAD-40D1-8CBE-ECE13D01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658DD-F822-4E11-B01B-A713B5FD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1. 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10122-51DD-4AE1-A555-9D572FD9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调度策略隐含服务优先级，必须能解释。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E3DD3-C560-42EE-B66A-05586591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88F68-3A11-45F0-92DD-EF5519B4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AA4E8-0AB6-4411-AC5C-7B5BEB70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2. 机制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DABE1-380E-42F1-87D4-10E558D5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只优化总吞吐可能让长请求长期饥饿。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A3A69-71B0-47CD-BEB1-01AC5CF7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F2591-53B7-4997-B107-08796313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D341B-4E30-4581-9D58-DE616151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3. 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B47AB-3B42-4EC3-A241-0351F8F6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准入控制把不可避免的失败提前并显式化。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3E28AF-56E7-4418-9497-81C5A566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5143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76DF3-6497-480B-92DF-CA8D7E93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0A4255-5E22-4A9A-8DB8-9046B277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4. 方法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2A74E-523A-4D99-B410-A242FD60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多租户需要配额、权重和隔离共同作用。</a:t>
            </a:r>
          </a:p>
        </p:txBody>
      </p:sp>
    </p:spTree>
    <p:extLst>
      <p:ext uri="{BB962C8B-B14F-4D97-AF65-F5344CB8AC3E}">
        <p14:creationId xmlns:p14="http://schemas.microsoft.com/office/powerpoint/2010/main" val="516363020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616989-F23B-49DD-8D84-8E16D900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625FB-34C5-42D9-8515-4E1F35F7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87446-60E9-41E7-8DB9-BA8F8F3A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逐步算例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220C2-0E43-4144-A2A6-514B10B6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公平性、SLO 与准入控制：把结论算出来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775FD-ABAC-4155-975D-DD7C273F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744AD-D37C-45F0-96EB-0E79C5ED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6052B-E7DB-41D3-8636-00529B20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90C8D-6723-48DE-AABD-9A647B4B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176C6-1F4F-403F-A5E7-B9FA9B03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05CD7-77EF-4069-A596-585B0B7D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84C8D-7C6D-4723-A3E1-6113BB7E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880BF-B93B-471E-805E-68B2B8ED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队列中有 50 个短请求和 1 个长请求。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62E44-2449-49E4-930D-864818E9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7FA45-5825-48A7-8724-3A233D06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1F0C4-09D1-46E6-BF5B-70A90A16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92431-5CFD-4259-9E0C-16AC8351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最短优先可降低平均时延，却可能让长请求无限等待。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86BF6-87BC-45BC-B6D3-1F8CA5FB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86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021C9-5101-4FAF-BE88-13470DC3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E6B34-189D-4FC8-ACD5-A77FD1E9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4E969-DCC7-4DFD-BB36-AF738A95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加入 aging 后，等待越久优先级逐步提高。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7C06E-F396-4FB1-A92B-D7FF30E3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3426E-E15B-490A-A7C8-4323B78E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117B6-C9EB-46A1-8A4C-E2F1B5A1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A157F-DF96-4416-B9BA-2E18CA6F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系统用少量平均性能换取有界等待。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3EA72-DCB1-497B-813A-3E43A6C6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课堂要求：先独立估算，再核对单位、数量级与隐含假设。</a:t>
            </a:r>
          </a:p>
        </p:txBody>
      </p:sp>
    </p:spTree>
    <p:extLst>
      <p:ext uri="{BB962C8B-B14F-4D97-AF65-F5344CB8AC3E}">
        <p14:creationId xmlns:p14="http://schemas.microsoft.com/office/powerpoint/2010/main" val="45361539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D026CF-C8AB-4035-A3CF-FCFC5E29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E07DB-095C-4C81-B05D-E0696CFD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4EDDA-8544-4A33-839C-E3E089EA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70239-7973-45AD-B74D-E5075C0C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公平性、SLO 与准入控制：五步走通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BCE96-8BA3-47BF-922D-C40EA9B1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38163-FC49-4E85-9155-78DFF4C9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D8841-C4EE-4708-9660-ACCC4A71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118F0-6D4F-4553-AC91-CBF2BCAC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30A08-91EE-4F58-94E9-EF2145E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B2E40-D489-4000-90DE-BFF31B9C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F5088-F636-401B-8917-32861C8E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定义租户与请求等级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35739-7A77-434D-8A4D-510C7CC4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CD0E6-C215-4B64-A88F-8D747501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637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FCE8D-A39A-4F17-93CD-7A412506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37B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DAD74-5AD6-4756-A814-ED39218E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为每类设置 SLO/配额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7D409-5D47-409E-AE14-B4F731A2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89757-1CEA-4995-A0B2-5EB6588C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758B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32078-70E3-4AEC-85AB-A91AD79A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58B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13E45-1FC0-45A0-9637-A6F1F374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负载升高时触发准入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12184-B428-4EA3-B0A9-77FF5DA2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AEA59-4710-4028-BAED-820ADEB5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F9B8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2132C5-AAB8-470D-82B0-10AA2D88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9B8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1EA1E-7D47-4C66-BD7F-CA8E82E2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调度中加入 aging/权重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4E3643-6D8E-4105-AE17-B065F8C5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5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3BF6F-B98D-41D2-9479-332BA4B8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621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D704CB-5041-4CC5-8713-7798AF42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85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A0EA67-2C1C-426E-AB2C-0BA7BD58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752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审计饥饿与拒绝比例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0A89D2-2A3C-455B-8C4F-F2A5EB0D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74C0F4-0B9C-4970-A8EA-867CCDE0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每一步都要说明：输入是什么、输出是什么、谁拥有状态、失败后如何恢复。</a:t>
            </a:r>
          </a:p>
        </p:txBody>
      </p:sp>
    </p:spTree>
    <p:extLst>
      <p:ext uri="{BB962C8B-B14F-4D97-AF65-F5344CB8AC3E}">
        <p14:creationId xmlns:p14="http://schemas.microsoft.com/office/powerpoint/2010/main" val="1617538295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11B62-B20B-4795-9693-AC0E7081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5EF45-69FF-4D0B-866A-D0313685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331FD-28E2-4802-9A25-F4A08EEE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7164A-2198-433D-B64C-4F46DFEF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公平性、SLO 与准入控制：四个看似合理的误区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FEB6A-3E8A-4287-9C8E-BAAC7CE7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48C4E-30FB-4CA0-B9C9-34745975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06540-309A-406A-81B0-FD796948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3E616-FE7A-4227-9238-29C23054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A0F4D-AB43-437D-B350-F0685C1F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0A847-19A3-440A-84D2-DD86253F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84A76-89BE-4432-BFC2-2219D02F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公平等同完全平均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2E0C7-8042-465C-8D8D-6BF39293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13561-92A1-407C-8080-D09F42EB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F2ECD-BE82-4DBB-9B44-B777675A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拒绝请求不计入指标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F718C-2570-49BA-B8E2-9A221F9B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21E0F-5E81-4B49-B029-2BA3CD23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D96AF-6B2F-4596-9C9F-E9CDA3AF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优先级可被用户任意填写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5B717-3ED5-4246-86A2-CC355DD9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EB"/>
          </a:solidFill>
          <a:ln xmlns:a="http://schemas.openxmlformats.org/drawingml/2006/main" w="9525">
            <a:solidFill>
              <a:srgbClr val="F2B9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60721-5870-42CE-AD63-8CD1D542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AEF7F-79C2-45D8-94F0-8645E166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只优化单租户测试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92CC3-CAC3-4FBB-B900-A3A5D792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36A31"/>
                </a:solidFill>
                <a:latin typeface="微软雅黑"/>
                <a:ea typeface="微软雅黑"/>
                <a:cs typeface="微软雅黑"/>
              </a:rPr>
              <a:t>遇到这些表述时，不急于接受：先追问条件、单位、基线和证据。</a:t>
            </a:r>
          </a:p>
        </p:txBody>
      </p:sp>
    </p:spTree>
    <p:extLst>
      <p:ext uri="{BB962C8B-B14F-4D97-AF65-F5344CB8AC3E}">
        <p14:creationId xmlns:p14="http://schemas.microsoft.com/office/powerpoint/2010/main" val="1901858342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977C3-A18C-42B6-90C0-3596D5ED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00B4F-8938-4A58-B2C1-A7FE16E1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69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7911A-CE08-48E2-9757-ECB3B54B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课堂检查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E53BD-B258-4CD9-B7C3-7E1DA7C6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公平性、SLO 与准入控制：10 分钟闭环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EE08F-9603-442D-B5F5-5E249B6F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4C3B5-EED6-4448-8B4A-0D75A986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A6478"/>
                </a:solidFill>
                <a:latin typeface="微软雅黑"/>
                <a:ea typeface="微软雅黑"/>
                <a:cs typeface="微软雅黑"/>
              </a:rPr>
              <a:t>LLM 推理系统 · 2027 · 第 3 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3BD48-E438-44E6-8305-8CD35188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638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652C4-2290-48B2-8902-0880D2FC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EAB8B-5DD8-4E21-9ABC-0CFCFE6C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54EDB-4BCD-4B42-8005-5C45EFAF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AF684-1D85-457E-9F9B-522D3E3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A2F01-26AF-477F-B843-436F7FBB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最短优先的受害者是谁？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3D215-2A37-46E0-9BC8-4D7AA0FF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6D9E5-79E2-44F0-9FAB-750957B9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9FF"/>
          </a:solidFill>
          <a:ln xmlns:a="http://schemas.openxmlformats.org/drawingml/2006/main" w="0">
            <a:solidFill>
              <a:srgbClr val="526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221BB-8CEC-4288-A46C-742B0630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问题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265CA-6FFB-49AF-9D0E-F29D4407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aging 解决什么问题？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C52B0-B5FB-41F9-893C-6752E71F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12ED8-694A-4A9D-A152-C8E90976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71625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solidFill>
              <a:srgbClr val="168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437B9-1856-41AE-A7E7-6F5BB7CE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56B"/>
                </a:solidFill>
                <a:latin typeface="微软雅黑"/>
                <a:ea typeface="微软雅黑"/>
                <a:cs typeface="微软雅黑"/>
              </a:rPr>
              <a:t>问题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8B5D7-FB53-4B7C-AB6C-6517A341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29146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准入控制为什么可能改善 goodput？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7F3CC-CC76-40D1-B834-ACB50192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033"/>
                </a:solidFill>
                <a:latin typeface="微软雅黑"/>
                <a:ea typeface="微软雅黑"/>
                <a:cs typeface="微软雅黑"/>
              </a:rPr>
              <a:t>先个人作答 3 分钟 → 两人互讲 3 分钟 → 全班核对 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17182-A20B-40A2-83C1-8A01B65B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5269FF"/>
                </a:solidFill>
                <a:latin typeface="微软雅黑"/>
                <a:ea typeface="微软雅黑"/>
                <a:cs typeface="微软雅黑"/>
              </a:rPr>
              <a:t>带走一句话：在系统过载时明确谁等待、谁降级、谁被拒绝。</a:t>
            </a:r>
          </a:p>
        </p:txBody>
      </p:sp>
    </p:spTree>
    <p:extLst>
      <p:ext uri="{BB962C8B-B14F-4D97-AF65-F5344CB8AC3E}">
        <p14:creationId xmlns:p14="http://schemas.microsoft.com/office/powerpoint/2010/main" val="208937706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3F77F7C-F198-42B4-A804-FAACAAA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B4A"/>
          </a:solidFill>
          <a:ln xmlns:a="http://schemas.openxmlformats.org/drawingml/2006/main" w="12700">
            <a:solidFill>
              <a:srgbClr val="FFAB4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76A131D-58AE-412F-A8F5-197702E6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课堂练习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D7E0A7F-6FA7-4B8E-AF54-1D06CD9A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2BBEC01-B517-4EE4-BB9A-319A5435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092200"/>
            <a:ext cx="1041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课堂练习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建议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 15–20 </a:t>
            </a:r>
            <a:r>
              <a:rPr sz="15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分钟</a:t>
            </a:r>
            <a:endParaRPr sz="15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19AB1ED-74E1-4C2A-B6C3-5DC1E14A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8034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AB193FF-8B05-4266-A45C-D977C2A8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8034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构造一个长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Prefill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与十个短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Decode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同时到达的时间线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21EE8ED5-28BB-4A0A-BA5C-0C857C0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4FDB9C2-68DB-4794-8B69-46727B31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28448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分别用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FCFS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chunked prefill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推演前三轮批次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60B59E-0A50-4C20-A450-4292C197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886200"/>
            <a:ext cx="685800" cy="491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AB4A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600" b="1">
              <a:solidFill>
                <a:srgbClr val="FFAB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FA2DC28-401E-41E2-8474-8B5BC87F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3886200"/>
            <a:ext cx="9575800" cy="38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KV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不足时比较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recompute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swap </a:t>
            </a:r>
            <a:r>
              <a:rPr sz="1900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的代价条件</a:t>
            </a:r>
            <a:endParaRPr sz="1900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E13145-70AD-408C-B266-C505E768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461000"/>
            <a:ext cx="1041400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练习产出：调度轨迹表，并解释一次</a:t>
            </a: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P99 </a:t>
            </a:r>
            <a:r>
              <a:rPr sz="16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变化。</a:t>
            </a:r>
            <a:endParaRPr sz="16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31284DA-06EC-4E0E-9C50-325B228E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6DF7621-C9A5-4910-8225-F1B2B43E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47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5919841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A1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4A18105-F358-4B09-846C-A5D4BF0A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397"/>
          </a:solidFill>
          <a:ln xmlns:a="http://schemas.openxmlformats.org/drawingml/2006/main" w="12700">
            <a:solidFill>
              <a:srgbClr val="54D397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22A849B-19BA-4A84-91FD-E43C011A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054100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本讲总结与延伸</a:t>
            </a:r>
            <a:endParaRPr sz="28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80EBF0E-3A05-454C-B725-E5FC5B5C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375400"/>
            <a:ext cx="96520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推理系统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· 2027 ·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 3 </a:t>
            </a: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讲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6FF444A-C8B1-46C6-9FD5-40F52CF0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117600"/>
            <a:ext cx="10414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4D397"/>
                </a:solidFill>
                <a:latin typeface="微软雅黑"/>
                <a:ea typeface="微软雅黑"/>
                <a:cs typeface="微软雅黑"/>
              </a:rPr>
              <a:t>带走四句话</a:t>
            </a:r>
            <a:endParaRPr sz="1500" b="1">
              <a:solidFill>
                <a:srgbClr val="54D39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A20CA06-AA2B-4569-96DC-A69EDCCE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8034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连续批处理以迭代为粒度重组请求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5D2CDD6-6A84-4C72-8DD0-8D01834F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6416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调度同时受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token budget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KV budget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约束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6EE58A1-5514-4E34-A7F7-008B6345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4798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Chunked Prefill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控制长输入的干扰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420F878D-A472-41E9-BA46-DEAE903A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318000"/>
            <a:ext cx="1041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>
                <a:solidFill>
                  <a:srgbClr val="F5F8FF"/>
                </a:solidFill>
                <a:latin typeface="微软雅黑"/>
                <a:ea typeface="微软雅黑"/>
                <a:cs typeface="微软雅黑"/>
              </a:rPr>
              <a:t>抢占策略需要同时计算释放收益与恢复代价</a:t>
            </a:r>
            <a:endParaRPr sz="2000" b="1">
              <a:solidFill>
                <a:srgbClr val="F5F8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E90C89C-9213-4583-A3F5-9C8D3AA2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410200"/>
            <a:ext cx="10414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00" tIns="50800" rIns="101600" bIns="508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延伸阅读：本讲引用论文与课程资料见相关页面。</a:t>
            </a:r>
            <a:endParaRPr sz="12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8715700-3E62-48D2-A9B7-5EFE2B30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99200"/>
            <a:ext cx="635000" cy="33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A"/>
          </a:solidFill>
          <a:ln xmlns:a="http://schemas.openxmlformats.org/drawingml/2006/main" w="12700">
            <a:solidFill>
              <a:srgbClr val="0A142A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9971222-0E79-4C0C-9B72-91946B46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7300"/>
            <a:ext cx="48260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EBCD3"/>
                </a:solidFill>
                <a:latin typeface="微软雅黑"/>
                <a:ea typeface="微软雅黑"/>
                <a:cs typeface="微软雅黑"/>
              </a:rPr>
              <a:t>48</a:t>
            </a:r>
            <a:endParaRPr sz="1000">
              <a:solidFill>
                <a:srgbClr val="AEBCD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00755196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2026-09-07T10:49:55.8520000Z</dcterms:created>
  <dcterms:modified xsi:type="dcterms:W3CDTF">2026-09-07T10:49:55.8520000Z</dcterms:modified>
</coreProperties>
</file>