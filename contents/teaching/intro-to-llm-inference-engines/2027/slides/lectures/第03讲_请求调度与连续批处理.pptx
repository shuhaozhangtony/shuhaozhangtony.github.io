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72" r:id="rId5"/>
    <p:sldId id="273" r:id="rId6"/>
    <p:sldId id="274" r:id="rId7"/>
    <p:sldId id="275" r:id="rId8"/>
    <p:sldId id="258" r:id="rId9"/>
    <p:sldId id="259" r:id="rId10"/>
    <p:sldId id="260" r:id="rId11"/>
    <p:sldId id="261" r:id="rId12"/>
    <p:sldId id="262" r:id="rId13"/>
    <p:sldId id="276" r:id="rId14"/>
    <p:sldId id="263" r:id="rId15"/>
    <p:sldId id="264" r:id="rId16"/>
    <p:sldId id="265" r:id="rId17"/>
    <p:sldId id="277" r:id="rId18"/>
    <p:sldId id="266" r:id="rId19"/>
    <p:sldId id="267" r:id="rId20"/>
    <p:sldId id="268" r:id="rId21"/>
    <p:sldId id="278" r:id="rId22"/>
    <p:sldId id="269" r:id="rId23"/>
    <p:sldId id="279" r:id="rId24"/>
    <p:sldId id="270" r:id="rId25"/>
    <p:sldId id="271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2032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787400" y="685800"/>
            <a:ext cx="9652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15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00200"/>
            <a:ext cx="99060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42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请求调度与连续批处理</a:t>
            </a:r>
            <a:endParaRPr lang="zh-CN" altLang="en-US" sz="42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12800" y="3302000"/>
            <a:ext cx="8890000" cy="42989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把队列、批次、</a:t>
            </a:r>
            <a:r>
              <a:rPr lang="en-US" altLang="zh-CN" sz="2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SLO </a:t>
            </a:r>
            <a:r>
              <a:rPr lang="zh-CN" altLang="en-US" sz="2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 sz="2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压力放在同一决策中</a:t>
            </a:r>
            <a:endParaRPr lang="zh-CN" altLang="en-US" sz="2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12800" y="5257800"/>
            <a:ext cx="914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每讲</a:t>
            </a:r>
            <a:r>
              <a:rPr lang="en-US" altLang="zh-CN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 </a:t>
            </a:r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小时</a:t>
            </a:r>
            <a:r>
              <a:rPr lang="en-US" altLang="zh-CN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理论、代码路径、案例与练习</a:t>
            </a:r>
            <a:endParaRPr lang="zh-CN" altLang="en-US" sz="15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12800" y="5943600"/>
            <a:ext cx="9144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华中科技大学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张书豪课题组</a:t>
            </a:r>
            <a:endParaRPr lang="zh-CN" altLang="en-US" sz="1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10033000" y="1397000"/>
            <a:ext cx="1333500" cy="1333500"/>
          </a:xfrm>
          <a:prstGeom prst="ellipse">
            <a:avLst/>
          </a:prstGeom>
          <a:noFill/>
          <a:ln w="63500">
            <a:solidFill>
              <a:srgbClr val="FFAB4A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236200" y="1701800"/>
            <a:ext cx="927100" cy="9531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两小时课程地图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从调度目标到可执行策略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00–25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调度问题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1559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33591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35115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5115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25–55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连续批处理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90550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61087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2611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2611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65–95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抢占与恢复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6550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88582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90106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90106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95–120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课后应能解释一次调度决策为何发生，以及它如何影响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TTFT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TPOT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排队系统的三个量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到达率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λ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：单位时间进入多少请求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服务率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μ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：系统单位时间能处理多少工作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利用率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ρ ≈ λ/μ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：到达负载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服务能力（需统一工作量单位）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当利用率接近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100%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，等待时间通常快速增长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1014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“GPU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很忙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可能意味着效率高，也可能意味着队列已经失控。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队首阻塞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208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一个长请求可能拖慢后面的短请求</a:t>
            </a:r>
            <a:endParaRPr lang="zh-CN" altLang="en-US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8580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85800" y="2921000"/>
            <a:ext cx="176276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 </a:t>
            </a:r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到达</a:t>
            </a:r>
            <a:endParaRPr lang="zh-CN" altLang="en-US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57556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75336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88036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880360" y="2921000"/>
            <a:ext cx="176276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占满本轮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budget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77012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494792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07492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074920" y="2921000"/>
            <a:ext cx="176276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</a:t>
            </a:r>
            <a:endParaRPr lang="zh-CN" altLang="en-US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96468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14248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26948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269480" y="2921000"/>
            <a:ext cx="176276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TPOT </a:t>
            </a:r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出现尖峰</a:t>
            </a:r>
            <a:endParaRPr lang="zh-CN" altLang="en-US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15924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933704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46404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464040" y="2921000"/>
            <a:ext cx="176276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P99 </a:t>
            </a:r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恶化</a:t>
            </a:r>
            <a:endParaRPr lang="zh-CN" altLang="en-US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09600" y="4673600"/>
            <a:ext cx="10668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调度策略需要识别工作的大小和紧迫程度。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Token budget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的一轮推演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假设每轮最多处理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16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</a:t>
            </a:r>
            <a:endParaRPr lang="en-US" altLang="zh-CN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1879600"/>
            <a:ext cx="10795000" cy="29718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889000" y="2159000"/>
            <a:ext cx="10160000" cy="147637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两个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Decode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请求：各需要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1 token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，共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2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一个新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Prefill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：输入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30 token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若不分块：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Prefill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无法进入本轮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若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chunk=14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：本轮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2 Decode + 14 Prefill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下一轮继续处理剩余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16 Prefill token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00" y="5156200"/>
            <a:ext cx="1066800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预算是</a:t>
            </a:r>
            <a:r>
              <a:rPr lang="en-US" altLang="zh-CN" sz="17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7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本轮处理量</a:t>
            </a:r>
            <a:r>
              <a:rPr lang="en-US" altLang="zh-CN" sz="17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17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，不是请求总长度。</a:t>
            </a:r>
            <a:endParaRPr lang="zh-CN" altLang="en-US" sz="17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Continuous batching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的时间轴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208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请求可以在迭代边界加入和退出</a:t>
            </a:r>
            <a:endParaRPr lang="zh-CN" altLang="en-US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2209800"/>
            <a:ext cx="256540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85800" y="2438400"/>
            <a:ext cx="23114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85800" y="2921000"/>
            <a:ext cx="231140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迭代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 Prefill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12420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3302000" y="2209800"/>
            <a:ext cx="256540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3429000" y="2438400"/>
            <a:ext cx="23114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429000" y="2921000"/>
            <a:ext cx="231140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迭代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 Decode + B Prefill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86740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6045200" y="2209800"/>
            <a:ext cx="256540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172200" y="2438400"/>
            <a:ext cx="23114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172200" y="2921000"/>
            <a:ext cx="231140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迭代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A/B Decode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61060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8788400" y="2209800"/>
            <a:ext cx="256540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8915400" y="2438400"/>
            <a:ext cx="23114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915400" y="2921000"/>
            <a:ext cx="231140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迭代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 Decode + C Prefill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09600" y="4673600"/>
            <a:ext cx="10668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每轮批次不同，因此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metadata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映射也随之变化。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调度器每轮回答的问题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哪些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waiting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请求进入运行集合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哪些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running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请求继续执行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如何共享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budget</a:t>
            </a:r>
            <a:endParaRPr lang="en-US" altLang="zh-CN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不足时谁等待、谁抢占、谁恢复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调度决策同时受计算预算和内存预算约束。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请求级与迭代级调度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请求级</a:t>
            </a:r>
            <a:endParaRPr lang="zh-CN" altLang="en-US" sz="21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以完整请求为分配单位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策略直观但粒度较粗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容易被长输出阻塞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迭代级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step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重新组批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快速吸收新请求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需要维护细粒度状态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现代在线引擎通常以迭代为调度边界。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连续批处理循环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每轮都重新形成有效批次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1995805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1691005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回收完成请求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60540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80860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96100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6100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waiting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队列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80504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500824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16064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16064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计算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budget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00468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20788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36028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36028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分配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block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20432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940752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55992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55992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执行并更新状态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调度循环本身就是运行时的主时钟。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9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调度约束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最大批次请求数与最大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设备可用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block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 chunk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大小与单轮预算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优先级、等待时间和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风险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策略必须明确约束的优先顺序。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FCFS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感知策略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FCFS</a:t>
            </a:r>
            <a:endParaRPr lang="en-US" altLang="en-US" sz="21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容易解释和复现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等待公平性较好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无法区分紧急程度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SLO </a:t>
            </a:r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感知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根据剩余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slack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排序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保护临近违约请求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需要可靠的代价预测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复杂策略只有在预测与开销可控时才有价值。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近期研究</a:t>
            </a:r>
            <a:endParaRPr lang="zh-CN" altLang="en-US" sz="12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近期研究：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Chunked Prefill</a:t>
            </a:r>
            <a:endParaRPr lang="en-US" altLang="zh-CN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Sarathi-Serve</a:t>
            </a:r>
            <a:r>
              <a:rPr lang="zh-CN" altLang="en-US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OSDI 2024</a:t>
            </a:r>
            <a:endParaRPr lang="en-US" altLang="zh-CN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5000" y="20828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问题：长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会造成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停顿并放大尾延迟。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5000" y="29464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方法：把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分块，与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组成更均匀的批次，并减少流水线气泡。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40132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论文报告：论文在其模型与硬件配置下报告最高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5.6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倍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serving capacity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提升。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924800" y="2006600"/>
            <a:ext cx="3454400" cy="2895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255000" y="2286000"/>
            <a:ext cx="27940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课堂怎么读</a:t>
            </a:r>
            <a:endParaRPr lang="zh-CN" altLang="en-US" sz="13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255000" y="2794000"/>
            <a:ext cx="2794000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倍数依赖并行方式和延迟约束，课堂重点是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分块如何改变批次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58800" y="5689600"/>
            <a:ext cx="10795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https://www.usenix.org/conference/osdi24/presentation/agrawal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Chunked Prefill</a:t>
            </a:r>
            <a:endParaRPr lang="en-US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把长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prompt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切成多个小块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避免单个长请求独占一次迭代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之间插入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请求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chunk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太小会增加调度和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开销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chunk </a:t>
            </a:r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大小决定响应性与执行效率的平衡。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优先级与公平性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静态优先级可能导致低优先级饥饿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等待时间可用于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aging</a:t>
            </a:r>
            <a:endParaRPr lang="en-US" altLang="zh-CN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长度感知策略需要防止错误预测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租户隔离需要独立配额或加权公平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公平性必须有可观察定义，而不是口号。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压力下的决策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内存不足会改变调度可行域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1995805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block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不足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60540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80860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96100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61005" y="2997200"/>
            <a:ext cx="1691005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估计释放代价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80504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500824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16064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16064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选择等待或抢占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00468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20788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36028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36028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释放或换出状态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20432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940752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55992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55992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恢复并继续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抢占不是异常，它是内存调度策略的一部分。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15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近期研究</a:t>
            </a:r>
            <a:endParaRPr lang="zh-CN" altLang="en-US" sz="12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近期研究：迁移与细粒度抢占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Llumnix</a:t>
            </a:r>
            <a:r>
              <a:rPr lang="zh-CN" altLang="en-US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OSDI 2024</a:t>
            </a:r>
            <a:r>
              <a:rPr lang="zh-CN" altLang="en-US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）与</a:t>
            </a:r>
            <a:r>
              <a:rPr lang="en-US" altLang="zh-CN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FastServe</a:t>
            </a:r>
            <a:r>
              <a:rPr lang="zh-CN" altLang="en-US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NSDI 2026</a:t>
            </a:r>
            <a:r>
              <a:rPr lang="zh-CN" altLang="en-US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5000" y="20828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问题：静态分配难以处理请求长度、优先级和实例负载的变化。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5000" y="29464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方法：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Llumnix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迁移带状态的请求，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FastServe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以输出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为抢占粒度并管理状态换入换出。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40132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论文报告：论文分别报告尾延迟、优先级或延迟方面的改进。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924800" y="2006600"/>
            <a:ext cx="3454400" cy="2895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255000" y="2286000"/>
            <a:ext cx="27940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课堂怎么读</a:t>
            </a:r>
            <a:endParaRPr lang="zh-CN" altLang="en-US" sz="13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255000" y="2794000"/>
            <a:ext cx="2794000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迁移和抢占会引入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传输或重算成本，必须计入决策。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58800" y="5689600"/>
            <a:ext cx="10795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https://www.usenix.org/conference/osdi24/presentation/sun-biao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https://www.usenix.org/conference/nsdi26/presentation/wu-bingyang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16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抢占方式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Recompute</a:t>
            </a:r>
            <a:endParaRPr lang="en-US" altLang="en-US" sz="21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丢弃部分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恢复时重新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节省传输但增加计算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Swap</a:t>
            </a:r>
            <a:endParaRPr lang="en-US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换出设备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恢复时传回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节省计算但占用带宽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选择取决于</a:t>
            </a:r>
            <a:r>
              <a:rPr lang="en-US" altLang="zh-CN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prompt </a:t>
            </a:r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长度、带宽和当前拥塞。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17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BidKV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案例的启示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只看已等待时间不能反映抢占代价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占用量决定释放收益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剩余生成长度影响未来资源需求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策略要把效用与恢复成本一起建模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压力会把调度问题变成状态价值判断。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18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调度日志的最小字段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迭代号、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waiting/running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数量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 token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token</a:t>
            </a:r>
            <a:endParaRPr lang="en-US" altLang="zh-CN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已用块、空闲块和抢占量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每个请求的状态变化与原因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没有决策日志，尾延迟异常很难归因。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19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等待、抢占与拒绝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含义</a:t>
            </a:r>
            <a:endParaRPr lang="zh-CN" altLang="en-US" sz="20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58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等待：请求尚未获得执行资源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58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抢占：运行请求暂时让出资源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58800" y="3581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拒绝：系统不接收超出容量的请求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46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适用条件</a:t>
            </a:r>
            <a:endParaRPr lang="zh-CN" altLang="en-US" sz="20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46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等待保护状态但增加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TTFT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46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抢占保护紧急请求但有恢复代价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800" y="3581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拒绝用于过载保护和明确容量边界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84200" y="54356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三种动作影响不同指标，日志中必须区分原因。</a:t>
            </a:r>
            <a:endParaRPr lang="zh-CN" altLang="en-US" sz="1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20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最小调度伪代码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016000"/>
            <a:ext cx="10795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先满足硬约束，再比较策略优先级</a:t>
            </a:r>
            <a:endParaRPr lang="zh-CN" altLang="en-US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1676400"/>
            <a:ext cx="10795000" cy="35306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914400" y="1955800"/>
            <a:ext cx="10185400" cy="16605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free_finished()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budget = make_budget(kv_free, max_tokens)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decode = select_running(budget)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prefill = admit_waiting(budget)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if kv_pressure: preempt_or_swap()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execute(prefill + decode)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54864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把策略改动限制在可单独测试的选择函数中。</a:t>
            </a:r>
            <a:endParaRPr lang="zh-CN" altLang="en-US" sz="1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调度策略的验证问题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是否减少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P99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，而不是只提高平均吞吐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是否让某类请求长期饥饿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是否把开销转移到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迁移或重算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FFAB4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策略在低负载下是否仍有额外代价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1014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一个策略至少要有正常负载、压力负载和失效边界三组实验。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课堂练习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35000" y="1092200"/>
            <a:ext cx="1041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课堂练习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15–20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zh-CN" altLang="en-US" sz="15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0400" y="18034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422400" y="18034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构造一个长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与十个短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同时到达的时间线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0400" y="28448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422400" y="28448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分别用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FCFS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chunked prefill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推演前三轮批次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38862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422400" y="38862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不足时比较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recompute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swap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的代价条件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60400" y="5461000"/>
            <a:ext cx="10414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练习产出：调度轨迹表，并解释一次</a:t>
            </a:r>
            <a:r>
              <a:rPr lang="en-US" altLang="zh-CN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P99 </a:t>
            </a:r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变化。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本讲总结与延伸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60400" y="1117600"/>
            <a:ext cx="1041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带走四句话</a:t>
            </a:r>
            <a:endParaRPr lang="zh-CN" altLang="en-US" sz="15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0400" y="18034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连续批处理以迭代为粒度重组请求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60400" y="26416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调度同时受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budget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budget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约束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0400" y="34798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Chunked Prefill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控制长输入的干扰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60400" y="43180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抢占策略需要同时计算释放收益与恢复代价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5410200"/>
            <a:ext cx="10414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来源：个人主页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2026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讲义第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04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讲，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nano-vLLM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，案例补充中的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BidKV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1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3855</Words>
  <Application>WPS 演示</Application>
  <PresentationFormat>宽屏</PresentationFormat>
  <Paragraphs>570</Paragraphs>
  <Slides>24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1" baseType="lpstr">
      <vt:lpstr>Arial</vt:lpstr>
      <vt:lpstr>宋体</vt:lpstr>
      <vt:lpstr>Wingdings</vt:lpstr>
      <vt:lpstr>Wingdings</vt:lpstr>
      <vt:lpstr>微软雅黑</vt:lpstr>
      <vt:lpstr>Consolas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Administrator</dc:creator>
  <cp:lastModifiedBy>张书豪</cp:lastModifiedBy>
  <cp:revision>159</cp:revision>
  <dcterms:created xsi:type="dcterms:W3CDTF">2019-06-19T02:08:00Z</dcterms:created>
  <dcterms:modified xsi:type="dcterms:W3CDTF">2026-09-05T02:08:33Z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2C2C60739CA54E609A599B99F1725B33_11</vt:lpwstr>
  </property>
</Properties>
</file>