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72" r:id="rId5"/>
    <p:sldId id="273" r:id="rId6"/>
    <p:sldId id="274" r:id="rId7"/>
    <p:sldId id="275" r:id="rId8"/>
    <p:sldId id="258" r:id="rId9"/>
    <p:sldId id="259" r:id="rId10"/>
    <p:sldId id="260" r:id="rId11"/>
    <p:sldId id="261" r:id="rId12"/>
    <p:sldId id="262" r:id="rId13"/>
    <p:sldId id="276" r:id="rId14"/>
    <p:sldId id="263" r:id="rId15"/>
    <p:sldId id="264" r:id="rId16"/>
    <p:sldId id="265" r:id="rId17"/>
    <p:sldId id="277" r:id="rId18"/>
    <p:sldId id="266" r:id="rId19"/>
    <p:sldId id="267" r:id="rId20"/>
    <p:sldId id="268" r:id="rId21"/>
    <p:sldId id="278" r:id="rId22"/>
    <p:sldId id="269" r:id="rId23"/>
    <p:sldId id="279" r:id="rId24"/>
    <p:sldId id="270" r:id="rId25"/>
    <p:sldId id="271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2032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87400" y="685800"/>
            <a:ext cx="9652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15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00200"/>
            <a:ext cx="99060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42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Cache </a:t>
            </a:r>
            <a:r>
              <a:rPr lang="zh-CN" altLang="en-US" sz="42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与状态管理</a:t>
            </a:r>
            <a:endParaRPr lang="zh-CN" altLang="en-US" sz="42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12800" y="3302000"/>
            <a:ext cx="8890000" cy="42989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解释状态如何创建、寻址、复用、迁移和回收</a:t>
            </a:r>
            <a:endParaRPr lang="zh-CN" altLang="en-US" sz="2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12800" y="5257800"/>
            <a:ext cx="914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每讲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小时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理论、代码路径、案例与练习</a:t>
            </a:r>
            <a:endParaRPr lang="zh-CN" altLang="en-US" sz="15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12800" y="5943600"/>
            <a:ext cx="914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华中科技大学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张书豪课题组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10033000" y="1397000"/>
            <a:ext cx="1333500" cy="1333500"/>
          </a:xfrm>
          <a:prstGeom prst="ellipse">
            <a:avLst/>
          </a:prstGeom>
          <a:noFill/>
          <a:ln w="63500">
            <a:solidFill>
              <a:srgbClr val="54D397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236200" y="1701800"/>
            <a:ext cx="927100" cy="9531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两小时课程地图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</a:t>
            </a:r>
            <a:r>
              <a:rPr lang="en-US" altLang="zh-CN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Cache </a:t>
            </a:r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看成运行时的核心状态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00–25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原理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1559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33591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115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5115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25–55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PagedAttention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0550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1087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2611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2611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65–95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复用与迁移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550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88582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90106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90106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95–120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状态实验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课后应能从请求长度估算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容量，并解释块表的作用。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Cache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与模型权重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模型权重对所有请求共享，加载后通常保持不变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Cache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属于具体请求，并随序列长度增长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权重决定模型能力，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保存当前上下文的中间结果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请求结束后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应释放，权重仍驻留设备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014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先区分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共享且固定的权重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每请求变化的状态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MHA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GQA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MQA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MHA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：每个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Query head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都有独立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K/V head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GQA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：一组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Query head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共享一组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K/V head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MQA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：所有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Query head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共享同一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K/V head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K/V head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可显著降低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容量和带宽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014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共享越多，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越省，但模型设计和质量由训练阶段决定。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容量的数字例子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32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层、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heads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head_dim=128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FP16</a:t>
            </a:r>
            <a:endParaRPr lang="en-US" altLang="zh-CN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1879600"/>
            <a:ext cx="10795000" cy="29718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89000" y="2159000"/>
            <a:ext cx="10160000" cy="147637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每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token KV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= 2(K/V)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32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8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128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2 bytes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= 131,072 bytes ≈ 128 KiB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一个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8K-token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请求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≈ 1 GiB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32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个此类请求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≈ 32 GiB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00" y="5156200"/>
            <a:ext cx="106680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这里只估算</a:t>
            </a:r>
            <a:r>
              <a:rPr lang="en-US" altLang="zh-CN" sz="17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tensor</a:t>
            </a:r>
            <a:r>
              <a:rPr lang="zh-CN" altLang="en-US" sz="17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，不含权重、激活、碎片和运行时缓冲区。</a:t>
            </a:r>
            <a:endParaRPr lang="zh-CN" altLang="en-US" sz="17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碎片与分页的具体例子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208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三个请求实际长度分别为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 token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size=4</a:t>
            </a:r>
            <a:endParaRPr lang="en-US" altLang="zh-CN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8580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580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blocks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57556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75336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88036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88036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 blocks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77012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494792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07492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07492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blocks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96468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14248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26948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26948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共分配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9 blocks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159240" y="2933700"/>
            <a:ext cx="177800" cy="47561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337040" y="2209800"/>
            <a:ext cx="2016760" cy="19558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464040" y="2438400"/>
            <a:ext cx="176276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464040" y="2921000"/>
            <a:ext cx="1762760" cy="6140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尾块未用</a:t>
            </a:r>
            <a:r>
              <a:rPr lang="en-US" altLang="zh-CN" sz="17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9 token</a:t>
            </a:r>
            <a:endParaRPr lang="en-US" altLang="zh-CN" sz="17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09600" y="4673600"/>
            <a:ext cx="10668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分页消除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大段预留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，但每个请求最后一块仍有内部碎片。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Cache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保存什么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每层注意力模块的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Key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Value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为输入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建立初始状态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每生成一个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追加一份状态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直接读取历史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，避免重复计算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Cache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用显存换取自回归解码效率。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容量估算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016000"/>
            <a:ext cx="10795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忽略额外元数据时的近似表达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1676400"/>
            <a:ext cx="10795000" cy="35306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914400" y="1955800"/>
            <a:ext cx="10185400" cy="16605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bytes_per_token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= 2 </a:t>
            </a:r>
            <a:r>
              <a:rPr lang="zh-CN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num_layers </a:t>
            </a:r>
            <a:r>
              <a:rPr lang="zh-CN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num_kv_heads</a:t>
            </a:r>
            <a:endParaRPr lang="en-US" altLang="zh-CN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zh-CN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head_dim </a:t>
            </a:r>
            <a:r>
              <a:rPr lang="zh-CN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bytes_per_element</a:t>
            </a:r>
            <a:endParaRPr lang="en-US" altLang="zh-CN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endParaRPr lang="en-US" altLang="zh-CN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total_kv</a:t>
            </a:r>
            <a:endParaRPr lang="en-US" altLang="zh-CN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= bytes_per_token </a:t>
            </a:r>
            <a:r>
              <a:rPr lang="zh-CN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×</a:t>
            </a:r>
            <a:r>
              <a:rPr lang="en-US" altLang="zh-CN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active_tokens</a:t>
            </a:r>
            <a:endParaRPr lang="en-US" altLang="zh-CN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54864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GQA/MQA </a:t>
            </a:r>
            <a:r>
              <a:rPr lang="zh-CN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通过减少</a:t>
            </a:r>
            <a:r>
              <a:rPr lang="en-US" altLang="zh-CN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head </a:t>
            </a:r>
            <a:r>
              <a:rPr lang="zh-CN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数降低状态开销。</a:t>
            </a:r>
            <a:endParaRPr lang="zh-CN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连续内存分配的问题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请求长度未知，预留过多造成内部碎片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请求完成顺序随机，容易形成外部碎片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扩展序列需要重新分配或复制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动态批次使连续大块越来越难获得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动态请求需要动态、非连续的状态组织。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PagedAttention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的块表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逻辑序列与物理</a:t>
            </a:r>
            <a:r>
              <a:rPr lang="en-US" altLang="zh-CN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block </a:t>
            </a:r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解耦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1995805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0540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80860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96100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61005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逻辑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80504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500824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16064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160645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block table</a:t>
            </a:r>
            <a:endParaRPr lang="en-US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0468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20788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36028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360285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物理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20432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40752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55992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55992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attention kernel</a:t>
            </a:r>
            <a:endParaRPr lang="en-US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块表负责地址翻译，调度器负责块的生命周期。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分页后的收益与代价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收益</a:t>
            </a:r>
            <a:endParaRPr lang="zh-CN" altLang="en-US" sz="21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按需分配，减少预留浪费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非连续物理块支持动态增长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共享前缀可复用物理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代价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需要维护块表与引用计数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kernel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必须支持间接寻址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block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大小影响碎片与开销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分页把内存管理灵活性换成了元数据和执行复杂度。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近期研究：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vAttention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vAttention</a:t>
            </a:r>
            <a:r>
              <a:rPr lang="zh-CN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2024</a:t>
            </a:r>
            <a:endParaRPr lang="en-US" altLang="zh-CN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PagedAttention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的非连续虚拟布局要求专门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与复杂块表访问。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方法：用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CUDA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虚拟内存把虚拟连续地址与物理按需分配结合。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论文报告：论文报告相对部分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PagedAttention kernel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最高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1.23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倍吞吐改进。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它依赖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CUDA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虚拟内存能力，这是一条替代设计，不代表分页思想失效。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https://arxiv.org/abs/2405.04437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大小选择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：块表短，但最后一块浪费更大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：利用率高，但元数据和寻址开销增加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不同模型与硬件的最优值不同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实验必须同时测容量、吞吐与尾延迟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size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是系统参数，不是固定常数。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Prefix Cache</a:t>
            </a:r>
            <a:endParaRPr lang="en-US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对公共系统提示或共享文档前缀建立内容标识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命中后复用对应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block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，跳过重复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引用计数防止共享状态被过早释放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驱逐策略需要考虑大小、复用概率与重算成本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复用条件不仅是哈希命中，还包括状态可见性和所有权。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Cache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命中与状态正确性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仅看内容</a:t>
            </a:r>
            <a:endParaRPr lang="zh-CN" altLang="en-US" sz="21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前缀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相同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直接认为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可复用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忽略模型与运行上下文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完整判断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模型版本、适配器和精度一致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位置编码与块边界兼容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租户与权限允许共享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错误复用会产生静默的结果错误。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近期研究：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走向分层存储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Mooncake</a:t>
            </a:r>
            <a:r>
              <a:rPr lang="zh-CN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FAST 2025</a:t>
            </a:r>
            <a:r>
              <a:rPr lang="zh-CN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）与</a:t>
            </a:r>
            <a:r>
              <a:rPr lang="en-US" altLang="zh-CN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NEO</a:t>
            </a:r>
            <a:r>
              <a:rPr lang="zh-CN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MLSys 2025</a:t>
            </a:r>
            <a:r>
              <a:rPr lang="zh-CN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问题：长上下文使显存容量成为主要限制。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Mooncake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构建分布式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存储并分离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Prefill/Decode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NEO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将部分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attention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卸载到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CPU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论文报告：两项工作都在特定部署和硬件下报告容量或吞吐收益。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存储更大并不自动更快，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PCIe/RDMA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传输和命中率决定收益。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https://www.usenix.org/conference/fast25/presentation/qin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https://proceedings.mlsys.org/paper_files/paper/2025/hash/66a026c0d17040889b50f0dfa650e5e0-Abstract-Conference.html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生命周期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每个状态变化都要有所有者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1995805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分配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请求进入运行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0540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80860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96100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61005" y="2997200"/>
            <a:ext cx="1691005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写入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Prefill/Decode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80504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500824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16064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16064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共享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前缀命中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0468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20788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36028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360285" y="2997200"/>
            <a:ext cx="1691005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迁移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Swap/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远端层级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20432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40752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55992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55992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回收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结束或驱逐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状态管理需要把数据、元数据和权限一起迁移。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KV-Delta</a:t>
            </a:r>
            <a:endParaRPr lang="en-US" altLang="zh-CN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显存、主存和远端存储形成容量层级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迁移策略依据重用概率与恢复成本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KV-Delta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只传输变化部分，减少重复数据移动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端到端收益受带宽、序列长度和并发影响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数据移动优化必须计入同步与元数据成本。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与多轮会话状态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一条会话可能多次暂停并恢复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工具调用会产生分支与新上下文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状态需要跨请求寻址，而不是绑定单次连接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54D39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过期、撤销和租户隔离必须明确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场景把</a:t>
            </a:r>
            <a:r>
              <a:rPr lang="en-US" altLang="zh-CN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Cache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推向通用状态管理。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引用计数与所有权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共享发生时</a:t>
            </a:r>
            <a:endParaRPr lang="zh-CN" altLang="en-US" sz="20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58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父请求与子请求指向同一物理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8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引用计数从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增加到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58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block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内容必须只读或写时复制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46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释放发生时</a:t>
            </a:r>
            <a:endParaRPr lang="zh-CN" altLang="en-US" sz="20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46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一个请求结束只减少引用计数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46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计数为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才能回收物理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800" y="3581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取消、异常与驱逐都要走同一规则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84200" y="54356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共享错误通常不会立即崩溃，却可能导致静默串扰。</a:t>
            </a:r>
            <a:endParaRPr lang="zh-CN" altLang="en-US" sz="1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块表观测点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016000"/>
            <a:ext cx="10795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实验记录需要能解释分配与回收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1676400"/>
            <a:ext cx="10795000" cy="35306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914400" y="1955800"/>
            <a:ext cx="10185400" cy="13989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alloc(req, logical_block, physical_block)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append(req, token_pos, physical_block)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share(parent, child, block, refcount)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evict(block, reason, cost)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free(req, released_blocks)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54864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引用计数和所有权事件是定位泄漏与错误复用的关键。</a:t>
            </a:r>
            <a:endParaRPr lang="zh-CN" altLang="en-US" sz="16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近期研究：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压缩的证据边界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Rethinking KV Cache Compression</a:t>
            </a:r>
            <a:r>
              <a:rPr lang="zh-CN" altLang="en-US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MLSys 2025</a:t>
            </a:r>
            <a:endParaRPr lang="en-US" altLang="zh-CN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问题：压缩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看似能直接减少显存和带宽。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方法：论文系统评测多种压缩方法，发现实现开销和输出变长会抵消部分收益。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论文报告：论文强调样本级质量与端到端性能需要一起测量。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922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压缩率不是服务收益，必须检查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支持、输出长度和任务质量。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https://proceedings.mlsys.org/paper_files/paper/2025/hash/26289c647c6828e862e271ca3c490486-Abstract-Conference.html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课堂练习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35000" y="10922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课堂练习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15–20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zh-CN" altLang="en-US" sz="15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422400" y="18034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给定模型层数、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head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数、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head_dim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和精度，估算每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大小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28448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422400" y="28448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16-token block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推演三个不同长度请求的块表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38862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422400" y="38862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设计一个前缀共享后取消子请求的引用计数测试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60400" y="5461000"/>
            <a:ext cx="10414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练习产出：容量表、块表图和一个状态正确性测试。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本讲总结与延伸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0400" y="11176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带走四句话</a:t>
            </a:r>
            <a:endParaRPr lang="zh-CN" altLang="en-US" sz="15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KV Cache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是请求生命周期中的长期状态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0400" y="26416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PagedAttention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用块表解耦逻辑序列与物理内存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34798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Prefix Cache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需要内容、版本和所有权同时匹配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60400" y="43180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迁移与复用策略必须计算真实的数据移动成本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5410200"/>
            <a:ext cx="1041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来源：个人主页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2026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讲义第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05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讲，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nano-vLLM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4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4309</Words>
  <Application>WPS 演示</Application>
  <PresentationFormat>宽屏</PresentationFormat>
  <Paragraphs>554</Paragraphs>
  <Slides>24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1" baseType="lpstr">
      <vt:lpstr>Arial</vt:lpstr>
      <vt:lpstr>宋体</vt:lpstr>
      <vt:lpstr>Wingdings</vt:lpstr>
      <vt:lpstr>Wingdings</vt:lpstr>
      <vt:lpstr>微软雅黑</vt:lpstr>
      <vt:lpstr>Consolas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Administrator</dc:creator>
  <cp:lastModifiedBy>张书豪</cp:lastModifiedBy>
  <cp:revision>159</cp:revision>
  <dcterms:created xsi:type="dcterms:W3CDTF">2019-06-19T02:08:00Z</dcterms:created>
  <dcterms:modified xsi:type="dcterms:W3CDTF">2026-09-05T02:08:37Z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AFF93901335D4A65BB639E8506D54A74_11</vt:lpwstr>
  </property>
</Properties>
</file>