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72" r:id="rId5"/>
    <p:sldId id="273" r:id="rId6"/>
    <p:sldId id="274" r:id="rId7"/>
    <p:sldId id="275" r:id="rId8"/>
    <p:sldId id="258" r:id="rId9"/>
    <p:sldId id="259" r:id="rId10"/>
    <p:sldId id="260" r:id="rId11"/>
    <p:sldId id="261" r:id="rId12"/>
    <p:sldId id="262" r:id="rId13"/>
    <p:sldId id="276" r:id="rId14"/>
    <p:sldId id="263" r:id="rId15"/>
    <p:sldId id="264" r:id="rId16"/>
    <p:sldId id="265" r:id="rId17"/>
    <p:sldId id="277" r:id="rId18"/>
    <p:sldId id="266" r:id="rId19"/>
    <p:sldId id="267" r:id="rId20"/>
    <p:sldId id="268" r:id="rId21"/>
    <p:sldId id="278" r:id="rId22"/>
    <p:sldId id="269" r:id="rId23"/>
    <p:sldId id="279" r:id="rId24"/>
    <p:sldId id="270" r:id="rId25"/>
    <p:sldId id="271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2032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787400" y="685800"/>
            <a:ext cx="9652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5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5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5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15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00200"/>
            <a:ext cx="99060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42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课程导论与评价指标</a:t>
            </a:r>
            <a:endParaRPr lang="zh-CN" altLang="en-US" sz="42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12800" y="3302000"/>
            <a:ext cx="8890000" cy="42989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从一次请求出发，建立推理系统的全局坐标</a:t>
            </a:r>
            <a:endParaRPr lang="zh-CN" altLang="en-US" sz="2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12800" y="5257800"/>
            <a:ext cx="914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每讲</a:t>
            </a:r>
            <a:r>
              <a:rPr lang="en-US" altLang="zh-CN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 </a:t>
            </a:r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小时</a:t>
            </a:r>
            <a:r>
              <a:rPr lang="en-US" altLang="zh-CN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理论、代码路径、案例与练习</a:t>
            </a:r>
            <a:endParaRPr lang="zh-CN" altLang="en-US" sz="15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12800" y="5943600"/>
            <a:ext cx="9144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华中科技大学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张书豪课题组</a:t>
            </a:r>
            <a:endParaRPr lang="zh-CN" altLang="en-US" sz="1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10033000" y="1397000"/>
            <a:ext cx="1333500" cy="1333500"/>
          </a:xfrm>
          <a:prstGeom prst="ellipse">
            <a:avLst/>
          </a:prstGeom>
          <a:noFill/>
          <a:ln w="63500">
            <a:solidFill>
              <a:srgbClr val="28CBDB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236200" y="1701800"/>
            <a:ext cx="927100" cy="9531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两小时课程地图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先建立全过程，再定义可验证的性能目标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00–25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系统边界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1559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33591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35115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5115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25–55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推理全过程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90550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61087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2611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2611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65–95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指标体系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6550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88582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90106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90106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95–120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工作负载练习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课后应能画出请求链路，并说明每个指标由哪一段路径决定。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模型、推理与推理服务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模型：给定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序列，计算下一个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的概率分布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推理：反复执行模型并按采样规则选择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</a:t>
            </a:r>
            <a:endParaRPr lang="en-US" altLang="zh-CN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推理服务：让许多用户通过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API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共享模型和硬件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本课程研究服务层到硬件执行层的完整路径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13220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先把模型看成计算函数，再把推理看成循环，最后把服务看成多请求共享系统。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一句话如何变成流式输出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208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例子：用户输入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请用两句话解释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Cache”</a:t>
            </a:r>
            <a:endParaRPr lang="en-US" altLang="zh-CN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8580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85800" y="2921000"/>
            <a:ext cx="176276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文本切成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57556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75336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88036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880360" y="2921000"/>
            <a:ext cx="176276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token </a:t>
            </a:r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进入等待队列</a:t>
            </a:r>
            <a:endParaRPr lang="zh-CN" altLang="en-US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77012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494792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07492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074920" y="2921000"/>
            <a:ext cx="176276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 </a:t>
            </a:r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读完整输入</a:t>
            </a:r>
            <a:endParaRPr lang="zh-CN" altLang="en-US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96468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14248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26948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269480" y="2921000"/>
            <a:ext cx="176276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 </a:t>
            </a:r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逐个生成</a:t>
            </a:r>
            <a:endParaRPr lang="zh-CN" altLang="en-US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15924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933704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46404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464040" y="2921000"/>
            <a:ext cx="176276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token </a:t>
            </a:r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流式返回</a:t>
            </a:r>
            <a:endParaRPr lang="zh-CN" altLang="en-US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09600" y="4673600"/>
            <a:ext cx="10668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后续所有指标都可以标在这条时间线上。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Token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logits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与采样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Token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是模型处理的离散编号，不一定对应一个汉字或单词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Logits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是模型对词表中每个候选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给出的未归一化分数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Softmax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logits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转成概率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Temperature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top-k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top-p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改变候选分布和随机性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1014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系统优化必须保持采样语义，否则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更快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可能来自输出行为改变。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TTFT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TPOT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的具体时间线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假设请求在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 ms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到达，首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420 ms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返回</a:t>
            </a:r>
            <a:endParaRPr lang="zh-CN" altLang="en-US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1879600"/>
            <a:ext cx="10795000" cy="29718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889000" y="2159000"/>
            <a:ext cx="10160000" cy="1753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到达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                 0 ms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排队结束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           120 ms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Prefill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完成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/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首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token  420 ms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后续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token          470, 520, 575 ms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TTFT = 420 ms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TPOT ≈ (575-420)/3 = 51.7 ms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00" y="5156200"/>
            <a:ext cx="1066800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TTFT </a:t>
            </a:r>
            <a:r>
              <a:rPr lang="zh-CN" altLang="en-US" sz="17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包含排队和</a:t>
            </a:r>
            <a:r>
              <a:rPr lang="en-US" altLang="zh-CN" sz="17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</a:t>
            </a:r>
            <a:r>
              <a:rPr lang="zh-CN" altLang="en-US" sz="17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17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TPOT </a:t>
            </a:r>
            <a:r>
              <a:rPr lang="zh-CN" altLang="en-US" sz="17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描述首</a:t>
            </a:r>
            <a:r>
              <a:rPr lang="en-US" altLang="zh-CN" sz="17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17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之后的输出节奏。</a:t>
            </a:r>
            <a:endParaRPr lang="zh-CN" altLang="en-US" sz="17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课程研究对象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对象是在线大模型推理服务，不是模型训练过程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70675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系统需要同时处理模型执行、请求调度、状态管理与服务接口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核心问题是有限资源下的延迟、吞吐、成本和可靠性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后续七讲都围绕同一条请求路径展开。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端到端请求路径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一条请求跨越服务层、运行时和硬件执行层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1995805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API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接入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鉴权与排队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60540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80860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96100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6100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调度器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选择批次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80504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500824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16064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16064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</a:t>
            </a:r>
            <a:endParaRPr lang="en-US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处理输入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00468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20788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36028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36028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</a:t>
            </a:r>
            <a:endParaRPr lang="en-US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20432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940752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55992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55992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流式返回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结束与回收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任何局部优化都要回到端到端路径判断收益。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训练与推理的系统差异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训练</a:t>
            </a:r>
            <a:endParaRPr lang="zh-CN" altLang="en-US" sz="21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批次结构更稳定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目标通常是吞吐与收敛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状态随训练步骤更新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推理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请求长度高度变化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用户直接感知尾延迟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每个请求维护独立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推理系统的难点来自动态到达、动态长度和在线</a:t>
            </a:r>
            <a:r>
              <a:rPr lang="en-US" altLang="zh-CN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</a:t>
            </a:r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9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三类典型工作负载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离线批处理：数据已知，强调总吞吐和单位成本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在线对话：请求随机到达，强调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TTFT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TPOT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与尾延迟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RAG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Agent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：前缀更长、状态更多、工具调用打断执行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工作负载定义决定实验结论能否外推。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</a:t>
            </a:r>
            <a:endParaRPr lang="en-US" altLang="zh-CN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 </a:t>
            </a:r>
            <a:r>
              <a:rPr lang="zh-CN" altLang="en-US" sz="21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</a:t>
            </a:r>
            <a:endParaRPr lang="zh-CN" altLang="en-US" sz="21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一次处理整段输入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并行度高，计算更密集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主要影响首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 </a:t>
            </a:r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每轮只生成一个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频繁读取权重与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主要影响逐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两个阶段的资源特征不同，混在一起调度会产生干扰。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P95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P99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为什么重要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100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个请求按延迟从小到大排序</a:t>
            </a:r>
            <a:endParaRPr lang="zh-CN" altLang="en-US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1879600"/>
            <a:ext cx="10795000" cy="29718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889000" y="2159000"/>
            <a:ext cx="10160000" cy="11988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P50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：第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50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个请求，代表典型体验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P95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：第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95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个请求，只有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5%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更慢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P99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：第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99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个请求，揭示严重排队与抖动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平均值可能被大量短请求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“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稀释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”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00" y="5156200"/>
            <a:ext cx="1066800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报告分位数时必须说明样本数、测量窗口与插值方法。</a:t>
            </a:r>
            <a:endParaRPr lang="zh-CN" altLang="en-US" sz="17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用户可感知指标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TTFT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：请求到第一个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的时间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TPOT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：相邻输出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的平均间隔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E2E latency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：完整请求完成时间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P95/P99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：高分位延迟揭示拥塞和抖动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平均值不足以描述在线体验。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系统效率指标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Throughput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：单位时间完成的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或请求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Goodput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：满足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的有效吞吐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70675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GPU/NPU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利用率：只能解释资源使用，不能替代服务指标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单位请求成本：把硬件时间和容量规划联系起来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先写清分母、窗口和</a:t>
            </a:r>
            <a:r>
              <a:rPr lang="en-US" altLang="zh-CN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</a:t>
            </a:r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，再报告数字。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吞吐与延迟的张力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扩大批次</a:t>
            </a:r>
            <a:endParaRPr lang="zh-CN" altLang="en-US" sz="21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提高算子效率与设备利用率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摊薄模型权重读取成本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可能拉长等待与尾延迟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控制排队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限制在途请求与队列长度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保护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TTFT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P99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可能牺牲峰值吞吐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系统设计是在约束下选择工作点。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15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近期研究</a:t>
            </a:r>
            <a:endParaRPr lang="zh-CN" altLang="en-US" sz="12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研究坐标：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vLLM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SGLang</a:t>
            </a:r>
            <a:endParaRPr lang="en-US" altLang="zh-CN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vLLM</a:t>
            </a:r>
            <a:r>
              <a:rPr lang="zh-CN" altLang="en-US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SOSP 2023</a:t>
            </a:r>
            <a:r>
              <a:rPr lang="zh-CN" altLang="en-US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）与</a:t>
            </a:r>
            <a:r>
              <a:rPr lang="en-US" altLang="zh-CN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SGLang</a:t>
            </a:r>
            <a:r>
              <a:rPr lang="zh-CN" altLang="en-US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2023/2024</a:t>
            </a:r>
            <a:r>
              <a:rPr lang="zh-CN" altLang="en-US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5000" y="20828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问题：高并发服务中，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内存浪费和重复前缀计算限制吞吐。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5000" y="29464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方法：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vLLM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PagedAttention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SGLang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RadixAttention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复用结构化程序中的共享前缀。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40132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论文报告：两项工作分别报告显著吞吐提升，但测试任务、硬件和基线不同。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924800" y="2006600"/>
            <a:ext cx="3454400" cy="2895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255000" y="2286000"/>
            <a:ext cx="27940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课堂怎么读</a:t>
            </a:r>
            <a:endParaRPr lang="zh-CN" altLang="en-US" sz="13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255000" y="2794000"/>
            <a:ext cx="2794000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比较机制，不直接比较倍数。先问工作负载中是否存在碎片或共享前缀。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58800" y="5689600"/>
            <a:ext cx="10795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https://doi.org/10.1145/3600006.3613165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https://arxiv.org/abs/2312.07104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16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从指标回溯瓶颈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症状需要映射到具体系统阶段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TTFT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变差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查排队与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1559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33591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35115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5115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TPOT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变差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干扰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90550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61087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2611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2611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P99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抖动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查抢占与回收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6550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88582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90106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90106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吞吐低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查批次与算子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先定位路径，再选择优化手段。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17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基准测试的最小信息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模型、精度、并行方式与硬件型号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到达过程、输入长度和输出长度分布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并发、批次、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SLO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与预热方式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软件版本、配置文件和测量窗口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缺少上下文的单个性能数字无法复现。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18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常见误读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看起来更快</a:t>
            </a:r>
            <a:endParaRPr lang="zh-CN" altLang="en-US" sz="21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只比较峰值吞吐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只报告平均延迟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不同模型或请求长度混在一起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真正可比较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同一工作负载与硬件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同时给出吞吐和尾延迟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公开参数、版本与误差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公平比较先控制变量，再解释差异。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19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吞吐、容量与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goodput</a:t>
            </a:r>
            <a:endParaRPr lang="en-US" altLang="zh-CN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容易混淆</a:t>
            </a:r>
            <a:endParaRPr lang="zh-CN" altLang="en-US" sz="20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58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峰值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token/s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等于可服务用户数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58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设备利用率高等于体验好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58800" y="3581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完成请求都算有效吞吐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46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正确区分</a:t>
            </a:r>
            <a:endParaRPr lang="zh-CN" altLang="en-US" sz="20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46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容量受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和到达过程限制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46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高利用率可能伴随长排队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800" y="3581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goodput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只计满足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的请求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84200" y="54356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评价系统时必须同时看</a:t>
            </a:r>
            <a:r>
              <a:rPr lang="en-US" altLang="zh-CN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做了多少</a:t>
            </a:r>
            <a:r>
              <a:rPr lang="en-US" altLang="zh-CN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按时完成多少</a:t>
            </a:r>
            <a:r>
              <a:rPr lang="en-US" altLang="zh-CN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1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20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课程主线与交付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主线一：追踪请求从入口到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返回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主线二：追踪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状态的创建、驻留、迁移与回收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主线三：用实验验证调度和执行优化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最终项目：问题、补丁、证据和可复现说明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每一讲都为最终项目补齐一个环节。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28CBDB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初学者的指标排查顺序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先确认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workload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是否相同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再把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E2E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延迟拆成排队、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</a:t>
            </a:r>
            <a:endParaRPr lang="en-US" altLang="zh-CN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P95/P99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是否由少数超长请求触发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28CBD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最后关联批次、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使用量和硬件时间线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28CBD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28CBDB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28CBD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1014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每次只改变一个解释变量，避免从单个现象跳到结论。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课堂练习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35000" y="1092200"/>
            <a:ext cx="1041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课堂练习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15–20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zh-CN" altLang="en-US" sz="15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0400" y="18034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422400" y="18034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给定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“32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路在线对话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，写出至少四个必须明确的工作负载参数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0400" y="28448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422400" y="28448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为聊天服务定义一组包含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TTFT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TPOT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goodput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</a:t>
            </a:r>
            <a:endParaRPr lang="en-US" altLang="zh-CN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38862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422400" y="38862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画出指标异常到系统模块的排查路径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60400" y="5461000"/>
            <a:ext cx="10414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练习产出：一页工作负载卡片和一张端到端请求图。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本讲总结与延伸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60400" y="1117600"/>
            <a:ext cx="1041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带走四句话</a:t>
            </a:r>
            <a:endParaRPr lang="zh-CN" altLang="en-US" sz="15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0400" y="18034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推理服务是一条跨层请求路径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60400" y="26416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Prefill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具有不同资源特征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0400" y="34798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尾延迟和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goodput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更接近用户体验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60400" y="43180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可复现实验从完整工作负载定义开始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5410200"/>
            <a:ext cx="10414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来源：个人主页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2026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讲义第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01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讲及课程规划说明。</a:t>
            </a:r>
            <a:endParaRPr lang="zh-CN" altLang="en-US" sz="1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3729</Words>
  <Application>WPS 演示</Application>
  <PresentationFormat>宽屏</PresentationFormat>
  <Paragraphs>554</Paragraphs>
  <Slides>24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1" baseType="lpstr">
      <vt:lpstr>Arial</vt:lpstr>
      <vt:lpstr>宋体</vt:lpstr>
      <vt:lpstr>Wingdings</vt:lpstr>
      <vt:lpstr>Wingdings</vt:lpstr>
      <vt:lpstr>微软雅黑</vt:lpstr>
      <vt:lpstr>Consolas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Administrator</dc:creator>
  <cp:lastModifiedBy>张书豪</cp:lastModifiedBy>
  <cp:revision>159</cp:revision>
  <dcterms:created xsi:type="dcterms:W3CDTF">2019-06-19T02:08:00Z</dcterms:created>
  <dcterms:modified xsi:type="dcterms:W3CDTF">2026-09-05T02:08:24Z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2FB0DF3223854E5FBE688E33CCCD9FD7_11</vt:lpwstr>
  </property>
</Properties>
</file>