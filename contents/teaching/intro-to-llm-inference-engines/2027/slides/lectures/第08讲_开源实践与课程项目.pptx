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2" r:id="rId5"/>
    <p:sldId id="273" r:id="rId6"/>
    <p:sldId id="274" r:id="rId7"/>
    <p:sldId id="275" r:id="rId8"/>
    <p:sldId id="258" r:id="rId9"/>
    <p:sldId id="259" r:id="rId10"/>
    <p:sldId id="260" r:id="rId11"/>
    <p:sldId id="261" r:id="rId12"/>
    <p:sldId id="262" r:id="rId13"/>
    <p:sldId id="276" r:id="rId14"/>
    <p:sldId id="263" r:id="rId15"/>
    <p:sldId id="264" r:id="rId16"/>
    <p:sldId id="265" r:id="rId17"/>
    <p:sldId id="277" r:id="rId18"/>
    <p:sldId id="266" r:id="rId19"/>
    <p:sldId id="267" r:id="rId20"/>
    <p:sldId id="268" r:id="rId21"/>
    <p:sldId id="278" r:id="rId22"/>
    <p:sldId id="269" r:id="rId23"/>
    <p:sldId id="279" r:id="rId24"/>
    <p:sldId id="270" r:id="rId25"/>
    <p:sldId id="271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7400" y="685800"/>
            <a:ext cx="9652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5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5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5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15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7400" y="1600200"/>
            <a:ext cx="99060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42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开源实践与课程项目</a:t>
            </a:r>
            <a:endParaRPr lang="zh-CN" altLang="en-US" sz="42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2800" y="3302000"/>
            <a:ext cx="8890000" cy="42989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把一个系统问题推进为可评审的补丁与证据</a:t>
            </a:r>
            <a:endParaRPr lang="zh-CN" altLang="en-US" sz="2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2800" y="5257800"/>
            <a:ext cx="9144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每讲</a:t>
            </a:r>
            <a:r>
              <a:rPr lang="en-US" altLang="zh-CN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</a:t>
            </a:r>
            <a:r>
              <a:rPr lang="en-US" altLang="zh-CN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理论、代码路径、案例与练习</a:t>
            </a:r>
            <a:endParaRPr lang="zh-CN" altLang="en-US" sz="15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800" y="5943600"/>
            <a:ext cx="9144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华中科技大学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张书豪课题组</a:t>
            </a:r>
            <a:endParaRPr lang="zh-CN" altLang="en-US" sz="1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0033000" y="1397000"/>
            <a:ext cx="1333500" cy="1333500"/>
          </a:xfrm>
          <a:prstGeom prst="ellipse">
            <a:avLst/>
          </a:prstGeom>
          <a:noFill/>
          <a:ln w="63500">
            <a:solidFill>
              <a:srgbClr val="54D397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236200" y="1701800"/>
            <a:ext cx="927100" cy="9531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两小时课程地图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最后一讲完成从问题到汇报的闭环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00–25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开源流程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559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3591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115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115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25–55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0550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1087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611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611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65–90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项目工作坊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550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8582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0106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106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90–120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汇报与互评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课后应能提交一份可复现、可维护、边界清晰的课程项目。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工作流的最小对象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208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课程项目只要求掌握能支撑评审的部分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580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80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branch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隔离改动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7556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5336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8036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8036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commit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记录一步变化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7012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94792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7492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7492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push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发布分支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6468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14248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6948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6948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请求合并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5924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33704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46404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46404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review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讨论证据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9600" y="4673600"/>
            <a:ext cx="10668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commit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应能解释，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应能独立复现。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的可复现结构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环境：版本、硬件、驱动与启动参数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输入：最小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prompt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workload trace</a:t>
            </a:r>
            <a:endParaRPr lang="en-US" altLang="zh-CN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现象：预期行为与实际行为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证据：日志、堆栈、指标和复现频率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1014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先让陌生同学复现成功，再判断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Issue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是否清楚。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单元、集成与端到端测试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局部测试</a:t>
            </a:r>
            <a:endParaRPr lang="zh-CN" altLang="en-US" sz="20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8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单元测试检查调度选择、块表和状态转换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8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运行快，适合公共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CI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8800" y="3581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可以注入异常和边界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6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系统测试</a:t>
            </a:r>
            <a:endParaRPr lang="zh-CN" altLang="en-US" sz="20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46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集成测试检查组件接口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46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端到端测试检查真实服务行为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46800" y="3581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硬件测试验证设备特定路径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4200" y="54356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测试层次对应不同失败范围，不能只留端到端脚本。</a:t>
            </a:r>
            <a:endParaRPr lang="zh-CN" altLang="en-US" sz="1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一个最小补丁的证据链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例子：修复取消请求后的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泄漏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1879600"/>
            <a:ext cx="10795000" cy="29718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2159000"/>
            <a:ext cx="10160000" cy="147637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复现：反复取消请求后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free blocks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下降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定位：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finish/cancel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未走统一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free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路径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修改：让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cancel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调用同一资源回收函数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测试：取消后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free blocks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恢复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压力实验：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1000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次取消无持续下降</a:t>
            </a:r>
            <a:endParaRPr lang="zh-CN" altLang="en-US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00" y="5156200"/>
            <a:ext cx="106680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补丁大小不是唯一标准，关键是原因、改动和证据闭合。</a:t>
            </a:r>
            <a:endParaRPr lang="zh-CN" altLang="en-US" sz="17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课程项目的合格问题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能在现有推理引擎中稳定复现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与请求、调度、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、执行或平台路径有关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可通过小规模实现或实验验证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范围适合在课程周期内完成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优先选择边界清晰的小问题，而不是宽泛的大目标。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每一步都产生可评审证据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1995805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1691005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Issue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0540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80860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6100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61005" y="2997200"/>
            <a:ext cx="1691005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定位代码路径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0504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00824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16064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60645" y="2997200"/>
            <a:ext cx="1691005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提出最小改动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0468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20788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6028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36028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补充测试与实验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0432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40752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55992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55992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与说明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先让别人复现问题，再讨论解决方案。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高质量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Issue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清楚描述预期行为与实际行为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给出最小复现命令和日志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记录版本、环境与硬件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说明影响范围和已排除的可能原因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 </a:t>
            </a:r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是问题证据包，不只是现象描述。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小补丁原则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把策略放在单一职责模块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避免无关格式化和大范围重构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保留旧路径或明确回退条件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代码、测试、文档和配置同步更新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小补丁让因果关系和评审成本都可控。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测试层次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公共逻辑</a:t>
            </a:r>
            <a:endParaRPr lang="zh-CN" altLang="en-US" sz="21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单元测试覆盖状态转换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模拟资源边界与异常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在普通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CI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中稳定运行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7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硬件与端到端</a:t>
            </a:r>
            <a:endParaRPr lang="zh-CN" altLang="en-US" sz="21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97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目标设备验证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kernel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与通信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97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workload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测性能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97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保存环境和原始日志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000" y="54102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</a:t>
            </a:r>
            <a:r>
              <a:rPr lang="en-US" altLang="zh-CN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CI </a:t>
            </a:r>
            <a:r>
              <a:rPr lang="zh-CN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与硬件实验承担不同证据职责。</a:t>
            </a:r>
            <a:endParaRPr lang="zh-CN" altLang="en-US" sz="16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近期研究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近期案例：生产级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NPU Serving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795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DEEPSERVE</a:t>
            </a:r>
            <a:r>
              <a:rPr lang="zh-CN" altLang="en-US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USENIX ATC 2025</a:t>
            </a:r>
            <a:endParaRPr lang="en-US" altLang="zh-CN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5000" y="2082800"/>
            <a:ext cx="673100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问题：大规模平台需要同时处理模型服务、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服务、冷启动和资源调度。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29464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方法：系统采用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NPU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中心执行、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混合部署调度和预热等机制。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40132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论文报告：论文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会议页面说明其在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Ascend NPU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集群上运行。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924800" y="2006600"/>
            <a:ext cx="3454400" cy="2895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55000" y="2286000"/>
            <a:ext cx="27940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课堂怎么读</a:t>
            </a:r>
            <a:endParaRPr lang="zh-CN" altLang="en-US" sz="13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55000" y="2794000"/>
            <a:ext cx="2794000" cy="922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平台案例要区分公开机制、生产描述和可复现实验范围。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00" y="5689600"/>
            <a:ext cx="10795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https://www.usenix.org/conference/atc25/presentation/hu-junhao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描述结构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问题与复现方式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设计选择和替代方案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代码改动范围与接口影响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正确性测试、性能结果和已知限制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评审者应能从描述直接重建因果链。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上游同步与平台分支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先基于清晰上游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commit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建立补丁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平台差异集中在适配层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定期小步同步，及时处理接口变化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记录无法上游化的原因和长期维护成本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分叉仓库的价值取决于能否持续同步和验证。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项目证据包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README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：问题、环境、命令与预期结果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Patch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：最小实现与测试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Raw data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：请求日志、系统指标与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profiler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Report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：图表、解释、限制与失败案例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报告中的每张图都应追溯到原始数据和命令。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近期研究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近期研究：故障后的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795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GhostServe</a:t>
            </a:r>
            <a:r>
              <a:rPr lang="zh-CN" altLang="en-US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MLSys 2026</a:t>
            </a:r>
            <a:endParaRPr lang="en-US" altLang="zh-CN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5000" y="20828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问题：设备故障会丢失请求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，完整重算或全量复制成本高。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29464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方法：通过轻量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checkpoint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在故障后重建丢失状态。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40132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论文报告：论文关注容错恢复时间和正常路径开销。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924800" y="2006600"/>
            <a:ext cx="3454400" cy="2895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55000" y="2286000"/>
            <a:ext cx="27940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课堂怎么读</a:t>
            </a:r>
            <a:endParaRPr lang="zh-CN" altLang="en-US" sz="13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55000" y="2794000"/>
            <a:ext cx="2794000" cy="922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课程项目可复现故障注入与状态恢复逻辑，但不要假装完成生产级容错。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00" y="5689600"/>
            <a:ext cx="10795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https://proceedings.mlsys.org/paper_files/paper/2026/hash/d99e8e80a6c41e148db686918dd7eab3-Abstract-Conference.html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项目汇报结构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</a:t>
            </a:r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分钟汇报可以沿请求路径组织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1995805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1691005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问题与场景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0540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80860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6100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6100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代码路径与机制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0504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00824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16064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60645" y="2997200"/>
            <a:ext cx="1691005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实验与对照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0468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20788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6028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360285" y="2997200"/>
            <a:ext cx="1691005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结果与解释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0432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40752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55992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559925" y="2997200"/>
            <a:ext cx="1691005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限制与下一步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用一条清晰因果链代替功能清单。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互评问题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问题能否被别人复现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机制是否真正修改了瓶颈路径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基线和工作负载是否公平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证据是否覆盖主张，限制是否诚实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互评针对证据与边界，不针对展示风格。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常见失败模式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问题范围过大，无法形成最小闭环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只展示最终图，没有原始日志与配置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优化了微基准，却没有端到端收益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平台结论来自回放或推算，却标成真实运行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失败项目往往缺少可验证的中间产物。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评审者真正需要什么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能复现问题的命令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能看懂改动位置的代码路径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能判断正确性的测试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能判断性能主张的原始数据和边界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70675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展示页面可以简洁，证据材料必须完整。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课程知识闭环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请求生命周期定义观察对象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调度与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解释主要系统状态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执行与异构适配解释硬件路径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实验方法决定结论能否成立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最终项目把前七讲的对象、机制和证据连接起来。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初学者项目的范围控制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只选择一个主要指标和一个主要机制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先做最小规模稳定复现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保留失败实验，它们帮助说明边界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若没有真实硬件，只报告仿真、回放或设计结果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70675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可信的小闭环优于无法验证的大系统蓝图。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AB4A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课堂练习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000" y="1092200"/>
            <a:ext cx="10414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课堂练习</a:t>
            </a:r>
            <a:r>
              <a:rPr lang="en-US" altLang="zh-CN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r>
              <a:rPr lang="en-US" altLang="zh-CN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15–20 </a:t>
            </a:r>
            <a:r>
              <a:rPr lang="zh-CN" altLang="en-US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zh-CN" altLang="en-US" sz="15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0400" y="1803400"/>
            <a:ext cx="685800" cy="4914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2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22400" y="1803400"/>
            <a:ext cx="95758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用一句话定义项目问题，并写明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workload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SLO</a:t>
            </a:r>
            <a:endParaRPr lang="en-US" altLang="zh-CN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0400" y="2844800"/>
            <a:ext cx="685800" cy="4914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2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22400" y="2844800"/>
            <a:ext cx="95758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画出要修改的代码路径和最小接口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0400" y="3886200"/>
            <a:ext cx="685800" cy="4914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2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22400" y="3886200"/>
            <a:ext cx="95758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列出基线、消融、端到端与失败边界四组实验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60400" y="4927600"/>
            <a:ext cx="685800" cy="4914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2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22400" y="4927600"/>
            <a:ext cx="95758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交换方案，用互评问题检查证据缺口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0400" y="5461000"/>
            <a:ext cx="10414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练习产出：一页项目画布，可直接扩展为</a:t>
            </a:r>
            <a:r>
              <a:rPr lang="en-US" altLang="zh-CN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Issue </a:t>
            </a:r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 </a:t>
            </a:r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描述。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本讲总结与延伸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0400" y="1117600"/>
            <a:ext cx="10414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带走四句话</a:t>
            </a:r>
            <a:endParaRPr lang="zh-CN" altLang="en-US" sz="15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0400" y="18034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开源贡献从可复现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Issue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400" y="26416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最小补丁、测试和实验共同支撑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</a:t>
            </a:r>
            <a:endParaRPr lang="en-US" altLang="zh-CN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0400" y="34798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课程项目需要完整证据包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0400" y="43180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清楚说明限制是可信系统工作的组成部分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0400" y="5410200"/>
            <a:ext cx="10414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来源：个人主页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讲义第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讲，课程项目实验说明及案例补充。</a:t>
            </a:r>
            <a:endParaRPr lang="zh-CN" altLang="en-US" sz="1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3304</Words>
  <Application>WPS 演示</Application>
  <PresentationFormat>宽屏</PresentationFormat>
  <Paragraphs>549</Paragraphs>
  <Slides>24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Arial</vt:lpstr>
      <vt:lpstr>宋体</vt:lpstr>
      <vt:lpstr>Wingdings</vt:lpstr>
      <vt:lpstr>Wingdings</vt:lpstr>
      <vt:lpstr>微软雅黑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张书豪</cp:lastModifiedBy>
  <cp:revision>159</cp:revision>
  <dcterms:created xsi:type="dcterms:W3CDTF">2019-06-19T02:08:00Z</dcterms:created>
  <dcterms:modified xsi:type="dcterms:W3CDTF">2026-09-05T02:08:53Z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522C4DA831CE4AB497CD300F0F664947_11</vt:lpwstr>
  </property>
</Properties>
</file>