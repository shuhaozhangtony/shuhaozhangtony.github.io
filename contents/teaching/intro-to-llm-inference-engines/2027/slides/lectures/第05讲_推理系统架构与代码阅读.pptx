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2" r:id="rId5"/>
    <p:sldId id="273" r:id="rId6"/>
    <p:sldId id="274" r:id="rId7"/>
    <p:sldId id="275" r:id="rId8"/>
    <p:sldId id="258" r:id="rId9"/>
    <p:sldId id="259" r:id="rId10"/>
    <p:sldId id="260" r:id="rId11"/>
    <p:sldId id="261" r:id="rId12"/>
    <p:sldId id="262" r:id="rId13"/>
    <p:sldId id="276" r:id="rId14"/>
    <p:sldId id="263" r:id="rId15"/>
    <p:sldId id="264" r:id="rId16"/>
    <p:sldId id="265" r:id="rId17"/>
    <p:sldId id="277" r:id="rId18"/>
    <p:sldId id="266" r:id="rId19"/>
    <p:sldId id="267" r:id="rId20"/>
    <p:sldId id="268" r:id="rId21"/>
    <p:sldId id="278" r:id="rId22"/>
    <p:sldId id="269" r:id="rId23"/>
    <p:sldId id="279" r:id="rId24"/>
    <p:sldId id="270" r:id="rId25"/>
    <p:sldId id="27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7400" y="685800"/>
            <a:ext cx="9652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5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5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5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15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7400" y="1600200"/>
            <a:ext cx="99060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42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推理系统架构与代码阅读</a:t>
            </a:r>
            <a:endParaRPr lang="zh-CN" altLang="en-US" sz="42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2800" y="3302000"/>
            <a:ext cx="8890000" cy="42989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从控制面、数据面到一次可追踪的模型执行</a:t>
            </a:r>
            <a:endParaRPr lang="zh-CN" altLang="en-US" sz="2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2800" y="5257800"/>
            <a:ext cx="914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每讲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理论、代码路径、案例与练习</a:t>
            </a:r>
            <a:endParaRPr lang="zh-CN" altLang="en-US" sz="15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800" y="5943600"/>
            <a:ext cx="9144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华中科技大学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张书豪课题组</a:t>
            </a:r>
            <a:endParaRPr lang="zh-CN" altLang="en-US" sz="1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0033000" y="1397000"/>
            <a:ext cx="1333500" cy="1333500"/>
          </a:xfrm>
          <a:prstGeom prst="ellipse">
            <a:avLst/>
          </a:prstGeom>
          <a:noFill/>
          <a:ln w="63500">
            <a:solidFill>
              <a:srgbClr val="28CBD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236200" y="1701800"/>
            <a:ext cx="927100" cy="9531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两小时课程地图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先分层，再沿一条请求纵向阅读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00–25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架构分层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59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591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15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5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25–55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核心组件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550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087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611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65–95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代码地图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50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8582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06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106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95–120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阅读练习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课后应能用组件图解释数据流，并找到一个功能应修改的最小位置。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进程、线程与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Worker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进程拥有独立地址空间，适合故障隔离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线程共享进程内存，通信便宜但需要同步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6756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Worker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是系统中的执行角色，可能对应进程、线程或远端服务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代码里的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worker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名称不能直接推断操作系统实现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架构图描述职责，部署图才描述进程和机器。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Stream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CUDA Graph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是在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上执行的一段并行程序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Stream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操作的先后关系并支持重叠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 launch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CPU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发起，会产生固定开销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CUDA Graph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复用已捕获的执行图，减少重复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launch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014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每步工作小且重复，固定开销更容易显现。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一次迭代中的数据对象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从调度结果到设备执行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Request IDs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7556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5336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8036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8036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Token IDs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7012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4792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7492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7492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Positions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6468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14248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6948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6948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Block tables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5924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33704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46404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6404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Logits / tokens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把控制面的决定编码成数据面可执行的张量和索引。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DP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的直觉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模型切分</a:t>
            </a:r>
            <a:endParaRPr lang="zh-CN" altLang="en-US" sz="20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TP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：一层矩阵分到多卡，需要频繁集合通信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PP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：不同层分到不同卡，请求经过流水线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46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请求切分</a:t>
            </a:r>
            <a:endParaRPr lang="zh-CN" altLang="en-US" sz="20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6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DP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：每组设备有完整模型，不同请求分流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46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容量扩展更直接，但每个副本需要完整权重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4200" y="54356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并行方式决定通信位置，也决定调度器能看到哪些资源。</a:t>
            </a:r>
            <a:endParaRPr lang="zh-CN" altLang="en-US" sz="1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系统分层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服务层：协议、流式返回、限流和多租户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引擎层：请求状态、调度、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管理与指标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执行层：模型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runner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、并行通信和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kernel</a:t>
            </a:r>
            <a:endParaRPr lang="en-US" altLang="zh-CN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平台层：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GPU/NPU runtime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、编译器和驱动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分层用于定位职责，不代表实现必须拆成独立进程。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控制面与数据面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控制面</a:t>
            </a:r>
            <a:endParaRPr lang="zh-CN" altLang="en-US" sz="21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调度请求与资源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维护状态和元数据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决定何时、在哪里执行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数据面</a:t>
            </a:r>
            <a:endParaRPr lang="zh-CN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7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搬运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、权重和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执行算子与通信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7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logits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和采样结果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54102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控制面决定路径，数据面承担主要计算与传输。</a:t>
            </a:r>
            <a:endParaRPr lang="zh-CN" altLang="en-US" sz="16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核心组件关系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一次迭代跨越四个职责域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Scheduler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选择请求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59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591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15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5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 manager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550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087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611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 runner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forward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50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8582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06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106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processor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采样与结束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组件边界应与可测试的数据结构边界一致。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单机架构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server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engine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可同进程或多进程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调度器维护全局运行集合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模型执行器绑定一个或多个设备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共享内存或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IPC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连接控制面与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worker</a:t>
            </a:r>
            <a:endParaRPr lang="en-US" altLang="zh-CN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先理解单机闭环，再扩展到多机。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 Parallel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切分层内矩阵并引入集合通信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Pipeline Parallel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切分层并引入阶段气泡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Parallel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复制模型并分散请求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并行方式改变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所有权和调度可见性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并行策略不仅影响算子，也重塑运行时状态。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近期研究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近期研究：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Prefill/Decode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分离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795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DistServe</a:t>
            </a:r>
            <a:r>
              <a:rPr lang="zh-CN" altLang="en-US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OSDI 2024</a:t>
            </a:r>
            <a:endParaRPr lang="en-US" altLang="zh-CN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000" y="2082800"/>
            <a:ext cx="673100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偏计算密集，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偏带宽和延迟敏感，混部会互相干扰。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9464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方法：把两个阶段放在不同设备池，并独立配置并行策略和资源。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40132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论文报告：论文在其工作负载和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下报告更高可服务请求数。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924800" y="2006600"/>
            <a:ext cx="3454400" cy="2895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55000" y="2286000"/>
            <a:ext cx="27940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课堂怎么读</a:t>
            </a:r>
            <a:endParaRPr lang="zh-CN" altLang="en-US" sz="13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55000" y="2794000"/>
            <a:ext cx="2794000" cy="922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必须跨池传输，低负载或传输慢时，分离未必获益。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5689600"/>
            <a:ext cx="10795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https://www.usenix.org/conference/osdi24/presentation/zhong-yinmin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集中式与分离式架构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集中式</a:t>
            </a:r>
            <a:r>
              <a:rPr lang="en-US" altLang="zh-CN" sz="21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Prefill/Decode</a:t>
            </a:r>
            <a:endParaRPr lang="en-US" altLang="zh-CN" sz="21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worker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处理两个阶段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状态无需跨节点迁移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资源干扰更直接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 </a:t>
            </a:r>
            <a:r>
              <a:rPr lang="zh-CN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分离</a:t>
            </a:r>
            <a:endParaRPr lang="zh-CN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7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为两个阶段选择不同资源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独立扩缩容和调度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7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需要传输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并处理一致性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54102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 </a:t>
            </a:r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分离只有在资源匹配收益超过</a:t>
            </a:r>
            <a:r>
              <a:rPr lang="en-US" altLang="zh-CN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传输成本时成立。</a:t>
            </a:r>
            <a:endParaRPr lang="zh-CN" altLang="en-US" sz="16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代码地图的四条线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入口线：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engine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请求对象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调度线：队列到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batch metadata</a:t>
            </a:r>
            <a:endParaRPr lang="en-US" altLang="zh-CN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状态线：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 table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tensor</a:t>
            </a:r>
            <a:endParaRPr lang="en-US" altLang="zh-CN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执行线：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 runner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kernel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sampler</a:t>
            </a:r>
            <a:endParaRPr lang="en-US" altLang="zh-CN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不要按目录顺序读仓库，要按一条运行路径读。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建议的阅读顺序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016000"/>
            <a:ext cx="10795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nano-vLLM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vLLM-HUST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为例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1676400"/>
            <a:ext cx="10795000" cy="35306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14400" y="1955800"/>
            <a:ext cx="10185400" cy="16605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1.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找到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generate / add_request</a:t>
            </a:r>
            <a:endParaRPr lang="en-US" altLang="zh-CN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2.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找到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scheduler.schedule</a:t>
            </a:r>
            <a:endParaRPr lang="en-US" altLang="zh-CN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3.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识别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Sequence / Request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数据结构</a:t>
            </a:r>
            <a:endParaRPr lang="en-US" altLang="zh-CN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4.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找到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block manager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的分配接口</a:t>
            </a:r>
            <a:endParaRPr lang="en-US" altLang="zh-CN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5.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跟进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model_runner.execute_model</a:t>
            </a:r>
            <a:endParaRPr lang="en-US" altLang="zh-CN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6.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回到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output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与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finish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路径</a:t>
            </a:r>
            <a:endParaRPr lang="zh-CN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54864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每读一个函数，记录输入、输出、状态副作用和日志点。</a:t>
            </a:r>
            <a:endParaRPr lang="zh-CN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近期研究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近期研究：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中心的解耦架构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795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Mooncake</a:t>
            </a:r>
            <a:r>
              <a:rPr lang="zh-CN" altLang="en-US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 2025 Best Paper</a:t>
            </a:r>
            <a:endParaRPr lang="en-US" altLang="zh-CN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000" y="20828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问题：长上下文服务既受计算约束，也受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容量和复用限制。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946400"/>
            <a:ext cx="673100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方法：将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池、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池和分布式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存储连接，由全局调度器协调。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40132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论文报告：论文报告在真实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trace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和生产部署中的容量提升。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924800" y="2006600"/>
            <a:ext cx="3454400" cy="2895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55000" y="2286000"/>
            <a:ext cx="27940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课堂怎么读</a:t>
            </a:r>
            <a:endParaRPr lang="zh-CN" altLang="en-US" sz="13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55000" y="2794000"/>
            <a:ext cx="2794000" cy="922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课堂重点是三条数据流：请求、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、控制决策，生产数字不可脱离配置引用。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5689600"/>
            <a:ext cx="10795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https://www.usenix.org/conference/fast25/presentation/qin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最小可运行基线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固定模型、输入和随机种子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保存环境、版本和启动命令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先验证结果正确，再采集性能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记录一次请求的完整日志作为黄金轨迹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没有稳定基线，后续补丁无法归因。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vLLM-HUST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维护案例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先对齐上游基线，再引入平台差异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把环境和硬件信息写入复现说明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小补丁配套最小测试，避免大范围改写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覆盖公共逻辑，硬件测试覆盖设备路径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维护经验可以直接转化为代码阅读与实验规范。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功能修改的放置位置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常见误区</a:t>
            </a:r>
            <a:endParaRPr lang="zh-CN" altLang="en-US" sz="21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在入口层绕过调度器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在多个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worker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复制策略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把平台分支散落到公共路径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更稳妥的方法</a:t>
            </a:r>
            <a:endParaRPr lang="zh-CN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7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在职责所属模块形成单一决策点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metadata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传递结果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7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通过适配层隔离平台差异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54102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修改位置决定长期可维护性。</a:t>
            </a:r>
            <a:endParaRPr lang="zh-CN" altLang="en-US" sz="16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All-Reduce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在哪里出现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 Parallel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将一次矩阵计算分到多卡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56540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23114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23114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每卡计算局部结果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2420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02000" y="2209800"/>
            <a:ext cx="256540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429000" y="2438400"/>
            <a:ext cx="23114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29000" y="2921000"/>
            <a:ext cx="23114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进入集合通信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6740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045200" y="2209800"/>
            <a:ext cx="256540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172200" y="2438400"/>
            <a:ext cx="23114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72200" y="2921000"/>
            <a:ext cx="23114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汇总或规约结果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1060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788400" y="2209800"/>
            <a:ext cx="256540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915400" y="2438400"/>
            <a:ext cx="23114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15400" y="2921000"/>
            <a:ext cx="23114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同步后继续下一算子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通信无法被完全隐藏时，增加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可能反而降低单请求效率。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可观测性接口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请求级事件支持用户体验诊断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迭代级事件解释批次和调度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资源级事件解释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、通信与设备占用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request_id/step_id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连接三类日志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架构图中的每条关键边都应有观测点。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代码阅读中的易错判断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函数名相似不代表处在同一请求阶段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数据结构中的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shape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比变量名更可靠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异步调用返回不代表设备已经完成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日志顺序可能受多进程缓冲影响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3220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request_id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step_id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 shape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和同步点交叉验证路径。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课堂练习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1092200"/>
            <a:ext cx="1041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课堂练习</a:t>
            </a:r>
            <a:r>
              <a:rPr lang="en-US" altLang="zh-CN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r>
              <a:rPr lang="en-US" altLang="zh-CN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15–20 </a:t>
            </a:r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zh-CN" altLang="en-US" sz="15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0" y="18034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22400" y="18034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选一个请求，在仓库中找出入口、调度、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、执行和输出五处代码位置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0400" y="28448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22400" y="28448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给每处写出输入、输出和状态副作用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38862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22400" y="38862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提出一个不侵入公共路径的日志补丁位置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0400" y="5461000"/>
            <a:ext cx="10414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练习产出：一张代码地图和一个最小补丁说明。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本讲总结与延伸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400" y="1117600"/>
            <a:ext cx="1041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带走四句话</a:t>
            </a:r>
            <a:endParaRPr lang="zh-CN" altLang="en-US" sz="15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0" y="18034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架构分层用于定位职责与数据所有权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" y="26416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控制面决策必须通过明确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metadata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驱动数据面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0400" y="34798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代码阅读应沿请求、调度、状态和执行四条线展开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0400" y="43180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可复现基线是理解和修改系统的起点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5410200"/>
            <a:ext cx="10414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来源：个人主页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讲义第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07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讲，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nano-vLLM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vLLM-HUST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维护案例。</a:t>
            </a:r>
            <a:endParaRPr lang="zh-CN" altLang="en-US" sz="1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3797</Words>
  <Application>WPS 演示</Application>
  <PresentationFormat>宽屏</PresentationFormat>
  <Paragraphs>541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微软雅黑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张书豪</cp:lastModifiedBy>
  <cp:revision>159</cp:revision>
  <dcterms:created xsi:type="dcterms:W3CDTF">2019-06-19T02:08:00Z</dcterms:created>
  <dcterms:modified xsi:type="dcterms:W3CDTF">2026-09-05T02:08:42Z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82DCE4D4EF094803A1300C70237EC179_11</vt:lpwstr>
  </property>
</Properties>
</file>