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72" r:id="rId5"/>
    <p:sldId id="273" r:id="rId6"/>
    <p:sldId id="274" r:id="rId7"/>
    <p:sldId id="275" r:id="rId8"/>
    <p:sldId id="258" r:id="rId9"/>
    <p:sldId id="259" r:id="rId10"/>
    <p:sldId id="260" r:id="rId11"/>
    <p:sldId id="261" r:id="rId12"/>
    <p:sldId id="262" r:id="rId13"/>
    <p:sldId id="276" r:id="rId14"/>
    <p:sldId id="263" r:id="rId15"/>
    <p:sldId id="264" r:id="rId16"/>
    <p:sldId id="265" r:id="rId17"/>
    <p:sldId id="277" r:id="rId18"/>
    <p:sldId id="266" r:id="rId19"/>
    <p:sldId id="267" r:id="rId20"/>
    <p:sldId id="268" r:id="rId21"/>
    <p:sldId id="278" r:id="rId22"/>
    <p:sldId id="269" r:id="rId23"/>
    <p:sldId id="279" r:id="rId24"/>
    <p:sldId id="270" r:id="rId25"/>
    <p:sldId id="271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2032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787400" y="685800"/>
            <a:ext cx="9652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5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5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5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15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87400" y="1600200"/>
            <a:ext cx="99060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42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论文比较与实验验证</a:t>
            </a:r>
            <a:endParaRPr lang="zh-CN" altLang="en-US" sz="42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12800" y="3302000"/>
            <a:ext cx="8890000" cy="42989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建立可复现、可解释、可公平比较的证据链</a:t>
            </a:r>
            <a:endParaRPr lang="zh-CN" altLang="en-US" sz="22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12800" y="5257800"/>
            <a:ext cx="9144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每讲</a:t>
            </a:r>
            <a:r>
              <a:rPr lang="en-US" altLang="zh-CN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 </a:t>
            </a:r>
            <a:r>
              <a:rPr lang="zh-CN" altLang="en-US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小时</a:t>
            </a:r>
            <a:r>
              <a:rPr lang="en-US" altLang="zh-CN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5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理论、代码路径、案例与练习</a:t>
            </a:r>
            <a:endParaRPr lang="zh-CN" altLang="en-US" sz="15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12800" y="5943600"/>
            <a:ext cx="9144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华中科技大学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张书豪课题组</a:t>
            </a:r>
            <a:endParaRPr lang="zh-CN" altLang="en-US" sz="12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10033000" y="1397000"/>
            <a:ext cx="1333500" cy="1333500"/>
          </a:xfrm>
          <a:prstGeom prst="ellipse">
            <a:avLst/>
          </a:prstGeom>
          <a:noFill/>
          <a:ln w="63500">
            <a:solidFill>
              <a:srgbClr val="9070FF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236200" y="1701800"/>
            <a:ext cx="927100" cy="9531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两小时课程地图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990600"/>
            <a:ext cx="10795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从研究问题到可复现结论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6200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6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6200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00–25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论文拆解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15595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335915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351155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6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351155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25–55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公平比较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590550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610870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26110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6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626110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65–95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实验设计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8655050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8858250" y="2235200"/>
            <a:ext cx="254635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9010650" y="2463800"/>
            <a:ext cx="224155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6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9010650" y="2997200"/>
            <a:ext cx="224155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95–120 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en-US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复现练习</a:t>
            </a:r>
            <a:endParaRPr lang="zh-CN" altLang="zh-CN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60400" y="4927600"/>
            <a:ext cx="106172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课后应能把一个性能主张改写成可验证的实验问题。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研究问题、假设与主张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60400" y="1663700"/>
            <a:ext cx="139700" cy="1397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0600" y="16002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研究问题描述未知关系，例如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“KV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压力何时导致尾延迟恶化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endParaRPr lang="en-US" altLang="zh-CN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60400" y="2578100"/>
            <a:ext cx="139700" cy="1397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990600" y="25146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假设给出可检验解释，例如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抢占恢复成本是主要原因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endParaRPr lang="en-US" altLang="zh-CN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60400" y="3492500"/>
            <a:ext cx="139700" cy="1397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90600" y="34290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实验让不同解释产生不同预测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60400" y="4406900"/>
            <a:ext cx="139700" cy="1397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90600" y="43434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主张只能覆盖实验真正验证的范围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026400" y="1600200"/>
            <a:ext cx="3352800" cy="34544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331200" y="1905000"/>
            <a:ext cx="27305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先这样理解</a:t>
            </a:r>
            <a:endParaRPr lang="zh-CN" altLang="en-US" sz="13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331200" y="2438400"/>
            <a:ext cx="2730500" cy="1014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不要从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观察到相关性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直接跳到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证明了原因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自变量、因变量与控制变量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473200"/>
            <a:ext cx="51054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实验中改变或测量</a:t>
            </a:r>
            <a:endParaRPr lang="zh-CN" altLang="en-US" sz="20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58800" y="2057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自变量：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chunk size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、并发或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block size</a:t>
            </a:r>
            <a:endParaRPr lang="en-US" altLang="zh-CN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58800" y="2819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因变量：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TTFT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TPOT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goodput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、显存占用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146800" y="1473200"/>
            <a:ext cx="51054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为了公平而固定</a:t>
            </a:r>
            <a:endParaRPr lang="zh-CN" altLang="en-US" sz="20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46800" y="2057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模型、精度、硬件、软件版本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46800" y="2819400"/>
            <a:ext cx="51054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输出长度分布和随机种子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84200" y="54356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控制变量不完整时，结果可能来自另一个变化。</a:t>
            </a:r>
            <a:endParaRPr lang="zh-CN" altLang="en-US" sz="15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Baseline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是什么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60400" y="1663700"/>
            <a:ext cx="139700" cy="1397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0600" y="16002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Baseline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是要超越或解释的参照实现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60400" y="2578100"/>
            <a:ext cx="139700" cy="1397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990600" y="25146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它应使用合理版本和公平调优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60400" y="3492500"/>
            <a:ext cx="139700" cy="1397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90600" y="34290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多个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baseline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可分别代表默认系统、同类方法和上界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60400" y="4406900"/>
            <a:ext cx="139700" cy="1397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90600" y="43434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报告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baseline 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的配置与失败情况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026400" y="1600200"/>
            <a:ext cx="3352800" cy="34544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331200" y="1905000"/>
            <a:ext cx="27305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先这样理解</a:t>
            </a:r>
            <a:endParaRPr lang="zh-CN" altLang="en-US" sz="13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331200" y="2438400"/>
            <a:ext cx="2730500" cy="70675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默认参数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不一定是公平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baseline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Goodput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的数字例子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 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秒内完成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100 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个请求，其中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72 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个满足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SLO</a:t>
            </a:r>
            <a:endParaRPr lang="en-US" altLang="zh-CN" sz="15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558800" y="1879600"/>
            <a:ext cx="10795000" cy="2971800"/>
          </a:xfrm>
          <a:prstGeom prst="roundRect">
            <a:avLst/>
          </a:prstGeom>
          <a:solidFill>
            <a:srgbClr val="050C1B"/>
          </a:solidFill>
          <a:ln w="12700">
            <a:solidFill>
              <a:srgbClr val="364B6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889000" y="2159000"/>
            <a:ext cx="10160000" cy="11988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throughput = 100 / 10 = 10 req/s</a:t>
            </a:r>
            <a:endParaRPr lang="en-US" altLang="en-US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goodput = 72 / 10 = 7.2 req/s</a:t>
            </a:r>
            <a:endParaRPr lang="en-US" altLang="en-US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若优化后完成</a:t>
            </a:r>
            <a:r>
              <a:rPr lang="zh-CN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 110 个但仅 60 个满足 SLO：</a:t>
            </a:r>
            <a:endParaRPr lang="zh-CN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throughput = 11 req/s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，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goodput = 6 req/s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00" y="5156200"/>
            <a:ext cx="10668000" cy="35242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吞吐提高仍可能伴随有效服务能力下降。</a:t>
            </a:r>
            <a:endParaRPr lang="zh-CN" altLang="en-US" sz="17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系统论文的五个对象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问题：哪类工作负载在什么约束下失败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机制：系统改变了哪个决策或数据路径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实现：机制落在哪些组件和接口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证据：哪些实验排除了其他解释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685800" y="52197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1041400" y="51562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边界：什么条件下收益消失或结论不适用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读论文时先建立因果链，再看图表数字。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从主张到实验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990600"/>
            <a:ext cx="10795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每个主张都要映射到独立证据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2235200"/>
            <a:ext cx="1995805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62000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altLang="en-US" sz="16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62000" y="2997200"/>
            <a:ext cx="1691005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写出主张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60540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280860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96100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altLang="en-US" sz="16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961005" y="2997200"/>
            <a:ext cx="1691005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确定对照组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80504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500824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16064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altLang="en-US" sz="16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5160645" y="2997200"/>
            <a:ext cx="1691005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控制关键变量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00468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720788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736028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altLang="en-US" sz="16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360285" y="2997200"/>
            <a:ext cx="1691005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选择指标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204325" y="3048000"/>
            <a:ext cx="203200" cy="50673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7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›</a:t>
            </a:r>
            <a:endParaRPr lang="en-US" altLang="en-US" sz="27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圆角矩形 22"/>
          <p:cNvSpPr/>
          <p:nvPr/>
        </p:nvSpPr>
        <p:spPr>
          <a:xfrm>
            <a:off x="9407525" y="2235200"/>
            <a:ext cx="1996440" cy="2133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559925" y="2463800"/>
            <a:ext cx="1691005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6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lang="en-US" altLang="en-US" sz="16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9559925" y="2997200"/>
            <a:ext cx="1691005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解释结果与边界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60400" y="4927600"/>
            <a:ext cx="106172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实验设计的目标是区分竞争性解释。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8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不公平与公平比较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常见问题</a:t>
            </a:r>
            <a:endParaRPr lang="zh-CN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模型、精度或硬件不同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09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请求长度分布不同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09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基线配置过旧或参数未调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97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最低要求</a:t>
            </a:r>
            <a:endParaRPr lang="zh-CN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97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对齐模型和质量目标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97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共享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workload trace</a:t>
            </a:r>
            <a:endParaRPr lang="en-US" altLang="zh-CN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97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公开版本、配置和调参范围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5000" y="54102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比较前先证明测试对象处在可比条件。</a:t>
            </a:r>
            <a:endParaRPr lang="zh-CN" altLang="en-US" sz="16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9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工作负载设计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合成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workload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用于控制变量和扫描边界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trace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用于验证到达与长度相关性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压力测试用于触发队列、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KV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与抢占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多组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workload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覆盖优化的目标区间和失效区间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一个平均</a:t>
            </a:r>
            <a:r>
              <a:rPr lang="en-US" altLang="zh-CN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workload </a:t>
            </a:r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无法支撑广泛结论。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指标与统计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延迟报告中位数和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P95/P99</a:t>
            </a:r>
            <a:endParaRPr lang="en-US" altLang="zh-CN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吞吐报告有效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或满足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SLO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的请求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多次重复并给出离散程度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稳定期、预热期和测量窗口分开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统计方法应匹配系统抖动和重尾分布。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11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近期研究</a:t>
            </a:r>
            <a:endParaRPr lang="zh-CN" altLang="en-US" sz="12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近期研究：重新审视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压缩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795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Rethinking KV Cache Compression</a:t>
            </a:r>
            <a:r>
              <a:rPr lang="zh-CN" altLang="en-US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MLSys 2025</a:t>
            </a:r>
            <a:endParaRPr lang="en-US" altLang="zh-CN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5000" y="2082800"/>
            <a:ext cx="6731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问题：许多工作只报告缓存压缩率或算法质量。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35000" y="2946400"/>
            <a:ext cx="6731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方法：论文把实现效率、输出长度和样本级质量纳入系统评测。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35000" y="4013200"/>
            <a:ext cx="6731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论文报告：研究发现压缩并不总能转化为吞吐或端到端延迟收益。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7924800" y="2006600"/>
            <a:ext cx="3454400" cy="2895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255000" y="2286000"/>
            <a:ext cx="27940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课堂怎么读</a:t>
            </a:r>
            <a:endParaRPr lang="zh-CN" altLang="en-US" sz="13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255000" y="2794000"/>
            <a:ext cx="2794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这是很好的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负结果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案例：完整指标会改变结论。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58800" y="5689600"/>
            <a:ext cx="10795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https://proceedings.mlsys.org/paper_files/paper/2025/hash/26289c647c6828e862e271ca3c490486-Abstract-Conference.html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12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微基准与端到端实验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微基准</a:t>
            </a:r>
            <a:endParaRPr lang="zh-CN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隔离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kernel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、通信或元数据开销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09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便于解释机制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09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无法证明服务层收益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97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端到端</a:t>
            </a:r>
            <a:endParaRPr lang="zh-CN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97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包含调度、排队和状态管理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97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直接测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SLO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与成本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97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需要更多控制和诊断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5000" y="54102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两类实验互相支撑，不能相互替代。</a:t>
            </a:r>
            <a:endParaRPr lang="zh-CN" altLang="en-US" sz="16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13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消融实验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关闭单个机制，验证它的独立贡献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固定其他组件和参数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解释机制间的交互而非只列数字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对自适应系统报告选择分布与误判代价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消融要解释为什么变化，而不仅是变化多少。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14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正确性验证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固定随机种子和采样策略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比较输出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token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logits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或误差界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压力下检查状态泄漏与请求串扰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异常和恢复路径纳入测试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性能优化首先不能破坏语义和隔离性。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15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近期研究</a:t>
            </a:r>
            <a:endParaRPr lang="zh-CN" altLang="en-US" sz="12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近期研究：重新评估</a:t>
            </a:r>
            <a:r>
              <a:rPr lang="en-US" altLang="zh-CN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P/D </a:t>
            </a:r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分离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795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Revisiting Disaggregated LLM Serving</a:t>
            </a:r>
            <a:r>
              <a:rPr lang="zh-CN" altLang="en-US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en-US" altLang="zh-CN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2025/2026</a:t>
            </a:r>
            <a:endParaRPr lang="en-US" altLang="zh-CN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5000" y="2082800"/>
            <a:ext cx="67310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问题：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P/D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分离常被假设一定能提高性能或能效。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35000" y="2946400"/>
            <a:ext cx="6731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方法：研究比较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colocated baseline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、不同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KV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传输路径和频率设置。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35000" y="4013200"/>
            <a:ext cx="6731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论文报告：论文报告收益依赖请求负载和传输介质，能效结论也并非必然成立。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7924800" y="2006600"/>
            <a:ext cx="3454400" cy="28956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255000" y="2286000"/>
            <a:ext cx="27940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课堂怎么读</a:t>
            </a:r>
            <a:endParaRPr lang="zh-CN" altLang="en-US" sz="13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255000" y="2794000"/>
            <a:ext cx="2794000" cy="64516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课堂用它检查</a:t>
            </a:r>
            <a:r>
              <a:rPr lang="en-US" altLang="zh-CN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baseline</a:t>
            </a:r>
            <a:r>
              <a:rPr lang="zh-CN" altLang="en-US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、传输成本和结论边界。</a:t>
            </a:r>
            <a:endParaRPr lang="zh-CN" altLang="en-US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58800" y="5689600"/>
            <a:ext cx="10795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https://arxiv.org/abs/2601.08833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16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复现实验清单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016000"/>
            <a:ext cx="10795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仓库中应能找到这些信息</a:t>
            </a:r>
            <a:endParaRPr lang="zh-CN" altLang="en-US" sz="15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609600" y="1676400"/>
            <a:ext cx="10795000" cy="3530600"/>
          </a:xfrm>
          <a:prstGeom prst="roundRect">
            <a:avLst/>
          </a:prstGeom>
          <a:solidFill>
            <a:srgbClr val="050C1B"/>
          </a:solidFill>
          <a:ln w="12700">
            <a:solidFill>
              <a:srgbClr val="364B6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914400" y="1955800"/>
            <a:ext cx="10185400" cy="166052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commit / patch / dependency lock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model + precision + parallel config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hardware + driver + runtime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workload generator + trace seed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launch command + env variables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en-US" altLang="en-US" sz="1700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raw logs + plotting script</a:t>
            </a:r>
            <a:endParaRPr lang="en-US" altLang="en-US" sz="1700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35000" y="54864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图表只是结果，复现材料必须包含产生图表的全过程。</a:t>
            </a:r>
            <a:endParaRPr lang="zh-CN" altLang="en-US" sz="16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17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论文图表的阅读顺序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先读坐标、单位、归一化基线和误差线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再核对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workload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、并发与硬件配置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检查图中是否同时呈现吞吐与延迟约束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最后判断结果是否支持标题中的主张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73723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图形风格不能替代实验条件。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18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最小复现实验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85800" y="13589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1400" y="12954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先复现一个稳定、规模较小的主结果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85800" y="23241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1400" y="22606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建立</a:t>
            </a:r>
            <a:r>
              <a:rPr lang="en-US" altLang="zh-CN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golden command </a:t>
            </a:r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与预期区间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85800" y="32893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41400" y="32258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记录失败尝试和环境差异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85800" y="4254500"/>
            <a:ext cx="152400" cy="1524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1041400" y="4191000"/>
            <a:ext cx="6731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再扩展模型、负载和硬件范围</a:t>
            </a:r>
            <a:endParaRPr lang="zh-CN" altLang="en-US" sz="20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204200" y="1498600"/>
            <a:ext cx="3175000" cy="35052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559800" y="1854200"/>
            <a:ext cx="2463800" cy="30670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4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本页抓手</a:t>
            </a:r>
            <a:endParaRPr lang="zh-CN" altLang="en-US" sz="14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559800" y="2489200"/>
            <a:ext cx="2463800" cy="106045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最小复现用于验证方法，不追求一次覆盖全部结果。</a:t>
            </a:r>
            <a:endParaRPr lang="zh-CN" altLang="en-US" sz="21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19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尾延迟样本数的陷阱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8800" y="1346200"/>
            <a:ext cx="10668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只有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100 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个请求时，</a:t>
            </a:r>
            <a:r>
              <a:rPr lang="en-US" altLang="zh-CN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P99 </a:t>
            </a:r>
            <a:r>
              <a:rPr lang="zh-CN" altLang="en-US" sz="15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几乎由最慢的一个请求决定</a:t>
            </a:r>
            <a:endParaRPr lang="zh-CN" altLang="en-US" sz="15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558800" y="1879600"/>
            <a:ext cx="10795000" cy="2971800"/>
          </a:xfrm>
          <a:prstGeom prst="roundRect">
            <a:avLst/>
          </a:prstGeom>
          <a:solidFill>
            <a:srgbClr val="050C1B"/>
          </a:solidFill>
          <a:ln w="12700">
            <a:solidFill>
              <a:srgbClr val="364B6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889000" y="2159000"/>
            <a:ext cx="10160000" cy="11988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样本少：</a:t>
            </a:r>
            <a:r>
              <a:rPr lang="en-US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P99 </a:t>
            </a:r>
            <a:r>
              <a:rPr lang="zh-CN" altLang="en-US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估计高度不稳定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zh-CN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请求存在时间相关性：独立同分布假设不成立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zh-CN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预热与故障事件会改变分布</a:t>
            </a:r>
            <a:endParaRPr lang="en-US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algn="l"/>
            <a:r>
              <a:rPr lang="zh-CN" altLang="zh-CN">
                <a:solidFill>
                  <a:srgbClr val="F5F8FF"/>
                </a:solidFill>
                <a:latin typeface="Consolas" panose="020B0609020204030204" charset="0"/>
                <a:cs typeface="Consolas" panose="020B0609020204030204" charset="0"/>
              </a:rPr>
              <a:t>置信区间用区间估计表示重复采样的不确定性，并应说明算法、样本数和重复次数</a:t>
            </a:r>
            <a:endParaRPr lang="zh-CN" altLang="zh-CN">
              <a:solidFill>
                <a:srgbClr val="F5F8FF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84200" y="5156200"/>
            <a:ext cx="10668000" cy="35242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7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置信区间反映估计方法在重复采样中的不确定性，不等于</a:t>
            </a:r>
            <a:r>
              <a:rPr lang="en-US" altLang="zh-CN" sz="17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“</a:t>
            </a:r>
            <a:r>
              <a:rPr lang="zh-CN" altLang="en-US" sz="17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真值落在区间内的概率</a:t>
            </a:r>
            <a:r>
              <a:rPr lang="en-US" altLang="zh-CN" sz="17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”</a:t>
            </a:r>
            <a:r>
              <a:rPr lang="zh-CN" altLang="en-US" sz="17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zh-CN" altLang="en-US" sz="17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20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证据边界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09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可以声称</a:t>
            </a:r>
            <a:endParaRPr lang="zh-CN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在给定硬件和</a:t>
            </a:r>
            <a:r>
              <a:rPr lang="en-US" altLang="zh-CN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workload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下改善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09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机制解释与局部实验一致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09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公开限制与失败点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97600" y="1168400"/>
            <a:ext cx="5143500" cy="41402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1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不能直接声称</a:t>
            </a:r>
            <a:endParaRPr lang="zh-CN" altLang="en-US" sz="21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97600" y="18796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由单一模型推断所有模型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97600" y="26670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由微基准推断端到端收益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97600" y="3454400"/>
            <a:ext cx="5143500" cy="36830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 </a:t>
            </a:r>
            <a:r>
              <a:rPr lang="zh-CN" altLang="en-US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由仿真结果声称真实硬件性能</a:t>
            </a:r>
            <a:endParaRPr lang="zh-CN" altLang="en-US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5000" y="5410200"/>
            <a:ext cx="106426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 b="1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结论的范围不能超过证据覆盖的范围。</a:t>
            </a:r>
            <a:endParaRPr lang="zh-CN" altLang="en-US" sz="1600" b="1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21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70FF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58800" y="279400"/>
            <a:ext cx="2286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初学者补充</a:t>
            </a:r>
            <a:endParaRPr lang="zh-CN" altLang="en-US" sz="12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8800" y="660400"/>
            <a:ext cx="10668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一张图的审阅清单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58800" y="6413500"/>
            <a:ext cx="9271000" cy="2298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9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</a:t>
            </a:r>
            <a:endParaRPr lang="en-US" altLang="zh-CN" sz="9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椭圆 5"/>
          <p:cNvSpPr/>
          <p:nvPr/>
        </p:nvSpPr>
        <p:spPr>
          <a:xfrm>
            <a:off x="660400" y="1663700"/>
            <a:ext cx="139700" cy="1397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0600" y="16002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坐标轴、单位、对数刻度和归一化对象是否明确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660400" y="2578100"/>
            <a:ext cx="139700" cy="1397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990600" y="25146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模型、硬件、并发和长度分布是否一致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660400" y="3492500"/>
            <a:ext cx="139700" cy="1397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90600" y="34290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误差线或重复实验是否支持差异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660400" y="4406900"/>
            <a:ext cx="139700" cy="139700"/>
          </a:xfrm>
          <a:prstGeom prst="ellipse">
            <a:avLst/>
          </a:prstGeom>
          <a:solidFill>
            <a:srgbClr val="9070FF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990600" y="4343400"/>
            <a:ext cx="66040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标题中的结论是否超出图中证据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8026400" y="1600200"/>
            <a:ext cx="3352800" cy="3454400"/>
          </a:xfrm>
          <a:prstGeom prst="roundRect">
            <a:avLst/>
          </a:prstGeom>
          <a:solidFill>
            <a:srgbClr val="12213D"/>
          </a:solidFill>
          <a:ln w="12700">
            <a:solidFill>
              <a:srgbClr val="9070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331200" y="1905000"/>
            <a:ext cx="2730500" cy="29146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300" b="1">
                <a:solidFill>
                  <a:srgbClr val="9070FF"/>
                </a:solidFill>
                <a:latin typeface="微软雅黑" panose="020B0503020204020204" charset="-122"/>
                <a:ea typeface="微软雅黑" panose="020B0503020204020204" charset="-122"/>
              </a:rPr>
              <a:t>先这样理解</a:t>
            </a:r>
            <a:endParaRPr lang="zh-CN" altLang="en-US" sz="1300" b="1">
              <a:solidFill>
                <a:srgbClr val="9070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331200" y="2438400"/>
            <a:ext cx="2730500" cy="70675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先读实验条件，再读柱子高低。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22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FFAB4A"/>
          </a:solidFill>
          <a:ln w="12700">
            <a:solidFill>
              <a:srgbClr val="FFAB4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课堂练习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35000" y="1092200"/>
            <a:ext cx="10414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课堂练习</a:t>
            </a:r>
            <a:r>
              <a:rPr lang="en-US" altLang="zh-CN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</a:t>
            </a:r>
            <a:r>
              <a:rPr lang="zh-CN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建议</a:t>
            </a:r>
            <a:r>
              <a:rPr lang="en-US" altLang="zh-CN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15–20 </a:t>
            </a:r>
            <a:r>
              <a:rPr lang="zh-CN" altLang="en-US" sz="15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分钟</a:t>
            </a:r>
            <a:endParaRPr lang="zh-CN" altLang="en-US" sz="15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60400" y="1803400"/>
            <a:ext cx="685800" cy="4914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en-US" altLang="en-US" sz="2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422400" y="1803400"/>
            <a:ext cx="95758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选择一篇推理系统论文，用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问题、机制、实现、证据、边界</a:t>
            </a:r>
            <a:r>
              <a:rPr lang="en-US" altLang="zh-CN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各写一句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60400" y="2844800"/>
            <a:ext cx="685800" cy="4914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en-US" altLang="en-US" sz="2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422400" y="2844800"/>
            <a:ext cx="95758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找出一张性能图中所有需要补充的实验条件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60400" y="3886200"/>
            <a:ext cx="685800" cy="4914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ctr"/>
            <a:r>
              <a:rPr lang="en-US" altLang="en-US" sz="2600" b="1">
                <a:solidFill>
                  <a:srgbClr val="FFAB4A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altLang="en-US" sz="2600" b="1">
              <a:solidFill>
                <a:srgbClr val="FFAB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422400" y="3886200"/>
            <a:ext cx="9575800" cy="38354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900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设计一个最小复现实验并列出原始数据字段</a:t>
            </a:r>
            <a:endParaRPr lang="zh-CN" altLang="en-US" sz="1900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60400" y="5461000"/>
            <a:ext cx="10414000" cy="33718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6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练习产出：一页论文比较表和一份可执行复现清单。</a:t>
            </a:r>
            <a:endParaRPr lang="zh-CN" altLang="en-US" sz="16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23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54D397"/>
          </a:solidFill>
          <a:ln w="12700">
            <a:solidFill>
              <a:srgbClr val="54D39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33400" y="304800"/>
            <a:ext cx="10541000" cy="52197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8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</a:rPr>
              <a:t>本讲总结与延伸</a:t>
            </a:r>
            <a:endParaRPr lang="zh-CN" altLang="en-US" sz="28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6100" y="6375400"/>
            <a:ext cx="9652000" cy="24511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推理系统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· 2027 ·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en-US" altLang="zh-CN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 </a:t>
            </a:r>
            <a:r>
              <a:rPr lang="zh-CN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</a:t>
            </a:r>
            <a:endParaRPr lang="zh-CN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60400" y="1117600"/>
            <a:ext cx="10414000" cy="321945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500" b="1">
                <a:solidFill>
                  <a:srgbClr val="54D397"/>
                </a:solidFill>
                <a:latin typeface="微软雅黑" panose="020B0503020204020204" charset="-122"/>
                <a:ea typeface="微软雅黑" panose="020B0503020204020204" charset="-122"/>
              </a:rPr>
              <a:t>带走四句话</a:t>
            </a:r>
            <a:endParaRPr lang="zh-CN" altLang="en-US" sz="1500" b="1">
              <a:solidFill>
                <a:srgbClr val="54D3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60400" y="18034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论文比较首先比较问题设定和实验条件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60400" y="26416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工作负载决定结果的适用范围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60400" y="34798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微基准解释机制，端到端实验验证服务收益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60400" y="4318000"/>
            <a:ext cx="10414000" cy="39878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✓</a:t>
            </a:r>
            <a:r>
              <a:rPr lang="en-US" altLang="zh-CN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2000" b="1">
                <a:solidFill>
                  <a:srgbClr val="F5F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结论范围必须与真实证据范围一致</a:t>
            </a:r>
            <a:endParaRPr lang="zh-CN" altLang="en-US" sz="2000" b="1">
              <a:solidFill>
                <a:srgbClr val="F5F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60400" y="5410200"/>
            <a:ext cx="10414000" cy="275590"/>
          </a:xfrm>
          <a:prstGeom prst="rect">
            <a:avLst/>
          </a:prstGeom>
          <a:noFill/>
        </p:spPr>
        <p:txBody>
          <a:bodyPr wrap="square" lIns="101600" tIns="50800" rIns="101600" bIns="50800" rtlCol="0" anchor="t">
            <a:noAutofit/>
          </a:bodyPr>
          <a:p>
            <a:pPr algn="l"/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来源：个人主页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2026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讲义第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10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讲，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nano-vLLM 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</a:t>
            </a:r>
            <a:r>
              <a:rPr lang="en-US" altLang="zh-CN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5</a:t>
            </a:r>
            <a:r>
              <a:rPr lang="zh-CN" altLang="en-US" sz="12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 sz="12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1074400" y="6299200"/>
            <a:ext cx="635000" cy="330200"/>
          </a:xfrm>
          <a:prstGeom prst="rect">
            <a:avLst/>
          </a:prstGeom>
          <a:solidFill>
            <a:srgbClr val="0A142A"/>
          </a:solidFill>
          <a:ln w="12700">
            <a:solidFill>
              <a:srgbClr val="0A142A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11125200" y="6337300"/>
            <a:ext cx="482600" cy="24511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p>
            <a:pPr algn="r"/>
            <a:r>
              <a:rPr lang="en-US" altLang="en-US" sz="1000">
                <a:solidFill>
                  <a:srgbClr val="AEBCD3"/>
                </a:solidFill>
                <a:latin typeface="微软雅黑" panose="020B0503020204020204" charset="-122"/>
                <a:ea typeface="微软雅黑" panose="020B0503020204020204" charset="-122"/>
              </a:rPr>
              <a:t>24</a:t>
            </a:r>
            <a:endParaRPr lang="en-US" altLang="en-US" sz="1000">
              <a:solidFill>
                <a:srgbClr val="AEBCD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3639</Words>
  <Application>WPS 演示</Application>
  <PresentationFormat>宽屏</PresentationFormat>
  <Paragraphs>505</Paragraphs>
  <Slides>24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1" baseType="lpstr">
      <vt:lpstr>Arial</vt:lpstr>
      <vt:lpstr>宋体</vt:lpstr>
      <vt:lpstr>Wingdings</vt:lpstr>
      <vt:lpstr>Wingdings</vt:lpstr>
      <vt:lpstr>微软雅黑</vt:lpstr>
      <vt:lpstr>Consolas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Administrator</dc:creator>
  <cp:lastModifiedBy>张书豪</cp:lastModifiedBy>
  <cp:revision>159</cp:revision>
  <dcterms:created xsi:type="dcterms:W3CDTF">2019-06-19T02:08:00Z</dcterms:created>
  <dcterms:modified xsi:type="dcterms:W3CDTF">2026-09-05T02:08:48Z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C4C369AC2EAD4557B4578D9A61008C56_11</vt:lpwstr>
  </property>
</Properties>
</file>