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2" r:id="rId5"/>
    <p:sldId id="273" r:id="rId6"/>
    <p:sldId id="274" r:id="rId7"/>
    <p:sldId id="275" r:id="rId8"/>
    <p:sldId id="258" r:id="rId9"/>
    <p:sldId id="259" r:id="rId10"/>
    <p:sldId id="260" r:id="rId11"/>
    <p:sldId id="261" r:id="rId12"/>
    <p:sldId id="262" r:id="rId13"/>
    <p:sldId id="276" r:id="rId14"/>
    <p:sldId id="263" r:id="rId15"/>
    <p:sldId id="264" r:id="rId16"/>
    <p:sldId id="265" r:id="rId17"/>
    <p:sldId id="277" r:id="rId18"/>
    <p:sldId id="266" r:id="rId19"/>
    <p:sldId id="267" r:id="rId20"/>
    <p:sldId id="268" r:id="rId21"/>
    <p:sldId id="278" r:id="rId22"/>
    <p:sldId id="269" r:id="rId23"/>
    <p:sldId id="279" r:id="rId24"/>
    <p:sldId id="270" r:id="rId25"/>
    <p:sldId id="27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7400" y="685800"/>
            <a:ext cx="9652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5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5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15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1600200"/>
            <a:ext cx="99060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请求生命周期与</a:t>
            </a:r>
            <a:r>
              <a:rPr lang="en-US" altLang="zh-CN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/ Decode</a:t>
            </a:r>
            <a:endParaRPr lang="en-US" altLang="zh-CN" sz="42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3302000"/>
            <a:ext cx="8890000" cy="42989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沿代码路径解释一个</a:t>
            </a:r>
            <a:r>
              <a:rPr lang="en-US" altLang="zh-CN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如何被生成并返回</a:t>
            </a:r>
            <a:endParaRPr lang="zh-CN" altLang="en-US" sz="2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5257800"/>
            <a:ext cx="914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每讲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理论、代码路径、案例与练习</a:t>
            </a:r>
            <a:endParaRPr lang="zh-CN" altLang="en-US" sz="15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5943600"/>
            <a:ext cx="914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华中科技大学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张书豪课题组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033000" y="1397000"/>
            <a:ext cx="1333500" cy="1333500"/>
          </a:xfrm>
          <a:prstGeom prst="ellipse">
            <a:avLst/>
          </a:prstGeom>
          <a:noFill/>
          <a:ln w="63500">
            <a:solidFill>
              <a:srgbClr val="907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36200" y="1701800"/>
            <a:ext cx="927100" cy="9531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两小时课程地图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用一条最小请求串起服务层、调度器与模型执行器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00–20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生命周期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20–55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65–95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95–120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代码跟踪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课后应能在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nano-vLLM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中标出请求状态变化和关键函数。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推理的最小路径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不展开训练，只保留生成一个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所需的计算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Embedding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编号变向量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从上下文取信息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MLP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逐位置变换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Logits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得到词表分数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Sampling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选下一个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每一层都会读写中间状态，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位于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的直觉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表示当前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想从历史中查什么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表示每个历史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可被怎样匹配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是匹配后取回的信息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权重由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的相似度决定，再加权求和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图书馆类比：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是检索词，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是索引，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是书中的内容。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为什么缓存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步生成时，历史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不会改变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没有缓存：每一步重新计算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1…t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的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V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有缓存：只计算新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token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的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V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旧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V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直接从显存读取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Q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只服务当前一步，因此通常不长期保存</a:t>
            </a:r>
            <a:endParaRPr lang="zh-CN" altLang="en-US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减少重复计算，但引入持续增长的显存占用和带宽压力。</a:t>
            </a:r>
            <a:endParaRPr lang="zh-CN" altLang="en-US" sz="17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的张量变化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8-token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输入为例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一次并行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forward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K/V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得到最后位置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采样首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指序列位置可批量计算，不代表没有层间依赖。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请求状态机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请求不是一次函数调用，而是一组持续演化的状态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WAITING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进入队列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RUNNING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获得执行槽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PREEMPTED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让出资源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FINISHED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释放状态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状态转换由调度决策、内存压力和终止条件共同触发。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入口层的职责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prompt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、采样参数与停止条件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request_id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并维护流式连接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执行限流、鉴权和输入校验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把请求交给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engine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，而不是直接调用模型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入口层把用户协议转换为运行时对象。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最小调用链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016000"/>
            <a:ext cx="10795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不同实现命名可能变化，但职责顺序稳定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1676400"/>
            <a:ext cx="10795000" cy="35306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4400" y="1955800"/>
            <a:ext cx="10185400" cy="16605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API server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└─ engine.generate(request)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└─ scheduler.schedule()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└─ model_runner.execute_model()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    └─ sampler.sample()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        └─ output_processor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54864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阅读代码时先找对象边界，再跟踪数据结构。</a:t>
            </a:r>
            <a:endParaRPr lang="zh-CN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请求对象中的关键信息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与已生成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采样参数、停止条件和优先级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block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映射与占用量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到达、首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、完成等时间戳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这些字段同时服务调度、执行与指标采集。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的数据形态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Prefill</a:t>
            </a:r>
            <a:endParaRPr lang="en-US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序列长度大，单次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注意力矩阵规模随输入增长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输出第一份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Decode</a:t>
            </a:r>
            <a:endParaRPr lang="en-US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序列长度持续增长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每轮每请求通常一个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不断读取并追加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生命周期把两个阶段连接起来，调度器决定它们如何共享设备。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的逐步增长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生成后，每轮只增加一个位置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step 1: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读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8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组历史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，写第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9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step 2: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读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9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组历史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，写第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10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step 3: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读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10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组历史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，写第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11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序列越长，每步需要读取的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越多</a:t>
            </a:r>
            <a:endParaRPr lang="zh-CN" altLang="en-US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长输出会同时增加迭代次数和单次</a:t>
            </a:r>
            <a:r>
              <a:rPr lang="en-US" altLang="zh-CN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 </a:t>
            </a:r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的数据量。</a:t>
            </a:r>
            <a:endParaRPr lang="zh-CN" altLang="en-US" sz="17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序列到首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Tokenize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构造输入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建立块表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Forward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Sample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产生首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包含排队、预处理和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连续批处理在每次迭代重组运行集合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1995805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选择活跃请求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40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0860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6100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6100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准备位置与块表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504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0824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6064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6064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执行单步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forward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0468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0788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6028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6028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采样并更新状态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0432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40752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5992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5992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或结束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由多次迭代的稳定性决定。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停止与清理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EOS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、停止词或最大输出长度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向流式连接发送最终状态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从调度队列删除请求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释放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block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和临时缓冲区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结束路径和异常路径都必须回收状态。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近期研究：长推理输出的加速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SpecGen</a:t>
            </a:r>
            <a:r>
              <a:rPr lang="zh-CN" altLang="en-US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MLSys 2026</a:t>
            </a:r>
            <a:endParaRPr lang="en-US" altLang="zh-CN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问题：推理模型生成很长的思维链，逐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Decode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成为主要成本。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方法：同一模型执行稀疏自推测，调度器统一组织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draft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verification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，并管理动态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论文报告：论文报告在其模型和硬件设置下获得加速。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推测解码收益由接受率、验证批次和额外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成本共同决定。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https://proceedings.mlsys.org/paper_files/paper/2026/hash/66a026c0d17040889b50f0dfa650e5e0-Abstract-Conference.html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取消、超时与异常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客户端断开需要传播取消信号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超时请求不能继续占用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与计算槽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执行器异常要避免半释放状态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重试策略需防止重复生成和重复计费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生产系统的正确性集中在非正常路径。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同步批处理与在线迭代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静态批处理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整批同时开始和结束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受最长序列拖累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实现简单但空洞较多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连续批处理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每轮加入或移出请求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适配不同输出长度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需要更复杂的状态管理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连续批处理把请求生命周期变成调度循环。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代码阅读断点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016000"/>
            <a:ext cx="10795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建议在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nano-vLLM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最小实验中记录以下事件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1676400"/>
            <a:ext cx="10795000" cy="35306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4400" y="1955800"/>
            <a:ext cx="10185400" cy="13989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on_request_arrive(req_id, prompt_len)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on_schedule(req_id, phase, blocks)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on_model_step(batch_size, token_count)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on_token(req_id, token_id, timestamp)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on_request_finish(req_id, reason)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54864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事件日志应能重建每个请求的时间线。</a:t>
            </a:r>
            <a:endParaRPr lang="zh-CN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Temperature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top-p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参数作用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Temperature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调整概率分布尖锐程度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top-k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只保留最高的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个候选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8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top-p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保留累计概率达到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的候选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系统实验要求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比较性能时固定采样参数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正确性测试可使用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greedy decoding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报告是否启用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speculative decoding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输出长度和接受率都可能随采样策略变化。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生命周期观测表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每个请求一行：到达、首次调度、首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、结束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每次迭代一行：批次构成、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数、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使用量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把排队时间与执行时间分开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request_id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关联服务日志与执行日志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可解释的时间线比单个总延迟更有诊断价值。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阅读生命周期代码时的四个问题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当前对象保存了哪些不可丢失的请求状态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函数执行后，状态从哪里移动到哪里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失败或取消时，谁负责释放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时间戳在哪里记录，能否重建请求时间线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看懂副作用比记住函数名更重要。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课堂练习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10922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课堂练习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15–20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5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2400" y="18034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nano-vLLM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中选择一个最小请求，标注从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generate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sampler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的调用链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28448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22400" y="28448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记录两个不同输入长度请求的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TTFT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TPOT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38862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2400" y="38862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模拟取消请求，检查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block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是否及时回收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0400" y="5461000"/>
            <a:ext cx="10414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练习产出：一张调用图、一张请求时间线和一条清理路径证据。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本讲总结与延伸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11176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带走四句话</a:t>
            </a:r>
            <a:endParaRPr lang="zh-CN" altLang="en-US" sz="15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请求生命周期由状态机和数据结构共同实现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26416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Prefill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决定首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决定持续输出节奏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34798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连续批处理每轮重组活跃请求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400" y="43180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完整观测必须连接请求、迭代和资源事件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5410200"/>
            <a:ext cx="1041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来源：个人主页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讲义第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03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讲，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nano-vLLM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3923</Words>
  <Application>WPS 演示</Application>
  <PresentationFormat>宽屏</PresentationFormat>
  <Paragraphs>578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张书豪</cp:lastModifiedBy>
  <cp:revision>159</cp:revision>
  <dcterms:created xsi:type="dcterms:W3CDTF">2019-06-19T02:08:00Z</dcterms:created>
  <dcterms:modified xsi:type="dcterms:W3CDTF">2026-09-05T02:08:29Z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D56268902BD44F0AAE82DE09297BBB22_11</vt:lpwstr>
  </property>
</Properties>
</file>